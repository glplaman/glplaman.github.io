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Lst>
  <p:notesMasterIdLst>
    <p:notesMasterId r:id="rId144"/>
  </p:notesMasterIdLst>
  <p:sldIdLst>
    <p:sldId id="257" r:id="rId2"/>
    <p:sldId id="256" r:id="rId3"/>
    <p:sldId id="289" r:id="rId4"/>
    <p:sldId id="480" r:id="rId5"/>
    <p:sldId id="294" r:id="rId6"/>
    <p:sldId id="481" r:id="rId7"/>
    <p:sldId id="485" r:id="rId8"/>
    <p:sldId id="483" r:id="rId9"/>
    <p:sldId id="488" r:id="rId10"/>
    <p:sldId id="487" r:id="rId11"/>
    <p:sldId id="650" r:id="rId12"/>
    <p:sldId id="649" r:id="rId13"/>
    <p:sldId id="304" r:id="rId14"/>
    <p:sldId id="489" r:id="rId15"/>
    <p:sldId id="492" r:id="rId16"/>
    <p:sldId id="493" r:id="rId17"/>
    <p:sldId id="311" r:id="rId18"/>
    <p:sldId id="496" r:id="rId19"/>
    <p:sldId id="651" r:id="rId20"/>
    <p:sldId id="497" r:id="rId21"/>
    <p:sldId id="652" r:id="rId22"/>
    <p:sldId id="508" r:id="rId23"/>
    <p:sldId id="499" r:id="rId24"/>
    <p:sldId id="502" r:id="rId25"/>
    <p:sldId id="503" r:id="rId26"/>
    <p:sldId id="653" r:id="rId27"/>
    <p:sldId id="324" r:id="rId28"/>
    <p:sldId id="505" r:id="rId29"/>
    <p:sldId id="514" r:id="rId30"/>
    <p:sldId id="329" r:id="rId31"/>
    <p:sldId id="515" r:id="rId32"/>
    <p:sldId id="518" r:id="rId33"/>
    <p:sldId id="519" r:id="rId34"/>
    <p:sldId id="520" r:id="rId35"/>
    <p:sldId id="522" r:id="rId36"/>
    <p:sldId id="523" r:id="rId37"/>
    <p:sldId id="524" r:id="rId38"/>
    <p:sldId id="525" r:id="rId39"/>
    <p:sldId id="526" r:id="rId40"/>
    <p:sldId id="527" r:id="rId41"/>
    <p:sldId id="654" r:id="rId42"/>
    <p:sldId id="528" r:id="rId43"/>
    <p:sldId id="530" r:id="rId44"/>
    <p:sldId id="531" r:id="rId45"/>
    <p:sldId id="655" r:id="rId46"/>
    <p:sldId id="533" r:id="rId47"/>
    <p:sldId id="535" r:id="rId48"/>
    <p:sldId id="536" r:id="rId49"/>
    <p:sldId id="359" r:id="rId50"/>
    <p:sldId id="360" r:id="rId51"/>
    <p:sldId id="475" r:id="rId52"/>
    <p:sldId id="476" r:id="rId53"/>
    <p:sldId id="477" r:id="rId54"/>
    <p:sldId id="538" r:id="rId55"/>
    <p:sldId id="478" r:id="rId56"/>
    <p:sldId id="539" r:id="rId57"/>
    <p:sldId id="540" r:id="rId58"/>
    <p:sldId id="541" r:id="rId59"/>
    <p:sldId id="542" r:id="rId60"/>
    <p:sldId id="543" r:id="rId61"/>
    <p:sldId id="544" r:id="rId62"/>
    <p:sldId id="374" r:id="rId63"/>
    <p:sldId id="545" r:id="rId64"/>
    <p:sldId id="546" r:id="rId65"/>
    <p:sldId id="547" r:id="rId66"/>
    <p:sldId id="551" r:id="rId67"/>
    <p:sldId id="549" r:id="rId68"/>
    <p:sldId id="550" r:id="rId69"/>
    <p:sldId id="382" r:id="rId70"/>
    <p:sldId id="552" r:id="rId71"/>
    <p:sldId id="553" r:id="rId72"/>
    <p:sldId id="554" r:id="rId73"/>
    <p:sldId id="555" r:id="rId74"/>
    <p:sldId id="556" r:id="rId75"/>
    <p:sldId id="558" r:id="rId76"/>
    <p:sldId id="560" r:id="rId77"/>
    <p:sldId id="562" r:id="rId78"/>
    <p:sldId id="648" r:id="rId79"/>
    <p:sldId id="563" r:id="rId80"/>
    <p:sldId id="396" r:id="rId81"/>
    <p:sldId id="564" r:id="rId82"/>
    <p:sldId id="565" r:id="rId83"/>
    <p:sldId id="566" r:id="rId84"/>
    <p:sldId id="567" r:id="rId85"/>
    <p:sldId id="568" r:id="rId86"/>
    <p:sldId id="569" r:id="rId87"/>
    <p:sldId id="571" r:id="rId88"/>
    <p:sldId id="570" r:id="rId89"/>
    <p:sldId id="572" r:id="rId90"/>
    <p:sldId id="573" r:id="rId91"/>
    <p:sldId id="574" r:id="rId92"/>
    <p:sldId id="408" r:id="rId93"/>
    <p:sldId id="575" r:id="rId94"/>
    <p:sldId id="576" r:id="rId95"/>
    <p:sldId id="577" r:id="rId96"/>
    <p:sldId id="579" r:id="rId97"/>
    <p:sldId id="580" r:id="rId98"/>
    <p:sldId id="581" r:id="rId99"/>
    <p:sldId id="582" r:id="rId100"/>
    <p:sldId id="419" r:id="rId101"/>
    <p:sldId id="585" r:id="rId102"/>
    <p:sldId id="586" r:id="rId103"/>
    <p:sldId id="591" r:id="rId104"/>
    <p:sldId id="588" r:id="rId105"/>
    <p:sldId id="589" r:id="rId106"/>
    <p:sldId id="590" r:id="rId107"/>
    <p:sldId id="593" r:id="rId108"/>
    <p:sldId id="596" r:id="rId109"/>
    <p:sldId id="598" r:id="rId110"/>
    <p:sldId id="600" r:id="rId111"/>
    <p:sldId id="601" r:id="rId112"/>
    <p:sldId id="602" r:id="rId113"/>
    <p:sldId id="606" r:id="rId114"/>
    <p:sldId id="605" r:id="rId115"/>
    <p:sldId id="607" r:id="rId116"/>
    <p:sldId id="608" r:id="rId117"/>
    <p:sldId id="610" r:id="rId118"/>
    <p:sldId id="613" r:id="rId119"/>
    <p:sldId id="615" r:id="rId120"/>
    <p:sldId id="616" r:id="rId121"/>
    <p:sldId id="618" r:id="rId122"/>
    <p:sldId id="619" r:id="rId123"/>
    <p:sldId id="620" r:id="rId124"/>
    <p:sldId id="621" r:id="rId125"/>
    <p:sldId id="623" r:id="rId126"/>
    <p:sldId id="625" r:id="rId127"/>
    <p:sldId id="624" r:id="rId128"/>
    <p:sldId id="627" r:id="rId129"/>
    <p:sldId id="628" r:id="rId130"/>
    <p:sldId id="630" r:id="rId131"/>
    <p:sldId id="631" r:id="rId132"/>
    <p:sldId id="632" r:id="rId133"/>
    <p:sldId id="633" r:id="rId134"/>
    <p:sldId id="634" r:id="rId135"/>
    <p:sldId id="635" r:id="rId136"/>
    <p:sldId id="637" r:id="rId137"/>
    <p:sldId id="639" r:id="rId138"/>
    <p:sldId id="641" r:id="rId139"/>
    <p:sldId id="642" r:id="rId140"/>
    <p:sldId id="643" r:id="rId141"/>
    <p:sldId id="645" r:id="rId142"/>
    <p:sldId id="646" r:id="rId143"/>
  </p:sldIdLst>
  <p:sldSz cx="9144000" cy="5143500" type="screen16x9"/>
  <p:notesSz cx="6858000" cy="9144000"/>
  <p:embeddedFontLst>
    <p:embeddedFont>
      <p:font typeface="Montserrat" panose="00000500000000000000" pitchFamily="2" charset="0"/>
      <p:regular r:id="rId145"/>
    </p:embeddedFont>
    <p:embeddedFont>
      <p:font typeface="微软雅黑" panose="020B0503020204020204" pitchFamily="34" charset="-122"/>
      <p:regular r:id="rId146"/>
      <p:bold r:id="rId147"/>
    </p:embeddedFont>
    <p:embeddedFont>
      <p:font typeface="微软雅黑 Light" panose="020B0502040204020203" pitchFamily="34" charset="-122"/>
      <p:regular r:id="rId14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E07C"/>
    <a:srgbClr val="D4237A"/>
    <a:srgbClr val="85D1F7"/>
    <a:srgbClr val="F2F2F2"/>
    <a:srgbClr val="000000"/>
    <a:srgbClr val="607FC1"/>
    <a:srgbClr val="0089FA"/>
    <a:srgbClr val="84CFF5"/>
    <a:srgbClr val="0000FF"/>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autoAdjust="0"/>
    <p:restoredTop sz="90533" autoAdjust="0"/>
  </p:normalViewPr>
  <p:slideViewPr>
    <p:cSldViewPr snapToGrid="0">
      <p:cViewPr varScale="1">
        <p:scale>
          <a:sx n="142" d="100"/>
          <a:sy n="142" d="100"/>
        </p:scale>
        <p:origin x="120" y="240"/>
      </p:cViewPr>
      <p:guideLst>
        <p:guide orient="horz" pos="1620"/>
        <p:guide pos="2880"/>
      </p:guideLst>
    </p:cSldViewPr>
  </p:slideViewPr>
  <p:outlineViewPr>
    <p:cViewPr>
      <p:scale>
        <a:sx n="33" d="100"/>
        <a:sy n="33" d="100"/>
      </p:scale>
      <p:origin x="0" y="-570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 Id="rId90" Type="http://schemas.openxmlformats.org/officeDocument/2006/relationships/slide" Target="slides/slide89.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05827-7C5E-4011-BB54-A9825C894BC2}" type="doc">
      <dgm:prSet loTypeId="urn:microsoft.com/office/officeart/2005/8/layout/radial3" loCatId="relationship" qsTypeId="urn:microsoft.com/office/officeart/2005/8/quickstyle/simple4" qsCatId="simple" csTypeId="urn:microsoft.com/office/officeart/2005/8/colors/colorful1#1" csCatId="colorful" phldr="1"/>
      <dgm:spPr/>
      <dgm:t>
        <a:bodyPr/>
        <a:lstStyle/>
        <a:p>
          <a:endParaRPr lang="zh-CN" altLang="en-US"/>
        </a:p>
      </dgm:t>
    </dgm:pt>
    <dgm:pt modelId="{A76D0BFA-BC15-45DD-BEFB-67BB802BC730}">
      <dgm:prSet phldrT="[文本]" custT="1"/>
      <dgm:spPr/>
      <dgm:t>
        <a:bodyPr/>
        <a:lstStyle/>
        <a:p>
          <a:r>
            <a:rPr lang="zh-CN" altLang="en-US" sz="1600" dirty="0"/>
            <a:t>互联网</a:t>
          </a:r>
        </a:p>
      </dgm:t>
    </dgm:pt>
    <dgm:pt modelId="{B00600B9-142A-48E4-AC4D-F087585498F0}" type="parTrans" cxnId="{9CB6F1FF-87D2-406B-ACF5-0ED45A7D7F44}">
      <dgm:prSet/>
      <dgm:spPr/>
      <dgm:t>
        <a:bodyPr/>
        <a:lstStyle/>
        <a:p>
          <a:endParaRPr lang="zh-CN" altLang="en-US" sz="1200"/>
        </a:p>
      </dgm:t>
    </dgm:pt>
    <dgm:pt modelId="{1A64C42D-73C0-4271-8028-E940B4F42241}" type="sibTrans" cxnId="{9CB6F1FF-87D2-406B-ACF5-0ED45A7D7F44}">
      <dgm:prSet/>
      <dgm:spPr/>
      <dgm:t>
        <a:bodyPr/>
        <a:lstStyle/>
        <a:p>
          <a:endParaRPr lang="zh-CN" altLang="en-US" sz="1200"/>
        </a:p>
      </dgm:t>
    </dgm:pt>
    <dgm:pt modelId="{B18C9164-AF3E-4958-908B-D7485AFCEBF8}">
      <dgm:prSet phldrT="[文本]" custT="1"/>
      <dgm:spPr/>
      <dgm:t>
        <a:bodyPr/>
        <a:lstStyle/>
        <a:p>
          <a:r>
            <a:rPr lang="zh-CN" altLang="en-US" sz="1200" dirty="0"/>
            <a:t>工业</a:t>
          </a:r>
        </a:p>
      </dgm:t>
    </dgm:pt>
    <dgm:pt modelId="{E3590D31-6E72-444F-9C49-1AE7EFE87DD0}" type="parTrans" cxnId="{43629A51-9669-4227-8CF2-06728FED7FB2}">
      <dgm:prSet/>
      <dgm:spPr/>
      <dgm:t>
        <a:bodyPr/>
        <a:lstStyle/>
        <a:p>
          <a:endParaRPr lang="zh-CN" altLang="en-US" sz="1200"/>
        </a:p>
      </dgm:t>
    </dgm:pt>
    <dgm:pt modelId="{AA57978E-F1E4-45BC-98ED-B86BC4A8B02B}" type="sibTrans" cxnId="{43629A51-9669-4227-8CF2-06728FED7FB2}">
      <dgm:prSet/>
      <dgm:spPr/>
      <dgm:t>
        <a:bodyPr/>
        <a:lstStyle/>
        <a:p>
          <a:endParaRPr lang="zh-CN" altLang="en-US" sz="1200"/>
        </a:p>
      </dgm:t>
    </dgm:pt>
    <dgm:pt modelId="{289F969B-460A-4D7B-AFBB-F45D1D8FC7AC}">
      <dgm:prSet phldrT="[文本]" custT="1"/>
      <dgm:spPr/>
      <dgm:t>
        <a:bodyPr/>
        <a:lstStyle/>
        <a:p>
          <a:r>
            <a:rPr lang="zh-CN" altLang="en-US" sz="1200" dirty="0"/>
            <a:t>农业</a:t>
          </a:r>
        </a:p>
      </dgm:t>
    </dgm:pt>
    <dgm:pt modelId="{BC8AED9C-6DB9-4718-BE03-2F8A9BAA1F72}" type="parTrans" cxnId="{AC754295-F863-4119-AC31-2B2660E39C1A}">
      <dgm:prSet/>
      <dgm:spPr/>
      <dgm:t>
        <a:bodyPr/>
        <a:lstStyle/>
        <a:p>
          <a:endParaRPr lang="zh-CN" altLang="en-US" sz="1200"/>
        </a:p>
      </dgm:t>
    </dgm:pt>
    <dgm:pt modelId="{2F9C0308-2ACC-48D6-B1DE-0A9B3F7C4D91}" type="sibTrans" cxnId="{AC754295-F863-4119-AC31-2B2660E39C1A}">
      <dgm:prSet/>
      <dgm:spPr/>
      <dgm:t>
        <a:bodyPr/>
        <a:lstStyle/>
        <a:p>
          <a:endParaRPr lang="zh-CN" altLang="en-US" sz="1200"/>
        </a:p>
      </dgm:t>
    </dgm:pt>
    <dgm:pt modelId="{CBF6F5B7-7C58-4F3A-88BB-5CBC69534539}">
      <dgm:prSet phldrT="[文本]" custT="1"/>
      <dgm:spPr/>
      <dgm:t>
        <a:bodyPr/>
        <a:lstStyle/>
        <a:p>
          <a:r>
            <a:rPr lang="zh-CN" altLang="en-US" sz="1200" dirty="0"/>
            <a:t>教育</a:t>
          </a:r>
        </a:p>
      </dgm:t>
    </dgm:pt>
    <dgm:pt modelId="{CF87773F-924A-4605-8570-035144C0F902}" type="parTrans" cxnId="{62D81B6B-A473-4711-8060-E2F235DB436A}">
      <dgm:prSet/>
      <dgm:spPr/>
      <dgm:t>
        <a:bodyPr/>
        <a:lstStyle/>
        <a:p>
          <a:endParaRPr lang="zh-CN" altLang="en-US" sz="1200"/>
        </a:p>
      </dgm:t>
    </dgm:pt>
    <dgm:pt modelId="{6D1C614E-67DC-4BB9-BD87-711365F29683}" type="sibTrans" cxnId="{62D81B6B-A473-4711-8060-E2F235DB436A}">
      <dgm:prSet/>
      <dgm:spPr/>
      <dgm:t>
        <a:bodyPr/>
        <a:lstStyle/>
        <a:p>
          <a:endParaRPr lang="zh-CN" altLang="en-US" sz="1200"/>
        </a:p>
      </dgm:t>
    </dgm:pt>
    <dgm:pt modelId="{55AF6D72-8B6B-4080-8E8C-D4F56863B69E}">
      <dgm:prSet phldrT="[文本]" custT="1"/>
      <dgm:spPr/>
      <dgm:t>
        <a:bodyPr/>
        <a:lstStyle/>
        <a:p>
          <a:r>
            <a:rPr lang="zh-CN" altLang="en-US" sz="1200" dirty="0"/>
            <a:t>医疗</a:t>
          </a:r>
        </a:p>
      </dgm:t>
    </dgm:pt>
    <dgm:pt modelId="{C35CA62F-8556-4DFD-8EC7-5CCA241BB612}" type="parTrans" cxnId="{534309C7-E5FF-4B2D-B8CF-45366536B25D}">
      <dgm:prSet/>
      <dgm:spPr/>
      <dgm:t>
        <a:bodyPr/>
        <a:lstStyle/>
        <a:p>
          <a:endParaRPr lang="zh-CN" altLang="en-US" sz="1200"/>
        </a:p>
      </dgm:t>
    </dgm:pt>
    <dgm:pt modelId="{491DA168-3F2F-44B5-A64C-4106C44D9531}" type="sibTrans" cxnId="{534309C7-E5FF-4B2D-B8CF-45366536B25D}">
      <dgm:prSet/>
      <dgm:spPr/>
      <dgm:t>
        <a:bodyPr/>
        <a:lstStyle/>
        <a:p>
          <a:endParaRPr lang="zh-CN" altLang="en-US" sz="1200"/>
        </a:p>
      </dgm:t>
    </dgm:pt>
    <dgm:pt modelId="{6B298439-DC98-423F-B078-E8F5941082E6}">
      <dgm:prSet phldrT="[文本]" custT="1"/>
      <dgm:spPr/>
      <dgm:t>
        <a:bodyPr/>
        <a:lstStyle/>
        <a:p>
          <a:r>
            <a:rPr lang="zh-CN" altLang="en-US" sz="1200" dirty="0"/>
            <a:t>政务</a:t>
          </a:r>
        </a:p>
      </dgm:t>
    </dgm:pt>
    <dgm:pt modelId="{FF507EB2-A21E-44CB-A397-7737883929F5}" type="parTrans" cxnId="{3131B5D7-C9F2-49E1-8EFF-59076BE387DD}">
      <dgm:prSet/>
      <dgm:spPr/>
      <dgm:t>
        <a:bodyPr/>
        <a:lstStyle/>
        <a:p>
          <a:endParaRPr lang="zh-CN" altLang="en-US" sz="1200"/>
        </a:p>
      </dgm:t>
    </dgm:pt>
    <dgm:pt modelId="{1069866B-901E-41AA-B611-96F392C306C9}" type="sibTrans" cxnId="{3131B5D7-C9F2-49E1-8EFF-59076BE387DD}">
      <dgm:prSet/>
      <dgm:spPr/>
      <dgm:t>
        <a:bodyPr/>
        <a:lstStyle/>
        <a:p>
          <a:endParaRPr lang="zh-CN" altLang="en-US" sz="1200"/>
        </a:p>
      </dgm:t>
    </dgm:pt>
    <dgm:pt modelId="{FAF2ACAA-EABC-4881-8EA7-397CDC13C55C}">
      <dgm:prSet phldrT="[文本]" custT="1"/>
      <dgm:spPr/>
      <dgm:t>
        <a:bodyPr/>
        <a:lstStyle/>
        <a:p>
          <a:r>
            <a:rPr lang="zh-CN" altLang="en-US" sz="1200" dirty="0"/>
            <a:t>商业</a:t>
          </a:r>
        </a:p>
      </dgm:t>
    </dgm:pt>
    <dgm:pt modelId="{770E56DF-8F01-4967-83BA-12AEB9AE298C}" type="parTrans" cxnId="{DECB6BFE-C1AB-49B3-BF33-97FF73C68B80}">
      <dgm:prSet/>
      <dgm:spPr/>
      <dgm:t>
        <a:bodyPr/>
        <a:lstStyle/>
        <a:p>
          <a:endParaRPr lang="zh-CN" altLang="en-US" sz="1200"/>
        </a:p>
      </dgm:t>
    </dgm:pt>
    <dgm:pt modelId="{43BF5A98-9984-4620-885D-10BE9C053A43}" type="sibTrans" cxnId="{DECB6BFE-C1AB-49B3-BF33-97FF73C68B80}">
      <dgm:prSet/>
      <dgm:spPr/>
      <dgm:t>
        <a:bodyPr/>
        <a:lstStyle/>
        <a:p>
          <a:endParaRPr lang="zh-CN" altLang="en-US" sz="1200"/>
        </a:p>
      </dgm:t>
    </dgm:pt>
    <dgm:pt modelId="{26C274A2-A132-40CB-BA50-1DFD2114DDE8}">
      <dgm:prSet phldrT="[文本]" custT="1"/>
      <dgm:spPr/>
      <dgm:t>
        <a:bodyPr/>
        <a:lstStyle/>
        <a:p>
          <a:r>
            <a:rPr lang="zh-CN" altLang="en-US" sz="1200" dirty="0"/>
            <a:t>交通</a:t>
          </a:r>
        </a:p>
      </dgm:t>
    </dgm:pt>
    <dgm:pt modelId="{18C167E5-9951-4075-9E11-75A610F80C55}" type="parTrans" cxnId="{2880779E-5D58-42D8-A4C9-2F8A8FE197F5}">
      <dgm:prSet/>
      <dgm:spPr/>
      <dgm:t>
        <a:bodyPr/>
        <a:lstStyle/>
        <a:p>
          <a:endParaRPr lang="zh-CN" altLang="en-US" sz="1200"/>
        </a:p>
      </dgm:t>
    </dgm:pt>
    <dgm:pt modelId="{969F8E18-0BF9-4FAE-83D0-6A6701ECCF82}" type="sibTrans" cxnId="{2880779E-5D58-42D8-A4C9-2F8A8FE197F5}">
      <dgm:prSet/>
      <dgm:spPr/>
      <dgm:t>
        <a:bodyPr/>
        <a:lstStyle/>
        <a:p>
          <a:endParaRPr lang="zh-CN" altLang="en-US" sz="1200"/>
        </a:p>
      </dgm:t>
    </dgm:pt>
    <dgm:pt modelId="{3F2C0775-94F4-47A1-AF4B-909B1853529B}">
      <dgm:prSet custT="1"/>
      <dgm:spPr/>
      <dgm:t>
        <a:bodyPr/>
        <a:lstStyle/>
        <a:p>
          <a:r>
            <a:rPr lang="zh-CN" altLang="en-US" sz="1200" dirty="0"/>
            <a:t>金融</a:t>
          </a:r>
        </a:p>
      </dgm:t>
    </dgm:pt>
    <dgm:pt modelId="{A38B1822-9787-44D1-BD3C-ACBAACBABD01}" type="parTrans" cxnId="{44087A00-B1E0-4E66-BD03-92CCC0E2E57A}">
      <dgm:prSet/>
      <dgm:spPr/>
      <dgm:t>
        <a:bodyPr/>
        <a:lstStyle/>
        <a:p>
          <a:endParaRPr lang="zh-CN" altLang="en-US" sz="1200"/>
        </a:p>
      </dgm:t>
    </dgm:pt>
    <dgm:pt modelId="{97A5A0B2-98A0-41A2-94D6-5ACC569526A9}" type="sibTrans" cxnId="{44087A00-B1E0-4E66-BD03-92CCC0E2E57A}">
      <dgm:prSet/>
      <dgm:spPr/>
      <dgm:t>
        <a:bodyPr/>
        <a:lstStyle/>
        <a:p>
          <a:endParaRPr lang="zh-CN" altLang="en-US" sz="1200"/>
        </a:p>
      </dgm:t>
    </dgm:pt>
    <dgm:pt modelId="{2283875D-64D0-4EF8-BA5E-3A01B2889C9A}" type="pres">
      <dgm:prSet presAssocID="{E5E05827-7C5E-4011-BB54-A9825C894BC2}" presName="composite" presStyleCnt="0">
        <dgm:presLayoutVars>
          <dgm:chMax val="1"/>
          <dgm:dir/>
          <dgm:resizeHandles val="exact"/>
        </dgm:presLayoutVars>
      </dgm:prSet>
      <dgm:spPr/>
    </dgm:pt>
    <dgm:pt modelId="{B56D683E-7C9C-4207-B0C8-0781DA70F281}" type="pres">
      <dgm:prSet presAssocID="{E5E05827-7C5E-4011-BB54-A9825C894BC2}" presName="radial" presStyleCnt="0">
        <dgm:presLayoutVars>
          <dgm:animLvl val="ctr"/>
        </dgm:presLayoutVars>
      </dgm:prSet>
      <dgm:spPr/>
    </dgm:pt>
    <dgm:pt modelId="{697450F4-F441-4296-8335-01351F8E1B2B}" type="pres">
      <dgm:prSet presAssocID="{A76D0BFA-BC15-45DD-BEFB-67BB802BC730}" presName="centerShape" presStyleLbl="vennNode1" presStyleIdx="0" presStyleCnt="9"/>
      <dgm:spPr/>
    </dgm:pt>
    <dgm:pt modelId="{CE8AFE2D-2AC2-45F0-88B8-B2568168C3FF}" type="pres">
      <dgm:prSet presAssocID="{B18C9164-AF3E-4958-908B-D7485AFCEBF8}" presName="node" presStyleLbl="vennNode1" presStyleIdx="1" presStyleCnt="9">
        <dgm:presLayoutVars>
          <dgm:bulletEnabled val="1"/>
        </dgm:presLayoutVars>
      </dgm:prSet>
      <dgm:spPr/>
    </dgm:pt>
    <dgm:pt modelId="{670A9751-EDA7-44BE-84F6-DA052AFC6D1C}" type="pres">
      <dgm:prSet presAssocID="{289F969B-460A-4D7B-AFBB-F45D1D8FC7AC}" presName="node" presStyleLbl="vennNode1" presStyleIdx="2" presStyleCnt="9">
        <dgm:presLayoutVars>
          <dgm:bulletEnabled val="1"/>
        </dgm:presLayoutVars>
      </dgm:prSet>
      <dgm:spPr/>
    </dgm:pt>
    <dgm:pt modelId="{242A4B1B-E8FC-49C8-BFF1-60EED0B2A276}" type="pres">
      <dgm:prSet presAssocID="{CBF6F5B7-7C58-4F3A-88BB-5CBC69534539}" presName="node" presStyleLbl="vennNode1" presStyleIdx="3" presStyleCnt="9">
        <dgm:presLayoutVars>
          <dgm:bulletEnabled val="1"/>
        </dgm:presLayoutVars>
      </dgm:prSet>
      <dgm:spPr/>
    </dgm:pt>
    <dgm:pt modelId="{C0A173BA-2876-4F61-AAD1-FA50AD3DFDD0}" type="pres">
      <dgm:prSet presAssocID="{55AF6D72-8B6B-4080-8E8C-D4F56863B69E}" presName="node" presStyleLbl="vennNode1" presStyleIdx="4" presStyleCnt="9">
        <dgm:presLayoutVars>
          <dgm:bulletEnabled val="1"/>
        </dgm:presLayoutVars>
      </dgm:prSet>
      <dgm:spPr/>
    </dgm:pt>
    <dgm:pt modelId="{D951B7E8-AF72-41D8-8F8D-E56CFF2EB951}" type="pres">
      <dgm:prSet presAssocID="{FAF2ACAA-EABC-4881-8EA7-397CDC13C55C}" presName="node" presStyleLbl="vennNode1" presStyleIdx="5" presStyleCnt="9">
        <dgm:presLayoutVars>
          <dgm:bulletEnabled val="1"/>
        </dgm:presLayoutVars>
      </dgm:prSet>
      <dgm:spPr/>
    </dgm:pt>
    <dgm:pt modelId="{2343D8A9-7AEC-4D40-8773-498EA64A78FE}" type="pres">
      <dgm:prSet presAssocID="{26C274A2-A132-40CB-BA50-1DFD2114DDE8}" presName="node" presStyleLbl="vennNode1" presStyleIdx="6" presStyleCnt="9">
        <dgm:presLayoutVars>
          <dgm:bulletEnabled val="1"/>
        </dgm:presLayoutVars>
      </dgm:prSet>
      <dgm:spPr/>
    </dgm:pt>
    <dgm:pt modelId="{4B8ABBE8-E9C9-4F6B-9525-8C9A18414CDE}" type="pres">
      <dgm:prSet presAssocID="{3F2C0775-94F4-47A1-AF4B-909B1853529B}" presName="node" presStyleLbl="vennNode1" presStyleIdx="7" presStyleCnt="9">
        <dgm:presLayoutVars>
          <dgm:bulletEnabled val="1"/>
        </dgm:presLayoutVars>
      </dgm:prSet>
      <dgm:spPr/>
    </dgm:pt>
    <dgm:pt modelId="{C13D16A4-6F51-437B-A7BA-09AB4609C68B}" type="pres">
      <dgm:prSet presAssocID="{6B298439-DC98-423F-B078-E8F5941082E6}" presName="node" presStyleLbl="vennNode1" presStyleIdx="8" presStyleCnt="9">
        <dgm:presLayoutVars>
          <dgm:bulletEnabled val="1"/>
        </dgm:presLayoutVars>
      </dgm:prSet>
      <dgm:spPr/>
    </dgm:pt>
  </dgm:ptLst>
  <dgm:cxnLst>
    <dgm:cxn modelId="{44087A00-B1E0-4E66-BD03-92CCC0E2E57A}" srcId="{A76D0BFA-BC15-45DD-BEFB-67BB802BC730}" destId="{3F2C0775-94F4-47A1-AF4B-909B1853529B}" srcOrd="6" destOrd="0" parTransId="{A38B1822-9787-44D1-BD3C-ACBAACBABD01}" sibTransId="{97A5A0B2-98A0-41A2-94D6-5ACC569526A9}"/>
    <dgm:cxn modelId="{671CAE00-FF67-446A-B055-58534C0F19A8}" type="presOf" srcId="{B18C9164-AF3E-4958-908B-D7485AFCEBF8}" destId="{CE8AFE2D-2AC2-45F0-88B8-B2568168C3FF}" srcOrd="0" destOrd="0" presId="urn:microsoft.com/office/officeart/2005/8/layout/radial3"/>
    <dgm:cxn modelId="{E1145A10-C3F5-4120-9951-ED8E95DF626C}" type="presOf" srcId="{6B298439-DC98-423F-B078-E8F5941082E6}" destId="{C13D16A4-6F51-437B-A7BA-09AB4609C68B}" srcOrd="0" destOrd="0" presId="urn:microsoft.com/office/officeart/2005/8/layout/radial3"/>
    <dgm:cxn modelId="{FE3E4F19-BD5A-4BF1-9C7C-1F6EBA21FDB2}" type="presOf" srcId="{55AF6D72-8B6B-4080-8E8C-D4F56863B69E}" destId="{C0A173BA-2876-4F61-AAD1-FA50AD3DFDD0}" srcOrd="0" destOrd="0" presId="urn:microsoft.com/office/officeart/2005/8/layout/radial3"/>
    <dgm:cxn modelId="{1C9E9E21-DB3F-4EE8-826E-495B8AF8311D}" type="presOf" srcId="{289F969B-460A-4D7B-AFBB-F45D1D8FC7AC}" destId="{670A9751-EDA7-44BE-84F6-DA052AFC6D1C}" srcOrd="0" destOrd="0" presId="urn:microsoft.com/office/officeart/2005/8/layout/radial3"/>
    <dgm:cxn modelId="{34C7A264-38DC-418F-BC6E-C3B4A95B5E47}" type="presOf" srcId="{A76D0BFA-BC15-45DD-BEFB-67BB802BC730}" destId="{697450F4-F441-4296-8335-01351F8E1B2B}" srcOrd="0" destOrd="0" presId="urn:microsoft.com/office/officeart/2005/8/layout/radial3"/>
    <dgm:cxn modelId="{62D81B6B-A473-4711-8060-E2F235DB436A}" srcId="{A76D0BFA-BC15-45DD-BEFB-67BB802BC730}" destId="{CBF6F5B7-7C58-4F3A-88BB-5CBC69534539}" srcOrd="2" destOrd="0" parTransId="{CF87773F-924A-4605-8570-035144C0F902}" sibTransId="{6D1C614E-67DC-4BB9-BD87-711365F29683}"/>
    <dgm:cxn modelId="{9A2D7B6E-102A-4276-9A10-DB1F7EAB1F95}" type="presOf" srcId="{E5E05827-7C5E-4011-BB54-A9825C894BC2}" destId="{2283875D-64D0-4EF8-BA5E-3A01B2889C9A}" srcOrd="0" destOrd="0" presId="urn:microsoft.com/office/officeart/2005/8/layout/radial3"/>
    <dgm:cxn modelId="{43629A51-9669-4227-8CF2-06728FED7FB2}" srcId="{A76D0BFA-BC15-45DD-BEFB-67BB802BC730}" destId="{B18C9164-AF3E-4958-908B-D7485AFCEBF8}" srcOrd="0" destOrd="0" parTransId="{E3590D31-6E72-444F-9C49-1AE7EFE87DD0}" sibTransId="{AA57978E-F1E4-45BC-98ED-B86BC4A8B02B}"/>
    <dgm:cxn modelId="{41D3E594-5567-4F8A-ADC0-6231A9A4BF12}" type="presOf" srcId="{26C274A2-A132-40CB-BA50-1DFD2114DDE8}" destId="{2343D8A9-7AEC-4D40-8773-498EA64A78FE}" srcOrd="0" destOrd="0" presId="urn:microsoft.com/office/officeart/2005/8/layout/radial3"/>
    <dgm:cxn modelId="{AC754295-F863-4119-AC31-2B2660E39C1A}" srcId="{A76D0BFA-BC15-45DD-BEFB-67BB802BC730}" destId="{289F969B-460A-4D7B-AFBB-F45D1D8FC7AC}" srcOrd="1" destOrd="0" parTransId="{BC8AED9C-6DB9-4718-BE03-2F8A9BAA1F72}" sibTransId="{2F9C0308-2ACC-48D6-B1DE-0A9B3F7C4D91}"/>
    <dgm:cxn modelId="{2880779E-5D58-42D8-A4C9-2F8A8FE197F5}" srcId="{A76D0BFA-BC15-45DD-BEFB-67BB802BC730}" destId="{26C274A2-A132-40CB-BA50-1DFD2114DDE8}" srcOrd="5" destOrd="0" parTransId="{18C167E5-9951-4075-9E11-75A610F80C55}" sibTransId="{969F8E18-0BF9-4FAE-83D0-6A6701ECCF82}"/>
    <dgm:cxn modelId="{534309C7-E5FF-4B2D-B8CF-45366536B25D}" srcId="{A76D0BFA-BC15-45DD-BEFB-67BB802BC730}" destId="{55AF6D72-8B6B-4080-8E8C-D4F56863B69E}" srcOrd="3" destOrd="0" parTransId="{C35CA62F-8556-4DFD-8EC7-5CCA241BB612}" sibTransId="{491DA168-3F2F-44B5-A64C-4106C44D9531}"/>
    <dgm:cxn modelId="{960F42CD-A079-47D0-A3DB-DFB4595FF8F4}" type="presOf" srcId="{CBF6F5B7-7C58-4F3A-88BB-5CBC69534539}" destId="{242A4B1B-E8FC-49C8-BFF1-60EED0B2A276}" srcOrd="0" destOrd="0" presId="urn:microsoft.com/office/officeart/2005/8/layout/radial3"/>
    <dgm:cxn modelId="{3131B5D7-C9F2-49E1-8EFF-59076BE387DD}" srcId="{A76D0BFA-BC15-45DD-BEFB-67BB802BC730}" destId="{6B298439-DC98-423F-B078-E8F5941082E6}" srcOrd="7" destOrd="0" parTransId="{FF507EB2-A21E-44CB-A397-7737883929F5}" sibTransId="{1069866B-901E-41AA-B611-96F392C306C9}"/>
    <dgm:cxn modelId="{ED9447EC-C4D5-4F03-BF67-2F0986A3EEB3}" type="presOf" srcId="{3F2C0775-94F4-47A1-AF4B-909B1853529B}" destId="{4B8ABBE8-E9C9-4F6B-9525-8C9A18414CDE}" srcOrd="0" destOrd="0" presId="urn:microsoft.com/office/officeart/2005/8/layout/radial3"/>
    <dgm:cxn modelId="{B37E0EFB-4E40-4FEE-8B05-4AE2EB6D24A8}" type="presOf" srcId="{FAF2ACAA-EABC-4881-8EA7-397CDC13C55C}" destId="{D951B7E8-AF72-41D8-8F8D-E56CFF2EB951}" srcOrd="0" destOrd="0" presId="urn:microsoft.com/office/officeart/2005/8/layout/radial3"/>
    <dgm:cxn modelId="{DECB6BFE-C1AB-49B3-BF33-97FF73C68B80}" srcId="{A76D0BFA-BC15-45DD-BEFB-67BB802BC730}" destId="{FAF2ACAA-EABC-4881-8EA7-397CDC13C55C}" srcOrd="4" destOrd="0" parTransId="{770E56DF-8F01-4967-83BA-12AEB9AE298C}" sibTransId="{43BF5A98-9984-4620-885D-10BE9C053A43}"/>
    <dgm:cxn modelId="{9CB6F1FF-87D2-406B-ACF5-0ED45A7D7F44}" srcId="{E5E05827-7C5E-4011-BB54-A9825C894BC2}" destId="{A76D0BFA-BC15-45DD-BEFB-67BB802BC730}" srcOrd="0" destOrd="0" parTransId="{B00600B9-142A-48E4-AC4D-F087585498F0}" sibTransId="{1A64C42D-73C0-4271-8028-E940B4F42241}"/>
    <dgm:cxn modelId="{6E1AC565-CA31-4D1F-AEDC-94CB71666459}" type="presParOf" srcId="{2283875D-64D0-4EF8-BA5E-3A01B2889C9A}" destId="{B56D683E-7C9C-4207-B0C8-0781DA70F281}" srcOrd="0" destOrd="0" presId="urn:microsoft.com/office/officeart/2005/8/layout/radial3"/>
    <dgm:cxn modelId="{1CDAEEA2-878E-4004-9A51-79A46310453B}" type="presParOf" srcId="{B56D683E-7C9C-4207-B0C8-0781DA70F281}" destId="{697450F4-F441-4296-8335-01351F8E1B2B}" srcOrd="0" destOrd="0" presId="urn:microsoft.com/office/officeart/2005/8/layout/radial3"/>
    <dgm:cxn modelId="{2BAE2F8F-9C9B-42B4-BEE4-6A370460910A}" type="presParOf" srcId="{B56D683E-7C9C-4207-B0C8-0781DA70F281}" destId="{CE8AFE2D-2AC2-45F0-88B8-B2568168C3FF}" srcOrd="1" destOrd="0" presId="urn:microsoft.com/office/officeart/2005/8/layout/radial3"/>
    <dgm:cxn modelId="{5113B970-C13B-410E-BAE9-EC7E41AE1703}" type="presParOf" srcId="{B56D683E-7C9C-4207-B0C8-0781DA70F281}" destId="{670A9751-EDA7-44BE-84F6-DA052AFC6D1C}" srcOrd="2" destOrd="0" presId="urn:microsoft.com/office/officeart/2005/8/layout/radial3"/>
    <dgm:cxn modelId="{A7DB3A97-510A-490C-875A-3CCDF48C0C9C}" type="presParOf" srcId="{B56D683E-7C9C-4207-B0C8-0781DA70F281}" destId="{242A4B1B-E8FC-49C8-BFF1-60EED0B2A276}" srcOrd="3" destOrd="0" presId="urn:microsoft.com/office/officeart/2005/8/layout/radial3"/>
    <dgm:cxn modelId="{A9B28D62-23AA-47E3-ACC7-5418386FDD7F}" type="presParOf" srcId="{B56D683E-7C9C-4207-B0C8-0781DA70F281}" destId="{C0A173BA-2876-4F61-AAD1-FA50AD3DFDD0}" srcOrd="4" destOrd="0" presId="urn:microsoft.com/office/officeart/2005/8/layout/radial3"/>
    <dgm:cxn modelId="{D31E7E80-7C5E-4183-B574-91C1CB4D1142}" type="presParOf" srcId="{B56D683E-7C9C-4207-B0C8-0781DA70F281}" destId="{D951B7E8-AF72-41D8-8F8D-E56CFF2EB951}" srcOrd="5" destOrd="0" presId="urn:microsoft.com/office/officeart/2005/8/layout/radial3"/>
    <dgm:cxn modelId="{6D4E746B-9B5A-41EE-9D32-56664D21A1E6}" type="presParOf" srcId="{B56D683E-7C9C-4207-B0C8-0781DA70F281}" destId="{2343D8A9-7AEC-4D40-8773-498EA64A78FE}" srcOrd="6" destOrd="0" presId="urn:microsoft.com/office/officeart/2005/8/layout/radial3"/>
    <dgm:cxn modelId="{0E5D4A10-2E63-432B-B7AD-B4B508FC16E8}" type="presParOf" srcId="{B56D683E-7C9C-4207-B0C8-0781DA70F281}" destId="{4B8ABBE8-E9C9-4F6B-9525-8C9A18414CDE}" srcOrd="7" destOrd="0" presId="urn:microsoft.com/office/officeart/2005/8/layout/radial3"/>
    <dgm:cxn modelId="{F5F98F4B-A524-43CE-99A7-D5C35E51CA3C}" type="presParOf" srcId="{B56D683E-7C9C-4207-B0C8-0781DA70F281}" destId="{C13D16A4-6F51-437B-A7BA-09AB4609C68B}" srcOrd="8"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5FF3CF-44DC-43E7-AC27-8E824204EC36}" type="doc">
      <dgm:prSet loTypeId="urn:microsoft.com/office/officeart/2008/layout/AlternatingHexagons" loCatId="list" qsTypeId="urn:microsoft.com/office/officeart/2005/8/quickstyle/simple1" qsCatId="simple" csTypeId="urn:microsoft.com/office/officeart/2005/8/colors/colorful1#6" csCatId="colorful" phldr="1"/>
      <dgm:spPr/>
      <dgm:t>
        <a:bodyPr/>
        <a:lstStyle/>
        <a:p>
          <a:endParaRPr lang="zh-CN" altLang="en-US"/>
        </a:p>
      </dgm:t>
    </dgm:pt>
    <dgm:pt modelId="{05D41365-1355-4DAD-B4F1-FB33A078461A}">
      <dgm:prSet phldrT="[文本]" custT="1"/>
      <dgm:spPr/>
      <dgm:t>
        <a:bodyPr/>
        <a:lstStyle/>
        <a:p>
          <a:r>
            <a:rPr lang="zh-CN" altLang="en-US" sz="1600" b="1" i="0" baseline="0" dirty="0">
              <a:solidFill>
                <a:schemeClr val="tx1"/>
              </a:solidFill>
              <a:latin typeface="+mj-lt"/>
              <a:ea typeface="+mj-ea"/>
            </a:rPr>
            <a:t>费用</a:t>
          </a:r>
        </a:p>
      </dgm:t>
    </dgm:pt>
    <dgm:pt modelId="{BED6549C-B35E-4354-84E8-A7AE58E7EC07}" type="parTrans" cxnId="{56CC0E7C-D98A-4C46-81A3-3B1F60601F38}">
      <dgm:prSet/>
      <dgm:spPr/>
      <dgm:t>
        <a:bodyPr/>
        <a:lstStyle/>
        <a:p>
          <a:endParaRPr lang="zh-CN" altLang="en-US" sz="1800" b="1" i="0" baseline="0">
            <a:latin typeface="+mj-lt"/>
            <a:ea typeface="+mj-ea"/>
          </a:endParaRPr>
        </a:p>
      </dgm:t>
    </dgm:pt>
    <dgm:pt modelId="{5C027A28-57B2-4775-8438-4AAECBE023C8}" type="sibTrans" cxnId="{56CC0E7C-D98A-4C46-81A3-3B1F60601F38}">
      <dgm:prSet custT="1"/>
      <dgm:spPr/>
      <dgm:t>
        <a:bodyPr/>
        <a:lstStyle/>
        <a:p>
          <a:endParaRPr lang="zh-CN" altLang="en-US" sz="1800" b="1" i="0" baseline="0">
            <a:latin typeface="+mj-lt"/>
            <a:ea typeface="+mj-ea"/>
          </a:endParaRPr>
        </a:p>
      </dgm:t>
    </dgm:pt>
    <dgm:pt modelId="{E173A921-6651-451D-81E9-F0ACC1536AAC}">
      <dgm:prSet phldrT="[文本]" custT="1"/>
      <dgm:spPr/>
      <dgm:t>
        <a:bodyPr/>
        <a:lstStyle/>
        <a:p>
          <a:r>
            <a:rPr lang="zh-CN" altLang="en-US" sz="1800" b="1" i="0" baseline="0" dirty="0">
              <a:latin typeface="+mj-lt"/>
              <a:ea typeface="+mj-ea"/>
            </a:rPr>
            <a:t>标准化</a:t>
          </a:r>
        </a:p>
      </dgm:t>
    </dgm:pt>
    <dgm:pt modelId="{DF4FD089-4E3D-4F03-9D3C-F28F49D8F119}" type="parTrans" cxnId="{FDAAE633-85C8-42F8-B4AA-4B51C3A57B39}">
      <dgm:prSet/>
      <dgm:spPr/>
      <dgm:t>
        <a:bodyPr/>
        <a:lstStyle/>
        <a:p>
          <a:endParaRPr lang="zh-CN" altLang="en-US" sz="1800" b="1" i="0" baseline="0">
            <a:latin typeface="+mj-lt"/>
            <a:ea typeface="+mj-ea"/>
          </a:endParaRPr>
        </a:p>
      </dgm:t>
    </dgm:pt>
    <dgm:pt modelId="{739184D2-A650-4378-9B66-79745068F954}" type="sibTrans" cxnId="{FDAAE633-85C8-42F8-B4AA-4B51C3A57B39}">
      <dgm:prSet/>
      <dgm:spPr/>
      <dgm:t>
        <a:bodyPr/>
        <a:lstStyle/>
        <a:p>
          <a:endParaRPr lang="zh-CN" altLang="en-US" sz="1800" b="1" i="0" baseline="0">
            <a:latin typeface="+mj-lt"/>
            <a:ea typeface="+mj-ea"/>
          </a:endParaRPr>
        </a:p>
      </dgm:t>
    </dgm:pt>
    <dgm:pt modelId="{D199F25F-9525-43C5-955C-BB6FEFFBA60E}">
      <dgm:prSet phldrT="[文本]" custT="1"/>
      <dgm:spPr/>
      <dgm:t>
        <a:bodyPr/>
        <a:lstStyle/>
        <a:p>
          <a:r>
            <a:rPr lang="zh-CN" altLang="en-US" sz="1600" b="1" i="0" baseline="0" dirty="0">
              <a:solidFill>
                <a:schemeClr val="tx1"/>
              </a:solidFill>
              <a:latin typeface="+mj-lt"/>
              <a:ea typeface="+mj-ea"/>
            </a:rPr>
            <a:t>质量</a:t>
          </a:r>
        </a:p>
      </dgm:t>
    </dgm:pt>
    <dgm:pt modelId="{92F37460-E89E-4259-A2EF-B2A638C38A45}" type="parTrans" cxnId="{12D5EFDF-084C-4857-A4BE-12B60B2E2A98}">
      <dgm:prSet/>
      <dgm:spPr/>
      <dgm:t>
        <a:bodyPr/>
        <a:lstStyle/>
        <a:p>
          <a:endParaRPr lang="zh-CN" altLang="en-US" sz="1800" b="1" i="0" baseline="0">
            <a:latin typeface="+mj-lt"/>
            <a:ea typeface="+mj-ea"/>
          </a:endParaRPr>
        </a:p>
      </dgm:t>
    </dgm:pt>
    <dgm:pt modelId="{2E4C2D13-B647-4CF6-B1F7-03AB183A1123}" type="sibTrans" cxnId="{12D5EFDF-084C-4857-A4BE-12B60B2E2A98}">
      <dgm:prSet custT="1"/>
      <dgm:spPr/>
      <dgm:t>
        <a:bodyPr/>
        <a:lstStyle/>
        <a:p>
          <a:endParaRPr lang="zh-CN" altLang="en-US" sz="1800" b="1" i="0" baseline="0">
            <a:latin typeface="+mj-lt"/>
            <a:ea typeface="+mj-ea"/>
          </a:endParaRPr>
        </a:p>
      </dgm:t>
    </dgm:pt>
    <dgm:pt modelId="{3EC4611C-A3C3-451C-AE74-8846F1901302}">
      <dgm:prSet phldrT="[文本]" custT="1"/>
      <dgm:spPr/>
      <dgm:t>
        <a:bodyPr/>
        <a:lstStyle/>
        <a:p>
          <a:r>
            <a:rPr lang="zh-CN" altLang="en-US" sz="1600" b="1" i="0" baseline="0" dirty="0">
              <a:latin typeface="+mj-lt"/>
              <a:ea typeface="+mj-ea"/>
            </a:rPr>
            <a:t>可靠性</a:t>
          </a:r>
        </a:p>
      </dgm:t>
    </dgm:pt>
    <dgm:pt modelId="{68F328E8-C43C-478E-B670-0B24656D9E35}" type="parTrans" cxnId="{BF7B8AEA-CFF9-4BFA-A92B-C9AA4345FE48}">
      <dgm:prSet/>
      <dgm:spPr/>
      <dgm:t>
        <a:bodyPr/>
        <a:lstStyle/>
        <a:p>
          <a:endParaRPr lang="zh-CN" altLang="en-US" sz="1800" b="1" i="0" baseline="0">
            <a:latin typeface="+mj-lt"/>
            <a:ea typeface="+mj-ea"/>
          </a:endParaRPr>
        </a:p>
      </dgm:t>
    </dgm:pt>
    <dgm:pt modelId="{2E561528-8DA9-408B-83C6-171ECD06B86B}" type="sibTrans" cxnId="{BF7B8AEA-CFF9-4BFA-A92B-C9AA4345FE48}">
      <dgm:prSet/>
      <dgm:spPr/>
      <dgm:t>
        <a:bodyPr/>
        <a:lstStyle/>
        <a:p>
          <a:endParaRPr lang="zh-CN" altLang="en-US" sz="1800" b="1" i="0" baseline="0">
            <a:latin typeface="+mj-lt"/>
            <a:ea typeface="+mj-ea"/>
          </a:endParaRPr>
        </a:p>
      </dgm:t>
    </dgm:pt>
    <dgm:pt modelId="{C40893AA-1044-4C1A-AFE8-154BD0AD6229}">
      <dgm:prSet phldrT="[文本]" custT="1"/>
      <dgm:spPr/>
      <dgm:t>
        <a:bodyPr/>
        <a:lstStyle/>
        <a:p>
          <a:r>
            <a:rPr lang="zh-CN" altLang="en-US" sz="1400" b="1" i="0" baseline="0" dirty="0">
              <a:solidFill>
                <a:schemeClr val="tx1"/>
              </a:solidFill>
              <a:latin typeface="+mj-lt"/>
              <a:ea typeface="+mj-ea"/>
            </a:rPr>
            <a:t>维护</a:t>
          </a:r>
        </a:p>
      </dgm:t>
    </dgm:pt>
    <dgm:pt modelId="{5D5965E2-EEFF-40D7-B453-CDF2231F9E32}" type="parTrans" cxnId="{5DC1683A-A3BA-477F-922D-A91C5AAC3E85}">
      <dgm:prSet/>
      <dgm:spPr/>
      <dgm:t>
        <a:bodyPr/>
        <a:lstStyle/>
        <a:p>
          <a:endParaRPr lang="zh-CN" altLang="en-US" sz="1800" b="1" i="0" baseline="0">
            <a:latin typeface="+mj-lt"/>
            <a:ea typeface="+mj-ea"/>
          </a:endParaRPr>
        </a:p>
      </dgm:t>
    </dgm:pt>
    <dgm:pt modelId="{0EE1A90B-D747-4792-8CF8-D1D86F0C6D30}" type="sibTrans" cxnId="{5DC1683A-A3BA-477F-922D-A91C5AAC3E85}">
      <dgm:prSet custT="1"/>
      <dgm:spPr/>
      <dgm:t>
        <a:bodyPr/>
        <a:lstStyle/>
        <a:p>
          <a:r>
            <a:rPr lang="zh-CN" altLang="en-US" sz="1600" b="1" i="0" baseline="0" dirty="0">
              <a:latin typeface="+mj-lt"/>
              <a:ea typeface="+mj-ea"/>
            </a:rPr>
            <a:t>管理</a:t>
          </a:r>
        </a:p>
      </dgm:t>
    </dgm:pt>
    <dgm:pt modelId="{32415517-2817-485B-84FB-EEB772F05388}">
      <dgm:prSet phldrT="[文本]" custT="1"/>
      <dgm:spPr/>
      <dgm:t>
        <a:bodyPr/>
        <a:lstStyle/>
        <a:p>
          <a:r>
            <a:rPr lang="zh-CN" altLang="en-US" sz="1800" b="1" i="0" baseline="0" dirty="0">
              <a:latin typeface="+mj-lt"/>
              <a:ea typeface="+mj-ea"/>
            </a:rPr>
            <a:t>可扩展性和可升级性</a:t>
          </a:r>
        </a:p>
      </dgm:t>
    </dgm:pt>
    <dgm:pt modelId="{9389711E-63B1-48BC-8B0D-E77AD36B0F70}" type="parTrans" cxnId="{C8E4366A-7323-4BAE-BF0B-D491A4B1C631}">
      <dgm:prSet/>
      <dgm:spPr/>
      <dgm:t>
        <a:bodyPr/>
        <a:lstStyle/>
        <a:p>
          <a:endParaRPr lang="zh-CN" altLang="en-US" sz="1800" b="1" i="0" baseline="0">
            <a:latin typeface="+mj-lt"/>
            <a:ea typeface="+mj-ea"/>
          </a:endParaRPr>
        </a:p>
      </dgm:t>
    </dgm:pt>
    <dgm:pt modelId="{8B057A99-57DA-4C5E-AFDE-4E731CDF706D}" type="sibTrans" cxnId="{C8E4366A-7323-4BAE-BF0B-D491A4B1C631}">
      <dgm:prSet/>
      <dgm:spPr/>
      <dgm:t>
        <a:bodyPr/>
        <a:lstStyle/>
        <a:p>
          <a:endParaRPr lang="zh-CN" altLang="en-US" sz="1800" b="1" i="0" baseline="0">
            <a:latin typeface="+mj-lt"/>
            <a:ea typeface="+mj-ea"/>
          </a:endParaRPr>
        </a:p>
      </dgm:t>
    </dgm:pt>
    <dgm:pt modelId="{044216E9-137E-4B54-AB85-D985D58783B6}" type="pres">
      <dgm:prSet presAssocID="{135FF3CF-44DC-43E7-AC27-8E824204EC36}" presName="Name0" presStyleCnt="0">
        <dgm:presLayoutVars>
          <dgm:chMax/>
          <dgm:chPref/>
          <dgm:dir/>
          <dgm:animLvl val="lvl"/>
        </dgm:presLayoutVars>
      </dgm:prSet>
      <dgm:spPr/>
    </dgm:pt>
    <dgm:pt modelId="{6E6AB5B1-8C45-4545-BA69-7F63DEE5163B}" type="pres">
      <dgm:prSet presAssocID="{05D41365-1355-4DAD-B4F1-FB33A078461A}" presName="composite" presStyleCnt="0"/>
      <dgm:spPr/>
    </dgm:pt>
    <dgm:pt modelId="{737B4ED7-5247-4B99-B038-972624275F7F}" type="pres">
      <dgm:prSet presAssocID="{05D41365-1355-4DAD-B4F1-FB33A078461A}" presName="Parent1" presStyleLbl="node1" presStyleIdx="0" presStyleCnt="6" custLinFactNeighborY="0">
        <dgm:presLayoutVars>
          <dgm:chMax val="1"/>
          <dgm:chPref val="1"/>
          <dgm:bulletEnabled val="1"/>
        </dgm:presLayoutVars>
      </dgm:prSet>
      <dgm:spPr/>
    </dgm:pt>
    <dgm:pt modelId="{0EC6F23C-19FA-4BBB-96C2-30D954DFEC45}" type="pres">
      <dgm:prSet presAssocID="{05D41365-1355-4DAD-B4F1-FB33A078461A}" presName="Childtext1" presStyleLbl="revTx" presStyleIdx="0" presStyleCnt="3">
        <dgm:presLayoutVars>
          <dgm:chMax val="0"/>
          <dgm:chPref val="0"/>
          <dgm:bulletEnabled val="1"/>
        </dgm:presLayoutVars>
      </dgm:prSet>
      <dgm:spPr/>
    </dgm:pt>
    <dgm:pt modelId="{E72809E6-925A-4033-A3E6-30F40589AE8C}" type="pres">
      <dgm:prSet presAssocID="{05D41365-1355-4DAD-B4F1-FB33A078461A}" presName="BalanceSpacing" presStyleCnt="0"/>
      <dgm:spPr/>
    </dgm:pt>
    <dgm:pt modelId="{8A426D04-7387-4BF5-B7A9-CE9CF71A10A4}" type="pres">
      <dgm:prSet presAssocID="{05D41365-1355-4DAD-B4F1-FB33A078461A}" presName="BalanceSpacing1" presStyleCnt="0"/>
      <dgm:spPr/>
    </dgm:pt>
    <dgm:pt modelId="{538930E3-AFBB-40A2-9199-81FC54A0A713}" type="pres">
      <dgm:prSet presAssocID="{5C027A28-57B2-4775-8438-4AAECBE023C8}" presName="Accent1Text" presStyleLbl="node1" presStyleIdx="1" presStyleCnt="6"/>
      <dgm:spPr/>
    </dgm:pt>
    <dgm:pt modelId="{770EB172-9189-4CB8-B1B4-B4830FDDB2B7}" type="pres">
      <dgm:prSet presAssocID="{5C027A28-57B2-4775-8438-4AAECBE023C8}" presName="spaceBetweenRectangles" presStyleCnt="0"/>
      <dgm:spPr/>
    </dgm:pt>
    <dgm:pt modelId="{B8000619-585E-43B1-97D0-9E973B5CFF02}" type="pres">
      <dgm:prSet presAssocID="{D199F25F-9525-43C5-955C-BB6FEFFBA60E}" presName="composite" presStyleCnt="0"/>
      <dgm:spPr/>
    </dgm:pt>
    <dgm:pt modelId="{189B3354-A08F-46B4-AA51-80167B86E07E}" type="pres">
      <dgm:prSet presAssocID="{D199F25F-9525-43C5-955C-BB6FEFFBA60E}" presName="Parent1" presStyleLbl="node1" presStyleIdx="2" presStyleCnt="6">
        <dgm:presLayoutVars>
          <dgm:chMax val="1"/>
          <dgm:chPref val="1"/>
          <dgm:bulletEnabled val="1"/>
        </dgm:presLayoutVars>
      </dgm:prSet>
      <dgm:spPr/>
    </dgm:pt>
    <dgm:pt modelId="{30C810D8-43FD-41C8-A342-08B348498E1F}" type="pres">
      <dgm:prSet presAssocID="{D199F25F-9525-43C5-955C-BB6FEFFBA60E}" presName="Childtext1" presStyleLbl="revTx" presStyleIdx="1" presStyleCnt="3">
        <dgm:presLayoutVars>
          <dgm:chMax val="0"/>
          <dgm:chPref val="0"/>
          <dgm:bulletEnabled val="1"/>
        </dgm:presLayoutVars>
      </dgm:prSet>
      <dgm:spPr/>
    </dgm:pt>
    <dgm:pt modelId="{DDAB6A08-FDE4-4250-B857-22C6F4C875CD}" type="pres">
      <dgm:prSet presAssocID="{D199F25F-9525-43C5-955C-BB6FEFFBA60E}" presName="BalanceSpacing" presStyleCnt="0"/>
      <dgm:spPr/>
    </dgm:pt>
    <dgm:pt modelId="{456BFF4D-8D17-4008-8FD8-97C1E973905D}" type="pres">
      <dgm:prSet presAssocID="{D199F25F-9525-43C5-955C-BB6FEFFBA60E}" presName="BalanceSpacing1" presStyleCnt="0"/>
      <dgm:spPr/>
    </dgm:pt>
    <dgm:pt modelId="{2E871E28-410D-4C73-B809-46EEEE1B5408}" type="pres">
      <dgm:prSet presAssocID="{2E4C2D13-B647-4CF6-B1F7-03AB183A1123}" presName="Accent1Text" presStyleLbl="node1" presStyleIdx="3" presStyleCnt="6"/>
      <dgm:spPr/>
    </dgm:pt>
    <dgm:pt modelId="{32342D5D-D85B-4C93-8081-CE9B08BF8EF3}" type="pres">
      <dgm:prSet presAssocID="{2E4C2D13-B647-4CF6-B1F7-03AB183A1123}" presName="spaceBetweenRectangles" presStyleCnt="0"/>
      <dgm:spPr/>
    </dgm:pt>
    <dgm:pt modelId="{0250A542-5660-4811-BA9A-A026384EC288}" type="pres">
      <dgm:prSet presAssocID="{C40893AA-1044-4C1A-AFE8-154BD0AD6229}" presName="composite" presStyleCnt="0"/>
      <dgm:spPr/>
    </dgm:pt>
    <dgm:pt modelId="{6CCD66D6-E3E3-4758-A25B-E5A97FDFEEA0}" type="pres">
      <dgm:prSet presAssocID="{C40893AA-1044-4C1A-AFE8-154BD0AD6229}" presName="Parent1" presStyleLbl="node1" presStyleIdx="4" presStyleCnt="6">
        <dgm:presLayoutVars>
          <dgm:chMax val="1"/>
          <dgm:chPref val="1"/>
          <dgm:bulletEnabled val="1"/>
        </dgm:presLayoutVars>
      </dgm:prSet>
      <dgm:spPr/>
    </dgm:pt>
    <dgm:pt modelId="{95ED7348-6155-4B72-B2AA-9F71065BC8B5}" type="pres">
      <dgm:prSet presAssocID="{C40893AA-1044-4C1A-AFE8-154BD0AD6229}" presName="Childtext1" presStyleLbl="revTx" presStyleIdx="2" presStyleCnt="3">
        <dgm:presLayoutVars>
          <dgm:chMax val="0"/>
          <dgm:chPref val="0"/>
          <dgm:bulletEnabled val="1"/>
        </dgm:presLayoutVars>
      </dgm:prSet>
      <dgm:spPr/>
    </dgm:pt>
    <dgm:pt modelId="{5C3E9DE1-CF2D-48B8-B1BE-CF5807B39F22}" type="pres">
      <dgm:prSet presAssocID="{C40893AA-1044-4C1A-AFE8-154BD0AD6229}" presName="BalanceSpacing" presStyleCnt="0"/>
      <dgm:spPr/>
    </dgm:pt>
    <dgm:pt modelId="{248FEED7-91A8-4070-8E60-258F9D3AF8A1}" type="pres">
      <dgm:prSet presAssocID="{C40893AA-1044-4C1A-AFE8-154BD0AD6229}" presName="BalanceSpacing1" presStyleCnt="0"/>
      <dgm:spPr/>
    </dgm:pt>
    <dgm:pt modelId="{F96182DC-DEA1-4092-96CB-670F76C0F2C9}" type="pres">
      <dgm:prSet presAssocID="{0EE1A90B-D747-4792-8CF8-D1D86F0C6D30}" presName="Accent1Text" presStyleLbl="node1" presStyleIdx="5" presStyleCnt="6"/>
      <dgm:spPr/>
    </dgm:pt>
  </dgm:ptLst>
  <dgm:cxnLst>
    <dgm:cxn modelId="{BA2E6409-3E4A-424E-BB60-F086F21B6F67}" type="presOf" srcId="{3EC4611C-A3C3-451C-AE74-8846F1901302}" destId="{30C810D8-43FD-41C8-A342-08B348498E1F}" srcOrd="0" destOrd="0" presId="urn:microsoft.com/office/officeart/2008/layout/AlternatingHexagons"/>
    <dgm:cxn modelId="{7BC92210-9AB6-43C0-90C4-DF11243359CB}" type="presOf" srcId="{135FF3CF-44DC-43E7-AC27-8E824204EC36}" destId="{044216E9-137E-4B54-AB85-D985D58783B6}" srcOrd="0" destOrd="0" presId="urn:microsoft.com/office/officeart/2008/layout/AlternatingHexagons"/>
    <dgm:cxn modelId="{830EAB10-70C3-4576-ACC1-3D0E7A058F4E}" type="presOf" srcId="{5C027A28-57B2-4775-8438-4AAECBE023C8}" destId="{538930E3-AFBB-40A2-9199-81FC54A0A713}" srcOrd="0" destOrd="0" presId="urn:microsoft.com/office/officeart/2008/layout/AlternatingHexagons"/>
    <dgm:cxn modelId="{FDAAE633-85C8-42F8-B4AA-4B51C3A57B39}" srcId="{05D41365-1355-4DAD-B4F1-FB33A078461A}" destId="{E173A921-6651-451D-81E9-F0ACC1536AAC}" srcOrd="0" destOrd="0" parTransId="{DF4FD089-4E3D-4F03-9D3C-F28F49D8F119}" sibTransId="{739184D2-A650-4378-9B66-79745068F954}"/>
    <dgm:cxn modelId="{5DC1683A-A3BA-477F-922D-A91C5AAC3E85}" srcId="{135FF3CF-44DC-43E7-AC27-8E824204EC36}" destId="{C40893AA-1044-4C1A-AFE8-154BD0AD6229}" srcOrd="2" destOrd="0" parTransId="{5D5965E2-EEFF-40D7-B453-CDF2231F9E32}" sibTransId="{0EE1A90B-D747-4792-8CF8-D1D86F0C6D30}"/>
    <dgm:cxn modelId="{C8E4366A-7323-4BAE-BF0B-D491A4B1C631}" srcId="{C40893AA-1044-4C1A-AFE8-154BD0AD6229}" destId="{32415517-2817-485B-84FB-EEB772F05388}" srcOrd="0" destOrd="0" parTransId="{9389711E-63B1-48BC-8B0D-E77AD36B0F70}" sibTransId="{8B057A99-57DA-4C5E-AFDE-4E731CDF706D}"/>
    <dgm:cxn modelId="{5857F84F-9800-49D5-B361-DA81A0D7F1EB}" type="presOf" srcId="{2E4C2D13-B647-4CF6-B1F7-03AB183A1123}" destId="{2E871E28-410D-4C73-B809-46EEEE1B5408}" srcOrd="0" destOrd="0" presId="urn:microsoft.com/office/officeart/2008/layout/AlternatingHexagons"/>
    <dgm:cxn modelId="{AA881378-41E8-4992-84F9-8EF56DC92BDF}" type="presOf" srcId="{0EE1A90B-D747-4792-8CF8-D1D86F0C6D30}" destId="{F96182DC-DEA1-4092-96CB-670F76C0F2C9}" srcOrd="0" destOrd="0" presId="urn:microsoft.com/office/officeart/2008/layout/AlternatingHexagons"/>
    <dgm:cxn modelId="{56CC0E7C-D98A-4C46-81A3-3B1F60601F38}" srcId="{135FF3CF-44DC-43E7-AC27-8E824204EC36}" destId="{05D41365-1355-4DAD-B4F1-FB33A078461A}" srcOrd="0" destOrd="0" parTransId="{BED6549C-B35E-4354-84E8-A7AE58E7EC07}" sibTransId="{5C027A28-57B2-4775-8438-4AAECBE023C8}"/>
    <dgm:cxn modelId="{7B427E83-BD3E-48A8-951F-C804AF59934D}" type="presOf" srcId="{32415517-2817-485B-84FB-EEB772F05388}" destId="{95ED7348-6155-4B72-B2AA-9F71065BC8B5}" srcOrd="0" destOrd="0" presId="urn:microsoft.com/office/officeart/2008/layout/AlternatingHexagons"/>
    <dgm:cxn modelId="{0A1EC099-5441-4FCA-9F43-CE9422B12AA5}" type="presOf" srcId="{C40893AA-1044-4C1A-AFE8-154BD0AD6229}" destId="{6CCD66D6-E3E3-4758-A25B-E5A97FDFEEA0}" srcOrd="0" destOrd="0" presId="urn:microsoft.com/office/officeart/2008/layout/AlternatingHexagons"/>
    <dgm:cxn modelId="{52D28FAE-D183-4D72-9F19-1814CFCBB661}" type="presOf" srcId="{05D41365-1355-4DAD-B4F1-FB33A078461A}" destId="{737B4ED7-5247-4B99-B038-972624275F7F}" srcOrd="0" destOrd="0" presId="urn:microsoft.com/office/officeart/2008/layout/AlternatingHexagons"/>
    <dgm:cxn modelId="{245089B8-B9F0-4AC2-A60C-31B22EF355B6}" type="presOf" srcId="{D199F25F-9525-43C5-955C-BB6FEFFBA60E}" destId="{189B3354-A08F-46B4-AA51-80167B86E07E}" srcOrd="0" destOrd="0" presId="urn:microsoft.com/office/officeart/2008/layout/AlternatingHexagons"/>
    <dgm:cxn modelId="{12D5EFDF-084C-4857-A4BE-12B60B2E2A98}" srcId="{135FF3CF-44DC-43E7-AC27-8E824204EC36}" destId="{D199F25F-9525-43C5-955C-BB6FEFFBA60E}" srcOrd="1" destOrd="0" parTransId="{92F37460-E89E-4259-A2EF-B2A638C38A45}" sibTransId="{2E4C2D13-B647-4CF6-B1F7-03AB183A1123}"/>
    <dgm:cxn modelId="{BF7B8AEA-CFF9-4BFA-A92B-C9AA4345FE48}" srcId="{D199F25F-9525-43C5-955C-BB6FEFFBA60E}" destId="{3EC4611C-A3C3-451C-AE74-8846F1901302}" srcOrd="0" destOrd="0" parTransId="{68F328E8-C43C-478E-B670-0B24656D9E35}" sibTransId="{2E561528-8DA9-408B-83C6-171ECD06B86B}"/>
    <dgm:cxn modelId="{9CC835F5-C067-446B-80F3-D2FFA3E86768}" type="presOf" srcId="{E173A921-6651-451D-81E9-F0ACC1536AAC}" destId="{0EC6F23C-19FA-4BBB-96C2-30D954DFEC45}" srcOrd="0" destOrd="0" presId="urn:microsoft.com/office/officeart/2008/layout/AlternatingHexagons"/>
    <dgm:cxn modelId="{405F724F-32CA-4298-9526-DD1D7E219A96}" type="presParOf" srcId="{044216E9-137E-4B54-AB85-D985D58783B6}" destId="{6E6AB5B1-8C45-4545-BA69-7F63DEE5163B}" srcOrd="0" destOrd="0" presId="urn:microsoft.com/office/officeart/2008/layout/AlternatingHexagons"/>
    <dgm:cxn modelId="{213C1377-06D4-43BD-BF89-8F1DF1831F51}" type="presParOf" srcId="{6E6AB5B1-8C45-4545-BA69-7F63DEE5163B}" destId="{737B4ED7-5247-4B99-B038-972624275F7F}" srcOrd="0" destOrd="0" presId="urn:microsoft.com/office/officeart/2008/layout/AlternatingHexagons"/>
    <dgm:cxn modelId="{15885657-0B50-4B83-B32C-792A662D4265}" type="presParOf" srcId="{6E6AB5B1-8C45-4545-BA69-7F63DEE5163B}" destId="{0EC6F23C-19FA-4BBB-96C2-30D954DFEC45}" srcOrd="1" destOrd="0" presId="urn:microsoft.com/office/officeart/2008/layout/AlternatingHexagons"/>
    <dgm:cxn modelId="{C4E93D95-384E-4FCB-ADE1-AA29CB88139A}" type="presParOf" srcId="{6E6AB5B1-8C45-4545-BA69-7F63DEE5163B}" destId="{E72809E6-925A-4033-A3E6-30F40589AE8C}" srcOrd="2" destOrd="0" presId="urn:microsoft.com/office/officeart/2008/layout/AlternatingHexagons"/>
    <dgm:cxn modelId="{5C06105E-7261-4842-B8C3-5736A79AE428}" type="presParOf" srcId="{6E6AB5B1-8C45-4545-BA69-7F63DEE5163B}" destId="{8A426D04-7387-4BF5-B7A9-CE9CF71A10A4}" srcOrd="3" destOrd="0" presId="urn:microsoft.com/office/officeart/2008/layout/AlternatingHexagons"/>
    <dgm:cxn modelId="{C163A788-818C-460E-AE0E-C5DDA82442B5}" type="presParOf" srcId="{6E6AB5B1-8C45-4545-BA69-7F63DEE5163B}" destId="{538930E3-AFBB-40A2-9199-81FC54A0A713}" srcOrd="4" destOrd="0" presId="urn:microsoft.com/office/officeart/2008/layout/AlternatingHexagons"/>
    <dgm:cxn modelId="{FF4F9A51-FEE2-4642-BED2-DFAB7C4B4B30}" type="presParOf" srcId="{044216E9-137E-4B54-AB85-D985D58783B6}" destId="{770EB172-9189-4CB8-B1B4-B4830FDDB2B7}" srcOrd="1" destOrd="0" presId="urn:microsoft.com/office/officeart/2008/layout/AlternatingHexagons"/>
    <dgm:cxn modelId="{FD37A0EE-184F-4AA5-BE31-360AA961BD44}" type="presParOf" srcId="{044216E9-137E-4B54-AB85-D985D58783B6}" destId="{B8000619-585E-43B1-97D0-9E973B5CFF02}" srcOrd="2" destOrd="0" presId="urn:microsoft.com/office/officeart/2008/layout/AlternatingHexagons"/>
    <dgm:cxn modelId="{8FB49210-30B0-44F7-8E62-18871ADA0358}" type="presParOf" srcId="{B8000619-585E-43B1-97D0-9E973B5CFF02}" destId="{189B3354-A08F-46B4-AA51-80167B86E07E}" srcOrd="0" destOrd="0" presId="urn:microsoft.com/office/officeart/2008/layout/AlternatingHexagons"/>
    <dgm:cxn modelId="{F06CFED1-BDEE-4FE7-9629-E768AD01C060}" type="presParOf" srcId="{B8000619-585E-43B1-97D0-9E973B5CFF02}" destId="{30C810D8-43FD-41C8-A342-08B348498E1F}" srcOrd="1" destOrd="0" presId="urn:microsoft.com/office/officeart/2008/layout/AlternatingHexagons"/>
    <dgm:cxn modelId="{9D25BD80-F455-41AA-B3D4-16AE6FDD1ABC}" type="presParOf" srcId="{B8000619-585E-43B1-97D0-9E973B5CFF02}" destId="{DDAB6A08-FDE4-4250-B857-22C6F4C875CD}" srcOrd="2" destOrd="0" presId="urn:microsoft.com/office/officeart/2008/layout/AlternatingHexagons"/>
    <dgm:cxn modelId="{179D948A-D2D9-401B-AADD-A5422238354E}" type="presParOf" srcId="{B8000619-585E-43B1-97D0-9E973B5CFF02}" destId="{456BFF4D-8D17-4008-8FD8-97C1E973905D}" srcOrd="3" destOrd="0" presId="urn:microsoft.com/office/officeart/2008/layout/AlternatingHexagons"/>
    <dgm:cxn modelId="{24084E30-3C73-493C-81DF-EE623005A631}" type="presParOf" srcId="{B8000619-585E-43B1-97D0-9E973B5CFF02}" destId="{2E871E28-410D-4C73-B809-46EEEE1B5408}" srcOrd="4" destOrd="0" presId="urn:microsoft.com/office/officeart/2008/layout/AlternatingHexagons"/>
    <dgm:cxn modelId="{CD055EE5-C6AF-4919-997E-491C8B4B095B}" type="presParOf" srcId="{044216E9-137E-4B54-AB85-D985D58783B6}" destId="{32342D5D-D85B-4C93-8081-CE9B08BF8EF3}" srcOrd="3" destOrd="0" presId="urn:microsoft.com/office/officeart/2008/layout/AlternatingHexagons"/>
    <dgm:cxn modelId="{AB40E92D-2651-45AD-B522-301008D5FF55}" type="presParOf" srcId="{044216E9-137E-4B54-AB85-D985D58783B6}" destId="{0250A542-5660-4811-BA9A-A026384EC288}" srcOrd="4" destOrd="0" presId="urn:microsoft.com/office/officeart/2008/layout/AlternatingHexagons"/>
    <dgm:cxn modelId="{90B33D6A-B174-4FFF-ADD4-E32E6A41D685}" type="presParOf" srcId="{0250A542-5660-4811-BA9A-A026384EC288}" destId="{6CCD66D6-E3E3-4758-A25B-E5A97FDFEEA0}" srcOrd="0" destOrd="0" presId="urn:microsoft.com/office/officeart/2008/layout/AlternatingHexagons"/>
    <dgm:cxn modelId="{2DA2593B-F079-4D80-8521-40BDF08CF9D4}" type="presParOf" srcId="{0250A542-5660-4811-BA9A-A026384EC288}" destId="{95ED7348-6155-4B72-B2AA-9F71065BC8B5}" srcOrd="1" destOrd="0" presId="urn:microsoft.com/office/officeart/2008/layout/AlternatingHexagons"/>
    <dgm:cxn modelId="{2FDB2E88-C2EE-4B59-AE9B-8DFF0BDBF607}" type="presParOf" srcId="{0250A542-5660-4811-BA9A-A026384EC288}" destId="{5C3E9DE1-CF2D-48B8-B1BE-CF5807B39F22}" srcOrd="2" destOrd="0" presId="urn:microsoft.com/office/officeart/2008/layout/AlternatingHexagons"/>
    <dgm:cxn modelId="{90BA8F63-9159-4A17-8FD9-840351D6AB4C}" type="presParOf" srcId="{0250A542-5660-4811-BA9A-A026384EC288}" destId="{248FEED7-91A8-4070-8E60-258F9D3AF8A1}" srcOrd="3" destOrd="0" presId="urn:microsoft.com/office/officeart/2008/layout/AlternatingHexagons"/>
    <dgm:cxn modelId="{9B33B9C9-B3D3-4C87-BFAB-1BDB62C83F0F}" type="presParOf" srcId="{0250A542-5660-4811-BA9A-A026384EC288}" destId="{F96182DC-DEA1-4092-96CB-670F76C0F2C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71CD6F-E65B-4CC0-8EAA-DB821D24E722}"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zh-CN" altLang="en-US"/>
        </a:p>
      </dgm:t>
    </dgm:pt>
    <dgm:pt modelId="{EFCA2B14-9468-4F2F-84A6-5C119482CD49}">
      <dgm:prSet phldrT="[文本]" custT="1"/>
      <dgm:spPr>
        <a:ln>
          <a:noFill/>
        </a:ln>
        <a:scene3d>
          <a:camera prst="orthographicFront"/>
          <a:lightRig rig="flat" dir="t"/>
        </a:scene3d>
        <a:sp3d prstMaterial="dkEdge"/>
      </dgm:spPr>
      <dgm:t>
        <a:bodyPr/>
        <a:lstStyle/>
        <a:p>
          <a:r>
            <a:rPr lang="zh-CN" altLang="en-US" sz="1600" b="0" i="0" baseline="0" dirty="0">
              <a:latin typeface="+mn-lt"/>
              <a:ea typeface="+mn-ea"/>
            </a:rPr>
            <a:t>法律上的 </a:t>
          </a:r>
          <a:r>
            <a:rPr lang="en-US" altLang="en-US" sz="1600" b="0" i="0" baseline="0" dirty="0">
              <a:latin typeface="+mn-lt"/>
              <a:ea typeface="+mn-ea"/>
            </a:rPr>
            <a:t>(de jure) </a:t>
          </a:r>
          <a:r>
            <a:rPr lang="zh-CN" altLang="en-US" sz="1600" b="0" i="0" baseline="0" dirty="0">
              <a:latin typeface="+mn-lt"/>
              <a:ea typeface="+mn-ea"/>
            </a:rPr>
            <a:t>国际标准 </a:t>
          </a:r>
          <a:r>
            <a:rPr lang="en-US" altLang="en-US" sz="1600" b="0" i="0" baseline="0" dirty="0">
              <a:latin typeface="+mn-lt"/>
              <a:ea typeface="+mn-ea"/>
            </a:rPr>
            <a:t>OSI</a:t>
          </a:r>
          <a:endParaRPr lang="zh-CN" altLang="en-US" sz="1600" b="0" i="0" baseline="0" dirty="0">
            <a:latin typeface="+mn-lt"/>
            <a:ea typeface="+mn-ea"/>
          </a:endParaRPr>
        </a:p>
      </dgm:t>
    </dgm:pt>
    <dgm:pt modelId="{E38B7B80-E684-4487-8667-BCC0A5171417}" type="parTrans" cxnId="{9E21BC85-7589-4E30-94BE-94BFF4B03EBC}">
      <dgm:prSet/>
      <dgm:spPr/>
      <dgm:t>
        <a:bodyPr/>
        <a:lstStyle/>
        <a:p>
          <a:endParaRPr lang="zh-CN" altLang="en-US" sz="1600" b="0" i="0" baseline="0">
            <a:latin typeface="+mn-lt"/>
            <a:ea typeface="+mn-ea"/>
          </a:endParaRPr>
        </a:p>
      </dgm:t>
    </dgm:pt>
    <dgm:pt modelId="{6756D47E-79F4-44F1-9DC8-F8FF9A3DB365}" type="sibTrans" cxnId="{9E21BC85-7589-4E30-94BE-94BFF4B03EBC}">
      <dgm:prSet/>
      <dgm:spPr/>
      <dgm:t>
        <a:bodyPr/>
        <a:lstStyle/>
        <a:p>
          <a:endParaRPr lang="zh-CN" altLang="en-US" sz="1600" b="0" i="0" baseline="0">
            <a:latin typeface="+mn-lt"/>
            <a:ea typeface="+mn-ea"/>
          </a:endParaRPr>
        </a:p>
      </dgm:t>
    </dgm:pt>
    <dgm:pt modelId="{226438D5-AF60-4FC2-B7B1-1FAFE6F029F4}">
      <dgm:prSet phldrT="[文本]" custT="1"/>
      <dgm:spPr/>
      <dgm:t>
        <a:bodyPr/>
        <a:lstStyle/>
        <a:p>
          <a:r>
            <a:rPr lang="zh-CN" altLang="en-US" sz="1600" b="0" i="0" baseline="0" dirty="0">
              <a:latin typeface="+mn-lt"/>
              <a:ea typeface="+mn-ea"/>
            </a:rPr>
            <a:t>但并没有得到市场的认可</a:t>
          </a:r>
        </a:p>
      </dgm:t>
    </dgm:pt>
    <dgm:pt modelId="{E2043F32-4A49-416A-8197-C2B2393B2255}" type="parTrans" cxnId="{23AA8198-F998-4AB6-A021-FDD348C07171}">
      <dgm:prSet/>
      <dgm:spPr/>
      <dgm:t>
        <a:bodyPr/>
        <a:lstStyle/>
        <a:p>
          <a:endParaRPr lang="zh-CN" altLang="en-US" sz="1600" b="0" i="0" baseline="0">
            <a:latin typeface="+mn-lt"/>
            <a:ea typeface="+mn-ea"/>
          </a:endParaRPr>
        </a:p>
      </dgm:t>
    </dgm:pt>
    <dgm:pt modelId="{F4028441-B185-4303-8082-46E98E8EBA28}" type="sibTrans" cxnId="{23AA8198-F998-4AB6-A021-FDD348C07171}">
      <dgm:prSet/>
      <dgm:spPr/>
      <dgm:t>
        <a:bodyPr/>
        <a:lstStyle/>
        <a:p>
          <a:endParaRPr lang="zh-CN" altLang="en-US" sz="1600" b="0" i="0" baseline="0">
            <a:latin typeface="+mn-lt"/>
            <a:ea typeface="+mn-ea"/>
          </a:endParaRPr>
        </a:p>
      </dgm:t>
    </dgm:pt>
    <dgm:pt modelId="{0986DFCC-564B-42E1-8E43-BFE75079EEDF}">
      <dgm:prSet phldrT="[文本]" custT="1"/>
      <dgm:spPr>
        <a:ln>
          <a:noFill/>
        </a:ln>
        <a:scene3d>
          <a:camera prst="orthographicFront"/>
          <a:lightRig rig="flat" dir="t"/>
        </a:scene3d>
        <a:sp3d prstMaterial="dkEdge"/>
      </dgm:spPr>
      <dgm:t>
        <a:bodyPr/>
        <a:lstStyle/>
        <a:p>
          <a:r>
            <a:rPr lang="zh-CN" altLang="en-US" sz="1600" b="0" i="0" baseline="0" dirty="0">
              <a:latin typeface="+mn-lt"/>
              <a:ea typeface="+mn-ea"/>
            </a:rPr>
            <a:t>事实上的 </a:t>
          </a:r>
          <a:r>
            <a:rPr lang="en-US" altLang="en-US" sz="1600" b="0" i="0" baseline="0" dirty="0">
              <a:latin typeface="+mn-lt"/>
              <a:ea typeface="+mn-ea"/>
            </a:rPr>
            <a:t>(de facto) </a:t>
          </a:r>
          <a:r>
            <a:rPr lang="zh-CN" altLang="en-US" sz="1600" b="0" i="0" baseline="0" dirty="0">
              <a:latin typeface="+mn-lt"/>
              <a:ea typeface="+mn-ea"/>
            </a:rPr>
            <a:t>国际标准 </a:t>
          </a:r>
          <a:r>
            <a:rPr lang="en-US" altLang="en-US" sz="1600" b="0" i="0" baseline="0" dirty="0">
              <a:latin typeface="+mn-lt"/>
              <a:ea typeface="+mn-ea"/>
            </a:rPr>
            <a:t>TCP/IP</a:t>
          </a:r>
          <a:endParaRPr lang="zh-CN" altLang="en-US" sz="1600" b="0" i="0" baseline="0" dirty="0">
            <a:latin typeface="+mn-lt"/>
            <a:ea typeface="+mn-ea"/>
          </a:endParaRPr>
        </a:p>
      </dgm:t>
    </dgm:pt>
    <dgm:pt modelId="{BB601F7A-8E86-4A9E-9EF8-CC003C5EF85D}" type="parTrans" cxnId="{49E9C9C9-3C6E-4805-BAA2-32EF310CFED5}">
      <dgm:prSet/>
      <dgm:spPr/>
      <dgm:t>
        <a:bodyPr/>
        <a:lstStyle/>
        <a:p>
          <a:endParaRPr lang="zh-CN" altLang="en-US" sz="1600" b="0" i="0" baseline="0">
            <a:latin typeface="+mn-lt"/>
            <a:ea typeface="+mn-ea"/>
          </a:endParaRPr>
        </a:p>
      </dgm:t>
    </dgm:pt>
    <dgm:pt modelId="{FD297112-55F6-448E-AECB-EFD048EDDB28}" type="sibTrans" cxnId="{49E9C9C9-3C6E-4805-BAA2-32EF310CFED5}">
      <dgm:prSet/>
      <dgm:spPr/>
      <dgm:t>
        <a:bodyPr/>
        <a:lstStyle/>
        <a:p>
          <a:endParaRPr lang="zh-CN" altLang="en-US" sz="1600" b="0" i="0" baseline="0">
            <a:latin typeface="+mn-lt"/>
            <a:ea typeface="+mn-ea"/>
          </a:endParaRPr>
        </a:p>
      </dgm:t>
    </dgm:pt>
    <dgm:pt modelId="{2CC66CB7-D7AD-41A6-98DD-74D4F514E2BD}">
      <dgm:prSet phldrT="[文本]" custT="1"/>
      <dgm:spPr/>
      <dgm:t>
        <a:bodyPr/>
        <a:lstStyle/>
        <a:p>
          <a:r>
            <a:rPr lang="zh-CN" altLang="en-US" sz="1600" b="0" i="0" baseline="0" dirty="0">
              <a:latin typeface="+mn-lt"/>
              <a:ea typeface="+mn-ea"/>
            </a:rPr>
            <a:t>获得了最广泛的应用</a:t>
          </a:r>
        </a:p>
      </dgm:t>
    </dgm:pt>
    <dgm:pt modelId="{85BE533B-2396-46D9-AFFB-686B13690F8B}" type="parTrans" cxnId="{831BB112-8E09-4BF6-9DC2-BFF8996C5A45}">
      <dgm:prSet/>
      <dgm:spPr/>
      <dgm:t>
        <a:bodyPr/>
        <a:lstStyle/>
        <a:p>
          <a:endParaRPr lang="zh-CN" altLang="en-US" sz="1600" b="0" i="0" baseline="0">
            <a:latin typeface="+mn-lt"/>
            <a:ea typeface="+mn-ea"/>
          </a:endParaRPr>
        </a:p>
      </dgm:t>
    </dgm:pt>
    <dgm:pt modelId="{28DE6DB6-6A4C-41DA-8F55-0D1076B0DD18}" type="sibTrans" cxnId="{831BB112-8E09-4BF6-9DC2-BFF8996C5A45}">
      <dgm:prSet/>
      <dgm:spPr/>
      <dgm:t>
        <a:bodyPr/>
        <a:lstStyle/>
        <a:p>
          <a:endParaRPr lang="zh-CN" altLang="en-US" sz="1600" b="0" i="0" baseline="0">
            <a:latin typeface="+mn-lt"/>
            <a:ea typeface="+mn-ea"/>
          </a:endParaRPr>
        </a:p>
      </dgm:t>
    </dgm:pt>
    <dgm:pt modelId="{98B905C2-E6DF-4B75-9416-AF7446358B35}" type="pres">
      <dgm:prSet presAssocID="{1D71CD6F-E65B-4CC0-8EAA-DB821D24E722}" presName="linear" presStyleCnt="0">
        <dgm:presLayoutVars>
          <dgm:animLvl val="lvl"/>
          <dgm:resizeHandles val="exact"/>
        </dgm:presLayoutVars>
      </dgm:prSet>
      <dgm:spPr/>
    </dgm:pt>
    <dgm:pt modelId="{41591867-A15A-4C01-989E-2D8E71AD280E}" type="pres">
      <dgm:prSet presAssocID="{EFCA2B14-9468-4F2F-84A6-5C119482CD49}" presName="parentText" presStyleLbl="node1" presStyleIdx="0" presStyleCnt="2">
        <dgm:presLayoutVars>
          <dgm:chMax val="0"/>
          <dgm:bulletEnabled val="1"/>
        </dgm:presLayoutVars>
      </dgm:prSet>
      <dgm:spPr>
        <a:prstGeom prst="rect">
          <a:avLst/>
        </a:prstGeom>
      </dgm:spPr>
    </dgm:pt>
    <dgm:pt modelId="{0CB64F91-1AC8-4F08-AB65-6A4FEE705282}" type="pres">
      <dgm:prSet presAssocID="{EFCA2B14-9468-4F2F-84A6-5C119482CD49}" presName="childText" presStyleLbl="revTx" presStyleIdx="0" presStyleCnt="2">
        <dgm:presLayoutVars>
          <dgm:bulletEnabled val="1"/>
        </dgm:presLayoutVars>
      </dgm:prSet>
      <dgm:spPr/>
    </dgm:pt>
    <dgm:pt modelId="{533E5313-0390-4A3E-9304-2F63C7C13FAF}" type="pres">
      <dgm:prSet presAssocID="{0986DFCC-564B-42E1-8E43-BFE75079EEDF}" presName="parentText" presStyleLbl="node1" presStyleIdx="1" presStyleCnt="2">
        <dgm:presLayoutVars>
          <dgm:chMax val="0"/>
          <dgm:bulletEnabled val="1"/>
        </dgm:presLayoutVars>
      </dgm:prSet>
      <dgm:spPr>
        <a:prstGeom prst="rect">
          <a:avLst/>
        </a:prstGeom>
      </dgm:spPr>
    </dgm:pt>
    <dgm:pt modelId="{D4FB4936-BF1D-4807-8D25-E8B1D64E8CFA}" type="pres">
      <dgm:prSet presAssocID="{0986DFCC-564B-42E1-8E43-BFE75079EEDF}" presName="childText" presStyleLbl="revTx" presStyleIdx="1" presStyleCnt="2">
        <dgm:presLayoutVars>
          <dgm:bulletEnabled val="1"/>
        </dgm:presLayoutVars>
      </dgm:prSet>
      <dgm:spPr/>
    </dgm:pt>
  </dgm:ptLst>
  <dgm:cxnLst>
    <dgm:cxn modelId="{831BB112-8E09-4BF6-9DC2-BFF8996C5A45}" srcId="{0986DFCC-564B-42E1-8E43-BFE75079EEDF}" destId="{2CC66CB7-D7AD-41A6-98DD-74D4F514E2BD}" srcOrd="0" destOrd="0" parTransId="{85BE533B-2396-46D9-AFFB-686B13690F8B}" sibTransId="{28DE6DB6-6A4C-41DA-8F55-0D1076B0DD18}"/>
    <dgm:cxn modelId="{BB84275B-8B79-4927-AEBD-CCB80DFC9B4C}" type="presOf" srcId="{1D71CD6F-E65B-4CC0-8EAA-DB821D24E722}" destId="{98B905C2-E6DF-4B75-9416-AF7446358B35}" srcOrd="0" destOrd="0" presId="urn:microsoft.com/office/officeart/2005/8/layout/vList2"/>
    <dgm:cxn modelId="{87C4B245-7D03-47D6-A58A-FE65D816A8BA}" type="presOf" srcId="{0986DFCC-564B-42E1-8E43-BFE75079EEDF}" destId="{533E5313-0390-4A3E-9304-2F63C7C13FAF}" srcOrd="0" destOrd="0" presId="urn:microsoft.com/office/officeart/2005/8/layout/vList2"/>
    <dgm:cxn modelId="{DC3E0283-EE3A-4847-AC4B-B24480331CA1}" type="presOf" srcId="{2CC66CB7-D7AD-41A6-98DD-74D4F514E2BD}" destId="{D4FB4936-BF1D-4807-8D25-E8B1D64E8CFA}" srcOrd="0" destOrd="0" presId="urn:microsoft.com/office/officeart/2005/8/layout/vList2"/>
    <dgm:cxn modelId="{9E21BC85-7589-4E30-94BE-94BFF4B03EBC}" srcId="{1D71CD6F-E65B-4CC0-8EAA-DB821D24E722}" destId="{EFCA2B14-9468-4F2F-84A6-5C119482CD49}" srcOrd="0" destOrd="0" parTransId="{E38B7B80-E684-4487-8667-BCC0A5171417}" sibTransId="{6756D47E-79F4-44F1-9DC8-F8FF9A3DB365}"/>
    <dgm:cxn modelId="{23AA8198-F998-4AB6-A021-FDD348C07171}" srcId="{EFCA2B14-9468-4F2F-84A6-5C119482CD49}" destId="{226438D5-AF60-4FC2-B7B1-1FAFE6F029F4}" srcOrd="0" destOrd="0" parTransId="{E2043F32-4A49-416A-8197-C2B2393B2255}" sibTransId="{F4028441-B185-4303-8082-46E98E8EBA28}"/>
    <dgm:cxn modelId="{49E9C9C9-3C6E-4805-BAA2-32EF310CFED5}" srcId="{1D71CD6F-E65B-4CC0-8EAA-DB821D24E722}" destId="{0986DFCC-564B-42E1-8E43-BFE75079EEDF}" srcOrd="1" destOrd="0" parTransId="{BB601F7A-8E86-4A9E-9EF8-CC003C5EF85D}" sibTransId="{FD297112-55F6-448E-AECB-EFD048EDDB28}"/>
    <dgm:cxn modelId="{75CADFD2-DA7B-46F7-89E8-DC800A77BE41}" type="presOf" srcId="{EFCA2B14-9468-4F2F-84A6-5C119482CD49}" destId="{41591867-A15A-4C01-989E-2D8E71AD280E}" srcOrd="0" destOrd="0" presId="urn:microsoft.com/office/officeart/2005/8/layout/vList2"/>
    <dgm:cxn modelId="{C9EBB2F8-1242-4DB0-B9B1-32B0EE5BD1DD}" type="presOf" srcId="{226438D5-AF60-4FC2-B7B1-1FAFE6F029F4}" destId="{0CB64F91-1AC8-4F08-AB65-6A4FEE705282}" srcOrd="0" destOrd="0" presId="urn:microsoft.com/office/officeart/2005/8/layout/vList2"/>
    <dgm:cxn modelId="{64062E8C-5E46-4D49-BAD3-4772A44F09C0}" type="presParOf" srcId="{98B905C2-E6DF-4B75-9416-AF7446358B35}" destId="{41591867-A15A-4C01-989E-2D8E71AD280E}" srcOrd="0" destOrd="0" presId="urn:microsoft.com/office/officeart/2005/8/layout/vList2"/>
    <dgm:cxn modelId="{CA918946-BF6A-4EC6-9FCA-45A48A711BF0}" type="presParOf" srcId="{98B905C2-E6DF-4B75-9416-AF7446358B35}" destId="{0CB64F91-1AC8-4F08-AB65-6A4FEE705282}" srcOrd="1" destOrd="0" presId="urn:microsoft.com/office/officeart/2005/8/layout/vList2"/>
    <dgm:cxn modelId="{25C6509F-6344-421B-B6B7-1C5D6B562EEE}" type="presParOf" srcId="{98B905C2-E6DF-4B75-9416-AF7446358B35}" destId="{533E5313-0390-4A3E-9304-2F63C7C13FAF}" srcOrd="2" destOrd="0" presId="urn:microsoft.com/office/officeart/2005/8/layout/vList2"/>
    <dgm:cxn modelId="{3FEA8797-2866-4D9F-8576-8A10DA896460}" type="presParOf" srcId="{98B905C2-E6DF-4B75-9416-AF7446358B35}" destId="{D4FB4936-BF1D-4807-8D25-E8B1D64E8CF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450F4-F441-4296-8335-01351F8E1B2B}">
      <dsp:nvSpPr>
        <dsp:cNvPr id="0" name=""/>
        <dsp:cNvSpPr/>
      </dsp:nvSpPr>
      <dsp:spPr>
        <a:xfrm>
          <a:off x="1100549" y="545062"/>
          <a:ext cx="1357875" cy="1357875"/>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互联网</a:t>
          </a:r>
        </a:p>
      </dsp:txBody>
      <dsp:txXfrm>
        <a:off x="1299405" y="743918"/>
        <a:ext cx="960163" cy="960163"/>
      </dsp:txXfrm>
    </dsp:sp>
    <dsp:sp modelId="{CE8AFE2D-2AC2-45F0-88B8-B2568168C3FF}">
      <dsp:nvSpPr>
        <dsp:cNvPr id="0" name=""/>
        <dsp:cNvSpPr/>
      </dsp:nvSpPr>
      <dsp:spPr>
        <a:xfrm>
          <a:off x="1440018" y="242"/>
          <a:ext cx="678937" cy="678937"/>
        </a:xfrm>
        <a:prstGeom prst="ellipse">
          <a:avLst/>
        </a:prstGeom>
        <a:gradFill rotWithShape="0">
          <a:gsLst>
            <a:gs pos="0">
              <a:schemeClr val="accent3">
                <a:alpha val="50000"/>
                <a:hueOff val="0"/>
                <a:satOff val="0"/>
                <a:lumOff val="0"/>
                <a:alphaOff val="0"/>
                <a:satMod val="103000"/>
                <a:lumMod val="102000"/>
                <a:tint val="94000"/>
              </a:schemeClr>
            </a:gs>
            <a:gs pos="50000">
              <a:schemeClr val="accent3">
                <a:alpha val="50000"/>
                <a:hueOff val="0"/>
                <a:satOff val="0"/>
                <a:lumOff val="0"/>
                <a:alphaOff val="0"/>
                <a:satMod val="110000"/>
                <a:lumMod val="100000"/>
                <a:shade val="100000"/>
              </a:schemeClr>
            </a:gs>
            <a:gs pos="100000">
              <a:schemeClr val="accent3">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工业</a:t>
          </a:r>
        </a:p>
      </dsp:txBody>
      <dsp:txXfrm>
        <a:off x="1539446" y="99670"/>
        <a:ext cx="480081" cy="480081"/>
      </dsp:txXfrm>
    </dsp:sp>
    <dsp:sp modelId="{670A9751-EDA7-44BE-84F6-DA052AFC6D1C}">
      <dsp:nvSpPr>
        <dsp:cNvPr id="0" name=""/>
        <dsp:cNvSpPr/>
      </dsp:nvSpPr>
      <dsp:spPr>
        <a:xfrm>
          <a:off x="2065304" y="259244"/>
          <a:ext cx="678937" cy="678937"/>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农业</a:t>
          </a:r>
        </a:p>
      </dsp:txBody>
      <dsp:txXfrm>
        <a:off x="2164732" y="358672"/>
        <a:ext cx="480081" cy="480081"/>
      </dsp:txXfrm>
    </dsp:sp>
    <dsp:sp modelId="{242A4B1B-E8FC-49C8-BFF1-60EED0B2A276}">
      <dsp:nvSpPr>
        <dsp:cNvPr id="0" name=""/>
        <dsp:cNvSpPr/>
      </dsp:nvSpPr>
      <dsp:spPr>
        <a:xfrm>
          <a:off x="2324307" y="884531"/>
          <a:ext cx="678937" cy="678937"/>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教育</a:t>
          </a:r>
        </a:p>
      </dsp:txBody>
      <dsp:txXfrm>
        <a:off x="2423735" y="983959"/>
        <a:ext cx="480081" cy="480081"/>
      </dsp:txXfrm>
    </dsp:sp>
    <dsp:sp modelId="{C0A173BA-2876-4F61-AAD1-FA50AD3DFDD0}">
      <dsp:nvSpPr>
        <dsp:cNvPr id="0" name=""/>
        <dsp:cNvSpPr/>
      </dsp:nvSpPr>
      <dsp:spPr>
        <a:xfrm>
          <a:off x="2065304" y="1509817"/>
          <a:ext cx="678937" cy="678937"/>
        </a:xfrm>
        <a:prstGeom prst="ellipse">
          <a:avLst/>
        </a:prstGeom>
        <a:gradFill rotWithShape="0">
          <a:gsLst>
            <a:gs pos="0">
              <a:schemeClr val="accent6">
                <a:alpha val="50000"/>
                <a:hueOff val="0"/>
                <a:satOff val="0"/>
                <a:lumOff val="0"/>
                <a:alphaOff val="0"/>
                <a:satMod val="103000"/>
                <a:lumMod val="102000"/>
                <a:tint val="94000"/>
              </a:schemeClr>
            </a:gs>
            <a:gs pos="50000">
              <a:schemeClr val="accent6">
                <a:alpha val="50000"/>
                <a:hueOff val="0"/>
                <a:satOff val="0"/>
                <a:lumOff val="0"/>
                <a:alphaOff val="0"/>
                <a:satMod val="110000"/>
                <a:lumMod val="100000"/>
                <a:shade val="100000"/>
              </a:schemeClr>
            </a:gs>
            <a:gs pos="100000">
              <a:schemeClr val="accent6">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医疗</a:t>
          </a:r>
        </a:p>
      </dsp:txBody>
      <dsp:txXfrm>
        <a:off x="2164732" y="1609245"/>
        <a:ext cx="480081" cy="480081"/>
      </dsp:txXfrm>
    </dsp:sp>
    <dsp:sp modelId="{D951B7E8-AF72-41D8-8F8D-E56CFF2EB951}">
      <dsp:nvSpPr>
        <dsp:cNvPr id="0" name=""/>
        <dsp:cNvSpPr/>
      </dsp:nvSpPr>
      <dsp:spPr>
        <a:xfrm>
          <a:off x="1440018" y="1768820"/>
          <a:ext cx="678937" cy="678937"/>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商业</a:t>
          </a:r>
        </a:p>
      </dsp:txBody>
      <dsp:txXfrm>
        <a:off x="1539446" y="1868248"/>
        <a:ext cx="480081" cy="480081"/>
      </dsp:txXfrm>
    </dsp:sp>
    <dsp:sp modelId="{2343D8A9-7AEC-4D40-8773-498EA64A78FE}">
      <dsp:nvSpPr>
        <dsp:cNvPr id="0" name=""/>
        <dsp:cNvSpPr/>
      </dsp:nvSpPr>
      <dsp:spPr>
        <a:xfrm>
          <a:off x="814731" y="1509817"/>
          <a:ext cx="678937" cy="678937"/>
        </a:xfrm>
        <a:prstGeom prst="ellipse">
          <a:avLst/>
        </a:prstGeom>
        <a:gradFill rotWithShape="0">
          <a:gsLst>
            <a:gs pos="0">
              <a:schemeClr val="accent3">
                <a:alpha val="50000"/>
                <a:hueOff val="0"/>
                <a:satOff val="0"/>
                <a:lumOff val="0"/>
                <a:alphaOff val="0"/>
                <a:satMod val="103000"/>
                <a:lumMod val="102000"/>
                <a:tint val="94000"/>
              </a:schemeClr>
            </a:gs>
            <a:gs pos="50000">
              <a:schemeClr val="accent3">
                <a:alpha val="50000"/>
                <a:hueOff val="0"/>
                <a:satOff val="0"/>
                <a:lumOff val="0"/>
                <a:alphaOff val="0"/>
                <a:satMod val="110000"/>
                <a:lumMod val="100000"/>
                <a:shade val="100000"/>
              </a:schemeClr>
            </a:gs>
            <a:gs pos="100000">
              <a:schemeClr val="accent3">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交通</a:t>
          </a:r>
        </a:p>
      </dsp:txBody>
      <dsp:txXfrm>
        <a:off x="914159" y="1609245"/>
        <a:ext cx="480081" cy="480081"/>
      </dsp:txXfrm>
    </dsp:sp>
    <dsp:sp modelId="{4B8ABBE8-E9C9-4F6B-9525-8C9A18414CDE}">
      <dsp:nvSpPr>
        <dsp:cNvPr id="0" name=""/>
        <dsp:cNvSpPr/>
      </dsp:nvSpPr>
      <dsp:spPr>
        <a:xfrm>
          <a:off x="555729" y="884531"/>
          <a:ext cx="678937" cy="678937"/>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金融</a:t>
          </a:r>
        </a:p>
      </dsp:txBody>
      <dsp:txXfrm>
        <a:off x="655157" y="983959"/>
        <a:ext cx="480081" cy="480081"/>
      </dsp:txXfrm>
    </dsp:sp>
    <dsp:sp modelId="{C13D16A4-6F51-437B-A7BA-09AB4609C68B}">
      <dsp:nvSpPr>
        <dsp:cNvPr id="0" name=""/>
        <dsp:cNvSpPr/>
      </dsp:nvSpPr>
      <dsp:spPr>
        <a:xfrm>
          <a:off x="814731" y="259244"/>
          <a:ext cx="678937" cy="678937"/>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政务</a:t>
          </a:r>
        </a:p>
      </dsp:txBody>
      <dsp:txXfrm>
        <a:off x="914159" y="358672"/>
        <a:ext cx="480081" cy="480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B4ED7-5247-4B99-B038-972624275F7F}">
      <dsp:nvSpPr>
        <dsp:cNvPr id="0" name=""/>
        <dsp:cNvSpPr/>
      </dsp:nvSpPr>
      <dsp:spPr>
        <a:xfrm rot="5400000">
          <a:off x="3075854" y="75619"/>
          <a:ext cx="1155331" cy="1005138"/>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i="0" kern="1200" baseline="0" dirty="0">
              <a:solidFill>
                <a:schemeClr val="tx1"/>
              </a:solidFill>
              <a:latin typeface="+mj-lt"/>
              <a:ea typeface="+mj-ea"/>
            </a:rPr>
            <a:t>费用</a:t>
          </a:r>
        </a:p>
      </dsp:txBody>
      <dsp:txXfrm rot="-5400000">
        <a:off x="3307584" y="180562"/>
        <a:ext cx="691870" cy="795253"/>
      </dsp:txXfrm>
    </dsp:sp>
    <dsp:sp modelId="{0EC6F23C-19FA-4BBB-96C2-30D954DFEC45}">
      <dsp:nvSpPr>
        <dsp:cNvPr id="0" name=""/>
        <dsp:cNvSpPr/>
      </dsp:nvSpPr>
      <dsp:spPr>
        <a:xfrm>
          <a:off x="4186590" y="231589"/>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i="0" kern="1200" baseline="0" dirty="0">
              <a:latin typeface="+mj-lt"/>
              <a:ea typeface="+mj-ea"/>
            </a:rPr>
            <a:t>标准化</a:t>
          </a:r>
        </a:p>
      </dsp:txBody>
      <dsp:txXfrm>
        <a:off x="4186590" y="231589"/>
        <a:ext cx="1289350" cy="693199"/>
      </dsp:txXfrm>
    </dsp:sp>
    <dsp:sp modelId="{538930E3-AFBB-40A2-9199-81FC54A0A713}">
      <dsp:nvSpPr>
        <dsp:cNvPr id="0" name=""/>
        <dsp:cNvSpPr/>
      </dsp:nvSpPr>
      <dsp:spPr>
        <a:xfrm rot="5400000">
          <a:off x="1990305" y="75619"/>
          <a:ext cx="1155331" cy="1005138"/>
        </a:xfrm>
        <a:prstGeom prst="hexagon">
          <a:avLst>
            <a:gd name="adj" fmla="val 2500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i="0" kern="1200" baseline="0">
            <a:latin typeface="+mj-lt"/>
            <a:ea typeface="+mj-ea"/>
          </a:endParaRPr>
        </a:p>
      </dsp:txBody>
      <dsp:txXfrm rot="-5400000">
        <a:off x="2222035" y="180562"/>
        <a:ext cx="691870" cy="795253"/>
      </dsp:txXfrm>
    </dsp:sp>
    <dsp:sp modelId="{189B3354-A08F-46B4-AA51-80167B86E07E}">
      <dsp:nvSpPr>
        <dsp:cNvPr id="0" name=""/>
        <dsp:cNvSpPr/>
      </dsp:nvSpPr>
      <dsp:spPr>
        <a:xfrm rot="5400000">
          <a:off x="2531000" y="1056265"/>
          <a:ext cx="1155331" cy="1005138"/>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i="0" kern="1200" baseline="0" dirty="0">
              <a:solidFill>
                <a:schemeClr val="tx1"/>
              </a:solidFill>
              <a:latin typeface="+mj-lt"/>
              <a:ea typeface="+mj-ea"/>
            </a:rPr>
            <a:t>质量</a:t>
          </a:r>
        </a:p>
      </dsp:txBody>
      <dsp:txXfrm rot="-5400000">
        <a:off x="2762730" y="1161208"/>
        <a:ext cx="691870" cy="795253"/>
      </dsp:txXfrm>
    </dsp:sp>
    <dsp:sp modelId="{30C810D8-43FD-41C8-A342-08B348498E1F}">
      <dsp:nvSpPr>
        <dsp:cNvPr id="0" name=""/>
        <dsp:cNvSpPr/>
      </dsp:nvSpPr>
      <dsp:spPr>
        <a:xfrm>
          <a:off x="1316746" y="1212234"/>
          <a:ext cx="1247758"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r" defTabSz="711200">
            <a:lnSpc>
              <a:spcPct val="90000"/>
            </a:lnSpc>
            <a:spcBef>
              <a:spcPct val="0"/>
            </a:spcBef>
            <a:spcAft>
              <a:spcPct val="35000"/>
            </a:spcAft>
            <a:buNone/>
          </a:pPr>
          <a:r>
            <a:rPr lang="zh-CN" altLang="en-US" sz="1600" b="1" i="0" kern="1200" baseline="0" dirty="0">
              <a:latin typeface="+mj-lt"/>
              <a:ea typeface="+mj-ea"/>
            </a:rPr>
            <a:t>可靠性</a:t>
          </a:r>
        </a:p>
      </dsp:txBody>
      <dsp:txXfrm>
        <a:off x="1316746" y="1212234"/>
        <a:ext cx="1247758" cy="693199"/>
      </dsp:txXfrm>
    </dsp:sp>
    <dsp:sp modelId="{2E871E28-410D-4C73-B809-46EEEE1B5408}">
      <dsp:nvSpPr>
        <dsp:cNvPr id="0" name=""/>
        <dsp:cNvSpPr/>
      </dsp:nvSpPr>
      <dsp:spPr>
        <a:xfrm rot="5400000">
          <a:off x="3616550" y="1056265"/>
          <a:ext cx="1155331" cy="1005138"/>
        </a:xfrm>
        <a:prstGeom prst="hexagon">
          <a:avLst>
            <a:gd name="adj" fmla="val 2500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i="0" kern="1200" baseline="0">
            <a:latin typeface="+mj-lt"/>
            <a:ea typeface="+mj-ea"/>
          </a:endParaRPr>
        </a:p>
      </dsp:txBody>
      <dsp:txXfrm rot="-5400000">
        <a:off x="3848280" y="1161208"/>
        <a:ext cx="691870" cy="795253"/>
      </dsp:txXfrm>
    </dsp:sp>
    <dsp:sp modelId="{6CCD66D6-E3E3-4758-A25B-E5A97FDFEEA0}">
      <dsp:nvSpPr>
        <dsp:cNvPr id="0" name=""/>
        <dsp:cNvSpPr/>
      </dsp:nvSpPr>
      <dsp:spPr>
        <a:xfrm rot="5400000">
          <a:off x="3075854" y="2036910"/>
          <a:ext cx="1155331" cy="1005138"/>
        </a:xfrm>
        <a:prstGeom prst="hexagon">
          <a:avLst>
            <a:gd name="adj" fmla="val 2500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1" i="0" kern="1200" baseline="0" dirty="0">
              <a:solidFill>
                <a:schemeClr val="tx1"/>
              </a:solidFill>
              <a:latin typeface="+mj-lt"/>
              <a:ea typeface="+mj-ea"/>
            </a:rPr>
            <a:t>维护</a:t>
          </a:r>
        </a:p>
      </dsp:txBody>
      <dsp:txXfrm rot="-5400000">
        <a:off x="3307584" y="2141853"/>
        <a:ext cx="691870" cy="795253"/>
      </dsp:txXfrm>
    </dsp:sp>
    <dsp:sp modelId="{95ED7348-6155-4B72-B2AA-9F71065BC8B5}">
      <dsp:nvSpPr>
        <dsp:cNvPr id="0" name=""/>
        <dsp:cNvSpPr/>
      </dsp:nvSpPr>
      <dsp:spPr>
        <a:xfrm>
          <a:off x="4186590" y="2192880"/>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i="0" kern="1200" baseline="0" dirty="0">
              <a:latin typeface="+mj-lt"/>
              <a:ea typeface="+mj-ea"/>
            </a:rPr>
            <a:t>可扩展性和可升级性</a:t>
          </a:r>
        </a:p>
      </dsp:txBody>
      <dsp:txXfrm>
        <a:off x="4186590" y="2192880"/>
        <a:ext cx="1289350" cy="693199"/>
      </dsp:txXfrm>
    </dsp:sp>
    <dsp:sp modelId="{F96182DC-DEA1-4092-96CB-670F76C0F2C9}">
      <dsp:nvSpPr>
        <dsp:cNvPr id="0" name=""/>
        <dsp:cNvSpPr/>
      </dsp:nvSpPr>
      <dsp:spPr>
        <a:xfrm rot="5400000">
          <a:off x="1990305" y="2036910"/>
          <a:ext cx="1155331" cy="1005138"/>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zh-CN" altLang="en-US" sz="1600" b="1" i="0" kern="1200" baseline="0" dirty="0">
              <a:latin typeface="+mj-lt"/>
              <a:ea typeface="+mj-ea"/>
            </a:rPr>
            <a:t>管理</a:t>
          </a:r>
        </a:p>
      </dsp:txBody>
      <dsp:txXfrm rot="-5400000">
        <a:off x="2222035" y="2141853"/>
        <a:ext cx="691870" cy="7952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91867-A15A-4C01-989E-2D8E71AD280E}">
      <dsp:nvSpPr>
        <dsp:cNvPr id="0" name=""/>
        <dsp:cNvSpPr/>
      </dsp:nvSpPr>
      <dsp:spPr>
        <a:xfrm>
          <a:off x="0" y="9188"/>
          <a:ext cx="4963885" cy="711360"/>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0" i="0" kern="1200" baseline="0" dirty="0">
              <a:latin typeface="+mn-lt"/>
              <a:ea typeface="+mn-ea"/>
            </a:rPr>
            <a:t>法律上的 </a:t>
          </a:r>
          <a:r>
            <a:rPr lang="en-US" altLang="en-US" sz="1600" b="0" i="0" kern="1200" baseline="0" dirty="0">
              <a:latin typeface="+mn-lt"/>
              <a:ea typeface="+mn-ea"/>
            </a:rPr>
            <a:t>(de jure) </a:t>
          </a:r>
          <a:r>
            <a:rPr lang="zh-CN" altLang="en-US" sz="1600" b="0" i="0" kern="1200" baseline="0" dirty="0">
              <a:latin typeface="+mn-lt"/>
              <a:ea typeface="+mn-ea"/>
            </a:rPr>
            <a:t>国际标准 </a:t>
          </a:r>
          <a:r>
            <a:rPr lang="en-US" altLang="en-US" sz="1600" b="0" i="0" kern="1200" baseline="0" dirty="0">
              <a:latin typeface="+mn-lt"/>
              <a:ea typeface="+mn-ea"/>
            </a:rPr>
            <a:t>OSI</a:t>
          </a:r>
          <a:endParaRPr lang="zh-CN" altLang="en-US" sz="1600" b="0" i="0" kern="1200" baseline="0" dirty="0">
            <a:latin typeface="+mn-lt"/>
            <a:ea typeface="+mn-ea"/>
          </a:endParaRPr>
        </a:p>
      </dsp:txBody>
      <dsp:txXfrm>
        <a:off x="0" y="9188"/>
        <a:ext cx="4963885" cy="711360"/>
      </dsp:txXfrm>
    </dsp:sp>
    <dsp:sp modelId="{0CB64F91-1AC8-4F08-AB65-6A4FEE705282}">
      <dsp:nvSpPr>
        <dsp:cNvPr id="0" name=""/>
        <dsp:cNvSpPr/>
      </dsp:nvSpPr>
      <dsp:spPr>
        <a:xfrm>
          <a:off x="0" y="720548"/>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0" i="0" kern="1200" baseline="0" dirty="0">
              <a:latin typeface="+mn-lt"/>
              <a:ea typeface="+mn-ea"/>
            </a:rPr>
            <a:t>但并没有得到市场的认可</a:t>
          </a:r>
        </a:p>
      </dsp:txBody>
      <dsp:txXfrm>
        <a:off x="0" y="720548"/>
        <a:ext cx="4963885" cy="629280"/>
      </dsp:txXfrm>
    </dsp:sp>
    <dsp:sp modelId="{533E5313-0390-4A3E-9304-2F63C7C13FAF}">
      <dsp:nvSpPr>
        <dsp:cNvPr id="0" name=""/>
        <dsp:cNvSpPr/>
      </dsp:nvSpPr>
      <dsp:spPr>
        <a:xfrm>
          <a:off x="0" y="1349829"/>
          <a:ext cx="4963885" cy="711360"/>
        </a:xfrm>
        <a:prstGeom prst="rect">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0" i="0" kern="1200" baseline="0" dirty="0">
              <a:latin typeface="+mn-lt"/>
              <a:ea typeface="+mn-ea"/>
            </a:rPr>
            <a:t>事实上的 </a:t>
          </a:r>
          <a:r>
            <a:rPr lang="en-US" altLang="en-US" sz="1600" b="0" i="0" kern="1200" baseline="0" dirty="0">
              <a:latin typeface="+mn-lt"/>
              <a:ea typeface="+mn-ea"/>
            </a:rPr>
            <a:t>(de facto) </a:t>
          </a:r>
          <a:r>
            <a:rPr lang="zh-CN" altLang="en-US" sz="1600" b="0" i="0" kern="1200" baseline="0" dirty="0">
              <a:latin typeface="+mn-lt"/>
              <a:ea typeface="+mn-ea"/>
            </a:rPr>
            <a:t>国际标准 </a:t>
          </a:r>
          <a:r>
            <a:rPr lang="en-US" altLang="en-US" sz="1600" b="0" i="0" kern="1200" baseline="0" dirty="0">
              <a:latin typeface="+mn-lt"/>
              <a:ea typeface="+mn-ea"/>
            </a:rPr>
            <a:t>TCP/IP</a:t>
          </a:r>
          <a:endParaRPr lang="zh-CN" altLang="en-US" sz="1600" b="0" i="0" kern="1200" baseline="0" dirty="0">
            <a:latin typeface="+mn-lt"/>
            <a:ea typeface="+mn-ea"/>
          </a:endParaRPr>
        </a:p>
      </dsp:txBody>
      <dsp:txXfrm>
        <a:off x="0" y="1349829"/>
        <a:ext cx="4963885" cy="711360"/>
      </dsp:txXfrm>
    </dsp:sp>
    <dsp:sp modelId="{D4FB4936-BF1D-4807-8D25-E8B1D64E8CFA}">
      <dsp:nvSpPr>
        <dsp:cNvPr id="0" name=""/>
        <dsp:cNvSpPr/>
      </dsp:nvSpPr>
      <dsp:spPr>
        <a:xfrm>
          <a:off x="0" y="2061189"/>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0" i="0" kern="1200" baseline="0" dirty="0">
              <a:latin typeface="+mn-lt"/>
              <a:ea typeface="+mn-ea"/>
            </a:rPr>
            <a:t>获得了最广泛的应用</a:t>
          </a:r>
        </a:p>
      </dsp:txBody>
      <dsp:txXfrm>
        <a:off x="0" y="2061189"/>
        <a:ext cx="4963885" cy="629280"/>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Times New Roman" panose="02020603050405020304" pitchFamily="18" charset="0"/>
                <a:ea typeface="微软雅黑 Light" panose="020B0502040204020203" pitchFamily="34" charset="-122"/>
              </a:defRPr>
            </a:lvl1pPr>
          </a:lstStyle>
          <a:p>
            <a:pPr>
              <a:defRPr/>
            </a:pP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Times New Roman" panose="02020603050405020304" pitchFamily="18" charset="0"/>
                <a:ea typeface="微软雅黑 Light" panose="020B0502040204020203" pitchFamily="34" charset="-122"/>
              </a:defRPr>
            </a:lvl1pPr>
          </a:lstStyle>
          <a:p>
            <a:pPr>
              <a:defRPr/>
            </a:pPr>
            <a:fld id="{FA4006E8-8395-4ADA-895B-2208204B7025}" type="datetimeFigureOut">
              <a:rPr lang="zh-CN" altLang="en-US" smtClean="0"/>
              <a:pPr>
                <a:defRPr/>
              </a:pPr>
              <a:t>2026/8/21</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Times New Roman" panose="02020603050405020304" pitchFamily="18" charset="0"/>
                <a:ea typeface="微软雅黑 Light" panose="020B0502040204020203" pitchFamily="34" charset="-122"/>
              </a:defRPr>
            </a:lvl1pPr>
          </a:lstStyle>
          <a:p>
            <a:pPr>
              <a:defRPr/>
            </a:pPr>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Times New Roman" panose="02020603050405020304" pitchFamily="18" charset="0"/>
                <a:ea typeface="微软雅黑 Light" panose="020B0502040204020203" pitchFamily="34" charset="-122"/>
              </a:defRPr>
            </a:lvl1pPr>
          </a:lstStyle>
          <a:p>
            <a:pPr>
              <a:defRPr/>
            </a:pPr>
            <a:fld id="{CD1CD96A-A6EF-4B0B-9885-C22D65D2CD20}" type="slidenum">
              <a:rPr lang="zh-CN" altLang="en-US" smtClean="0"/>
              <a:pPr>
                <a:defRPr/>
              </a:pPr>
              <a:t>‹#›</a:t>
            </a:fld>
            <a:endParaRPr lang="zh-CN" altLang="en-US" dirty="0"/>
          </a:p>
        </p:txBody>
      </p:sp>
    </p:spTree>
    <p:extLst>
      <p:ext uri="{BB962C8B-B14F-4D97-AF65-F5344CB8AC3E}">
        <p14:creationId xmlns:p14="http://schemas.microsoft.com/office/powerpoint/2010/main" val="17989601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微软雅黑 Light" panose="020B0502040204020203"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173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fontAlgn="base">
              <a:spcBef>
                <a:spcPct val="0"/>
              </a:spcBef>
              <a:spcAft>
                <a:spcPct val="0"/>
              </a:spcAft>
            </a:pPr>
            <a:fld id="{43D57F7D-0BB2-4E6A-B5AF-2BE2E0FD8C1D}" type="slidenum">
              <a:rPr lang="zh-CN" altLang="en-US">
                <a:latin typeface="Times New Roman" panose="02020603050405020304" pitchFamily="18" charset="0"/>
                <a:ea typeface="微软雅黑 Light" panose="020B0502040204020203" pitchFamily="34" charset="-122"/>
              </a:rPr>
              <a:pPr fontAlgn="base">
                <a:spcBef>
                  <a:spcPct val="0"/>
                </a:spcBef>
                <a:spcAft>
                  <a:spcPct val="0"/>
                </a:spcAft>
              </a:pPr>
              <a:t>2</a:t>
            </a:fld>
            <a:endParaRPr lang="zh-CN" altLang="en-US" dirty="0">
              <a:latin typeface="Times New Roman" panose="02020603050405020304" pitchFamily="18" charset="0"/>
              <a:ea typeface="微软雅黑 Light" panose="020B0502040204020203" pitchFamily="34" charset="-122"/>
            </a:endParaRPr>
          </a:p>
        </p:txBody>
      </p:sp>
    </p:spTree>
    <p:extLst>
      <p:ext uri="{BB962C8B-B14F-4D97-AF65-F5344CB8AC3E}">
        <p14:creationId xmlns:p14="http://schemas.microsoft.com/office/powerpoint/2010/main" val="253481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a:t>
            </a:fld>
            <a:endParaRPr lang="zh-CN" altLang="en-US"/>
          </a:p>
        </p:txBody>
      </p:sp>
    </p:spTree>
    <p:extLst>
      <p:ext uri="{BB962C8B-B14F-4D97-AF65-F5344CB8AC3E}">
        <p14:creationId xmlns:p14="http://schemas.microsoft.com/office/powerpoint/2010/main" val="763540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发展最快的并起到核心作用的是计算机网络</a:t>
            </a:r>
          </a:p>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a:t>
            </a:fld>
            <a:endParaRPr lang="zh-CN" altLang="en-US" dirty="0"/>
          </a:p>
        </p:txBody>
      </p:sp>
    </p:spTree>
    <p:extLst>
      <p:ext uri="{BB962C8B-B14F-4D97-AF65-F5344CB8AC3E}">
        <p14:creationId xmlns:p14="http://schemas.microsoft.com/office/powerpoint/2010/main" val="389232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9</a:t>
            </a:fld>
            <a:endParaRPr lang="zh-CN" altLang="en-US"/>
          </a:p>
        </p:txBody>
      </p:sp>
    </p:spTree>
    <p:extLst>
      <p:ext uri="{BB962C8B-B14F-4D97-AF65-F5344CB8AC3E}">
        <p14:creationId xmlns:p14="http://schemas.microsoft.com/office/powerpoint/2010/main" val="393964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70714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51618-ABEC-35D9-1B3F-AB394BCDE4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BE9D5A-EA1E-7752-D545-EA805E1F33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0A0E73-0622-9FE2-B477-F0B73573A0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6F0F6B-05DC-2618-2808-2F5686391C44}"/>
              </a:ext>
            </a:extLst>
          </p:cNvPr>
          <p:cNvSpPr>
            <a:spLocks noGrp="1"/>
          </p:cNvSpPr>
          <p:nvPr>
            <p:ph type="sldNum" sz="quarter" idx="10"/>
          </p:nvPr>
        </p:nvSpPr>
        <p:spPr/>
        <p:txBody>
          <a:bodyPr/>
          <a:lstStyle/>
          <a:p>
            <a:pPr>
              <a:defRPr/>
            </a:pPr>
            <a:fld id="{CD1CD96A-A6EF-4B0B-9885-C22D65D2CD20}" type="slidenum">
              <a:rPr lang="zh-CN" altLang="en-US" smtClean="0"/>
              <a:pPr>
                <a:defRPr/>
              </a:pPr>
              <a:t>11</a:t>
            </a:fld>
            <a:endParaRPr lang="zh-CN" altLang="en-US"/>
          </a:p>
        </p:txBody>
      </p:sp>
    </p:spTree>
    <p:extLst>
      <p:ext uri="{BB962C8B-B14F-4D97-AF65-F5344CB8AC3E}">
        <p14:creationId xmlns:p14="http://schemas.microsoft.com/office/powerpoint/2010/main" val="273607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17</a:t>
            </a:fld>
            <a:endParaRPr lang="zh-CN" altLang="en-US" dirty="0"/>
          </a:p>
        </p:txBody>
      </p:sp>
    </p:spTree>
    <p:extLst>
      <p:ext uri="{BB962C8B-B14F-4D97-AF65-F5344CB8AC3E}">
        <p14:creationId xmlns:p14="http://schemas.microsoft.com/office/powerpoint/2010/main" val="471874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3040324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1894800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27</a:t>
            </a:fld>
            <a:endParaRPr lang="zh-CN" altLang="en-US"/>
          </a:p>
        </p:txBody>
      </p:sp>
    </p:spTree>
    <p:extLst>
      <p:ext uri="{BB962C8B-B14F-4D97-AF65-F5344CB8AC3E}">
        <p14:creationId xmlns:p14="http://schemas.microsoft.com/office/powerpoint/2010/main" val="1688177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37</a:t>
            </a:fld>
            <a:endParaRPr lang="zh-CN" altLang="en-US"/>
          </a:p>
        </p:txBody>
      </p:sp>
    </p:spTree>
    <p:extLst>
      <p:ext uri="{BB962C8B-B14F-4D97-AF65-F5344CB8AC3E}">
        <p14:creationId xmlns:p14="http://schemas.microsoft.com/office/powerpoint/2010/main" val="1531567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38</a:t>
            </a:fld>
            <a:endParaRPr lang="zh-CN" altLang="en-US"/>
          </a:p>
        </p:txBody>
      </p:sp>
    </p:spTree>
    <p:extLst>
      <p:ext uri="{BB962C8B-B14F-4D97-AF65-F5344CB8AC3E}">
        <p14:creationId xmlns:p14="http://schemas.microsoft.com/office/powerpoint/2010/main" val="2324873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40</a:t>
            </a:fld>
            <a:endParaRPr lang="zh-CN" altLang="en-US"/>
          </a:p>
        </p:txBody>
      </p:sp>
    </p:spTree>
    <p:extLst>
      <p:ext uri="{BB962C8B-B14F-4D97-AF65-F5344CB8AC3E}">
        <p14:creationId xmlns:p14="http://schemas.microsoft.com/office/powerpoint/2010/main" val="4144614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0DACA-7CB4-08EA-BB26-D8DFD9290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2A515C-16F5-3BB1-944A-CA87D18D0A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6EBA8D-D558-654F-971C-18D9E4E21D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91CD89-0CA8-D9D7-3508-86BDE799B898}"/>
              </a:ext>
            </a:extLst>
          </p:cNvPr>
          <p:cNvSpPr>
            <a:spLocks noGrp="1"/>
          </p:cNvSpPr>
          <p:nvPr>
            <p:ph type="sldNum" sz="quarter" idx="10"/>
          </p:nvPr>
        </p:nvSpPr>
        <p:spPr/>
        <p:txBody>
          <a:bodyPr/>
          <a:lstStyle/>
          <a:p>
            <a:pPr>
              <a:defRPr/>
            </a:pPr>
            <a:fld id="{CD1CD96A-A6EF-4B0B-9885-C22D65D2CD20}" type="slidenum">
              <a:rPr lang="zh-CN" altLang="en-US" smtClean="0"/>
              <a:pPr>
                <a:defRPr/>
              </a:pPr>
              <a:t>41</a:t>
            </a:fld>
            <a:endParaRPr lang="zh-CN" altLang="en-US"/>
          </a:p>
        </p:txBody>
      </p:sp>
    </p:spTree>
    <p:extLst>
      <p:ext uri="{BB962C8B-B14F-4D97-AF65-F5344CB8AC3E}">
        <p14:creationId xmlns:p14="http://schemas.microsoft.com/office/powerpoint/2010/main" val="2553305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576000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44</a:t>
            </a:fld>
            <a:endParaRPr lang="zh-CN" altLang="en-US"/>
          </a:p>
        </p:txBody>
      </p:sp>
    </p:spTree>
    <p:extLst>
      <p:ext uri="{BB962C8B-B14F-4D97-AF65-F5344CB8AC3E}">
        <p14:creationId xmlns:p14="http://schemas.microsoft.com/office/powerpoint/2010/main" val="1072329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47</a:t>
            </a:fld>
            <a:endParaRPr lang="zh-CN" altLang="en-US"/>
          </a:p>
        </p:txBody>
      </p:sp>
    </p:spTree>
    <p:extLst>
      <p:ext uri="{BB962C8B-B14F-4D97-AF65-F5344CB8AC3E}">
        <p14:creationId xmlns:p14="http://schemas.microsoft.com/office/powerpoint/2010/main" val="148878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61</a:t>
            </a:fld>
            <a:endParaRPr lang="zh-CN" altLang="en-US"/>
          </a:p>
        </p:txBody>
      </p:sp>
    </p:spTree>
    <p:extLst>
      <p:ext uri="{BB962C8B-B14F-4D97-AF65-F5344CB8AC3E}">
        <p14:creationId xmlns:p14="http://schemas.microsoft.com/office/powerpoint/2010/main" val="1463152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若中央处理机之间的距离非常近（如仅 </a:t>
            </a:r>
            <a:r>
              <a:rPr lang="en-US" altLang="zh-CN" dirty="0"/>
              <a:t>1 </a:t>
            </a:r>
            <a:r>
              <a:rPr lang="zh-CN" altLang="en-US" dirty="0"/>
              <a:t>米甚至更小些），则一般就称之为多处理机系统，而不称它为计算机网络。 </a:t>
            </a:r>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66</a:t>
            </a:fld>
            <a:endParaRPr lang="zh-CN" altLang="en-US" dirty="0"/>
          </a:p>
        </p:txBody>
      </p:sp>
    </p:spTree>
    <p:extLst>
      <p:ext uri="{BB962C8B-B14F-4D97-AF65-F5344CB8AC3E}">
        <p14:creationId xmlns:p14="http://schemas.microsoft.com/office/powerpoint/2010/main" val="942091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68</a:t>
            </a:fld>
            <a:endParaRPr lang="zh-CN" altLang="en-US"/>
          </a:p>
        </p:txBody>
      </p:sp>
    </p:spTree>
    <p:extLst>
      <p:ext uri="{BB962C8B-B14F-4D97-AF65-F5344CB8AC3E}">
        <p14:creationId xmlns:p14="http://schemas.microsoft.com/office/powerpoint/2010/main" val="4216458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千 </a:t>
            </a:r>
            <a:r>
              <a:rPr lang="en-US" altLang="zh-CN" dirty="0"/>
              <a:t>= K = 210 = 1024</a:t>
            </a:r>
            <a:r>
              <a:rPr lang="zh-CN" altLang="en-US" dirty="0"/>
              <a:t>，兆 </a:t>
            </a:r>
            <a:r>
              <a:rPr lang="en-US" altLang="zh-CN" dirty="0"/>
              <a:t>= M = 220 = 1024 K</a:t>
            </a:r>
            <a:r>
              <a:rPr lang="zh-CN" altLang="en-US" dirty="0"/>
              <a:t>，吉 </a:t>
            </a:r>
            <a:r>
              <a:rPr lang="en-US" altLang="zh-CN" dirty="0"/>
              <a:t>= G = 230 = 1024 M</a:t>
            </a:r>
          </a:p>
          <a:p>
            <a:r>
              <a:rPr lang="en-US" altLang="zh-CN" dirty="0"/>
              <a:t>1 </a:t>
            </a:r>
            <a:r>
              <a:rPr lang="zh-CN" altLang="en-US" dirty="0"/>
              <a:t>字节 </a:t>
            </a:r>
            <a:r>
              <a:rPr lang="en-US" altLang="zh-CN" dirty="0"/>
              <a:t>(Byte) =  8 </a:t>
            </a:r>
            <a:r>
              <a:rPr lang="zh-CN" altLang="en-US" dirty="0"/>
              <a:t>比特 </a:t>
            </a:r>
            <a:r>
              <a:rPr lang="en-US" altLang="zh-CN" dirty="0"/>
              <a:t>(bit</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71</a:t>
            </a:fld>
            <a:endParaRPr lang="zh-CN" altLang="en-US" dirty="0"/>
          </a:p>
        </p:txBody>
      </p:sp>
    </p:spTree>
    <p:extLst>
      <p:ext uri="{BB962C8B-B14F-4D97-AF65-F5344CB8AC3E}">
        <p14:creationId xmlns:p14="http://schemas.microsoft.com/office/powerpoint/2010/main" val="94912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72</a:t>
            </a:fld>
            <a:endParaRPr lang="zh-CN" altLang="en-US"/>
          </a:p>
        </p:txBody>
      </p:sp>
    </p:spTree>
    <p:extLst>
      <p:ext uri="{BB962C8B-B14F-4D97-AF65-F5344CB8AC3E}">
        <p14:creationId xmlns:p14="http://schemas.microsoft.com/office/powerpoint/2010/main" val="23834971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注意单位大小写</a:t>
            </a:r>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76</a:t>
            </a:fld>
            <a:endParaRPr lang="zh-CN" altLang="en-US" dirty="0"/>
          </a:p>
        </p:txBody>
      </p:sp>
    </p:spTree>
    <p:extLst>
      <p:ext uri="{BB962C8B-B14F-4D97-AF65-F5344CB8AC3E}">
        <p14:creationId xmlns:p14="http://schemas.microsoft.com/office/powerpoint/2010/main" val="2383365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79</a:t>
            </a:fld>
            <a:endParaRPr lang="zh-CN" altLang="en-US"/>
          </a:p>
        </p:txBody>
      </p:sp>
    </p:spTree>
    <p:extLst>
      <p:ext uri="{BB962C8B-B14F-4D97-AF65-F5344CB8AC3E}">
        <p14:creationId xmlns:p14="http://schemas.microsoft.com/office/powerpoint/2010/main" val="2130636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80</a:t>
            </a:fld>
            <a:endParaRPr lang="zh-CN" altLang="en-US"/>
          </a:p>
        </p:txBody>
      </p:sp>
    </p:spTree>
    <p:extLst>
      <p:ext uri="{BB962C8B-B14F-4D97-AF65-F5344CB8AC3E}">
        <p14:creationId xmlns:p14="http://schemas.microsoft.com/office/powerpoint/2010/main" val="1957799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不能笼统地认为：“数据的发送速率越高，其传送的总时延就越小”。</a:t>
            </a:r>
          </a:p>
          <a:p>
            <a:r>
              <a:rPr lang="zh-CN" altLang="en-US" dirty="0"/>
              <a:t>数据的容量</a:t>
            </a:r>
            <a:endParaRPr lang="en-US" altLang="zh-CN" dirty="0"/>
          </a:p>
          <a:p>
            <a:r>
              <a:rPr lang="en-US" altLang="zh-CN" dirty="0"/>
              <a:t>1Byte=8bit</a:t>
            </a:r>
          </a:p>
          <a:p>
            <a:r>
              <a:rPr lang="en-US" altLang="zh-CN" dirty="0"/>
              <a:t>1Kbit=2^10bit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1Mbit=2^20bit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1Gbit=2^30bit</a:t>
            </a: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83</a:t>
            </a:fld>
            <a:endParaRPr lang="zh-CN" altLang="en-US" dirty="0"/>
          </a:p>
        </p:txBody>
      </p:sp>
    </p:spTree>
    <p:extLst>
      <p:ext uri="{BB962C8B-B14F-4D97-AF65-F5344CB8AC3E}">
        <p14:creationId xmlns:p14="http://schemas.microsoft.com/office/powerpoint/2010/main" val="1013537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85</a:t>
            </a:fld>
            <a:endParaRPr lang="zh-CN" altLang="en-US"/>
          </a:p>
        </p:txBody>
      </p:sp>
    </p:spTree>
    <p:extLst>
      <p:ext uri="{BB962C8B-B14F-4D97-AF65-F5344CB8AC3E}">
        <p14:creationId xmlns:p14="http://schemas.microsoft.com/office/powerpoint/2010/main" val="2672136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98</a:t>
            </a:fld>
            <a:endParaRPr lang="zh-CN" altLang="en-US"/>
          </a:p>
        </p:txBody>
      </p:sp>
    </p:spTree>
    <p:extLst>
      <p:ext uri="{BB962C8B-B14F-4D97-AF65-F5344CB8AC3E}">
        <p14:creationId xmlns:p14="http://schemas.microsoft.com/office/powerpoint/2010/main" val="2932597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102</a:t>
            </a:fld>
            <a:endParaRPr lang="zh-CN" altLang="en-US"/>
          </a:p>
        </p:txBody>
      </p:sp>
    </p:spTree>
    <p:extLst>
      <p:ext uri="{BB962C8B-B14F-4D97-AF65-F5344CB8AC3E}">
        <p14:creationId xmlns:p14="http://schemas.microsoft.com/office/powerpoint/2010/main" val="210096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这一层并没有具体内容</a:t>
            </a: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106</a:t>
            </a:fld>
            <a:endParaRPr lang="zh-CN" altLang="en-US"/>
          </a:p>
        </p:txBody>
      </p:sp>
    </p:spTree>
    <p:extLst>
      <p:ext uri="{BB962C8B-B14F-4D97-AF65-F5344CB8AC3E}">
        <p14:creationId xmlns:p14="http://schemas.microsoft.com/office/powerpoint/2010/main" val="1689515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107</a:t>
            </a:fld>
            <a:endParaRPr lang="zh-CN" altLang="en-US"/>
          </a:p>
        </p:txBody>
      </p:sp>
    </p:spTree>
    <p:extLst>
      <p:ext uri="{BB962C8B-B14F-4D97-AF65-F5344CB8AC3E}">
        <p14:creationId xmlns:p14="http://schemas.microsoft.com/office/powerpoint/2010/main" val="33309870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108</a:t>
            </a:fld>
            <a:endParaRPr lang="zh-CN" altLang="en-US"/>
          </a:p>
        </p:txBody>
      </p:sp>
    </p:spTree>
    <p:extLst>
      <p:ext uri="{BB962C8B-B14F-4D97-AF65-F5344CB8AC3E}">
        <p14:creationId xmlns:p14="http://schemas.microsoft.com/office/powerpoint/2010/main" val="21835761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109</a:t>
            </a:fld>
            <a:endParaRPr lang="zh-CN" altLang="en-US"/>
          </a:p>
        </p:txBody>
      </p:sp>
    </p:spTree>
    <p:extLst>
      <p:ext uri="{BB962C8B-B14F-4D97-AF65-F5344CB8AC3E}">
        <p14:creationId xmlns:p14="http://schemas.microsoft.com/office/powerpoint/2010/main" val="1727381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110</a:t>
            </a:fld>
            <a:endParaRPr lang="zh-CN" altLang="en-US"/>
          </a:p>
        </p:txBody>
      </p:sp>
    </p:spTree>
    <p:extLst>
      <p:ext uri="{BB962C8B-B14F-4D97-AF65-F5344CB8AC3E}">
        <p14:creationId xmlns:p14="http://schemas.microsoft.com/office/powerpoint/2010/main" val="1116091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111</a:t>
            </a:fld>
            <a:endParaRPr lang="zh-CN" altLang="en-US"/>
          </a:p>
        </p:txBody>
      </p:sp>
    </p:spTree>
    <p:extLst>
      <p:ext uri="{BB962C8B-B14F-4D97-AF65-F5344CB8AC3E}">
        <p14:creationId xmlns:p14="http://schemas.microsoft.com/office/powerpoint/2010/main" val="41825190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125</a:t>
            </a:fld>
            <a:endParaRPr lang="zh-CN" altLang="en-US"/>
          </a:p>
        </p:txBody>
      </p:sp>
    </p:spTree>
    <p:extLst>
      <p:ext uri="{BB962C8B-B14F-4D97-AF65-F5344CB8AC3E}">
        <p14:creationId xmlns:p14="http://schemas.microsoft.com/office/powerpoint/2010/main" val="41738575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126</a:t>
            </a:fld>
            <a:endParaRPr lang="zh-CN" altLang="en-US"/>
          </a:p>
        </p:txBody>
      </p:sp>
    </p:spTree>
    <p:extLst>
      <p:ext uri="{BB962C8B-B14F-4D97-AF65-F5344CB8AC3E}">
        <p14:creationId xmlns:p14="http://schemas.microsoft.com/office/powerpoint/2010/main" val="36005044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127</a:t>
            </a:fld>
            <a:endParaRPr lang="zh-CN" altLang="en-US"/>
          </a:p>
        </p:txBody>
      </p:sp>
    </p:spTree>
    <p:extLst>
      <p:ext uri="{BB962C8B-B14F-4D97-AF65-F5344CB8AC3E}">
        <p14:creationId xmlns:p14="http://schemas.microsoft.com/office/powerpoint/2010/main" val="3219897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128</a:t>
            </a:fld>
            <a:endParaRPr lang="zh-CN" altLang="en-US"/>
          </a:p>
        </p:txBody>
      </p:sp>
    </p:spTree>
    <p:extLst>
      <p:ext uri="{BB962C8B-B14F-4D97-AF65-F5344CB8AC3E}">
        <p14:creationId xmlns:p14="http://schemas.microsoft.com/office/powerpoint/2010/main" val="35658672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129</a:t>
            </a:fld>
            <a:endParaRPr lang="zh-CN" altLang="en-US"/>
          </a:p>
        </p:txBody>
      </p:sp>
    </p:spTree>
    <p:extLst>
      <p:ext uri="{BB962C8B-B14F-4D97-AF65-F5344CB8AC3E}">
        <p14:creationId xmlns:p14="http://schemas.microsoft.com/office/powerpoint/2010/main" val="19977386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130</a:t>
            </a:fld>
            <a:endParaRPr lang="zh-CN" altLang="en-US"/>
          </a:p>
        </p:txBody>
      </p:sp>
    </p:spTree>
    <p:extLst>
      <p:ext uri="{BB962C8B-B14F-4D97-AF65-F5344CB8AC3E}">
        <p14:creationId xmlns:p14="http://schemas.microsoft.com/office/powerpoint/2010/main" val="10303503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131</a:t>
            </a:fld>
            <a:endParaRPr lang="zh-CN" altLang="en-US"/>
          </a:p>
        </p:txBody>
      </p:sp>
    </p:spTree>
    <p:extLst>
      <p:ext uri="{BB962C8B-B14F-4D97-AF65-F5344CB8AC3E}">
        <p14:creationId xmlns:p14="http://schemas.microsoft.com/office/powerpoint/2010/main" val="8481135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132</a:t>
            </a:fld>
            <a:endParaRPr lang="zh-CN" altLang="en-US"/>
          </a:p>
        </p:txBody>
      </p:sp>
    </p:spTree>
    <p:extLst>
      <p:ext uri="{BB962C8B-B14F-4D97-AF65-F5344CB8AC3E}">
        <p14:creationId xmlns:p14="http://schemas.microsoft.com/office/powerpoint/2010/main" val="7615470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137</a:t>
            </a:fld>
            <a:endParaRPr lang="zh-CN" altLang="en-US"/>
          </a:p>
        </p:txBody>
      </p:sp>
    </p:spTree>
    <p:extLst>
      <p:ext uri="{BB962C8B-B14F-4D97-AF65-F5344CB8AC3E}">
        <p14:creationId xmlns:p14="http://schemas.microsoft.com/office/powerpoint/2010/main" val="3413917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184FF-622D-3306-B0F2-2D5466C757ED}"/>
              </a:ext>
            </a:extLst>
          </p:cNvPr>
          <p:cNvSpPr>
            <a:spLocks noGrp="1"/>
          </p:cNvSpPr>
          <p:nvPr>
            <p:ph type="title"/>
          </p:nvPr>
        </p:nvSpPr>
        <p:spPr>
          <a:xfrm>
            <a:off x="3873500" y="1290318"/>
            <a:ext cx="4320000" cy="341632"/>
          </a:xfrm>
        </p:spPr>
        <p:txBody>
          <a:bodyPr/>
          <a:lstStyle>
            <a:lvl1pPr>
              <a:defRPr>
                <a:solidFill>
                  <a:schemeClr val="tx1"/>
                </a:solidFill>
              </a:defRPr>
            </a:lvl1pPr>
          </a:lstStyle>
          <a:p>
            <a:r>
              <a:rPr lang="zh-CN" altLang="en-US" dirty="0"/>
              <a:t>单击此处编辑母版标题样式</a:t>
            </a:r>
          </a:p>
        </p:txBody>
      </p:sp>
      <p:cxnSp>
        <p:nvCxnSpPr>
          <p:cNvPr id="4" name="直接连接符 3">
            <a:extLst>
              <a:ext uri="{FF2B5EF4-FFF2-40B4-BE49-F238E27FC236}">
                <a16:creationId xmlns:a16="http://schemas.microsoft.com/office/drawing/2014/main" id="{1F7FDBE9-36FC-419E-3854-91C34BE197C2}"/>
              </a:ext>
            </a:extLst>
          </p:cNvPr>
          <p:cNvCxnSpPr>
            <a:cxnSpLocks/>
          </p:cNvCxnSpPr>
          <p:nvPr userDrawn="1"/>
        </p:nvCxnSpPr>
        <p:spPr>
          <a:xfrm>
            <a:off x="3873500" y="1631950"/>
            <a:ext cx="43200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文本占位符 5">
            <a:extLst>
              <a:ext uri="{FF2B5EF4-FFF2-40B4-BE49-F238E27FC236}">
                <a16:creationId xmlns:a16="http://schemas.microsoft.com/office/drawing/2014/main" id="{9049AA28-E114-AD2B-9861-C7C864603EE5}"/>
              </a:ext>
            </a:extLst>
          </p:cNvPr>
          <p:cNvSpPr>
            <a:spLocks noGrp="1"/>
          </p:cNvSpPr>
          <p:nvPr>
            <p:ph type="body" sz="quarter" idx="10"/>
          </p:nvPr>
        </p:nvSpPr>
        <p:spPr>
          <a:xfrm>
            <a:off x="3873500" y="1631950"/>
            <a:ext cx="4320000" cy="1803400"/>
          </a:xfrm>
        </p:spPr>
        <p:txBody>
          <a:bodyPr>
            <a:normAutofit/>
          </a:bodyPr>
          <a:lstStyle>
            <a:lvl1pPr marL="180000" indent="-180000">
              <a:lnSpc>
                <a:spcPct val="100000"/>
              </a:lnSpc>
              <a:spcBef>
                <a:spcPts val="0"/>
              </a:spcBef>
              <a:spcAft>
                <a:spcPts val="600"/>
              </a:spcAft>
              <a:buClr>
                <a:srgbClr val="0070C0"/>
              </a:buClr>
              <a:buNone/>
              <a:defRPr sz="1600"/>
            </a:lvl1pPr>
          </a:lstStyle>
          <a:p>
            <a:pPr lvl="0"/>
            <a:r>
              <a:rPr lang="zh-CN" altLang="en-US" dirty="0"/>
              <a:t>单击此处编辑母版文本样式</a:t>
            </a:r>
          </a:p>
        </p:txBody>
      </p:sp>
    </p:spTree>
    <p:extLst>
      <p:ext uri="{BB962C8B-B14F-4D97-AF65-F5344CB8AC3E}">
        <p14:creationId xmlns:p14="http://schemas.microsoft.com/office/powerpoint/2010/main" val="32065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3200F1-A367-DE63-EF07-8BDA9D773628}"/>
              </a:ext>
            </a:extLst>
          </p:cNvPr>
          <p:cNvSpPr>
            <a:spLocks noGrp="1"/>
          </p:cNvSpPr>
          <p:nvPr>
            <p:ph type="title"/>
          </p:nvPr>
        </p:nvSpPr>
        <p:spPr>
          <a:xfrm>
            <a:off x="612000" y="144000"/>
            <a:ext cx="7920000" cy="341632"/>
          </a:xfrm>
        </p:spPr>
        <p:txBody>
          <a:bodyPr/>
          <a:lstStyle>
            <a:lvl1pPr>
              <a:defRPr lang="zh-CN" altLang="en-US" dirty="0">
                <a:solidFill>
                  <a:schemeClr val="bg1"/>
                </a:solidFill>
              </a:defRPr>
            </a:lvl1pPr>
          </a:lstStyle>
          <a:p>
            <a:r>
              <a:rPr lang="zh-CN" altLang="en-US" dirty="0"/>
              <a:t>单击此处编辑母版标题样式</a:t>
            </a:r>
          </a:p>
        </p:txBody>
      </p:sp>
      <p:sp>
        <p:nvSpPr>
          <p:cNvPr id="5" name="内容占位符 4">
            <a:extLst>
              <a:ext uri="{FF2B5EF4-FFF2-40B4-BE49-F238E27FC236}">
                <a16:creationId xmlns:a16="http://schemas.microsoft.com/office/drawing/2014/main" id="{8C33CEDD-DCDC-C7AD-8118-634E9A643E6D}"/>
              </a:ext>
            </a:extLst>
          </p:cNvPr>
          <p:cNvSpPr>
            <a:spLocks noGrp="1"/>
          </p:cNvSpPr>
          <p:nvPr>
            <p:ph sz="quarter" idx="10"/>
          </p:nvPr>
        </p:nvSpPr>
        <p:spPr>
          <a:xfrm>
            <a:off x="612000" y="899999"/>
            <a:ext cx="7920000" cy="3780000"/>
          </a:xfrm>
        </p:spPr>
        <p:txBody>
          <a:bodyPr/>
          <a:lstStyle>
            <a:lvl1pPr>
              <a:buFont typeface="Wingdings" panose="05000000000000000000" pitchFamily="2" charset="2"/>
              <a:buChar char="§"/>
              <a:defRPr lang="zh-CN" altLang="en-US" dirty="0"/>
            </a:lvl1pPr>
            <a:lvl2pPr>
              <a:defRPr lang="zh-CN" altLang="en-US" dirty="0"/>
            </a:lvl2pPr>
            <a:lvl3pPr marL="540000">
              <a:defRPr/>
            </a:lvl3pPr>
          </a:lstStyle>
          <a:p>
            <a:pPr lvl="0"/>
            <a:r>
              <a:rPr lang="zh-CN" altLang="en-US" dirty="0"/>
              <a:t>单击此处编辑母版文本样式</a:t>
            </a:r>
          </a:p>
          <a:p>
            <a:pPr lvl="1"/>
            <a:r>
              <a:rPr lang="zh-CN" altLang="en-US" dirty="0"/>
              <a:t>二级</a:t>
            </a:r>
            <a:endParaRPr lang="en-US" altLang="zh-CN" dirty="0"/>
          </a:p>
          <a:p>
            <a:pPr lvl="2"/>
            <a:r>
              <a:rPr lang="zh-CN" altLang="en-US" dirty="0"/>
              <a:t>三级</a:t>
            </a:r>
          </a:p>
        </p:txBody>
      </p:sp>
    </p:spTree>
    <p:extLst>
      <p:ext uri="{BB962C8B-B14F-4D97-AF65-F5344CB8AC3E}">
        <p14:creationId xmlns:p14="http://schemas.microsoft.com/office/powerpoint/2010/main" val="580602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087E70-7160-B4F6-FB83-D01296B0D4C4}"/>
              </a:ext>
            </a:extLst>
          </p:cNvPr>
          <p:cNvSpPr>
            <a:spLocks noGrp="1"/>
          </p:cNvSpPr>
          <p:nvPr>
            <p:ph type="title"/>
          </p:nvPr>
        </p:nvSpPr>
        <p:spPr>
          <a:xfrm>
            <a:off x="612000" y="144000"/>
            <a:ext cx="7920000" cy="341632"/>
          </a:xfrm>
        </p:spPr>
        <p:txBody>
          <a:bodyPr/>
          <a:lstStyle>
            <a:lvl1pPr>
              <a:defRPr lang="zh-CN" altLang="en-US" dirty="0">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71402606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57480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872EF6DB-335D-41E7-ADDC-05F45EA1790E}"/>
              </a:ext>
            </a:extLst>
          </p:cNvPr>
          <p:cNvSpPr/>
          <p:nvPr userDrawn="1"/>
        </p:nvSpPr>
        <p:spPr>
          <a:xfrm>
            <a:off x="0" y="0"/>
            <a:ext cx="9144000" cy="840441"/>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4000" dirty="0">
              <a:effectLst/>
            </a:endParaRPr>
          </a:p>
        </p:txBody>
      </p:sp>
      <p:sp>
        <p:nvSpPr>
          <p:cNvPr id="5" name="任意多边形: 形状 4">
            <a:extLst>
              <a:ext uri="{FF2B5EF4-FFF2-40B4-BE49-F238E27FC236}">
                <a16:creationId xmlns:a16="http://schemas.microsoft.com/office/drawing/2014/main" id="{B97DF034-3308-4BA6-A390-1C3EEDAA1039}"/>
              </a:ext>
            </a:extLst>
          </p:cNvPr>
          <p:cNvSpPr/>
          <p:nvPr userDrawn="1"/>
        </p:nvSpPr>
        <p:spPr>
          <a:xfrm>
            <a:off x="0" y="0"/>
            <a:ext cx="9144000" cy="773206"/>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4000" dirty="0">
              <a:effectLst/>
              <a:latin typeface="微软雅黑" panose="020B0503020204020204" pitchFamily="34" charset="-122"/>
              <a:ea typeface="微软雅黑" panose="020B0503020204020204" pitchFamily="34" charset="-122"/>
            </a:endParaRPr>
          </a:p>
        </p:txBody>
      </p:sp>
      <p:sp>
        <p:nvSpPr>
          <p:cNvPr id="2" name="标题占位符 1">
            <a:extLst>
              <a:ext uri="{FF2B5EF4-FFF2-40B4-BE49-F238E27FC236}">
                <a16:creationId xmlns:a16="http://schemas.microsoft.com/office/drawing/2014/main" id="{4D67AE12-B998-CFE6-5E5E-6AE6643E7916}"/>
              </a:ext>
            </a:extLst>
          </p:cNvPr>
          <p:cNvSpPr>
            <a:spLocks noGrp="1"/>
          </p:cNvSpPr>
          <p:nvPr>
            <p:ph type="title"/>
          </p:nvPr>
        </p:nvSpPr>
        <p:spPr>
          <a:xfrm>
            <a:off x="612000" y="144000"/>
            <a:ext cx="7920000" cy="341632"/>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EE75C8C-FA0F-A9D4-2F98-DC890073FF3C}"/>
              </a:ext>
            </a:extLst>
          </p:cNvPr>
          <p:cNvSpPr>
            <a:spLocks noGrp="1"/>
          </p:cNvSpPr>
          <p:nvPr>
            <p:ph type="body" idx="1"/>
          </p:nvPr>
        </p:nvSpPr>
        <p:spPr>
          <a:xfrm>
            <a:off x="612000" y="900000"/>
            <a:ext cx="7920000" cy="378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endParaRPr lang="en-US" altLang="zh-CN" dirty="0"/>
          </a:p>
          <a:p>
            <a:pPr lvl="2"/>
            <a:r>
              <a:rPr lang="zh-CN" altLang="en-US" dirty="0"/>
              <a:t>三级</a:t>
            </a:r>
          </a:p>
        </p:txBody>
      </p:sp>
      <p:sp>
        <p:nvSpPr>
          <p:cNvPr id="8" name="Rectangle 5">
            <a:extLst>
              <a:ext uri="{FF2B5EF4-FFF2-40B4-BE49-F238E27FC236}">
                <a16:creationId xmlns:a16="http://schemas.microsoft.com/office/drawing/2014/main" id="{A544FBB2-85F9-2332-79F8-2108E64F5687}"/>
              </a:ext>
            </a:extLst>
          </p:cNvPr>
          <p:cNvSpPr>
            <a:spLocks noChangeArrowheads="1"/>
          </p:cNvSpPr>
          <p:nvPr userDrawn="1"/>
        </p:nvSpPr>
        <p:spPr bwMode="auto">
          <a:xfrm>
            <a:off x="3002703" y="4805682"/>
            <a:ext cx="1390124"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en-US" altLang="zh-CN" sz="800" baseline="0" dirty="0">
                <a:solidFill>
                  <a:schemeClr val="tx1">
                    <a:lumMod val="50000"/>
                    <a:lumOff val="50000"/>
                  </a:schemeClr>
                </a:solidFill>
                <a:latin typeface="+mn-lt"/>
                <a:ea typeface="+mn-ea"/>
              </a:rPr>
              <a:t>Computer Network 8th</a:t>
            </a:r>
            <a:endParaRPr lang="fr-FR" altLang="zh-CN" sz="800" baseline="0" dirty="0">
              <a:solidFill>
                <a:schemeClr val="tx1">
                  <a:lumMod val="50000"/>
                  <a:lumOff val="50000"/>
                </a:schemeClr>
              </a:solidFill>
              <a:latin typeface="+mn-lt"/>
              <a:ea typeface="+mn-ea"/>
            </a:endParaRPr>
          </a:p>
        </p:txBody>
      </p:sp>
      <p:sp>
        <p:nvSpPr>
          <p:cNvPr id="13" name="文本框 12">
            <a:extLst>
              <a:ext uri="{FF2B5EF4-FFF2-40B4-BE49-F238E27FC236}">
                <a16:creationId xmlns:a16="http://schemas.microsoft.com/office/drawing/2014/main" id="{55D5D21A-270B-1DEE-1850-7EE79091AF02}"/>
              </a:ext>
            </a:extLst>
          </p:cNvPr>
          <p:cNvSpPr txBox="1"/>
          <p:nvPr userDrawn="1"/>
        </p:nvSpPr>
        <p:spPr>
          <a:xfrm>
            <a:off x="4751173" y="4805682"/>
            <a:ext cx="1532792"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lvl="0" eaLnBrk="0" hangingPunct="0">
              <a:defRPr sz="1100" b="0">
                <a:solidFill>
                  <a:srgbClr val="0070C0"/>
                </a:solidFill>
                <a:latin typeface="Montserrat" panose="00000500000000000000" pitchFamily="2" charset="0"/>
                <a:ea typeface="微软雅黑" pitchFamily="34" charset="-122"/>
              </a:defRPr>
            </a:lvl1pPr>
          </a:lstStyle>
          <a:p>
            <a:pPr lvl="0"/>
            <a:r>
              <a:rPr lang="en-US" altLang="zh-CN" sz="800" baseline="0" dirty="0">
                <a:solidFill>
                  <a:schemeClr val="tx1">
                    <a:lumMod val="50000"/>
                    <a:lumOff val="50000"/>
                  </a:schemeClr>
                </a:solidFill>
                <a:latin typeface="+mn-lt"/>
                <a:ea typeface="+mn-ea"/>
              </a:rPr>
              <a:t>glplaman.github.io</a:t>
            </a:r>
            <a:endParaRPr lang="fr-FR" altLang="zh-CN" sz="800" baseline="0" dirty="0">
              <a:solidFill>
                <a:schemeClr val="tx1">
                  <a:lumMod val="50000"/>
                  <a:lumOff val="50000"/>
                </a:schemeClr>
              </a:solidFill>
              <a:latin typeface="+mn-lt"/>
              <a:ea typeface="+mn-ea"/>
            </a:endParaRPr>
          </a:p>
        </p:txBody>
      </p:sp>
      <p:sp>
        <p:nvSpPr>
          <p:cNvPr id="6" name="椭圆 5">
            <a:extLst>
              <a:ext uri="{FF2B5EF4-FFF2-40B4-BE49-F238E27FC236}">
                <a16:creationId xmlns:a16="http://schemas.microsoft.com/office/drawing/2014/main" id="{DC82DB3A-7A48-8D2E-7CC2-3C9757752EA7}"/>
              </a:ext>
            </a:extLst>
          </p:cNvPr>
          <p:cNvSpPr/>
          <p:nvPr userDrawn="1"/>
        </p:nvSpPr>
        <p:spPr>
          <a:xfrm>
            <a:off x="4391173" y="4733404"/>
            <a:ext cx="360000" cy="360000"/>
          </a:xfrm>
          <a:prstGeom prst="ellipse">
            <a:avLst/>
          </a:prstGeom>
          <a:blipFill>
            <a:blip r:embed="rId6"/>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88848597"/>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6" r:id="rId3"/>
    <p:sldLayoutId id="2147483691" r:id="rId4"/>
  </p:sldLayoutIdLst>
  <p:txStyles>
    <p:titleStyle>
      <a:lvl1pPr algn="l" defTabSz="685800" rtl="0" eaLnBrk="1" latinLnBrk="0" hangingPunct="1">
        <a:lnSpc>
          <a:spcPct val="90000"/>
        </a:lnSpc>
        <a:spcBef>
          <a:spcPct val="0"/>
        </a:spcBef>
        <a:buNone/>
        <a:defRPr sz="1800" kern="1200">
          <a:solidFill>
            <a:schemeClr val="bg1"/>
          </a:solidFill>
          <a:latin typeface="+mj-lt"/>
          <a:ea typeface="+mj-ea"/>
          <a:cs typeface="+mj-cs"/>
        </a:defRPr>
      </a:lvl1pPr>
    </p:titleStyle>
    <p:bodyStyle>
      <a:lvl1pPr marL="180000" indent="-180000" algn="l" defTabSz="685800" rtl="0" eaLnBrk="1" latinLnBrk="0" hangingPunct="1">
        <a:lnSpc>
          <a:spcPct val="10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1pPr>
      <a:lvl2pPr marL="360000" indent="-180000" algn="l" defTabSz="6858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600"/>
        </a:spcAft>
        <a:buFont typeface="Montserrat" panose="00000500000000000000" pitchFamily="2"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chinadaily.com.cn/business/2015-12/30/content_22868675.ht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hyperlink" Target="https://nsf.net/abou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w3.or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nsf.gov/impacts/interne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blog.csdn.net/Lswblue/article/details/14903096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w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cnnic.cn/"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1.wmf"/><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png"/><Relationship Id="rId9"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hyperlink" Target="packet%20switch.mp4"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bin"/><Relationship Id="rId1" Type="http://schemas.openxmlformats.org/officeDocument/2006/relationships/slideLayout" Target="../slideLayouts/slideLayout3.xml"/><Relationship Id="rId6" Type="http://schemas.openxmlformats.org/officeDocument/2006/relationships/image" Target="../media/image14.wmf"/><Relationship Id="rId5" Type="http://schemas.openxmlformats.org/officeDocument/2006/relationships/image" Target="../media/image32.png"/><Relationship Id="rId4" Type="http://schemas.openxmlformats.org/officeDocument/2006/relationships/image" Target="../media/image45.wmf"/></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sp>
        <p:nvSpPr>
          <p:cNvPr id="13" name="矩形 6"/>
          <p:cNvSpPr>
            <a:spLocks noChangeArrowheads="1"/>
          </p:cNvSpPr>
          <p:nvPr/>
        </p:nvSpPr>
        <p:spPr bwMode="auto">
          <a:xfrm>
            <a:off x="5226050" y="2219325"/>
            <a:ext cx="20161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5500" b="1" dirty="0">
                <a:solidFill>
                  <a:schemeClr val="bg1"/>
                </a:solidFill>
                <a:latin typeface="微软雅黑" pitchFamily="34" charset="-122"/>
                <a:ea typeface="微软雅黑" pitchFamily="34" charset="-122"/>
              </a:rPr>
              <a:t>概  述</a:t>
            </a:r>
          </a:p>
        </p:txBody>
      </p:sp>
      <p:sp>
        <p:nvSpPr>
          <p:cNvPr id="14" name="矩形 7"/>
          <p:cNvSpPr>
            <a:spLocks noChangeArrowheads="1"/>
          </p:cNvSpPr>
          <p:nvPr/>
        </p:nvSpPr>
        <p:spPr bwMode="auto">
          <a:xfrm>
            <a:off x="5565775" y="1736725"/>
            <a:ext cx="133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1 章</a:t>
            </a:r>
          </a:p>
        </p:txBody>
      </p:sp>
      <p:cxnSp>
        <p:nvCxnSpPr>
          <p:cNvPr id="15" name="直接连接符 14"/>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6"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1654175" y="100330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5" name="Rectangle 10"/>
          <p:cNvSpPr>
            <a:spLocks noChangeArrowheads="1"/>
          </p:cNvSpPr>
          <p:nvPr/>
        </p:nvSpPr>
        <p:spPr bwMode="auto">
          <a:xfrm>
            <a:off x="1654175" y="14843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6" name="Rectangle 11"/>
          <p:cNvSpPr>
            <a:spLocks noChangeArrowheads="1"/>
          </p:cNvSpPr>
          <p:nvPr/>
        </p:nvSpPr>
        <p:spPr bwMode="auto">
          <a:xfrm>
            <a:off x="1654175" y="197485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7" name="Rectangle 12"/>
          <p:cNvSpPr>
            <a:spLocks noChangeArrowheads="1"/>
          </p:cNvSpPr>
          <p:nvPr/>
        </p:nvSpPr>
        <p:spPr bwMode="auto">
          <a:xfrm>
            <a:off x="1654175" y="24622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8" name="Rectangle 13"/>
          <p:cNvSpPr>
            <a:spLocks noChangeArrowheads="1"/>
          </p:cNvSpPr>
          <p:nvPr/>
        </p:nvSpPr>
        <p:spPr bwMode="auto">
          <a:xfrm>
            <a:off x="1654175" y="294322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9" name="Rectangle 14"/>
          <p:cNvSpPr>
            <a:spLocks noChangeArrowheads="1"/>
          </p:cNvSpPr>
          <p:nvPr/>
        </p:nvSpPr>
        <p:spPr bwMode="auto">
          <a:xfrm>
            <a:off x="1654175" y="343693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10" name="Rectangle 15"/>
          <p:cNvSpPr>
            <a:spLocks noChangeArrowheads="1"/>
          </p:cNvSpPr>
          <p:nvPr/>
        </p:nvSpPr>
        <p:spPr bwMode="auto">
          <a:xfrm>
            <a:off x="1652588" y="392747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dirty="0">
              <a:solidFill>
                <a:srgbClr val="FFFFFF"/>
              </a:solidFill>
              <a:latin typeface="微软雅黑 Light" panose="020B0502040204020203" pitchFamily="34" charset="-122"/>
              <a:ea typeface="+mn-ea"/>
            </a:endParaRPr>
          </a:p>
        </p:txBody>
      </p:sp>
      <p:sp>
        <p:nvSpPr>
          <p:cNvPr id="12297" name="Line 16"/>
          <p:cNvSpPr>
            <a:spLocks noChangeShapeType="1"/>
          </p:cNvSpPr>
          <p:nvPr/>
        </p:nvSpPr>
        <p:spPr bwMode="auto">
          <a:xfrm>
            <a:off x="2401888" y="999749"/>
            <a:ext cx="0" cy="32400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2298" name="Rectangle 17"/>
          <p:cNvSpPr>
            <a:spLocks noChangeArrowheads="1"/>
          </p:cNvSpPr>
          <p:nvPr/>
        </p:nvSpPr>
        <p:spPr bwMode="auto">
          <a:xfrm>
            <a:off x="1685925" y="968375"/>
            <a:ext cx="578235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fr-FR" altLang="zh-CN" sz="2000" b="1" dirty="0">
                <a:solidFill>
                  <a:schemeClr val="bg1"/>
                </a:solidFill>
                <a:latin typeface="微软雅黑" pitchFamily="34" charset="-122"/>
                <a:ea typeface="微软雅黑" pitchFamily="34" charset="-122"/>
              </a:rPr>
              <a:t>1.1                     </a:t>
            </a:r>
            <a:r>
              <a:rPr lang="zh-CN" altLang="en-US" sz="2000" b="1" dirty="0">
                <a:solidFill>
                  <a:schemeClr val="bg1"/>
                </a:solidFill>
                <a:latin typeface="微软雅黑" pitchFamily="34" charset="-122"/>
                <a:ea typeface="微软雅黑" pitchFamily="34" charset="-122"/>
              </a:rPr>
              <a:t>计算机网络在信息时代中的作用</a:t>
            </a:r>
            <a:endParaRPr lang="fr-FR" sz="2000" b="1" dirty="0">
              <a:solidFill>
                <a:schemeClr val="bg1"/>
              </a:solidFill>
              <a:latin typeface="微软雅黑" pitchFamily="34" charset="-122"/>
              <a:ea typeface="微软雅黑" pitchFamily="34" charset="-122"/>
            </a:endParaRPr>
          </a:p>
        </p:txBody>
      </p:sp>
      <p:sp>
        <p:nvSpPr>
          <p:cNvPr id="12299" name="Rectangle 18"/>
          <p:cNvSpPr>
            <a:spLocks noChangeArrowheads="1"/>
          </p:cNvSpPr>
          <p:nvPr/>
        </p:nvSpPr>
        <p:spPr bwMode="auto">
          <a:xfrm>
            <a:off x="1685925" y="1449388"/>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1.2                                                  </a:t>
            </a:r>
            <a:r>
              <a:rPr lang="fr-FR" sz="2000" b="1" dirty="0">
                <a:solidFill>
                  <a:schemeClr val="bg1"/>
                </a:solidFill>
                <a:latin typeface="微软雅黑" pitchFamily="34" charset="-122"/>
                <a:ea typeface="微软雅黑" pitchFamily="34" charset="-122"/>
              </a:rPr>
              <a:t>互联网概述</a:t>
            </a:r>
          </a:p>
        </p:txBody>
      </p:sp>
      <p:sp>
        <p:nvSpPr>
          <p:cNvPr id="12300" name="Rectangle 19"/>
          <p:cNvSpPr>
            <a:spLocks noChangeArrowheads="1"/>
          </p:cNvSpPr>
          <p:nvPr/>
        </p:nvSpPr>
        <p:spPr bwMode="auto">
          <a:xfrm>
            <a:off x="1685925" y="1939925"/>
            <a:ext cx="58372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1.3                                               </a:t>
            </a:r>
            <a:r>
              <a:rPr lang="fr-FR" sz="2000" b="1">
                <a:solidFill>
                  <a:schemeClr val="bg1"/>
                </a:solidFill>
                <a:latin typeface="微软雅黑" pitchFamily="34" charset="-122"/>
                <a:ea typeface="微软雅黑" pitchFamily="34" charset="-122"/>
              </a:rPr>
              <a:t>互联网的组成</a:t>
            </a:r>
          </a:p>
        </p:txBody>
      </p:sp>
      <p:sp>
        <p:nvSpPr>
          <p:cNvPr id="12301" name="Rectangle 20"/>
          <p:cNvSpPr>
            <a:spLocks noChangeArrowheads="1"/>
          </p:cNvSpPr>
          <p:nvPr/>
        </p:nvSpPr>
        <p:spPr bwMode="auto">
          <a:xfrm>
            <a:off x="1685925" y="2422525"/>
            <a:ext cx="57229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1.4                              </a:t>
            </a:r>
            <a:r>
              <a:rPr lang="fr-FR" sz="2000" b="1" dirty="0">
                <a:solidFill>
                  <a:schemeClr val="bg1"/>
                </a:solidFill>
                <a:latin typeface="微软雅黑" pitchFamily="34" charset="-122"/>
                <a:ea typeface="微软雅黑" pitchFamily="34" charset="-122"/>
              </a:rPr>
              <a:t>计算机网络在我国的发展</a:t>
            </a:r>
          </a:p>
        </p:txBody>
      </p:sp>
      <p:sp>
        <p:nvSpPr>
          <p:cNvPr id="12302" name="Rectangle 21"/>
          <p:cNvSpPr>
            <a:spLocks noChangeArrowheads="1"/>
          </p:cNvSpPr>
          <p:nvPr/>
        </p:nvSpPr>
        <p:spPr bwMode="auto">
          <a:xfrm>
            <a:off x="1685925" y="2901950"/>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1.5                                        </a:t>
            </a:r>
            <a:r>
              <a:rPr lang="fr-FR" sz="2000" b="1">
                <a:solidFill>
                  <a:schemeClr val="bg1"/>
                </a:solidFill>
                <a:latin typeface="微软雅黑" pitchFamily="34" charset="-122"/>
                <a:ea typeface="微软雅黑" pitchFamily="34" charset="-122"/>
              </a:rPr>
              <a:t>计算机网络的类别</a:t>
            </a:r>
          </a:p>
        </p:txBody>
      </p:sp>
      <p:sp>
        <p:nvSpPr>
          <p:cNvPr id="12303" name="Rectangle 22"/>
          <p:cNvSpPr>
            <a:spLocks noChangeArrowheads="1"/>
          </p:cNvSpPr>
          <p:nvPr/>
        </p:nvSpPr>
        <p:spPr bwMode="auto">
          <a:xfrm>
            <a:off x="1685925" y="3402013"/>
            <a:ext cx="5826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1.6                                        </a:t>
            </a:r>
            <a:r>
              <a:rPr lang="fr-FR" sz="2000" b="1" dirty="0">
                <a:solidFill>
                  <a:schemeClr val="bg1"/>
                </a:solidFill>
                <a:latin typeface="微软雅黑" pitchFamily="34" charset="-122"/>
                <a:ea typeface="微软雅黑" pitchFamily="34" charset="-122"/>
              </a:rPr>
              <a:t>计算机网络的性能</a:t>
            </a:r>
          </a:p>
        </p:txBody>
      </p:sp>
      <p:sp>
        <p:nvSpPr>
          <p:cNvPr id="12304" name="Rectangle 23"/>
          <p:cNvSpPr>
            <a:spLocks noChangeArrowheads="1"/>
          </p:cNvSpPr>
          <p:nvPr/>
        </p:nvSpPr>
        <p:spPr bwMode="auto">
          <a:xfrm>
            <a:off x="1685925" y="3892550"/>
            <a:ext cx="57435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1.7                                 </a:t>
            </a:r>
            <a:r>
              <a:rPr lang="fr-FR" sz="2000" b="1" dirty="0">
                <a:solidFill>
                  <a:schemeClr val="bg1"/>
                </a:solidFill>
                <a:latin typeface="微软雅黑" pitchFamily="34" charset="-122"/>
                <a:ea typeface="微软雅黑" pitchFamily="34" charset="-122"/>
              </a:rPr>
              <a:t>计算机网络的体系结构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Line 16"/>
          <p:cNvSpPr>
            <a:spLocks noChangeShapeType="1"/>
          </p:cNvSpPr>
          <p:nvPr/>
        </p:nvSpPr>
        <p:spPr bwMode="auto">
          <a:xfrm>
            <a:off x="3636963" y="1226553"/>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 name="标题 1">
            <a:extLst>
              <a:ext uri="{FF2B5EF4-FFF2-40B4-BE49-F238E27FC236}">
                <a16:creationId xmlns:a16="http://schemas.microsoft.com/office/drawing/2014/main" id="{66B3715C-31B3-ABB8-BD70-63C55D4F1680}"/>
              </a:ext>
            </a:extLst>
          </p:cNvPr>
          <p:cNvSpPr>
            <a:spLocks noGrp="1"/>
          </p:cNvSpPr>
          <p:nvPr>
            <p:ph type="title"/>
          </p:nvPr>
        </p:nvSpPr>
        <p:spPr>
          <a:xfrm>
            <a:off x="3873500" y="1290318"/>
            <a:ext cx="4320000" cy="341632"/>
          </a:xfrm>
        </p:spPr>
        <p:txBody>
          <a:bodyPr/>
          <a:lstStyle/>
          <a:p>
            <a:r>
              <a:rPr lang="fr-FR" altLang="zh-CN" dirty="0"/>
              <a:t>1.1 </a:t>
            </a:r>
            <a:r>
              <a:rPr lang="zh-CN" altLang="en-US" dirty="0"/>
              <a:t>计算机网络在信息时代中的作用</a:t>
            </a:r>
          </a:p>
        </p:txBody>
      </p:sp>
      <p:sp>
        <p:nvSpPr>
          <p:cNvPr id="3" name="文本占位符 2">
            <a:extLst>
              <a:ext uri="{FF2B5EF4-FFF2-40B4-BE49-F238E27FC236}">
                <a16:creationId xmlns:a16="http://schemas.microsoft.com/office/drawing/2014/main" id="{C920AFD0-47E3-9A77-7D96-3F97A4E78522}"/>
              </a:ext>
            </a:extLst>
          </p:cNvPr>
          <p:cNvSpPr>
            <a:spLocks noGrp="1"/>
          </p:cNvSpPr>
          <p:nvPr>
            <p:ph type="body" sz="quarter" idx="10"/>
          </p:nvPr>
        </p:nvSpPr>
        <p:spPr>
          <a:xfrm>
            <a:off x="3873500" y="1631950"/>
            <a:ext cx="4320000" cy="1803400"/>
          </a:xfrm>
        </p:spPr>
        <p:txBody>
          <a:bodyPr/>
          <a:lstStyle/>
          <a:p>
            <a:r>
              <a:rPr lang="en-US" altLang="zh-CN" dirty="0"/>
              <a:t>1.1.1 </a:t>
            </a:r>
            <a:r>
              <a:rPr lang="zh-CN" altLang="en-US" dirty="0"/>
              <a:t>计算机网络的定义</a:t>
            </a:r>
            <a:endParaRPr lang="en-US" altLang="zh-CN" dirty="0"/>
          </a:p>
          <a:p>
            <a:r>
              <a:rPr lang="en-US" altLang="zh-CN" dirty="0"/>
              <a:t>1.1.2 </a:t>
            </a:r>
            <a:r>
              <a:rPr lang="zh-CN" altLang="en-US" dirty="0"/>
              <a:t>计算机网络的特点</a:t>
            </a:r>
            <a:endParaRPr lang="en-US" altLang="zh-CN" dirty="0"/>
          </a:p>
          <a:p>
            <a:endParaRPr lang="zh-CN" altLang="en-US" dirty="0"/>
          </a:p>
        </p:txBody>
      </p:sp>
    </p:spTree>
    <p:extLst>
      <p:ext uri="{BB962C8B-B14F-4D97-AF65-F5344CB8AC3E}">
        <p14:creationId xmlns:p14="http://schemas.microsoft.com/office/powerpoint/2010/main" val="3032654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358714" y="1149302"/>
            <a:ext cx="6426572" cy="3488812"/>
          </a:xfrm>
          <a:prstGeom prst="rect">
            <a:avLst/>
          </a:prstGeom>
        </p:spPr>
      </p:pic>
      <p:sp>
        <p:nvSpPr>
          <p:cNvPr id="2" name="标题 1">
            <a:extLst>
              <a:ext uri="{FF2B5EF4-FFF2-40B4-BE49-F238E27FC236}">
                <a16:creationId xmlns:a16="http://schemas.microsoft.com/office/drawing/2014/main" id="{4AFD0E2C-223F-B279-C2ED-B41C3451B72A}"/>
              </a:ext>
            </a:extLst>
          </p:cNvPr>
          <p:cNvSpPr>
            <a:spLocks noGrp="1"/>
          </p:cNvSpPr>
          <p:nvPr>
            <p:ph type="title"/>
          </p:nvPr>
        </p:nvSpPr>
        <p:spPr>
          <a:xfrm>
            <a:off x="612000" y="229850"/>
            <a:ext cx="7920000" cy="341632"/>
          </a:xfrm>
        </p:spPr>
        <p:txBody>
          <a:bodyPr/>
          <a:lstStyle/>
          <a:p>
            <a:r>
              <a:rPr lang="zh-CN" altLang="en-US" dirty="0"/>
              <a:t>信息时代：以网络为核心</a:t>
            </a:r>
          </a:p>
        </p:txBody>
      </p:sp>
    </p:spTree>
    <p:extLst>
      <p:ext uri="{BB962C8B-B14F-4D97-AF65-F5344CB8AC3E}">
        <p14:creationId xmlns:p14="http://schemas.microsoft.com/office/powerpoint/2010/main" val="38467723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89A26-ECB0-0B28-69DC-A0AAEDCC0B0E}"/>
              </a:ext>
            </a:extLst>
          </p:cNvPr>
          <p:cNvSpPr>
            <a:spLocks noGrp="1"/>
          </p:cNvSpPr>
          <p:nvPr>
            <p:ph type="title"/>
          </p:nvPr>
        </p:nvSpPr>
        <p:spPr>
          <a:xfrm>
            <a:off x="612000" y="229850"/>
            <a:ext cx="7920000" cy="341632"/>
          </a:xfrm>
        </p:spPr>
        <p:txBody>
          <a:bodyPr/>
          <a:lstStyle/>
          <a:p>
            <a:r>
              <a:rPr lang="zh-CN" altLang="en-US" dirty="0"/>
              <a:t>三网融合</a:t>
            </a:r>
          </a:p>
        </p:txBody>
      </p:sp>
      <p:sp>
        <p:nvSpPr>
          <p:cNvPr id="3" name="文本框 2">
            <a:extLst>
              <a:ext uri="{FF2B5EF4-FFF2-40B4-BE49-F238E27FC236}">
                <a16:creationId xmlns:a16="http://schemas.microsoft.com/office/drawing/2014/main" id="{3E8D0ED2-8058-5239-5C88-9B814E0F344E}"/>
              </a:ext>
            </a:extLst>
          </p:cNvPr>
          <p:cNvSpPr txBox="1"/>
          <p:nvPr/>
        </p:nvSpPr>
        <p:spPr>
          <a:xfrm>
            <a:off x="1221600" y="3160998"/>
            <a:ext cx="1005403" cy="338554"/>
          </a:xfrm>
          <a:prstGeom prst="rect">
            <a:avLst/>
          </a:prstGeom>
          <a:noFill/>
        </p:spPr>
        <p:txBody>
          <a:bodyPr wrap="none" rtlCol="0">
            <a:spAutoFit/>
          </a:bodyPr>
          <a:lstStyle/>
          <a:p>
            <a:r>
              <a:rPr lang="zh-CN" altLang="en-US" sz="1600" dirty="0">
                <a:latin typeface="+mj-ea"/>
                <a:ea typeface="+mj-ea"/>
              </a:rPr>
              <a:t>电信网络</a:t>
            </a:r>
          </a:p>
        </p:txBody>
      </p:sp>
      <p:sp>
        <p:nvSpPr>
          <p:cNvPr id="5" name="文本框 4">
            <a:extLst>
              <a:ext uri="{FF2B5EF4-FFF2-40B4-BE49-F238E27FC236}">
                <a16:creationId xmlns:a16="http://schemas.microsoft.com/office/drawing/2014/main" id="{C3F7E2BA-F5F7-A907-2356-FA1E3A5EF40D}"/>
              </a:ext>
            </a:extLst>
          </p:cNvPr>
          <p:cNvSpPr txBox="1"/>
          <p:nvPr/>
        </p:nvSpPr>
        <p:spPr>
          <a:xfrm>
            <a:off x="1221600" y="1867032"/>
            <a:ext cx="1415772" cy="338554"/>
          </a:xfrm>
          <a:prstGeom prst="rect">
            <a:avLst/>
          </a:prstGeom>
          <a:noFill/>
        </p:spPr>
        <p:txBody>
          <a:bodyPr wrap="none" rtlCol="0">
            <a:spAutoFit/>
          </a:bodyPr>
          <a:lstStyle/>
          <a:p>
            <a:r>
              <a:rPr lang="zh-CN" altLang="en-US" sz="1600" dirty="0">
                <a:latin typeface="+mj-ea"/>
                <a:ea typeface="+mj-ea"/>
              </a:rPr>
              <a:t>有线电视网络</a:t>
            </a:r>
          </a:p>
        </p:txBody>
      </p:sp>
      <p:sp>
        <p:nvSpPr>
          <p:cNvPr id="6" name="文本框 5">
            <a:extLst>
              <a:ext uri="{FF2B5EF4-FFF2-40B4-BE49-F238E27FC236}">
                <a16:creationId xmlns:a16="http://schemas.microsoft.com/office/drawing/2014/main" id="{249BD636-A92C-19BC-73D5-FE1C53C3C006}"/>
              </a:ext>
            </a:extLst>
          </p:cNvPr>
          <p:cNvSpPr txBox="1"/>
          <p:nvPr/>
        </p:nvSpPr>
        <p:spPr>
          <a:xfrm>
            <a:off x="5021691" y="2703159"/>
            <a:ext cx="1210588" cy="338554"/>
          </a:xfrm>
          <a:prstGeom prst="rect">
            <a:avLst/>
          </a:prstGeom>
          <a:noFill/>
        </p:spPr>
        <p:txBody>
          <a:bodyPr wrap="none" rtlCol="0">
            <a:spAutoFit/>
          </a:bodyPr>
          <a:lstStyle/>
          <a:p>
            <a:r>
              <a:rPr lang="zh-CN" altLang="en-US" sz="1600" dirty="0">
                <a:latin typeface="+mj-ea"/>
                <a:ea typeface="+mj-ea"/>
              </a:rPr>
              <a:t>计算机网络</a:t>
            </a:r>
          </a:p>
        </p:txBody>
      </p:sp>
      <p:sp>
        <p:nvSpPr>
          <p:cNvPr id="13" name="文本框 12">
            <a:extLst>
              <a:ext uri="{FF2B5EF4-FFF2-40B4-BE49-F238E27FC236}">
                <a16:creationId xmlns:a16="http://schemas.microsoft.com/office/drawing/2014/main" id="{890F7E65-76D0-378B-A074-876A844DF059}"/>
              </a:ext>
            </a:extLst>
          </p:cNvPr>
          <p:cNvSpPr txBox="1"/>
          <p:nvPr/>
        </p:nvSpPr>
        <p:spPr>
          <a:xfrm>
            <a:off x="612000" y="2206377"/>
            <a:ext cx="2159566" cy="307777"/>
          </a:xfrm>
          <a:prstGeom prst="rect">
            <a:avLst/>
          </a:prstGeom>
          <a:noFill/>
        </p:spPr>
        <p:txBody>
          <a:bodyPr wrap="none" rtlCol="0">
            <a:spAutoFit/>
          </a:bodyPr>
          <a:lstStyle/>
          <a:p>
            <a:r>
              <a:rPr lang="zh-CN" altLang="en-US" sz="1400" dirty="0"/>
              <a:t>向用户传送各种电视节目</a:t>
            </a:r>
          </a:p>
        </p:txBody>
      </p:sp>
      <p:sp>
        <p:nvSpPr>
          <p:cNvPr id="14" name="文本框 13">
            <a:extLst>
              <a:ext uri="{FF2B5EF4-FFF2-40B4-BE49-F238E27FC236}">
                <a16:creationId xmlns:a16="http://schemas.microsoft.com/office/drawing/2014/main" id="{423E291A-455E-E67F-5442-825A77B1E10F}"/>
              </a:ext>
            </a:extLst>
          </p:cNvPr>
          <p:cNvSpPr txBox="1"/>
          <p:nvPr/>
        </p:nvSpPr>
        <p:spPr>
          <a:xfrm>
            <a:off x="612000" y="3501135"/>
            <a:ext cx="2518638" cy="307777"/>
          </a:xfrm>
          <a:prstGeom prst="rect">
            <a:avLst/>
          </a:prstGeom>
          <a:noFill/>
        </p:spPr>
        <p:txBody>
          <a:bodyPr wrap="none" rtlCol="0">
            <a:spAutoFit/>
          </a:bodyPr>
          <a:lstStyle/>
          <a:p>
            <a:r>
              <a:rPr lang="zh-CN" altLang="en-US" sz="1400" dirty="0"/>
              <a:t>提供电话、电报及传真等服务</a:t>
            </a:r>
          </a:p>
        </p:txBody>
      </p:sp>
      <p:sp>
        <p:nvSpPr>
          <p:cNvPr id="15" name="文本框 14">
            <a:extLst>
              <a:ext uri="{FF2B5EF4-FFF2-40B4-BE49-F238E27FC236}">
                <a16:creationId xmlns:a16="http://schemas.microsoft.com/office/drawing/2014/main" id="{607BF0CF-D512-CBDC-04ED-FED6642F03BE}"/>
              </a:ext>
            </a:extLst>
          </p:cNvPr>
          <p:cNvSpPr txBox="1"/>
          <p:nvPr/>
        </p:nvSpPr>
        <p:spPr>
          <a:xfrm>
            <a:off x="4412091" y="3030170"/>
            <a:ext cx="3057247" cy="307777"/>
          </a:xfrm>
          <a:prstGeom prst="rect">
            <a:avLst/>
          </a:prstGeom>
          <a:noFill/>
        </p:spPr>
        <p:txBody>
          <a:bodyPr wrap="none" rtlCol="0">
            <a:spAutoFit/>
          </a:bodyPr>
          <a:lstStyle/>
          <a:p>
            <a:r>
              <a:rPr lang="zh-CN" altLang="en-US" sz="1400" dirty="0"/>
              <a:t>使用户能在计算机之间传送数据文件</a:t>
            </a:r>
          </a:p>
        </p:txBody>
      </p:sp>
      <p:pic>
        <p:nvPicPr>
          <p:cNvPr id="23" name="图片 22">
            <a:extLst>
              <a:ext uri="{FF2B5EF4-FFF2-40B4-BE49-F238E27FC236}">
                <a16:creationId xmlns:a16="http://schemas.microsoft.com/office/drawing/2014/main" id="{4CA1D1E8-9C0E-1C83-A0D8-BC9CF1C9D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00" y="2889952"/>
            <a:ext cx="609600" cy="609600"/>
          </a:xfrm>
          <a:prstGeom prst="rect">
            <a:avLst/>
          </a:prstGeom>
        </p:spPr>
      </p:pic>
      <p:pic>
        <p:nvPicPr>
          <p:cNvPr id="25" name="图片 24">
            <a:extLst>
              <a:ext uri="{FF2B5EF4-FFF2-40B4-BE49-F238E27FC236}">
                <a16:creationId xmlns:a16="http://schemas.microsoft.com/office/drawing/2014/main" id="{A3E47C13-7E27-4EE9-0AF9-91AFC089D5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2091" y="2420570"/>
            <a:ext cx="609600" cy="609600"/>
          </a:xfrm>
          <a:prstGeom prst="rect">
            <a:avLst/>
          </a:prstGeom>
        </p:spPr>
      </p:pic>
      <p:pic>
        <p:nvPicPr>
          <p:cNvPr id="27" name="图片 26">
            <a:extLst>
              <a:ext uri="{FF2B5EF4-FFF2-40B4-BE49-F238E27FC236}">
                <a16:creationId xmlns:a16="http://schemas.microsoft.com/office/drawing/2014/main" id="{9D5A4CBC-B61D-9188-4D4E-0B97602F9E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000" y="1595194"/>
            <a:ext cx="609600" cy="609600"/>
          </a:xfrm>
          <a:prstGeom prst="rect">
            <a:avLst/>
          </a:prstGeom>
        </p:spPr>
      </p:pic>
    </p:spTree>
    <p:extLst>
      <p:ext uri="{BB962C8B-B14F-4D97-AF65-F5344CB8AC3E}">
        <p14:creationId xmlns:p14="http://schemas.microsoft.com/office/powerpoint/2010/main" val="22090724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3079C2A4-7631-4184-2476-5FA28E1D13B6}"/>
              </a:ext>
            </a:extLst>
          </p:cNvPr>
          <p:cNvSpPr>
            <a:spLocks noGrp="1"/>
          </p:cNvSpPr>
          <p:nvPr>
            <p:ph type="title"/>
          </p:nvPr>
        </p:nvSpPr>
        <p:spPr>
          <a:xfrm>
            <a:off x="612000" y="229850"/>
            <a:ext cx="7920000" cy="341632"/>
          </a:xfrm>
        </p:spPr>
        <p:txBody>
          <a:bodyPr/>
          <a:lstStyle/>
          <a:p>
            <a:r>
              <a:rPr lang="zh-CN" altLang="en-US" dirty="0"/>
              <a:t>概念 </a:t>
            </a:r>
            <a:r>
              <a:rPr lang="en-US" altLang="zh-CN" dirty="0"/>
              <a:t>Concepts</a:t>
            </a:r>
            <a:endParaRPr lang="fr-FR" altLang="zh-CN" dirty="0"/>
          </a:p>
        </p:txBody>
      </p:sp>
      <p:sp>
        <p:nvSpPr>
          <p:cNvPr id="11" name="内容占位符 10"/>
          <p:cNvSpPr>
            <a:spLocks noGrp="1"/>
          </p:cNvSpPr>
          <p:nvPr>
            <p:ph sz="quarter" idx="10"/>
          </p:nvPr>
        </p:nvSpPr>
        <p:spPr>
          <a:xfrm>
            <a:off x="612000" y="1152000"/>
            <a:ext cx="7920000" cy="3496659"/>
          </a:xfrm>
        </p:spPr>
        <p:txBody>
          <a:bodyPr>
            <a:normAutofit/>
          </a:bodyPr>
          <a:lstStyle/>
          <a:p>
            <a:r>
              <a:rPr lang="zh-CN" altLang="en-US" dirty="0"/>
              <a:t>网络 </a:t>
            </a:r>
            <a:r>
              <a:rPr lang="en-US" altLang="zh-CN" dirty="0"/>
              <a:t>Network</a:t>
            </a:r>
          </a:p>
          <a:p>
            <a:pPr lvl="1"/>
            <a:r>
              <a:rPr lang="zh-CN" altLang="en-US" dirty="0"/>
              <a:t>通常指计算机网络</a:t>
            </a:r>
            <a:endParaRPr lang="en-US" altLang="zh-CN" dirty="0"/>
          </a:p>
          <a:p>
            <a:pPr lvl="1"/>
            <a:r>
              <a:rPr lang="zh-CN" altLang="en-US" dirty="0"/>
              <a:t>由若干节点（如计算机、路由器、交换机等）和连接这些节点的链路组成的系统</a:t>
            </a:r>
            <a:endParaRPr lang="en-US" altLang="zh-CN" dirty="0"/>
          </a:p>
          <a:p>
            <a:r>
              <a:rPr lang="zh-CN" altLang="en-US" dirty="0"/>
              <a:t>互连网 </a:t>
            </a:r>
            <a:r>
              <a:rPr lang="en-US" altLang="zh-CN" dirty="0"/>
              <a:t>internet</a:t>
            </a:r>
          </a:p>
          <a:p>
            <a:pPr lvl="1"/>
            <a:r>
              <a:rPr lang="zh-CN" altLang="en-US" dirty="0"/>
              <a:t>泛指任何由多个网络通过路由器互联而成的计算机网络</a:t>
            </a:r>
          </a:p>
          <a:p>
            <a:r>
              <a:rPr lang="zh-CN" altLang="en-US" dirty="0"/>
              <a:t>因特网 ：</a:t>
            </a:r>
            <a:endParaRPr lang="en-US" altLang="zh-CN" dirty="0"/>
          </a:p>
          <a:p>
            <a:pPr lvl="1"/>
            <a:r>
              <a:rPr lang="zh-CN" altLang="en-US" dirty="0"/>
              <a:t>全球最大、最重要的计算机网络</a:t>
            </a:r>
            <a:endParaRPr lang="en-US" altLang="zh-CN" dirty="0"/>
          </a:p>
          <a:p>
            <a:pPr lvl="1"/>
            <a:r>
              <a:rPr lang="zh-CN" altLang="en-US" dirty="0"/>
              <a:t>全国科学技术名词审定委员会推荐的规范译名</a:t>
            </a:r>
            <a:endParaRPr lang="en-US" altLang="zh-CN" dirty="0"/>
          </a:p>
          <a:p>
            <a:r>
              <a:rPr lang="zh-CN" altLang="en-US" dirty="0"/>
              <a:t>互联网 </a:t>
            </a:r>
            <a:r>
              <a:rPr lang="en-US" altLang="zh-CN" dirty="0"/>
              <a:t>Internet</a:t>
            </a:r>
            <a:r>
              <a:rPr lang="zh-CN" altLang="en-US" dirty="0"/>
              <a:t>：</a:t>
            </a:r>
            <a:endParaRPr lang="en-US" altLang="zh-CN" dirty="0"/>
          </a:p>
          <a:p>
            <a:pPr lvl="1"/>
            <a:r>
              <a:rPr lang="zh-CN" altLang="en-US" dirty="0"/>
              <a:t>目前流行最广，事实上的标准译名</a:t>
            </a:r>
          </a:p>
          <a:p>
            <a:r>
              <a:rPr lang="zh-CN" altLang="en-US" dirty="0"/>
              <a:t>互连网 ≠ 互联网</a:t>
            </a:r>
          </a:p>
        </p:txBody>
      </p:sp>
    </p:spTree>
    <p:extLst>
      <p:ext uri="{BB962C8B-B14F-4D97-AF65-F5344CB8AC3E}">
        <p14:creationId xmlns:p14="http://schemas.microsoft.com/office/powerpoint/2010/main" val="32387476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278D4748-C87A-71A8-D079-50F124F4E3FB}"/>
              </a:ext>
            </a:extLst>
          </p:cNvPr>
          <p:cNvSpPr>
            <a:spLocks noGrp="1"/>
          </p:cNvSpPr>
          <p:nvPr>
            <p:ph type="title"/>
          </p:nvPr>
        </p:nvSpPr>
        <p:spPr>
          <a:xfrm>
            <a:off x="612000" y="229850"/>
            <a:ext cx="7920000" cy="341632"/>
          </a:xfrm>
        </p:spPr>
        <p:txBody>
          <a:bodyPr/>
          <a:lstStyle/>
          <a:p>
            <a:r>
              <a:rPr lang="zh-CN" altLang="en-US" dirty="0"/>
              <a:t>互联网 </a:t>
            </a:r>
            <a:r>
              <a:rPr lang="en-US" altLang="zh-CN" dirty="0"/>
              <a:t>Internet</a:t>
            </a:r>
            <a:endParaRPr lang="zh-CN" altLang="en-US" dirty="0"/>
          </a:p>
        </p:txBody>
      </p:sp>
      <p:sp>
        <p:nvSpPr>
          <p:cNvPr id="2" name="矩形: 圆角 1">
            <a:extLst>
              <a:ext uri="{FF2B5EF4-FFF2-40B4-BE49-F238E27FC236}">
                <a16:creationId xmlns:a16="http://schemas.microsoft.com/office/drawing/2014/main" id="{3E37B869-1816-3E28-9305-A5B5E7552E2F}"/>
              </a:ext>
            </a:extLst>
          </p:cNvPr>
          <p:cNvSpPr/>
          <p:nvPr/>
        </p:nvSpPr>
        <p:spPr>
          <a:xfrm>
            <a:off x="502920" y="1999395"/>
            <a:ext cx="1534886" cy="816428"/>
          </a:xfrm>
          <a:prstGeom prst="roundRect">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zh-CN" altLang="en-US"/>
              <a:t>应用和服务</a:t>
            </a:r>
            <a:endParaRPr lang="zh-CN" altLang="en-US" dirty="0"/>
          </a:p>
        </p:txBody>
      </p:sp>
      <p:sp>
        <p:nvSpPr>
          <p:cNvPr id="4" name="矩形: 圆角 3">
            <a:extLst>
              <a:ext uri="{FF2B5EF4-FFF2-40B4-BE49-F238E27FC236}">
                <a16:creationId xmlns:a16="http://schemas.microsoft.com/office/drawing/2014/main" id="{2D0B2BA3-553E-94E5-46B4-E7CA24C0AEE5}"/>
              </a:ext>
            </a:extLst>
          </p:cNvPr>
          <p:cNvSpPr/>
          <p:nvPr/>
        </p:nvSpPr>
        <p:spPr>
          <a:xfrm>
            <a:off x="502920" y="3069655"/>
            <a:ext cx="1534886" cy="816428"/>
          </a:xfrm>
          <a:prstGeom prst="roundRect">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zh-CN" altLang="en-US" dirty="0"/>
              <a:t>工作原理</a:t>
            </a:r>
          </a:p>
        </p:txBody>
      </p:sp>
      <p:sp>
        <p:nvSpPr>
          <p:cNvPr id="5" name="文本框 4">
            <a:extLst>
              <a:ext uri="{FF2B5EF4-FFF2-40B4-BE49-F238E27FC236}">
                <a16:creationId xmlns:a16="http://schemas.microsoft.com/office/drawing/2014/main" id="{3325FA8D-4986-E4C0-FBE0-7445B07D82B5}"/>
              </a:ext>
            </a:extLst>
          </p:cNvPr>
          <p:cNvSpPr txBox="1"/>
          <p:nvPr/>
        </p:nvSpPr>
        <p:spPr>
          <a:xfrm>
            <a:off x="2184694" y="1992111"/>
            <a:ext cx="4264629" cy="830997"/>
          </a:xfrm>
          <a:prstGeom prst="rect">
            <a:avLst/>
          </a:prstGeom>
          <a:noFill/>
        </p:spPr>
        <p:txBody>
          <a:bodyPr wrap="none" rtlCol="0">
            <a:spAutoFit/>
          </a:bodyPr>
          <a:lstStyle/>
          <a:p>
            <a:pPr marL="180000" lvl="0" indent="-180000">
              <a:buClr>
                <a:srgbClr val="D4237A"/>
              </a:buClr>
              <a:buFont typeface="Wingdings" panose="05000000000000000000" pitchFamily="2" charset="2"/>
              <a:buChar char=""/>
            </a:pPr>
            <a:r>
              <a:rPr lang="zh-CN" altLang="en-US" sz="1600" dirty="0"/>
              <a:t>游戏，视频，社交，电子邮件，购物，网店</a:t>
            </a:r>
          </a:p>
          <a:p>
            <a:pPr marL="180000" lvl="0" indent="-180000">
              <a:buClr>
                <a:srgbClr val="D4237A"/>
              </a:buClr>
              <a:buFont typeface="Wingdings" panose="05000000000000000000" pitchFamily="2" charset="2"/>
              <a:buChar char=""/>
            </a:pPr>
            <a:r>
              <a:rPr lang="zh-CN" altLang="en-US" sz="1600" dirty="0"/>
              <a:t>网银，无现金支付，数字钱包，数字货币</a:t>
            </a:r>
            <a:endParaRPr lang="en-US" altLang="zh-CN" sz="1600" dirty="0"/>
          </a:p>
          <a:p>
            <a:pPr marL="180000" lvl="0" indent="-180000">
              <a:buClr>
                <a:srgbClr val="D4237A"/>
              </a:buClr>
              <a:buFont typeface="Wingdings" panose="05000000000000000000" pitchFamily="2" charset="2"/>
              <a:buChar char=""/>
            </a:pPr>
            <a:r>
              <a:rPr lang="en-US" altLang="zh-CN" sz="1600" dirty="0"/>
              <a:t>…</a:t>
            </a:r>
            <a:endParaRPr lang="zh-CN" altLang="en-US" sz="1600" dirty="0"/>
          </a:p>
        </p:txBody>
      </p:sp>
      <p:sp>
        <p:nvSpPr>
          <p:cNvPr id="6" name="文本框 5">
            <a:extLst>
              <a:ext uri="{FF2B5EF4-FFF2-40B4-BE49-F238E27FC236}">
                <a16:creationId xmlns:a16="http://schemas.microsoft.com/office/drawing/2014/main" id="{CB271D9C-D3BC-92B9-A276-30CBF2306F2D}"/>
              </a:ext>
            </a:extLst>
          </p:cNvPr>
          <p:cNvSpPr txBox="1"/>
          <p:nvPr/>
        </p:nvSpPr>
        <p:spPr>
          <a:xfrm>
            <a:off x="2184694" y="3062371"/>
            <a:ext cx="2547813" cy="830997"/>
          </a:xfrm>
          <a:prstGeom prst="rect">
            <a:avLst/>
          </a:prstGeom>
          <a:noFill/>
        </p:spPr>
        <p:txBody>
          <a:bodyPr wrap="none" rtlCol="0">
            <a:spAutoFit/>
          </a:bodyPr>
          <a:lstStyle/>
          <a:p>
            <a:pPr marL="180000" lvl="0" indent="-180000">
              <a:buClr>
                <a:srgbClr val="D4237A"/>
              </a:buClr>
              <a:buFont typeface="Wingdings" panose="05000000000000000000" pitchFamily="2" charset="2"/>
              <a:buChar char=""/>
            </a:pPr>
            <a:r>
              <a:rPr lang="zh-CN" altLang="en-US" sz="1600" dirty="0"/>
              <a:t>互连结构，交换技术，</a:t>
            </a:r>
          </a:p>
          <a:p>
            <a:pPr marL="180000" lvl="0" indent="-180000">
              <a:buClr>
                <a:srgbClr val="D4237A"/>
              </a:buClr>
              <a:buFont typeface="Wingdings" panose="05000000000000000000" pitchFamily="2" charset="2"/>
              <a:buChar char=""/>
            </a:pPr>
            <a:r>
              <a:rPr lang="en-US" altLang="zh-CN" sz="1600" dirty="0"/>
              <a:t>TCP/IP </a:t>
            </a:r>
            <a:r>
              <a:rPr lang="zh-CN" altLang="en-US" sz="1600" dirty="0"/>
              <a:t>体系结构与协议</a:t>
            </a:r>
            <a:endParaRPr lang="en-US" altLang="zh-CN" sz="1600" dirty="0"/>
          </a:p>
          <a:p>
            <a:pPr marL="180000" lvl="0" indent="-180000">
              <a:buClr>
                <a:srgbClr val="D4237A"/>
              </a:buClr>
              <a:buFont typeface="Wingdings" panose="05000000000000000000" pitchFamily="2" charset="2"/>
              <a:buChar char=""/>
            </a:pPr>
            <a:r>
              <a:rPr lang="en-US" altLang="zh-CN" sz="1600" dirty="0"/>
              <a:t>…</a:t>
            </a:r>
          </a:p>
        </p:txBody>
      </p:sp>
    </p:spTree>
    <p:extLst>
      <p:ext uri="{BB962C8B-B14F-4D97-AF65-F5344CB8AC3E}">
        <p14:creationId xmlns:p14="http://schemas.microsoft.com/office/powerpoint/2010/main" val="25430760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E21791-296C-EBF9-AD63-EE60FD86AA72}"/>
              </a:ext>
            </a:extLst>
          </p:cNvPr>
          <p:cNvSpPr>
            <a:spLocks noGrp="1"/>
          </p:cNvSpPr>
          <p:nvPr>
            <p:ph type="title"/>
          </p:nvPr>
        </p:nvSpPr>
        <p:spPr>
          <a:xfrm>
            <a:off x="612000" y="229850"/>
            <a:ext cx="7920000" cy="341632"/>
          </a:xfrm>
        </p:spPr>
        <p:txBody>
          <a:bodyPr/>
          <a:lstStyle/>
          <a:p>
            <a:r>
              <a:rPr lang="zh-CN" altLang="en-US" dirty="0"/>
              <a:t>互联网 </a:t>
            </a:r>
            <a:r>
              <a:rPr lang="en-US" altLang="zh-CN" dirty="0"/>
              <a:t>Internet</a:t>
            </a:r>
            <a:endParaRPr lang="zh-CN" altLang="en-US" dirty="0"/>
          </a:p>
        </p:txBody>
      </p:sp>
      <p:sp>
        <p:nvSpPr>
          <p:cNvPr id="7" name="内容占位符 6">
            <a:extLst>
              <a:ext uri="{FF2B5EF4-FFF2-40B4-BE49-F238E27FC236}">
                <a16:creationId xmlns:a16="http://schemas.microsoft.com/office/drawing/2014/main" id="{ABAF985D-B81E-56BA-3791-47EDB9E1C940}"/>
              </a:ext>
            </a:extLst>
          </p:cNvPr>
          <p:cNvSpPr>
            <a:spLocks noGrp="1"/>
          </p:cNvSpPr>
          <p:nvPr>
            <p:ph sz="quarter" idx="10"/>
          </p:nvPr>
        </p:nvSpPr>
        <p:spPr>
          <a:xfrm>
            <a:off x="612000" y="1152000"/>
            <a:ext cx="7920000" cy="3496659"/>
          </a:xfrm>
        </p:spPr>
        <p:txBody>
          <a:bodyPr/>
          <a:lstStyle/>
          <a:p>
            <a:r>
              <a:rPr lang="zh-CN" altLang="en-US" dirty="0"/>
              <a:t>重要基本特点</a:t>
            </a:r>
            <a:endParaRPr lang="en-US" altLang="zh-CN" dirty="0"/>
          </a:p>
          <a:p>
            <a:pPr lvl="1"/>
            <a:r>
              <a:rPr lang="zh-CN" altLang="en-US" dirty="0">
                <a:solidFill>
                  <a:srgbClr val="D4237A"/>
                </a:solidFill>
              </a:rPr>
              <a:t>连通性 </a:t>
            </a:r>
            <a:r>
              <a:rPr lang="en-US" altLang="en-US" dirty="0">
                <a:solidFill>
                  <a:srgbClr val="D4237A"/>
                </a:solidFill>
              </a:rPr>
              <a:t>connectivity</a:t>
            </a:r>
            <a:endParaRPr lang="en-US" altLang="zh-CN" dirty="0">
              <a:solidFill>
                <a:srgbClr val="D4237A"/>
              </a:solidFill>
            </a:endParaRPr>
          </a:p>
          <a:p>
            <a:pPr lvl="2"/>
            <a:r>
              <a:rPr lang="zh-CN" altLang="en-US" dirty="0"/>
              <a:t>使上网用户之间可以非常便捷、非常经济地交换各种信息</a:t>
            </a:r>
          </a:p>
          <a:p>
            <a:pPr lvl="2"/>
            <a:r>
              <a:rPr lang="zh-CN" altLang="en-US" dirty="0"/>
              <a:t>好像这些用户终端都彼此直接连通一样</a:t>
            </a:r>
            <a:endParaRPr lang="en-US" altLang="zh-CN" dirty="0"/>
          </a:p>
          <a:p>
            <a:pPr lvl="1"/>
            <a:r>
              <a:rPr lang="zh-CN" altLang="en-US" dirty="0">
                <a:solidFill>
                  <a:srgbClr val="D4237A"/>
                </a:solidFill>
              </a:rPr>
              <a:t>资源共享 </a:t>
            </a:r>
            <a:r>
              <a:rPr lang="en-US" altLang="en-US" dirty="0">
                <a:solidFill>
                  <a:srgbClr val="D4237A"/>
                </a:solidFill>
              </a:rPr>
              <a:t>Sharing</a:t>
            </a:r>
            <a:endParaRPr lang="zh-CN" altLang="en-US" dirty="0">
              <a:solidFill>
                <a:srgbClr val="D4237A"/>
              </a:solidFill>
            </a:endParaRPr>
          </a:p>
          <a:p>
            <a:pPr lvl="2"/>
            <a:r>
              <a:rPr lang="zh-CN" altLang="en-US" dirty="0"/>
              <a:t>实现信息共享、软件共享、硬件共享</a:t>
            </a:r>
          </a:p>
          <a:p>
            <a:pPr lvl="2"/>
            <a:r>
              <a:rPr lang="zh-CN" altLang="en-US" dirty="0"/>
              <a:t>由于网络的存在，这些资源好像就在用户身边一样地方便使用</a:t>
            </a:r>
          </a:p>
          <a:p>
            <a:r>
              <a:rPr lang="zh-CN" altLang="en-US" dirty="0"/>
              <a:t>是 </a:t>
            </a:r>
            <a:r>
              <a:rPr lang="en-US" altLang="zh-CN" dirty="0"/>
              <a:t>Internet </a:t>
            </a:r>
            <a:r>
              <a:rPr lang="zh-CN" altLang="en-US" dirty="0"/>
              <a:t>提供许多服务的基础</a:t>
            </a:r>
            <a:endParaRPr lang="en-US" altLang="zh-CN" dirty="0"/>
          </a:p>
          <a:p>
            <a:r>
              <a:rPr lang="zh-CN" altLang="en-US" dirty="0"/>
              <a:t>已经融入人们的生活、工作、学习和交往</a:t>
            </a:r>
            <a:endParaRPr lang="en-US" altLang="zh-CN" dirty="0"/>
          </a:p>
          <a:p>
            <a:r>
              <a:rPr lang="zh-CN" altLang="en-US" dirty="0"/>
              <a:t>已经成为社会最为重要的基础设施之一</a:t>
            </a:r>
          </a:p>
        </p:txBody>
      </p:sp>
      <p:grpSp>
        <p:nvGrpSpPr>
          <p:cNvPr id="29" name="组合 28">
            <a:extLst>
              <a:ext uri="{FF2B5EF4-FFF2-40B4-BE49-F238E27FC236}">
                <a16:creationId xmlns:a16="http://schemas.microsoft.com/office/drawing/2014/main" id="{FB04CF3D-0FF1-8C06-3D13-FE94703E225E}"/>
              </a:ext>
            </a:extLst>
          </p:cNvPr>
          <p:cNvGrpSpPr/>
          <p:nvPr/>
        </p:nvGrpSpPr>
        <p:grpSpPr>
          <a:xfrm>
            <a:off x="5664865" y="823071"/>
            <a:ext cx="1472624" cy="1472624"/>
            <a:chOff x="5416094" y="970989"/>
            <a:chExt cx="1472624" cy="1472624"/>
          </a:xfrm>
        </p:grpSpPr>
        <p:grpSp>
          <p:nvGrpSpPr>
            <p:cNvPr id="19" name="组合 18">
              <a:extLst>
                <a:ext uri="{FF2B5EF4-FFF2-40B4-BE49-F238E27FC236}">
                  <a16:creationId xmlns:a16="http://schemas.microsoft.com/office/drawing/2014/main" id="{A3325BA3-8F8E-2EC8-6EE2-D4F9F17235AA}"/>
                </a:ext>
              </a:extLst>
            </p:cNvPr>
            <p:cNvGrpSpPr/>
            <p:nvPr/>
          </p:nvGrpSpPr>
          <p:grpSpPr>
            <a:xfrm>
              <a:off x="5416094" y="970989"/>
              <a:ext cx="1472624" cy="1472624"/>
              <a:chOff x="1674457" y="2181224"/>
              <a:chExt cx="3240000" cy="3240000"/>
            </a:xfrm>
          </p:grpSpPr>
          <p:sp>
            <p:nvSpPr>
              <p:cNvPr id="20" name="任意多边形: 形状 19">
                <a:extLst>
                  <a:ext uri="{FF2B5EF4-FFF2-40B4-BE49-F238E27FC236}">
                    <a16:creationId xmlns:a16="http://schemas.microsoft.com/office/drawing/2014/main" id="{A5270FAD-D64F-D257-4384-DD968908CF25}"/>
                  </a:ext>
                </a:extLst>
              </p:cNvPr>
              <p:cNvSpPr/>
              <p:nvPr/>
            </p:nvSpPr>
            <p:spPr>
              <a:xfrm>
                <a:off x="1674457" y="2181224"/>
                <a:ext cx="3240000" cy="1620000"/>
              </a:xfrm>
              <a:custGeom>
                <a:avLst/>
                <a:gdLst>
                  <a:gd name="connsiteX0" fmla="*/ 1620000 w 3240000"/>
                  <a:gd name="connsiteY0" fmla="*/ 0 h 1620000"/>
                  <a:gd name="connsiteX1" fmla="*/ 3240000 w 3240000"/>
                  <a:gd name="connsiteY1" fmla="*/ 1620000 h 1620000"/>
                  <a:gd name="connsiteX2" fmla="*/ 0 w 3240000"/>
                  <a:gd name="connsiteY2" fmla="*/ 1620000 h 1620000"/>
                  <a:gd name="connsiteX3" fmla="*/ 1620000 w 3240000"/>
                  <a:gd name="connsiteY3" fmla="*/ 0 h 1620000"/>
                </a:gdLst>
                <a:ahLst/>
                <a:cxnLst>
                  <a:cxn ang="0">
                    <a:pos x="connsiteX0" y="connsiteY0"/>
                  </a:cxn>
                  <a:cxn ang="0">
                    <a:pos x="connsiteX1" y="connsiteY1"/>
                  </a:cxn>
                  <a:cxn ang="0">
                    <a:pos x="connsiteX2" y="connsiteY2"/>
                  </a:cxn>
                  <a:cxn ang="0">
                    <a:pos x="connsiteX3" y="connsiteY3"/>
                  </a:cxn>
                </a:cxnLst>
                <a:rect l="l" t="t" r="r" b="b"/>
                <a:pathLst>
                  <a:path w="3240000" h="1620000">
                    <a:moveTo>
                      <a:pt x="1620000" y="0"/>
                    </a:moveTo>
                    <a:cubicBezTo>
                      <a:pt x="2514701" y="0"/>
                      <a:pt x="3240000" y="725299"/>
                      <a:pt x="3240000" y="1620000"/>
                    </a:cubicBezTo>
                    <a:lnTo>
                      <a:pt x="0" y="1620000"/>
                    </a:lnTo>
                    <a:cubicBezTo>
                      <a:pt x="0" y="725299"/>
                      <a:pt x="725299" y="0"/>
                      <a:pt x="1620000" y="0"/>
                    </a:cubicBezTo>
                    <a:close/>
                  </a:path>
                </a:pathLst>
              </a:custGeom>
              <a:solidFill>
                <a:srgbClr val="D4237A"/>
              </a:solidFill>
              <a:ln/>
            </p:spPr>
            <p:style>
              <a:lnRef idx="0">
                <a:schemeClr val="accent2"/>
              </a:lnRef>
              <a:fillRef idx="3">
                <a:schemeClr val="accent2"/>
              </a:fillRef>
              <a:effectRef idx="3">
                <a:schemeClr val="accent2"/>
              </a:effectRef>
              <a:fontRef idx="minor">
                <a:schemeClr val="lt1"/>
              </a:fontRef>
            </p:style>
            <p:txBody>
              <a:bodyPr wrap="square" rtlCol="0" anchor="ctr">
                <a:noAutofit/>
              </a:bodyPr>
              <a:lstStyle/>
              <a:p>
                <a:pPr algn="ctr"/>
                <a:endParaRPr lang="zh-CN" altLang="en-US" sz="1100"/>
              </a:p>
            </p:txBody>
          </p:sp>
          <p:sp>
            <p:nvSpPr>
              <p:cNvPr id="21" name="任意多边形: 形状 20">
                <a:extLst>
                  <a:ext uri="{FF2B5EF4-FFF2-40B4-BE49-F238E27FC236}">
                    <a16:creationId xmlns:a16="http://schemas.microsoft.com/office/drawing/2014/main" id="{79624847-FE86-A27E-ABE2-9B780813BF0D}"/>
                  </a:ext>
                </a:extLst>
              </p:cNvPr>
              <p:cNvSpPr/>
              <p:nvPr/>
            </p:nvSpPr>
            <p:spPr>
              <a:xfrm flipV="1">
                <a:off x="1674457" y="3801224"/>
                <a:ext cx="3240000" cy="1620000"/>
              </a:xfrm>
              <a:custGeom>
                <a:avLst/>
                <a:gdLst>
                  <a:gd name="connsiteX0" fmla="*/ 1620000 w 3240000"/>
                  <a:gd name="connsiteY0" fmla="*/ 0 h 1620000"/>
                  <a:gd name="connsiteX1" fmla="*/ 3240000 w 3240000"/>
                  <a:gd name="connsiteY1" fmla="*/ 1620000 h 1620000"/>
                  <a:gd name="connsiteX2" fmla="*/ 0 w 3240000"/>
                  <a:gd name="connsiteY2" fmla="*/ 1620000 h 1620000"/>
                  <a:gd name="connsiteX3" fmla="*/ 1620000 w 3240000"/>
                  <a:gd name="connsiteY3" fmla="*/ 0 h 1620000"/>
                </a:gdLst>
                <a:ahLst/>
                <a:cxnLst>
                  <a:cxn ang="0">
                    <a:pos x="connsiteX0" y="connsiteY0"/>
                  </a:cxn>
                  <a:cxn ang="0">
                    <a:pos x="connsiteX1" y="connsiteY1"/>
                  </a:cxn>
                  <a:cxn ang="0">
                    <a:pos x="connsiteX2" y="connsiteY2"/>
                  </a:cxn>
                  <a:cxn ang="0">
                    <a:pos x="connsiteX3" y="connsiteY3"/>
                  </a:cxn>
                </a:cxnLst>
                <a:rect l="l" t="t" r="r" b="b"/>
                <a:pathLst>
                  <a:path w="3240000" h="1620000">
                    <a:moveTo>
                      <a:pt x="1620000" y="0"/>
                    </a:moveTo>
                    <a:cubicBezTo>
                      <a:pt x="2514701" y="0"/>
                      <a:pt x="3240000" y="725299"/>
                      <a:pt x="3240000" y="1620000"/>
                    </a:cubicBezTo>
                    <a:lnTo>
                      <a:pt x="0" y="1620000"/>
                    </a:lnTo>
                    <a:cubicBezTo>
                      <a:pt x="0" y="725299"/>
                      <a:pt x="725299" y="0"/>
                      <a:pt x="1620000" y="0"/>
                    </a:cubicBezTo>
                    <a:close/>
                  </a:path>
                </a:pathLst>
              </a:custGeom>
              <a:noFill/>
              <a:ln>
                <a:solidFill>
                  <a:srgbClr val="D4237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a:p>
            </p:txBody>
          </p:sp>
        </p:grpSp>
        <p:pic>
          <p:nvPicPr>
            <p:cNvPr id="22" name="图形 21" descr="云计算">
              <a:extLst>
                <a:ext uri="{FF2B5EF4-FFF2-40B4-BE49-F238E27FC236}">
                  <a16:creationId xmlns:a16="http://schemas.microsoft.com/office/drawing/2014/main" id="{D29654F1-403B-72FD-F592-30D09CEF64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44603" y="1221771"/>
              <a:ext cx="415607" cy="415607"/>
            </a:xfrm>
            <a:prstGeom prst="rect">
              <a:avLst/>
            </a:prstGeom>
            <a:effectLst>
              <a:outerShdw blurRad="50800" dist="38100" dir="2700000" algn="tl" rotWithShape="0">
                <a:prstClr val="black">
                  <a:alpha val="40000"/>
                </a:prstClr>
              </a:outerShdw>
            </a:effectLst>
          </p:spPr>
        </p:pic>
        <p:sp>
          <p:nvSpPr>
            <p:cNvPr id="24" name="文本框 23">
              <a:extLst>
                <a:ext uri="{FF2B5EF4-FFF2-40B4-BE49-F238E27FC236}">
                  <a16:creationId xmlns:a16="http://schemas.microsoft.com/office/drawing/2014/main" id="{4A293751-3AE4-D960-5FCE-B2A774FF14E9}"/>
                </a:ext>
              </a:extLst>
            </p:cNvPr>
            <p:cNvSpPr txBox="1"/>
            <p:nvPr/>
          </p:nvSpPr>
          <p:spPr>
            <a:xfrm>
              <a:off x="5880537" y="1783242"/>
              <a:ext cx="543739" cy="307777"/>
            </a:xfrm>
            <a:prstGeom prst="rect">
              <a:avLst/>
            </a:prstGeom>
            <a:noFill/>
          </p:spPr>
          <p:txBody>
            <a:bodyPr wrap="none" rtlCol="0">
              <a:spAutoFit/>
            </a:bodyPr>
            <a:lstStyle/>
            <a:p>
              <a:pPr algn="ctr"/>
              <a:r>
                <a:rPr lang="zh-CN" altLang="en-US" sz="1400" dirty="0"/>
                <a:t>连通</a:t>
              </a:r>
            </a:p>
          </p:txBody>
        </p:sp>
        <p:sp>
          <p:nvSpPr>
            <p:cNvPr id="25" name="文本框 24">
              <a:extLst>
                <a:ext uri="{FF2B5EF4-FFF2-40B4-BE49-F238E27FC236}">
                  <a16:creationId xmlns:a16="http://schemas.microsoft.com/office/drawing/2014/main" id="{1D8FDD19-5312-EEDE-32BE-4A17CA6744E8}"/>
                </a:ext>
              </a:extLst>
            </p:cNvPr>
            <p:cNvSpPr txBox="1"/>
            <p:nvPr/>
          </p:nvSpPr>
          <p:spPr>
            <a:xfrm>
              <a:off x="5575163" y="1989017"/>
              <a:ext cx="1154483" cy="276999"/>
            </a:xfrm>
            <a:prstGeom prst="rect">
              <a:avLst/>
            </a:prstGeom>
            <a:noFill/>
          </p:spPr>
          <p:txBody>
            <a:bodyPr wrap="none" rtlCol="0">
              <a:spAutoFit/>
            </a:bodyPr>
            <a:lstStyle/>
            <a:p>
              <a:pPr algn="ctr"/>
              <a:r>
                <a:rPr lang="en-US" altLang="zh-CN" sz="1200" dirty="0"/>
                <a:t>Connectivity</a:t>
              </a:r>
              <a:endParaRPr lang="zh-CN" altLang="en-US" sz="1200" dirty="0"/>
            </a:p>
          </p:txBody>
        </p:sp>
      </p:grpSp>
      <p:grpSp>
        <p:nvGrpSpPr>
          <p:cNvPr id="30" name="组合 29">
            <a:extLst>
              <a:ext uri="{FF2B5EF4-FFF2-40B4-BE49-F238E27FC236}">
                <a16:creationId xmlns:a16="http://schemas.microsoft.com/office/drawing/2014/main" id="{49963E4F-8712-5C57-3EB3-0A35CE9ABBB5}"/>
              </a:ext>
            </a:extLst>
          </p:cNvPr>
          <p:cNvGrpSpPr/>
          <p:nvPr/>
        </p:nvGrpSpPr>
        <p:grpSpPr>
          <a:xfrm>
            <a:off x="7059376" y="1707301"/>
            <a:ext cx="1472624" cy="1472624"/>
            <a:chOff x="7543470" y="970989"/>
            <a:chExt cx="1472624" cy="1472624"/>
          </a:xfrm>
        </p:grpSpPr>
        <p:grpSp>
          <p:nvGrpSpPr>
            <p:cNvPr id="16" name="组合 15">
              <a:extLst>
                <a:ext uri="{FF2B5EF4-FFF2-40B4-BE49-F238E27FC236}">
                  <a16:creationId xmlns:a16="http://schemas.microsoft.com/office/drawing/2014/main" id="{52EE5C20-68A7-8824-3ED2-C5D10BED9A1E}"/>
                </a:ext>
              </a:extLst>
            </p:cNvPr>
            <p:cNvGrpSpPr/>
            <p:nvPr/>
          </p:nvGrpSpPr>
          <p:grpSpPr>
            <a:xfrm>
              <a:off x="7543470" y="970989"/>
              <a:ext cx="1472624" cy="1472624"/>
              <a:chOff x="1674457" y="2181224"/>
              <a:chExt cx="3240000" cy="3240000"/>
            </a:xfrm>
          </p:grpSpPr>
          <p:sp>
            <p:nvSpPr>
              <p:cNvPr id="17" name="任意多边形: 形状 16">
                <a:extLst>
                  <a:ext uri="{FF2B5EF4-FFF2-40B4-BE49-F238E27FC236}">
                    <a16:creationId xmlns:a16="http://schemas.microsoft.com/office/drawing/2014/main" id="{61F1EB37-437B-7B15-124C-1B8C42371F3F}"/>
                  </a:ext>
                </a:extLst>
              </p:cNvPr>
              <p:cNvSpPr/>
              <p:nvPr/>
            </p:nvSpPr>
            <p:spPr>
              <a:xfrm>
                <a:off x="1674457" y="2181224"/>
                <a:ext cx="3240000" cy="1620000"/>
              </a:xfrm>
              <a:custGeom>
                <a:avLst/>
                <a:gdLst>
                  <a:gd name="connsiteX0" fmla="*/ 1620000 w 3240000"/>
                  <a:gd name="connsiteY0" fmla="*/ 0 h 1620000"/>
                  <a:gd name="connsiteX1" fmla="*/ 3240000 w 3240000"/>
                  <a:gd name="connsiteY1" fmla="*/ 1620000 h 1620000"/>
                  <a:gd name="connsiteX2" fmla="*/ 0 w 3240000"/>
                  <a:gd name="connsiteY2" fmla="*/ 1620000 h 1620000"/>
                  <a:gd name="connsiteX3" fmla="*/ 1620000 w 3240000"/>
                  <a:gd name="connsiteY3" fmla="*/ 0 h 1620000"/>
                </a:gdLst>
                <a:ahLst/>
                <a:cxnLst>
                  <a:cxn ang="0">
                    <a:pos x="connsiteX0" y="connsiteY0"/>
                  </a:cxn>
                  <a:cxn ang="0">
                    <a:pos x="connsiteX1" y="connsiteY1"/>
                  </a:cxn>
                  <a:cxn ang="0">
                    <a:pos x="connsiteX2" y="connsiteY2"/>
                  </a:cxn>
                  <a:cxn ang="0">
                    <a:pos x="connsiteX3" y="connsiteY3"/>
                  </a:cxn>
                </a:cxnLst>
                <a:rect l="l" t="t" r="r" b="b"/>
                <a:pathLst>
                  <a:path w="3240000" h="1620000">
                    <a:moveTo>
                      <a:pt x="1620000" y="0"/>
                    </a:moveTo>
                    <a:cubicBezTo>
                      <a:pt x="2514701" y="0"/>
                      <a:pt x="3240000" y="725299"/>
                      <a:pt x="3240000" y="1620000"/>
                    </a:cubicBezTo>
                    <a:lnTo>
                      <a:pt x="0" y="1620000"/>
                    </a:lnTo>
                    <a:cubicBezTo>
                      <a:pt x="0" y="725299"/>
                      <a:pt x="725299" y="0"/>
                      <a:pt x="1620000" y="0"/>
                    </a:cubicBezTo>
                    <a:close/>
                  </a:path>
                </a:pathLst>
              </a:custGeom>
              <a:solidFill>
                <a:srgbClr val="D4237A"/>
              </a:solidFill>
              <a:ln/>
            </p:spPr>
            <p:style>
              <a:lnRef idx="0">
                <a:schemeClr val="accent2"/>
              </a:lnRef>
              <a:fillRef idx="3">
                <a:schemeClr val="accent2"/>
              </a:fillRef>
              <a:effectRef idx="3">
                <a:schemeClr val="accent2"/>
              </a:effectRef>
              <a:fontRef idx="minor">
                <a:schemeClr val="lt1"/>
              </a:fontRef>
            </p:style>
            <p:txBody>
              <a:bodyPr wrap="square" rtlCol="0" anchor="ctr">
                <a:noAutofit/>
              </a:bodyPr>
              <a:lstStyle/>
              <a:p>
                <a:pPr algn="ctr"/>
                <a:endParaRPr lang="zh-CN" altLang="en-US" sz="1100"/>
              </a:p>
            </p:txBody>
          </p:sp>
          <p:sp>
            <p:nvSpPr>
              <p:cNvPr id="18" name="任意多边形: 形状 17">
                <a:extLst>
                  <a:ext uri="{FF2B5EF4-FFF2-40B4-BE49-F238E27FC236}">
                    <a16:creationId xmlns:a16="http://schemas.microsoft.com/office/drawing/2014/main" id="{851CB840-BBCE-3F52-D7EE-25C08FB2970A}"/>
                  </a:ext>
                </a:extLst>
              </p:cNvPr>
              <p:cNvSpPr/>
              <p:nvPr/>
            </p:nvSpPr>
            <p:spPr>
              <a:xfrm flipV="1">
                <a:off x="1674457" y="3801224"/>
                <a:ext cx="3240000" cy="1620000"/>
              </a:xfrm>
              <a:custGeom>
                <a:avLst/>
                <a:gdLst>
                  <a:gd name="connsiteX0" fmla="*/ 1620000 w 3240000"/>
                  <a:gd name="connsiteY0" fmla="*/ 0 h 1620000"/>
                  <a:gd name="connsiteX1" fmla="*/ 3240000 w 3240000"/>
                  <a:gd name="connsiteY1" fmla="*/ 1620000 h 1620000"/>
                  <a:gd name="connsiteX2" fmla="*/ 0 w 3240000"/>
                  <a:gd name="connsiteY2" fmla="*/ 1620000 h 1620000"/>
                  <a:gd name="connsiteX3" fmla="*/ 1620000 w 3240000"/>
                  <a:gd name="connsiteY3" fmla="*/ 0 h 1620000"/>
                </a:gdLst>
                <a:ahLst/>
                <a:cxnLst>
                  <a:cxn ang="0">
                    <a:pos x="connsiteX0" y="connsiteY0"/>
                  </a:cxn>
                  <a:cxn ang="0">
                    <a:pos x="connsiteX1" y="connsiteY1"/>
                  </a:cxn>
                  <a:cxn ang="0">
                    <a:pos x="connsiteX2" y="connsiteY2"/>
                  </a:cxn>
                  <a:cxn ang="0">
                    <a:pos x="connsiteX3" y="connsiteY3"/>
                  </a:cxn>
                </a:cxnLst>
                <a:rect l="l" t="t" r="r" b="b"/>
                <a:pathLst>
                  <a:path w="3240000" h="1620000">
                    <a:moveTo>
                      <a:pt x="1620000" y="0"/>
                    </a:moveTo>
                    <a:cubicBezTo>
                      <a:pt x="2514701" y="0"/>
                      <a:pt x="3240000" y="725299"/>
                      <a:pt x="3240000" y="1620000"/>
                    </a:cubicBezTo>
                    <a:lnTo>
                      <a:pt x="0" y="1620000"/>
                    </a:lnTo>
                    <a:cubicBezTo>
                      <a:pt x="0" y="725299"/>
                      <a:pt x="725299" y="0"/>
                      <a:pt x="1620000" y="0"/>
                    </a:cubicBezTo>
                    <a:close/>
                  </a:path>
                </a:pathLst>
              </a:custGeom>
              <a:noFill/>
              <a:ln>
                <a:solidFill>
                  <a:srgbClr val="D4237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a:p>
            </p:txBody>
          </p:sp>
        </p:grpSp>
        <p:pic>
          <p:nvPicPr>
            <p:cNvPr id="23" name="图形 22" descr="同步云">
              <a:extLst>
                <a:ext uri="{FF2B5EF4-FFF2-40B4-BE49-F238E27FC236}">
                  <a16:creationId xmlns:a16="http://schemas.microsoft.com/office/drawing/2014/main" id="{5DE16726-B2D5-A942-9322-7F72B7B2A6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71978" y="1221771"/>
              <a:ext cx="415607" cy="415607"/>
            </a:xfrm>
            <a:prstGeom prst="rect">
              <a:avLst/>
            </a:prstGeom>
            <a:effectLst>
              <a:outerShdw blurRad="50800" dist="38100" dir="2700000" algn="tl" rotWithShape="0">
                <a:prstClr val="black">
                  <a:alpha val="40000"/>
                </a:prstClr>
              </a:outerShdw>
            </a:effectLst>
          </p:spPr>
        </p:pic>
        <p:sp>
          <p:nvSpPr>
            <p:cNvPr id="26" name="文本框 25">
              <a:extLst>
                <a:ext uri="{FF2B5EF4-FFF2-40B4-BE49-F238E27FC236}">
                  <a16:creationId xmlns:a16="http://schemas.microsoft.com/office/drawing/2014/main" id="{3020BCDC-DC42-7D7E-88A5-C4A8913A54E9}"/>
                </a:ext>
              </a:extLst>
            </p:cNvPr>
            <p:cNvSpPr txBox="1"/>
            <p:nvPr/>
          </p:nvSpPr>
          <p:spPr>
            <a:xfrm>
              <a:off x="8007913" y="1783242"/>
              <a:ext cx="543739" cy="307777"/>
            </a:xfrm>
            <a:prstGeom prst="rect">
              <a:avLst/>
            </a:prstGeom>
            <a:noFill/>
          </p:spPr>
          <p:txBody>
            <a:bodyPr wrap="none" rtlCol="0">
              <a:spAutoFit/>
            </a:bodyPr>
            <a:lstStyle/>
            <a:p>
              <a:pPr algn="ctr"/>
              <a:r>
                <a:rPr lang="zh-CN" altLang="en-US" sz="1400" dirty="0"/>
                <a:t>共享</a:t>
              </a:r>
            </a:p>
          </p:txBody>
        </p:sp>
        <p:sp>
          <p:nvSpPr>
            <p:cNvPr id="27" name="文本框 26">
              <a:extLst>
                <a:ext uri="{FF2B5EF4-FFF2-40B4-BE49-F238E27FC236}">
                  <a16:creationId xmlns:a16="http://schemas.microsoft.com/office/drawing/2014/main" id="{FB6A0828-203D-1B6F-FE1F-A65C4638CC18}"/>
                </a:ext>
              </a:extLst>
            </p:cNvPr>
            <p:cNvSpPr txBox="1"/>
            <p:nvPr/>
          </p:nvSpPr>
          <p:spPr>
            <a:xfrm>
              <a:off x="7835590" y="1989017"/>
              <a:ext cx="888385" cy="307777"/>
            </a:xfrm>
            <a:prstGeom prst="rect">
              <a:avLst/>
            </a:prstGeom>
            <a:noFill/>
          </p:spPr>
          <p:txBody>
            <a:bodyPr wrap="none" rtlCol="0">
              <a:spAutoFit/>
            </a:bodyPr>
            <a:lstStyle/>
            <a:p>
              <a:pPr algn="ctr"/>
              <a:r>
                <a:rPr lang="en-US" altLang="zh-CN" sz="1400" dirty="0"/>
                <a:t>Sharing</a:t>
              </a:r>
              <a:endParaRPr lang="zh-CN" altLang="en-US" sz="1400" dirty="0"/>
            </a:p>
          </p:txBody>
        </p:sp>
      </p:grpSp>
    </p:spTree>
    <p:extLst>
      <p:ext uri="{BB962C8B-B14F-4D97-AF65-F5344CB8AC3E}">
        <p14:creationId xmlns:p14="http://schemas.microsoft.com/office/powerpoint/2010/main" val="5342536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F43255C0-3D60-BF02-22B9-06940BF9DC33}"/>
              </a:ext>
            </a:extLst>
          </p:cNvPr>
          <p:cNvSpPr>
            <a:spLocks noGrp="1"/>
          </p:cNvSpPr>
          <p:nvPr>
            <p:ph type="title"/>
          </p:nvPr>
        </p:nvSpPr>
        <p:spPr>
          <a:xfrm>
            <a:off x="612000" y="229850"/>
            <a:ext cx="7920000" cy="341632"/>
          </a:xfrm>
        </p:spPr>
        <p:txBody>
          <a:bodyPr/>
          <a:lstStyle/>
          <a:p>
            <a:r>
              <a:rPr lang="zh-CN" altLang="en-US" dirty="0"/>
              <a:t>互联网 </a:t>
            </a:r>
            <a:r>
              <a:rPr lang="en-US" altLang="zh-CN" dirty="0"/>
              <a:t>Internet</a:t>
            </a:r>
            <a:endParaRPr lang="zh-CN" altLang="en-US" dirty="0"/>
          </a:p>
        </p:txBody>
      </p:sp>
      <p:sp>
        <p:nvSpPr>
          <p:cNvPr id="6" name="内容占位符 5">
            <a:extLst>
              <a:ext uri="{FF2B5EF4-FFF2-40B4-BE49-F238E27FC236}">
                <a16:creationId xmlns:a16="http://schemas.microsoft.com/office/drawing/2014/main" id="{54CC598B-BFEC-1EF2-DB2B-9B8A1BA33A7F}"/>
              </a:ext>
            </a:extLst>
          </p:cNvPr>
          <p:cNvSpPr>
            <a:spLocks noGrp="1"/>
          </p:cNvSpPr>
          <p:nvPr>
            <p:ph sz="quarter" idx="10"/>
          </p:nvPr>
        </p:nvSpPr>
        <p:spPr>
          <a:xfrm>
            <a:off x="612000" y="1152000"/>
            <a:ext cx="7920000" cy="3496659"/>
          </a:xfrm>
        </p:spPr>
        <p:txBody>
          <a:bodyPr>
            <a:normAutofit/>
          </a:bodyPr>
          <a:lstStyle/>
          <a:p>
            <a:r>
              <a:rPr lang="zh-CN" altLang="en-US" dirty="0"/>
              <a:t>负面影响</a:t>
            </a:r>
            <a:endParaRPr lang="en-US" altLang="zh-CN" dirty="0"/>
          </a:p>
          <a:p>
            <a:pPr lvl="1"/>
            <a:r>
              <a:rPr lang="zh-CN" altLang="en-US" dirty="0"/>
              <a:t>传播病毒</a:t>
            </a:r>
          </a:p>
          <a:p>
            <a:pPr lvl="1"/>
            <a:r>
              <a:rPr lang="zh-CN" altLang="en-US" dirty="0"/>
              <a:t>窃取：数据，钱财等</a:t>
            </a:r>
          </a:p>
          <a:p>
            <a:pPr lvl="1"/>
            <a:r>
              <a:rPr lang="zh-CN" altLang="en-US" dirty="0"/>
              <a:t>散布谣言</a:t>
            </a:r>
          </a:p>
          <a:p>
            <a:pPr lvl="1"/>
            <a:r>
              <a:rPr lang="zh-CN" altLang="en-US" dirty="0"/>
              <a:t>不良信息</a:t>
            </a:r>
          </a:p>
          <a:p>
            <a:pPr lvl="1"/>
            <a:r>
              <a:rPr lang="zh-CN" altLang="en-US" dirty="0"/>
              <a:t>欺诈</a:t>
            </a:r>
          </a:p>
          <a:p>
            <a:pPr lvl="1"/>
            <a:r>
              <a:rPr lang="zh-CN" altLang="en-US" dirty="0"/>
              <a:t>网瘾</a:t>
            </a:r>
          </a:p>
          <a:p>
            <a:pPr lvl="1"/>
            <a:r>
              <a:rPr lang="en-US" altLang="zh-CN" dirty="0"/>
              <a:t>……</a:t>
            </a:r>
          </a:p>
          <a:p>
            <a:r>
              <a:rPr lang="zh-CN" altLang="en-US" dirty="0"/>
              <a:t>需要加强</a:t>
            </a:r>
            <a:r>
              <a:rPr lang="zh-CN" altLang="zh-CN" dirty="0"/>
              <a:t>对互联网的管理</a:t>
            </a:r>
            <a:endParaRPr lang="zh-CN" altLang="en-US" dirty="0"/>
          </a:p>
        </p:txBody>
      </p:sp>
    </p:spTree>
    <p:extLst>
      <p:ext uri="{BB962C8B-B14F-4D97-AF65-F5344CB8AC3E}">
        <p14:creationId xmlns:p14="http://schemas.microsoft.com/office/powerpoint/2010/main" val="24060067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132C8544-859B-D1AF-F894-D8B40F50894F}"/>
              </a:ext>
            </a:extLst>
          </p:cNvPr>
          <p:cNvSpPr>
            <a:spLocks noGrp="1"/>
          </p:cNvSpPr>
          <p:nvPr>
            <p:ph type="title"/>
          </p:nvPr>
        </p:nvSpPr>
        <p:spPr>
          <a:xfrm>
            <a:off x="612000" y="229850"/>
            <a:ext cx="7920000" cy="341632"/>
          </a:xfrm>
        </p:spPr>
        <p:txBody>
          <a:bodyPr/>
          <a:lstStyle/>
          <a:p>
            <a:r>
              <a:rPr lang="zh-CN" altLang="en-US" dirty="0"/>
              <a:t>互联网</a:t>
            </a:r>
            <a:r>
              <a:rPr lang="en-US" altLang="zh-CN" dirty="0"/>
              <a:t>+ Internet Plus</a:t>
            </a:r>
            <a:endParaRPr lang="fr-FR" altLang="zh-CN" dirty="0"/>
          </a:p>
        </p:txBody>
      </p:sp>
      <p:sp>
        <p:nvSpPr>
          <p:cNvPr id="3" name="内容占位符 2"/>
          <p:cNvSpPr>
            <a:spLocks noGrp="1"/>
          </p:cNvSpPr>
          <p:nvPr>
            <p:ph sz="quarter" idx="10"/>
          </p:nvPr>
        </p:nvSpPr>
        <p:spPr>
          <a:xfrm>
            <a:off x="612000" y="1152000"/>
            <a:ext cx="7920000" cy="3496659"/>
          </a:xfrm>
        </p:spPr>
        <p:txBody>
          <a:bodyPr/>
          <a:lstStyle/>
          <a:p>
            <a:r>
              <a:rPr lang="zh-CN" altLang="en-US" dirty="0"/>
              <a:t>互联网</a:t>
            </a:r>
            <a:r>
              <a:rPr lang="en-US" altLang="zh-CN" dirty="0"/>
              <a:t>+</a:t>
            </a:r>
          </a:p>
          <a:p>
            <a:r>
              <a:rPr lang="zh-CN" altLang="en-US" dirty="0"/>
              <a:t>新的经济形态</a:t>
            </a:r>
            <a:endParaRPr lang="en-US" altLang="zh-CN" dirty="0"/>
          </a:p>
          <a:p>
            <a:r>
              <a:rPr lang="zh-CN" altLang="en-US" dirty="0"/>
              <a:t>互联网 </a:t>
            </a:r>
            <a:r>
              <a:rPr lang="en-US" altLang="zh-CN" dirty="0"/>
              <a:t>+ </a:t>
            </a:r>
            <a:r>
              <a:rPr lang="zh-CN" altLang="en-US" dirty="0"/>
              <a:t>各个传统行业</a:t>
            </a:r>
            <a:endParaRPr lang="en-US" altLang="zh-CN" dirty="0"/>
          </a:p>
          <a:p>
            <a:r>
              <a:rPr lang="zh-CN" altLang="en-US" dirty="0"/>
              <a:t>把互联网的创新成果深度融合于经济社会各领域</a:t>
            </a:r>
            <a:endParaRPr lang="en-US" altLang="zh-CN" dirty="0"/>
          </a:p>
        </p:txBody>
      </p:sp>
      <p:graphicFrame>
        <p:nvGraphicFramePr>
          <p:cNvPr id="13" name="图示 12"/>
          <p:cNvGraphicFramePr/>
          <p:nvPr>
            <p:extLst>
              <p:ext uri="{D42A27DB-BD31-4B8C-83A1-F6EECF244321}">
                <p14:modId xmlns:p14="http://schemas.microsoft.com/office/powerpoint/2010/main" val="1472723566"/>
              </p:ext>
            </p:extLst>
          </p:nvPr>
        </p:nvGraphicFramePr>
        <p:xfrm>
          <a:off x="5585026" y="1676362"/>
          <a:ext cx="3558974" cy="24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40846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E1D7F-5FAD-5658-3A9B-3F0CEC873714}"/>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9E7BF32-29D8-98DF-AC28-0E2A8DF87507}"/>
              </a:ext>
            </a:extLst>
          </p:cNvPr>
          <p:cNvSpPr>
            <a:spLocks noGrp="1"/>
          </p:cNvSpPr>
          <p:nvPr>
            <p:ph type="title"/>
          </p:nvPr>
        </p:nvSpPr>
        <p:spPr>
          <a:xfrm>
            <a:off x="612000" y="229850"/>
            <a:ext cx="7920000" cy="341632"/>
          </a:xfrm>
        </p:spPr>
        <p:txBody>
          <a:bodyPr/>
          <a:lstStyle/>
          <a:p>
            <a:r>
              <a:rPr lang="zh-CN" altLang="en-US" dirty="0"/>
              <a:t>互联网</a:t>
            </a:r>
            <a:r>
              <a:rPr lang="en-US" altLang="zh-CN" dirty="0"/>
              <a:t>+ Internet Plus</a:t>
            </a:r>
            <a:endParaRPr lang="fr-FR" altLang="zh-CN" dirty="0"/>
          </a:p>
        </p:txBody>
      </p:sp>
      <p:sp>
        <p:nvSpPr>
          <p:cNvPr id="3" name="内容占位符 2">
            <a:extLst>
              <a:ext uri="{FF2B5EF4-FFF2-40B4-BE49-F238E27FC236}">
                <a16:creationId xmlns:a16="http://schemas.microsoft.com/office/drawing/2014/main" id="{095BF98C-B632-E1F9-EEA0-2055C5609E74}"/>
              </a:ext>
            </a:extLst>
          </p:cNvPr>
          <p:cNvSpPr>
            <a:spLocks noGrp="1"/>
          </p:cNvSpPr>
          <p:nvPr>
            <p:ph sz="quarter" idx="10"/>
          </p:nvPr>
        </p:nvSpPr>
        <p:spPr>
          <a:xfrm>
            <a:off x="612000" y="1152000"/>
            <a:ext cx="7920000" cy="3496659"/>
          </a:xfrm>
        </p:spPr>
        <p:txBody>
          <a:bodyPr/>
          <a:lstStyle/>
          <a:p>
            <a:r>
              <a:rPr lang="zh-CN" altLang="en-US" dirty="0"/>
              <a:t>课堂讨论</a:t>
            </a:r>
            <a:endParaRPr lang="en-US" altLang="zh-CN" dirty="0"/>
          </a:p>
          <a:p>
            <a:pPr lvl="1"/>
            <a:r>
              <a:rPr lang="zh-CN" altLang="en-US" dirty="0"/>
              <a:t>通过阅读：</a:t>
            </a:r>
            <a:r>
              <a:rPr lang="zh-CN" altLang="en-US" dirty="0">
                <a:hlinkClick r:id="rId3"/>
              </a:rPr>
              <a:t>互联网</a:t>
            </a:r>
            <a:r>
              <a:rPr lang="en-US" altLang="zh-CN" dirty="0">
                <a:hlinkClick r:id="rId3"/>
              </a:rPr>
              <a:t>+</a:t>
            </a:r>
            <a:r>
              <a:rPr lang="zh-CN" altLang="en-US" dirty="0">
                <a:hlinkClick r:id="rId3"/>
              </a:rPr>
              <a:t>改变生活</a:t>
            </a:r>
            <a:endParaRPr lang="en-US" altLang="zh-CN" dirty="0"/>
          </a:p>
          <a:p>
            <a:pPr lvl="1"/>
            <a:r>
              <a:rPr lang="zh-CN" altLang="en-US" dirty="0"/>
              <a:t>小组分工</a:t>
            </a:r>
            <a:endParaRPr lang="en-US" altLang="zh-CN" dirty="0"/>
          </a:p>
          <a:p>
            <a:pPr lvl="1"/>
            <a:r>
              <a:rPr lang="zh-CN" altLang="en-US" dirty="0"/>
              <a:t>或结合自身实际情况，分析互联网带来的变化</a:t>
            </a:r>
          </a:p>
        </p:txBody>
      </p:sp>
    </p:spTree>
    <p:extLst>
      <p:ext uri="{BB962C8B-B14F-4D97-AF65-F5344CB8AC3E}">
        <p14:creationId xmlns:p14="http://schemas.microsoft.com/office/powerpoint/2010/main" val="291978214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AE736D-B3C2-918F-7687-76FCC4CDAA72}"/>
              </a:ext>
            </a:extLst>
          </p:cNvPr>
          <p:cNvSpPr>
            <a:spLocks noGrp="1"/>
          </p:cNvSpPr>
          <p:nvPr>
            <p:ph type="title"/>
          </p:nvPr>
        </p:nvSpPr>
        <p:spPr>
          <a:xfrm>
            <a:off x="612000" y="229850"/>
            <a:ext cx="7920000" cy="341632"/>
          </a:xfrm>
        </p:spPr>
        <p:txBody>
          <a:bodyPr/>
          <a:lstStyle/>
          <a:p>
            <a:r>
              <a:rPr lang="zh-CN" altLang="en-US" dirty="0"/>
              <a:t>课后思考</a:t>
            </a:r>
            <a:endParaRPr lang="en-US" altLang="zh-CN" dirty="0"/>
          </a:p>
        </p:txBody>
      </p:sp>
      <p:sp>
        <p:nvSpPr>
          <p:cNvPr id="3" name="内容占位符 2">
            <a:extLst>
              <a:ext uri="{FF2B5EF4-FFF2-40B4-BE49-F238E27FC236}">
                <a16:creationId xmlns:a16="http://schemas.microsoft.com/office/drawing/2014/main" id="{6332D36E-7C2E-0376-978B-6AAC2CD05E4F}"/>
              </a:ext>
            </a:extLst>
          </p:cNvPr>
          <p:cNvSpPr>
            <a:spLocks noGrp="1"/>
          </p:cNvSpPr>
          <p:nvPr>
            <p:ph sz="quarter" idx="10"/>
          </p:nvPr>
        </p:nvSpPr>
        <p:spPr>
          <a:xfrm>
            <a:off x="612000" y="1152000"/>
            <a:ext cx="7920000" cy="3496659"/>
          </a:xfrm>
        </p:spPr>
        <p:txBody>
          <a:bodyPr/>
          <a:lstStyle/>
          <a:p>
            <a:r>
              <a:rPr lang="zh-CN" altLang="en-US" dirty="0"/>
              <a:t>下面表述分别是哪个网？</a:t>
            </a:r>
            <a:endParaRPr lang="en-US" altLang="zh-CN" dirty="0"/>
          </a:p>
          <a:p>
            <a:pPr lvl="1"/>
            <a:r>
              <a:rPr lang="zh-CN" altLang="en-US" dirty="0"/>
              <a:t>上网</a:t>
            </a:r>
            <a:endParaRPr lang="en-US" altLang="zh-CN" dirty="0"/>
          </a:p>
          <a:p>
            <a:pPr lvl="1"/>
            <a:r>
              <a:rPr lang="zh-CN" altLang="en-US" dirty="0"/>
              <a:t>联网</a:t>
            </a:r>
            <a:endParaRPr lang="en-US" altLang="zh-CN" dirty="0"/>
          </a:p>
          <a:p>
            <a:pPr lvl="1"/>
            <a:r>
              <a:rPr lang="zh-CN" altLang="en-US" dirty="0"/>
              <a:t>网民</a:t>
            </a:r>
            <a:endParaRPr lang="en-US" altLang="zh-CN" dirty="0"/>
          </a:p>
          <a:p>
            <a:pPr lvl="1"/>
            <a:r>
              <a:rPr lang="zh-CN" altLang="en-US" dirty="0"/>
              <a:t>网吧</a:t>
            </a:r>
            <a:endParaRPr lang="en-US" altLang="zh-CN" dirty="0"/>
          </a:p>
          <a:p>
            <a:pPr lvl="1"/>
            <a:r>
              <a:rPr lang="zh-CN" altLang="en-US" dirty="0"/>
              <a:t>网银</a:t>
            </a:r>
            <a:endParaRPr lang="en-US" altLang="zh-CN" dirty="0"/>
          </a:p>
          <a:p>
            <a:pPr lvl="1"/>
            <a:r>
              <a:rPr lang="zh-CN" altLang="en-US" dirty="0"/>
              <a:t>网购</a:t>
            </a:r>
            <a:endParaRPr lang="en-US" altLang="zh-CN" dirty="0"/>
          </a:p>
          <a:p>
            <a:pPr lvl="1"/>
            <a:r>
              <a:rPr lang="zh-CN" altLang="en-US" dirty="0"/>
              <a:t>网管</a:t>
            </a:r>
            <a:endParaRPr lang="en-US" altLang="zh-CN" dirty="0"/>
          </a:p>
          <a:p>
            <a:pPr lvl="1"/>
            <a:r>
              <a:rPr lang="zh-CN" altLang="en-US" dirty="0"/>
              <a:t>知网</a:t>
            </a:r>
          </a:p>
        </p:txBody>
      </p:sp>
    </p:spTree>
    <p:extLst>
      <p:ext uri="{BB962C8B-B14F-4D97-AF65-F5344CB8AC3E}">
        <p14:creationId xmlns:p14="http://schemas.microsoft.com/office/powerpoint/2010/main" val="3277921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Line 16"/>
          <p:cNvSpPr>
            <a:spLocks noChangeShapeType="1"/>
          </p:cNvSpPr>
          <p:nvPr/>
        </p:nvSpPr>
        <p:spPr bwMode="auto">
          <a:xfrm>
            <a:off x="3636963" y="125863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2" name="标题 1">
            <a:extLst>
              <a:ext uri="{FF2B5EF4-FFF2-40B4-BE49-F238E27FC236}">
                <a16:creationId xmlns:a16="http://schemas.microsoft.com/office/drawing/2014/main" id="{46539D0B-8B87-D524-77D4-F56BC98F19C4}"/>
              </a:ext>
            </a:extLst>
          </p:cNvPr>
          <p:cNvSpPr>
            <a:spLocks noGrp="1"/>
          </p:cNvSpPr>
          <p:nvPr>
            <p:ph type="title"/>
          </p:nvPr>
        </p:nvSpPr>
        <p:spPr>
          <a:xfrm>
            <a:off x="3873500" y="1290318"/>
            <a:ext cx="4320000" cy="341632"/>
          </a:xfrm>
        </p:spPr>
        <p:txBody>
          <a:bodyPr/>
          <a:lstStyle/>
          <a:p>
            <a:r>
              <a:rPr lang="fr-FR" altLang="zh-CN" dirty="0"/>
              <a:t>1.2 </a:t>
            </a:r>
            <a:r>
              <a:rPr lang="zh-CN" altLang="fr-FR" dirty="0"/>
              <a:t>互联网概述</a:t>
            </a:r>
          </a:p>
        </p:txBody>
      </p:sp>
      <p:sp>
        <p:nvSpPr>
          <p:cNvPr id="3" name="文本占位符 2">
            <a:extLst>
              <a:ext uri="{FF2B5EF4-FFF2-40B4-BE49-F238E27FC236}">
                <a16:creationId xmlns:a16="http://schemas.microsoft.com/office/drawing/2014/main" id="{C0762F4D-6A5D-808D-9A7D-8B5AE80C5E0C}"/>
              </a:ext>
            </a:extLst>
          </p:cNvPr>
          <p:cNvSpPr>
            <a:spLocks noGrp="1"/>
          </p:cNvSpPr>
          <p:nvPr>
            <p:ph type="body" sz="quarter" idx="10"/>
          </p:nvPr>
        </p:nvSpPr>
        <p:spPr>
          <a:xfrm>
            <a:off x="3873500" y="1631950"/>
            <a:ext cx="4320000" cy="1803400"/>
          </a:xfrm>
        </p:spPr>
        <p:txBody>
          <a:bodyPr>
            <a:normAutofit/>
          </a:bodyPr>
          <a:lstStyle/>
          <a:p>
            <a:r>
              <a:rPr lang="en-US" altLang="zh-CN" dirty="0"/>
              <a:t>1.2.1 </a:t>
            </a:r>
            <a:r>
              <a:rPr lang="zh-CN" altLang="en-US" dirty="0"/>
              <a:t>网络的网络</a:t>
            </a:r>
            <a:endParaRPr lang="en-US" altLang="zh-CN" dirty="0"/>
          </a:p>
          <a:p>
            <a:r>
              <a:rPr lang="en-US" altLang="zh-CN" dirty="0"/>
              <a:t>1.2.2 </a:t>
            </a:r>
            <a:r>
              <a:rPr lang="zh-CN" altLang="zh-CN" dirty="0"/>
              <a:t>互联网基础结构发展的三个阶段</a:t>
            </a:r>
          </a:p>
          <a:p>
            <a:r>
              <a:rPr lang="en-US" altLang="zh-CN" dirty="0"/>
              <a:t>1.2.3 </a:t>
            </a:r>
            <a:r>
              <a:rPr lang="zh-CN" altLang="zh-CN" dirty="0"/>
              <a:t>互联网的标准化工作</a:t>
            </a:r>
            <a:endParaRPr lang="fr-FR" altLang="zh-CN" dirty="0"/>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8DD33AA-68BC-C27F-7A70-0CD8F96817AA}"/>
              </a:ext>
            </a:extLst>
          </p:cNvPr>
          <p:cNvSpPr>
            <a:spLocks noGrp="1"/>
          </p:cNvSpPr>
          <p:nvPr>
            <p:ph type="title"/>
          </p:nvPr>
        </p:nvSpPr>
        <p:spPr>
          <a:xfrm>
            <a:off x="612000" y="144000"/>
            <a:ext cx="7920000" cy="341632"/>
          </a:xfrm>
        </p:spPr>
        <p:txBody>
          <a:bodyPr/>
          <a:lstStyle/>
          <a:p>
            <a:r>
              <a:rPr lang="en-US" altLang="zh-CN" dirty="0"/>
              <a:t>1.2.1  </a:t>
            </a:r>
            <a:r>
              <a:rPr lang="zh-CN" altLang="en-US" dirty="0"/>
              <a:t>网络的网络</a:t>
            </a:r>
          </a:p>
        </p:txBody>
      </p:sp>
      <p:sp>
        <p:nvSpPr>
          <p:cNvPr id="2" name="内容占位符 1"/>
          <p:cNvSpPr>
            <a:spLocks noGrp="1"/>
          </p:cNvSpPr>
          <p:nvPr>
            <p:ph sz="quarter" idx="10"/>
          </p:nvPr>
        </p:nvSpPr>
        <p:spPr>
          <a:xfrm>
            <a:off x="612000" y="899999"/>
            <a:ext cx="7920000" cy="3780000"/>
          </a:xfrm>
        </p:spPr>
        <p:txBody>
          <a:bodyPr/>
          <a:lstStyle/>
          <a:p>
            <a:r>
              <a:rPr lang="zh-CN" altLang="en-US" dirty="0"/>
              <a:t>计算机网络</a:t>
            </a:r>
            <a:endParaRPr lang="en-US" altLang="zh-CN" dirty="0"/>
          </a:p>
          <a:p>
            <a:pPr lvl="1"/>
            <a:r>
              <a:rPr lang="zh-CN" altLang="en-US" dirty="0"/>
              <a:t>由若干节点</a:t>
            </a:r>
            <a:r>
              <a:rPr lang="en-US" altLang="zh-CN" dirty="0"/>
              <a:t>(Node)</a:t>
            </a:r>
            <a:r>
              <a:rPr lang="zh-CN" altLang="en-US" dirty="0"/>
              <a:t>和连接这些节点的链路</a:t>
            </a:r>
            <a:r>
              <a:rPr lang="en-US" altLang="zh-CN" dirty="0"/>
              <a:t>(Link)</a:t>
            </a:r>
            <a:r>
              <a:rPr lang="zh-CN" altLang="en-US" dirty="0"/>
              <a:t>组成</a:t>
            </a:r>
            <a:endParaRPr lang="en-US" altLang="zh-CN" dirty="0"/>
          </a:p>
          <a:p>
            <a:pPr lvl="1"/>
            <a:r>
              <a:rPr lang="zh-CN" altLang="en-US" dirty="0"/>
              <a:t>用于数据通信和资源共享</a:t>
            </a:r>
            <a:endParaRPr lang="en-US" altLang="zh-CN" dirty="0"/>
          </a:p>
          <a:p>
            <a:pPr lvl="1"/>
            <a:r>
              <a:rPr lang="zh-CN" altLang="en-US" dirty="0"/>
              <a:t>节点可以是计算机、集线器、交换机或路由器等</a:t>
            </a:r>
          </a:p>
        </p:txBody>
      </p:sp>
      <p:sp>
        <p:nvSpPr>
          <p:cNvPr id="6" name="文本框 5">
            <a:extLst>
              <a:ext uri="{FF2B5EF4-FFF2-40B4-BE49-F238E27FC236}">
                <a16:creationId xmlns:a16="http://schemas.microsoft.com/office/drawing/2014/main" id="{39C487A5-8C66-8D05-A23B-1D253C8C55C6}"/>
              </a:ext>
            </a:extLst>
          </p:cNvPr>
          <p:cNvSpPr txBox="1"/>
          <p:nvPr/>
        </p:nvSpPr>
        <p:spPr>
          <a:xfrm>
            <a:off x="3683776" y="4340423"/>
            <a:ext cx="1776448" cy="307777"/>
          </a:xfrm>
          <a:prstGeom prst="rect">
            <a:avLst/>
          </a:prstGeom>
          <a:noFill/>
        </p:spPr>
        <p:txBody>
          <a:bodyPr wrap="none" rtlCol="0">
            <a:spAutoFit/>
          </a:bodyPr>
          <a:lstStyle/>
          <a:p>
            <a:pPr algn="ctr"/>
            <a:r>
              <a:rPr lang="zh-CN" altLang="en-US" sz="1400" dirty="0"/>
              <a:t>图</a:t>
            </a:r>
            <a:r>
              <a:rPr lang="en-US" altLang="zh-CN" sz="1400" dirty="0"/>
              <a:t>1-1 (a) </a:t>
            </a:r>
            <a:r>
              <a:rPr lang="zh-CN" altLang="en-US" sz="1400" dirty="0"/>
              <a:t>简单的网络</a:t>
            </a:r>
          </a:p>
        </p:txBody>
      </p:sp>
      <p:grpSp>
        <p:nvGrpSpPr>
          <p:cNvPr id="45" name="组合 44">
            <a:extLst>
              <a:ext uri="{FF2B5EF4-FFF2-40B4-BE49-F238E27FC236}">
                <a16:creationId xmlns:a16="http://schemas.microsoft.com/office/drawing/2014/main" id="{87E3553A-08F8-71B2-A897-3B16E70C1BF6}"/>
              </a:ext>
            </a:extLst>
          </p:cNvPr>
          <p:cNvGrpSpPr/>
          <p:nvPr/>
        </p:nvGrpSpPr>
        <p:grpSpPr>
          <a:xfrm>
            <a:off x="4710837" y="2707145"/>
            <a:ext cx="504000" cy="504000"/>
            <a:chOff x="2551367" y="2755692"/>
            <a:chExt cx="504000" cy="504000"/>
          </a:xfrm>
        </p:grpSpPr>
        <p:sp>
          <p:nvSpPr>
            <p:cNvPr id="44" name="椭圆 43">
              <a:extLst>
                <a:ext uri="{FF2B5EF4-FFF2-40B4-BE49-F238E27FC236}">
                  <a16:creationId xmlns:a16="http://schemas.microsoft.com/office/drawing/2014/main" id="{C6AFAB37-1288-401C-72A9-1974112359D3}"/>
                </a:ext>
              </a:extLst>
            </p:cNvPr>
            <p:cNvSpPr/>
            <p:nvPr/>
          </p:nvSpPr>
          <p:spPr>
            <a:xfrm>
              <a:off x="2551367" y="275569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0570DF5-C62F-0B7B-B00C-4889EFD0A4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3342" y="2855292"/>
              <a:ext cx="400050" cy="304800"/>
            </a:xfrm>
            <a:prstGeom prst="rect">
              <a:avLst/>
            </a:prstGeom>
          </p:spPr>
        </p:pic>
      </p:grpSp>
      <p:grpSp>
        <p:nvGrpSpPr>
          <p:cNvPr id="50" name="组合 49">
            <a:extLst>
              <a:ext uri="{FF2B5EF4-FFF2-40B4-BE49-F238E27FC236}">
                <a16:creationId xmlns:a16="http://schemas.microsoft.com/office/drawing/2014/main" id="{1D343AB3-F211-0D5A-74FA-BDBC82C431E5}"/>
              </a:ext>
            </a:extLst>
          </p:cNvPr>
          <p:cNvGrpSpPr/>
          <p:nvPr/>
        </p:nvGrpSpPr>
        <p:grpSpPr>
          <a:xfrm>
            <a:off x="3610971" y="3217778"/>
            <a:ext cx="504000" cy="504000"/>
            <a:chOff x="2611895" y="3430082"/>
            <a:chExt cx="504000" cy="504000"/>
          </a:xfrm>
        </p:grpSpPr>
        <p:sp>
          <p:nvSpPr>
            <p:cNvPr id="47" name="椭圆 46">
              <a:extLst>
                <a:ext uri="{FF2B5EF4-FFF2-40B4-BE49-F238E27FC236}">
                  <a16:creationId xmlns:a16="http://schemas.microsoft.com/office/drawing/2014/main" id="{8EDB8C56-0264-CF8D-71C6-85A3A756D5A8}"/>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a:extLst>
                <a:ext uri="{FF2B5EF4-FFF2-40B4-BE49-F238E27FC236}">
                  <a16:creationId xmlns:a16="http://schemas.microsoft.com/office/drawing/2014/main" id="{6AA9B1C2-15CA-C09B-7AF8-6279E01A5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56" name="组合 55">
            <a:extLst>
              <a:ext uri="{FF2B5EF4-FFF2-40B4-BE49-F238E27FC236}">
                <a16:creationId xmlns:a16="http://schemas.microsoft.com/office/drawing/2014/main" id="{C591C6A3-700C-BB31-F5FA-7B9533647FE6}"/>
              </a:ext>
            </a:extLst>
          </p:cNvPr>
          <p:cNvGrpSpPr/>
          <p:nvPr/>
        </p:nvGrpSpPr>
        <p:grpSpPr>
          <a:xfrm>
            <a:off x="4458837" y="3721778"/>
            <a:ext cx="504000" cy="504000"/>
            <a:chOff x="2611895" y="3430082"/>
            <a:chExt cx="504000" cy="504000"/>
          </a:xfrm>
        </p:grpSpPr>
        <p:sp>
          <p:nvSpPr>
            <p:cNvPr id="57" name="椭圆 56">
              <a:extLst>
                <a:ext uri="{FF2B5EF4-FFF2-40B4-BE49-F238E27FC236}">
                  <a16:creationId xmlns:a16="http://schemas.microsoft.com/office/drawing/2014/main" id="{9367A77F-3F2E-C419-DEE4-47EA631E25BD}"/>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 name="图片 57">
              <a:extLst>
                <a:ext uri="{FF2B5EF4-FFF2-40B4-BE49-F238E27FC236}">
                  <a16:creationId xmlns:a16="http://schemas.microsoft.com/office/drawing/2014/main" id="{3C9D04D1-E809-785E-5356-187D82258B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59" name="组合 58">
            <a:extLst>
              <a:ext uri="{FF2B5EF4-FFF2-40B4-BE49-F238E27FC236}">
                <a16:creationId xmlns:a16="http://schemas.microsoft.com/office/drawing/2014/main" id="{EDD080C4-CB2C-E7D0-26E6-AF52A277787C}"/>
              </a:ext>
            </a:extLst>
          </p:cNvPr>
          <p:cNvGrpSpPr/>
          <p:nvPr/>
        </p:nvGrpSpPr>
        <p:grpSpPr>
          <a:xfrm>
            <a:off x="3701046" y="2406318"/>
            <a:ext cx="504000" cy="504000"/>
            <a:chOff x="2611895" y="3430082"/>
            <a:chExt cx="504000" cy="504000"/>
          </a:xfrm>
        </p:grpSpPr>
        <p:sp>
          <p:nvSpPr>
            <p:cNvPr id="60" name="椭圆 59">
              <a:extLst>
                <a:ext uri="{FF2B5EF4-FFF2-40B4-BE49-F238E27FC236}">
                  <a16:creationId xmlns:a16="http://schemas.microsoft.com/office/drawing/2014/main" id="{19A21BE1-40D1-99F0-7EDD-682363B677DF}"/>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a:extLst>
                <a:ext uri="{FF2B5EF4-FFF2-40B4-BE49-F238E27FC236}">
                  <a16:creationId xmlns:a16="http://schemas.microsoft.com/office/drawing/2014/main" id="{D30758D5-33FD-BFD3-8431-D4F038AA1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cxnSp>
        <p:nvCxnSpPr>
          <p:cNvPr id="63" name="直接连接符 62">
            <a:extLst>
              <a:ext uri="{FF2B5EF4-FFF2-40B4-BE49-F238E27FC236}">
                <a16:creationId xmlns:a16="http://schemas.microsoft.com/office/drawing/2014/main" id="{723287AD-BC62-4B6B-B9A9-8B835188FFC8}"/>
              </a:ext>
            </a:extLst>
          </p:cNvPr>
          <p:cNvCxnSpPr>
            <a:cxnSpLocks/>
            <a:stCxn id="60" idx="6"/>
            <a:endCxn id="44" idx="2"/>
          </p:cNvCxnSpPr>
          <p:nvPr/>
        </p:nvCxnSpPr>
        <p:spPr>
          <a:xfrm>
            <a:off x="4205046" y="2658318"/>
            <a:ext cx="505791" cy="300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660BBC3-3E52-6957-7607-C392E961CD10}"/>
              </a:ext>
            </a:extLst>
          </p:cNvPr>
          <p:cNvCxnSpPr>
            <a:stCxn id="47" idx="6"/>
            <a:endCxn id="44" idx="3"/>
          </p:cNvCxnSpPr>
          <p:nvPr/>
        </p:nvCxnSpPr>
        <p:spPr>
          <a:xfrm flipV="1">
            <a:off x="4114971" y="3137336"/>
            <a:ext cx="669675" cy="332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594954C-EDB6-A35A-4151-F932E4707F75}"/>
              </a:ext>
            </a:extLst>
          </p:cNvPr>
          <p:cNvCxnSpPr>
            <a:cxnSpLocks/>
            <a:stCxn id="57" idx="0"/>
            <a:endCxn id="44" idx="4"/>
          </p:cNvCxnSpPr>
          <p:nvPr/>
        </p:nvCxnSpPr>
        <p:spPr>
          <a:xfrm flipV="1">
            <a:off x="4710837" y="3211145"/>
            <a:ext cx="252000" cy="510633"/>
          </a:xfrm>
          <a:prstGeom prst="line">
            <a:avLst/>
          </a:prstGeom>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041763E5-0AB8-8852-A51E-7D45382D3802}"/>
              </a:ext>
            </a:extLst>
          </p:cNvPr>
          <p:cNvSpPr txBox="1"/>
          <p:nvPr/>
        </p:nvSpPr>
        <p:spPr>
          <a:xfrm>
            <a:off x="5228185" y="2820645"/>
            <a:ext cx="603050" cy="276999"/>
          </a:xfrm>
          <a:prstGeom prst="rect">
            <a:avLst/>
          </a:prstGeom>
          <a:noFill/>
        </p:spPr>
        <p:txBody>
          <a:bodyPr wrap="none" rtlCol="0">
            <a:spAutoFit/>
          </a:bodyPr>
          <a:lstStyle/>
          <a:p>
            <a:pPr algn="l"/>
            <a:r>
              <a:rPr lang="en-US" altLang="zh-CN" sz="1200" dirty="0"/>
              <a:t>Node</a:t>
            </a:r>
            <a:endParaRPr lang="zh-CN" altLang="en-US" sz="1200" dirty="0"/>
          </a:p>
        </p:txBody>
      </p:sp>
      <p:sp>
        <p:nvSpPr>
          <p:cNvPr id="76" name="文本框 75">
            <a:extLst>
              <a:ext uri="{FF2B5EF4-FFF2-40B4-BE49-F238E27FC236}">
                <a16:creationId xmlns:a16="http://schemas.microsoft.com/office/drawing/2014/main" id="{8253B971-6AC0-75F9-72B2-EC7608E2C333}"/>
              </a:ext>
            </a:extLst>
          </p:cNvPr>
          <p:cNvSpPr txBox="1"/>
          <p:nvPr/>
        </p:nvSpPr>
        <p:spPr>
          <a:xfrm>
            <a:off x="4947626" y="3872200"/>
            <a:ext cx="603050" cy="276999"/>
          </a:xfrm>
          <a:prstGeom prst="rect">
            <a:avLst/>
          </a:prstGeom>
          <a:noFill/>
        </p:spPr>
        <p:txBody>
          <a:bodyPr wrap="none" rtlCol="0">
            <a:spAutoFit/>
          </a:bodyPr>
          <a:lstStyle/>
          <a:p>
            <a:r>
              <a:rPr lang="en-US" altLang="zh-CN" sz="1200" dirty="0"/>
              <a:t>Node</a:t>
            </a:r>
            <a:endParaRPr lang="zh-CN" altLang="en-US" sz="1200" dirty="0"/>
          </a:p>
        </p:txBody>
      </p:sp>
      <p:sp>
        <p:nvSpPr>
          <p:cNvPr id="78" name="文本框 77">
            <a:extLst>
              <a:ext uri="{FF2B5EF4-FFF2-40B4-BE49-F238E27FC236}">
                <a16:creationId xmlns:a16="http://schemas.microsoft.com/office/drawing/2014/main" id="{7EDAE8B5-5613-B003-A500-F03E473A620A}"/>
              </a:ext>
            </a:extLst>
          </p:cNvPr>
          <p:cNvSpPr txBox="1"/>
          <p:nvPr/>
        </p:nvSpPr>
        <p:spPr>
          <a:xfrm>
            <a:off x="3087173" y="3345179"/>
            <a:ext cx="603050" cy="276999"/>
          </a:xfrm>
          <a:prstGeom prst="rect">
            <a:avLst/>
          </a:prstGeom>
          <a:noFill/>
        </p:spPr>
        <p:txBody>
          <a:bodyPr wrap="none" rtlCol="0">
            <a:spAutoFit/>
          </a:bodyPr>
          <a:lstStyle/>
          <a:p>
            <a:r>
              <a:rPr lang="en-US" altLang="zh-CN" sz="1200" dirty="0"/>
              <a:t>Node</a:t>
            </a:r>
            <a:endParaRPr lang="zh-CN" altLang="en-US" sz="1200" dirty="0"/>
          </a:p>
        </p:txBody>
      </p:sp>
      <p:sp>
        <p:nvSpPr>
          <p:cNvPr id="80" name="文本框 79">
            <a:extLst>
              <a:ext uri="{FF2B5EF4-FFF2-40B4-BE49-F238E27FC236}">
                <a16:creationId xmlns:a16="http://schemas.microsoft.com/office/drawing/2014/main" id="{002FB94D-647F-0797-C4F5-ED44E9FB8EDC}"/>
              </a:ext>
            </a:extLst>
          </p:cNvPr>
          <p:cNvSpPr txBox="1"/>
          <p:nvPr/>
        </p:nvSpPr>
        <p:spPr>
          <a:xfrm>
            <a:off x="3183027" y="2433250"/>
            <a:ext cx="603050" cy="276999"/>
          </a:xfrm>
          <a:prstGeom prst="rect">
            <a:avLst/>
          </a:prstGeom>
          <a:noFill/>
        </p:spPr>
        <p:txBody>
          <a:bodyPr wrap="none" rtlCol="0">
            <a:spAutoFit/>
          </a:bodyPr>
          <a:lstStyle/>
          <a:p>
            <a:r>
              <a:rPr lang="en-US" altLang="zh-CN" sz="1200" dirty="0"/>
              <a:t>Node</a:t>
            </a:r>
            <a:endParaRPr lang="zh-CN" altLang="en-US" sz="1200" dirty="0"/>
          </a:p>
        </p:txBody>
      </p:sp>
      <p:sp>
        <p:nvSpPr>
          <p:cNvPr id="82" name="文本框 81">
            <a:extLst>
              <a:ext uri="{FF2B5EF4-FFF2-40B4-BE49-F238E27FC236}">
                <a16:creationId xmlns:a16="http://schemas.microsoft.com/office/drawing/2014/main" id="{B237FDD5-E54D-B7F3-675F-ABCFAF82530B}"/>
              </a:ext>
            </a:extLst>
          </p:cNvPr>
          <p:cNvSpPr txBox="1"/>
          <p:nvPr/>
        </p:nvSpPr>
        <p:spPr>
          <a:xfrm>
            <a:off x="4784646" y="3381079"/>
            <a:ext cx="514885" cy="276999"/>
          </a:xfrm>
          <a:prstGeom prst="rect">
            <a:avLst/>
          </a:prstGeom>
          <a:noFill/>
        </p:spPr>
        <p:txBody>
          <a:bodyPr wrap="none" rtlCol="0">
            <a:spAutoFit/>
          </a:bodyPr>
          <a:lstStyle/>
          <a:p>
            <a:pPr algn="l"/>
            <a:r>
              <a:rPr lang="en-US" altLang="zh-CN" sz="1200" dirty="0"/>
              <a:t>Link</a:t>
            </a:r>
            <a:endParaRPr lang="zh-CN" altLang="en-US" sz="1200" dirty="0"/>
          </a:p>
        </p:txBody>
      </p:sp>
      <p:sp>
        <p:nvSpPr>
          <p:cNvPr id="88" name="文本框 87">
            <a:extLst>
              <a:ext uri="{FF2B5EF4-FFF2-40B4-BE49-F238E27FC236}">
                <a16:creationId xmlns:a16="http://schemas.microsoft.com/office/drawing/2014/main" id="{0892F003-D4C0-061E-4432-70A98CF42B89}"/>
              </a:ext>
            </a:extLst>
          </p:cNvPr>
          <p:cNvSpPr txBox="1"/>
          <p:nvPr/>
        </p:nvSpPr>
        <p:spPr>
          <a:xfrm>
            <a:off x="4212858" y="3317378"/>
            <a:ext cx="514885" cy="276999"/>
          </a:xfrm>
          <a:prstGeom prst="rect">
            <a:avLst/>
          </a:prstGeom>
          <a:noFill/>
        </p:spPr>
        <p:txBody>
          <a:bodyPr wrap="none" rtlCol="0">
            <a:spAutoFit/>
          </a:bodyPr>
          <a:lstStyle/>
          <a:p>
            <a:pPr algn="l"/>
            <a:r>
              <a:rPr lang="en-US" altLang="zh-CN" sz="1200" dirty="0"/>
              <a:t>Link</a:t>
            </a:r>
            <a:endParaRPr lang="zh-CN" altLang="en-US" sz="1200" dirty="0"/>
          </a:p>
        </p:txBody>
      </p:sp>
      <p:sp>
        <p:nvSpPr>
          <p:cNvPr id="106" name="文本框 105">
            <a:extLst>
              <a:ext uri="{FF2B5EF4-FFF2-40B4-BE49-F238E27FC236}">
                <a16:creationId xmlns:a16="http://schemas.microsoft.com/office/drawing/2014/main" id="{75A6AC7F-8CD4-4CD2-1EAD-5D87575871FD}"/>
              </a:ext>
            </a:extLst>
          </p:cNvPr>
          <p:cNvSpPr txBox="1"/>
          <p:nvPr/>
        </p:nvSpPr>
        <p:spPr>
          <a:xfrm>
            <a:off x="4297620" y="2494836"/>
            <a:ext cx="514885" cy="276999"/>
          </a:xfrm>
          <a:prstGeom prst="rect">
            <a:avLst/>
          </a:prstGeom>
          <a:noFill/>
        </p:spPr>
        <p:txBody>
          <a:bodyPr wrap="none" rtlCol="0">
            <a:spAutoFit/>
          </a:bodyPr>
          <a:lstStyle/>
          <a:p>
            <a:pPr algn="l"/>
            <a:r>
              <a:rPr lang="en-US" altLang="zh-CN" sz="1200" dirty="0"/>
              <a:t>Link</a:t>
            </a:r>
            <a:endParaRPr lang="zh-CN" altLang="en-US" sz="1200" dirty="0"/>
          </a:p>
        </p:txBody>
      </p:sp>
    </p:spTree>
    <p:extLst>
      <p:ext uri="{BB962C8B-B14F-4D97-AF65-F5344CB8AC3E}">
        <p14:creationId xmlns:p14="http://schemas.microsoft.com/office/powerpoint/2010/main" val="4939186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3AE89C9-78DA-F6D1-857D-2B48C5C19DF7}"/>
              </a:ext>
            </a:extLst>
          </p:cNvPr>
          <p:cNvSpPr>
            <a:spLocks noGrp="1"/>
          </p:cNvSpPr>
          <p:nvPr>
            <p:ph type="title"/>
          </p:nvPr>
        </p:nvSpPr>
        <p:spPr>
          <a:xfrm>
            <a:off x="612000" y="144000"/>
            <a:ext cx="7920000" cy="341632"/>
          </a:xfrm>
        </p:spPr>
        <p:txBody>
          <a:bodyPr/>
          <a:lstStyle/>
          <a:p>
            <a:r>
              <a:rPr lang="en-US" altLang="zh-CN" dirty="0"/>
              <a:t>1.2.1  </a:t>
            </a:r>
            <a:r>
              <a:rPr lang="zh-CN" altLang="en-US" dirty="0"/>
              <a:t>网络的网络</a:t>
            </a:r>
          </a:p>
        </p:txBody>
      </p:sp>
      <p:sp>
        <p:nvSpPr>
          <p:cNvPr id="2" name="内容占位符 1"/>
          <p:cNvSpPr>
            <a:spLocks noGrp="1"/>
          </p:cNvSpPr>
          <p:nvPr>
            <p:ph sz="quarter" idx="10"/>
          </p:nvPr>
        </p:nvSpPr>
        <p:spPr>
          <a:xfrm>
            <a:off x="612000" y="899999"/>
            <a:ext cx="7920000" cy="3780000"/>
          </a:xfrm>
        </p:spPr>
        <p:txBody>
          <a:bodyPr/>
          <a:lstStyle/>
          <a:p>
            <a:r>
              <a:rPr lang="zh-CN" altLang="en-US" dirty="0"/>
              <a:t>多个网络通过路由器相互连接，构成覆盖范围更大的计算机网络</a:t>
            </a:r>
            <a:endParaRPr lang="en-US" altLang="zh-CN" dirty="0"/>
          </a:p>
          <a:p>
            <a:r>
              <a:rPr lang="zh-CN" altLang="en-US" dirty="0"/>
              <a:t>网络的网络 </a:t>
            </a:r>
            <a:r>
              <a:rPr lang="en-US" altLang="zh-CN" dirty="0"/>
              <a:t>Network of networks</a:t>
            </a:r>
            <a:endParaRPr lang="zh-CN" altLang="en-US" dirty="0"/>
          </a:p>
        </p:txBody>
      </p:sp>
      <p:grpSp>
        <p:nvGrpSpPr>
          <p:cNvPr id="13" name="组合 12">
            <a:extLst>
              <a:ext uri="{FF2B5EF4-FFF2-40B4-BE49-F238E27FC236}">
                <a16:creationId xmlns:a16="http://schemas.microsoft.com/office/drawing/2014/main" id="{1BA15F0F-E801-DAA7-F68D-2EEC2731AFA5}"/>
              </a:ext>
            </a:extLst>
          </p:cNvPr>
          <p:cNvGrpSpPr/>
          <p:nvPr/>
        </p:nvGrpSpPr>
        <p:grpSpPr>
          <a:xfrm>
            <a:off x="4122551" y="2911766"/>
            <a:ext cx="504000" cy="504000"/>
            <a:chOff x="1110463" y="3137054"/>
            <a:chExt cx="504000" cy="504000"/>
          </a:xfrm>
        </p:grpSpPr>
        <p:sp>
          <p:nvSpPr>
            <p:cNvPr id="14" name="椭圆 13">
              <a:extLst>
                <a:ext uri="{FF2B5EF4-FFF2-40B4-BE49-F238E27FC236}">
                  <a16:creationId xmlns:a16="http://schemas.microsoft.com/office/drawing/2014/main" id="{284520A2-DD3F-884C-F6B8-C15EDDB3FA5E}"/>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C7B55484-E180-E315-1FA3-69813392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sp>
        <p:nvSpPr>
          <p:cNvPr id="26" name="文本框 25">
            <a:extLst>
              <a:ext uri="{FF2B5EF4-FFF2-40B4-BE49-F238E27FC236}">
                <a16:creationId xmlns:a16="http://schemas.microsoft.com/office/drawing/2014/main" id="{BF8691F0-791F-FA5A-3A2A-FDCC85E796EE}"/>
              </a:ext>
            </a:extLst>
          </p:cNvPr>
          <p:cNvSpPr txBox="1"/>
          <p:nvPr/>
        </p:nvSpPr>
        <p:spPr>
          <a:xfrm>
            <a:off x="3316688" y="4340423"/>
            <a:ext cx="2510624" cy="307777"/>
          </a:xfrm>
          <a:prstGeom prst="rect">
            <a:avLst/>
          </a:prstGeom>
          <a:noFill/>
        </p:spPr>
        <p:txBody>
          <a:bodyPr wrap="none" rtlCol="0">
            <a:spAutoFit/>
          </a:bodyPr>
          <a:lstStyle/>
          <a:p>
            <a:pPr algn="ctr"/>
            <a:r>
              <a:rPr lang="zh-CN" altLang="en-US" sz="1400" dirty="0"/>
              <a:t>图</a:t>
            </a:r>
            <a:r>
              <a:rPr lang="en-US" altLang="zh-CN" sz="1400" dirty="0"/>
              <a:t>1-1 (b) </a:t>
            </a:r>
            <a:r>
              <a:rPr lang="zh-CN" altLang="en-US" sz="1400" dirty="0"/>
              <a:t>由网络构成的互连网</a:t>
            </a:r>
          </a:p>
        </p:txBody>
      </p:sp>
      <p:grpSp>
        <p:nvGrpSpPr>
          <p:cNvPr id="30" name="组合 29">
            <a:extLst>
              <a:ext uri="{FF2B5EF4-FFF2-40B4-BE49-F238E27FC236}">
                <a16:creationId xmlns:a16="http://schemas.microsoft.com/office/drawing/2014/main" id="{569EB175-D252-00D4-7634-7C282236752C}"/>
              </a:ext>
            </a:extLst>
          </p:cNvPr>
          <p:cNvGrpSpPr/>
          <p:nvPr/>
        </p:nvGrpSpPr>
        <p:grpSpPr>
          <a:xfrm>
            <a:off x="2650379" y="3283277"/>
            <a:ext cx="504000" cy="504000"/>
            <a:chOff x="2611895" y="3430082"/>
            <a:chExt cx="504000" cy="504000"/>
          </a:xfrm>
        </p:grpSpPr>
        <p:sp>
          <p:nvSpPr>
            <p:cNvPr id="31" name="椭圆 30">
              <a:extLst>
                <a:ext uri="{FF2B5EF4-FFF2-40B4-BE49-F238E27FC236}">
                  <a16:creationId xmlns:a16="http://schemas.microsoft.com/office/drawing/2014/main" id="{0266F34A-D34C-242C-51CA-84BB1A803604}"/>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FA46F20B-0796-A415-5673-18E6910FF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33" name="组合 32">
            <a:extLst>
              <a:ext uri="{FF2B5EF4-FFF2-40B4-BE49-F238E27FC236}">
                <a16:creationId xmlns:a16="http://schemas.microsoft.com/office/drawing/2014/main" id="{A86B86A4-BF94-13F8-EDDF-A3B6C6EA51FA}"/>
              </a:ext>
            </a:extLst>
          </p:cNvPr>
          <p:cNvGrpSpPr/>
          <p:nvPr/>
        </p:nvGrpSpPr>
        <p:grpSpPr>
          <a:xfrm>
            <a:off x="5552884" y="3822902"/>
            <a:ext cx="504000" cy="504000"/>
            <a:chOff x="2611895" y="3430082"/>
            <a:chExt cx="504000" cy="504000"/>
          </a:xfrm>
        </p:grpSpPr>
        <p:sp>
          <p:nvSpPr>
            <p:cNvPr id="34" name="椭圆 33">
              <a:extLst>
                <a:ext uri="{FF2B5EF4-FFF2-40B4-BE49-F238E27FC236}">
                  <a16:creationId xmlns:a16="http://schemas.microsoft.com/office/drawing/2014/main" id="{38A55995-A7A9-BC68-51E6-58A5DE9D5D70}"/>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F766D472-B4C4-7F14-7375-E184F382EF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36" name="组合 35">
            <a:extLst>
              <a:ext uri="{FF2B5EF4-FFF2-40B4-BE49-F238E27FC236}">
                <a16:creationId xmlns:a16="http://schemas.microsoft.com/office/drawing/2014/main" id="{00120E77-F615-27C4-AE47-02043A3A8BCC}"/>
              </a:ext>
            </a:extLst>
          </p:cNvPr>
          <p:cNvGrpSpPr/>
          <p:nvPr/>
        </p:nvGrpSpPr>
        <p:grpSpPr>
          <a:xfrm>
            <a:off x="3737502" y="2155766"/>
            <a:ext cx="504000" cy="504000"/>
            <a:chOff x="2611895" y="3430082"/>
            <a:chExt cx="504000" cy="504000"/>
          </a:xfrm>
        </p:grpSpPr>
        <p:sp>
          <p:nvSpPr>
            <p:cNvPr id="37" name="椭圆 36">
              <a:extLst>
                <a:ext uri="{FF2B5EF4-FFF2-40B4-BE49-F238E27FC236}">
                  <a16:creationId xmlns:a16="http://schemas.microsoft.com/office/drawing/2014/main" id="{1C9AA61C-D877-7962-D09C-C36104F9636A}"/>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图片 37">
              <a:extLst>
                <a:ext uri="{FF2B5EF4-FFF2-40B4-BE49-F238E27FC236}">
                  <a16:creationId xmlns:a16="http://schemas.microsoft.com/office/drawing/2014/main" id="{CC1E9184-20DF-4F4A-07BF-A8498579FF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cxnSp>
        <p:nvCxnSpPr>
          <p:cNvPr id="39" name="直接连接符 38">
            <a:extLst>
              <a:ext uri="{FF2B5EF4-FFF2-40B4-BE49-F238E27FC236}">
                <a16:creationId xmlns:a16="http://schemas.microsoft.com/office/drawing/2014/main" id="{E4291012-88CF-961E-ADCF-FA39A517A07E}"/>
              </a:ext>
            </a:extLst>
          </p:cNvPr>
          <p:cNvCxnSpPr>
            <a:cxnSpLocks/>
            <a:stCxn id="37" idx="6"/>
            <a:endCxn id="52" idx="2"/>
          </p:cNvCxnSpPr>
          <p:nvPr/>
        </p:nvCxnSpPr>
        <p:spPr>
          <a:xfrm>
            <a:off x="4241502" y="2407766"/>
            <a:ext cx="387205" cy="109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2797DE4-6559-647E-9EB2-00F6EDA80AA4}"/>
              </a:ext>
            </a:extLst>
          </p:cNvPr>
          <p:cNvCxnSpPr>
            <a:cxnSpLocks/>
            <a:stCxn id="31" idx="6"/>
            <a:endCxn id="58" idx="2"/>
          </p:cNvCxnSpPr>
          <p:nvPr/>
        </p:nvCxnSpPr>
        <p:spPr>
          <a:xfrm>
            <a:off x="3154379" y="3535277"/>
            <a:ext cx="223494" cy="499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59C8C134-9963-0DD3-66C7-28FB56297538}"/>
              </a:ext>
            </a:extLst>
          </p:cNvPr>
          <p:cNvCxnSpPr>
            <a:cxnSpLocks/>
            <a:stCxn id="34" idx="2"/>
          </p:cNvCxnSpPr>
          <p:nvPr/>
        </p:nvCxnSpPr>
        <p:spPr>
          <a:xfrm flipH="1" flipV="1">
            <a:off x="5346868" y="3753425"/>
            <a:ext cx="206016" cy="321477"/>
          </a:xfrm>
          <a:prstGeom prst="line">
            <a:avLst/>
          </a:prstGeom>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84A5706D-2BBC-4E9E-2F0F-5013CE46E621}"/>
              </a:ext>
            </a:extLst>
          </p:cNvPr>
          <p:cNvGrpSpPr/>
          <p:nvPr/>
        </p:nvGrpSpPr>
        <p:grpSpPr>
          <a:xfrm>
            <a:off x="5249919" y="2636255"/>
            <a:ext cx="504000" cy="504000"/>
            <a:chOff x="1110463" y="3137054"/>
            <a:chExt cx="504000" cy="504000"/>
          </a:xfrm>
        </p:grpSpPr>
        <p:sp>
          <p:nvSpPr>
            <p:cNvPr id="50" name="椭圆 49">
              <a:extLst>
                <a:ext uri="{FF2B5EF4-FFF2-40B4-BE49-F238E27FC236}">
                  <a16:creationId xmlns:a16="http://schemas.microsoft.com/office/drawing/2014/main" id="{1501810C-4424-3E57-3F05-B8003E9B20B3}"/>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a:extLst>
                <a:ext uri="{FF2B5EF4-FFF2-40B4-BE49-F238E27FC236}">
                  <a16:creationId xmlns:a16="http://schemas.microsoft.com/office/drawing/2014/main" id="{48ADFEAD-8055-040E-E857-C15DF06B91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sp>
        <p:nvSpPr>
          <p:cNvPr id="52" name="云形 51">
            <a:extLst>
              <a:ext uri="{FF2B5EF4-FFF2-40B4-BE49-F238E27FC236}">
                <a16:creationId xmlns:a16="http://schemas.microsoft.com/office/drawing/2014/main" id="{4274C14B-2F93-6E69-71AC-778D44860BC0}"/>
              </a:ext>
            </a:extLst>
          </p:cNvPr>
          <p:cNvSpPr/>
          <p:nvPr/>
        </p:nvSpPr>
        <p:spPr>
          <a:xfrm>
            <a:off x="4626551" y="2223794"/>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54" name="云形 53">
            <a:extLst>
              <a:ext uri="{FF2B5EF4-FFF2-40B4-BE49-F238E27FC236}">
                <a16:creationId xmlns:a16="http://schemas.microsoft.com/office/drawing/2014/main" id="{59E6134B-8549-615C-E954-4640101EF698}"/>
              </a:ext>
            </a:extLst>
          </p:cNvPr>
          <p:cNvSpPr/>
          <p:nvPr/>
        </p:nvSpPr>
        <p:spPr>
          <a:xfrm>
            <a:off x="4730260" y="3297699"/>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56" name="云形 55">
            <a:extLst>
              <a:ext uri="{FF2B5EF4-FFF2-40B4-BE49-F238E27FC236}">
                <a16:creationId xmlns:a16="http://schemas.microsoft.com/office/drawing/2014/main" id="{2B2A0086-53B1-C05C-C2B5-73FBA026C444}"/>
              </a:ext>
            </a:extLst>
          </p:cNvPr>
          <p:cNvSpPr/>
          <p:nvPr/>
        </p:nvSpPr>
        <p:spPr>
          <a:xfrm>
            <a:off x="5753919" y="2972940"/>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58" name="云形 57">
            <a:extLst>
              <a:ext uri="{FF2B5EF4-FFF2-40B4-BE49-F238E27FC236}">
                <a16:creationId xmlns:a16="http://schemas.microsoft.com/office/drawing/2014/main" id="{7FE3474E-6B37-1654-9FC3-64C6104D6E52}"/>
              </a:ext>
            </a:extLst>
          </p:cNvPr>
          <p:cNvSpPr/>
          <p:nvPr/>
        </p:nvSpPr>
        <p:spPr>
          <a:xfrm>
            <a:off x="3375717" y="3246413"/>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cxnSp>
        <p:nvCxnSpPr>
          <p:cNvPr id="231" name="直接连接符 230">
            <a:extLst>
              <a:ext uri="{FF2B5EF4-FFF2-40B4-BE49-F238E27FC236}">
                <a16:creationId xmlns:a16="http://schemas.microsoft.com/office/drawing/2014/main" id="{5797734B-170F-AED8-AE0A-0F78524ECA5C}"/>
              </a:ext>
            </a:extLst>
          </p:cNvPr>
          <p:cNvCxnSpPr>
            <a:cxnSpLocks/>
            <a:endCxn id="14" idx="2"/>
          </p:cNvCxnSpPr>
          <p:nvPr/>
        </p:nvCxnSpPr>
        <p:spPr>
          <a:xfrm flipV="1">
            <a:off x="3961393" y="3163766"/>
            <a:ext cx="161158" cy="119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2E03CE02-6FB8-EC47-3A9E-26316E3E3C62}"/>
              </a:ext>
            </a:extLst>
          </p:cNvPr>
          <p:cNvCxnSpPr>
            <a:cxnSpLocks/>
            <a:endCxn id="50" idx="1"/>
          </p:cNvCxnSpPr>
          <p:nvPr/>
        </p:nvCxnSpPr>
        <p:spPr>
          <a:xfrm>
            <a:off x="5249919" y="2679262"/>
            <a:ext cx="73809" cy="30802"/>
          </a:xfrm>
          <a:prstGeom prst="line">
            <a:avLst/>
          </a:prstGeom>
        </p:spPr>
        <p:style>
          <a:lnRef idx="1">
            <a:schemeClr val="accent1"/>
          </a:lnRef>
          <a:fillRef idx="0">
            <a:schemeClr val="accent1"/>
          </a:fillRef>
          <a:effectRef idx="0">
            <a:schemeClr val="accent1"/>
          </a:effectRef>
          <a:fontRef idx="minor">
            <a:schemeClr val="tx1"/>
          </a:fontRef>
        </p:style>
      </p:cxnSp>
      <p:grpSp>
        <p:nvGrpSpPr>
          <p:cNvPr id="234" name="组合 233">
            <a:extLst>
              <a:ext uri="{FF2B5EF4-FFF2-40B4-BE49-F238E27FC236}">
                <a16:creationId xmlns:a16="http://schemas.microsoft.com/office/drawing/2014/main" id="{76F10F30-0F1E-B17F-A142-AEDBB941F331}"/>
              </a:ext>
            </a:extLst>
          </p:cNvPr>
          <p:cNvGrpSpPr/>
          <p:nvPr/>
        </p:nvGrpSpPr>
        <p:grpSpPr>
          <a:xfrm>
            <a:off x="6734181" y="3014801"/>
            <a:ext cx="504000" cy="504000"/>
            <a:chOff x="2611895" y="3430082"/>
            <a:chExt cx="504000" cy="504000"/>
          </a:xfrm>
        </p:grpSpPr>
        <p:sp>
          <p:nvSpPr>
            <p:cNvPr id="235" name="椭圆 234">
              <a:extLst>
                <a:ext uri="{FF2B5EF4-FFF2-40B4-BE49-F238E27FC236}">
                  <a16:creationId xmlns:a16="http://schemas.microsoft.com/office/drawing/2014/main" id="{68857C7B-F184-1FAD-631B-CBCD547C4E06}"/>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6" name="图片 235">
              <a:extLst>
                <a:ext uri="{FF2B5EF4-FFF2-40B4-BE49-F238E27FC236}">
                  <a16:creationId xmlns:a16="http://schemas.microsoft.com/office/drawing/2014/main" id="{54D901C9-EEF8-2E84-E157-65BD32A85F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cxnSp>
        <p:nvCxnSpPr>
          <p:cNvPr id="238" name="直接连接符 237">
            <a:extLst>
              <a:ext uri="{FF2B5EF4-FFF2-40B4-BE49-F238E27FC236}">
                <a16:creationId xmlns:a16="http://schemas.microsoft.com/office/drawing/2014/main" id="{880DABA4-891F-286F-226A-3CCBC99DDC01}"/>
              </a:ext>
            </a:extLst>
          </p:cNvPr>
          <p:cNvCxnSpPr>
            <a:stCxn id="235" idx="2"/>
            <a:endCxn id="56" idx="0"/>
          </p:cNvCxnSpPr>
          <p:nvPr/>
        </p:nvCxnSpPr>
        <p:spPr>
          <a:xfrm flipH="1">
            <a:off x="6448558" y="3266801"/>
            <a:ext cx="285623"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688DA0DD-C1CA-8B82-D800-4FB7A6D80455}"/>
              </a:ext>
            </a:extLst>
          </p:cNvPr>
          <p:cNvCxnSpPr>
            <a:cxnSpLocks/>
            <a:endCxn id="50" idx="5"/>
          </p:cNvCxnSpPr>
          <p:nvPr/>
        </p:nvCxnSpPr>
        <p:spPr>
          <a:xfrm flipH="1" flipV="1">
            <a:off x="5680110" y="3066446"/>
            <a:ext cx="135309" cy="23431"/>
          </a:xfrm>
          <a:prstGeom prst="line">
            <a:avLst/>
          </a:prstGeom>
        </p:spPr>
        <p:style>
          <a:lnRef idx="1">
            <a:schemeClr val="accent1"/>
          </a:lnRef>
          <a:fillRef idx="0">
            <a:schemeClr val="accent1"/>
          </a:fillRef>
          <a:effectRef idx="0">
            <a:schemeClr val="accent1"/>
          </a:effectRef>
          <a:fontRef idx="minor">
            <a:schemeClr val="tx1"/>
          </a:fontRef>
        </p:style>
      </p:cxnSp>
      <p:grpSp>
        <p:nvGrpSpPr>
          <p:cNvPr id="241" name="组合 240">
            <a:extLst>
              <a:ext uri="{FF2B5EF4-FFF2-40B4-BE49-F238E27FC236}">
                <a16:creationId xmlns:a16="http://schemas.microsoft.com/office/drawing/2014/main" id="{758DF446-5130-59B6-5146-DFF3FF746E08}"/>
              </a:ext>
            </a:extLst>
          </p:cNvPr>
          <p:cNvGrpSpPr/>
          <p:nvPr/>
        </p:nvGrpSpPr>
        <p:grpSpPr>
          <a:xfrm>
            <a:off x="4184051" y="3773534"/>
            <a:ext cx="504000" cy="504000"/>
            <a:chOff x="1110463" y="3137054"/>
            <a:chExt cx="504000" cy="504000"/>
          </a:xfrm>
        </p:grpSpPr>
        <p:sp>
          <p:nvSpPr>
            <p:cNvPr id="242" name="椭圆 241">
              <a:extLst>
                <a:ext uri="{FF2B5EF4-FFF2-40B4-BE49-F238E27FC236}">
                  <a16:creationId xmlns:a16="http://schemas.microsoft.com/office/drawing/2014/main" id="{E794457F-B7AC-8272-F237-A9B61A21332F}"/>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3" name="图片 242">
              <a:extLst>
                <a:ext uri="{FF2B5EF4-FFF2-40B4-BE49-F238E27FC236}">
                  <a16:creationId xmlns:a16="http://schemas.microsoft.com/office/drawing/2014/main" id="{C81A3C94-84F5-6994-3829-9F5641A7E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cxnSp>
        <p:nvCxnSpPr>
          <p:cNvPr id="252" name="直接连接符 251">
            <a:extLst>
              <a:ext uri="{FF2B5EF4-FFF2-40B4-BE49-F238E27FC236}">
                <a16:creationId xmlns:a16="http://schemas.microsoft.com/office/drawing/2014/main" id="{CDB0ACC8-41FD-6C3B-43D0-6400C284902D}"/>
              </a:ext>
            </a:extLst>
          </p:cNvPr>
          <p:cNvCxnSpPr>
            <a:stCxn id="14" idx="7"/>
          </p:cNvCxnSpPr>
          <p:nvPr/>
        </p:nvCxnSpPr>
        <p:spPr>
          <a:xfrm flipV="1">
            <a:off x="4552742" y="2776371"/>
            <a:ext cx="223879" cy="209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0A20AD23-29DD-65EB-3543-5D04B1EA79D8}"/>
              </a:ext>
            </a:extLst>
          </p:cNvPr>
          <p:cNvCxnSpPr>
            <a:cxnSpLocks/>
            <a:stCxn id="54" idx="1"/>
            <a:endCxn id="242" idx="6"/>
          </p:cNvCxnSpPr>
          <p:nvPr/>
        </p:nvCxnSpPr>
        <p:spPr>
          <a:xfrm flipH="1">
            <a:off x="4688051" y="3884796"/>
            <a:ext cx="389818" cy="140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30C886FC-1AFA-BC1B-FA16-3C9BF4BFBA30}"/>
              </a:ext>
            </a:extLst>
          </p:cNvPr>
          <p:cNvCxnSpPr>
            <a:cxnSpLocks/>
            <a:stCxn id="242" idx="2"/>
            <a:endCxn id="58" idx="1"/>
          </p:cNvCxnSpPr>
          <p:nvPr/>
        </p:nvCxnSpPr>
        <p:spPr>
          <a:xfrm flipH="1" flipV="1">
            <a:off x="3723326" y="3833510"/>
            <a:ext cx="460725" cy="19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9E1321CD-5608-D577-7603-E4EC3FC9133D}"/>
              </a:ext>
            </a:extLst>
          </p:cNvPr>
          <p:cNvCxnSpPr>
            <a:cxnSpLocks/>
            <a:stCxn id="56" idx="1"/>
            <a:endCxn id="34" idx="0"/>
          </p:cNvCxnSpPr>
          <p:nvPr/>
        </p:nvCxnSpPr>
        <p:spPr>
          <a:xfrm flipH="1">
            <a:off x="5804884" y="3560037"/>
            <a:ext cx="296644" cy="262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id="{3E318CCF-FDF0-264D-32BB-FBB5AB9C9D7E}"/>
              </a:ext>
            </a:extLst>
          </p:cNvPr>
          <p:cNvCxnSpPr>
            <a:cxnSpLocks/>
            <a:stCxn id="14" idx="5"/>
          </p:cNvCxnSpPr>
          <p:nvPr/>
        </p:nvCxnSpPr>
        <p:spPr>
          <a:xfrm>
            <a:off x="4552742" y="3341957"/>
            <a:ext cx="223879" cy="73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3" name="直接连接符 282">
            <a:extLst>
              <a:ext uri="{FF2B5EF4-FFF2-40B4-BE49-F238E27FC236}">
                <a16:creationId xmlns:a16="http://schemas.microsoft.com/office/drawing/2014/main" id="{C123562C-A48A-9A6D-2249-3866BC750119}"/>
              </a:ext>
            </a:extLst>
          </p:cNvPr>
          <p:cNvCxnSpPr>
            <a:cxnSpLocks/>
            <a:stCxn id="50" idx="3"/>
            <a:endCxn id="54" idx="3"/>
          </p:cNvCxnSpPr>
          <p:nvPr/>
        </p:nvCxnSpPr>
        <p:spPr>
          <a:xfrm flipH="1">
            <a:off x="5077869" y="3066446"/>
            <a:ext cx="245859" cy="2648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8824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云形 43">
            <a:extLst>
              <a:ext uri="{FF2B5EF4-FFF2-40B4-BE49-F238E27FC236}">
                <a16:creationId xmlns:a16="http://schemas.microsoft.com/office/drawing/2014/main" id="{5116DFA7-F9EE-5311-2C20-9D9562BCB8CE}"/>
              </a:ext>
            </a:extLst>
          </p:cNvPr>
          <p:cNvSpPr/>
          <p:nvPr/>
        </p:nvSpPr>
        <p:spPr>
          <a:xfrm>
            <a:off x="2037445" y="1242377"/>
            <a:ext cx="5385630" cy="3338777"/>
          </a:xfrm>
          <a:prstGeom prst="cloud">
            <a:avLst/>
          </a:prstGeom>
          <a:noFill/>
          <a:ln w="635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endParaRPr>
          </a:p>
        </p:txBody>
      </p:sp>
      <p:sp>
        <p:nvSpPr>
          <p:cNvPr id="2" name="标题 1">
            <a:extLst>
              <a:ext uri="{FF2B5EF4-FFF2-40B4-BE49-F238E27FC236}">
                <a16:creationId xmlns:a16="http://schemas.microsoft.com/office/drawing/2014/main" id="{8E703439-3F25-B35C-BB49-0168DFE3E9E3}"/>
              </a:ext>
            </a:extLst>
          </p:cNvPr>
          <p:cNvSpPr>
            <a:spLocks noGrp="1"/>
          </p:cNvSpPr>
          <p:nvPr>
            <p:ph type="title"/>
          </p:nvPr>
        </p:nvSpPr>
        <p:spPr>
          <a:xfrm>
            <a:off x="612000" y="144000"/>
            <a:ext cx="7920000" cy="341632"/>
          </a:xfrm>
        </p:spPr>
        <p:txBody>
          <a:bodyPr/>
          <a:lstStyle/>
          <a:p>
            <a:r>
              <a:rPr lang="en-US" altLang="zh-CN" dirty="0"/>
              <a:t>1.2.1  </a:t>
            </a:r>
            <a:r>
              <a:rPr lang="zh-CN" altLang="en-US" dirty="0"/>
              <a:t>网络的网络</a:t>
            </a:r>
          </a:p>
        </p:txBody>
      </p:sp>
      <p:grpSp>
        <p:nvGrpSpPr>
          <p:cNvPr id="3" name="组合 2">
            <a:extLst>
              <a:ext uri="{FF2B5EF4-FFF2-40B4-BE49-F238E27FC236}">
                <a16:creationId xmlns:a16="http://schemas.microsoft.com/office/drawing/2014/main" id="{2B27AE64-8490-18D2-BD49-D0F9E9E48827}"/>
              </a:ext>
            </a:extLst>
          </p:cNvPr>
          <p:cNvGrpSpPr/>
          <p:nvPr/>
        </p:nvGrpSpPr>
        <p:grpSpPr>
          <a:xfrm>
            <a:off x="3990925" y="2456325"/>
            <a:ext cx="504000" cy="504000"/>
            <a:chOff x="1110463" y="3137054"/>
            <a:chExt cx="504000" cy="504000"/>
          </a:xfrm>
        </p:grpSpPr>
        <p:sp>
          <p:nvSpPr>
            <p:cNvPr id="4" name="椭圆 3">
              <a:extLst>
                <a:ext uri="{FF2B5EF4-FFF2-40B4-BE49-F238E27FC236}">
                  <a16:creationId xmlns:a16="http://schemas.microsoft.com/office/drawing/2014/main" id="{1811C8D7-D532-10A0-4BC4-401650515FD6}"/>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3A096507-861B-A020-B50B-E5BCDBB2E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sp>
        <p:nvSpPr>
          <p:cNvPr id="6" name="文本框 5">
            <a:extLst>
              <a:ext uri="{FF2B5EF4-FFF2-40B4-BE49-F238E27FC236}">
                <a16:creationId xmlns:a16="http://schemas.microsoft.com/office/drawing/2014/main" id="{ED29DC35-56F8-220D-9873-8C2C6DCDE072}"/>
              </a:ext>
            </a:extLst>
          </p:cNvPr>
          <p:cNvSpPr txBox="1"/>
          <p:nvPr/>
        </p:nvSpPr>
        <p:spPr>
          <a:xfrm>
            <a:off x="3316688" y="4340423"/>
            <a:ext cx="2510624" cy="307777"/>
          </a:xfrm>
          <a:prstGeom prst="rect">
            <a:avLst/>
          </a:prstGeom>
          <a:noFill/>
        </p:spPr>
        <p:txBody>
          <a:bodyPr wrap="none" rtlCol="0">
            <a:spAutoFit/>
          </a:bodyPr>
          <a:lstStyle/>
          <a:p>
            <a:pPr algn="ctr"/>
            <a:r>
              <a:rPr lang="zh-CN" altLang="en-US" sz="1400" dirty="0"/>
              <a:t>图</a:t>
            </a:r>
            <a:r>
              <a:rPr lang="en-US" altLang="zh-CN" sz="1400" dirty="0"/>
              <a:t>1-1 (b) </a:t>
            </a:r>
            <a:r>
              <a:rPr lang="zh-CN" altLang="en-US" sz="1400" dirty="0"/>
              <a:t>由网络构成的互连网</a:t>
            </a:r>
          </a:p>
        </p:txBody>
      </p:sp>
      <p:grpSp>
        <p:nvGrpSpPr>
          <p:cNvPr id="7" name="组合 6">
            <a:extLst>
              <a:ext uri="{FF2B5EF4-FFF2-40B4-BE49-F238E27FC236}">
                <a16:creationId xmlns:a16="http://schemas.microsoft.com/office/drawing/2014/main" id="{F6FCE3C8-FB0D-DD57-DE8A-1CD3D5442FA2}"/>
              </a:ext>
            </a:extLst>
          </p:cNvPr>
          <p:cNvGrpSpPr/>
          <p:nvPr/>
        </p:nvGrpSpPr>
        <p:grpSpPr>
          <a:xfrm>
            <a:off x="2518753" y="2827836"/>
            <a:ext cx="504000" cy="504000"/>
            <a:chOff x="2611895" y="3430082"/>
            <a:chExt cx="504000" cy="504000"/>
          </a:xfrm>
        </p:grpSpPr>
        <p:sp>
          <p:nvSpPr>
            <p:cNvPr id="8" name="椭圆 7">
              <a:extLst>
                <a:ext uri="{FF2B5EF4-FFF2-40B4-BE49-F238E27FC236}">
                  <a16:creationId xmlns:a16="http://schemas.microsoft.com/office/drawing/2014/main" id="{AAC8D2EF-98D1-4864-B792-F14DE10CDDBB}"/>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E122BF27-B933-337B-FD37-1247A8048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10" name="组合 9">
            <a:extLst>
              <a:ext uri="{FF2B5EF4-FFF2-40B4-BE49-F238E27FC236}">
                <a16:creationId xmlns:a16="http://schemas.microsoft.com/office/drawing/2014/main" id="{33B3089C-0A19-30C4-38DF-B58D6FA7224A}"/>
              </a:ext>
            </a:extLst>
          </p:cNvPr>
          <p:cNvGrpSpPr/>
          <p:nvPr/>
        </p:nvGrpSpPr>
        <p:grpSpPr>
          <a:xfrm>
            <a:off x="5421258" y="3367461"/>
            <a:ext cx="504000" cy="504000"/>
            <a:chOff x="2611895" y="3430082"/>
            <a:chExt cx="504000" cy="504000"/>
          </a:xfrm>
        </p:grpSpPr>
        <p:sp>
          <p:nvSpPr>
            <p:cNvPr id="11" name="椭圆 10">
              <a:extLst>
                <a:ext uri="{FF2B5EF4-FFF2-40B4-BE49-F238E27FC236}">
                  <a16:creationId xmlns:a16="http://schemas.microsoft.com/office/drawing/2014/main" id="{8416408B-8DF0-5F1F-E3D1-7EE57B143E97}"/>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EDBF2FA0-F581-C92D-2633-6281755F6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grpSp>
        <p:nvGrpSpPr>
          <p:cNvPr id="13" name="组合 12">
            <a:extLst>
              <a:ext uri="{FF2B5EF4-FFF2-40B4-BE49-F238E27FC236}">
                <a16:creationId xmlns:a16="http://schemas.microsoft.com/office/drawing/2014/main" id="{420F3833-9442-C537-EEA7-83533D4CFC47}"/>
              </a:ext>
            </a:extLst>
          </p:cNvPr>
          <p:cNvGrpSpPr/>
          <p:nvPr/>
        </p:nvGrpSpPr>
        <p:grpSpPr>
          <a:xfrm>
            <a:off x="3605876" y="1700325"/>
            <a:ext cx="504000" cy="504000"/>
            <a:chOff x="2611895" y="3430082"/>
            <a:chExt cx="504000" cy="504000"/>
          </a:xfrm>
        </p:grpSpPr>
        <p:sp>
          <p:nvSpPr>
            <p:cNvPr id="14" name="椭圆 13">
              <a:extLst>
                <a:ext uri="{FF2B5EF4-FFF2-40B4-BE49-F238E27FC236}">
                  <a16:creationId xmlns:a16="http://schemas.microsoft.com/office/drawing/2014/main" id="{41D11292-00D9-BBBB-0F50-4EE5EE9A00F9}"/>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2A548932-8208-E34A-E869-B0D4FBD59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cxnSp>
        <p:nvCxnSpPr>
          <p:cNvPr id="16" name="直接连接符 15">
            <a:extLst>
              <a:ext uri="{FF2B5EF4-FFF2-40B4-BE49-F238E27FC236}">
                <a16:creationId xmlns:a16="http://schemas.microsoft.com/office/drawing/2014/main" id="{6F5C3CD0-61F2-6D42-7E60-6524D8B16985}"/>
              </a:ext>
            </a:extLst>
          </p:cNvPr>
          <p:cNvCxnSpPr>
            <a:cxnSpLocks/>
            <a:stCxn id="14" idx="6"/>
            <a:endCxn id="22" idx="2"/>
          </p:cNvCxnSpPr>
          <p:nvPr/>
        </p:nvCxnSpPr>
        <p:spPr>
          <a:xfrm>
            <a:off x="4109876" y="1952325"/>
            <a:ext cx="387205" cy="109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70A6DD3-5289-D91F-E113-A6B21B0DE250}"/>
              </a:ext>
            </a:extLst>
          </p:cNvPr>
          <p:cNvCxnSpPr>
            <a:cxnSpLocks/>
            <a:stCxn id="8" idx="6"/>
            <a:endCxn id="25" idx="2"/>
          </p:cNvCxnSpPr>
          <p:nvPr/>
        </p:nvCxnSpPr>
        <p:spPr>
          <a:xfrm>
            <a:off x="3022753" y="3079836"/>
            <a:ext cx="223494" cy="49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860B3E9-07C8-1D9A-B468-F0ABF7A35931}"/>
              </a:ext>
            </a:extLst>
          </p:cNvPr>
          <p:cNvCxnSpPr>
            <a:cxnSpLocks/>
            <a:stCxn id="11" idx="2"/>
          </p:cNvCxnSpPr>
          <p:nvPr/>
        </p:nvCxnSpPr>
        <p:spPr>
          <a:xfrm flipH="1" flipV="1">
            <a:off x="5215242" y="3297984"/>
            <a:ext cx="206016" cy="321477"/>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60717602-FDC2-C35E-DC85-31C76C930E54}"/>
              </a:ext>
            </a:extLst>
          </p:cNvPr>
          <p:cNvGrpSpPr/>
          <p:nvPr/>
        </p:nvGrpSpPr>
        <p:grpSpPr>
          <a:xfrm>
            <a:off x="5118293" y="2180814"/>
            <a:ext cx="504000" cy="504000"/>
            <a:chOff x="1110463" y="3137054"/>
            <a:chExt cx="504000" cy="504000"/>
          </a:xfrm>
        </p:grpSpPr>
        <p:sp>
          <p:nvSpPr>
            <p:cNvPr id="20" name="椭圆 19">
              <a:extLst>
                <a:ext uri="{FF2B5EF4-FFF2-40B4-BE49-F238E27FC236}">
                  <a16:creationId xmlns:a16="http://schemas.microsoft.com/office/drawing/2014/main" id="{3AB9CC72-B824-D20E-BAAB-C74127341F68}"/>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A0286893-9267-752C-6872-C33B629F11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sp>
        <p:nvSpPr>
          <p:cNvPr id="22" name="云形 21">
            <a:extLst>
              <a:ext uri="{FF2B5EF4-FFF2-40B4-BE49-F238E27FC236}">
                <a16:creationId xmlns:a16="http://schemas.microsoft.com/office/drawing/2014/main" id="{3EB944C3-C6E5-E4E0-8C02-2C88507470D3}"/>
              </a:ext>
            </a:extLst>
          </p:cNvPr>
          <p:cNvSpPr/>
          <p:nvPr/>
        </p:nvSpPr>
        <p:spPr>
          <a:xfrm>
            <a:off x="4494925" y="1768353"/>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23" name="云形 22">
            <a:extLst>
              <a:ext uri="{FF2B5EF4-FFF2-40B4-BE49-F238E27FC236}">
                <a16:creationId xmlns:a16="http://schemas.microsoft.com/office/drawing/2014/main" id="{C8E32129-45DE-CB16-6070-0AA92EC2ED32}"/>
              </a:ext>
            </a:extLst>
          </p:cNvPr>
          <p:cNvSpPr/>
          <p:nvPr/>
        </p:nvSpPr>
        <p:spPr>
          <a:xfrm>
            <a:off x="4598634" y="2842258"/>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24" name="云形 23">
            <a:extLst>
              <a:ext uri="{FF2B5EF4-FFF2-40B4-BE49-F238E27FC236}">
                <a16:creationId xmlns:a16="http://schemas.microsoft.com/office/drawing/2014/main" id="{5A37AEB8-3A4C-79FD-B6E7-3BFAAB4EF6B6}"/>
              </a:ext>
            </a:extLst>
          </p:cNvPr>
          <p:cNvSpPr/>
          <p:nvPr/>
        </p:nvSpPr>
        <p:spPr>
          <a:xfrm>
            <a:off x="5622293" y="2517499"/>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sp>
        <p:nvSpPr>
          <p:cNvPr id="25" name="云形 24">
            <a:extLst>
              <a:ext uri="{FF2B5EF4-FFF2-40B4-BE49-F238E27FC236}">
                <a16:creationId xmlns:a16="http://schemas.microsoft.com/office/drawing/2014/main" id="{C56A5766-6A52-5AF7-C2D3-62BEE63FF5FB}"/>
              </a:ext>
            </a:extLst>
          </p:cNvPr>
          <p:cNvSpPr/>
          <p:nvPr/>
        </p:nvSpPr>
        <p:spPr>
          <a:xfrm>
            <a:off x="3244091" y="2790972"/>
            <a:ext cx="695218" cy="587723"/>
          </a:xfrm>
          <a:prstGeom prst="cloud">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Net</a:t>
            </a:r>
            <a:endParaRPr lang="zh-CN" altLang="en-US" sz="1100" dirty="0">
              <a:solidFill>
                <a:schemeClr val="tx1"/>
              </a:solidFill>
            </a:endParaRPr>
          </a:p>
        </p:txBody>
      </p:sp>
      <p:cxnSp>
        <p:nvCxnSpPr>
          <p:cNvPr id="26" name="直接连接符 25">
            <a:extLst>
              <a:ext uri="{FF2B5EF4-FFF2-40B4-BE49-F238E27FC236}">
                <a16:creationId xmlns:a16="http://schemas.microsoft.com/office/drawing/2014/main" id="{68B71BB2-1253-81B0-03C9-0C8E29C0E864}"/>
              </a:ext>
            </a:extLst>
          </p:cNvPr>
          <p:cNvCxnSpPr>
            <a:cxnSpLocks/>
            <a:endCxn id="4" idx="2"/>
          </p:cNvCxnSpPr>
          <p:nvPr/>
        </p:nvCxnSpPr>
        <p:spPr>
          <a:xfrm flipV="1">
            <a:off x="3829767" y="2708325"/>
            <a:ext cx="161158" cy="119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76A7612A-C6AB-5A04-7CED-E0E941FB6665}"/>
              </a:ext>
            </a:extLst>
          </p:cNvPr>
          <p:cNvCxnSpPr>
            <a:cxnSpLocks/>
            <a:endCxn id="20" idx="1"/>
          </p:cNvCxnSpPr>
          <p:nvPr/>
        </p:nvCxnSpPr>
        <p:spPr>
          <a:xfrm>
            <a:off x="5118293" y="2223821"/>
            <a:ext cx="73809" cy="30802"/>
          </a:xfrm>
          <a:prstGeom prst="line">
            <a:avLst/>
          </a:prstGeom>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7B2C96FD-8E5B-D434-97BF-7093DD003291}"/>
              </a:ext>
            </a:extLst>
          </p:cNvPr>
          <p:cNvGrpSpPr/>
          <p:nvPr/>
        </p:nvGrpSpPr>
        <p:grpSpPr>
          <a:xfrm>
            <a:off x="6602555" y="2559360"/>
            <a:ext cx="504000" cy="504000"/>
            <a:chOff x="2611895" y="3430082"/>
            <a:chExt cx="504000" cy="504000"/>
          </a:xfrm>
        </p:grpSpPr>
        <p:sp>
          <p:nvSpPr>
            <p:cNvPr id="29" name="椭圆 28">
              <a:extLst>
                <a:ext uri="{FF2B5EF4-FFF2-40B4-BE49-F238E27FC236}">
                  <a16:creationId xmlns:a16="http://schemas.microsoft.com/office/drawing/2014/main" id="{709DC931-095A-51FA-722E-ECB4092C2A88}"/>
                </a:ext>
              </a:extLst>
            </p:cNvPr>
            <p:cNvSpPr/>
            <p:nvPr/>
          </p:nvSpPr>
          <p:spPr>
            <a:xfrm>
              <a:off x="2611895" y="3430082"/>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55F6B010-2D3B-C2D7-205C-CAC4F26D09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970" y="3529682"/>
              <a:ext cx="323850" cy="304800"/>
            </a:xfrm>
            <a:prstGeom prst="rect">
              <a:avLst/>
            </a:prstGeom>
          </p:spPr>
        </p:pic>
      </p:grpSp>
      <p:cxnSp>
        <p:nvCxnSpPr>
          <p:cNvPr id="31" name="直接连接符 30">
            <a:extLst>
              <a:ext uri="{FF2B5EF4-FFF2-40B4-BE49-F238E27FC236}">
                <a16:creationId xmlns:a16="http://schemas.microsoft.com/office/drawing/2014/main" id="{97CA4AC4-834E-7E08-DAAF-9E3A27090F0F}"/>
              </a:ext>
            </a:extLst>
          </p:cNvPr>
          <p:cNvCxnSpPr>
            <a:stCxn id="29" idx="2"/>
            <a:endCxn id="24" idx="0"/>
          </p:cNvCxnSpPr>
          <p:nvPr/>
        </p:nvCxnSpPr>
        <p:spPr>
          <a:xfrm flipH="1">
            <a:off x="6316932" y="2811360"/>
            <a:ext cx="285623"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CCC76F4-4ADC-8593-8AED-F7284CBBD720}"/>
              </a:ext>
            </a:extLst>
          </p:cNvPr>
          <p:cNvCxnSpPr>
            <a:cxnSpLocks/>
            <a:endCxn id="20" idx="5"/>
          </p:cNvCxnSpPr>
          <p:nvPr/>
        </p:nvCxnSpPr>
        <p:spPr>
          <a:xfrm flipH="1" flipV="1">
            <a:off x="5548484" y="2611005"/>
            <a:ext cx="135309" cy="23431"/>
          </a:xfrm>
          <a:prstGeom prst="line">
            <a:avLst/>
          </a:prstGeom>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A69D2361-F60B-6E65-5C5E-0E4E7DE08B4A}"/>
              </a:ext>
            </a:extLst>
          </p:cNvPr>
          <p:cNvGrpSpPr/>
          <p:nvPr/>
        </p:nvGrpSpPr>
        <p:grpSpPr>
          <a:xfrm>
            <a:off x="4052425" y="3318093"/>
            <a:ext cx="504000" cy="504000"/>
            <a:chOff x="1110463" y="3137054"/>
            <a:chExt cx="504000" cy="504000"/>
          </a:xfrm>
        </p:grpSpPr>
        <p:sp>
          <p:nvSpPr>
            <p:cNvPr id="34" name="椭圆 33">
              <a:extLst>
                <a:ext uri="{FF2B5EF4-FFF2-40B4-BE49-F238E27FC236}">
                  <a16:creationId xmlns:a16="http://schemas.microsoft.com/office/drawing/2014/main" id="{BA5605EE-2DAE-5FBE-6A73-20EFBCDC9739}"/>
                </a:ext>
              </a:extLst>
            </p:cNvPr>
            <p:cNvSpPr/>
            <p:nvPr/>
          </p:nvSpPr>
          <p:spPr>
            <a:xfrm>
              <a:off x="1110463" y="3137054"/>
              <a:ext cx="504000" cy="504000"/>
            </a:xfrm>
            <a:prstGeom prst="ellipse">
              <a:avLst/>
            </a:prstGeom>
            <a:noFill/>
            <a:ln w="6350">
              <a:solidFill>
                <a:srgbClr val="607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AD1028AD-2311-44BE-5095-A1B07E91A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63" y="3236654"/>
              <a:ext cx="381000" cy="304800"/>
            </a:xfrm>
            <a:prstGeom prst="rect">
              <a:avLst/>
            </a:prstGeom>
          </p:spPr>
        </p:pic>
      </p:grpSp>
      <p:cxnSp>
        <p:nvCxnSpPr>
          <p:cNvPr id="36" name="直接连接符 35">
            <a:extLst>
              <a:ext uri="{FF2B5EF4-FFF2-40B4-BE49-F238E27FC236}">
                <a16:creationId xmlns:a16="http://schemas.microsoft.com/office/drawing/2014/main" id="{6FDB6B47-1BB1-B34B-DABE-4A3ACBF71060}"/>
              </a:ext>
            </a:extLst>
          </p:cNvPr>
          <p:cNvCxnSpPr>
            <a:stCxn id="4" idx="7"/>
          </p:cNvCxnSpPr>
          <p:nvPr/>
        </p:nvCxnSpPr>
        <p:spPr>
          <a:xfrm flipV="1">
            <a:off x="4421116" y="2320930"/>
            <a:ext cx="223879" cy="209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40EE388-E646-4CCC-E19D-DC2B141FA633}"/>
              </a:ext>
            </a:extLst>
          </p:cNvPr>
          <p:cNvCxnSpPr>
            <a:cxnSpLocks/>
            <a:stCxn id="23" idx="1"/>
            <a:endCxn id="34" idx="6"/>
          </p:cNvCxnSpPr>
          <p:nvPr/>
        </p:nvCxnSpPr>
        <p:spPr>
          <a:xfrm flipH="1">
            <a:off x="4556425" y="3429355"/>
            <a:ext cx="389818" cy="140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EEBDC97-CC81-F0A4-8289-94CCEE5114DF}"/>
              </a:ext>
            </a:extLst>
          </p:cNvPr>
          <p:cNvCxnSpPr>
            <a:cxnSpLocks/>
            <a:stCxn id="34" idx="2"/>
            <a:endCxn id="25" idx="1"/>
          </p:cNvCxnSpPr>
          <p:nvPr/>
        </p:nvCxnSpPr>
        <p:spPr>
          <a:xfrm flipH="1" flipV="1">
            <a:off x="3591700" y="3378069"/>
            <a:ext cx="460725" cy="19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9AB46C6C-C234-4DFA-E92B-3BBD7DAC79E1}"/>
              </a:ext>
            </a:extLst>
          </p:cNvPr>
          <p:cNvCxnSpPr>
            <a:cxnSpLocks/>
            <a:stCxn id="24" idx="1"/>
            <a:endCxn id="11" idx="0"/>
          </p:cNvCxnSpPr>
          <p:nvPr/>
        </p:nvCxnSpPr>
        <p:spPr>
          <a:xfrm flipH="1">
            <a:off x="5673258" y="3104596"/>
            <a:ext cx="296644" cy="262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53F5AB4-4EC7-236E-7112-CEA631B9E2F5}"/>
              </a:ext>
            </a:extLst>
          </p:cNvPr>
          <p:cNvCxnSpPr>
            <a:cxnSpLocks/>
            <a:stCxn id="4" idx="5"/>
          </p:cNvCxnSpPr>
          <p:nvPr/>
        </p:nvCxnSpPr>
        <p:spPr>
          <a:xfrm>
            <a:off x="4421116" y="2886516"/>
            <a:ext cx="223879" cy="73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BADCAC53-C8D8-CC10-96CF-2A9D859003AA}"/>
              </a:ext>
            </a:extLst>
          </p:cNvPr>
          <p:cNvCxnSpPr>
            <a:cxnSpLocks/>
            <a:stCxn id="20" idx="3"/>
            <a:endCxn id="23" idx="3"/>
          </p:cNvCxnSpPr>
          <p:nvPr/>
        </p:nvCxnSpPr>
        <p:spPr>
          <a:xfrm flipH="1">
            <a:off x="4946243" y="2611005"/>
            <a:ext cx="245859" cy="2648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861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E9FA-B5FD-5C38-74E1-F2339865FE2B}"/>
              </a:ext>
            </a:extLst>
          </p:cNvPr>
          <p:cNvSpPr>
            <a:spLocks noGrp="1"/>
          </p:cNvSpPr>
          <p:nvPr>
            <p:ph type="title"/>
          </p:nvPr>
        </p:nvSpPr>
        <p:spPr>
          <a:xfrm>
            <a:off x="612000" y="144000"/>
            <a:ext cx="7920000" cy="341632"/>
          </a:xfrm>
        </p:spPr>
        <p:txBody>
          <a:bodyPr/>
          <a:lstStyle/>
          <a:p>
            <a:r>
              <a:rPr lang="en-US" altLang="zh-CN" dirty="0"/>
              <a:t>1.2.2  </a:t>
            </a:r>
            <a:r>
              <a:rPr lang="zh-CN" altLang="en-US" dirty="0"/>
              <a:t>互联网基础结构发展的三个阶段</a:t>
            </a:r>
          </a:p>
        </p:txBody>
      </p:sp>
      <p:sp>
        <p:nvSpPr>
          <p:cNvPr id="5" name="文本框 4">
            <a:extLst>
              <a:ext uri="{FF2B5EF4-FFF2-40B4-BE49-F238E27FC236}">
                <a16:creationId xmlns:a16="http://schemas.microsoft.com/office/drawing/2014/main" id="{D44EA98F-8E80-5B6D-B3FA-E4CB33CD9721}"/>
              </a:ext>
            </a:extLst>
          </p:cNvPr>
          <p:cNvSpPr txBox="1"/>
          <p:nvPr/>
        </p:nvSpPr>
        <p:spPr>
          <a:xfrm>
            <a:off x="612775" y="3756836"/>
            <a:ext cx="3135795" cy="769441"/>
          </a:xfrm>
          <a:prstGeom prst="rect">
            <a:avLst/>
          </a:prstGeom>
          <a:noFill/>
        </p:spPr>
        <p:txBody>
          <a:bodyPr wrap="none" rtlCol="0">
            <a:spAutoFit/>
          </a:bodyPr>
          <a:lstStyle/>
          <a:p>
            <a:pPr algn="l"/>
            <a:r>
              <a:rPr lang="en-US" altLang="zh-CN" sz="1600" dirty="0">
                <a:solidFill>
                  <a:srgbClr val="D4237A"/>
                </a:solidFill>
              </a:rPr>
              <a:t>1969 – 1990</a:t>
            </a:r>
          </a:p>
          <a:p>
            <a:pPr algn="l"/>
            <a:r>
              <a:rPr lang="zh-CN" altLang="en-US" sz="1400" dirty="0"/>
              <a:t>从单个网络 </a:t>
            </a:r>
            <a:r>
              <a:rPr lang="en-US" altLang="zh-CN" sz="1400" dirty="0"/>
              <a:t>ARPANET </a:t>
            </a:r>
            <a:r>
              <a:rPr lang="zh-CN" altLang="en-US" sz="1400" dirty="0"/>
              <a:t>向互联网发展</a:t>
            </a:r>
          </a:p>
          <a:p>
            <a:pPr algn="l"/>
            <a:r>
              <a:rPr lang="en-US" altLang="zh-CN" sz="1400" dirty="0"/>
              <a:t>4</a:t>
            </a:r>
            <a:r>
              <a:rPr lang="zh-CN" altLang="en-US" sz="1400" dirty="0"/>
              <a:t>个节点 → 多个节点</a:t>
            </a:r>
          </a:p>
        </p:txBody>
      </p:sp>
      <p:sp>
        <p:nvSpPr>
          <p:cNvPr id="6" name="文本框 5">
            <a:extLst>
              <a:ext uri="{FF2B5EF4-FFF2-40B4-BE49-F238E27FC236}">
                <a16:creationId xmlns:a16="http://schemas.microsoft.com/office/drawing/2014/main" id="{34C8920A-A846-DF09-5D44-C02BB6204648}"/>
              </a:ext>
            </a:extLst>
          </p:cNvPr>
          <p:cNvSpPr txBox="1"/>
          <p:nvPr/>
        </p:nvSpPr>
        <p:spPr>
          <a:xfrm>
            <a:off x="3354359" y="2671287"/>
            <a:ext cx="2816797" cy="769441"/>
          </a:xfrm>
          <a:prstGeom prst="rect">
            <a:avLst/>
          </a:prstGeom>
          <a:noFill/>
        </p:spPr>
        <p:txBody>
          <a:bodyPr wrap="none" rtlCol="0">
            <a:spAutoFit/>
          </a:bodyPr>
          <a:lstStyle/>
          <a:p>
            <a:pPr algn="l"/>
            <a:r>
              <a:rPr lang="en-US" altLang="zh-CN" sz="1600" dirty="0">
                <a:solidFill>
                  <a:srgbClr val="D4237A"/>
                </a:solidFill>
              </a:rPr>
              <a:t>1985 – 1993</a:t>
            </a:r>
          </a:p>
          <a:p>
            <a:pPr algn="l"/>
            <a:r>
              <a:rPr lang="zh-CN" altLang="en-US" sz="1400" dirty="0"/>
              <a:t>建成了三级结构的互联网</a:t>
            </a:r>
            <a:endParaRPr lang="en-US" altLang="zh-CN" sz="1400" dirty="0"/>
          </a:p>
          <a:p>
            <a:r>
              <a:rPr lang="zh-CN" altLang="en-US" sz="1400" dirty="0"/>
              <a:t>主干网、地区网和校园网</a:t>
            </a:r>
            <a:r>
              <a:rPr lang="en-US" altLang="zh-CN" sz="1400" dirty="0"/>
              <a:t>(</a:t>
            </a:r>
            <a:r>
              <a:rPr lang="zh-CN" altLang="en-US" sz="1400" dirty="0"/>
              <a:t>企业网</a:t>
            </a:r>
            <a:r>
              <a:rPr lang="en-US" altLang="zh-CN" sz="1400" dirty="0"/>
              <a:t>)</a:t>
            </a:r>
            <a:endParaRPr lang="zh-CN" altLang="en-US" sz="1400" dirty="0"/>
          </a:p>
        </p:txBody>
      </p:sp>
      <p:sp>
        <p:nvSpPr>
          <p:cNvPr id="8" name="文本框 7">
            <a:extLst>
              <a:ext uri="{FF2B5EF4-FFF2-40B4-BE49-F238E27FC236}">
                <a16:creationId xmlns:a16="http://schemas.microsoft.com/office/drawing/2014/main" id="{DCD49801-7F30-1696-3966-FFE3A0477FFF}"/>
              </a:ext>
            </a:extLst>
          </p:cNvPr>
          <p:cNvSpPr txBox="1"/>
          <p:nvPr/>
        </p:nvSpPr>
        <p:spPr>
          <a:xfrm>
            <a:off x="5028343" y="1585739"/>
            <a:ext cx="3084499" cy="553998"/>
          </a:xfrm>
          <a:prstGeom prst="rect">
            <a:avLst/>
          </a:prstGeom>
          <a:noFill/>
        </p:spPr>
        <p:txBody>
          <a:bodyPr wrap="none" rtlCol="0">
            <a:spAutoFit/>
          </a:bodyPr>
          <a:lstStyle/>
          <a:p>
            <a:pPr algn="l"/>
            <a:r>
              <a:rPr lang="en-US" altLang="zh-CN" sz="1600" dirty="0">
                <a:solidFill>
                  <a:srgbClr val="D4237A"/>
                </a:solidFill>
              </a:rPr>
              <a:t>1993 –</a:t>
            </a:r>
            <a:endParaRPr lang="zh-CN" altLang="en-US" sz="1600" dirty="0">
              <a:solidFill>
                <a:srgbClr val="D4237A"/>
              </a:solidFill>
            </a:endParaRPr>
          </a:p>
          <a:p>
            <a:pPr algn="l"/>
            <a:r>
              <a:rPr lang="zh-CN" altLang="en-US" sz="1400" dirty="0"/>
              <a:t>全球范围的多层次 </a:t>
            </a:r>
            <a:r>
              <a:rPr lang="en-US" altLang="zh-CN" sz="1400" dirty="0"/>
              <a:t>ISP </a:t>
            </a:r>
            <a:r>
              <a:rPr lang="zh-CN" altLang="en-US" sz="1400" dirty="0"/>
              <a:t>结构的互联网</a:t>
            </a:r>
          </a:p>
        </p:txBody>
      </p:sp>
      <p:sp>
        <p:nvSpPr>
          <p:cNvPr id="9" name="矩形 8">
            <a:extLst>
              <a:ext uri="{FF2B5EF4-FFF2-40B4-BE49-F238E27FC236}">
                <a16:creationId xmlns:a16="http://schemas.microsoft.com/office/drawing/2014/main" id="{DC25A42C-8569-CAC8-2B0D-B0DE8C504C96}"/>
              </a:ext>
            </a:extLst>
          </p:cNvPr>
          <p:cNvSpPr/>
          <p:nvPr/>
        </p:nvSpPr>
        <p:spPr>
          <a:xfrm>
            <a:off x="612776" y="3756836"/>
            <a:ext cx="2880000" cy="36000"/>
          </a:xfrm>
          <a:prstGeom prst="rect">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B26D378-4EC0-05E1-F7DC-FD8C438A6E1E}"/>
              </a:ext>
            </a:extLst>
          </p:cNvPr>
          <p:cNvSpPr/>
          <p:nvPr/>
        </p:nvSpPr>
        <p:spPr>
          <a:xfrm>
            <a:off x="3354359" y="2671287"/>
            <a:ext cx="2880000" cy="36000"/>
          </a:xfrm>
          <a:prstGeom prst="rect">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6488692-CEFC-8281-3EA6-9EABAA42E764}"/>
              </a:ext>
            </a:extLst>
          </p:cNvPr>
          <p:cNvSpPr/>
          <p:nvPr/>
        </p:nvSpPr>
        <p:spPr>
          <a:xfrm>
            <a:off x="5028343" y="1585739"/>
            <a:ext cx="2880000" cy="36000"/>
          </a:xfrm>
          <a:prstGeom prst="rect">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A58796A-F392-2915-D9C3-3B7143ECEAEA}"/>
              </a:ext>
            </a:extLst>
          </p:cNvPr>
          <p:cNvSpPr/>
          <p:nvPr/>
        </p:nvSpPr>
        <p:spPr>
          <a:xfrm>
            <a:off x="612775" y="3320405"/>
            <a:ext cx="333154" cy="341312"/>
          </a:xfrm>
          <a:prstGeom prst="ellipse">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6" name="椭圆 15">
            <a:extLst>
              <a:ext uri="{FF2B5EF4-FFF2-40B4-BE49-F238E27FC236}">
                <a16:creationId xmlns:a16="http://schemas.microsoft.com/office/drawing/2014/main" id="{7BE39CF3-88FD-09D8-D52E-F076F73E2911}"/>
              </a:ext>
            </a:extLst>
          </p:cNvPr>
          <p:cNvSpPr/>
          <p:nvPr/>
        </p:nvSpPr>
        <p:spPr>
          <a:xfrm>
            <a:off x="3354359" y="2234856"/>
            <a:ext cx="333154" cy="341312"/>
          </a:xfrm>
          <a:prstGeom prst="ellipse">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8" name="椭圆 17">
            <a:extLst>
              <a:ext uri="{FF2B5EF4-FFF2-40B4-BE49-F238E27FC236}">
                <a16:creationId xmlns:a16="http://schemas.microsoft.com/office/drawing/2014/main" id="{D99ABD10-54A1-27B6-2741-DC603F643FFB}"/>
              </a:ext>
            </a:extLst>
          </p:cNvPr>
          <p:cNvSpPr/>
          <p:nvPr/>
        </p:nvSpPr>
        <p:spPr>
          <a:xfrm>
            <a:off x="5028343" y="1196868"/>
            <a:ext cx="333154" cy="341312"/>
          </a:xfrm>
          <a:prstGeom prst="ellipse">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D8931A3E-A796-2D0F-47FC-DBF527742BC1}"/>
              </a:ext>
            </a:extLst>
          </p:cNvPr>
          <p:cNvSpPr>
            <a:spLocks noGrp="1"/>
          </p:cNvSpPr>
          <p:nvPr>
            <p:ph type="title"/>
          </p:nvPr>
        </p:nvSpPr>
        <p:spPr>
          <a:xfrm>
            <a:off x="612000" y="144000"/>
            <a:ext cx="7920000" cy="341632"/>
          </a:xfrm>
        </p:spPr>
        <p:txBody>
          <a:bodyPr/>
          <a:lstStyle/>
          <a:p>
            <a:r>
              <a:rPr lang="zh-CN" altLang="en-US" dirty="0"/>
              <a:t>第一阶段：</a:t>
            </a:r>
            <a:r>
              <a:rPr lang="en-US" altLang="zh-CN" dirty="0"/>
              <a:t>1969 – 1990 </a:t>
            </a:r>
            <a:endParaRPr lang="zh-CN" altLang="en-US" dirty="0"/>
          </a:p>
        </p:txBody>
      </p:sp>
      <p:sp>
        <p:nvSpPr>
          <p:cNvPr id="5" name="内容占位符 4"/>
          <p:cNvSpPr>
            <a:spLocks noGrp="1"/>
          </p:cNvSpPr>
          <p:nvPr>
            <p:ph sz="quarter" idx="10"/>
          </p:nvPr>
        </p:nvSpPr>
        <p:spPr>
          <a:xfrm>
            <a:off x="612000" y="899999"/>
            <a:ext cx="7920000" cy="3780000"/>
          </a:xfrm>
        </p:spPr>
        <p:txBody>
          <a:bodyPr>
            <a:normAutofit/>
          </a:bodyPr>
          <a:lstStyle/>
          <a:p>
            <a:r>
              <a:rPr lang="zh-CN" altLang="zh-CN" dirty="0"/>
              <a:t>阿帕网</a:t>
            </a:r>
            <a:r>
              <a:rPr lang="en-US" altLang="zh-CN" dirty="0"/>
              <a:t> ARPANET</a:t>
            </a:r>
          </a:p>
          <a:p>
            <a:pPr lvl="1"/>
            <a:r>
              <a:rPr lang="en-US" altLang="zh-CN" dirty="0"/>
              <a:t>1969</a:t>
            </a:r>
            <a:r>
              <a:rPr lang="zh-CN" altLang="en-US" dirty="0"/>
              <a:t>年诞生</a:t>
            </a:r>
            <a:endParaRPr lang="en-US" altLang="zh-CN" dirty="0"/>
          </a:p>
          <a:p>
            <a:pPr lvl="1"/>
            <a:r>
              <a:rPr lang="zh-CN" altLang="en-US" dirty="0"/>
              <a:t>只有</a:t>
            </a:r>
            <a:r>
              <a:rPr lang="zh-CN" altLang="zh-CN" dirty="0"/>
              <a:t>四个节点</a:t>
            </a:r>
            <a:endParaRPr lang="en-US" altLang="zh-CN" dirty="0"/>
          </a:p>
          <a:p>
            <a:pPr lvl="2"/>
            <a:r>
              <a:rPr lang="zh-CN" altLang="zh-CN" dirty="0"/>
              <a:t>UCLA</a:t>
            </a:r>
            <a:r>
              <a:rPr lang="en-US" altLang="zh-CN" dirty="0"/>
              <a:t> </a:t>
            </a:r>
            <a:r>
              <a:rPr lang="zh-CN" altLang="zh-CN" dirty="0"/>
              <a:t>加州大学洛杉矶分校节点</a:t>
            </a:r>
          </a:p>
          <a:p>
            <a:pPr lvl="2"/>
            <a:r>
              <a:rPr lang="zh-CN" altLang="zh-CN" dirty="0"/>
              <a:t>SRI</a:t>
            </a:r>
            <a:r>
              <a:rPr lang="en-US" altLang="zh-CN" dirty="0"/>
              <a:t> </a:t>
            </a:r>
            <a:r>
              <a:rPr lang="zh-CN" altLang="zh-CN" dirty="0"/>
              <a:t>斯坦福研究所节点</a:t>
            </a:r>
          </a:p>
          <a:p>
            <a:pPr lvl="2"/>
            <a:r>
              <a:rPr lang="zh-CN" altLang="zh-CN" dirty="0"/>
              <a:t>UCSB</a:t>
            </a:r>
            <a:r>
              <a:rPr lang="en-US" altLang="zh-CN" dirty="0"/>
              <a:t> </a:t>
            </a:r>
            <a:r>
              <a:rPr lang="zh-CN" altLang="zh-CN" dirty="0"/>
              <a:t>加州大学圣塔芭芭拉分校节点</a:t>
            </a:r>
          </a:p>
          <a:p>
            <a:pPr lvl="2"/>
            <a:r>
              <a:rPr lang="zh-CN" altLang="zh-CN" dirty="0"/>
              <a:t>UTAH</a:t>
            </a:r>
            <a:r>
              <a:rPr lang="en-US" altLang="zh-CN" dirty="0"/>
              <a:t> </a:t>
            </a:r>
            <a:r>
              <a:rPr lang="zh-CN" altLang="zh-CN" dirty="0"/>
              <a:t>犹他大学节点</a:t>
            </a:r>
            <a:endParaRPr lang="en-US" altLang="zh-CN" dirty="0"/>
          </a:p>
          <a:p>
            <a:pPr lvl="1"/>
            <a:r>
              <a:rPr lang="zh-CN" altLang="en-US" dirty="0"/>
              <a:t>是一个单个的分组交换网，不是一个互连网</a:t>
            </a:r>
          </a:p>
          <a:p>
            <a:pPr lvl="1"/>
            <a:r>
              <a:rPr lang="en-US" altLang="zh-CN" dirty="0"/>
              <a:t>1983 </a:t>
            </a:r>
            <a:r>
              <a:rPr lang="zh-CN" altLang="en-US" dirty="0"/>
              <a:t>年，</a:t>
            </a:r>
            <a:r>
              <a:rPr lang="en-US" altLang="zh-CN" dirty="0"/>
              <a:t>TCP/IP </a:t>
            </a:r>
            <a:r>
              <a:rPr lang="zh-CN" altLang="en-US" dirty="0"/>
              <a:t>协议成为 </a:t>
            </a:r>
            <a:r>
              <a:rPr lang="en-US" altLang="zh-CN" dirty="0"/>
              <a:t>ARPANET </a:t>
            </a:r>
            <a:r>
              <a:rPr lang="zh-CN" altLang="en-US" dirty="0"/>
              <a:t>上的标准协议</a:t>
            </a:r>
            <a:endParaRPr lang="en-US" altLang="zh-CN" dirty="0"/>
          </a:p>
          <a:p>
            <a:pPr lvl="1"/>
            <a:r>
              <a:rPr lang="zh-CN" altLang="zh-CN" dirty="0"/>
              <a:t>使得所有使用</a:t>
            </a:r>
            <a:r>
              <a:rPr lang="en-US" altLang="zh-CN" dirty="0"/>
              <a:t> TCP/IP </a:t>
            </a:r>
            <a:r>
              <a:rPr lang="zh-CN" altLang="zh-CN" dirty="0"/>
              <a:t>协议的计算机都能利用互连网相互通信</a:t>
            </a:r>
            <a:endParaRPr lang="zh-CN" altLang="en-US" dirty="0"/>
          </a:p>
          <a:p>
            <a:pPr lvl="1"/>
            <a:r>
              <a:rPr lang="en-US" altLang="zh-CN" dirty="0"/>
              <a:t>1983 </a:t>
            </a:r>
            <a:r>
              <a:rPr lang="zh-CN" altLang="en-US" dirty="0"/>
              <a:t>年作为互联网的诞生时间</a:t>
            </a:r>
            <a:endParaRPr lang="en-US" altLang="zh-CN" dirty="0"/>
          </a:p>
          <a:p>
            <a:pPr lvl="1"/>
            <a:r>
              <a:rPr lang="en-US" altLang="zh-CN" dirty="0"/>
              <a:t>1990 </a:t>
            </a:r>
            <a:r>
              <a:rPr lang="zh-CN" altLang="zh-CN" dirty="0"/>
              <a:t>年</a:t>
            </a:r>
            <a:r>
              <a:rPr lang="zh-CN" altLang="en-US" dirty="0"/>
              <a:t>，</a:t>
            </a:r>
            <a:r>
              <a:rPr lang="zh-CN" altLang="zh-CN" dirty="0"/>
              <a:t>正式宣布关闭</a:t>
            </a:r>
            <a:endParaRPr lang="en-US" altLang="zh-CN" dirty="0"/>
          </a:p>
          <a:p>
            <a:endParaRPr lang="zh-CN" altLang="en-US" dirty="0"/>
          </a:p>
        </p:txBody>
      </p:sp>
    </p:spTree>
    <p:extLst>
      <p:ext uri="{BB962C8B-B14F-4D97-AF65-F5344CB8AC3E}">
        <p14:creationId xmlns:p14="http://schemas.microsoft.com/office/powerpoint/2010/main" val="3890282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A map of the ARPANET network in 1969, depicting one connection in Utah and three in California.">
            <a:extLst>
              <a:ext uri="{FF2B5EF4-FFF2-40B4-BE49-F238E27FC236}">
                <a16:creationId xmlns:a16="http://schemas.microsoft.com/office/drawing/2014/main" id="{C62C5856-39DA-A10F-E40B-AD4061FA1991}"/>
              </a:ext>
            </a:extLst>
          </p:cNvPr>
          <p:cNvPicPr>
            <a:picLocks noChangeAspect="1"/>
          </p:cNvPicPr>
          <p:nvPr/>
        </p:nvPicPr>
        <p:blipFill>
          <a:blip r:embed="rId2"/>
          <a:stretch>
            <a:fillRect/>
          </a:stretch>
        </p:blipFill>
        <p:spPr>
          <a:xfrm>
            <a:off x="1524381" y="994139"/>
            <a:ext cx="6095238" cy="3710476"/>
          </a:xfrm>
          <a:prstGeom prst="rect">
            <a:avLst/>
          </a:prstGeom>
        </p:spPr>
      </p:pic>
      <p:sp>
        <p:nvSpPr>
          <p:cNvPr id="4" name="标题 3">
            <a:extLst>
              <a:ext uri="{FF2B5EF4-FFF2-40B4-BE49-F238E27FC236}">
                <a16:creationId xmlns:a16="http://schemas.microsoft.com/office/drawing/2014/main" id="{DCEBA2CF-323C-59CD-0B8F-88367ECCB70C}"/>
              </a:ext>
            </a:extLst>
          </p:cNvPr>
          <p:cNvSpPr>
            <a:spLocks noGrp="1"/>
          </p:cNvSpPr>
          <p:nvPr>
            <p:ph type="title"/>
          </p:nvPr>
        </p:nvSpPr>
        <p:spPr>
          <a:xfrm>
            <a:off x="612000" y="144000"/>
            <a:ext cx="7920000" cy="341632"/>
          </a:xfrm>
        </p:spPr>
        <p:txBody>
          <a:bodyPr/>
          <a:lstStyle/>
          <a:p>
            <a:r>
              <a:rPr lang="zh-CN" altLang="en-US" dirty="0"/>
              <a:t>第一阶段：</a:t>
            </a:r>
            <a:r>
              <a:rPr lang="en-US" altLang="zh-CN" dirty="0"/>
              <a:t>1969 – 1990 </a:t>
            </a:r>
            <a:endParaRPr lang="zh-CN" altLang="en-US" dirty="0"/>
          </a:p>
        </p:txBody>
      </p:sp>
    </p:spTree>
    <p:extLst>
      <p:ext uri="{BB962C8B-B14F-4D97-AF65-F5344CB8AC3E}">
        <p14:creationId xmlns:p14="http://schemas.microsoft.com/office/powerpoint/2010/main" val="13580258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标题 97">
            <a:extLst>
              <a:ext uri="{FF2B5EF4-FFF2-40B4-BE49-F238E27FC236}">
                <a16:creationId xmlns:a16="http://schemas.microsoft.com/office/drawing/2014/main" id="{589BBF43-6765-C032-1E24-C772ABCD59AF}"/>
              </a:ext>
            </a:extLst>
          </p:cNvPr>
          <p:cNvSpPr>
            <a:spLocks noGrp="1"/>
          </p:cNvSpPr>
          <p:nvPr>
            <p:ph type="title"/>
          </p:nvPr>
        </p:nvSpPr>
        <p:spPr>
          <a:xfrm>
            <a:off x="612000" y="144000"/>
            <a:ext cx="7920000" cy="341632"/>
          </a:xfrm>
        </p:spPr>
        <p:txBody>
          <a:bodyPr/>
          <a:lstStyle/>
          <a:p>
            <a:r>
              <a:rPr lang="zh-CN" altLang="en-US" dirty="0"/>
              <a:t>第二阶段：</a:t>
            </a:r>
            <a:r>
              <a:rPr lang="en-US" altLang="zh-CN" dirty="0"/>
              <a:t>1985 – 1993 </a:t>
            </a:r>
            <a:endParaRPr lang="zh-CN" altLang="en-US" dirty="0"/>
          </a:p>
        </p:txBody>
      </p:sp>
      <p:sp>
        <p:nvSpPr>
          <p:cNvPr id="5" name="内容占位符 4"/>
          <p:cNvSpPr>
            <a:spLocks noGrp="1"/>
          </p:cNvSpPr>
          <p:nvPr>
            <p:ph sz="quarter" idx="10"/>
          </p:nvPr>
        </p:nvSpPr>
        <p:spPr>
          <a:xfrm>
            <a:off x="612000" y="899999"/>
            <a:ext cx="7920000" cy="3780000"/>
          </a:xfrm>
        </p:spPr>
        <p:txBody>
          <a:bodyPr/>
          <a:lstStyle/>
          <a:p>
            <a:r>
              <a:rPr lang="zh-CN" altLang="en-US" dirty="0"/>
              <a:t>国家科学基金网 </a:t>
            </a:r>
            <a:r>
              <a:rPr lang="en-US" altLang="zh-CN" dirty="0">
                <a:hlinkClick r:id="rId2"/>
              </a:rPr>
              <a:t>NSFNET</a:t>
            </a:r>
            <a:endParaRPr lang="en-US" altLang="zh-CN" dirty="0"/>
          </a:p>
          <a:p>
            <a:pPr lvl="1"/>
            <a:r>
              <a:rPr lang="zh-CN" altLang="en-US" dirty="0"/>
              <a:t>三级结构：主干网、地区网和校园网</a:t>
            </a:r>
            <a:r>
              <a:rPr lang="en-US" altLang="zh-CN" dirty="0"/>
              <a:t>(</a:t>
            </a:r>
            <a:r>
              <a:rPr lang="zh-CN" altLang="en-US" dirty="0"/>
              <a:t>企业网</a:t>
            </a:r>
            <a:r>
              <a:rPr lang="en-US" altLang="zh-CN" dirty="0"/>
              <a:t>)</a:t>
            </a:r>
          </a:p>
          <a:p>
            <a:pPr lvl="1"/>
            <a:r>
              <a:rPr lang="zh-CN" altLang="en-US" dirty="0"/>
              <a:t>覆盖了全美国主要的大学和研究所</a:t>
            </a:r>
            <a:endParaRPr lang="en-US" altLang="zh-CN" dirty="0"/>
          </a:p>
          <a:p>
            <a:pPr lvl="1"/>
            <a:r>
              <a:rPr lang="zh-CN" altLang="en-US" dirty="0"/>
              <a:t>互联网中的主要组成部分</a:t>
            </a:r>
            <a:endParaRPr lang="en-US" altLang="zh-CN" dirty="0"/>
          </a:p>
          <a:p>
            <a:endParaRPr lang="zh-CN" altLang="en-US" dirty="0"/>
          </a:p>
        </p:txBody>
      </p:sp>
      <p:grpSp>
        <p:nvGrpSpPr>
          <p:cNvPr id="4" name="组合 96"/>
          <p:cNvGrpSpPr>
            <a:grpSpLocks/>
          </p:cNvGrpSpPr>
          <p:nvPr/>
        </p:nvGrpSpPr>
        <p:grpSpPr bwMode="auto">
          <a:xfrm>
            <a:off x="4116347" y="1630188"/>
            <a:ext cx="4414878" cy="2319685"/>
            <a:chOff x="1526812" y="3062631"/>
            <a:chExt cx="6236139" cy="2752192"/>
          </a:xfrm>
        </p:grpSpPr>
        <p:cxnSp>
          <p:nvCxnSpPr>
            <p:cNvPr id="6" name="直接连接符 83"/>
            <p:cNvCxnSpPr>
              <a:cxnSpLocks noChangeShapeType="1"/>
            </p:cNvCxnSpPr>
            <p:nvPr/>
          </p:nvCxnSpPr>
          <p:spPr bwMode="auto">
            <a:xfrm flipH="1">
              <a:off x="6189663" y="4492436"/>
              <a:ext cx="334962" cy="8842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7" name="直接连接符 5"/>
            <p:cNvCxnSpPr>
              <a:cxnSpLocks noChangeShapeType="1"/>
            </p:cNvCxnSpPr>
            <p:nvPr/>
          </p:nvCxnSpPr>
          <p:spPr bwMode="auto">
            <a:xfrm flipH="1">
              <a:off x="3155950" y="3458973"/>
              <a:ext cx="1058862"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8" name="直接连接符 6"/>
            <p:cNvCxnSpPr>
              <a:cxnSpLocks noChangeShapeType="1"/>
            </p:cNvCxnSpPr>
            <p:nvPr/>
          </p:nvCxnSpPr>
          <p:spPr bwMode="auto">
            <a:xfrm flipH="1">
              <a:off x="4162425" y="3458973"/>
              <a:ext cx="403225" cy="9842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9" name="直接连接符 7"/>
            <p:cNvCxnSpPr>
              <a:cxnSpLocks noChangeShapeType="1"/>
            </p:cNvCxnSpPr>
            <p:nvPr/>
          </p:nvCxnSpPr>
          <p:spPr bwMode="auto">
            <a:xfrm>
              <a:off x="5087938" y="3458973"/>
              <a:ext cx="1241425"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10"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1700" y="36669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83"/>
            <p:cNvCxnSpPr>
              <a:cxnSpLocks noChangeShapeType="1"/>
            </p:cNvCxnSpPr>
            <p:nvPr/>
          </p:nvCxnSpPr>
          <p:spPr bwMode="auto">
            <a:xfrm flipH="1">
              <a:off x="2001838" y="4519423"/>
              <a:ext cx="484187" cy="854075"/>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2" name="直接连接符 67"/>
            <p:cNvCxnSpPr>
              <a:cxnSpLocks noChangeShapeType="1"/>
            </p:cNvCxnSpPr>
            <p:nvPr/>
          </p:nvCxnSpPr>
          <p:spPr bwMode="auto">
            <a:xfrm>
              <a:off x="4211638"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3" name="直接连接符 37"/>
            <p:cNvCxnSpPr>
              <a:cxnSpLocks noChangeShapeType="1"/>
            </p:cNvCxnSpPr>
            <p:nvPr/>
          </p:nvCxnSpPr>
          <p:spPr bwMode="auto">
            <a:xfrm>
              <a:off x="6632575" y="4443223"/>
              <a:ext cx="631032" cy="8953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grpSp>
          <p:nvGrpSpPr>
            <p:cNvPr id="14" name="Group 194"/>
            <p:cNvGrpSpPr>
              <a:grpSpLocks/>
            </p:cNvGrpSpPr>
            <p:nvPr/>
          </p:nvGrpSpPr>
          <p:grpSpPr bwMode="auto">
            <a:xfrm>
              <a:off x="5795963" y="5338573"/>
              <a:ext cx="860425" cy="476250"/>
              <a:chOff x="2569" y="3268"/>
              <a:chExt cx="542" cy="300"/>
            </a:xfrm>
            <a:solidFill>
              <a:srgbClr val="0070C0"/>
            </a:solidFill>
          </p:grpSpPr>
          <p:sp>
            <p:nvSpPr>
              <p:cNvPr id="87"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8"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9"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0"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1"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2"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3"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4"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5"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6"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7"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sp>
          <p:nvSpPr>
            <p:cNvPr id="15" name="Oval 187"/>
            <p:cNvSpPr>
              <a:spLocks noChangeArrowheads="1"/>
            </p:cNvSpPr>
            <p:nvPr/>
          </p:nvSpPr>
          <p:spPr bwMode="auto">
            <a:xfrm>
              <a:off x="4003676" y="3062631"/>
              <a:ext cx="1177924" cy="516612"/>
            </a:xfrm>
            <a:prstGeom prst="ellipse">
              <a:avLst/>
            </a:prstGeom>
            <a:solidFill>
              <a:srgbClr val="368AD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16" name="Text Box 1524"/>
            <p:cNvSpPr txBox="1">
              <a:spLocks noChangeArrowheads="1"/>
            </p:cNvSpPr>
            <p:nvPr/>
          </p:nvSpPr>
          <p:spPr bwMode="auto">
            <a:xfrm>
              <a:off x="4082320" y="3124067"/>
              <a:ext cx="1021646" cy="3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Times New Roman" pitchFamily="18" charset="0"/>
                  <a:ea typeface="微软雅黑" pitchFamily="34" charset="-122"/>
                </a:rPr>
                <a:t>主干网</a:t>
              </a:r>
            </a:p>
          </p:txBody>
        </p:sp>
        <p:pic>
          <p:nvPicPr>
            <p:cNvPr id="1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2425" y="373202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1963" y="36494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95"/>
            <p:cNvGrpSpPr>
              <a:grpSpLocks/>
            </p:cNvGrpSpPr>
            <p:nvPr/>
          </p:nvGrpSpPr>
          <p:grpSpPr bwMode="auto">
            <a:xfrm>
              <a:off x="6877050" y="5338573"/>
              <a:ext cx="860425" cy="476250"/>
              <a:chOff x="2569" y="3268"/>
              <a:chExt cx="542" cy="300"/>
            </a:xfrm>
            <a:solidFill>
              <a:srgbClr val="0070C0"/>
            </a:solidFill>
          </p:grpSpPr>
          <p:sp>
            <p:nvSpPr>
              <p:cNvPr id="76"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7"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8"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9"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0"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1"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2"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3"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4"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5"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6"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0" name="Group 207"/>
            <p:cNvGrpSpPr>
              <a:grpSpLocks/>
            </p:cNvGrpSpPr>
            <p:nvPr/>
          </p:nvGrpSpPr>
          <p:grpSpPr bwMode="auto">
            <a:xfrm>
              <a:off x="3990975" y="5338573"/>
              <a:ext cx="860425" cy="476250"/>
              <a:chOff x="2569" y="3268"/>
              <a:chExt cx="542" cy="300"/>
            </a:xfrm>
            <a:solidFill>
              <a:srgbClr val="0070C0"/>
            </a:solidFill>
          </p:grpSpPr>
          <p:sp>
            <p:nvSpPr>
              <p:cNvPr id="65"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6"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7"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8"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9"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0"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1"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2"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3"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4"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5"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1" name="Group 231"/>
            <p:cNvGrpSpPr>
              <a:grpSpLocks/>
            </p:cNvGrpSpPr>
            <p:nvPr/>
          </p:nvGrpSpPr>
          <p:grpSpPr bwMode="auto">
            <a:xfrm>
              <a:off x="1547813" y="5338573"/>
              <a:ext cx="860425" cy="476250"/>
              <a:chOff x="2569" y="3268"/>
              <a:chExt cx="542" cy="300"/>
            </a:xfrm>
            <a:solidFill>
              <a:srgbClr val="0070C0"/>
            </a:solidFill>
          </p:grpSpPr>
          <p:sp>
            <p:nvSpPr>
              <p:cNvPr id="54"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5"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6"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7"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8"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9"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0"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1"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2"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3"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4"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pic>
          <p:nvPicPr>
            <p:cNvPr id="22"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050"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0513" y="47972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4763898"/>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88"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248"/>
            <p:cNvGrpSpPr>
              <a:grpSpLocks/>
            </p:cNvGrpSpPr>
            <p:nvPr/>
          </p:nvGrpSpPr>
          <p:grpSpPr bwMode="auto">
            <a:xfrm>
              <a:off x="3708400" y="4195573"/>
              <a:ext cx="1089025" cy="479425"/>
              <a:chOff x="642" y="2212"/>
              <a:chExt cx="686" cy="302"/>
            </a:xfrm>
            <a:effectLst/>
            <a:scene3d>
              <a:camera prst="orthographicFront">
                <a:rot lat="0" lon="0" rev="0"/>
              </a:camera>
              <a:lightRig rig="balanced" dir="t">
                <a:rot lat="0" lon="0" rev="8700000"/>
              </a:lightRig>
            </a:scene3d>
          </p:grpSpPr>
          <p:sp>
            <p:nvSpPr>
              <p:cNvPr id="52" name="Oval 249"/>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3" name="Text Box 1524"/>
              <p:cNvSpPr txBox="1">
                <a:spLocks noChangeArrowheads="1"/>
              </p:cNvSpPr>
              <p:nvPr/>
            </p:nvSpPr>
            <p:spPr bwMode="auto">
              <a:xfrm>
                <a:off x="665"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grpSp>
          <p:nvGrpSpPr>
            <p:cNvPr id="27" name="Group 251"/>
            <p:cNvGrpSpPr>
              <a:grpSpLocks/>
            </p:cNvGrpSpPr>
            <p:nvPr/>
          </p:nvGrpSpPr>
          <p:grpSpPr bwMode="auto">
            <a:xfrm>
              <a:off x="6011863" y="4039998"/>
              <a:ext cx="1089025" cy="479425"/>
              <a:chOff x="642" y="2212"/>
              <a:chExt cx="686" cy="302"/>
            </a:xfrm>
            <a:effectLst/>
            <a:scene3d>
              <a:camera prst="orthographicFront">
                <a:rot lat="0" lon="0" rev="0"/>
              </a:camera>
              <a:lightRig rig="balanced" dir="t">
                <a:rot lat="0" lon="0" rev="8700000"/>
              </a:lightRig>
            </a:scene3d>
          </p:grpSpPr>
          <p:sp>
            <p:nvSpPr>
              <p:cNvPr id="50" name="Oval 252"/>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1" name="Text Box 1524"/>
              <p:cNvSpPr txBox="1">
                <a:spLocks noChangeArrowheads="1"/>
              </p:cNvSpPr>
              <p:nvPr/>
            </p:nvSpPr>
            <p:spPr bwMode="auto">
              <a:xfrm>
                <a:off x="671"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cxnSp>
          <p:nvCxnSpPr>
            <p:cNvPr id="28" name="直接连接符 67"/>
            <p:cNvCxnSpPr>
              <a:cxnSpLocks noChangeShapeType="1"/>
            </p:cNvCxnSpPr>
            <p:nvPr/>
          </p:nvCxnSpPr>
          <p:spPr bwMode="auto">
            <a:xfrm>
              <a:off x="2882900"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2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1775" y="47416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219"/>
            <p:cNvGrpSpPr>
              <a:grpSpLocks/>
            </p:cNvGrpSpPr>
            <p:nvPr/>
          </p:nvGrpSpPr>
          <p:grpSpPr bwMode="auto">
            <a:xfrm>
              <a:off x="2700338" y="5338573"/>
              <a:ext cx="860425" cy="476250"/>
              <a:chOff x="2569" y="3268"/>
              <a:chExt cx="542" cy="300"/>
            </a:xfrm>
            <a:solidFill>
              <a:srgbClr val="0070C0"/>
            </a:solidFill>
          </p:grpSpPr>
          <p:sp>
            <p:nvSpPr>
              <p:cNvPr id="39"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0"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1"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2"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3"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4"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5"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6"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7"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8"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9"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1" name="Group 190"/>
            <p:cNvGrpSpPr>
              <a:grpSpLocks/>
            </p:cNvGrpSpPr>
            <p:nvPr/>
          </p:nvGrpSpPr>
          <p:grpSpPr bwMode="auto">
            <a:xfrm>
              <a:off x="2224088" y="4095561"/>
              <a:ext cx="1089025" cy="479425"/>
              <a:chOff x="642" y="2212"/>
              <a:chExt cx="686" cy="302"/>
            </a:xfrm>
            <a:effectLst/>
            <a:scene3d>
              <a:camera prst="orthographicFront">
                <a:rot lat="0" lon="0" rev="0"/>
              </a:camera>
              <a:lightRig rig="balanced" dir="t">
                <a:rot lat="0" lon="0" rev="8700000"/>
              </a:lightRig>
            </a:scene3d>
          </p:grpSpPr>
          <p:sp>
            <p:nvSpPr>
              <p:cNvPr id="37" name="Oval 188"/>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38" name="Text Box 1524"/>
              <p:cNvSpPr txBox="1">
                <a:spLocks noChangeArrowheads="1"/>
              </p:cNvSpPr>
              <p:nvPr/>
            </p:nvSpPr>
            <p:spPr bwMode="auto">
              <a:xfrm>
                <a:off x="658" y="2236"/>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sp>
          <p:nvSpPr>
            <p:cNvPr id="32" name="Text Box 1524"/>
            <p:cNvSpPr txBox="1">
              <a:spLocks noChangeArrowheads="1"/>
            </p:cNvSpPr>
            <p:nvPr/>
          </p:nvSpPr>
          <p:spPr bwMode="auto">
            <a:xfrm>
              <a:off x="1526812" y="5387000"/>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sp>
          <p:nvSpPr>
            <p:cNvPr id="33" name="Text Box 1524"/>
            <p:cNvSpPr txBox="1">
              <a:spLocks noChangeArrowheads="1"/>
            </p:cNvSpPr>
            <p:nvPr/>
          </p:nvSpPr>
          <p:spPr bwMode="auto">
            <a:xfrm>
              <a:off x="2673278"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4" name="Text Box 1524"/>
            <p:cNvSpPr txBox="1">
              <a:spLocks noChangeArrowheads="1"/>
            </p:cNvSpPr>
            <p:nvPr/>
          </p:nvSpPr>
          <p:spPr bwMode="auto">
            <a:xfrm>
              <a:off x="3968674"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5" name="Text Box 1524"/>
            <p:cNvSpPr txBox="1">
              <a:spLocks noChangeArrowheads="1"/>
            </p:cNvSpPr>
            <p:nvPr/>
          </p:nvSpPr>
          <p:spPr bwMode="auto">
            <a:xfrm>
              <a:off x="5768903"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6" name="Text Box 1524"/>
            <p:cNvSpPr txBox="1">
              <a:spLocks noChangeArrowheads="1"/>
            </p:cNvSpPr>
            <p:nvPr/>
          </p:nvSpPr>
          <p:spPr bwMode="auto">
            <a:xfrm>
              <a:off x="6849990"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grpSp>
    </p:spTree>
    <p:extLst>
      <p:ext uri="{BB962C8B-B14F-4D97-AF65-F5344CB8AC3E}">
        <p14:creationId xmlns:p14="http://schemas.microsoft.com/office/powerpoint/2010/main" val="31960189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A08C39-12CC-D480-C2B7-713C5F1B45EF}"/>
              </a:ext>
            </a:extLst>
          </p:cNvPr>
          <p:cNvSpPr>
            <a:spLocks noGrp="1"/>
          </p:cNvSpPr>
          <p:nvPr>
            <p:ph type="title"/>
          </p:nvPr>
        </p:nvSpPr>
        <p:spPr>
          <a:xfrm>
            <a:off x="612000" y="144000"/>
            <a:ext cx="7920000" cy="341632"/>
          </a:xfrm>
        </p:spPr>
        <p:txBody>
          <a:bodyPr/>
          <a:lstStyle/>
          <a:p>
            <a:r>
              <a:rPr lang="zh-CN" altLang="en-US" dirty="0"/>
              <a:t>第二阶段：</a:t>
            </a:r>
            <a:r>
              <a:rPr lang="en-US" altLang="zh-CN" dirty="0"/>
              <a:t>1985 – 1993 </a:t>
            </a:r>
            <a:endParaRPr lang="zh-CN" altLang="en-US" dirty="0"/>
          </a:p>
        </p:txBody>
      </p:sp>
      <p:pic>
        <p:nvPicPr>
          <p:cNvPr id="12" name="图片 11" descr="Map depicting the ARPANET network in 1977, with numerous connections spanning the country">
            <a:extLst>
              <a:ext uri="{FF2B5EF4-FFF2-40B4-BE49-F238E27FC236}">
                <a16:creationId xmlns:a16="http://schemas.microsoft.com/office/drawing/2014/main" id="{72C10DFD-291E-B3E3-DDAC-7DB71D039E76}"/>
              </a:ext>
            </a:extLst>
          </p:cNvPr>
          <p:cNvPicPr>
            <a:picLocks noChangeAspect="1"/>
          </p:cNvPicPr>
          <p:nvPr/>
        </p:nvPicPr>
        <p:blipFill>
          <a:blip r:embed="rId2"/>
          <a:stretch>
            <a:fillRect/>
          </a:stretch>
        </p:blipFill>
        <p:spPr>
          <a:xfrm>
            <a:off x="1524381" y="993600"/>
            <a:ext cx="6095238" cy="3710476"/>
          </a:xfrm>
          <a:prstGeom prst="rect">
            <a:avLst/>
          </a:prstGeom>
        </p:spPr>
      </p:pic>
    </p:spTree>
    <p:extLst>
      <p:ext uri="{BB962C8B-B14F-4D97-AF65-F5344CB8AC3E}">
        <p14:creationId xmlns:p14="http://schemas.microsoft.com/office/powerpoint/2010/main" val="42675593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3463B2A-E21A-D89F-57FC-9D2BB78136F8}"/>
              </a:ext>
            </a:extLst>
          </p:cNvPr>
          <p:cNvSpPr>
            <a:spLocks noGrp="1"/>
          </p:cNvSpPr>
          <p:nvPr>
            <p:ph type="title"/>
          </p:nvPr>
        </p:nvSpPr>
        <p:spPr>
          <a:xfrm>
            <a:off x="612000" y="144000"/>
            <a:ext cx="7920000" cy="341632"/>
          </a:xfrm>
        </p:spPr>
        <p:txBody>
          <a:bodyPr/>
          <a:lstStyle/>
          <a:p>
            <a:r>
              <a:rPr lang="zh-CN" altLang="en-US" dirty="0"/>
              <a:t>第三阶段：</a:t>
            </a:r>
            <a:r>
              <a:rPr lang="en-US" altLang="zh-CN" dirty="0"/>
              <a:t>1993 – </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互联网服务提供者 </a:t>
            </a:r>
            <a:r>
              <a:rPr lang="en-US" altLang="zh-CN" dirty="0"/>
              <a:t>ISP (Internet Service Provider)</a:t>
            </a:r>
            <a:r>
              <a:rPr lang="zh-CN" altLang="en-US" dirty="0"/>
              <a:t>涌现</a:t>
            </a:r>
            <a:endParaRPr lang="en-US" altLang="zh-CN" dirty="0"/>
          </a:p>
          <a:p>
            <a:pPr lvl="1"/>
            <a:r>
              <a:rPr lang="zh-CN" altLang="en-US" dirty="0"/>
              <a:t>提供接入到互联网的服务</a:t>
            </a:r>
            <a:endParaRPr lang="en-US" altLang="zh-CN" dirty="0"/>
          </a:p>
          <a:p>
            <a:pPr lvl="1"/>
            <a:r>
              <a:rPr lang="zh-CN" altLang="en-US" dirty="0"/>
              <a:t>需要收取一定的费用</a:t>
            </a:r>
          </a:p>
          <a:p>
            <a:r>
              <a:rPr lang="zh-CN" altLang="en-US" dirty="0"/>
              <a:t>多层次 </a:t>
            </a:r>
            <a:r>
              <a:rPr lang="en-US" altLang="zh-CN" dirty="0"/>
              <a:t>ISP </a:t>
            </a:r>
            <a:r>
              <a:rPr lang="zh-CN" altLang="en-US" dirty="0"/>
              <a:t>结构</a:t>
            </a:r>
            <a:endParaRPr lang="en-US" altLang="zh-CN" dirty="0"/>
          </a:p>
          <a:p>
            <a:pPr lvl="1"/>
            <a:r>
              <a:rPr lang="zh-CN" altLang="en-US" dirty="0"/>
              <a:t>主干 </a:t>
            </a:r>
            <a:r>
              <a:rPr lang="en-US" altLang="zh-CN" dirty="0"/>
              <a:t>ISP</a:t>
            </a:r>
            <a:r>
              <a:rPr lang="zh-CN" altLang="en-US" dirty="0"/>
              <a:t>、地区 </a:t>
            </a:r>
            <a:r>
              <a:rPr lang="en-US" altLang="zh-CN" dirty="0"/>
              <a:t>ISP </a:t>
            </a:r>
            <a:r>
              <a:rPr lang="zh-CN" altLang="en-US" dirty="0"/>
              <a:t>和本地 </a:t>
            </a:r>
            <a:r>
              <a:rPr lang="en-US" altLang="zh-CN" dirty="0"/>
              <a:t>ISP</a:t>
            </a:r>
          </a:p>
          <a:p>
            <a:pPr lvl="1"/>
            <a:r>
              <a:rPr lang="zh-CN" altLang="en-US" dirty="0"/>
              <a:t>覆盖面积大小和所拥有的 </a:t>
            </a:r>
            <a:r>
              <a:rPr lang="en-US" altLang="zh-CN" dirty="0"/>
              <a:t>IP </a:t>
            </a:r>
            <a:r>
              <a:rPr lang="zh-CN" altLang="en-US" dirty="0"/>
              <a:t>地址数目的不同</a:t>
            </a:r>
          </a:p>
          <a:p>
            <a:endParaRPr lang="en-US" altLang="zh-CN" dirty="0"/>
          </a:p>
          <a:p>
            <a:pPr lvl="1"/>
            <a:endParaRPr lang="zh-CN" altLang="en-US" dirty="0"/>
          </a:p>
        </p:txBody>
      </p:sp>
    </p:spTree>
    <p:extLst>
      <p:ext uri="{BB962C8B-B14F-4D97-AF65-F5344CB8AC3E}">
        <p14:creationId xmlns:p14="http://schemas.microsoft.com/office/powerpoint/2010/main" val="23507254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 name="组合 135"/>
          <p:cNvGrpSpPr/>
          <p:nvPr/>
        </p:nvGrpSpPr>
        <p:grpSpPr>
          <a:xfrm>
            <a:off x="1485928" y="1064051"/>
            <a:ext cx="6170543" cy="2971790"/>
            <a:chOff x="2063931" y="1515290"/>
            <a:chExt cx="6170543" cy="2640865"/>
          </a:xfrm>
        </p:grpSpPr>
        <p:sp>
          <p:nvSpPr>
            <p:cNvPr id="5" name="Line 372"/>
            <p:cNvSpPr>
              <a:spLocks noChangeShapeType="1"/>
            </p:cNvSpPr>
            <p:nvPr/>
          </p:nvSpPr>
          <p:spPr bwMode="auto">
            <a:xfrm>
              <a:off x="2873954" y="1881793"/>
              <a:ext cx="762745" cy="1374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Line 316"/>
            <p:cNvSpPr>
              <a:spLocks noChangeShapeType="1"/>
            </p:cNvSpPr>
            <p:nvPr/>
          </p:nvSpPr>
          <p:spPr bwMode="auto">
            <a:xfrm flipH="1">
              <a:off x="2683792" y="1836359"/>
              <a:ext cx="95606" cy="823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 name="Line 282"/>
            <p:cNvSpPr>
              <a:spLocks noChangeShapeType="1"/>
            </p:cNvSpPr>
            <p:nvPr/>
          </p:nvSpPr>
          <p:spPr bwMode="auto">
            <a:xfrm>
              <a:off x="2922282" y="1836359"/>
              <a:ext cx="619861" cy="8238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 name="Line 282"/>
            <p:cNvSpPr>
              <a:spLocks noChangeShapeType="1"/>
            </p:cNvSpPr>
            <p:nvPr/>
          </p:nvSpPr>
          <p:spPr bwMode="auto">
            <a:xfrm>
              <a:off x="3160770" y="1836359"/>
              <a:ext cx="714417" cy="3200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 name="Line 282"/>
            <p:cNvSpPr>
              <a:spLocks noChangeShapeType="1"/>
            </p:cNvSpPr>
            <p:nvPr/>
          </p:nvSpPr>
          <p:spPr bwMode="auto">
            <a:xfrm>
              <a:off x="3159720" y="1810107"/>
              <a:ext cx="2908097" cy="30087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282"/>
            <p:cNvSpPr>
              <a:spLocks noChangeShapeType="1"/>
            </p:cNvSpPr>
            <p:nvPr/>
          </p:nvSpPr>
          <p:spPr bwMode="auto">
            <a:xfrm flipV="1">
              <a:off x="3256378" y="1699046"/>
              <a:ext cx="1524438" cy="353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410"/>
            <p:cNvSpPr>
              <a:spLocks noChangeShapeType="1"/>
            </p:cNvSpPr>
            <p:nvPr/>
          </p:nvSpPr>
          <p:spPr bwMode="auto">
            <a:xfrm>
              <a:off x="6210699" y="2688503"/>
              <a:ext cx="904577" cy="0"/>
            </a:xfrm>
            <a:prstGeom prst="line">
              <a:avLst/>
            </a:prstGeom>
            <a:ln w="63500" cmpd="tri">
              <a:solidFill>
                <a:schemeClr val="tx1"/>
              </a:solidFill>
              <a:headEnd/>
              <a:tailEnd/>
            </a:ln>
          </p:spPr>
          <p:style>
            <a:lnRef idx="1">
              <a:schemeClr val="accent3"/>
            </a:lnRef>
            <a:fillRef idx="3">
              <a:schemeClr val="accent3"/>
            </a:fillRef>
            <a:effectRef idx="2">
              <a:schemeClr val="accent3"/>
            </a:effectRef>
            <a:fontRef idx="minor">
              <a:schemeClr val="lt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407"/>
            <p:cNvSpPr>
              <a:spLocks noChangeShapeType="1"/>
            </p:cNvSpPr>
            <p:nvPr/>
          </p:nvSpPr>
          <p:spPr bwMode="auto">
            <a:xfrm>
              <a:off x="7163604"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Line 408"/>
            <p:cNvSpPr>
              <a:spLocks noChangeShapeType="1"/>
            </p:cNvSpPr>
            <p:nvPr/>
          </p:nvSpPr>
          <p:spPr bwMode="auto">
            <a:xfrm flipH="1">
              <a:off x="6733904" y="3255927"/>
              <a:ext cx="286817"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Text Box 409"/>
            <p:cNvSpPr txBox="1">
              <a:spLocks noChangeArrowheads="1"/>
            </p:cNvSpPr>
            <p:nvPr/>
          </p:nvSpPr>
          <p:spPr bwMode="auto">
            <a:xfrm>
              <a:off x="6877838" y="3485116"/>
              <a:ext cx="325730"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a:sym typeface="Symbol" panose="05050102010706020507" pitchFamily="18" charset="2"/>
                </a:rPr>
                <a:t></a:t>
              </a:r>
            </a:p>
          </p:txBody>
        </p:sp>
        <p:sp>
          <p:nvSpPr>
            <p:cNvPr id="19" name="Line 377"/>
            <p:cNvSpPr>
              <a:spLocks noChangeShapeType="1"/>
            </p:cNvSpPr>
            <p:nvPr/>
          </p:nvSpPr>
          <p:spPr bwMode="auto">
            <a:xfrm flipH="1">
              <a:off x="7020721"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376"/>
            <p:cNvSpPr>
              <a:spLocks noChangeShapeType="1"/>
            </p:cNvSpPr>
            <p:nvPr/>
          </p:nvSpPr>
          <p:spPr bwMode="auto">
            <a:xfrm flipH="1">
              <a:off x="5447954"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370"/>
            <p:cNvSpPr>
              <a:spLocks noChangeShapeType="1"/>
            </p:cNvSpPr>
            <p:nvPr/>
          </p:nvSpPr>
          <p:spPr bwMode="auto">
            <a:xfrm>
              <a:off x="5923881" y="2660233"/>
              <a:ext cx="334095" cy="64112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371"/>
            <p:cNvSpPr>
              <a:spLocks noChangeShapeType="1"/>
            </p:cNvSpPr>
            <p:nvPr/>
          </p:nvSpPr>
          <p:spPr bwMode="auto">
            <a:xfrm>
              <a:off x="4446720" y="2798555"/>
              <a:ext cx="95606"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372"/>
            <p:cNvSpPr>
              <a:spLocks noChangeShapeType="1"/>
            </p:cNvSpPr>
            <p:nvPr/>
          </p:nvSpPr>
          <p:spPr bwMode="auto">
            <a:xfrm flipH="1">
              <a:off x="3732304" y="2798555"/>
              <a:ext cx="476978"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373"/>
            <p:cNvSpPr>
              <a:spLocks noChangeShapeType="1"/>
            </p:cNvSpPr>
            <p:nvPr/>
          </p:nvSpPr>
          <p:spPr bwMode="auto">
            <a:xfrm>
              <a:off x="2779398" y="2798555"/>
              <a:ext cx="47277" cy="5028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Line 308"/>
            <p:cNvSpPr>
              <a:spLocks noChangeShapeType="1"/>
            </p:cNvSpPr>
            <p:nvPr/>
          </p:nvSpPr>
          <p:spPr bwMode="auto">
            <a:xfrm>
              <a:off x="7496649" y="2798555"/>
              <a:ext cx="285767" cy="5946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316"/>
            <p:cNvSpPr>
              <a:spLocks noChangeShapeType="1"/>
            </p:cNvSpPr>
            <p:nvPr/>
          </p:nvSpPr>
          <p:spPr bwMode="auto">
            <a:xfrm flipH="1">
              <a:off x="2873954" y="2248296"/>
              <a:ext cx="858350" cy="3665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Line 283"/>
            <p:cNvSpPr>
              <a:spLocks noChangeShapeType="1"/>
            </p:cNvSpPr>
            <p:nvPr/>
          </p:nvSpPr>
          <p:spPr bwMode="auto">
            <a:xfrm>
              <a:off x="5590838" y="1744480"/>
              <a:ext cx="524255" cy="2746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254"/>
            <p:cNvSpPr>
              <a:spLocks noChangeShapeType="1"/>
            </p:cNvSpPr>
            <p:nvPr/>
          </p:nvSpPr>
          <p:spPr bwMode="auto">
            <a:xfrm>
              <a:off x="6353582"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Line 255"/>
            <p:cNvSpPr>
              <a:spLocks noChangeShapeType="1"/>
            </p:cNvSpPr>
            <p:nvPr/>
          </p:nvSpPr>
          <p:spPr bwMode="auto">
            <a:xfrm>
              <a:off x="3779582" y="3347805"/>
              <a:ext cx="239539" cy="508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Line 256"/>
            <p:cNvSpPr>
              <a:spLocks noChangeShapeType="1"/>
            </p:cNvSpPr>
            <p:nvPr/>
          </p:nvSpPr>
          <p:spPr bwMode="auto">
            <a:xfrm flipH="1">
              <a:off x="5923881" y="3255927"/>
              <a:ext cx="286818"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Line 257"/>
            <p:cNvSpPr>
              <a:spLocks noChangeShapeType="1"/>
            </p:cNvSpPr>
            <p:nvPr/>
          </p:nvSpPr>
          <p:spPr bwMode="auto">
            <a:xfrm>
              <a:off x="7782415" y="3393239"/>
              <a:ext cx="95605"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Line 197"/>
            <p:cNvSpPr>
              <a:spLocks noChangeShapeType="1"/>
            </p:cNvSpPr>
            <p:nvPr/>
          </p:nvSpPr>
          <p:spPr bwMode="auto">
            <a:xfrm flipH="1">
              <a:off x="3350932" y="3301361"/>
              <a:ext cx="381372" cy="550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 name="Line 192"/>
            <p:cNvSpPr>
              <a:spLocks noChangeShapeType="1"/>
            </p:cNvSpPr>
            <p:nvPr/>
          </p:nvSpPr>
          <p:spPr bwMode="auto">
            <a:xfrm flipH="1">
              <a:off x="2350749" y="2752111"/>
              <a:ext cx="142883" cy="9722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Line 179"/>
            <p:cNvSpPr>
              <a:spLocks noChangeShapeType="1"/>
            </p:cNvSpPr>
            <p:nvPr/>
          </p:nvSpPr>
          <p:spPr bwMode="auto">
            <a:xfrm flipH="1" flipV="1">
              <a:off x="5543560" y="3347805"/>
              <a:ext cx="237438"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Line 180"/>
            <p:cNvSpPr>
              <a:spLocks noChangeShapeType="1"/>
            </p:cNvSpPr>
            <p:nvPr/>
          </p:nvSpPr>
          <p:spPr bwMode="auto">
            <a:xfrm flipV="1">
              <a:off x="4589603" y="3347805"/>
              <a:ext cx="663987"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Line 26"/>
            <p:cNvSpPr>
              <a:spLocks noChangeShapeType="1"/>
            </p:cNvSpPr>
            <p:nvPr/>
          </p:nvSpPr>
          <p:spPr bwMode="auto">
            <a:xfrm>
              <a:off x="4209282" y="2340174"/>
              <a:ext cx="94555" cy="3200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Line 36"/>
            <p:cNvSpPr>
              <a:spLocks noChangeShapeType="1"/>
            </p:cNvSpPr>
            <p:nvPr/>
          </p:nvSpPr>
          <p:spPr bwMode="auto">
            <a:xfrm flipH="1">
              <a:off x="5209465" y="3347805"/>
              <a:ext cx="142883"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Oval 183"/>
            <p:cNvSpPr>
              <a:spLocks noChangeArrowheads="1"/>
            </p:cNvSpPr>
            <p:nvPr/>
          </p:nvSpPr>
          <p:spPr bwMode="auto">
            <a:xfrm>
              <a:off x="2063931" y="3576995"/>
              <a:ext cx="618811" cy="3210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大公司</a:t>
              </a:r>
            </a:p>
          </p:txBody>
        </p:sp>
        <p:sp>
          <p:nvSpPr>
            <p:cNvPr id="39" name="Oval 194"/>
            <p:cNvSpPr>
              <a:spLocks noChangeArrowheads="1"/>
            </p:cNvSpPr>
            <p:nvPr/>
          </p:nvSpPr>
          <p:spPr bwMode="auto">
            <a:xfrm>
              <a:off x="4343760" y="3667864"/>
              <a:ext cx="627216" cy="29077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公司</a:t>
              </a:r>
            </a:p>
          </p:txBody>
        </p:sp>
        <p:sp>
          <p:nvSpPr>
            <p:cNvPr id="40" name="Oval 195"/>
            <p:cNvSpPr>
              <a:spLocks noChangeArrowheads="1"/>
            </p:cNvSpPr>
            <p:nvPr/>
          </p:nvSpPr>
          <p:spPr bwMode="auto">
            <a:xfrm>
              <a:off x="5060278" y="3196357"/>
              <a:ext cx="626165" cy="245345"/>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42" name="Text Box 268"/>
            <p:cNvSpPr txBox="1">
              <a:spLocks noChangeArrowheads="1"/>
            </p:cNvSpPr>
            <p:nvPr/>
          </p:nvSpPr>
          <p:spPr bwMode="auto">
            <a:xfrm>
              <a:off x="4930326" y="3737529"/>
              <a:ext cx="287258"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050" dirty="0"/>
                <a:t>A</a:t>
              </a:r>
            </a:p>
          </p:txBody>
        </p:sp>
        <p:sp>
          <p:nvSpPr>
            <p:cNvPr id="44" name="Text Box 271"/>
            <p:cNvSpPr txBox="1">
              <a:spLocks noChangeArrowheads="1"/>
            </p:cNvSpPr>
            <p:nvPr/>
          </p:nvSpPr>
          <p:spPr bwMode="auto">
            <a:xfrm>
              <a:off x="7955230" y="3722370"/>
              <a:ext cx="279244"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t>B</a:t>
              </a:r>
            </a:p>
          </p:txBody>
        </p:sp>
        <p:sp>
          <p:nvSpPr>
            <p:cNvPr id="47" name="Line 282"/>
            <p:cNvSpPr>
              <a:spLocks noChangeShapeType="1"/>
            </p:cNvSpPr>
            <p:nvPr/>
          </p:nvSpPr>
          <p:spPr bwMode="auto">
            <a:xfrm flipV="1">
              <a:off x="4160954" y="1744480"/>
              <a:ext cx="810023" cy="4119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Line 284"/>
            <p:cNvSpPr>
              <a:spLocks noChangeShapeType="1"/>
            </p:cNvSpPr>
            <p:nvPr/>
          </p:nvSpPr>
          <p:spPr bwMode="auto">
            <a:xfrm flipV="1">
              <a:off x="4399443" y="2157427"/>
              <a:ext cx="1715650" cy="454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Oval 292"/>
            <p:cNvSpPr>
              <a:spLocks noChangeArrowheads="1"/>
            </p:cNvSpPr>
            <p:nvPr/>
          </p:nvSpPr>
          <p:spPr bwMode="auto">
            <a:xfrm>
              <a:off x="7402094" y="3199386"/>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50" name="Line 297"/>
            <p:cNvSpPr>
              <a:spLocks noChangeShapeType="1"/>
            </p:cNvSpPr>
            <p:nvPr/>
          </p:nvSpPr>
          <p:spPr bwMode="auto">
            <a:xfrm flipH="1">
              <a:off x="5829326" y="2157427"/>
              <a:ext cx="475928" cy="4573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Line 298"/>
            <p:cNvSpPr>
              <a:spLocks noChangeShapeType="1"/>
            </p:cNvSpPr>
            <p:nvPr/>
          </p:nvSpPr>
          <p:spPr bwMode="auto">
            <a:xfrm flipH="1" flipV="1">
              <a:off x="6829509" y="2110984"/>
              <a:ext cx="429701" cy="458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Oval 14"/>
            <p:cNvSpPr>
              <a:spLocks noChangeArrowheads="1"/>
            </p:cNvSpPr>
            <p:nvPr/>
          </p:nvSpPr>
          <p:spPr bwMode="auto">
            <a:xfrm>
              <a:off x="3399261" y="2065549"/>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主</a:t>
              </a:r>
              <a:r>
                <a:rPr lang="zh-CN" altLang="en-US" sz="1100"/>
                <a:t>干 </a:t>
              </a:r>
              <a:r>
                <a:rPr lang="en-US" altLang="zh-CN" sz="1100" dirty="0"/>
                <a:t>ISP</a:t>
              </a:r>
            </a:p>
          </p:txBody>
        </p:sp>
        <p:sp>
          <p:nvSpPr>
            <p:cNvPr id="53" name="Oval 305"/>
            <p:cNvSpPr>
              <a:spLocks noChangeArrowheads="1"/>
            </p:cNvSpPr>
            <p:nvPr/>
          </p:nvSpPr>
          <p:spPr bwMode="auto">
            <a:xfrm>
              <a:off x="3391905"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54" name="Oval 306"/>
            <p:cNvSpPr>
              <a:spLocks noChangeArrowheads="1"/>
            </p:cNvSpPr>
            <p:nvPr/>
          </p:nvSpPr>
          <p:spPr bwMode="auto">
            <a:xfrm>
              <a:off x="2486277"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本</a:t>
              </a:r>
              <a:r>
                <a:rPr lang="zh-CN" altLang="en-US" sz="1100"/>
                <a:t>地 </a:t>
              </a:r>
              <a:r>
                <a:rPr lang="en-US" altLang="zh-CN" sz="1100" dirty="0"/>
                <a:t>ISP</a:t>
              </a:r>
            </a:p>
          </p:txBody>
        </p:sp>
        <p:sp>
          <p:nvSpPr>
            <p:cNvPr id="56" name="Oval 319"/>
            <p:cNvSpPr>
              <a:spLocks noChangeArrowheads="1"/>
            </p:cNvSpPr>
            <p:nvPr/>
          </p:nvSpPr>
          <p:spPr bwMode="auto">
            <a:xfrm>
              <a:off x="4637932" y="151529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主</a:t>
              </a:r>
              <a:r>
                <a:rPr lang="zh-CN" altLang="en-US" sz="1100"/>
                <a:t>干 </a:t>
              </a:r>
              <a:r>
                <a:rPr lang="en-US" altLang="zh-CN" sz="1100" dirty="0"/>
                <a:t>ISP</a:t>
              </a:r>
            </a:p>
          </p:txBody>
        </p:sp>
        <p:sp>
          <p:nvSpPr>
            <p:cNvPr id="57" name="Oval 320"/>
            <p:cNvSpPr>
              <a:spLocks noChangeArrowheads="1"/>
            </p:cNvSpPr>
            <p:nvPr/>
          </p:nvSpPr>
          <p:spPr bwMode="auto">
            <a:xfrm>
              <a:off x="5876604" y="197468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主</a:t>
              </a:r>
              <a:r>
                <a:rPr lang="zh-CN" altLang="en-US" sz="1100"/>
                <a:t>干 </a:t>
              </a:r>
              <a:r>
                <a:rPr lang="en-US" altLang="zh-CN" sz="1100" dirty="0"/>
                <a:t>ISP</a:t>
              </a:r>
            </a:p>
          </p:txBody>
        </p:sp>
        <p:sp>
          <p:nvSpPr>
            <p:cNvPr id="61" name="Text Box 342"/>
            <p:cNvSpPr txBox="1">
              <a:spLocks noChangeArrowheads="1"/>
            </p:cNvSpPr>
            <p:nvPr/>
          </p:nvSpPr>
          <p:spPr bwMode="auto">
            <a:xfrm>
              <a:off x="4906143" y="2532771"/>
              <a:ext cx="325730"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sym typeface="Symbol" panose="05050102010706020507" pitchFamily="18" charset="2"/>
                </a:rPr>
                <a:t></a:t>
              </a:r>
            </a:p>
          </p:txBody>
        </p:sp>
        <p:sp>
          <p:nvSpPr>
            <p:cNvPr id="62" name="Oval 348"/>
            <p:cNvSpPr>
              <a:spLocks noChangeArrowheads="1"/>
            </p:cNvSpPr>
            <p:nvPr/>
          </p:nvSpPr>
          <p:spPr bwMode="auto">
            <a:xfrm>
              <a:off x="5923881"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63" name="Oval 349"/>
            <p:cNvSpPr>
              <a:spLocks noChangeArrowheads="1"/>
            </p:cNvSpPr>
            <p:nvPr/>
          </p:nvSpPr>
          <p:spPr bwMode="auto">
            <a:xfrm>
              <a:off x="4209282"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67" name="Text Box 374"/>
            <p:cNvSpPr txBox="1">
              <a:spLocks noChangeArrowheads="1"/>
            </p:cNvSpPr>
            <p:nvPr/>
          </p:nvSpPr>
          <p:spPr bwMode="auto">
            <a:xfrm>
              <a:off x="3055709" y="3024716"/>
              <a:ext cx="325730"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050" dirty="0">
                  <a:sym typeface="Symbol" panose="05050102010706020507" pitchFamily="18" charset="2"/>
                </a:rPr>
                <a:t></a:t>
              </a:r>
            </a:p>
          </p:txBody>
        </p:sp>
        <p:sp>
          <p:nvSpPr>
            <p:cNvPr id="68" name="Oval 375"/>
            <p:cNvSpPr>
              <a:spLocks noChangeArrowheads="1"/>
            </p:cNvSpPr>
            <p:nvPr/>
          </p:nvSpPr>
          <p:spPr bwMode="auto">
            <a:xfrm>
              <a:off x="6686626" y="3197367"/>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本地 </a:t>
              </a:r>
              <a:r>
                <a:rPr lang="en-US" altLang="zh-CN" sz="1100"/>
                <a:t>ISP</a:t>
              </a:r>
            </a:p>
          </p:txBody>
        </p:sp>
        <p:sp>
          <p:nvSpPr>
            <p:cNvPr id="75" name="Text Box 405"/>
            <p:cNvSpPr txBox="1">
              <a:spLocks noChangeArrowheads="1"/>
            </p:cNvSpPr>
            <p:nvPr/>
          </p:nvSpPr>
          <p:spPr bwMode="auto">
            <a:xfrm>
              <a:off x="5345409" y="3611831"/>
              <a:ext cx="325730"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sym typeface="Symbol" panose="05050102010706020507" pitchFamily="18" charset="2"/>
                </a:rPr>
                <a:t></a:t>
              </a:r>
            </a:p>
          </p:txBody>
        </p:sp>
        <p:sp>
          <p:nvSpPr>
            <p:cNvPr id="76" name="Text Box 406"/>
            <p:cNvSpPr txBox="1">
              <a:spLocks noChangeArrowheads="1"/>
            </p:cNvSpPr>
            <p:nvPr/>
          </p:nvSpPr>
          <p:spPr bwMode="auto">
            <a:xfrm>
              <a:off x="6067816" y="3485116"/>
              <a:ext cx="325730"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sym typeface="Symbol" panose="05050102010706020507" pitchFamily="18" charset="2"/>
                </a:rPr>
                <a:t></a:t>
              </a:r>
            </a:p>
          </p:txBody>
        </p:sp>
        <p:sp>
          <p:nvSpPr>
            <p:cNvPr id="79" name="Oval 14"/>
            <p:cNvSpPr>
              <a:spLocks noChangeArrowheads="1"/>
            </p:cNvSpPr>
            <p:nvPr/>
          </p:nvSpPr>
          <p:spPr bwMode="auto">
            <a:xfrm>
              <a:off x="2349698" y="1607168"/>
              <a:ext cx="1042207" cy="32005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内容提</a:t>
              </a:r>
              <a:r>
                <a:rPr lang="zh-CN" altLang="en-US" sz="1100"/>
                <a:t>供者</a:t>
              </a:r>
              <a:endParaRPr lang="en-US" altLang="zh-CN" sz="1100" dirty="0"/>
            </a:p>
          </p:txBody>
        </p:sp>
        <p:grpSp>
          <p:nvGrpSpPr>
            <p:cNvPr id="92" name="组合 91"/>
            <p:cNvGrpSpPr/>
            <p:nvPr/>
          </p:nvGrpSpPr>
          <p:grpSpPr>
            <a:xfrm>
              <a:off x="6411686" y="2589558"/>
              <a:ext cx="412292" cy="238274"/>
              <a:chOff x="3320162" y="2589558"/>
              <a:chExt cx="412292" cy="238274"/>
            </a:xfrm>
          </p:grpSpPr>
          <p:grpSp>
            <p:nvGrpSpPr>
              <p:cNvPr id="93"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95"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6"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7"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8"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9"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0"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1"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2"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3"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94" name="Text Box 354"/>
              <p:cNvSpPr txBox="1">
                <a:spLocks noChangeArrowheads="1"/>
              </p:cNvSpPr>
              <p:nvPr/>
            </p:nvSpPr>
            <p:spPr bwMode="auto">
              <a:xfrm>
                <a:off x="3320162" y="2595353"/>
                <a:ext cx="412292" cy="232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t>IXP</a:t>
                </a:r>
              </a:p>
            </p:txBody>
          </p:sp>
        </p:grpSp>
        <p:grpSp>
          <p:nvGrpSpPr>
            <p:cNvPr id="116" name="组合 115"/>
            <p:cNvGrpSpPr/>
            <p:nvPr/>
          </p:nvGrpSpPr>
          <p:grpSpPr>
            <a:xfrm>
              <a:off x="3017798" y="3842143"/>
              <a:ext cx="653027" cy="314012"/>
              <a:chOff x="3017798" y="3842143"/>
              <a:chExt cx="653027" cy="314012"/>
            </a:xfrm>
          </p:grpSpPr>
          <p:grpSp>
            <p:nvGrpSpPr>
              <p:cNvPr id="105"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07"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8"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9"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0"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1"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2"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3"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4"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5"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06" name="Text Box 354"/>
              <p:cNvSpPr txBox="1">
                <a:spLocks noChangeArrowheads="1"/>
              </p:cNvSpPr>
              <p:nvPr/>
            </p:nvSpPr>
            <p:spPr bwMode="auto">
              <a:xfrm>
                <a:off x="3017798" y="3873741"/>
                <a:ext cx="653027"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solidFill>
                      <a:schemeClr val="bg1"/>
                    </a:solidFill>
                  </a:rPr>
                  <a:t>校园网</a:t>
                </a:r>
                <a:endParaRPr lang="en-US" altLang="zh-CN" sz="1100" dirty="0">
                  <a:solidFill>
                    <a:schemeClr val="bg1"/>
                  </a:solidFill>
                </a:endParaRPr>
              </a:p>
            </p:txBody>
          </p:sp>
        </p:grpSp>
        <p:grpSp>
          <p:nvGrpSpPr>
            <p:cNvPr id="117" name="组合 116"/>
            <p:cNvGrpSpPr/>
            <p:nvPr/>
          </p:nvGrpSpPr>
          <p:grpSpPr>
            <a:xfrm>
              <a:off x="3694355" y="3842143"/>
              <a:ext cx="653027" cy="314012"/>
              <a:chOff x="3017798" y="3842143"/>
              <a:chExt cx="653027" cy="314012"/>
            </a:xfrm>
          </p:grpSpPr>
          <p:grpSp>
            <p:nvGrpSpPr>
              <p:cNvPr id="118"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20"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1"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2"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3"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4"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5"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6"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7"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8"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19" name="Text Box 354"/>
              <p:cNvSpPr txBox="1">
                <a:spLocks noChangeArrowheads="1"/>
              </p:cNvSpPr>
              <p:nvPr/>
            </p:nvSpPr>
            <p:spPr bwMode="auto">
              <a:xfrm>
                <a:off x="3017798" y="3873742"/>
                <a:ext cx="653027"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solidFill>
                      <a:schemeClr val="bg1"/>
                    </a:solidFill>
                  </a:rPr>
                  <a:t>校园网</a:t>
                </a:r>
                <a:endParaRPr lang="en-US" altLang="zh-CN" sz="1100" dirty="0">
                  <a:solidFill>
                    <a:schemeClr val="bg1"/>
                  </a:solidFill>
                </a:endParaRPr>
              </a:p>
            </p:txBody>
          </p:sp>
        </p:grpSp>
        <p:pic>
          <p:nvPicPr>
            <p:cNvPr id="12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698" y="3765383"/>
              <a:ext cx="247252"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4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2171" y="3736583"/>
              <a:ext cx="248323"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2" name="直接连接符 131"/>
            <p:cNvCxnSpPr/>
            <p:nvPr/>
          </p:nvCxnSpPr>
          <p:spPr>
            <a:xfrm>
              <a:off x="2971398" y="2701807"/>
              <a:ext cx="1123026" cy="0"/>
            </a:xfrm>
            <a:prstGeom prst="line">
              <a:avLst/>
            </a:prstGeom>
            <a:ln w="63500" cmpd="tri">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2206814" y="2569365"/>
              <a:ext cx="5656498" cy="258466"/>
              <a:chOff x="2206814" y="2569365"/>
              <a:chExt cx="5656498" cy="258466"/>
            </a:xfrm>
          </p:grpSpPr>
          <p:sp>
            <p:nvSpPr>
              <p:cNvPr id="55" name="Oval 289"/>
              <p:cNvSpPr>
                <a:spLocks noChangeArrowheads="1"/>
              </p:cNvSpPr>
              <p:nvPr/>
            </p:nvSpPr>
            <p:spPr bwMode="auto">
              <a:xfrm>
                <a:off x="540067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地区  </a:t>
                </a:r>
                <a:r>
                  <a:rPr lang="en-US" altLang="zh-CN" sz="1100"/>
                  <a:t>ISP</a:t>
                </a:r>
              </a:p>
            </p:txBody>
          </p:sp>
          <p:sp>
            <p:nvSpPr>
              <p:cNvPr id="58" name="Oval 327"/>
              <p:cNvSpPr>
                <a:spLocks noChangeArrowheads="1"/>
              </p:cNvSpPr>
              <p:nvPr/>
            </p:nvSpPr>
            <p:spPr bwMode="auto">
              <a:xfrm>
                <a:off x="6972393"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地区  </a:t>
                </a:r>
                <a:r>
                  <a:rPr lang="en-US" altLang="zh-CN" sz="1100"/>
                  <a:t>ISP</a:t>
                </a:r>
              </a:p>
            </p:txBody>
          </p:sp>
          <p:sp>
            <p:nvSpPr>
              <p:cNvPr id="59" name="Oval 328"/>
              <p:cNvSpPr>
                <a:spLocks noChangeArrowheads="1"/>
              </p:cNvSpPr>
              <p:nvPr/>
            </p:nvSpPr>
            <p:spPr bwMode="auto">
              <a:xfrm>
                <a:off x="2206814"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dirty="0"/>
                  <a:t>地</a:t>
                </a:r>
                <a:r>
                  <a:rPr lang="zh-CN" altLang="en-US" sz="1100"/>
                  <a:t>区  </a:t>
                </a:r>
                <a:r>
                  <a:rPr lang="en-US" altLang="zh-CN" sz="1100" dirty="0"/>
                  <a:t>ISP</a:t>
                </a:r>
              </a:p>
            </p:txBody>
          </p:sp>
          <p:sp>
            <p:nvSpPr>
              <p:cNvPr id="60" name="Oval 329"/>
              <p:cNvSpPr>
                <a:spLocks noChangeArrowheads="1"/>
              </p:cNvSpPr>
              <p:nvPr/>
            </p:nvSpPr>
            <p:spPr bwMode="auto">
              <a:xfrm>
                <a:off x="388989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100"/>
                  <a:t>地区  </a:t>
                </a:r>
                <a:r>
                  <a:rPr lang="en-US" altLang="zh-CN" sz="1100"/>
                  <a:t>ISP</a:t>
                </a:r>
              </a:p>
            </p:txBody>
          </p:sp>
          <p:grpSp>
            <p:nvGrpSpPr>
              <p:cNvPr id="91" name="组合 90"/>
              <p:cNvGrpSpPr/>
              <p:nvPr/>
            </p:nvGrpSpPr>
            <p:grpSpPr>
              <a:xfrm>
                <a:off x="3320162" y="2589558"/>
                <a:ext cx="412292" cy="238273"/>
                <a:chOff x="3320162" y="2589558"/>
                <a:chExt cx="412292" cy="238273"/>
              </a:xfrm>
            </p:grpSpPr>
            <p:grpSp>
              <p:nvGrpSpPr>
                <p:cNvPr id="81"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82"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3"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4"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5"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6"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7"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8"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9"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0"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4" name="Text Box 354"/>
                <p:cNvSpPr txBox="1">
                  <a:spLocks noChangeArrowheads="1"/>
                </p:cNvSpPr>
                <p:nvPr/>
              </p:nvSpPr>
              <p:spPr bwMode="auto">
                <a:xfrm>
                  <a:off x="3320162" y="2595353"/>
                  <a:ext cx="412292" cy="23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100" dirty="0"/>
                    <a:t>IXP</a:t>
                  </a:r>
                </a:p>
              </p:txBody>
            </p:sp>
          </p:grpSp>
        </p:grpSp>
        <p:sp>
          <p:nvSpPr>
            <p:cNvPr id="77" name="Freeform 272"/>
            <p:cNvSpPr>
              <a:spLocks/>
            </p:cNvSpPr>
            <p:nvPr/>
          </p:nvSpPr>
          <p:spPr bwMode="auto">
            <a:xfrm>
              <a:off x="5348146" y="2212958"/>
              <a:ext cx="2454231" cy="1592218"/>
            </a:xfrm>
            <a:custGeom>
              <a:avLst/>
              <a:gdLst>
                <a:gd name="T0" fmla="*/ 0 w 2336"/>
                <a:gd name="T1" fmla="*/ 2147483647 h 1577"/>
                <a:gd name="T2" fmla="*/ 632558359 w 2336"/>
                <a:gd name="T3" fmla="*/ 2147483647 h 1577"/>
                <a:gd name="T4" fmla="*/ 2001004020 w 2336"/>
                <a:gd name="T5" fmla="*/ 627519829 h 1577"/>
                <a:gd name="T6" fmla="*/ 2147483647 w 2336"/>
                <a:gd name="T7" fmla="*/ 68045030 h 1577"/>
                <a:gd name="T8" fmla="*/ 2147483647 w 2336"/>
                <a:gd name="T9" fmla="*/ 1043344970 h 1577"/>
                <a:gd name="T10" fmla="*/ 2147483647 w 2336"/>
                <a:gd name="T11" fmla="*/ 2147483647 h 1577"/>
                <a:gd name="T12" fmla="*/ 2147483647 w 2336"/>
                <a:gd name="T13" fmla="*/ 2147483647 h 1577"/>
                <a:gd name="T14" fmla="*/ 0 60000 65536"/>
                <a:gd name="T15" fmla="*/ 0 60000 65536"/>
                <a:gd name="T16" fmla="*/ 0 60000 65536"/>
                <a:gd name="T17" fmla="*/ 0 60000 65536"/>
                <a:gd name="T18" fmla="*/ 0 60000 65536"/>
                <a:gd name="T19" fmla="*/ 0 60000 65536"/>
                <a:gd name="T20" fmla="*/ 0 60000 65536"/>
                <a:gd name="T21" fmla="*/ 0 w 2336"/>
                <a:gd name="T22" fmla="*/ 0 h 1577"/>
                <a:gd name="T23" fmla="*/ 2336 w 2336"/>
                <a:gd name="T24" fmla="*/ 1577 h 1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99">
                  <a:alpha val="60000"/>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78" name="Line 411"/>
            <p:cNvSpPr>
              <a:spLocks noChangeShapeType="1"/>
            </p:cNvSpPr>
            <p:nvPr/>
          </p:nvSpPr>
          <p:spPr bwMode="auto">
            <a:xfrm flipV="1">
              <a:off x="6032980" y="2771110"/>
              <a:ext cx="1191393" cy="0"/>
            </a:xfrm>
            <a:prstGeom prst="line">
              <a:avLst/>
            </a:prstGeom>
            <a:ln w="50800">
              <a:solidFill>
                <a:srgbClr val="0000CC">
                  <a:alpha val="60000"/>
                </a:srgbClr>
              </a:solidFill>
              <a:prstDash val="sysDot"/>
              <a:headEnd type="triangle" w="sm" len="lg"/>
              <a:tailEnd type="triangle" w="sm" len="lg"/>
            </a:ln>
          </p:spPr>
          <p:style>
            <a:lnRef idx="1">
              <a:schemeClr val="accent3"/>
            </a:lnRef>
            <a:fillRef idx="3">
              <a:schemeClr val="accent3"/>
            </a:fillRef>
            <a:effectRef idx="2">
              <a:schemeClr val="accent3"/>
            </a:effectRef>
            <a:fontRef idx="minor">
              <a:schemeClr val="lt1"/>
            </a:fontRef>
          </p:style>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grpSp>
      <p:sp>
        <p:nvSpPr>
          <p:cNvPr id="11" name="标题 10">
            <a:extLst>
              <a:ext uri="{FF2B5EF4-FFF2-40B4-BE49-F238E27FC236}">
                <a16:creationId xmlns:a16="http://schemas.microsoft.com/office/drawing/2014/main" id="{B162DC1D-6FDE-6AF8-824A-8710FDBFB146}"/>
              </a:ext>
            </a:extLst>
          </p:cNvPr>
          <p:cNvSpPr>
            <a:spLocks noGrp="1"/>
          </p:cNvSpPr>
          <p:nvPr>
            <p:ph type="title"/>
          </p:nvPr>
        </p:nvSpPr>
        <p:spPr>
          <a:xfrm>
            <a:off x="612000" y="144000"/>
            <a:ext cx="7920000" cy="341632"/>
          </a:xfrm>
        </p:spPr>
        <p:txBody>
          <a:bodyPr/>
          <a:lstStyle/>
          <a:p>
            <a:r>
              <a:rPr lang="zh-CN" altLang="en-US" dirty="0"/>
              <a:t>第三阶段：</a:t>
            </a:r>
            <a:r>
              <a:rPr lang="en-US" altLang="zh-CN" dirty="0"/>
              <a:t>1993 –</a:t>
            </a:r>
            <a:endParaRPr lang="zh-CN" altLang="en-US" dirty="0"/>
          </a:p>
        </p:txBody>
      </p:sp>
      <p:sp>
        <p:nvSpPr>
          <p:cNvPr id="4" name="文本框 3">
            <a:extLst>
              <a:ext uri="{FF2B5EF4-FFF2-40B4-BE49-F238E27FC236}">
                <a16:creationId xmlns:a16="http://schemas.microsoft.com/office/drawing/2014/main" id="{1468BCF6-736F-5A91-75E4-AFC1B2F83CB7}"/>
              </a:ext>
            </a:extLst>
          </p:cNvPr>
          <p:cNvSpPr txBox="1"/>
          <p:nvPr/>
        </p:nvSpPr>
        <p:spPr>
          <a:xfrm>
            <a:off x="1191908" y="4325567"/>
            <a:ext cx="6760184" cy="307777"/>
          </a:xfrm>
          <a:prstGeom prst="rect">
            <a:avLst/>
          </a:prstGeom>
          <a:noFill/>
        </p:spPr>
        <p:txBody>
          <a:bodyPr wrap="none" rtlCol="0">
            <a:spAutoFit/>
          </a:bodyPr>
          <a:lstStyle/>
          <a:p>
            <a:pPr algn="ctr"/>
            <a:r>
              <a:rPr lang="zh-CN" altLang="en-US" sz="1400" dirty="0"/>
              <a:t>通信举例：主机</a:t>
            </a:r>
            <a:r>
              <a:rPr lang="en-US" altLang="zh-CN" sz="1400" dirty="0"/>
              <a:t>A → </a:t>
            </a:r>
            <a:r>
              <a:rPr lang="zh-CN" altLang="en-US" sz="1400" dirty="0"/>
              <a:t>本地 </a:t>
            </a:r>
            <a:r>
              <a:rPr lang="en-US" altLang="zh-CN" sz="1400" dirty="0"/>
              <a:t>ISP → </a:t>
            </a:r>
            <a:r>
              <a:rPr lang="zh-CN" altLang="en-US" sz="1400" dirty="0"/>
              <a:t>地区 </a:t>
            </a:r>
            <a:r>
              <a:rPr lang="en-US" altLang="zh-CN" sz="1400" dirty="0"/>
              <a:t>ISP → </a:t>
            </a:r>
            <a:r>
              <a:rPr lang="zh-CN" altLang="en-US" sz="1400" dirty="0"/>
              <a:t>主干 </a:t>
            </a:r>
            <a:r>
              <a:rPr lang="en-US" altLang="zh-CN" sz="1400" dirty="0"/>
              <a:t>ISP → </a:t>
            </a:r>
            <a:r>
              <a:rPr lang="zh-CN" altLang="en-US" sz="1400" dirty="0"/>
              <a:t>地区 </a:t>
            </a:r>
            <a:r>
              <a:rPr lang="en-US" altLang="zh-CN" sz="1400" dirty="0"/>
              <a:t>ISP → </a:t>
            </a:r>
            <a:r>
              <a:rPr lang="zh-CN" altLang="en-US" sz="1400" dirty="0"/>
              <a:t>本地 </a:t>
            </a:r>
            <a:r>
              <a:rPr lang="en-US" altLang="zh-CN" sz="1400" dirty="0"/>
              <a:t>ISP → </a:t>
            </a:r>
            <a:r>
              <a:rPr lang="zh-CN" altLang="en-US" sz="1400" dirty="0"/>
              <a:t>主机</a:t>
            </a:r>
            <a:r>
              <a:rPr lang="en-US" altLang="zh-CN" sz="1400" dirty="0"/>
              <a:t>B</a:t>
            </a:r>
          </a:p>
        </p:txBody>
      </p:sp>
    </p:spTree>
    <p:extLst>
      <p:ext uri="{BB962C8B-B14F-4D97-AF65-F5344CB8AC3E}">
        <p14:creationId xmlns:p14="http://schemas.microsoft.com/office/powerpoint/2010/main" val="16183618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549EBD5-0F54-073A-AA8C-98E52822A2C9}"/>
              </a:ext>
            </a:extLst>
          </p:cNvPr>
          <p:cNvSpPr>
            <a:spLocks noGrp="1"/>
          </p:cNvSpPr>
          <p:nvPr>
            <p:ph type="title"/>
          </p:nvPr>
        </p:nvSpPr>
        <p:spPr>
          <a:xfrm>
            <a:off x="612000" y="144000"/>
            <a:ext cx="7920000" cy="341632"/>
          </a:xfrm>
        </p:spPr>
        <p:txBody>
          <a:bodyPr/>
          <a:lstStyle/>
          <a:p>
            <a:r>
              <a:rPr lang="zh-CN" altLang="en-US" dirty="0"/>
              <a:t>第三阶段：</a:t>
            </a:r>
            <a:r>
              <a:rPr lang="en-US" altLang="zh-CN" dirty="0"/>
              <a:t>1993 –</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互联网交换点 </a:t>
            </a:r>
            <a:r>
              <a:rPr lang="en-US" altLang="zh-CN" dirty="0"/>
              <a:t>IXP (Internet </a:t>
            </a:r>
            <a:r>
              <a:rPr lang="en-US" altLang="zh-CN" dirty="0" err="1"/>
              <a:t>eXchange</a:t>
            </a:r>
            <a:r>
              <a:rPr lang="en-US" altLang="zh-CN" dirty="0"/>
              <a:t> Point)</a:t>
            </a:r>
          </a:p>
          <a:p>
            <a:pPr lvl="1"/>
            <a:r>
              <a:rPr lang="zh-CN" altLang="en-US" dirty="0"/>
              <a:t>允许两个网络直接相连并快速交换分组</a:t>
            </a:r>
            <a:endParaRPr lang="en-US" altLang="zh-CN" dirty="0"/>
          </a:p>
          <a:p>
            <a:pPr lvl="1"/>
            <a:r>
              <a:rPr lang="zh-CN" altLang="en-US" dirty="0"/>
              <a:t>常采用工作在数据链路层的网络交换机</a:t>
            </a:r>
            <a:endParaRPr lang="en-US" altLang="zh-CN" dirty="0"/>
          </a:p>
          <a:p>
            <a:pPr lvl="1"/>
            <a:r>
              <a:rPr lang="zh-CN" altLang="en-US" dirty="0"/>
              <a:t>世界上较大的 </a:t>
            </a:r>
            <a:r>
              <a:rPr lang="en-US" altLang="zh-CN" dirty="0"/>
              <a:t>IXP </a:t>
            </a:r>
            <a:r>
              <a:rPr lang="zh-CN" altLang="en-US" dirty="0"/>
              <a:t>的峰值吞吐量都在 </a:t>
            </a:r>
            <a:r>
              <a:rPr lang="en-US" altLang="zh-CN" dirty="0" err="1"/>
              <a:t>Tbit</a:t>
            </a:r>
            <a:r>
              <a:rPr lang="en-US" altLang="zh-CN" dirty="0"/>
              <a:t>/s </a:t>
            </a:r>
            <a:r>
              <a:rPr lang="zh-CN" altLang="en-US" dirty="0"/>
              <a:t>量级</a:t>
            </a:r>
            <a:endParaRPr lang="en-US" altLang="zh-CN" dirty="0"/>
          </a:p>
          <a:p>
            <a:r>
              <a:rPr lang="zh-CN" altLang="en-US" dirty="0"/>
              <a:t>内容提供者 </a:t>
            </a:r>
            <a:r>
              <a:rPr lang="en-US" altLang="zh-CN" dirty="0"/>
              <a:t>(Content Provider)</a:t>
            </a:r>
          </a:p>
          <a:p>
            <a:pPr lvl="1"/>
            <a:r>
              <a:rPr lang="zh-CN" altLang="en-US" dirty="0"/>
              <a:t>在互联网上向所有用户提供视频等内容的公司</a:t>
            </a:r>
            <a:endParaRPr lang="en-US" altLang="zh-CN" dirty="0"/>
          </a:p>
          <a:p>
            <a:pPr lvl="1"/>
            <a:r>
              <a:rPr lang="zh-CN" altLang="en-US" dirty="0"/>
              <a:t>不向用户提供互联网的转接服务</a:t>
            </a:r>
          </a:p>
        </p:txBody>
      </p:sp>
    </p:spTree>
    <p:extLst>
      <p:ext uri="{BB962C8B-B14F-4D97-AF65-F5344CB8AC3E}">
        <p14:creationId xmlns:p14="http://schemas.microsoft.com/office/powerpoint/2010/main" val="3704576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27B82C64-AA89-9F6E-A7C9-557E283EB359}"/>
              </a:ext>
            </a:extLst>
          </p:cNvPr>
          <p:cNvSpPr>
            <a:spLocks noGrp="1"/>
          </p:cNvSpPr>
          <p:nvPr>
            <p:ph type="title"/>
          </p:nvPr>
        </p:nvSpPr>
        <p:spPr>
          <a:xfrm>
            <a:off x="612000" y="144000"/>
            <a:ext cx="7920000" cy="341632"/>
          </a:xfrm>
        </p:spPr>
        <p:txBody>
          <a:bodyPr/>
          <a:lstStyle/>
          <a:p>
            <a:r>
              <a:rPr lang="zh-CN" altLang="en-US" dirty="0"/>
              <a:t>万维网 </a:t>
            </a:r>
            <a:r>
              <a:rPr lang="en-US" altLang="zh-CN" dirty="0"/>
              <a:t>WWW</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en-US" altLang="zh-CN" dirty="0"/>
              <a:t>World Wide Web</a:t>
            </a:r>
          </a:p>
          <a:p>
            <a:r>
              <a:rPr lang="en-US" altLang="zh-CN" dirty="0"/>
              <a:t>20 </a:t>
            </a:r>
            <a:r>
              <a:rPr lang="zh-CN" altLang="en-US" dirty="0"/>
              <a:t>世纪 </a:t>
            </a:r>
            <a:r>
              <a:rPr lang="en-US" altLang="zh-CN" dirty="0"/>
              <a:t>90 </a:t>
            </a:r>
            <a:r>
              <a:rPr lang="zh-CN" altLang="en-US" dirty="0"/>
              <a:t>年代问世</a:t>
            </a:r>
            <a:endParaRPr lang="en-US" altLang="zh-CN" dirty="0"/>
          </a:p>
          <a:p>
            <a:r>
              <a:rPr lang="zh-CN" altLang="en-US" dirty="0"/>
              <a:t>由欧洲原子核研究组织 </a:t>
            </a:r>
            <a:r>
              <a:rPr lang="en-US" altLang="zh-CN" dirty="0"/>
              <a:t>CERN </a:t>
            </a:r>
            <a:r>
              <a:rPr lang="zh-CN" altLang="en-US" dirty="0"/>
              <a:t>开发</a:t>
            </a:r>
          </a:p>
          <a:p>
            <a:r>
              <a:rPr lang="zh-CN" altLang="en-US" dirty="0"/>
              <a:t>成为互联网指数级增长的主要驱动力</a:t>
            </a:r>
          </a:p>
          <a:p>
            <a:r>
              <a:rPr lang="en-US" altLang="zh-CN" dirty="0"/>
              <a:t>2019 </a:t>
            </a:r>
            <a:r>
              <a:rPr lang="zh-CN" altLang="en-US" dirty="0"/>
              <a:t>年 </a:t>
            </a:r>
            <a:r>
              <a:rPr lang="en-US" altLang="zh-CN" dirty="0"/>
              <a:t>3 </a:t>
            </a:r>
            <a:r>
              <a:rPr lang="zh-CN" altLang="en-US" dirty="0"/>
              <a:t>月底，互联网的用户数已超过了 </a:t>
            </a:r>
            <a:r>
              <a:rPr lang="en-US" altLang="zh-CN" dirty="0"/>
              <a:t>43.8</a:t>
            </a:r>
            <a:r>
              <a:rPr lang="zh-CN" altLang="en-US" dirty="0"/>
              <a:t>亿</a:t>
            </a:r>
          </a:p>
          <a:p>
            <a:r>
              <a:rPr lang="zh-CN" altLang="zh-CN" dirty="0"/>
              <a:t>管理机构是</a:t>
            </a:r>
            <a:r>
              <a:rPr lang="zh-CN" altLang="zh-CN" dirty="0">
                <a:hlinkClick r:id="rId2"/>
              </a:rPr>
              <a:t>万维网联盟</a:t>
            </a:r>
            <a:r>
              <a:rPr lang="zh-CN" altLang="zh-CN" dirty="0"/>
              <a:t> W3C（World Wide Web Consortium）</a:t>
            </a:r>
            <a:endParaRPr lang="en-US" altLang="zh-CN" dirty="0"/>
          </a:p>
        </p:txBody>
      </p:sp>
    </p:spTree>
    <p:extLst>
      <p:ext uri="{BB962C8B-B14F-4D97-AF65-F5344CB8AC3E}">
        <p14:creationId xmlns:p14="http://schemas.microsoft.com/office/powerpoint/2010/main" val="5542006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E1C9EF4-6BAC-BAF1-BC59-63A6E71CC545}"/>
              </a:ext>
            </a:extLst>
          </p:cNvPr>
          <p:cNvSpPr>
            <a:spLocks noGrp="1"/>
          </p:cNvSpPr>
          <p:nvPr>
            <p:ph type="title"/>
          </p:nvPr>
        </p:nvSpPr>
        <p:spPr>
          <a:xfrm>
            <a:off x="612000" y="144000"/>
            <a:ext cx="7920000" cy="341632"/>
          </a:xfrm>
        </p:spPr>
        <p:txBody>
          <a:bodyPr/>
          <a:lstStyle/>
          <a:p>
            <a:r>
              <a:rPr lang="zh-CN" altLang="en-US" dirty="0"/>
              <a:t>课后作业</a:t>
            </a:r>
          </a:p>
        </p:txBody>
      </p:sp>
      <p:sp>
        <p:nvSpPr>
          <p:cNvPr id="3" name="内容占位符 2">
            <a:extLst>
              <a:ext uri="{FF2B5EF4-FFF2-40B4-BE49-F238E27FC236}">
                <a16:creationId xmlns:a16="http://schemas.microsoft.com/office/drawing/2014/main" id="{18785975-281B-05D0-147D-6B91686F40FC}"/>
              </a:ext>
            </a:extLst>
          </p:cNvPr>
          <p:cNvSpPr>
            <a:spLocks noGrp="1"/>
          </p:cNvSpPr>
          <p:nvPr>
            <p:ph sz="quarter" idx="10"/>
          </p:nvPr>
        </p:nvSpPr>
        <p:spPr>
          <a:xfrm>
            <a:off x="612000" y="899999"/>
            <a:ext cx="7920000" cy="3780000"/>
          </a:xfrm>
        </p:spPr>
        <p:txBody>
          <a:bodyPr/>
          <a:lstStyle/>
          <a:p>
            <a:r>
              <a:rPr lang="zh-CN" altLang="en-US" dirty="0"/>
              <a:t>阅读并翻译 </a:t>
            </a:r>
            <a:r>
              <a:rPr lang="zh-CN" altLang="zh-CN" dirty="0">
                <a:hlinkClick r:id="rId2"/>
              </a:rPr>
              <a:t>Birth of the Commercial Internet - NSF Impacts | NSF - U.S. National Science Foundation</a:t>
            </a:r>
            <a:endParaRPr lang="zh-CN" altLang="en-US" dirty="0"/>
          </a:p>
        </p:txBody>
      </p:sp>
    </p:spTree>
    <p:extLst>
      <p:ext uri="{BB962C8B-B14F-4D97-AF65-F5344CB8AC3E}">
        <p14:creationId xmlns:p14="http://schemas.microsoft.com/office/powerpoint/2010/main" val="291988758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E37C825B-9650-2163-FBDF-4D63627E3166}"/>
              </a:ext>
            </a:extLst>
          </p:cNvPr>
          <p:cNvSpPr>
            <a:spLocks noGrp="1"/>
          </p:cNvSpPr>
          <p:nvPr>
            <p:ph type="title"/>
          </p:nvPr>
        </p:nvSpPr>
        <p:spPr>
          <a:xfrm>
            <a:off x="612000" y="144000"/>
            <a:ext cx="7920000" cy="341632"/>
          </a:xfrm>
        </p:spPr>
        <p:txBody>
          <a:bodyPr/>
          <a:lstStyle/>
          <a:p>
            <a:r>
              <a:rPr lang="en-US" altLang="zh-CN" dirty="0"/>
              <a:t>1.2.3  </a:t>
            </a:r>
            <a:r>
              <a:rPr lang="zh-CN" altLang="en-US" dirty="0"/>
              <a:t>互联网的标准化工作</a:t>
            </a:r>
          </a:p>
        </p:txBody>
      </p:sp>
      <p:sp>
        <p:nvSpPr>
          <p:cNvPr id="2" name="内容占位符 1"/>
          <p:cNvSpPr>
            <a:spLocks noGrp="1"/>
          </p:cNvSpPr>
          <p:nvPr>
            <p:ph sz="quarter" idx="10"/>
          </p:nvPr>
        </p:nvSpPr>
        <p:spPr>
          <a:xfrm>
            <a:off x="612000" y="899999"/>
            <a:ext cx="7920000" cy="3780000"/>
          </a:xfrm>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互联网的标准化工作对互联网的发展起到了非常重要的作用</a:t>
            </a:r>
          </a:p>
        </p:txBody>
      </p:sp>
      <p:sp>
        <p:nvSpPr>
          <p:cNvPr id="5" name="AutoShape 44"/>
          <p:cNvSpPr>
            <a:spLocks noChangeArrowheads="1"/>
          </p:cNvSpPr>
          <p:nvPr/>
        </p:nvSpPr>
        <p:spPr bwMode="auto">
          <a:xfrm>
            <a:off x="4750376" y="2513371"/>
            <a:ext cx="2774284" cy="1729338"/>
          </a:xfrm>
          <a:prstGeom prst="rect">
            <a:avLst/>
          </a:prstGeom>
          <a:noFill/>
          <a:ln w="6350">
            <a:solidFill>
              <a:schemeClr val="tx1">
                <a:lumMod val="50000"/>
                <a:lumOff val="50000"/>
              </a:schemeClr>
            </a:solidFill>
          </a:ln>
          <a:effectLst/>
          <a:scene3d>
            <a:camera prst="orthographicFront">
              <a:rot lat="0" lon="0" rev="0"/>
            </a:camera>
            <a:lightRig rig="glow" dir="t">
              <a:rot lat="0" lon="0" rev="14100000"/>
            </a:lightRig>
          </a:scene3d>
          <a:sp3d prstMaterial="softEdge"/>
        </p:spPr>
        <p:txBody>
          <a:bodyPr wrap="none" anchor="ctr"/>
          <a:lstStyle/>
          <a:p>
            <a:endParaRPr lang="zh-CN" altLang="en-US"/>
          </a:p>
        </p:txBody>
      </p:sp>
      <p:sp>
        <p:nvSpPr>
          <p:cNvPr id="6" name="AutoShape 43"/>
          <p:cNvSpPr>
            <a:spLocks noChangeArrowheads="1"/>
          </p:cNvSpPr>
          <p:nvPr/>
        </p:nvSpPr>
        <p:spPr bwMode="auto">
          <a:xfrm>
            <a:off x="1619340" y="2513371"/>
            <a:ext cx="2834003" cy="1729338"/>
          </a:xfrm>
          <a:prstGeom prst="rect">
            <a:avLst/>
          </a:prstGeom>
          <a:noFill/>
          <a:ln w="6350">
            <a:solidFill>
              <a:schemeClr val="tx1">
                <a:lumMod val="50000"/>
                <a:lumOff val="50000"/>
              </a:schemeClr>
            </a:solidFill>
          </a:ln>
          <a:effectLst/>
          <a:scene3d>
            <a:camera prst="orthographicFront">
              <a:rot lat="0" lon="0" rev="0"/>
            </a:camera>
            <a:lightRig rig="glow" dir="t">
              <a:rot lat="0" lon="0" rev="14100000"/>
            </a:lightRig>
          </a:scene3d>
          <a:sp3d prstMaterial="softEdge"/>
        </p:spPr>
        <p:txBody>
          <a:bodyPr wrap="none" anchor="ctr"/>
          <a:lstStyle/>
          <a:p>
            <a:pPr fontAlgn="auto">
              <a:spcBef>
                <a:spcPts val="0"/>
              </a:spcBef>
              <a:spcAft>
                <a:spcPts val="0"/>
              </a:spcAft>
              <a:defRPr/>
            </a:pPr>
            <a:endParaRPr lang="zh-CN" altLang="en-US">
              <a:latin typeface="+mn-lt"/>
              <a:ea typeface="+mn-ea"/>
            </a:endParaRPr>
          </a:p>
        </p:txBody>
      </p:sp>
      <p:sp>
        <p:nvSpPr>
          <p:cNvPr id="42007" name="Freeform 4"/>
          <p:cNvSpPr>
            <a:spLocks/>
          </p:cNvSpPr>
          <p:nvPr/>
        </p:nvSpPr>
        <p:spPr bwMode="auto">
          <a:xfrm>
            <a:off x="3665570" y="2025516"/>
            <a:ext cx="1749684" cy="156605"/>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2012" name="Text Box 17"/>
          <p:cNvSpPr txBox="1">
            <a:spLocks noChangeArrowheads="1"/>
          </p:cNvSpPr>
          <p:nvPr/>
        </p:nvSpPr>
        <p:spPr bwMode="auto">
          <a:xfrm>
            <a:off x="5978584" y="3534641"/>
            <a:ext cx="3080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lang="en-US" altLang="zh-CN" sz="1400" dirty="0"/>
              <a:t>…</a:t>
            </a:r>
          </a:p>
        </p:txBody>
      </p:sp>
      <p:sp>
        <p:nvSpPr>
          <p:cNvPr id="42013" name="Rectangle 20"/>
          <p:cNvSpPr>
            <a:spLocks noChangeArrowheads="1"/>
          </p:cNvSpPr>
          <p:nvPr/>
        </p:nvSpPr>
        <p:spPr bwMode="auto">
          <a:xfrm>
            <a:off x="2216012" y="3923528"/>
            <a:ext cx="317273"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lang="en-US" altLang="zh-CN" sz="1400" dirty="0"/>
              <a:t>RG</a:t>
            </a:r>
          </a:p>
        </p:txBody>
      </p:sp>
      <p:sp>
        <p:nvSpPr>
          <p:cNvPr id="42014" name="Rectangle 21"/>
          <p:cNvSpPr>
            <a:spLocks noChangeArrowheads="1"/>
          </p:cNvSpPr>
          <p:nvPr/>
        </p:nvSpPr>
        <p:spPr bwMode="auto">
          <a:xfrm>
            <a:off x="6884191" y="3922189"/>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a:t>WG</a:t>
            </a:r>
          </a:p>
        </p:txBody>
      </p:sp>
      <p:sp>
        <p:nvSpPr>
          <p:cNvPr id="42015" name="Text Box 22"/>
          <p:cNvSpPr txBox="1">
            <a:spLocks noChangeArrowheads="1"/>
          </p:cNvSpPr>
          <p:nvPr/>
        </p:nvSpPr>
        <p:spPr bwMode="auto">
          <a:xfrm>
            <a:off x="5346023" y="3878096"/>
            <a:ext cx="3080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lang="en-US" altLang="zh-CN" sz="1400" dirty="0"/>
              <a:t>…</a:t>
            </a:r>
          </a:p>
        </p:txBody>
      </p:sp>
      <p:sp>
        <p:nvSpPr>
          <p:cNvPr id="42016" name="Text Box 23"/>
          <p:cNvSpPr txBox="1">
            <a:spLocks noChangeArrowheads="1"/>
          </p:cNvSpPr>
          <p:nvPr/>
        </p:nvSpPr>
        <p:spPr bwMode="auto">
          <a:xfrm>
            <a:off x="6554870" y="3878096"/>
            <a:ext cx="3080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lang="en-US" altLang="zh-CN" sz="1400" dirty="0"/>
              <a:t>…</a:t>
            </a:r>
          </a:p>
        </p:txBody>
      </p:sp>
      <p:sp>
        <p:nvSpPr>
          <p:cNvPr id="42017" name="Rectangle 28"/>
          <p:cNvSpPr>
            <a:spLocks noChangeArrowheads="1"/>
          </p:cNvSpPr>
          <p:nvPr/>
        </p:nvSpPr>
        <p:spPr bwMode="auto">
          <a:xfrm>
            <a:off x="3560693" y="3923528"/>
            <a:ext cx="318611"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lang="en-US" altLang="zh-CN" sz="1400" dirty="0"/>
              <a:t>RG</a:t>
            </a:r>
          </a:p>
        </p:txBody>
      </p:sp>
      <p:sp>
        <p:nvSpPr>
          <p:cNvPr id="42018" name="Text Box 29"/>
          <p:cNvSpPr txBox="1">
            <a:spLocks noChangeArrowheads="1"/>
          </p:cNvSpPr>
          <p:nvPr/>
        </p:nvSpPr>
        <p:spPr bwMode="auto">
          <a:xfrm>
            <a:off x="2934180" y="3878096"/>
            <a:ext cx="3080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lang="en-US" altLang="zh-CN" sz="1400" dirty="0"/>
              <a:t>…</a:t>
            </a:r>
          </a:p>
        </p:txBody>
      </p:sp>
      <p:sp>
        <p:nvSpPr>
          <p:cNvPr id="42019" name="Rectangle 30"/>
          <p:cNvSpPr>
            <a:spLocks noChangeArrowheads="1"/>
          </p:cNvSpPr>
          <p:nvPr/>
        </p:nvSpPr>
        <p:spPr bwMode="auto">
          <a:xfrm>
            <a:off x="5330081" y="3564718"/>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dirty="0"/>
              <a:t>Area</a:t>
            </a:r>
            <a:endParaRPr lang="zh-CN" altLang="en-US" sz="1400" dirty="0"/>
          </a:p>
        </p:txBody>
      </p:sp>
      <p:sp>
        <p:nvSpPr>
          <p:cNvPr id="42020" name="Rectangle 31"/>
          <p:cNvSpPr>
            <a:spLocks noChangeArrowheads="1"/>
          </p:cNvSpPr>
          <p:nvPr/>
        </p:nvSpPr>
        <p:spPr bwMode="auto">
          <a:xfrm>
            <a:off x="6534912" y="3564718"/>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dirty="0"/>
              <a:t>Area</a:t>
            </a:r>
            <a:endParaRPr lang="zh-CN" altLang="en-US" sz="1400" dirty="0"/>
          </a:p>
        </p:txBody>
      </p:sp>
      <p:sp>
        <p:nvSpPr>
          <p:cNvPr id="42024" name="Rectangle 33"/>
          <p:cNvSpPr>
            <a:spLocks noChangeArrowheads="1"/>
          </p:cNvSpPr>
          <p:nvPr/>
        </p:nvSpPr>
        <p:spPr bwMode="auto">
          <a:xfrm>
            <a:off x="6138535" y="3922189"/>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a:t>WG</a:t>
            </a:r>
          </a:p>
        </p:txBody>
      </p:sp>
      <p:sp>
        <p:nvSpPr>
          <p:cNvPr id="42025" name="Rectangle 34"/>
          <p:cNvSpPr>
            <a:spLocks noChangeArrowheads="1"/>
          </p:cNvSpPr>
          <p:nvPr/>
        </p:nvSpPr>
        <p:spPr bwMode="auto">
          <a:xfrm>
            <a:off x="5640537" y="3922189"/>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a:t>WG</a:t>
            </a:r>
          </a:p>
        </p:txBody>
      </p:sp>
      <p:sp>
        <p:nvSpPr>
          <p:cNvPr id="42026" name="Rectangle 35"/>
          <p:cNvSpPr>
            <a:spLocks noChangeArrowheads="1"/>
          </p:cNvSpPr>
          <p:nvPr/>
        </p:nvSpPr>
        <p:spPr bwMode="auto">
          <a:xfrm>
            <a:off x="4967170" y="3922189"/>
            <a:ext cx="372159"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lang="en-US" altLang="zh-CN" sz="1400" dirty="0"/>
              <a:t>WG</a:t>
            </a:r>
          </a:p>
        </p:txBody>
      </p:sp>
      <p:cxnSp>
        <p:nvCxnSpPr>
          <p:cNvPr id="42027" name="AutoShape 45"/>
          <p:cNvCxnSpPr>
            <a:cxnSpLocks noChangeShapeType="1"/>
            <a:stCxn id="30" idx="2"/>
            <a:endCxn id="42011" idx="0"/>
          </p:cNvCxnSpPr>
          <p:nvPr/>
        </p:nvCxnSpPr>
        <p:spPr bwMode="auto">
          <a:xfrm>
            <a:off x="4571687" y="2158170"/>
            <a:ext cx="1565831" cy="879261"/>
          </a:xfrm>
          <a:prstGeom prst="straightConnector1">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8" name="AutoShape 46"/>
          <p:cNvCxnSpPr>
            <a:cxnSpLocks noChangeShapeType="1"/>
            <a:stCxn id="43" idx="2"/>
            <a:endCxn id="30" idx="0"/>
          </p:cNvCxnSpPr>
          <p:nvPr/>
        </p:nvCxnSpPr>
        <p:spPr bwMode="auto">
          <a:xfrm flipH="1">
            <a:off x="4571687" y="1727510"/>
            <a:ext cx="1" cy="122883"/>
          </a:xfrm>
          <a:prstGeom prst="straightConnector1">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a:stCxn id="30" idx="2"/>
            <a:endCxn id="42008" idx="0"/>
          </p:cNvCxnSpPr>
          <p:nvPr/>
        </p:nvCxnSpPr>
        <p:spPr bwMode="auto">
          <a:xfrm flipH="1">
            <a:off x="3036341" y="2158170"/>
            <a:ext cx="1535346" cy="879261"/>
          </a:xfrm>
          <a:prstGeom prst="straightConnector1">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3196951" y="1850393"/>
            <a:ext cx="2749472" cy="307777"/>
          </a:xfrm>
          <a:prstGeom prst="rect">
            <a:avLst/>
          </a:prstGeom>
          <a:noFill/>
          <a:ln w="6350">
            <a:noFill/>
            <a:miter lim="800000"/>
            <a:headEnd/>
            <a:tailEnd/>
          </a:ln>
          <a:effectLst/>
        </p:spPr>
        <p:txBody>
          <a:bodyPr wrap="none" anchor="ctr">
            <a:spAutoFit/>
          </a:bodyPr>
          <a:lstStyle/>
          <a:p>
            <a:pPr algn="ctr" eaLnBrk="0" fontAlgn="auto" hangingPunct="0">
              <a:spcBef>
                <a:spcPts val="0"/>
              </a:spcBef>
              <a:spcAft>
                <a:spcPts val="0"/>
              </a:spcAft>
              <a:defRPr/>
            </a:pPr>
            <a:r>
              <a:rPr lang="zh-CN" altLang="en-US" sz="1400" dirty="0"/>
              <a:t>互联网体系结构研究委员会 </a:t>
            </a:r>
            <a:r>
              <a:rPr lang="en-US" altLang="zh-CN" sz="1400" dirty="0"/>
              <a:t>IAB </a:t>
            </a:r>
          </a:p>
        </p:txBody>
      </p:sp>
      <p:sp>
        <p:nvSpPr>
          <p:cNvPr id="42008" name="Rectangle 10"/>
          <p:cNvSpPr>
            <a:spLocks noChangeArrowheads="1"/>
          </p:cNvSpPr>
          <p:nvPr/>
        </p:nvSpPr>
        <p:spPr bwMode="auto">
          <a:xfrm>
            <a:off x="1872401" y="3037431"/>
            <a:ext cx="2327880" cy="307777"/>
          </a:xfrm>
          <a:prstGeom prst="rect">
            <a:avLst/>
          </a:prstGeom>
          <a:ln>
            <a:solidFill>
              <a:schemeClr val="tx1">
                <a:lumMod val="50000"/>
                <a:lumOff val="50000"/>
              </a:schemeClr>
            </a:solidFill>
          </a:ln>
        </p:spPr>
        <p:style>
          <a:lnRef idx="2">
            <a:schemeClr val="accent3"/>
          </a:lnRef>
          <a:fillRef idx="1">
            <a:schemeClr val="lt1"/>
          </a:fillRef>
          <a:effectRef idx="0">
            <a:schemeClr val="accent3"/>
          </a:effectRef>
          <a:fontRef idx="minor">
            <a:schemeClr val="dk1"/>
          </a:fontRef>
        </p:style>
        <p:txBody>
          <a:bodyPr wrap="none" anchor="ctr">
            <a:spAutoFit/>
          </a:bodyPr>
          <a:lstStyle/>
          <a:p>
            <a:pPr algn="ctr" eaLnBrk="0" hangingPunct="0"/>
            <a:r>
              <a:rPr lang="zh-CN" altLang="en-US" sz="1400" dirty="0"/>
              <a:t>互联网研究指导小组 </a:t>
            </a:r>
            <a:r>
              <a:rPr lang="en-US" altLang="zh-CN" sz="1400" dirty="0"/>
              <a:t>I</a:t>
            </a:r>
            <a:r>
              <a:rPr lang="en-US" altLang="zh-CN" sz="1400" dirty="0">
                <a:solidFill>
                  <a:srgbClr val="D4237A"/>
                </a:solidFill>
              </a:rPr>
              <a:t>R</a:t>
            </a:r>
            <a:r>
              <a:rPr lang="en-US" altLang="zh-CN" sz="1400" dirty="0"/>
              <a:t>SG </a:t>
            </a:r>
          </a:p>
        </p:txBody>
      </p:sp>
      <p:sp>
        <p:nvSpPr>
          <p:cNvPr id="42011" name="Rectangle 16"/>
          <p:cNvSpPr>
            <a:spLocks noChangeArrowheads="1"/>
          </p:cNvSpPr>
          <p:nvPr/>
        </p:nvSpPr>
        <p:spPr bwMode="auto">
          <a:xfrm>
            <a:off x="4978386" y="3037431"/>
            <a:ext cx="2318263" cy="307777"/>
          </a:xfrm>
          <a:prstGeom prst="rect">
            <a:avLst/>
          </a:prstGeom>
          <a:ln>
            <a:solidFill>
              <a:schemeClr val="tx1">
                <a:lumMod val="50000"/>
                <a:lumOff val="50000"/>
              </a:schemeClr>
            </a:solidFill>
          </a:ln>
        </p:spPr>
        <p:style>
          <a:lnRef idx="2">
            <a:schemeClr val="accent3"/>
          </a:lnRef>
          <a:fillRef idx="1">
            <a:schemeClr val="lt1"/>
          </a:fillRef>
          <a:effectRef idx="0">
            <a:schemeClr val="accent3"/>
          </a:effectRef>
          <a:fontRef idx="minor">
            <a:schemeClr val="dk1"/>
          </a:fontRef>
        </p:style>
        <p:txBody>
          <a:bodyPr wrap="none" anchor="ctr">
            <a:spAutoFit/>
          </a:bodyPr>
          <a:lstStyle/>
          <a:p>
            <a:pPr algn="ctr" eaLnBrk="0" hangingPunct="0"/>
            <a:r>
              <a:rPr lang="zh-CN" altLang="en-US" sz="1400" dirty="0"/>
              <a:t>互联网工程指导小组 </a:t>
            </a:r>
            <a:r>
              <a:rPr lang="en-US" altLang="zh-CN" sz="1400" dirty="0"/>
              <a:t>I</a:t>
            </a:r>
            <a:r>
              <a:rPr lang="en-US" altLang="zh-CN" sz="1400" dirty="0">
                <a:solidFill>
                  <a:srgbClr val="D4237A"/>
                </a:solidFill>
              </a:rPr>
              <a:t>E</a:t>
            </a:r>
            <a:r>
              <a:rPr lang="en-US" altLang="zh-CN" sz="1400" dirty="0"/>
              <a:t>SG </a:t>
            </a:r>
          </a:p>
        </p:txBody>
      </p:sp>
      <p:sp>
        <p:nvSpPr>
          <p:cNvPr id="43" name="Rectangle 5"/>
          <p:cNvSpPr>
            <a:spLocks noChangeArrowheads="1"/>
          </p:cNvSpPr>
          <p:nvPr/>
        </p:nvSpPr>
        <p:spPr bwMode="auto">
          <a:xfrm>
            <a:off x="3784453" y="1419733"/>
            <a:ext cx="1574469" cy="307777"/>
          </a:xfrm>
          <a:prstGeom prst="rect">
            <a:avLst/>
          </a:prstGeom>
          <a:noFill/>
          <a:ln w="6350">
            <a:noFill/>
            <a:miter lim="800000"/>
            <a:headEnd/>
            <a:tailEnd/>
          </a:ln>
          <a:effectLst/>
        </p:spPr>
        <p:txBody>
          <a:bodyPr wrap="none" anchor="ctr">
            <a:spAutoFit/>
          </a:bodyPr>
          <a:lstStyle/>
          <a:p>
            <a:pPr algn="ctr" eaLnBrk="0" fontAlgn="auto" hangingPunct="0">
              <a:spcBef>
                <a:spcPts val="0"/>
              </a:spcBef>
              <a:spcAft>
                <a:spcPts val="0"/>
              </a:spcAft>
              <a:defRPr/>
            </a:pPr>
            <a:r>
              <a:rPr lang="zh-CN" altLang="en-US" sz="1400" dirty="0"/>
              <a:t>互联网协会 </a:t>
            </a:r>
            <a:r>
              <a:rPr lang="en-US" altLang="zh-CN" sz="1400" dirty="0"/>
              <a:t>ISOC</a:t>
            </a:r>
          </a:p>
        </p:txBody>
      </p:sp>
      <p:sp useBgFill="1">
        <p:nvSpPr>
          <p:cNvPr id="3" name="文本框 2">
            <a:extLst>
              <a:ext uri="{FF2B5EF4-FFF2-40B4-BE49-F238E27FC236}">
                <a16:creationId xmlns:a16="http://schemas.microsoft.com/office/drawing/2014/main" id="{80A6D7B6-4614-30E4-47C4-BE0682FD1796}"/>
              </a:ext>
            </a:extLst>
          </p:cNvPr>
          <p:cNvSpPr txBox="1"/>
          <p:nvPr/>
        </p:nvSpPr>
        <p:spPr>
          <a:xfrm>
            <a:off x="1619340" y="2513371"/>
            <a:ext cx="1755609" cy="307777"/>
          </a:xfrm>
          <a:prstGeom prst="rect">
            <a:avLst/>
          </a:prstGeom>
        </p:spPr>
        <p:txBody>
          <a:bodyPr wrap="none" rtlCol="0">
            <a:spAutoFit/>
          </a:bodyPr>
          <a:lstStyle/>
          <a:p>
            <a:pPr algn="ctr"/>
            <a:r>
              <a:rPr lang="zh-CN" altLang="en-US" sz="1400" dirty="0"/>
              <a:t>互联网研究部 </a:t>
            </a:r>
            <a:r>
              <a:rPr lang="en-US" altLang="zh-CN" sz="1400"/>
              <a:t>I</a:t>
            </a:r>
            <a:r>
              <a:rPr lang="en-US" altLang="zh-CN" sz="1400">
                <a:solidFill>
                  <a:srgbClr val="D4237A"/>
                </a:solidFill>
              </a:rPr>
              <a:t>R</a:t>
            </a:r>
            <a:r>
              <a:rPr lang="en-US" altLang="zh-CN" sz="1400"/>
              <a:t>TF </a:t>
            </a:r>
            <a:endParaRPr lang="en-US" altLang="zh-CN" sz="1400" dirty="0"/>
          </a:p>
        </p:txBody>
      </p:sp>
      <p:sp useBgFill="1">
        <p:nvSpPr>
          <p:cNvPr id="4" name="文本框 3">
            <a:extLst>
              <a:ext uri="{FF2B5EF4-FFF2-40B4-BE49-F238E27FC236}">
                <a16:creationId xmlns:a16="http://schemas.microsoft.com/office/drawing/2014/main" id="{EBF625F1-DA5B-F7F5-CA93-4338681275D6}"/>
              </a:ext>
            </a:extLst>
          </p:cNvPr>
          <p:cNvSpPr txBox="1"/>
          <p:nvPr/>
        </p:nvSpPr>
        <p:spPr>
          <a:xfrm>
            <a:off x="5778669" y="2513371"/>
            <a:ext cx="1745991" cy="307777"/>
          </a:xfrm>
          <a:prstGeom prst="rect">
            <a:avLst/>
          </a:prstGeom>
        </p:spPr>
        <p:txBody>
          <a:bodyPr wrap="none" rtlCol="0">
            <a:spAutoFit/>
          </a:bodyPr>
          <a:lstStyle/>
          <a:p>
            <a:pPr algn="l"/>
            <a:r>
              <a:rPr lang="zh-CN" altLang="en-US" sz="1400" dirty="0"/>
              <a:t>互联网工程部 </a:t>
            </a:r>
            <a:r>
              <a:rPr lang="en-US" altLang="zh-CN" sz="1400" dirty="0"/>
              <a:t>I</a:t>
            </a:r>
            <a:r>
              <a:rPr lang="en-US" altLang="zh-CN" sz="1400" dirty="0">
                <a:solidFill>
                  <a:srgbClr val="D4237A"/>
                </a:solidFill>
              </a:rPr>
              <a:t>E</a:t>
            </a:r>
            <a:r>
              <a:rPr lang="en-US" altLang="zh-CN" sz="1400" dirty="0"/>
              <a:t>TF </a:t>
            </a:r>
          </a:p>
        </p:txBody>
      </p:sp>
      <p:cxnSp>
        <p:nvCxnSpPr>
          <p:cNvPr id="15" name="直接连接符 14">
            <a:extLst>
              <a:ext uri="{FF2B5EF4-FFF2-40B4-BE49-F238E27FC236}">
                <a16:creationId xmlns:a16="http://schemas.microsoft.com/office/drawing/2014/main" id="{E1F30703-99E2-7090-ADC8-1D33CF419039}"/>
              </a:ext>
            </a:extLst>
          </p:cNvPr>
          <p:cNvCxnSpPr>
            <a:stCxn id="42008" idx="2"/>
            <a:endCxn id="42013" idx="0"/>
          </p:cNvCxnSpPr>
          <p:nvPr/>
        </p:nvCxnSpPr>
        <p:spPr>
          <a:xfrm flipH="1">
            <a:off x="2374649" y="3345208"/>
            <a:ext cx="661692" cy="5783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D63F0E9-542C-BCB7-6D73-4E69FC2E71A0}"/>
              </a:ext>
            </a:extLst>
          </p:cNvPr>
          <p:cNvCxnSpPr>
            <a:stCxn id="42008" idx="2"/>
            <a:endCxn id="42017" idx="0"/>
          </p:cNvCxnSpPr>
          <p:nvPr/>
        </p:nvCxnSpPr>
        <p:spPr>
          <a:xfrm>
            <a:off x="3036341" y="3345208"/>
            <a:ext cx="683658" cy="5783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2590E57-029C-81BE-6F9C-28C33D374104}"/>
              </a:ext>
            </a:extLst>
          </p:cNvPr>
          <p:cNvCxnSpPr>
            <a:stCxn id="42019" idx="2"/>
            <a:endCxn id="42026" idx="0"/>
          </p:cNvCxnSpPr>
          <p:nvPr/>
        </p:nvCxnSpPr>
        <p:spPr>
          <a:xfrm flipH="1">
            <a:off x="5153250" y="3812340"/>
            <a:ext cx="376967" cy="10984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78102B0-1DC7-6EAB-8072-DE2124BFC6FD}"/>
              </a:ext>
            </a:extLst>
          </p:cNvPr>
          <p:cNvCxnSpPr>
            <a:stCxn id="42025" idx="0"/>
            <a:endCxn id="42019" idx="2"/>
          </p:cNvCxnSpPr>
          <p:nvPr/>
        </p:nvCxnSpPr>
        <p:spPr>
          <a:xfrm flipH="1" flipV="1">
            <a:off x="5530217" y="3812340"/>
            <a:ext cx="295731" cy="10984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BCB6768-9DDA-6E8F-BF2B-D9B6D23BD16D}"/>
              </a:ext>
            </a:extLst>
          </p:cNvPr>
          <p:cNvCxnSpPr>
            <a:stCxn id="42020" idx="2"/>
            <a:endCxn id="42014" idx="0"/>
          </p:cNvCxnSpPr>
          <p:nvPr/>
        </p:nvCxnSpPr>
        <p:spPr>
          <a:xfrm>
            <a:off x="6735048" y="3812340"/>
            <a:ext cx="334554" cy="10984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227F3D8-93A8-4704-78D6-73252919C093}"/>
              </a:ext>
            </a:extLst>
          </p:cNvPr>
          <p:cNvCxnSpPr>
            <a:stCxn id="42024" idx="0"/>
            <a:endCxn id="42020" idx="2"/>
          </p:cNvCxnSpPr>
          <p:nvPr/>
        </p:nvCxnSpPr>
        <p:spPr>
          <a:xfrm flipV="1">
            <a:off x="6323946" y="3812340"/>
            <a:ext cx="411102" cy="10984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89C25D1-2C93-C94E-C876-2D1282CAAE88}"/>
              </a:ext>
            </a:extLst>
          </p:cNvPr>
          <p:cNvCxnSpPr>
            <a:stCxn id="42011" idx="2"/>
            <a:endCxn id="42019" idx="0"/>
          </p:cNvCxnSpPr>
          <p:nvPr/>
        </p:nvCxnSpPr>
        <p:spPr>
          <a:xfrm flipH="1">
            <a:off x="5530217" y="3345208"/>
            <a:ext cx="607301" cy="21951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7BBD509-6377-E66E-0C90-694A5C77B18E}"/>
              </a:ext>
            </a:extLst>
          </p:cNvPr>
          <p:cNvCxnSpPr>
            <a:stCxn id="42020" idx="0"/>
            <a:endCxn id="42011" idx="2"/>
          </p:cNvCxnSpPr>
          <p:nvPr/>
        </p:nvCxnSpPr>
        <p:spPr>
          <a:xfrm flipH="1" flipV="1">
            <a:off x="6137518" y="3345208"/>
            <a:ext cx="597530" cy="21951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267B31D6-891B-A187-9647-00D8E7414D08}"/>
              </a:ext>
            </a:extLst>
          </p:cNvPr>
          <p:cNvSpPr>
            <a:spLocks noGrp="1"/>
          </p:cNvSpPr>
          <p:nvPr>
            <p:ph type="title"/>
          </p:nvPr>
        </p:nvSpPr>
        <p:spPr>
          <a:xfrm>
            <a:off x="612000" y="144000"/>
            <a:ext cx="7920000" cy="341632"/>
          </a:xfrm>
        </p:spPr>
        <p:txBody>
          <a:bodyPr/>
          <a:lstStyle/>
          <a:p>
            <a:r>
              <a:rPr lang="zh-CN" altLang="en-US" dirty="0"/>
              <a:t>标准发表：以 </a:t>
            </a:r>
            <a:r>
              <a:rPr lang="en-US" altLang="zh-CN" dirty="0"/>
              <a:t>RFC </a:t>
            </a:r>
            <a:r>
              <a:rPr lang="zh-CN" altLang="en-US" dirty="0"/>
              <a:t>的形式</a:t>
            </a:r>
          </a:p>
        </p:txBody>
      </p:sp>
      <p:sp>
        <p:nvSpPr>
          <p:cNvPr id="3" name="内容占位符 2"/>
          <p:cNvSpPr>
            <a:spLocks noGrp="1"/>
          </p:cNvSpPr>
          <p:nvPr>
            <p:ph sz="quarter" idx="10"/>
          </p:nvPr>
        </p:nvSpPr>
        <p:spPr>
          <a:xfrm>
            <a:off x="612000" y="899999"/>
            <a:ext cx="7920000" cy="3780000"/>
          </a:xfrm>
        </p:spPr>
        <p:txBody>
          <a:bodyPr/>
          <a:lstStyle/>
          <a:p>
            <a:r>
              <a:rPr lang="en-US" altLang="zh-CN" dirty="0"/>
              <a:t>RFC</a:t>
            </a:r>
            <a:r>
              <a:rPr lang="zh-CN" altLang="en-US" dirty="0"/>
              <a:t>：</a:t>
            </a:r>
            <a:r>
              <a:rPr lang="en-US" altLang="zh-CN" dirty="0"/>
              <a:t>Request For Comments </a:t>
            </a:r>
            <a:r>
              <a:rPr lang="zh-CN" altLang="en-US" dirty="0"/>
              <a:t>（请求评论）</a:t>
            </a:r>
            <a:endParaRPr lang="en-US" altLang="zh-CN" dirty="0"/>
          </a:p>
          <a:p>
            <a:r>
              <a:rPr lang="zh-CN" altLang="en-US" dirty="0"/>
              <a:t>所有的 </a:t>
            </a:r>
            <a:r>
              <a:rPr lang="en-US" altLang="zh-CN" dirty="0"/>
              <a:t>RFC </a:t>
            </a:r>
            <a:r>
              <a:rPr lang="zh-CN" altLang="en-US" dirty="0"/>
              <a:t>文档都可从互联网上免费下载</a:t>
            </a:r>
            <a:endParaRPr lang="en-US" altLang="zh-CN" dirty="0"/>
          </a:p>
          <a:p>
            <a:r>
              <a:rPr lang="zh-CN" altLang="en-US" dirty="0"/>
              <a:t>任何人都可以用电子邮件随时发表对某个文档的意见或建议</a:t>
            </a:r>
            <a:endParaRPr lang="en-US" altLang="zh-CN" dirty="0"/>
          </a:p>
          <a:p>
            <a:r>
              <a:rPr lang="zh-CN" altLang="en-US" dirty="0"/>
              <a:t>但并非所有的 </a:t>
            </a:r>
            <a:r>
              <a:rPr lang="en-US" altLang="zh-CN" dirty="0"/>
              <a:t>RFC </a:t>
            </a:r>
            <a:r>
              <a:rPr lang="zh-CN" altLang="en-US" dirty="0"/>
              <a:t>文档都是互联网标准。只有很少部分的 </a:t>
            </a:r>
            <a:r>
              <a:rPr lang="en-US" altLang="zh-CN" dirty="0"/>
              <a:t>RFC </a:t>
            </a:r>
            <a:r>
              <a:rPr lang="zh-CN" altLang="en-US" dirty="0"/>
              <a:t>文档最后才能变成互联网标准</a:t>
            </a:r>
            <a:endParaRPr lang="en-US" altLang="zh-CN" dirty="0"/>
          </a:p>
          <a:p>
            <a:r>
              <a:rPr lang="en-US" altLang="zh-CN" dirty="0"/>
              <a:t>RFC </a:t>
            </a:r>
            <a:r>
              <a:rPr lang="zh-CN" altLang="en-US" dirty="0"/>
              <a:t>文档按发表时间的先后编上序号（即 </a:t>
            </a:r>
            <a:r>
              <a:rPr lang="en-US" altLang="zh-CN" dirty="0" err="1"/>
              <a:t>RFCxxxx</a:t>
            </a:r>
            <a:r>
              <a:rPr lang="zh-CN" altLang="en-US" dirty="0"/>
              <a:t>，</a:t>
            </a:r>
            <a:r>
              <a:rPr lang="en-US" altLang="zh-CN" dirty="0" err="1"/>
              <a:t>xxxx</a:t>
            </a:r>
            <a:r>
              <a:rPr lang="en-US" altLang="zh-CN" dirty="0"/>
              <a:t> </a:t>
            </a:r>
            <a:r>
              <a:rPr lang="zh-CN" altLang="en-US" dirty="0"/>
              <a:t>是阿拉伯数字）</a:t>
            </a:r>
            <a:endParaRPr lang="en-US" altLang="zh-CN" dirty="0"/>
          </a:p>
        </p:txBody>
      </p:sp>
    </p:spTree>
    <p:extLst>
      <p:ext uri="{BB962C8B-B14F-4D97-AF65-F5344CB8AC3E}">
        <p14:creationId xmlns:p14="http://schemas.microsoft.com/office/powerpoint/2010/main" val="297599439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139910" y="1570232"/>
            <a:ext cx="1369070" cy="276999"/>
          </a:xfrm>
          <a:prstGeom prst="rect">
            <a:avLst/>
          </a:prstGeom>
          <a:noFill/>
        </p:spPr>
        <p:txBody>
          <a:bodyPr wrap="square" rtlCol="0">
            <a:spAutoFit/>
          </a:bodyPr>
          <a:lstStyle/>
          <a:p>
            <a:pPr algn="r"/>
            <a:r>
              <a:rPr lang="en-US" altLang="zh-CN" sz="1200" dirty="0" err="1"/>
              <a:t>RFCxxxx</a:t>
            </a:r>
            <a:endParaRPr lang="zh-CN" altLang="en-US" sz="1200" dirty="0"/>
          </a:p>
        </p:txBody>
      </p:sp>
      <p:cxnSp>
        <p:nvCxnSpPr>
          <p:cNvPr id="43021" name="直接箭头连接符 43020"/>
          <p:cNvCxnSpPr/>
          <p:nvPr/>
        </p:nvCxnSpPr>
        <p:spPr>
          <a:xfrm flipH="1">
            <a:off x="2717895" y="1858077"/>
            <a:ext cx="3595815" cy="0"/>
          </a:xfrm>
          <a:prstGeom prst="straightConnector1">
            <a:avLst/>
          </a:prstGeom>
          <a:ln w="1270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接箭头连接符 81"/>
          <p:cNvCxnSpPr>
            <a:cxnSpLocks/>
          </p:cNvCxnSpPr>
          <p:nvPr/>
        </p:nvCxnSpPr>
        <p:spPr>
          <a:xfrm>
            <a:off x="4528448" y="1505600"/>
            <a:ext cx="0" cy="348040"/>
          </a:xfrm>
          <a:prstGeom prst="straightConnector1">
            <a:avLst/>
          </a:prstGeom>
          <a:ln w="1270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任意多边形 19"/>
          <p:cNvSpPr/>
          <p:nvPr/>
        </p:nvSpPr>
        <p:spPr>
          <a:xfrm>
            <a:off x="3413711" y="1041242"/>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noFill/>
          <a:ln>
            <a:solidFill>
              <a:schemeClr val="tx1">
                <a:lumMod val="50000"/>
                <a:lumOff val="50000"/>
              </a:schemeClr>
            </a:solidFill>
          </a:ln>
          <a:scene3d>
            <a:camera prst="orthographicFront"/>
            <a:lightRig rig="flat" dir="t"/>
          </a:scene3d>
          <a:sp3d prstMaterial="dkEdge">
            <a:bevelT w="8200" h="38100"/>
          </a:sp3d>
        </p:spPr>
        <p:style>
          <a:lnRef idx="1">
            <a:schemeClr val="accent5"/>
          </a:lnRef>
          <a:fillRef idx="2">
            <a:schemeClr val="accent5"/>
          </a:fillRef>
          <a:effectRef idx="1">
            <a:schemeClr val="accent5"/>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dirty="0"/>
              <a:t>互联网草案</a:t>
            </a:r>
            <a:endParaRPr lang="en-US" altLang="zh-CN" sz="1200" dirty="0"/>
          </a:p>
          <a:p>
            <a:pPr lvl="0" algn="ctr" defTabSz="800100">
              <a:spcBef>
                <a:spcPct val="0"/>
              </a:spcBef>
              <a:spcAft>
                <a:spcPts val="0"/>
              </a:spcAft>
            </a:pPr>
            <a:r>
              <a:rPr lang="zh-CN" altLang="en-US" sz="1200" dirty="0"/>
              <a:t> </a:t>
            </a:r>
            <a:r>
              <a:rPr lang="en-US" altLang="en-US" sz="1200" dirty="0"/>
              <a:t>Internet Draft</a:t>
            </a:r>
            <a:endParaRPr lang="zh-CN" altLang="en-US" sz="1200" dirty="0"/>
          </a:p>
        </p:txBody>
      </p:sp>
      <p:sp>
        <p:nvSpPr>
          <p:cNvPr id="7" name="圆角矩形 6"/>
          <p:cNvSpPr/>
          <p:nvPr/>
        </p:nvSpPr>
        <p:spPr>
          <a:xfrm>
            <a:off x="1454345" y="1965618"/>
            <a:ext cx="2520000" cy="2412274"/>
          </a:xfrm>
          <a:prstGeom prst="roundRect">
            <a:avLst>
              <a:gd name="adj" fmla="val 2949"/>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3" name="任意多边形 32"/>
          <p:cNvSpPr/>
          <p:nvPr/>
        </p:nvSpPr>
        <p:spPr>
          <a:xfrm>
            <a:off x="1755952" y="2349009"/>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dirty="0"/>
              <a:t>建议标准 </a:t>
            </a:r>
            <a:endParaRPr lang="en-US" altLang="zh-CN" sz="1200" dirty="0"/>
          </a:p>
          <a:p>
            <a:pPr lvl="0" algn="ctr" defTabSz="800100">
              <a:spcBef>
                <a:spcPct val="0"/>
              </a:spcBef>
              <a:spcAft>
                <a:spcPts val="0"/>
              </a:spcAft>
            </a:pPr>
            <a:r>
              <a:rPr lang="en-US" altLang="en-US" sz="1200" dirty="0"/>
              <a:t>Proposed Standard</a:t>
            </a:r>
            <a:endParaRPr lang="zh-CN" altLang="en-US" sz="1200" dirty="0"/>
          </a:p>
        </p:txBody>
      </p:sp>
      <p:sp>
        <p:nvSpPr>
          <p:cNvPr id="34" name="任意多边形 33"/>
          <p:cNvSpPr/>
          <p:nvPr/>
        </p:nvSpPr>
        <p:spPr>
          <a:xfrm>
            <a:off x="1755952" y="3653023"/>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dirty="0"/>
              <a:t>互联网标准</a:t>
            </a:r>
            <a:endParaRPr lang="en-US" altLang="zh-CN" sz="1200" dirty="0"/>
          </a:p>
          <a:p>
            <a:pPr lvl="0" algn="ctr" defTabSz="800100">
              <a:spcBef>
                <a:spcPct val="0"/>
              </a:spcBef>
              <a:spcAft>
                <a:spcPts val="0"/>
              </a:spcAft>
            </a:pPr>
            <a:r>
              <a:rPr lang="zh-CN" altLang="en-US" sz="1200" dirty="0"/>
              <a:t> </a:t>
            </a:r>
            <a:r>
              <a:rPr lang="en-US" altLang="en-US" sz="1200" dirty="0"/>
              <a:t>Internet Standard</a:t>
            </a:r>
          </a:p>
          <a:p>
            <a:pPr lvl="0" algn="ctr" defTabSz="800100">
              <a:spcAft>
                <a:spcPts val="0"/>
              </a:spcAft>
            </a:pPr>
            <a:r>
              <a:rPr lang="en-US" altLang="zh-CN" sz="1200" dirty="0"/>
              <a:t>(</a:t>
            </a:r>
            <a:r>
              <a:rPr lang="en-US" altLang="zh-CN" sz="1200" dirty="0" err="1"/>
              <a:t>STDxx</a:t>
            </a:r>
            <a:r>
              <a:rPr lang="en-US" altLang="zh-CN" sz="1200" dirty="0"/>
              <a:t>)</a:t>
            </a:r>
            <a:endParaRPr lang="zh-CN" altLang="en-US" sz="1200" dirty="0"/>
          </a:p>
        </p:txBody>
      </p:sp>
      <p:sp>
        <p:nvSpPr>
          <p:cNvPr id="35" name="任意多边形 34"/>
          <p:cNvSpPr/>
          <p:nvPr/>
        </p:nvSpPr>
        <p:spPr>
          <a:xfrm>
            <a:off x="2194579" y="3021561"/>
            <a:ext cx="1498805"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dirty="0"/>
              <a:t>草案标准</a:t>
            </a:r>
            <a:endParaRPr lang="en-US" altLang="zh-CN" sz="1200" dirty="0"/>
          </a:p>
          <a:p>
            <a:pPr lvl="0" algn="ctr" defTabSz="800100">
              <a:spcAft>
                <a:spcPts val="0"/>
              </a:spcAft>
            </a:pPr>
            <a:r>
              <a:rPr lang="zh-CN" altLang="en-US" sz="1200" dirty="0"/>
              <a:t> </a:t>
            </a:r>
            <a:r>
              <a:rPr lang="en-US" altLang="en-US" sz="1200" dirty="0"/>
              <a:t>Draft Standard</a:t>
            </a:r>
            <a:endParaRPr lang="zh-CN" altLang="en-US" sz="1200" dirty="0"/>
          </a:p>
        </p:txBody>
      </p:sp>
      <p:cxnSp>
        <p:nvCxnSpPr>
          <p:cNvPr id="133" name="直接箭头连接符 132"/>
          <p:cNvCxnSpPr/>
          <p:nvPr/>
        </p:nvCxnSpPr>
        <p:spPr>
          <a:xfrm>
            <a:off x="2717890" y="2799335"/>
            <a:ext cx="0" cy="209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2717890" y="3441899"/>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6" name="直接箭头连接符 155"/>
          <p:cNvCxnSpPr/>
          <p:nvPr/>
        </p:nvCxnSpPr>
        <p:spPr>
          <a:xfrm>
            <a:off x="2029912" y="2799335"/>
            <a:ext cx="0" cy="852467"/>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a:off x="2717890" y="1853640"/>
            <a:ext cx="0" cy="49536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1463726" y="1974393"/>
            <a:ext cx="902811" cy="276999"/>
          </a:xfrm>
          <a:prstGeom prst="rect">
            <a:avLst/>
          </a:prstGeom>
          <a:noFill/>
        </p:spPr>
        <p:txBody>
          <a:bodyPr wrap="square" rtlCol="0">
            <a:spAutoFit/>
          </a:bodyPr>
          <a:lstStyle/>
          <a:p>
            <a:r>
              <a:rPr lang="zh-CN" altLang="en-US" sz="1200" dirty="0"/>
              <a:t>标准轨道</a:t>
            </a:r>
          </a:p>
        </p:txBody>
      </p:sp>
      <p:cxnSp>
        <p:nvCxnSpPr>
          <p:cNvPr id="40" name="直接箭头连接符 39"/>
          <p:cNvCxnSpPr/>
          <p:nvPr/>
        </p:nvCxnSpPr>
        <p:spPr>
          <a:xfrm>
            <a:off x="3693384" y="2575490"/>
            <a:ext cx="480196" cy="0"/>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3693384" y="3237346"/>
            <a:ext cx="480196" cy="0"/>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p:nvPr/>
        </p:nvCxnSpPr>
        <p:spPr>
          <a:xfrm>
            <a:off x="3693384" y="3986293"/>
            <a:ext cx="480196" cy="0"/>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p:nvPr/>
        </p:nvCxnSpPr>
        <p:spPr>
          <a:xfrm>
            <a:off x="4173580" y="2581755"/>
            <a:ext cx="0" cy="1404261"/>
          </a:xfrm>
          <a:prstGeom prst="straightConnector1">
            <a:avLst/>
          </a:prstGeom>
          <a:ln w="127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圆角矩形 47"/>
          <p:cNvSpPr/>
          <p:nvPr/>
        </p:nvSpPr>
        <p:spPr>
          <a:xfrm>
            <a:off x="5076712" y="1965618"/>
            <a:ext cx="2520000" cy="2412274"/>
          </a:xfrm>
          <a:prstGeom prst="roundRect">
            <a:avLst>
              <a:gd name="adj" fmla="val 2949"/>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9" name="矩形 48"/>
          <p:cNvSpPr/>
          <p:nvPr/>
        </p:nvSpPr>
        <p:spPr>
          <a:xfrm>
            <a:off x="6505318" y="1974393"/>
            <a:ext cx="1083909" cy="276999"/>
          </a:xfrm>
          <a:prstGeom prst="rect">
            <a:avLst/>
          </a:prstGeom>
          <a:noFill/>
        </p:spPr>
        <p:txBody>
          <a:bodyPr wrap="square" rtlCol="0">
            <a:spAutoFit/>
          </a:bodyPr>
          <a:lstStyle/>
          <a:p>
            <a:pPr algn="r"/>
            <a:r>
              <a:rPr lang="zh-CN" altLang="en-US" sz="1200" dirty="0"/>
              <a:t>非标准轨道</a:t>
            </a:r>
          </a:p>
        </p:txBody>
      </p:sp>
      <p:sp>
        <p:nvSpPr>
          <p:cNvPr id="36" name="任意多边形 35"/>
          <p:cNvSpPr/>
          <p:nvPr/>
        </p:nvSpPr>
        <p:spPr>
          <a:xfrm>
            <a:off x="5354664" y="3758641"/>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200" dirty="0"/>
              <a:t>历史</a:t>
            </a:r>
            <a:endParaRPr lang="en-US" altLang="zh-CN" sz="1200" dirty="0"/>
          </a:p>
          <a:p>
            <a:pPr lvl="0" algn="ctr" defTabSz="800100">
              <a:spcAft>
                <a:spcPts val="0"/>
              </a:spcAft>
            </a:pPr>
            <a:r>
              <a:rPr lang="en-US" altLang="zh-CN" sz="1200" dirty="0"/>
              <a:t>Historic</a:t>
            </a:r>
            <a:endParaRPr lang="zh-CN" altLang="en-US" sz="1200" dirty="0"/>
          </a:p>
        </p:txBody>
      </p:sp>
      <p:sp>
        <p:nvSpPr>
          <p:cNvPr id="37" name="任意多边形 36"/>
          <p:cNvSpPr/>
          <p:nvPr/>
        </p:nvSpPr>
        <p:spPr>
          <a:xfrm>
            <a:off x="5354664" y="3063166"/>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200" dirty="0"/>
              <a:t>信息</a:t>
            </a:r>
            <a:endParaRPr lang="en-US" altLang="zh-CN" sz="1200" dirty="0"/>
          </a:p>
          <a:p>
            <a:pPr lvl="0" algn="ctr" defTabSz="800100">
              <a:spcAft>
                <a:spcPts val="0"/>
              </a:spcAft>
            </a:pPr>
            <a:r>
              <a:rPr lang="en-US" altLang="en-US" sz="1200" dirty="0"/>
              <a:t>Informational</a:t>
            </a:r>
            <a:endParaRPr lang="zh-CN" altLang="en-US" sz="1200" dirty="0"/>
          </a:p>
        </p:txBody>
      </p:sp>
      <p:sp>
        <p:nvSpPr>
          <p:cNvPr id="38" name="任意多边形 37"/>
          <p:cNvSpPr/>
          <p:nvPr/>
        </p:nvSpPr>
        <p:spPr>
          <a:xfrm>
            <a:off x="5359902" y="2349009"/>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bg1"/>
          </a:solidFill>
          <a:ln>
            <a:no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dirty="0"/>
              <a:t>实验</a:t>
            </a:r>
            <a:endParaRPr lang="en-US" altLang="zh-CN" sz="1200" dirty="0"/>
          </a:p>
          <a:p>
            <a:pPr lvl="0" algn="ctr" defTabSz="800100">
              <a:spcAft>
                <a:spcPts val="0"/>
              </a:spcAft>
            </a:pPr>
            <a:r>
              <a:rPr lang="zh-CN" altLang="en-US" sz="1200" dirty="0"/>
              <a:t> </a:t>
            </a:r>
            <a:r>
              <a:rPr lang="en-US" altLang="zh-CN" sz="1200" dirty="0"/>
              <a:t>Experimental</a:t>
            </a:r>
            <a:endParaRPr lang="zh-CN" altLang="en-US" sz="1200" dirty="0"/>
          </a:p>
        </p:txBody>
      </p:sp>
      <p:cxnSp>
        <p:nvCxnSpPr>
          <p:cNvPr id="135" name="直接箭头连接符 134"/>
          <p:cNvCxnSpPr/>
          <p:nvPr/>
        </p:nvCxnSpPr>
        <p:spPr>
          <a:xfrm>
            <a:off x="6313710" y="1853640"/>
            <a:ext cx="0" cy="49536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p:cNvCxnSpPr/>
          <p:nvPr/>
        </p:nvCxnSpPr>
        <p:spPr>
          <a:xfrm>
            <a:off x="4173580" y="3986016"/>
            <a:ext cx="1181084" cy="0"/>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sp>
        <p:nvSpPr>
          <p:cNvPr id="3" name="标题 2">
            <a:extLst>
              <a:ext uri="{FF2B5EF4-FFF2-40B4-BE49-F238E27FC236}">
                <a16:creationId xmlns:a16="http://schemas.microsoft.com/office/drawing/2014/main" id="{1E92A9FF-3C78-8261-4648-96C88A3374CF}"/>
              </a:ext>
            </a:extLst>
          </p:cNvPr>
          <p:cNvSpPr>
            <a:spLocks noGrp="1"/>
          </p:cNvSpPr>
          <p:nvPr>
            <p:ph type="title"/>
          </p:nvPr>
        </p:nvSpPr>
        <p:spPr>
          <a:xfrm>
            <a:off x="612000" y="144000"/>
            <a:ext cx="7920000" cy="341632"/>
          </a:xfrm>
        </p:spPr>
        <p:txBody>
          <a:bodyPr/>
          <a:lstStyle/>
          <a:p>
            <a:r>
              <a:rPr lang="zh-CN" altLang="en-US" dirty="0"/>
              <a:t>标准化过程</a:t>
            </a:r>
          </a:p>
        </p:txBody>
      </p:sp>
    </p:spTree>
    <p:extLst>
      <p:ext uri="{BB962C8B-B14F-4D97-AF65-F5344CB8AC3E}">
        <p14:creationId xmlns:p14="http://schemas.microsoft.com/office/powerpoint/2010/main" val="102875834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4" name="Line 16"/>
          <p:cNvSpPr>
            <a:spLocks noChangeShapeType="1"/>
          </p:cNvSpPr>
          <p:nvPr/>
        </p:nvSpPr>
        <p:spPr bwMode="auto">
          <a:xfrm>
            <a:off x="3636963" y="1202490"/>
            <a:ext cx="0" cy="1181100"/>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dirty="0"/>
          </a:p>
        </p:txBody>
      </p:sp>
      <p:sp>
        <p:nvSpPr>
          <p:cNvPr id="2" name="标题 1">
            <a:extLst>
              <a:ext uri="{FF2B5EF4-FFF2-40B4-BE49-F238E27FC236}">
                <a16:creationId xmlns:a16="http://schemas.microsoft.com/office/drawing/2014/main" id="{5B86903D-199D-34E6-9C2A-F7F38BD5D0CA}"/>
              </a:ext>
            </a:extLst>
          </p:cNvPr>
          <p:cNvSpPr>
            <a:spLocks noGrp="1"/>
          </p:cNvSpPr>
          <p:nvPr>
            <p:ph type="title"/>
          </p:nvPr>
        </p:nvSpPr>
        <p:spPr>
          <a:xfrm>
            <a:off x="3873500" y="1290318"/>
            <a:ext cx="4320000" cy="341632"/>
          </a:xfrm>
        </p:spPr>
        <p:txBody>
          <a:bodyPr/>
          <a:lstStyle/>
          <a:p>
            <a:r>
              <a:rPr lang="fr-FR" altLang="zh-CN" dirty="0"/>
              <a:t>1.3 </a:t>
            </a:r>
            <a:r>
              <a:rPr lang="zh-CN" altLang="fr-FR" dirty="0"/>
              <a:t>互联网的组成</a:t>
            </a:r>
            <a:endParaRPr lang="zh-CN" altLang="en-US" dirty="0"/>
          </a:p>
        </p:txBody>
      </p:sp>
      <p:sp>
        <p:nvSpPr>
          <p:cNvPr id="3" name="文本占位符 2">
            <a:extLst>
              <a:ext uri="{FF2B5EF4-FFF2-40B4-BE49-F238E27FC236}">
                <a16:creationId xmlns:a16="http://schemas.microsoft.com/office/drawing/2014/main" id="{FC839897-D97A-1F1B-564C-0AD8AFCB5FD2}"/>
              </a:ext>
            </a:extLst>
          </p:cNvPr>
          <p:cNvSpPr>
            <a:spLocks noGrp="1"/>
          </p:cNvSpPr>
          <p:nvPr>
            <p:ph type="body" sz="quarter" idx="10"/>
          </p:nvPr>
        </p:nvSpPr>
        <p:spPr>
          <a:xfrm>
            <a:off x="3873500" y="1631950"/>
            <a:ext cx="4320000" cy="1803400"/>
          </a:xfrm>
        </p:spPr>
        <p:txBody>
          <a:bodyPr/>
          <a:lstStyle/>
          <a:p>
            <a:r>
              <a:rPr lang="en-US" altLang="zh-CN" dirty="0"/>
              <a:t>1.3.1 </a:t>
            </a:r>
            <a:r>
              <a:rPr lang="zh-CN" altLang="zh-CN" dirty="0"/>
              <a:t>互联网的边缘部分</a:t>
            </a:r>
            <a:endParaRPr lang="en-US" altLang="zh-CN" dirty="0"/>
          </a:p>
          <a:p>
            <a:r>
              <a:rPr lang="en-US" altLang="zh-CN" dirty="0"/>
              <a:t>1.3.2 </a:t>
            </a:r>
            <a:r>
              <a:rPr lang="zh-CN" altLang="zh-CN" dirty="0"/>
              <a:t>互联网的核心部分</a:t>
            </a:r>
            <a:endParaRPr lang="fr-FR" altLang="zh-CN" dirty="0"/>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74"/>
          <p:cNvGrpSpPr/>
          <p:nvPr/>
        </p:nvGrpSpPr>
        <p:grpSpPr bwMode="auto">
          <a:xfrm>
            <a:off x="4390465" y="1363387"/>
            <a:ext cx="4643571" cy="2880000"/>
            <a:chOff x="411" y="1240"/>
            <a:chExt cx="4856" cy="2466"/>
          </a:xfrm>
        </p:grpSpPr>
        <p:sp>
          <p:nvSpPr>
            <p:cNvPr id="11" name="Oval 4"/>
            <p:cNvSpPr>
              <a:spLocks noChangeArrowheads="1"/>
            </p:cNvSpPr>
            <p:nvPr/>
          </p:nvSpPr>
          <p:spPr bwMode="auto">
            <a:xfrm>
              <a:off x="411" y="1240"/>
              <a:ext cx="4856" cy="2466"/>
            </a:xfrm>
            <a:prstGeom prst="ellipse">
              <a:avLst/>
            </a:prstGeom>
            <a:solidFill>
              <a:srgbClr val="C5E5FB"/>
            </a:solidFill>
            <a:ln>
              <a:noFill/>
            </a:ln>
            <a:effectLst/>
            <a:scene3d>
              <a:camera prst="orthographicFront">
                <a:rot lat="0" lon="0" rev="0"/>
              </a:camera>
              <a:lightRig rig="contrasting" dir="t">
                <a:rot lat="0" lon="0" rev="7800000"/>
              </a:lightRig>
            </a:scene3d>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12" name="Oval 5"/>
            <p:cNvSpPr>
              <a:spLocks noChangeArrowheads="1"/>
            </p:cNvSpPr>
            <p:nvPr/>
          </p:nvSpPr>
          <p:spPr bwMode="auto">
            <a:xfrm>
              <a:off x="1194" y="1830"/>
              <a:ext cx="3407" cy="1313"/>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pic>
          <p:nvPicPr>
            <p:cNvPr id="13"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1" y="208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24"/>
            <p:cNvGrpSpPr/>
            <p:nvPr/>
          </p:nvGrpSpPr>
          <p:grpSpPr bwMode="auto">
            <a:xfrm>
              <a:off x="1385" y="2250"/>
              <a:ext cx="568" cy="309"/>
              <a:chOff x="130" y="1123"/>
              <a:chExt cx="568" cy="309"/>
            </a:xfrm>
          </p:grpSpPr>
          <p:sp>
            <p:nvSpPr>
              <p:cNvPr id="79"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0"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1"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2"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3"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4"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5"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6"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7"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8"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9"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pic>
          <p:nvPicPr>
            <p:cNvPr id="15" name="Picture 6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 y="266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3" y="280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7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6" y="261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0" y="2085"/>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78"/>
            <p:cNvSpPr txBox="1">
              <a:spLocks noChangeArrowheads="1"/>
            </p:cNvSpPr>
            <p:nvPr/>
          </p:nvSpPr>
          <p:spPr bwMode="auto">
            <a:xfrm>
              <a:off x="2204" y="2345"/>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CC00CC"/>
                  </a:solidFill>
                  <a:latin typeface="Times New Roman" panose="02020603050405020304" pitchFamily="18" charset="0"/>
                  <a:ea typeface="微软雅黑" panose="020B0503020204020204" pitchFamily="34" charset="-122"/>
                </a:rPr>
                <a:t>互联网的核心部分</a:t>
              </a:r>
            </a:p>
          </p:txBody>
        </p:sp>
        <p:sp>
          <p:nvSpPr>
            <p:cNvPr id="20" name="Text Box 79"/>
            <p:cNvSpPr txBox="1">
              <a:spLocks noChangeArrowheads="1"/>
            </p:cNvSpPr>
            <p:nvPr/>
          </p:nvSpPr>
          <p:spPr bwMode="auto">
            <a:xfrm>
              <a:off x="2190" y="1436"/>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21" name="Text Box 1523"/>
            <p:cNvSpPr txBox="1">
              <a:spLocks noChangeArrowheads="1"/>
            </p:cNvSpPr>
            <p:nvPr/>
          </p:nvSpPr>
          <p:spPr bwMode="auto">
            <a:xfrm>
              <a:off x="670" y="2074"/>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主机</a:t>
              </a:r>
            </a:p>
          </p:txBody>
        </p:sp>
        <p:pic>
          <p:nvPicPr>
            <p:cNvPr id="22"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5" y="1663"/>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1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 y="2300"/>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9" y="302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18"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2" y="324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1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1" y="308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0" y="233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21"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1" y="1598"/>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1523"/>
            <p:cNvSpPr txBox="1">
              <a:spLocks noChangeArrowheads="1"/>
            </p:cNvSpPr>
            <p:nvPr/>
          </p:nvSpPr>
          <p:spPr bwMode="auto">
            <a:xfrm>
              <a:off x="2024" y="187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路由器</a:t>
              </a:r>
            </a:p>
          </p:txBody>
        </p:sp>
        <p:sp>
          <p:nvSpPr>
            <p:cNvPr id="30" name="Text Box 1523"/>
            <p:cNvSpPr txBox="1">
              <a:spLocks noChangeArrowheads="1"/>
            </p:cNvSpPr>
            <p:nvPr/>
          </p:nvSpPr>
          <p:spPr bwMode="auto">
            <a:xfrm>
              <a:off x="1482" y="2312"/>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grpSp>
          <p:nvGrpSpPr>
            <p:cNvPr id="31" name="Group 126"/>
            <p:cNvGrpSpPr/>
            <p:nvPr/>
          </p:nvGrpSpPr>
          <p:grpSpPr bwMode="auto">
            <a:xfrm>
              <a:off x="2182" y="2681"/>
              <a:ext cx="568" cy="309"/>
              <a:chOff x="130" y="1123"/>
              <a:chExt cx="568" cy="309"/>
            </a:xfrm>
          </p:grpSpPr>
          <p:sp>
            <p:nvSpPr>
              <p:cNvPr id="68"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9"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0"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1"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2"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3"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4"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5"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6"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7"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8"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32" name="Group 138"/>
            <p:cNvGrpSpPr/>
            <p:nvPr/>
          </p:nvGrpSpPr>
          <p:grpSpPr bwMode="auto">
            <a:xfrm>
              <a:off x="3243" y="2659"/>
              <a:ext cx="568" cy="309"/>
              <a:chOff x="130" y="1123"/>
              <a:chExt cx="568" cy="309"/>
            </a:xfrm>
          </p:grpSpPr>
          <p:sp>
            <p:nvSpPr>
              <p:cNvPr id="57"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8"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9"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0"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1"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2"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3"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4"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5"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66"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67"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33" name="Group 150"/>
            <p:cNvGrpSpPr/>
            <p:nvPr/>
          </p:nvGrpSpPr>
          <p:grpSpPr bwMode="auto">
            <a:xfrm>
              <a:off x="3706" y="2216"/>
              <a:ext cx="568" cy="309"/>
              <a:chOff x="130" y="1123"/>
              <a:chExt cx="568" cy="309"/>
            </a:xfrm>
          </p:grpSpPr>
          <p:sp>
            <p:nvSpPr>
              <p:cNvPr id="46"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7"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8"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9"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0"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1"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2"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3"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4"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55"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56"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34" name="Group 162"/>
            <p:cNvGrpSpPr/>
            <p:nvPr/>
          </p:nvGrpSpPr>
          <p:grpSpPr bwMode="auto">
            <a:xfrm>
              <a:off x="2643" y="1933"/>
              <a:ext cx="568" cy="309"/>
              <a:chOff x="130" y="1123"/>
              <a:chExt cx="568" cy="309"/>
            </a:xfrm>
          </p:grpSpPr>
          <p:sp>
            <p:nvSpPr>
              <p:cNvPr id="35"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36"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37"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38"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39"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0"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1"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2"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3"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4"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5"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sp>
        <p:nvSpPr>
          <p:cNvPr id="7" name="标题 6">
            <a:extLst>
              <a:ext uri="{FF2B5EF4-FFF2-40B4-BE49-F238E27FC236}">
                <a16:creationId xmlns:a16="http://schemas.microsoft.com/office/drawing/2014/main" id="{F197BBDB-7D6B-49DD-5863-D9CD21E82D5C}"/>
              </a:ext>
            </a:extLst>
          </p:cNvPr>
          <p:cNvSpPr>
            <a:spLocks noGrp="1"/>
          </p:cNvSpPr>
          <p:nvPr>
            <p:ph type="title"/>
          </p:nvPr>
        </p:nvSpPr>
        <p:spPr>
          <a:xfrm>
            <a:off x="612000" y="144000"/>
            <a:ext cx="7920000" cy="341632"/>
          </a:xfrm>
        </p:spPr>
        <p:txBody>
          <a:bodyPr/>
          <a:lstStyle/>
          <a:p>
            <a:r>
              <a:rPr lang="fr-FR" altLang="zh-CN" dirty="0"/>
              <a:t>1.3  </a:t>
            </a:r>
            <a:r>
              <a:rPr lang="zh-CN" altLang="en-US" dirty="0"/>
              <a:t>互联网的组成</a:t>
            </a:r>
          </a:p>
        </p:txBody>
      </p:sp>
      <p:sp>
        <p:nvSpPr>
          <p:cNvPr id="3" name="内容占位符 2"/>
          <p:cNvSpPr>
            <a:spLocks noGrp="1"/>
          </p:cNvSpPr>
          <p:nvPr>
            <p:ph sz="quarter" idx="10"/>
          </p:nvPr>
        </p:nvSpPr>
        <p:spPr>
          <a:xfrm>
            <a:off x="612000" y="899999"/>
            <a:ext cx="7920000" cy="3780000"/>
          </a:xfrm>
        </p:spPr>
        <p:txBody>
          <a:bodyPr/>
          <a:lstStyle/>
          <a:p>
            <a:r>
              <a:rPr lang="zh-CN" altLang="en-US" dirty="0"/>
              <a:t>从互联网的工作方式上看，可以划分为两大块：</a:t>
            </a:r>
            <a:endParaRPr lang="en-US" altLang="zh-CN" dirty="0"/>
          </a:p>
          <a:p>
            <a:r>
              <a:rPr lang="zh-CN" altLang="en-US" dirty="0"/>
              <a:t>边缘部分： </a:t>
            </a:r>
            <a:endParaRPr lang="en-US" altLang="zh-CN" dirty="0"/>
          </a:p>
          <a:p>
            <a:pPr lvl="1"/>
            <a:r>
              <a:rPr lang="zh-CN" altLang="en-US" dirty="0"/>
              <a:t>由所有连接在互联网上的主机组成</a:t>
            </a:r>
            <a:endParaRPr lang="en-US" altLang="zh-CN" dirty="0"/>
          </a:p>
          <a:p>
            <a:pPr lvl="1"/>
            <a:r>
              <a:rPr lang="zh-CN" altLang="en-US" dirty="0"/>
              <a:t>由用户直接使用</a:t>
            </a:r>
            <a:endParaRPr lang="en-US" altLang="zh-CN" dirty="0"/>
          </a:p>
          <a:p>
            <a:pPr lvl="1"/>
            <a:r>
              <a:rPr lang="zh-CN" altLang="en-US" dirty="0"/>
              <a:t>用来进行通信和资源共享</a:t>
            </a:r>
          </a:p>
          <a:p>
            <a:r>
              <a:rPr lang="zh-CN" altLang="en-US" dirty="0"/>
              <a:t>核心部分：</a:t>
            </a:r>
            <a:endParaRPr lang="en-US" altLang="zh-CN" dirty="0"/>
          </a:p>
          <a:p>
            <a:pPr lvl="1"/>
            <a:r>
              <a:rPr lang="zh-CN" altLang="en-US" dirty="0"/>
              <a:t>由大量网络和连接这些网络的路由器组成</a:t>
            </a:r>
            <a:endParaRPr lang="en-US" altLang="zh-CN" dirty="0"/>
          </a:p>
          <a:p>
            <a:pPr lvl="1"/>
            <a:r>
              <a:rPr lang="zh-CN" altLang="en-US" dirty="0"/>
              <a:t>为边缘部分提供连通性和交换</a:t>
            </a:r>
            <a:endParaRPr lang="en-US" altLang="zh-CN" dirty="0"/>
          </a:p>
          <a:p>
            <a:endParaRPr lang="zh-CN" altLang="en-US" dirty="0"/>
          </a:p>
        </p:txBody>
      </p:sp>
    </p:spTree>
    <p:extLst>
      <p:ext uri="{BB962C8B-B14F-4D97-AF65-F5344CB8AC3E}">
        <p14:creationId xmlns:p14="http://schemas.microsoft.com/office/powerpoint/2010/main" val="18013868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4DCAF4E-87CC-409F-1F3F-A4568A7F5BF1}"/>
              </a:ext>
            </a:extLst>
          </p:cNvPr>
          <p:cNvSpPr>
            <a:spLocks noGrp="1"/>
          </p:cNvSpPr>
          <p:nvPr>
            <p:ph type="title"/>
          </p:nvPr>
        </p:nvSpPr>
        <p:spPr>
          <a:xfrm>
            <a:off x="612000" y="144000"/>
            <a:ext cx="7920000" cy="341632"/>
          </a:xfrm>
        </p:spPr>
        <p:txBody>
          <a:bodyPr/>
          <a:lstStyle/>
          <a:p>
            <a:r>
              <a:rPr lang="en-US" altLang="zh-CN" dirty="0"/>
              <a:t>1.3.1  </a:t>
            </a:r>
            <a:r>
              <a:rPr lang="zh-CN" altLang="en-US" dirty="0"/>
              <a:t>互联网的边缘部分</a:t>
            </a:r>
          </a:p>
        </p:txBody>
      </p:sp>
      <p:sp>
        <p:nvSpPr>
          <p:cNvPr id="5" name="内容占位符 4"/>
          <p:cNvSpPr>
            <a:spLocks noGrp="1"/>
          </p:cNvSpPr>
          <p:nvPr>
            <p:ph sz="quarter" idx="10"/>
          </p:nvPr>
        </p:nvSpPr>
        <p:spPr>
          <a:xfrm>
            <a:off x="612000" y="899999"/>
            <a:ext cx="7920000" cy="3780000"/>
          </a:xfrm>
        </p:spPr>
        <p:txBody>
          <a:bodyPr/>
          <a:lstStyle/>
          <a:p>
            <a:r>
              <a:rPr lang="zh-CN" altLang="en-US" dirty="0"/>
              <a:t>处在互联网边缘部分的就是连接在互联网上的所有的主机</a:t>
            </a:r>
            <a:endParaRPr lang="en-US" altLang="zh-CN" dirty="0"/>
          </a:p>
          <a:p>
            <a:r>
              <a:rPr lang="zh-CN" altLang="en-US" dirty="0"/>
              <a:t>这些主机又称为端系统 </a:t>
            </a:r>
            <a:r>
              <a:rPr lang="en-US" altLang="zh-CN" dirty="0"/>
              <a:t>(End system)</a:t>
            </a:r>
          </a:p>
          <a:p>
            <a:r>
              <a:rPr lang="zh-CN" altLang="zh-CN" dirty="0"/>
              <a:t>端系统在功能上可能有很大差别</a:t>
            </a:r>
            <a:r>
              <a:rPr lang="zh-CN" altLang="en-US" dirty="0"/>
              <a:t>：</a:t>
            </a:r>
            <a:endParaRPr lang="en-US" altLang="zh-CN" dirty="0"/>
          </a:p>
          <a:p>
            <a:pPr lvl="1"/>
            <a:r>
              <a:rPr lang="zh-CN" altLang="zh-CN" dirty="0"/>
              <a:t>小的端系统</a:t>
            </a:r>
            <a:r>
              <a:rPr lang="zh-CN" altLang="en-US" dirty="0"/>
              <a:t>：</a:t>
            </a:r>
            <a:r>
              <a:rPr lang="zh-CN" altLang="zh-CN" dirty="0"/>
              <a:t>普通个人电脑</a:t>
            </a:r>
            <a:r>
              <a:rPr lang="zh-CN" altLang="en-US" dirty="0"/>
              <a:t>、</a:t>
            </a:r>
            <a:r>
              <a:rPr lang="zh-CN" altLang="zh-CN" dirty="0"/>
              <a:t>智能手机</a:t>
            </a:r>
            <a:r>
              <a:rPr lang="zh-CN" altLang="en-US" dirty="0"/>
              <a:t>、</a:t>
            </a:r>
            <a:r>
              <a:rPr lang="zh-CN" altLang="zh-CN" dirty="0"/>
              <a:t>网络摄像头</a:t>
            </a:r>
            <a:r>
              <a:rPr lang="zh-CN" altLang="en-US" dirty="0"/>
              <a:t>等</a:t>
            </a:r>
            <a:endParaRPr lang="en-US" altLang="zh-CN" dirty="0"/>
          </a:p>
          <a:p>
            <a:pPr lvl="1"/>
            <a:r>
              <a:rPr lang="zh-CN" altLang="zh-CN" dirty="0"/>
              <a:t>大的端系统</a:t>
            </a:r>
            <a:r>
              <a:rPr lang="zh-CN" altLang="en-US" dirty="0"/>
              <a:t>：</a:t>
            </a:r>
            <a:r>
              <a:rPr lang="zh-CN" altLang="zh-CN" dirty="0"/>
              <a:t>非常昂贵的大型计算机</a:t>
            </a:r>
            <a:r>
              <a:rPr lang="zh-CN" altLang="en-US" dirty="0"/>
              <a:t>或服务器</a:t>
            </a:r>
            <a:r>
              <a:rPr lang="zh-CN" altLang="zh-CN" dirty="0"/>
              <a:t>。</a:t>
            </a:r>
            <a:endParaRPr lang="en-US" altLang="zh-CN" dirty="0"/>
          </a:p>
          <a:p>
            <a:r>
              <a:rPr lang="zh-CN" altLang="zh-CN" dirty="0"/>
              <a:t>端系统的拥有者</a:t>
            </a:r>
            <a:r>
              <a:rPr lang="zh-CN" altLang="en-US" dirty="0"/>
              <a:t>：</a:t>
            </a:r>
            <a:r>
              <a:rPr lang="zh-CN" altLang="zh-CN" dirty="0"/>
              <a:t>可以是个人</a:t>
            </a:r>
            <a:r>
              <a:rPr lang="zh-CN" altLang="en-US" dirty="0"/>
              <a:t>、</a:t>
            </a:r>
            <a:r>
              <a:rPr lang="zh-CN" altLang="zh-CN" dirty="0"/>
              <a:t>单位</a:t>
            </a:r>
            <a:r>
              <a:rPr lang="zh-CN" altLang="en-US" dirty="0"/>
              <a:t>、或</a:t>
            </a:r>
            <a:r>
              <a:rPr lang="zh-CN" altLang="zh-CN" dirty="0"/>
              <a:t>某个</a:t>
            </a:r>
            <a:r>
              <a:rPr lang="en-US" altLang="zh-CN" dirty="0"/>
              <a:t> ISP</a:t>
            </a:r>
            <a:endParaRPr lang="zh-CN" altLang="en-US" dirty="0"/>
          </a:p>
        </p:txBody>
      </p:sp>
    </p:spTree>
    <p:extLst>
      <p:ext uri="{BB962C8B-B14F-4D97-AF65-F5344CB8AC3E}">
        <p14:creationId xmlns:p14="http://schemas.microsoft.com/office/powerpoint/2010/main" val="10547811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01A88-0BF5-8DFD-BDDB-6E9BEA6E7C7B}"/>
              </a:ext>
            </a:extLst>
          </p:cNvPr>
          <p:cNvSpPr>
            <a:spLocks noGrp="1"/>
          </p:cNvSpPr>
          <p:nvPr>
            <p:ph type="title"/>
          </p:nvPr>
        </p:nvSpPr>
        <p:spPr>
          <a:xfrm>
            <a:off x="612000" y="144000"/>
            <a:ext cx="7920000" cy="341632"/>
          </a:xfrm>
        </p:spPr>
        <p:txBody>
          <a:bodyPr/>
          <a:lstStyle/>
          <a:p>
            <a:r>
              <a:rPr lang="en-US" altLang="zh-CN"/>
              <a:t>1.3.1  </a:t>
            </a:r>
            <a:r>
              <a:rPr lang="zh-CN" altLang="en-US"/>
              <a:t>互联网的边缘部分</a:t>
            </a:r>
            <a:endParaRPr lang="zh-CN" altLang="en-US" dirty="0"/>
          </a:p>
        </p:txBody>
      </p:sp>
      <p:sp>
        <p:nvSpPr>
          <p:cNvPr id="6" name="Oval 4"/>
          <p:cNvSpPr>
            <a:spLocks noChangeArrowheads="1"/>
          </p:cNvSpPr>
          <p:nvPr/>
        </p:nvSpPr>
        <p:spPr bwMode="auto">
          <a:xfrm>
            <a:off x="1816197" y="1231262"/>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2831904" y="1996590"/>
            <a:ext cx="4419558" cy="1703179"/>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 name="Text Box 78"/>
          <p:cNvSpPr txBox="1">
            <a:spLocks noChangeArrowheads="1"/>
          </p:cNvSpPr>
          <p:nvPr/>
        </p:nvSpPr>
        <p:spPr bwMode="auto">
          <a:xfrm>
            <a:off x="4142075" y="2664631"/>
            <a:ext cx="1826457" cy="338560"/>
          </a:xfrm>
          <a:prstGeom prst="rect">
            <a:avLst/>
          </a:prstGeom>
          <a:noFill/>
        </p:spPr>
        <p:txBody>
          <a:bodyPr wrap="none" rtlCol="0">
            <a:spAutoFit/>
          </a:bodyPr>
          <a:lstStyle>
            <a:defPPr>
              <a:defRPr lang="zh-CN"/>
            </a:defPPr>
            <a:lvl1pPr>
              <a:defRPr sz="1600"/>
            </a:lvl1pPr>
          </a:lstStyle>
          <a:p>
            <a:r>
              <a:rPr lang="zh-CN" altLang="en-US" dirty="0">
                <a:solidFill>
                  <a:srgbClr val="D4237A"/>
                </a:solidFill>
              </a:rPr>
              <a:t>互联网的核心部分</a:t>
            </a:r>
          </a:p>
        </p:txBody>
      </p:sp>
      <p:sp>
        <p:nvSpPr>
          <p:cNvPr id="12" name="Text Box 1523"/>
          <p:cNvSpPr txBox="1">
            <a:spLocks noChangeArrowheads="1"/>
          </p:cNvSpPr>
          <p:nvPr/>
        </p:nvSpPr>
        <p:spPr bwMode="auto">
          <a:xfrm>
            <a:off x="2831904" y="2222335"/>
            <a:ext cx="543739" cy="276999"/>
          </a:xfrm>
          <a:prstGeom prst="rect">
            <a:avLst/>
          </a:prstGeom>
          <a:noFill/>
        </p:spPr>
        <p:txBody>
          <a:bodyPr wrap="none" rtlCol="0">
            <a:spAutoFit/>
          </a:bodyPr>
          <a:lstStyle>
            <a:defPPr>
              <a:defRPr lang="zh-CN"/>
            </a:defPPr>
            <a:lvl1pPr>
              <a:defRPr sz="1600"/>
            </a:lvl1pPr>
          </a:lstStyle>
          <a:p>
            <a:r>
              <a:rPr lang="en-US" altLang="zh-CN" sz="1200" dirty="0"/>
              <a:t>Host</a:t>
            </a:r>
            <a:endParaRPr lang="zh-CN" altLang="en-US" sz="1200" dirty="0"/>
          </a:p>
        </p:txBody>
      </p:sp>
      <p:pic>
        <p:nvPicPr>
          <p:cNvPr id="14" name="Picture 118"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926" y="3790869"/>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0"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1462" y="2240457"/>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1"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8879" y="158538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9"/>
          <p:cNvSpPr txBox="1">
            <a:spLocks noChangeArrowheads="1"/>
          </p:cNvSpPr>
          <p:nvPr/>
        </p:nvSpPr>
        <p:spPr bwMode="auto">
          <a:xfrm>
            <a:off x="765160" y="3126229"/>
            <a:ext cx="800220" cy="338554"/>
          </a:xfrm>
          <a:prstGeom prst="rect">
            <a:avLst/>
          </a:prstGeom>
          <a:noFill/>
        </p:spPr>
        <p:txBody>
          <a:bodyPr wrap="none" rtlCol="0">
            <a:spAutoFit/>
          </a:bodyPr>
          <a:lstStyle>
            <a:defPPr>
              <a:defRPr lang="zh-CN"/>
            </a:defPPr>
            <a:lvl1pPr>
              <a:defRPr sz="1600"/>
            </a:lvl1pPr>
          </a:lstStyle>
          <a:p>
            <a:r>
              <a:rPr lang="zh-CN" altLang="en-US" dirty="0"/>
              <a:t>端系统</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96230" y="3779710"/>
            <a:ext cx="1427543" cy="545087"/>
          </a:xfrm>
          <a:prstGeom prst="rect">
            <a:avLst/>
          </a:prstGeom>
        </p:spPr>
      </p:pic>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3457" y="2617899"/>
            <a:ext cx="254205" cy="401323"/>
          </a:xfrm>
          <a:prstGeom prst="rect">
            <a:avLst/>
          </a:prstGeom>
        </p:spPr>
      </p:pic>
      <p:sp>
        <p:nvSpPr>
          <p:cNvPr id="21" name="Text Box 1523"/>
          <p:cNvSpPr txBox="1">
            <a:spLocks noChangeArrowheads="1"/>
          </p:cNvSpPr>
          <p:nvPr/>
        </p:nvSpPr>
        <p:spPr bwMode="auto">
          <a:xfrm>
            <a:off x="2267139" y="2987729"/>
            <a:ext cx="1199367" cy="276999"/>
          </a:xfrm>
          <a:prstGeom prst="rect">
            <a:avLst/>
          </a:prstGeom>
          <a:noFill/>
        </p:spPr>
        <p:txBody>
          <a:bodyPr wrap="none" rtlCol="0">
            <a:spAutoFit/>
          </a:bodyPr>
          <a:lstStyle>
            <a:defPPr>
              <a:defRPr lang="zh-CN"/>
            </a:defPPr>
            <a:lvl1pPr>
              <a:defRPr sz="1600"/>
            </a:lvl1pPr>
          </a:lstStyle>
          <a:p>
            <a:r>
              <a:rPr lang="en-US" altLang="zh-CN" sz="1200" dirty="0"/>
              <a:t>Smart phone</a:t>
            </a:r>
            <a:endParaRPr lang="zh-CN" altLang="en-US" sz="1200" dirty="0"/>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24999" y="3249528"/>
            <a:ext cx="350861" cy="467814"/>
          </a:xfrm>
          <a:prstGeom prst="rect">
            <a:avLst/>
          </a:prstGeom>
        </p:spPr>
      </p:pic>
      <p:sp>
        <p:nvSpPr>
          <p:cNvPr id="24" name="Text Box 1523"/>
          <p:cNvSpPr txBox="1">
            <a:spLocks noChangeArrowheads="1"/>
          </p:cNvSpPr>
          <p:nvPr/>
        </p:nvSpPr>
        <p:spPr bwMode="auto">
          <a:xfrm>
            <a:off x="2866823" y="3335509"/>
            <a:ext cx="795411" cy="276999"/>
          </a:xfrm>
          <a:prstGeom prst="rect">
            <a:avLst/>
          </a:prstGeom>
          <a:noFill/>
        </p:spPr>
        <p:txBody>
          <a:bodyPr wrap="none" rtlCol="0">
            <a:spAutoFit/>
          </a:bodyPr>
          <a:lstStyle>
            <a:defPPr>
              <a:defRPr lang="zh-CN"/>
            </a:defPPr>
            <a:lvl1pPr>
              <a:defRPr sz="1600"/>
            </a:lvl1pPr>
          </a:lstStyle>
          <a:p>
            <a:r>
              <a:rPr lang="en-US" altLang="zh-CN" sz="1200" dirty="0"/>
              <a:t>Camera</a:t>
            </a:r>
            <a:endParaRPr lang="zh-CN" altLang="en-US" sz="1200" dirty="0"/>
          </a:p>
        </p:txBody>
      </p:sp>
      <p:sp>
        <p:nvSpPr>
          <p:cNvPr id="25" name="Text Box 1523"/>
          <p:cNvSpPr txBox="1">
            <a:spLocks noChangeArrowheads="1"/>
          </p:cNvSpPr>
          <p:nvPr/>
        </p:nvSpPr>
        <p:spPr bwMode="auto">
          <a:xfrm>
            <a:off x="3680179" y="3570056"/>
            <a:ext cx="1544012" cy="276999"/>
          </a:xfrm>
          <a:prstGeom prst="rect">
            <a:avLst/>
          </a:prstGeom>
          <a:noFill/>
        </p:spPr>
        <p:txBody>
          <a:bodyPr wrap="none" rtlCol="0">
            <a:spAutoFit/>
          </a:bodyPr>
          <a:lstStyle>
            <a:defPPr>
              <a:defRPr lang="zh-CN"/>
            </a:defPPr>
            <a:lvl1pPr>
              <a:defRPr sz="1600"/>
            </a:lvl1pPr>
          </a:lstStyle>
          <a:p>
            <a:r>
              <a:rPr lang="en-US" altLang="zh-CN" sz="1200" dirty="0"/>
              <a:t>Cluster computer</a:t>
            </a:r>
            <a:endParaRPr lang="zh-CN" altLang="en-US" sz="1200" dirty="0"/>
          </a:p>
        </p:txBody>
      </p:sp>
      <p:cxnSp>
        <p:nvCxnSpPr>
          <p:cNvPr id="26" name="直接箭头连接符 25"/>
          <p:cNvCxnSpPr>
            <a:cxnSpLocks/>
            <a:stCxn id="17" idx="3"/>
          </p:cNvCxnSpPr>
          <p:nvPr/>
        </p:nvCxnSpPr>
        <p:spPr>
          <a:xfrm flipV="1">
            <a:off x="1565380" y="2159392"/>
            <a:ext cx="906517" cy="1136114"/>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cxnSpLocks/>
            <a:stCxn id="17" idx="3"/>
          </p:cNvCxnSpPr>
          <p:nvPr/>
        </p:nvCxnSpPr>
        <p:spPr>
          <a:xfrm flipV="1">
            <a:off x="1565380" y="2921268"/>
            <a:ext cx="714186" cy="374238"/>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a:stCxn id="17" idx="3"/>
          </p:cNvCxnSpPr>
          <p:nvPr/>
        </p:nvCxnSpPr>
        <p:spPr>
          <a:xfrm>
            <a:off x="1565380" y="3295506"/>
            <a:ext cx="750808" cy="84161"/>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cxnSpLocks/>
            <a:stCxn id="17" idx="3"/>
          </p:cNvCxnSpPr>
          <p:nvPr/>
        </p:nvCxnSpPr>
        <p:spPr>
          <a:xfrm>
            <a:off x="1565380" y="3295506"/>
            <a:ext cx="1998959" cy="820137"/>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 name="图片 3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61984" y="3356572"/>
            <a:ext cx="368623" cy="51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523"/>
          <p:cNvSpPr txBox="1">
            <a:spLocks noChangeArrowheads="1"/>
          </p:cNvSpPr>
          <p:nvPr/>
        </p:nvSpPr>
        <p:spPr bwMode="auto">
          <a:xfrm>
            <a:off x="6964089" y="3088127"/>
            <a:ext cx="651140" cy="276999"/>
          </a:xfrm>
          <a:prstGeom prst="rect">
            <a:avLst/>
          </a:prstGeom>
          <a:noFill/>
        </p:spPr>
        <p:txBody>
          <a:bodyPr wrap="none" rtlCol="0">
            <a:spAutoFit/>
          </a:bodyPr>
          <a:lstStyle>
            <a:defPPr>
              <a:defRPr lang="zh-CN"/>
            </a:defPPr>
            <a:lvl1pPr>
              <a:defRPr sz="1200"/>
            </a:lvl1pPr>
          </a:lstStyle>
          <a:p>
            <a:r>
              <a:rPr lang="en-US" altLang="zh-CN" dirty="0"/>
              <a:t>server</a:t>
            </a:r>
            <a:endParaRPr lang="zh-CN" altLang="en-US" dirty="0"/>
          </a:p>
        </p:txBody>
      </p:sp>
      <p:sp>
        <p:nvSpPr>
          <p:cNvPr id="4" name="文本框 3">
            <a:extLst>
              <a:ext uri="{FF2B5EF4-FFF2-40B4-BE49-F238E27FC236}">
                <a16:creationId xmlns:a16="http://schemas.microsoft.com/office/drawing/2014/main" id="{99DCC474-7C6F-5D7F-0DA9-A5A8C59754DE}"/>
              </a:ext>
            </a:extLst>
          </p:cNvPr>
          <p:cNvSpPr txBox="1"/>
          <p:nvPr/>
        </p:nvSpPr>
        <p:spPr>
          <a:xfrm>
            <a:off x="4110702" y="1531841"/>
            <a:ext cx="1826141" cy="338554"/>
          </a:xfrm>
          <a:prstGeom prst="rect">
            <a:avLst/>
          </a:prstGeom>
          <a:noFill/>
        </p:spPr>
        <p:txBody>
          <a:bodyPr wrap="none" rtlCol="0">
            <a:spAutoFit/>
          </a:bodyPr>
          <a:lstStyle/>
          <a:p>
            <a:pPr algn="l"/>
            <a:r>
              <a:rPr lang="zh-CN" altLang="en-US" sz="1600" dirty="0"/>
              <a:t>互联网的边缘部分</a:t>
            </a:r>
          </a:p>
        </p:txBody>
      </p:sp>
      <p:pic>
        <p:nvPicPr>
          <p:cNvPr id="52" name="Picture 121" descr="jisuanji">
            <a:extLst>
              <a:ext uri="{FF2B5EF4-FFF2-40B4-BE49-F238E27FC236}">
                <a16:creationId xmlns:a16="http://schemas.microsoft.com/office/drawing/2014/main" id="{BED9DCCD-71E4-BE6B-2DB6-57522FA10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8823" y="1966197"/>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61898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26EC129-A34E-1605-4612-C7EBE5017EBF}"/>
              </a:ext>
            </a:extLst>
          </p:cNvPr>
          <p:cNvSpPr>
            <a:spLocks noGrp="1"/>
          </p:cNvSpPr>
          <p:nvPr>
            <p:ph type="title"/>
          </p:nvPr>
        </p:nvSpPr>
        <p:spPr>
          <a:xfrm>
            <a:off x="612000" y="144000"/>
            <a:ext cx="7920000" cy="341632"/>
          </a:xfrm>
        </p:spPr>
        <p:txBody>
          <a:bodyPr/>
          <a:lstStyle/>
          <a:p>
            <a:r>
              <a:rPr lang="zh-CN" altLang="en-US" dirty="0"/>
              <a:t>计算机之间的通信</a:t>
            </a:r>
          </a:p>
        </p:txBody>
      </p:sp>
      <p:sp>
        <p:nvSpPr>
          <p:cNvPr id="9" name="内容占位符 8">
            <a:extLst>
              <a:ext uri="{FF2B5EF4-FFF2-40B4-BE49-F238E27FC236}">
                <a16:creationId xmlns:a16="http://schemas.microsoft.com/office/drawing/2014/main" id="{79AD1C3D-5EA6-BBCA-A89B-C7B7D9AAAACC}"/>
              </a:ext>
            </a:extLst>
          </p:cNvPr>
          <p:cNvSpPr>
            <a:spLocks noGrp="1"/>
          </p:cNvSpPr>
          <p:nvPr>
            <p:ph sz="quarter" idx="10"/>
          </p:nvPr>
        </p:nvSpPr>
        <p:spPr>
          <a:xfrm>
            <a:off x="612000" y="899999"/>
            <a:ext cx="7920000" cy="3780000"/>
          </a:xfrm>
        </p:spPr>
        <p:txBody>
          <a:bodyPr/>
          <a:lstStyle/>
          <a:p>
            <a:r>
              <a:rPr lang="zh-CN" altLang="en-US" dirty="0"/>
              <a:t>主机 </a:t>
            </a:r>
            <a:r>
              <a:rPr lang="en-US" altLang="zh-CN" dirty="0"/>
              <a:t>A </a:t>
            </a:r>
            <a:r>
              <a:rPr lang="zh-CN" altLang="en-US" dirty="0"/>
              <a:t>的某个进程和主机 </a:t>
            </a:r>
            <a:r>
              <a:rPr lang="en-US" altLang="zh-CN" dirty="0"/>
              <a:t>B </a:t>
            </a:r>
            <a:r>
              <a:rPr lang="zh-CN" altLang="en-US" dirty="0"/>
              <a:t>上的另一个进程进行通信</a:t>
            </a:r>
            <a:endParaRPr lang="en-US" altLang="zh-CN" dirty="0"/>
          </a:p>
          <a:p>
            <a:r>
              <a:rPr lang="zh-CN" altLang="en-US" dirty="0"/>
              <a:t>客户</a:t>
            </a:r>
            <a:r>
              <a:rPr lang="en-US" altLang="zh-CN" dirty="0"/>
              <a:t>/</a:t>
            </a:r>
            <a:r>
              <a:rPr lang="zh-CN" altLang="en-US" dirty="0"/>
              <a:t>服务器方式</a:t>
            </a:r>
            <a:endParaRPr lang="en-US" altLang="zh-CN" dirty="0"/>
          </a:p>
          <a:p>
            <a:pPr lvl="1"/>
            <a:r>
              <a:rPr lang="en-US" altLang="en-US" dirty="0"/>
              <a:t>Client / Server </a:t>
            </a:r>
            <a:r>
              <a:rPr lang="zh-CN" altLang="en-US" dirty="0"/>
              <a:t>方式</a:t>
            </a:r>
          </a:p>
          <a:p>
            <a:pPr lvl="1"/>
            <a:r>
              <a:rPr lang="zh-CN" altLang="en-US" dirty="0"/>
              <a:t>简称为 </a:t>
            </a:r>
            <a:r>
              <a:rPr lang="en-US" altLang="en-US" dirty="0"/>
              <a:t>C/S </a:t>
            </a:r>
            <a:r>
              <a:rPr lang="zh-CN" altLang="en-US" dirty="0"/>
              <a:t>方式</a:t>
            </a:r>
            <a:endParaRPr lang="en-US" altLang="zh-CN" dirty="0"/>
          </a:p>
          <a:p>
            <a:r>
              <a:rPr lang="zh-CN" altLang="en-US" dirty="0"/>
              <a:t>对等方式</a:t>
            </a:r>
            <a:endParaRPr lang="en-US" altLang="zh-CN" dirty="0"/>
          </a:p>
          <a:p>
            <a:pPr lvl="1"/>
            <a:r>
              <a:rPr lang="en-US" altLang="en-US" dirty="0"/>
              <a:t>Peer to Peer </a:t>
            </a:r>
            <a:r>
              <a:rPr lang="zh-CN" altLang="en-US" dirty="0"/>
              <a:t>方式</a:t>
            </a:r>
          </a:p>
          <a:p>
            <a:pPr lvl="1"/>
            <a:r>
              <a:rPr lang="zh-CN" altLang="en-US" dirty="0"/>
              <a:t>简称为 </a:t>
            </a:r>
            <a:r>
              <a:rPr lang="en-US" altLang="en-US" dirty="0"/>
              <a:t>P2P </a:t>
            </a:r>
            <a:r>
              <a:rPr lang="zh-CN" altLang="en-US" dirty="0"/>
              <a:t>方式</a:t>
            </a:r>
          </a:p>
          <a:p>
            <a:endParaRPr lang="zh-CN" altLang="en-US" dirty="0"/>
          </a:p>
        </p:txBody>
      </p:sp>
    </p:spTree>
    <p:extLst>
      <p:ext uri="{BB962C8B-B14F-4D97-AF65-F5344CB8AC3E}">
        <p14:creationId xmlns:p14="http://schemas.microsoft.com/office/powerpoint/2010/main" val="9039273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a:extLst>
              <a:ext uri="{FF2B5EF4-FFF2-40B4-BE49-F238E27FC236}">
                <a16:creationId xmlns:a16="http://schemas.microsoft.com/office/drawing/2014/main" id="{7473853B-CCA5-A640-1482-936A2880FD96}"/>
              </a:ext>
            </a:extLst>
          </p:cNvPr>
          <p:cNvSpPr>
            <a:spLocks noGrp="1"/>
          </p:cNvSpPr>
          <p:nvPr>
            <p:ph type="title"/>
          </p:nvPr>
        </p:nvSpPr>
        <p:spPr>
          <a:xfrm>
            <a:off x="612000" y="144000"/>
            <a:ext cx="7920000" cy="341632"/>
          </a:xfrm>
        </p:spPr>
        <p:txBody>
          <a:bodyPr/>
          <a:lstStyle/>
          <a:p>
            <a:r>
              <a:rPr lang="en-US" altLang="zh-CN" dirty="0"/>
              <a:t>1.  </a:t>
            </a:r>
            <a:r>
              <a:rPr lang="zh-CN" altLang="en-US" dirty="0"/>
              <a:t>客户</a:t>
            </a:r>
            <a:r>
              <a:rPr lang="en-US" altLang="zh-CN" dirty="0"/>
              <a:t>-</a:t>
            </a:r>
            <a:r>
              <a:rPr lang="zh-CN" altLang="en-US" dirty="0"/>
              <a:t>服务器方式（</a:t>
            </a:r>
            <a:r>
              <a:rPr lang="en-US" altLang="zh-CN" dirty="0"/>
              <a:t>C/S </a:t>
            </a:r>
            <a:r>
              <a:rPr lang="zh-CN" altLang="en-US" dirty="0"/>
              <a:t>方式）</a:t>
            </a:r>
          </a:p>
        </p:txBody>
      </p:sp>
      <p:sp>
        <p:nvSpPr>
          <p:cNvPr id="3" name="内容占位符 2"/>
          <p:cNvSpPr>
            <a:spLocks noGrp="1"/>
          </p:cNvSpPr>
          <p:nvPr>
            <p:ph sz="quarter" idx="10"/>
          </p:nvPr>
        </p:nvSpPr>
        <p:spPr>
          <a:xfrm>
            <a:off x="612000" y="899999"/>
            <a:ext cx="7920000" cy="3780000"/>
          </a:xfrm>
        </p:spPr>
        <p:txBody>
          <a:bodyPr/>
          <a:lstStyle/>
          <a:p>
            <a:r>
              <a:rPr lang="zh-CN" altLang="en-US" dirty="0"/>
              <a:t>客户</a:t>
            </a:r>
            <a:r>
              <a:rPr lang="en-US" altLang="zh-CN" dirty="0"/>
              <a:t>/</a:t>
            </a:r>
            <a:r>
              <a:rPr lang="zh-CN" altLang="en-US" dirty="0"/>
              <a:t>服务器方式所描述的是进程之间服务和被服务的关系</a:t>
            </a:r>
          </a:p>
          <a:p>
            <a:r>
              <a:rPr lang="zh-CN" altLang="en-US" dirty="0"/>
              <a:t>客户是服务的请求方，服务器是服务的提供方</a:t>
            </a:r>
            <a:endParaRPr lang="en-US" altLang="zh-CN" dirty="0"/>
          </a:p>
          <a:p>
            <a:r>
              <a:rPr lang="zh-CN" altLang="zh-CN" dirty="0"/>
              <a:t>通信可以是双向的，客户和服务器都可发送和接收数据</a:t>
            </a:r>
            <a:endParaRPr lang="zh-CN" altLang="en-US" dirty="0"/>
          </a:p>
          <a:p>
            <a:endParaRPr lang="zh-CN" altLang="en-US" dirty="0"/>
          </a:p>
        </p:txBody>
      </p:sp>
      <p:sp>
        <p:nvSpPr>
          <p:cNvPr id="5" name="Oval 4"/>
          <p:cNvSpPr>
            <a:spLocks noChangeArrowheads="1"/>
          </p:cNvSpPr>
          <p:nvPr/>
        </p:nvSpPr>
        <p:spPr bwMode="auto">
          <a:xfrm>
            <a:off x="2451917" y="2067071"/>
            <a:ext cx="4240165" cy="2730500"/>
          </a:xfrm>
          <a:prstGeom prst="ellipse">
            <a:avLst/>
          </a:prstGeom>
          <a:solidFill>
            <a:srgbClr val="C5E5FB"/>
          </a:solidFill>
          <a:ln>
            <a:noFill/>
          </a:ln>
          <a:effectLst/>
          <a:scene3d>
            <a:camera prst="orthographicFront">
              <a:rot lat="0" lon="0" rev="0"/>
            </a:camera>
            <a:lightRig rig="contrasting" dir="t">
              <a:rot lat="0" lon="0" rev="7800000"/>
            </a:lightRig>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Line 6"/>
          <p:cNvSpPr>
            <a:spLocks noChangeShapeType="1"/>
          </p:cNvSpPr>
          <p:nvPr/>
        </p:nvSpPr>
        <p:spPr bwMode="auto">
          <a:xfrm flipH="1" flipV="1">
            <a:off x="2900953" y="3231210"/>
            <a:ext cx="645802" cy="16459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 name="Line 7"/>
          <p:cNvSpPr>
            <a:spLocks noChangeShapeType="1"/>
          </p:cNvSpPr>
          <p:nvPr/>
        </p:nvSpPr>
        <p:spPr bwMode="auto">
          <a:xfrm flipH="1">
            <a:off x="5350693" y="3522809"/>
            <a:ext cx="576263" cy="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9" name="Line 8"/>
          <p:cNvSpPr>
            <a:spLocks noChangeShapeType="1"/>
          </p:cNvSpPr>
          <p:nvPr/>
        </p:nvSpPr>
        <p:spPr bwMode="auto">
          <a:xfrm flipH="1">
            <a:off x="4926831" y="2317896"/>
            <a:ext cx="503237" cy="7223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0" name="Line 9"/>
          <p:cNvSpPr>
            <a:spLocks noChangeShapeType="1"/>
          </p:cNvSpPr>
          <p:nvPr/>
        </p:nvSpPr>
        <p:spPr bwMode="auto">
          <a:xfrm flipH="1" flipV="1">
            <a:off x="4866506" y="3795859"/>
            <a:ext cx="320675" cy="3683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 name="Line 10"/>
          <p:cNvSpPr>
            <a:spLocks noChangeShapeType="1"/>
          </p:cNvSpPr>
          <p:nvPr/>
        </p:nvSpPr>
        <p:spPr bwMode="auto">
          <a:xfrm>
            <a:off x="3725093" y="2411559"/>
            <a:ext cx="320675" cy="5302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2" name="Line 11"/>
          <p:cNvSpPr>
            <a:spLocks noChangeShapeType="1"/>
          </p:cNvSpPr>
          <p:nvPr/>
        </p:nvSpPr>
        <p:spPr bwMode="auto">
          <a:xfrm flipV="1">
            <a:off x="3910831" y="3737121"/>
            <a:ext cx="166687" cy="460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3" name="Text Box 16"/>
          <p:cNvSpPr txBox="1">
            <a:spLocks noChangeArrowheads="1"/>
          </p:cNvSpPr>
          <p:nvPr/>
        </p:nvSpPr>
        <p:spPr bwMode="auto">
          <a:xfrm>
            <a:off x="1432359" y="2564852"/>
            <a:ext cx="1194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400"/>
            </a:lvl1pPr>
          </a:lstStyle>
          <a:p>
            <a:r>
              <a:rPr lang="en-US" altLang="zh-CN" sz="1200" dirty="0"/>
              <a:t>Client</a:t>
            </a:r>
            <a:endParaRPr lang="zh-CN" altLang="en-US" sz="1200" dirty="0"/>
          </a:p>
          <a:p>
            <a:r>
              <a:rPr lang="zh-CN" altLang="en-US" sz="1200" dirty="0"/>
              <a:t>运行客户程序</a:t>
            </a:r>
          </a:p>
        </p:txBody>
      </p:sp>
      <p:grpSp>
        <p:nvGrpSpPr>
          <p:cNvPr id="14" name="Group 18"/>
          <p:cNvGrpSpPr/>
          <p:nvPr/>
        </p:nvGrpSpPr>
        <p:grpSpPr bwMode="auto">
          <a:xfrm>
            <a:off x="3350900" y="2518162"/>
            <a:ext cx="2307127" cy="1602670"/>
            <a:chOff x="1680" y="240"/>
            <a:chExt cx="2529" cy="1270"/>
          </a:xfrm>
          <a:solidFill>
            <a:schemeClr val="bg1"/>
          </a:solidFill>
        </p:grpSpPr>
        <p:sp>
          <p:nvSpPr>
            <p:cNvPr id="15"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16"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17"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18"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19"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20"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21"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22"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sp>
          <p:nvSpPr>
            <p:cNvPr id="23"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dirty="0">
                <a:solidFill>
                  <a:srgbClr val="368AD6"/>
                </a:solidFill>
                <a:latin typeface="+mn-lt"/>
                <a:ea typeface="微软雅黑 Light" panose="020B0502040204020203" pitchFamily="34" charset="-122"/>
              </a:endParaRPr>
            </a:p>
          </p:txBody>
        </p:sp>
      </p:grpSp>
      <p:sp>
        <p:nvSpPr>
          <p:cNvPr id="24" name="Text Box 28"/>
          <p:cNvSpPr txBox="1">
            <a:spLocks noChangeArrowheads="1"/>
          </p:cNvSpPr>
          <p:nvPr/>
        </p:nvSpPr>
        <p:spPr bwMode="auto">
          <a:xfrm>
            <a:off x="4104506" y="223516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latin typeface="+mj-ea"/>
                <a:ea typeface="+mj-ea"/>
              </a:rPr>
              <a:t>网络边缘</a:t>
            </a:r>
          </a:p>
        </p:txBody>
      </p:sp>
      <p:sp>
        <p:nvSpPr>
          <p:cNvPr id="25" name="Text Box 29"/>
          <p:cNvSpPr txBox="1">
            <a:spLocks noChangeArrowheads="1"/>
          </p:cNvSpPr>
          <p:nvPr/>
        </p:nvSpPr>
        <p:spPr bwMode="auto">
          <a:xfrm>
            <a:off x="4159022" y="3662490"/>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latin typeface="+mj-ea"/>
                <a:ea typeface="+mj-ea"/>
              </a:rPr>
              <a:t>网络核心</a:t>
            </a:r>
          </a:p>
        </p:txBody>
      </p:sp>
      <p:sp>
        <p:nvSpPr>
          <p:cNvPr id="26" name="Text Box 31"/>
          <p:cNvSpPr txBox="1">
            <a:spLocks noChangeArrowheads="1"/>
          </p:cNvSpPr>
          <p:nvPr/>
        </p:nvSpPr>
        <p:spPr bwMode="auto">
          <a:xfrm>
            <a:off x="6703723" y="2495924"/>
            <a:ext cx="12615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en-US" altLang="zh-CN" dirty="0"/>
              <a:t>Server</a:t>
            </a:r>
            <a:endParaRPr lang="zh-CN" altLang="en-US" dirty="0"/>
          </a:p>
          <a:p>
            <a:r>
              <a:rPr lang="zh-CN" altLang="en-US" dirty="0"/>
              <a:t>运行服务器程序</a:t>
            </a:r>
          </a:p>
        </p:txBody>
      </p:sp>
      <p:sp>
        <p:nvSpPr>
          <p:cNvPr id="27" name="Line 33"/>
          <p:cNvSpPr>
            <a:spLocks noChangeShapeType="1"/>
          </p:cNvSpPr>
          <p:nvPr/>
        </p:nvSpPr>
        <p:spPr bwMode="auto">
          <a:xfrm>
            <a:off x="2427748" y="2792415"/>
            <a:ext cx="432821" cy="42545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8" name="Line 34"/>
          <p:cNvSpPr>
            <a:spLocks noChangeShapeType="1"/>
          </p:cNvSpPr>
          <p:nvPr/>
        </p:nvSpPr>
        <p:spPr bwMode="auto">
          <a:xfrm flipH="1">
            <a:off x="6413341" y="2709863"/>
            <a:ext cx="381195" cy="633611"/>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9" name="Text Box 35"/>
          <p:cNvSpPr txBox="1">
            <a:spLocks noChangeArrowheads="1"/>
          </p:cNvSpPr>
          <p:nvPr/>
        </p:nvSpPr>
        <p:spPr bwMode="auto">
          <a:xfrm>
            <a:off x="2767831" y="2810303"/>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A</a:t>
            </a:r>
          </a:p>
        </p:txBody>
      </p:sp>
      <p:sp>
        <p:nvSpPr>
          <p:cNvPr id="30" name="Text Box 36"/>
          <p:cNvSpPr txBox="1">
            <a:spLocks noChangeArrowheads="1"/>
          </p:cNvSpPr>
          <p:nvPr/>
        </p:nvSpPr>
        <p:spPr bwMode="auto">
          <a:xfrm>
            <a:off x="6057131" y="2603646"/>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B</a:t>
            </a:r>
          </a:p>
        </p:txBody>
      </p:sp>
      <p:sp>
        <p:nvSpPr>
          <p:cNvPr id="32" name="Freeform 32"/>
          <p:cNvSpPr/>
          <p:nvPr/>
        </p:nvSpPr>
        <p:spPr bwMode="auto">
          <a:xfrm rot="60000">
            <a:off x="3167881" y="3087402"/>
            <a:ext cx="2667000" cy="165523"/>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3" name="Text Box 39"/>
          <p:cNvSpPr txBox="1">
            <a:spLocks noChangeArrowheads="1"/>
          </p:cNvSpPr>
          <p:nvPr/>
        </p:nvSpPr>
        <p:spPr bwMode="auto">
          <a:xfrm rot="240000">
            <a:off x="4065834" y="2862618"/>
            <a:ext cx="10005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① </a:t>
            </a:r>
            <a:r>
              <a:rPr kumimoji="1" lang="zh-CN" altLang="en-US" sz="1200" b="1" dirty="0">
                <a:solidFill>
                  <a:srgbClr val="CC00CC"/>
                </a:solidFill>
                <a:latin typeface="微软雅黑" panose="020B0503020204020204" pitchFamily="34" charset="-122"/>
                <a:ea typeface="微软雅黑" panose="020B0503020204020204" pitchFamily="34" charset="-122"/>
              </a:rPr>
              <a:t>请求服务</a:t>
            </a:r>
          </a:p>
        </p:txBody>
      </p:sp>
      <p:pic>
        <p:nvPicPr>
          <p:cNvPr id="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018" y="3071176"/>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7931" y="2265327"/>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506" y="2212939"/>
            <a:ext cx="366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3531" y="4145109"/>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093" y="4197496"/>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3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49168" y="2827484"/>
            <a:ext cx="6191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0"/>
          <p:cNvSpPr>
            <a:spLocks noChangeArrowheads="1"/>
          </p:cNvSpPr>
          <p:nvPr/>
        </p:nvSpPr>
        <p:spPr bwMode="auto">
          <a:xfrm>
            <a:off x="6431752" y="3840181"/>
            <a:ext cx="20870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dirty="0"/>
              <a:t>客户 </a:t>
            </a:r>
            <a:r>
              <a:rPr lang="en-US" altLang="zh-CN" sz="1400" dirty="0"/>
              <a:t>A </a:t>
            </a:r>
            <a:r>
              <a:rPr lang="zh-CN" altLang="en-US" sz="1400" dirty="0"/>
              <a:t>向服务器 </a:t>
            </a:r>
            <a:r>
              <a:rPr lang="en-US" altLang="zh-CN" sz="1400" dirty="0"/>
              <a:t>B </a:t>
            </a:r>
            <a:r>
              <a:rPr lang="zh-CN" altLang="en-US" sz="1400" dirty="0"/>
              <a:t>发出请求服务，</a:t>
            </a:r>
            <a:endParaRPr lang="en-US" altLang="zh-CN" sz="1400" dirty="0"/>
          </a:p>
          <a:p>
            <a:r>
              <a:rPr lang="zh-CN" altLang="en-US" sz="1400" dirty="0"/>
              <a:t>服务器 </a:t>
            </a:r>
            <a:r>
              <a:rPr lang="en-US" altLang="zh-CN" sz="1400" dirty="0"/>
              <a:t>B </a:t>
            </a:r>
            <a:r>
              <a:rPr lang="zh-CN" altLang="en-US" sz="1400" dirty="0"/>
              <a:t>向客户 </a:t>
            </a:r>
            <a:r>
              <a:rPr lang="en-US" altLang="zh-CN" sz="1400" dirty="0"/>
              <a:t>A </a:t>
            </a:r>
            <a:r>
              <a:rPr lang="zh-CN" altLang="en-US" sz="1400" dirty="0"/>
              <a:t>提供服务。</a:t>
            </a:r>
          </a:p>
        </p:txBody>
      </p:sp>
      <p:sp>
        <p:nvSpPr>
          <p:cNvPr id="45" name="Text Box 40"/>
          <p:cNvSpPr txBox="1">
            <a:spLocks noChangeArrowheads="1"/>
          </p:cNvSpPr>
          <p:nvPr/>
        </p:nvSpPr>
        <p:spPr bwMode="auto">
          <a:xfrm rot="240000">
            <a:off x="4029661" y="3373097"/>
            <a:ext cx="10005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② </a:t>
            </a:r>
            <a:r>
              <a:rPr kumimoji="1" lang="zh-CN" altLang="en-US" sz="1200" b="1" dirty="0">
                <a:solidFill>
                  <a:srgbClr val="CC00CC"/>
                </a:solidFill>
                <a:latin typeface="微软雅黑" panose="020B0503020204020204" pitchFamily="34" charset="-122"/>
                <a:ea typeface="微软雅黑" panose="020B0503020204020204" pitchFamily="34" charset="-122"/>
              </a:rPr>
              <a:t>得到服务</a:t>
            </a:r>
          </a:p>
        </p:txBody>
      </p:sp>
      <p:sp>
        <p:nvSpPr>
          <p:cNvPr id="46" name="Freeform 38"/>
          <p:cNvSpPr/>
          <p:nvPr/>
        </p:nvSpPr>
        <p:spPr bwMode="auto">
          <a:xfrm rot="10740000">
            <a:off x="3119095" y="3259563"/>
            <a:ext cx="2665413" cy="22621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Tree>
    <p:extLst>
      <p:ext uri="{BB962C8B-B14F-4D97-AF65-F5344CB8AC3E}">
        <p14:creationId xmlns:p14="http://schemas.microsoft.com/office/powerpoint/2010/main" val="28129191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D92D599-A52F-05D9-73BE-66E327A5ED3D}"/>
              </a:ext>
            </a:extLst>
          </p:cNvPr>
          <p:cNvSpPr>
            <a:spLocks noGrp="1"/>
          </p:cNvSpPr>
          <p:nvPr>
            <p:ph type="title"/>
          </p:nvPr>
        </p:nvSpPr>
        <p:spPr>
          <a:xfrm>
            <a:off x="612000" y="144000"/>
            <a:ext cx="7920000" cy="341632"/>
          </a:xfrm>
        </p:spPr>
        <p:txBody>
          <a:bodyPr/>
          <a:lstStyle/>
          <a:p>
            <a:r>
              <a:rPr lang="zh-CN" altLang="en-US" dirty="0"/>
              <a:t>客户程序和服务器程序主要特点</a:t>
            </a:r>
          </a:p>
        </p:txBody>
      </p:sp>
      <p:sp>
        <p:nvSpPr>
          <p:cNvPr id="8" name="内容占位符 7">
            <a:extLst>
              <a:ext uri="{FF2B5EF4-FFF2-40B4-BE49-F238E27FC236}">
                <a16:creationId xmlns:a16="http://schemas.microsoft.com/office/drawing/2014/main" id="{67CADB3E-8668-CA2B-3274-417283C54E48}"/>
              </a:ext>
            </a:extLst>
          </p:cNvPr>
          <p:cNvSpPr>
            <a:spLocks noGrp="1"/>
          </p:cNvSpPr>
          <p:nvPr>
            <p:ph sz="quarter" idx="10"/>
          </p:nvPr>
        </p:nvSpPr>
        <p:spPr>
          <a:xfrm>
            <a:off x="612000" y="899999"/>
            <a:ext cx="7920000" cy="3780000"/>
          </a:xfrm>
        </p:spPr>
        <p:txBody>
          <a:bodyPr>
            <a:normAutofit/>
          </a:bodyPr>
          <a:lstStyle/>
          <a:p>
            <a:r>
              <a:rPr lang="zh-CN" altLang="en-US" dirty="0"/>
              <a:t>客户程序</a:t>
            </a:r>
            <a:endParaRPr lang="en-US" altLang="zh-CN" dirty="0"/>
          </a:p>
          <a:p>
            <a:pPr lvl="1"/>
            <a:r>
              <a:rPr lang="zh-CN" altLang="en-US" dirty="0"/>
              <a:t>被用户调用后运行，需主动向远地服务器发起通信（请求服务 </a:t>
            </a:r>
            <a:r>
              <a:rPr lang="en-US" altLang="zh-CN" dirty="0"/>
              <a:t>- Request</a:t>
            </a:r>
            <a:r>
              <a:rPr lang="zh-CN" altLang="en-US" dirty="0"/>
              <a:t>）</a:t>
            </a:r>
            <a:endParaRPr lang="en-US" altLang="zh-CN" dirty="0"/>
          </a:p>
          <a:p>
            <a:pPr lvl="1"/>
            <a:r>
              <a:rPr lang="zh-CN" altLang="en-US" dirty="0"/>
              <a:t>必须知道服务器程序的地址</a:t>
            </a:r>
            <a:endParaRPr lang="en-US" altLang="zh-CN" dirty="0"/>
          </a:p>
          <a:p>
            <a:pPr lvl="1"/>
            <a:r>
              <a:rPr lang="zh-CN" altLang="en-US" dirty="0"/>
              <a:t>不需要特殊的硬件和很复杂的操作系统</a:t>
            </a:r>
            <a:endParaRPr lang="en-US" altLang="zh-CN" dirty="0"/>
          </a:p>
          <a:p>
            <a:r>
              <a:rPr lang="zh-CN" altLang="en-US" dirty="0"/>
              <a:t>服务器程序</a:t>
            </a:r>
            <a:endParaRPr lang="en-US" altLang="zh-CN" dirty="0"/>
          </a:p>
          <a:p>
            <a:pPr lvl="1"/>
            <a:r>
              <a:rPr lang="zh-CN" altLang="en-US" dirty="0"/>
              <a:t>专门用来提供某种服务的程序，可同时处理多个客户请求（响应服务 </a:t>
            </a:r>
            <a:r>
              <a:rPr lang="en-US" altLang="zh-CN" dirty="0"/>
              <a:t>- Response</a:t>
            </a:r>
            <a:r>
              <a:rPr lang="zh-CN" altLang="en-US" dirty="0"/>
              <a:t>）</a:t>
            </a:r>
          </a:p>
          <a:p>
            <a:pPr lvl="1"/>
            <a:r>
              <a:rPr lang="zh-CN" altLang="en-US" dirty="0"/>
              <a:t>一直不断地运行着，被动地等待并接受来自各地的客户的通信请求</a:t>
            </a:r>
            <a:endParaRPr lang="en-US" altLang="zh-CN" dirty="0"/>
          </a:p>
          <a:p>
            <a:pPr lvl="1"/>
            <a:r>
              <a:rPr lang="zh-CN" altLang="en-US" dirty="0"/>
              <a:t>不需要知道客户程序的地址</a:t>
            </a:r>
          </a:p>
          <a:p>
            <a:pPr lvl="1"/>
            <a:r>
              <a:rPr lang="zh-CN" altLang="en-US" dirty="0"/>
              <a:t>一般需要强大的硬件和高级的操作系统支持</a:t>
            </a:r>
          </a:p>
          <a:p>
            <a:endParaRPr lang="zh-CN" altLang="en-US" dirty="0"/>
          </a:p>
        </p:txBody>
      </p:sp>
    </p:spTree>
    <p:extLst>
      <p:ext uri="{BB962C8B-B14F-4D97-AF65-F5344CB8AC3E}">
        <p14:creationId xmlns:p14="http://schemas.microsoft.com/office/powerpoint/2010/main" val="24420100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DB27532-2D9B-76A7-7192-C773EC70233C}"/>
              </a:ext>
            </a:extLst>
          </p:cNvPr>
          <p:cNvSpPr>
            <a:spLocks noGrp="1"/>
          </p:cNvSpPr>
          <p:nvPr>
            <p:ph type="title"/>
          </p:nvPr>
        </p:nvSpPr>
        <p:spPr>
          <a:xfrm>
            <a:off x="612000" y="144000"/>
            <a:ext cx="7920000" cy="341632"/>
          </a:xfrm>
        </p:spPr>
        <p:txBody>
          <a:bodyPr/>
          <a:lstStyle/>
          <a:p>
            <a:r>
              <a:rPr lang="en-US" altLang="zh-CN" dirty="0"/>
              <a:t>2. </a:t>
            </a:r>
            <a:r>
              <a:rPr lang="zh-CN" altLang="en-US" dirty="0"/>
              <a:t>对等连接方式（</a:t>
            </a:r>
            <a:r>
              <a:rPr lang="en-US" altLang="zh-CN" dirty="0"/>
              <a:t>P2P </a:t>
            </a:r>
            <a:r>
              <a:rPr lang="zh-CN" altLang="en-US" dirty="0"/>
              <a:t>方式）</a:t>
            </a:r>
          </a:p>
        </p:txBody>
      </p:sp>
      <p:sp>
        <p:nvSpPr>
          <p:cNvPr id="3" name="内容占位符 2"/>
          <p:cNvSpPr>
            <a:spLocks noGrp="1"/>
          </p:cNvSpPr>
          <p:nvPr>
            <p:ph sz="quarter" idx="10"/>
          </p:nvPr>
        </p:nvSpPr>
        <p:spPr>
          <a:xfrm>
            <a:off x="612000" y="899999"/>
            <a:ext cx="7920000" cy="3780000"/>
          </a:xfrm>
        </p:spPr>
        <p:txBody>
          <a:bodyPr/>
          <a:lstStyle/>
          <a:p>
            <a:r>
              <a:rPr lang="zh-CN" altLang="en-US" dirty="0"/>
              <a:t>两台主机在通信时不区分服务请求方和服务提供方</a:t>
            </a:r>
          </a:p>
          <a:p>
            <a:r>
              <a:rPr lang="zh-CN" altLang="en-US" dirty="0"/>
              <a:t>只要都运行了 </a:t>
            </a:r>
            <a:r>
              <a:rPr lang="en-US" altLang="zh-CN" dirty="0"/>
              <a:t>P2P </a:t>
            </a:r>
            <a:r>
              <a:rPr lang="zh-CN" altLang="en-US" dirty="0"/>
              <a:t>软件，就可以进行平等的、对等连接通信</a:t>
            </a:r>
            <a:endParaRPr lang="en-US" altLang="zh-CN" dirty="0"/>
          </a:p>
          <a:p>
            <a:r>
              <a:rPr lang="zh-CN" altLang="en-US" dirty="0"/>
              <a:t>对等连接方式从本质上看仍然是使用客户服务器方式，只是对等连接中的每一个主机既是客户又是服务器</a:t>
            </a:r>
          </a:p>
        </p:txBody>
      </p:sp>
      <p:sp>
        <p:nvSpPr>
          <p:cNvPr id="49" name="Oval 4"/>
          <p:cNvSpPr>
            <a:spLocks noChangeArrowheads="1"/>
          </p:cNvSpPr>
          <p:nvPr/>
        </p:nvSpPr>
        <p:spPr bwMode="auto">
          <a:xfrm>
            <a:off x="3568592" y="1884574"/>
            <a:ext cx="4441371" cy="2858197"/>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Line 5"/>
          <p:cNvSpPr>
            <a:spLocks noChangeShapeType="1"/>
          </p:cNvSpPr>
          <p:nvPr/>
        </p:nvSpPr>
        <p:spPr bwMode="auto">
          <a:xfrm flipV="1">
            <a:off x="4452660" y="3609650"/>
            <a:ext cx="512618" cy="338537"/>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1" name="Line 6"/>
          <p:cNvSpPr>
            <a:spLocks noChangeShapeType="1"/>
          </p:cNvSpPr>
          <p:nvPr/>
        </p:nvSpPr>
        <p:spPr bwMode="auto">
          <a:xfrm flipH="1" flipV="1">
            <a:off x="4202778" y="3053644"/>
            <a:ext cx="772509" cy="269821"/>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2" name="Line 7"/>
          <p:cNvSpPr>
            <a:spLocks noChangeShapeType="1"/>
          </p:cNvSpPr>
          <p:nvPr/>
        </p:nvSpPr>
        <p:spPr bwMode="auto">
          <a:xfrm flipH="1">
            <a:off x="6631299" y="3332238"/>
            <a:ext cx="78349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3" name="Line 8"/>
          <p:cNvSpPr>
            <a:spLocks noChangeShapeType="1"/>
          </p:cNvSpPr>
          <p:nvPr/>
        </p:nvSpPr>
        <p:spPr bwMode="auto">
          <a:xfrm flipH="1">
            <a:off x="6110717" y="2386330"/>
            <a:ext cx="449997" cy="66968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4" name="Line 9"/>
          <p:cNvSpPr>
            <a:spLocks noChangeShapeType="1"/>
          </p:cNvSpPr>
          <p:nvPr/>
        </p:nvSpPr>
        <p:spPr bwMode="auto">
          <a:xfrm flipH="1" flipV="1">
            <a:off x="6105994" y="3802711"/>
            <a:ext cx="397570" cy="394714"/>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5" name="Line 10"/>
          <p:cNvSpPr>
            <a:spLocks noChangeShapeType="1"/>
          </p:cNvSpPr>
          <p:nvPr/>
        </p:nvSpPr>
        <p:spPr bwMode="auto">
          <a:xfrm>
            <a:off x="4791637" y="2480524"/>
            <a:ext cx="451453" cy="48341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6" name="Line 11"/>
          <p:cNvSpPr>
            <a:spLocks noChangeShapeType="1"/>
          </p:cNvSpPr>
          <p:nvPr/>
        </p:nvSpPr>
        <p:spPr bwMode="auto">
          <a:xfrm flipV="1">
            <a:off x="5183092" y="3758503"/>
            <a:ext cx="91747" cy="54846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57" name="Group 17"/>
          <p:cNvGrpSpPr/>
          <p:nvPr/>
        </p:nvGrpSpPr>
        <p:grpSpPr bwMode="auto">
          <a:xfrm>
            <a:off x="4733605" y="2666920"/>
            <a:ext cx="2136571" cy="1415756"/>
            <a:chOff x="1680" y="240"/>
            <a:chExt cx="2529" cy="1270"/>
          </a:xfrm>
          <a:solidFill>
            <a:schemeClr val="bg1"/>
          </a:solidFill>
        </p:grpSpPr>
        <p:sp>
          <p:nvSpPr>
            <p:cNvPr id="5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grpSp>
      <p:sp>
        <p:nvSpPr>
          <p:cNvPr id="67" name="Text Box 27"/>
          <p:cNvSpPr txBox="1">
            <a:spLocks noChangeArrowheads="1"/>
          </p:cNvSpPr>
          <p:nvPr/>
        </p:nvSpPr>
        <p:spPr bwMode="auto">
          <a:xfrm>
            <a:off x="5115817" y="2101365"/>
            <a:ext cx="1180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latin typeface="+mj-ea"/>
                <a:ea typeface="+mj-ea"/>
              </a:rPr>
              <a:t>网络边缘</a:t>
            </a:r>
          </a:p>
        </p:txBody>
      </p:sp>
      <p:sp>
        <p:nvSpPr>
          <p:cNvPr id="68" name="Text Box 28"/>
          <p:cNvSpPr txBox="1">
            <a:spLocks noChangeArrowheads="1"/>
          </p:cNvSpPr>
          <p:nvPr/>
        </p:nvSpPr>
        <p:spPr bwMode="auto">
          <a:xfrm>
            <a:off x="5359609" y="3297384"/>
            <a:ext cx="10900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latin typeface="+mj-ea"/>
                <a:ea typeface="+mj-ea"/>
              </a:rPr>
              <a:t>网络核心</a:t>
            </a:r>
          </a:p>
        </p:txBody>
      </p:sp>
      <p:sp>
        <p:nvSpPr>
          <p:cNvPr id="69" name="Text Box 30"/>
          <p:cNvSpPr txBox="1">
            <a:spLocks noChangeArrowheads="1"/>
          </p:cNvSpPr>
          <p:nvPr/>
        </p:nvSpPr>
        <p:spPr bwMode="auto">
          <a:xfrm>
            <a:off x="6872266" y="2458210"/>
            <a:ext cx="11821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t>运行 </a:t>
            </a:r>
            <a:r>
              <a:rPr lang="en-US" altLang="zh-CN" dirty="0"/>
              <a:t>P2P </a:t>
            </a:r>
            <a:r>
              <a:rPr lang="zh-CN" altLang="en-US" dirty="0"/>
              <a:t>程序</a:t>
            </a:r>
          </a:p>
        </p:txBody>
      </p:sp>
      <p:sp>
        <p:nvSpPr>
          <p:cNvPr id="70" name="Text Box 31"/>
          <p:cNvSpPr txBox="1">
            <a:spLocks noChangeArrowheads="1"/>
          </p:cNvSpPr>
          <p:nvPr/>
        </p:nvSpPr>
        <p:spPr bwMode="auto">
          <a:xfrm>
            <a:off x="6860268" y="3996483"/>
            <a:ext cx="12685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t>运行 </a:t>
            </a:r>
            <a:r>
              <a:rPr lang="en-US" altLang="zh-CN" dirty="0"/>
              <a:t>P2P </a:t>
            </a:r>
            <a:r>
              <a:rPr lang="zh-CN" altLang="en-US" dirty="0"/>
              <a:t>程序</a:t>
            </a:r>
          </a:p>
        </p:txBody>
      </p:sp>
      <p:sp>
        <p:nvSpPr>
          <p:cNvPr id="71" name="Line 32"/>
          <p:cNvSpPr>
            <a:spLocks noChangeShapeType="1"/>
          </p:cNvSpPr>
          <p:nvPr/>
        </p:nvSpPr>
        <p:spPr bwMode="auto">
          <a:xfrm flipH="1">
            <a:off x="6580626" y="2574648"/>
            <a:ext cx="0" cy="1577377"/>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2" name="Line 33"/>
          <p:cNvSpPr>
            <a:spLocks noChangeShapeType="1"/>
          </p:cNvSpPr>
          <p:nvPr/>
        </p:nvSpPr>
        <p:spPr bwMode="auto">
          <a:xfrm flipH="1" flipV="1">
            <a:off x="6700072" y="2392168"/>
            <a:ext cx="231860" cy="132613"/>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3" name="Line 34"/>
          <p:cNvSpPr>
            <a:spLocks noChangeShapeType="1"/>
          </p:cNvSpPr>
          <p:nvPr/>
        </p:nvSpPr>
        <p:spPr bwMode="auto">
          <a:xfrm flipH="1">
            <a:off x="6675267" y="4168524"/>
            <a:ext cx="232938" cy="12973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4" name="Text Box 35"/>
          <p:cNvSpPr txBox="1">
            <a:spLocks noChangeArrowheads="1"/>
          </p:cNvSpPr>
          <p:nvPr/>
        </p:nvSpPr>
        <p:spPr bwMode="auto">
          <a:xfrm>
            <a:off x="6124077" y="4179341"/>
            <a:ext cx="28851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D</a:t>
            </a:r>
          </a:p>
        </p:txBody>
      </p:sp>
      <p:sp>
        <p:nvSpPr>
          <p:cNvPr id="75" name="Text Box 36"/>
          <p:cNvSpPr txBox="1">
            <a:spLocks noChangeArrowheads="1"/>
          </p:cNvSpPr>
          <p:nvPr/>
        </p:nvSpPr>
        <p:spPr bwMode="auto">
          <a:xfrm>
            <a:off x="6682993" y="2104198"/>
            <a:ext cx="269400"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C</a:t>
            </a:r>
          </a:p>
        </p:txBody>
      </p:sp>
      <p:sp>
        <p:nvSpPr>
          <p:cNvPr id="76" name="Line 38"/>
          <p:cNvSpPr>
            <a:spLocks noChangeShapeType="1"/>
          </p:cNvSpPr>
          <p:nvPr/>
        </p:nvSpPr>
        <p:spPr bwMode="auto">
          <a:xfrm flipH="1">
            <a:off x="4546683" y="2644792"/>
            <a:ext cx="263066" cy="1113712"/>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7" name="Text Box 39"/>
          <p:cNvSpPr txBox="1">
            <a:spLocks noChangeArrowheads="1"/>
          </p:cNvSpPr>
          <p:nvPr/>
        </p:nvSpPr>
        <p:spPr bwMode="auto">
          <a:xfrm>
            <a:off x="4464641" y="2109508"/>
            <a:ext cx="26057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E</a:t>
            </a:r>
          </a:p>
        </p:txBody>
      </p:sp>
      <p:sp>
        <p:nvSpPr>
          <p:cNvPr id="78" name="Text Box 40"/>
          <p:cNvSpPr txBox="1">
            <a:spLocks noChangeArrowheads="1"/>
          </p:cNvSpPr>
          <p:nvPr/>
        </p:nvSpPr>
        <p:spPr bwMode="auto">
          <a:xfrm>
            <a:off x="4145514" y="3889206"/>
            <a:ext cx="256166"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latin typeface="Times New Roman" panose="02020603050405020304" pitchFamily="18" charset="0"/>
                <a:ea typeface="微软雅黑 Light" panose="020B0502040204020203" pitchFamily="34" charset="-122"/>
              </a:rPr>
              <a:t>F</a:t>
            </a:r>
          </a:p>
        </p:txBody>
      </p:sp>
      <p:sp>
        <p:nvSpPr>
          <p:cNvPr id="79" name="Text Box 41"/>
          <p:cNvSpPr txBox="1">
            <a:spLocks noChangeArrowheads="1"/>
          </p:cNvSpPr>
          <p:nvPr/>
        </p:nvSpPr>
        <p:spPr bwMode="auto">
          <a:xfrm>
            <a:off x="3298862" y="2406574"/>
            <a:ext cx="1181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t>运行 </a:t>
            </a:r>
            <a:r>
              <a:rPr lang="en-US" altLang="zh-CN" dirty="0"/>
              <a:t>P2P </a:t>
            </a:r>
            <a:r>
              <a:rPr lang="zh-CN" altLang="en-US" dirty="0"/>
              <a:t>程序</a:t>
            </a:r>
          </a:p>
        </p:txBody>
      </p:sp>
      <p:sp>
        <p:nvSpPr>
          <p:cNvPr id="80" name="Text Box 42"/>
          <p:cNvSpPr txBox="1">
            <a:spLocks noChangeArrowheads="1"/>
          </p:cNvSpPr>
          <p:nvPr/>
        </p:nvSpPr>
        <p:spPr bwMode="auto">
          <a:xfrm>
            <a:off x="3082159" y="3508302"/>
            <a:ext cx="11810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vl1pPr>
          </a:lstStyle>
          <a:p>
            <a:r>
              <a:rPr lang="zh-CN" altLang="en-US" dirty="0"/>
              <a:t>运行 </a:t>
            </a:r>
            <a:r>
              <a:rPr lang="en-US" altLang="zh-CN" dirty="0"/>
              <a:t>P2P </a:t>
            </a:r>
            <a:r>
              <a:rPr lang="zh-CN" altLang="en-US" dirty="0"/>
              <a:t>程序</a:t>
            </a:r>
          </a:p>
        </p:txBody>
      </p:sp>
      <p:sp>
        <p:nvSpPr>
          <p:cNvPr id="81" name="Line 43"/>
          <p:cNvSpPr>
            <a:spLocks noChangeShapeType="1"/>
          </p:cNvSpPr>
          <p:nvPr/>
        </p:nvSpPr>
        <p:spPr bwMode="auto">
          <a:xfrm flipV="1">
            <a:off x="4451174" y="2400653"/>
            <a:ext cx="401939" cy="15966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2" name="Line 44"/>
          <p:cNvSpPr>
            <a:spLocks noChangeShapeType="1"/>
          </p:cNvSpPr>
          <p:nvPr/>
        </p:nvSpPr>
        <p:spPr bwMode="auto">
          <a:xfrm>
            <a:off x="4202779" y="3693536"/>
            <a:ext cx="240625" cy="1891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3" name="Line 45"/>
          <p:cNvSpPr>
            <a:spLocks noChangeShapeType="1"/>
          </p:cNvSpPr>
          <p:nvPr/>
        </p:nvSpPr>
        <p:spPr bwMode="auto">
          <a:xfrm flipH="1">
            <a:off x="4657244" y="2476970"/>
            <a:ext cx="1753518" cy="1275179"/>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pic>
        <p:nvPicPr>
          <p:cNvPr id="8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0599" y="2283023"/>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91613" y="3010269"/>
            <a:ext cx="484846" cy="67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9650" y="2925367"/>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2802" y="3783244"/>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8253" y="4100788"/>
            <a:ext cx="374018"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6405" y="4168602"/>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1569" y="2209861"/>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29030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arn(outHorizontal)">
                                      <p:cBhvr>
                                        <p:cTn id="7" dur="2000"/>
                                        <p:tgtEl>
                                          <p:spTgt spid="71"/>
                                        </p:tgtEl>
                                      </p:cBhvr>
                                    </p:animEffect>
                                  </p:childTnLst>
                                </p:cTn>
                              </p:par>
                            </p:childTnLst>
                          </p:cTn>
                        </p:par>
                        <p:par>
                          <p:cTn id="8" fill="hold">
                            <p:stCondLst>
                              <p:cond delay="2000"/>
                            </p:stCondLst>
                            <p:childTnLst>
                              <p:par>
                                <p:cTn id="9" presetID="16" presetClass="entr" presetSubtype="42" fill="hold" grpId="0" nodeType="afterEffect">
                                  <p:stCondLst>
                                    <p:cond delay="500"/>
                                  </p:stCondLst>
                                  <p:childTnLst>
                                    <p:set>
                                      <p:cBhvr>
                                        <p:cTn id="10" dur="1" fill="hold">
                                          <p:stCondLst>
                                            <p:cond delay="0"/>
                                          </p:stCondLst>
                                        </p:cTn>
                                        <p:tgtEl>
                                          <p:spTgt spid="83"/>
                                        </p:tgtEl>
                                        <p:attrNameLst>
                                          <p:attrName>style.visibility</p:attrName>
                                        </p:attrNameLst>
                                      </p:cBhvr>
                                      <p:to>
                                        <p:strVal val="visible"/>
                                      </p:to>
                                    </p:set>
                                    <p:animEffect transition="in" filter="barn(outHorizontal)">
                                      <p:cBhvr>
                                        <p:cTn id="11" dur="2000"/>
                                        <p:tgtEl>
                                          <p:spTgt spid="83"/>
                                        </p:tgtEl>
                                      </p:cBhvr>
                                    </p:animEffect>
                                  </p:childTnLst>
                                </p:cTn>
                              </p:par>
                            </p:childTnLst>
                          </p:cTn>
                        </p:par>
                        <p:par>
                          <p:cTn id="12" fill="hold">
                            <p:stCondLst>
                              <p:cond delay="4500"/>
                            </p:stCondLst>
                            <p:childTnLst>
                              <p:par>
                                <p:cTn id="13" presetID="16" presetClass="entr" presetSubtype="42" fill="hold" grpId="0" nodeType="afterEffect">
                                  <p:stCondLst>
                                    <p:cond delay="500"/>
                                  </p:stCondLst>
                                  <p:childTnLst>
                                    <p:set>
                                      <p:cBhvr>
                                        <p:cTn id="14" dur="1" fill="hold">
                                          <p:stCondLst>
                                            <p:cond delay="0"/>
                                          </p:stCondLst>
                                        </p:cTn>
                                        <p:tgtEl>
                                          <p:spTgt spid="76"/>
                                        </p:tgtEl>
                                        <p:attrNameLst>
                                          <p:attrName>style.visibility</p:attrName>
                                        </p:attrNameLst>
                                      </p:cBhvr>
                                      <p:to>
                                        <p:strVal val="visible"/>
                                      </p:to>
                                    </p:set>
                                    <p:animEffect transition="in" filter="barn(outHorizontal)">
                                      <p:cBhvr>
                                        <p:cTn id="15" dur="2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6" grpId="0" animBg="1"/>
      <p:bldP spid="8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7C8CF9C-7AFE-CD2B-B13B-941961133E62}"/>
              </a:ext>
            </a:extLst>
          </p:cNvPr>
          <p:cNvSpPr>
            <a:spLocks noGrp="1"/>
          </p:cNvSpPr>
          <p:nvPr>
            <p:ph type="title"/>
          </p:nvPr>
        </p:nvSpPr>
        <p:spPr>
          <a:xfrm>
            <a:off x="612000" y="144000"/>
            <a:ext cx="7920000" cy="341632"/>
          </a:xfrm>
        </p:spPr>
        <p:txBody>
          <a:bodyPr/>
          <a:lstStyle/>
          <a:p>
            <a:r>
              <a:rPr lang="en-US" altLang="zh-CN" dirty="0"/>
              <a:t>1.3.2  </a:t>
            </a:r>
            <a:r>
              <a:rPr lang="zh-CN" altLang="en-US" dirty="0"/>
              <a:t>互联网的核心部分</a:t>
            </a:r>
          </a:p>
        </p:txBody>
      </p:sp>
      <p:sp>
        <p:nvSpPr>
          <p:cNvPr id="5" name="内容占位符 4"/>
          <p:cNvSpPr>
            <a:spLocks noGrp="1"/>
          </p:cNvSpPr>
          <p:nvPr>
            <p:ph sz="quarter" idx="10"/>
          </p:nvPr>
        </p:nvSpPr>
        <p:spPr>
          <a:xfrm>
            <a:off x="612000" y="899999"/>
            <a:ext cx="7920000" cy="3780000"/>
          </a:xfrm>
        </p:spPr>
        <p:txBody>
          <a:bodyPr/>
          <a:lstStyle/>
          <a:p>
            <a:r>
              <a:rPr lang="zh-CN" altLang="en-US" dirty="0"/>
              <a:t>是互联网中最复杂的部分</a:t>
            </a:r>
          </a:p>
          <a:p>
            <a:r>
              <a:rPr lang="zh-CN" altLang="en-US" dirty="0"/>
              <a:t>向网络边缘中的主机提供连通性，使任何一台主机都能够向其他主机通信</a:t>
            </a:r>
            <a:endParaRPr lang="en-US" altLang="zh-CN" dirty="0"/>
          </a:p>
          <a:p>
            <a:r>
              <a:rPr lang="zh-CN" altLang="en-US" dirty="0"/>
              <a:t>在网络核心部分起特殊作用的是路由器 </a:t>
            </a:r>
            <a:r>
              <a:rPr lang="en-US" altLang="zh-CN" dirty="0"/>
              <a:t> Router</a:t>
            </a:r>
            <a:endParaRPr lang="zh-CN" altLang="en-US" dirty="0"/>
          </a:p>
          <a:p>
            <a:pPr lvl="1"/>
            <a:r>
              <a:rPr lang="zh-CN" altLang="en-US" dirty="0"/>
              <a:t>路由器是实现分组交换 </a:t>
            </a:r>
            <a:r>
              <a:rPr lang="en-US" altLang="zh-CN" dirty="0"/>
              <a:t>(Packet Switching) </a:t>
            </a:r>
            <a:r>
              <a:rPr lang="zh-CN" altLang="en-US" dirty="0"/>
              <a:t>的关键构件</a:t>
            </a:r>
            <a:endParaRPr lang="en-US" altLang="zh-CN" dirty="0"/>
          </a:p>
          <a:p>
            <a:pPr lvl="1"/>
            <a:r>
              <a:rPr lang="zh-CN" altLang="en-US" dirty="0"/>
              <a:t>其任务是转发收到的分组</a:t>
            </a:r>
            <a:endParaRPr lang="en-US" altLang="zh-CN" dirty="0"/>
          </a:p>
          <a:p>
            <a:pPr lvl="1"/>
            <a:r>
              <a:rPr lang="zh-CN" altLang="en-US" dirty="0"/>
              <a:t>分组转发是网络核心部分最重要的功能</a:t>
            </a:r>
          </a:p>
        </p:txBody>
      </p:sp>
      <p:grpSp>
        <p:nvGrpSpPr>
          <p:cNvPr id="6" name="组合 5"/>
          <p:cNvGrpSpPr/>
          <p:nvPr/>
        </p:nvGrpSpPr>
        <p:grpSpPr>
          <a:xfrm>
            <a:off x="4173398" y="2363470"/>
            <a:ext cx="4702629" cy="2316480"/>
            <a:chOff x="1385888" y="1118045"/>
            <a:chExt cx="6299200" cy="3198812"/>
          </a:xfrm>
        </p:grpSpPr>
        <p:sp>
          <p:nvSpPr>
            <p:cNvPr id="7" name="Oval 4"/>
            <p:cNvSpPr>
              <a:spLocks noChangeArrowheads="1"/>
            </p:cNvSpPr>
            <p:nvPr/>
          </p:nvSpPr>
          <p:spPr bwMode="auto">
            <a:xfrm>
              <a:off x="1385888" y="1118045"/>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8" name="Oval 5"/>
            <p:cNvSpPr>
              <a:spLocks noChangeArrowheads="1"/>
            </p:cNvSpPr>
            <p:nvPr/>
          </p:nvSpPr>
          <p:spPr bwMode="auto">
            <a:xfrm>
              <a:off x="2236764" y="1742101"/>
              <a:ext cx="4684539" cy="1901320"/>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9" name="Text Box 79"/>
            <p:cNvSpPr txBox="1">
              <a:spLocks noChangeArrowheads="1"/>
            </p:cNvSpPr>
            <p:nvPr/>
          </p:nvSpPr>
          <p:spPr bwMode="auto">
            <a:xfrm>
              <a:off x="3300774" y="1240001"/>
              <a:ext cx="2505488"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atin typeface="+mj-ea"/>
                  <a:ea typeface="+mj-ea"/>
                </a:defRPr>
              </a:lvl1pPr>
            </a:lstStyle>
            <a:p>
              <a:r>
                <a:rPr lang="zh-CN" altLang="en-US" dirty="0"/>
                <a:t>互联网的边缘部分</a:t>
              </a:r>
            </a:p>
          </p:txBody>
        </p:sp>
        <p:sp>
          <p:nvSpPr>
            <p:cNvPr id="10" name="Text Box 1523"/>
            <p:cNvSpPr txBox="1">
              <a:spLocks noChangeArrowheads="1"/>
            </p:cNvSpPr>
            <p:nvPr/>
          </p:nvSpPr>
          <p:spPr bwMode="auto">
            <a:xfrm>
              <a:off x="3319922" y="1842941"/>
              <a:ext cx="877080"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atin typeface="+mj-ea"/>
                  <a:ea typeface="+mj-ea"/>
                </a:defRPr>
              </a:lvl1pPr>
            </a:lstStyle>
            <a:p>
              <a:r>
                <a:rPr lang="zh-CN" altLang="en-US" dirty="0">
                  <a:solidFill>
                    <a:srgbClr val="D4237A"/>
                  </a:solidFill>
                </a:rPr>
                <a:t>路由器</a:t>
              </a:r>
            </a:p>
          </p:txBody>
        </p:sp>
        <p:sp>
          <p:nvSpPr>
            <p:cNvPr id="11" name="Text Box 1523"/>
            <p:cNvSpPr txBox="1">
              <a:spLocks noChangeArrowheads="1"/>
            </p:cNvSpPr>
            <p:nvPr/>
          </p:nvSpPr>
          <p:spPr bwMode="auto">
            <a:xfrm>
              <a:off x="2775188" y="2508607"/>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cxnSp>
          <p:nvCxnSpPr>
            <p:cNvPr id="12" name="直接连接符 11"/>
            <p:cNvCxnSpPr/>
            <p:nvPr/>
          </p:nvCxnSpPr>
          <p:spPr>
            <a:xfrm flipV="1">
              <a:off x="3829114" y="2242472"/>
              <a:ext cx="726827" cy="7889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167323" y="3210766"/>
              <a:ext cx="1071833" cy="1096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15964" y="2173289"/>
              <a:ext cx="1118900" cy="32373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27609" y="3081385"/>
              <a:ext cx="517467" cy="139001"/>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198733" y="2335157"/>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509041" y="3010286"/>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5996091" y="2603380"/>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3126458" y="2702276"/>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2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6628" y="2899054"/>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3649" y="3144219"/>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直接连接符 21"/>
            <p:cNvCxnSpPr/>
            <p:nvPr/>
          </p:nvCxnSpPr>
          <p:spPr>
            <a:xfrm flipH="1" flipV="1">
              <a:off x="3734378" y="2295964"/>
              <a:ext cx="112810" cy="85537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3" name="Text Box 78"/>
            <p:cNvSpPr txBox="1">
              <a:spLocks noChangeArrowheads="1"/>
            </p:cNvSpPr>
            <p:nvPr/>
          </p:nvSpPr>
          <p:spPr bwMode="auto">
            <a:xfrm>
              <a:off x="3711766" y="2551414"/>
              <a:ext cx="1896435"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atin typeface="+mj-ea"/>
                  <a:ea typeface="+mj-ea"/>
                </a:defRPr>
              </a:lvl1pPr>
            </a:lstStyle>
            <a:p>
              <a:r>
                <a:rPr lang="zh-CN" altLang="en-US" dirty="0"/>
                <a:t>互联网的核心部分</a:t>
              </a:r>
            </a:p>
          </p:txBody>
        </p:sp>
        <p:cxnSp>
          <p:nvCxnSpPr>
            <p:cNvPr id="24" name="直接连接符 23"/>
            <p:cNvCxnSpPr/>
            <p:nvPr/>
          </p:nvCxnSpPr>
          <p:spPr>
            <a:xfrm flipV="1">
              <a:off x="5435194" y="2256354"/>
              <a:ext cx="55682" cy="88199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5" name="Group 162"/>
            <p:cNvGrpSpPr/>
            <p:nvPr/>
          </p:nvGrpSpPr>
          <p:grpSpPr bwMode="auto">
            <a:xfrm>
              <a:off x="4281237" y="2016981"/>
              <a:ext cx="736809" cy="400824"/>
              <a:chOff x="130" y="1123"/>
              <a:chExt cx="568" cy="309"/>
            </a:xfrm>
          </p:grpSpPr>
          <p:sp>
            <p:nvSpPr>
              <p:cNvPr id="8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8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9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9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9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pic>
          <p:nvPicPr>
            <p:cNvPr id="26"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8782" y="2962615"/>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2133" y="2214150"/>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Group 138"/>
            <p:cNvGrpSpPr/>
            <p:nvPr/>
          </p:nvGrpSpPr>
          <p:grpSpPr bwMode="auto">
            <a:xfrm>
              <a:off x="5059557" y="2958724"/>
              <a:ext cx="736809" cy="400824"/>
              <a:chOff x="130" y="1123"/>
              <a:chExt cx="568" cy="309"/>
            </a:xfrm>
          </p:grpSpPr>
          <p:sp>
            <p:nvSpPr>
              <p:cNvPr id="7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7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29" name="Group 126"/>
            <p:cNvGrpSpPr/>
            <p:nvPr/>
          </p:nvGrpSpPr>
          <p:grpSpPr bwMode="auto">
            <a:xfrm>
              <a:off x="3683228" y="2987262"/>
              <a:ext cx="736809" cy="400824"/>
              <a:chOff x="130" y="1123"/>
              <a:chExt cx="568" cy="309"/>
            </a:xfrm>
          </p:grpSpPr>
          <p:sp>
            <p:nvSpPr>
              <p:cNvPr id="6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6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6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pic>
          <p:nvPicPr>
            <p:cNvPr id="30"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0043" y="2211556"/>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直接连接符 30"/>
            <p:cNvCxnSpPr/>
            <p:nvPr/>
          </p:nvCxnSpPr>
          <p:spPr>
            <a:xfrm>
              <a:off x="2236764" y="2363535"/>
              <a:ext cx="670083" cy="26624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236764" y="2649548"/>
              <a:ext cx="704672" cy="39018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3" name="Group 124"/>
            <p:cNvGrpSpPr/>
            <p:nvPr/>
          </p:nvGrpSpPr>
          <p:grpSpPr bwMode="auto">
            <a:xfrm>
              <a:off x="2649360" y="2428183"/>
              <a:ext cx="736809" cy="400824"/>
              <a:chOff x="130" y="1123"/>
              <a:chExt cx="568" cy="309"/>
            </a:xfrm>
          </p:grpSpPr>
          <p:sp>
            <p:nvSpPr>
              <p:cNvPr id="49"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0"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1"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2"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3"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4"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5"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6"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57"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58"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59"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sp>
          <p:nvSpPr>
            <p:cNvPr id="34" name="Text Box 1523"/>
            <p:cNvSpPr txBox="1">
              <a:spLocks noChangeArrowheads="1"/>
            </p:cNvSpPr>
            <p:nvPr/>
          </p:nvSpPr>
          <p:spPr bwMode="auto">
            <a:xfrm>
              <a:off x="2686895" y="2434101"/>
              <a:ext cx="780544"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200">
                  <a:latin typeface="+mj-ea"/>
                  <a:ea typeface="+mj-ea"/>
                </a:defRPr>
              </a:lvl1pPr>
            </a:lstStyle>
            <a:p>
              <a:r>
                <a:rPr lang="zh-CN" altLang="en-US" dirty="0">
                  <a:latin typeface="+mn-ea"/>
                  <a:ea typeface="+mn-ea"/>
                </a:rPr>
                <a:t>网络</a:t>
              </a:r>
            </a:p>
          </p:txBody>
        </p:sp>
        <p:cxnSp>
          <p:nvCxnSpPr>
            <p:cNvPr id="35" name="直接连接符 34"/>
            <p:cNvCxnSpPr/>
            <p:nvPr/>
          </p:nvCxnSpPr>
          <p:spPr>
            <a:xfrm flipH="1">
              <a:off x="6094889" y="2196129"/>
              <a:ext cx="826414" cy="419902"/>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6137091" y="2579524"/>
              <a:ext cx="826416" cy="458805"/>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7" name="Group 150"/>
            <p:cNvGrpSpPr/>
            <p:nvPr/>
          </p:nvGrpSpPr>
          <p:grpSpPr bwMode="auto">
            <a:xfrm>
              <a:off x="5660160" y="2384079"/>
              <a:ext cx="736809" cy="400824"/>
              <a:chOff x="130" y="1123"/>
              <a:chExt cx="568" cy="309"/>
            </a:xfrm>
          </p:grpSpPr>
          <p:sp>
            <p:nvSpPr>
              <p:cNvPr id="38"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39"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0"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1"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2"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3"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4"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5"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dirty="0">
                  <a:solidFill>
                    <a:srgbClr val="368AD6"/>
                  </a:solidFill>
                  <a:latin typeface="Times New Roman" panose="02020603050405020304" pitchFamily="18" charset="0"/>
                  <a:ea typeface="微软雅黑 Light" panose="020B0502040204020203" pitchFamily="34" charset="-122"/>
                </a:endParaRPr>
              </a:p>
            </p:txBody>
          </p:sp>
          <p:sp>
            <p:nvSpPr>
              <p:cNvPr id="46"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7"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8"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grpSp>
      <p:sp>
        <p:nvSpPr>
          <p:cNvPr id="93" name="矩形 92"/>
          <p:cNvSpPr/>
          <p:nvPr/>
        </p:nvSpPr>
        <p:spPr>
          <a:xfrm>
            <a:off x="454496" y="2156796"/>
            <a:ext cx="3649807" cy="2785378"/>
          </a:xfrm>
          <a:prstGeom prst="rect">
            <a:avLst/>
          </a:prstGeom>
        </p:spPr>
        <p:txBody>
          <a:bodyPr/>
          <a:lstStyle/>
          <a:p>
            <a:pPr marL="342900" indent="-342900">
              <a:lnSpc>
                <a:spcPts val="3000"/>
              </a:lnSpc>
              <a:spcBef>
                <a:spcPts val="0"/>
              </a:spcBef>
              <a:spcAft>
                <a:spcPts val="0"/>
              </a:spcAft>
              <a:buClr>
                <a:srgbClr val="0066CC"/>
              </a:buClr>
              <a:buFont typeface="Wingdings" panose="05000000000000000000" pitchFamily="2" charset="2"/>
              <a:buChar char="l"/>
            </a:pPr>
            <a:endParaRPr lang="zh-CN" altLang="en-US" sz="2000" b="1" dirty="0">
              <a:latin typeface="微软雅黑" pitchFamily="34" charset="-122"/>
              <a:ea typeface="微软雅黑" pitchFamily="34" charset="-122"/>
            </a:endParaRPr>
          </a:p>
        </p:txBody>
      </p:sp>
    </p:spTree>
    <p:extLst>
      <p:ext uri="{BB962C8B-B14F-4D97-AF65-F5344CB8AC3E}">
        <p14:creationId xmlns:p14="http://schemas.microsoft.com/office/powerpoint/2010/main" val="40759939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D7FB836-F1E3-12BC-7C01-467BBD4E165C}"/>
              </a:ext>
            </a:extLst>
          </p:cNvPr>
          <p:cNvSpPr>
            <a:spLocks noGrp="1"/>
          </p:cNvSpPr>
          <p:nvPr>
            <p:ph type="title"/>
          </p:nvPr>
        </p:nvSpPr>
        <p:spPr>
          <a:xfrm>
            <a:off x="612000" y="144000"/>
            <a:ext cx="7920000" cy="341632"/>
          </a:xfrm>
        </p:spPr>
        <p:txBody>
          <a:bodyPr/>
          <a:lstStyle/>
          <a:p>
            <a:r>
              <a:rPr lang="en-US" altLang="zh-CN" dirty="0"/>
              <a:t>1.3.2  </a:t>
            </a:r>
            <a:r>
              <a:rPr lang="zh-CN" altLang="en-US" dirty="0"/>
              <a:t>互联网的核心部分</a:t>
            </a:r>
          </a:p>
        </p:txBody>
      </p:sp>
      <p:sp>
        <p:nvSpPr>
          <p:cNvPr id="3" name="内容占位符 2"/>
          <p:cNvSpPr>
            <a:spLocks noGrp="1"/>
          </p:cNvSpPr>
          <p:nvPr>
            <p:ph sz="quarter" idx="10"/>
          </p:nvPr>
        </p:nvSpPr>
        <p:spPr>
          <a:xfrm>
            <a:off x="612000" y="899999"/>
            <a:ext cx="7920000" cy="3780000"/>
          </a:xfrm>
        </p:spPr>
        <p:txBody>
          <a:bodyPr/>
          <a:lstStyle/>
          <a:p>
            <a:r>
              <a:rPr lang="zh-CN" altLang="en-US" dirty="0"/>
              <a:t>典型交换技术包括：</a:t>
            </a:r>
          </a:p>
          <a:p>
            <a:pPr lvl="1"/>
            <a:r>
              <a:rPr lang="zh-CN" altLang="en-US" dirty="0"/>
              <a:t>电路交换：电话网络</a:t>
            </a:r>
          </a:p>
          <a:p>
            <a:pPr lvl="1"/>
            <a:r>
              <a:rPr lang="zh-CN" altLang="en-US" dirty="0"/>
              <a:t>分组交换：电报网络</a:t>
            </a:r>
          </a:p>
          <a:p>
            <a:pPr lvl="1"/>
            <a:r>
              <a:rPr lang="zh-CN" altLang="en-US" dirty="0"/>
              <a:t>报文交换：计算机网络</a:t>
            </a:r>
          </a:p>
        </p:txBody>
      </p:sp>
    </p:spTree>
    <p:extLst>
      <p:ext uri="{BB962C8B-B14F-4D97-AF65-F5344CB8AC3E}">
        <p14:creationId xmlns:p14="http://schemas.microsoft.com/office/powerpoint/2010/main" val="28014810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36AA71B-3ECE-12B1-B7EE-1E486C669D4B}"/>
              </a:ext>
            </a:extLst>
          </p:cNvPr>
          <p:cNvSpPr>
            <a:spLocks noGrp="1"/>
          </p:cNvSpPr>
          <p:nvPr>
            <p:ph type="title"/>
          </p:nvPr>
        </p:nvSpPr>
        <p:spPr>
          <a:xfrm>
            <a:off x="612000" y="144000"/>
            <a:ext cx="7920000" cy="341632"/>
          </a:xfrm>
        </p:spPr>
        <p:txBody>
          <a:bodyPr/>
          <a:lstStyle/>
          <a:p>
            <a:r>
              <a:rPr lang="en-US" altLang="zh-CN" dirty="0"/>
              <a:t>1. </a:t>
            </a:r>
            <a:r>
              <a:rPr lang="zh-CN" altLang="en-US" dirty="0"/>
              <a:t>电路交换 </a:t>
            </a:r>
            <a:r>
              <a:rPr lang="en-US" altLang="zh-CN" dirty="0"/>
              <a:t>Circuit Switching</a:t>
            </a:r>
            <a:endParaRPr lang="zh-CN" altLang="en-US" dirty="0"/>
          </a:p>
        </p:txBody>
      </p:sp>
      <p:sp>
        <p:nvSpPr>
          <p:cNvPr id="103" name="内容占位符 102"/>
          <p:cNvSpPr>
            <a:spLocks noGrp="1"/>
          </p:cNvSpPr>
          <p:nvPr>
            <p:ph sz="quarter" idx="10"/>
          </p:nvPr>
        </p:nvSpPr>
        <p:spPr>
          <a:xfrm>
            <a:off x="612000" y="899999"/>
            <a:ext cx="7920000" cy="3780000"/>
          </a:xfrm>
        </p:spPr>
        <p:txBody>
          <a:bodyPr/>
          <a:lstStyle/>
          <a:p>
            <a:r>
              <a:rPr lang="zh-CN" altLang="en-US" dirty="0"/>
              <a:t>通信链路</a:t>
            </a:r>
            <a:endParaRPr lang="en-US" altLang="zh-CN" dirty="0"/>
          </a:p>
          <a:p>
            <a:pPr lvl="1"/>
            <a:r>
              <a:rPr lang="zh-CN" altLang="en-US" dirty="0"/>
              <a:t>电线对的数量与电话机数量的平方（</a:t>
            </a:r>
            <a:r>
              <a:rPr lang="en-US" altLang="zh-CN" dirty="0"/>
              <a:t>N2</a:t>
            </a:r>
            <a:r>
              <a:rPr lang="zh-CN" altLang="en-US" dirty="0"/>
              <a:t>）成正比</a:t>
            </a:r>
            <a:endParaRPr lang="en-US" altLang="zh-CN" dirty="0"/>
          </a:p>
          <a:p>
            <a:pPr lvl="1"/>
            <a:r>
              <a:rPr lang="en-US" altLang="zh-CN" dirty="0"/>
              <a:t>N(N –1)/2</a:t>
            </a:r>
            <a:endParaRPr lang="zh-CN" altLang="en-US" dirty="0"/>
          </a:p>
        </p:txBody>
      </p:sp>
    </p:spTree>
    <p:extLst>
      <p:ext uri="{BB962C8B-B14F-4D97-AF65-F5344CB8AC3E}">
        <p14:creationId xmlns:p14="http://schemas.microsoft.com/office/powerpoint/2010/main" val="2434866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C09F8-2826-7631-B298-DF68846DF2C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64E9463-390E-FC38-7026-B7D8D5D77E1D}"/>
              </a:ext>
            </a:extLst>
          </p:cNvPr>
          <p:cNvSpPr>
            <a:spLocks noGrp="1"/>
          </p:cNvSpPr>
          <p:nvPr>
            <p:ph type="title"/>
          </p:nvPr>
        </p:nvSpPr>
        <p:spPr>
          <a:xfrm>
            <a:off x="612000" y="144000"/>
            <a:ext cx="7920000" cy="341632"/>
          </a:xfrm>
        </p:spPr>
        <p:txBody>
          <a:bodyPr/>
          <a:lstStyle/>
          <a:p>
            <a:r>
              <a:rPr lang="en-US" altLang="zh-CN" dirty="0"/>
              <a:t>1. </a:t>
            </a:r>
            <a:r>
              <a:rPr lang="zh-CN" altLang="en-US" dirty="0"/>
              <a:t>电路交换 </a:t>
            </a:r>
            <a:r>
              <a:rPr lang="en-US" altLang="zh-CN" dirty="0"/>
              <a:t>Circuit Switching</a:t>
            </a:r>
            <a:endParaRPr lang="zh-CN" altLang="en-US" dirty="0"/>
          </a:p>
        </p:txBody>
      </p:sp>
      <p:sp>
        <p:nvSpPr>
          <p:cNvPr id="103" name="内容占位符 102">
            <a:extLst>
              <a:ext uri="{FF2B5EF4-FFF2-40B4-BE49-F238E27FC236}">
                <a16:creationId xmlns:a16="http://schemas.microsoft.com/office/drawing/2014/main" id="{63F3628E-B3FB-B0C3-E773-644A8757FECC}"/>
              </a:ext>
            </a:extLst>
          </p:cNvPr>
          <p:cNvSpPr>
            <a:spLocks noGrp="1"/>
          </p:cNvSpPr>
          <p:nvPr>
            <p:ph sz="quarter" idx="10"/>
          </p:nvPr>
        </p:nvSpPr>
        <p:spPr>
          <a:xfrm>
            <a:off x="612000" y="899999"/>
            <a:ext cx="7920000" cy="3780000"/>
          </a:xfrm>
        </p:spPr>
        <p:txBody>
          <a:bodyPr/>
          <a:lstStyle/>
          <a:p>
            <a:r>
              <a:rPr lang="zh-CN" altLang="en-US" dirty="0">
                <a:hlinkClick r:id="rId3"/>
              </a:rPr>
              <a:t>绳路</a:t>
            </a:r>
            <a:endParaRPr lang="en-US" altLang="zh-CN" dirty="0"/>
          </a:p>
          <a:p>
            <a:pPr lvl="1"/>
            <a:r>
              <a:rPr lang="zh-CN" altLang="en-US" dirty="0"/>
              <a:t>早期方式</a:t>
            </a:r>
          </a:p>
          <a:p>
            <a:pPr lvl="1"/>
            <a:endParaRPr lang="zh-CN" altLang="en-US" dirty="0"/>
          </a:p>
        </p:txBody>
      </p:sp>
      <p:cxnSp>
        <p:nvCxnSpPr>
          <p:cNvPr id="7" name="直接连接符 6">
            <a:extLst>
              <a:ext uri="{FF2B5EF4-FFF2-40B4-BE49-F238E27FC236}">
                <a16:creationId xmlns:a16="http://schemas.microsoft.com/office/drawing/2014/main" id="{7B14580A-43F0-1955-2640-F54771942636}"/>
              </a:ext>
            </a:extLst>
          </p:cNvPr>
          <p:cNvCxnSpPr/>
          <p:nvPr/>
        </p:nvCxnSpPr>
        <p:spPr>
          <a:xfrm>
            <a:off x="951151" y="2859699"/>
            <a:ext cx="1324306" cy="0"/>
          </a:xfrm>
          <a:prstGeom prst="line">
            <a:avLst/>
          </a:prstGeom>
          <a:ln w="25400">
            <a:solidFill>
              <a:srgbClr val="99FF99"/>
            </a:solidFill>
          </a:ln>
        </p:spPr>
        <p:style>
          <a:lnRef idx="1">
            <a:schemeClr val="accent1"/>
          </a:lnRef>
          <a:fillRef idx="0">
            <a:schemeClr val="accent1"/>
          </a:fillRef>
          <a:effectRef idx="0">
            <a:schemeClr val="accent1"/>
          </a:effectRef>
          <a:fontRef idx="minor">
            <a:schemeClr val="tx1"/>
          </a:fontRef>
        </p:style>
      </p:cxnSp>
      <p:pic>
        <p:nvPicPr>
          <p:cNvPr id="9" name="图片 12">
            <a:extLst>
              <a:ext uri="{FF2B5EF4-FFF2-40B4-BE49-F238E27FC236}">
                <a16:creationId xmlns:a16="http://schemas.microsoft.com/office/drawing/2014/main" id="{30752008-74FB-153B-A5BD-CF7AB3FFD2F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161" y="2638958"/>
            <a:ext cx="389457" cy="46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3">
            <a:extLst>
              <a:ext uri="{FF2B5EF4-FFF2-40B4-BE49-F238E27FC236}">
                <a16:creationId xmlns:a16="http://schemas.microsoft.com/office/drawing/2014/main" id="{9F32AD53-2442-8F8A-1A2B-5696F8147A6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69364" y="2627217"/>
            <a:ext cx="389456" cy="46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直接连接符 18">
            <a:extLst>
              <a:ext uri="{FF2B5EF4-FFF2-40B4-BE49-F238E27FC236}">
                <a16:creationId xmlns:a16="http://schemas.microsoft.com/office/drawing/2014/main" id="{1808218C-8692-DC4E-CDE4-CD7949B419ED}"/>
              </a:ext>
            </a:extLst>
          </p:cNvPr>
          <p:cNvCxnSpPr/>
          <p:nvPr/>
        </p:nvCxnSpPr>
        <p:spPr bwMode="auto">
          <a:xfrm>
            <a:off x="6313553" y="3512726"/>
            <a:ext cx="1262063"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58F0269-D5DF-F235-AC00-8BDF1648EBF7}"/>
              </a:ext>
            </a:extLst>
          </p:cNvPr>
          <p:cNvCxnSpPr/>
          <p:nvPr/>
        </p:nvCxnSpPr>
        <p:spPr bwMode="auto">
          <a:xfrm>
            <a:off x="5849938" y="2980207"/>
            <a:ext cx="2161391"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E650857-0E74-F434-3A2E-D84C91B84AAD}"/>
              </a:ext>
            </a:extLst>
          </p:cNvPr>
          <p:cNvCxnSpPr/>
          <p:nvPr/>
        </p:nvCxnSpPr>
        <p:spPr bwMode="auto">
          <a:xfrm>
            <a:off x="6313553" y="2429726"/>
            <a:ext cx="1262063"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0598A5A-38B5-068A-7D9A-A6656F0E16EE}"/>
              </a:ext>
            </a:extLst>
          </p:cNvPr>
          <p:cNvCxnSpPr/>
          <p:nvPr/>
        </p:nvCxnSpPr>
        <p:spPr bwMode="auto">
          <a:xfrm>
            <a:off x="6327504" y="2449802"/>
            <a:ext cx="0" cy="106292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614CA6D-DCBC-EB33-F9D2-5A512019D63E}"/>
              </a:ext>
            </a:extLst>
          </p:cNvPr>
          <p:cNvCxnSpPr/>
          <p:nvPr/>
        </p:nvCxnSpPr>
        <p:spPr bwMode="auto">
          <a:xfrm>
            <a:off x="7585275" y="2449802"/>
            <a:ext cx="0" cy="106292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853679B-BF46-92DC-29B3-DD81A841D8D6}"/>
              </a:ext>
            </a:extLst>
          </p:cNvPr>
          <p:cNvCxnSpPr/>
          <p:nvPr/>
        </p:nvCxnSpPr>
        <p:spPr bwMode="auto">
          <a:xfrm>
            <a:off x="6946731" y="2093732"/>
            <a:ext cx="0" cy="173174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44AEEC4-DA79-3598-8AFB-09D0A1219EAB}"/>
              </a:ext>
            </a:extLst>
          </p:cNvPr>
          <p:cNvCxnSpPr/>
          <p:nvPr/>
        </p:nvCxnSpPr>
        <p:spPr bwMode="auto">
          <a:xfrm flipH="1">
            <a:off x="6375798" y="2093732"/>
            <a:ext cx="438933" cy="28422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4098720B-40F6-6E58-A888-717D9F9B82D8}"/>
              </a:ext>
            </a:extLst>
          </p:cNvPr>
          <p:cNvCxnSpPr/>
          <p:nvPr/>
        </p:nvCxnSpPr>
        <p:spPr bwMode="auto">
          <a:xfrm flipH="1">
            <a:off x="7008976" y="3565556"/>
            <a:ext cx="501177" cy="28105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E6DADFBE-897B-1C13-CA10-576AF847C3AC}"/>
              </a:ext>
            </a:extLst>
          </p:cNvPr>
          <p:cNvCxnSpPr/>
          <p:nvPr/>
        </p:nvCxnSpPr>
        <p:spPr bwMode="auto">
          <a:xfrm>
            <a:off x="7008976" y="2084223"/>
            <a:ext cx="576300" cy="29373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BD32546-3C70-1C0C-3408-0A7B19DDD860}"/>
              </a:ext>
            </a:extLst>
          </p:cNvPr>
          <p:cNvCxnSpPr/>
          <p:nvPr/>
        </p:nvCxnSpPr>
        <p:spPr bwMode="auto">
          <a:xfrm flipV="1">
            <a:off x="5849938" y="2429726"/>
            <a:ext cx="389566" cy="52935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70BDDCE-F66C-D294-3EDF-5C7E210158AB}"/>
              </a:ext>
            </a:extLst>
          </p:cNvPr>
          <p:cNvCxnSpPr/>
          <p:nvPr/>
        </p:nvCxnSpPr>
        <p:spPr bwMode="auto">
          <a:xfrm flipH="1" flipV="1">
            <a:off x="5840280" y="3004508"/>
            <a:ext cx="349858" cy="47969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C376667-183D-C9E4-34E5-F786562201CB}"/>
              </a:ext>
            </a:extLst>
          </p:cNvPr>
          <p:cNvCxnSpPr/>
          <p:nvPr/>
        </p:nvCxnSpPr>
        <p:spPr bwMode="auto">
          <a:xfrm flipH="1" flipV="1">
            <a:off x="6266333" y="3565556"/>
            <a:ext cx="597763" cy="30957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FCD4ED3-99E4-F27A-EAA1-685B91CC0D61}"/>
              </a:ext>
            </a:extLst>
          </p:cNvPr>
          <p:cNvCxnSpPr/>
          <p:nvPr/>
        </p:nvCxnSpPr>
        <p:spPr bwMode="auto">
          <a:xfrm flipH="1" flipV="1">
            <a:off x="7642154" y="2477273"/>
            <a:ext cx="424981" cy="50927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1493704-9A58-441E-17B6-895E6C76DC75}"/>
              </a:ext>
            </a:extLst>
          </p:cNvPr>
          <p:cNvCxnSpPr/>
          <p:nvPr/>
        </p:nvCxnSpPr>
        <p:spPr bwMode="auto">
          <a:xfrm flipH="1">
            <a:off x="7642154" y="3004508"/>
            <a:ext cx="369175" cy="48180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D996A58C-F84A-D80E-C80F-AA88F316BE89}"/>
              </a:ext>
            </a:extLst>
          </p:cNvPr>
          <p:cNvCxnSpPr/>
          <p:nvPr/>
        </p:nvCxnSpPr>
        <p:spPr bwMode="auto">
          <a:xfrm flipH="1" flipV="1">
            <a:off x="6327504" y="2429726"/>
            <a:ext cx="1248111" cy="108088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B8FFA0FE-F076-7DA0-3A18-AEE5056834A0}"/>
              </a:ext>
            </a:extLst>
          </p:cNvPr>
          <p:cNvCxnSpPr/>
          <p:nvPr/>
        </p:nvCxnSpPr>
        <p:spPr bwMode="auto">
          <a:xfrm flipV="1">
            <a:off x="6327504" y="2477273"/>
            <a:ext cx="1189087" cy="100903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913A427-C10D-6A67-2CFB-EAA932BACBA2}"/>
              </a:ext>
            </a:extLst>
          </p:cNvPr>
          <p:cNvCxnSpPr/>
          <p:nvPr/>
        </p:nvCxnSpPr>
        <p:spPr bwMode="auto">
          <a:xfrm flipH="1" flipV="1">
            <a:off x="5840280" y="2956963"/>
            <a:ext cx="1676312" cy="52934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65AA750A-3C1C-4943-CC13-707CD85BCA01}"/>
              </a:ext>
            </a:extLst>
          </p:cNvPr>
          <p:cNvCxnSpPr/>
          <p:nvPr/>
        </p:nvCxnSpPr>
        <p:spPr bwMode="auto">
          <a:xfrm flipH="1" flipV="1">
            <a:off x="6375798" y="2429726"/>
            <a:ext cx="1546457" cy="57795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D43D9EF-C7D7-F251-009E-756DDB639817}"/>
              </a:ext>
            </a:extLst>
          </p:cNvPr>
          <p:cNvCxnSpPr/>
          <p:nvPr/>
        </p:nvCxnSpPr>
        <p:spPr bwMode="auto">
          <a:xfrm flipV="1">
            <a:off x="6327504" y="2142335"/>
            <a:ext cx="535518" cy="134186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42744297-0014-BC85-12F8-2F5956FF2AC1}"/>
              </a:ext>
            </a:extLst>
          </p:cNvPr>
          <p:cNvCxnSpPr/>
          <p:nvPr/>
        </p:nvCxnSpPr>
        <p:spPr bwMode="auto">
          <a:xfrm flipH="1" flipV="1">
            <a:off x="6959609" y="2093732"/>
            <a:ext cx="616007" cy="141688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39BA5DD-AACB-5973-F206-06699A40A00E}"/>
              </a:ext>
            </a:extLst>
          </p:cNvPr>
          <p:cNvCxnSpPr/>
          <p:nvPr/>
        </p:nvCxnSpPr>
        <p:spPr bwMode="auto">
          <a:xfrm flipV="1">
            <a:off x="6327504" y="2999226"/>
            <a:ext cx="1683824" cy="48497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84B5E3C-A6F7-3A16-1875-4C6587B1B979}"/>
              </a:ext>
            </a:extLst>
          </p:cNvPr>
          <p:cNvCxnSpPr/>
          <p:nvPr/>
        </p:nvCxnSpPr>
        <p:spPr bwMode="auto">
          <a:xfrm flipV="1">
            <a:off x="5902524" y="2429726"/>
            <a:ext cx="1690263" cy="55682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94DC747-4121-6CEA-18BE-E6BE752791C6}"/>
              </a:ext>
            </a:extLst>
          </p:cNvPr>
          <p:cNvCxnSpPr/>
          <p:nvPr/>
        </p:nvCxnSpPr>
        <p:spPr bwMode="auto">
          <a:xfrm flipV="1">
            <a:off x="6960683" y="2449802"/>
            <a:ext cx="614934" cy="136933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B6D5DF49-ACE0-E25D-DA61-C8D1DEC4D9EF}"/>
              </a:ext>
            </a:extLst>
          </p:cNvPr>
          <p:cNvCxnSpPr/>
          <p:nvPr/>
        </p:nvCxnSpPr>
        <p:spPr bwMode="auto">
          <a:xfrm flipH="1" flipV="1">
            <a:off x="6327504" y="2429726"/>
            <a:ext cx="589177" cy="136827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82924A6-A784-9395-DD64-188580B9989E}"/>
              </a:ext>
            </a:extLst>
          </p:cNvPr>
          <p:cNvCxnSpPr/>
          <p:nvPr/>
        </p:nvCxnSpPr>
        <p:spPr bwMode="auto">
          <a:xfrm flipV="1">
            <a:off x="7008976" y="2956963"/>
            <a:ext cx="1002353" cy="84104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DCFEB13-E49C-EA5E-6957-7B53602D227E}"/>
              </a:ext>
            </a:extLst>
          </p:cNvPr>
          <p:cNvCxnSpPr/>
          <p:nvPr/>
        </p:nvCxnSpPr>
        <p:spPr bwMode="auto">
          <a:xfrm flipH="1" flipV="1">
            <a:off x="5902524" y="2969642"/>
            <a:ext cx="1058159" cy="85583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1902503-1ECE-2DBA-D2F5-ABB1D2E7807E}"/>
              </a:ext>
            </a:extLst>
          </p:cNvPr>
          <p:cNvCxnSpPr/>
          <p:nvPr/>
        </p:nvCxnSpPr>
        <p:spPr bwMode="auto">
          <a:xfrm flipV="1">
            <a:off x="5889646" y="2142335"/>
            <a:ext cx="925084" cy="86534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24D8C44-D62F-BD45-978E-AC3C4BCB85C1}"/>
              </a:ext>
            </a:extLst>
          </p:cNvPr>
          <p:cNvCxnSpPr/>
          <p:nvPr/>
        </p:nvCxnSpPr>
        <p:spPr bwMode="auto">
          <a:xfrm flipH="1" flipV="1">
            <a:off x="6960683" y="2093732"/>
            <a:ext cx="961572" cy="90549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pic>
        <p:nvPicPr>
          <p:cNvPr id="47" name="图片 52">
            <a:extLst>
              <a:ext uri="{FF2B5EF4-FFF2-40B4-BE49-F238E27FC236}">
                <a16:creationId xmlns:a16="http://schemas.microsoft.com/office/drawing/2014/main" id="{D26AB841-E9EE-774D-6D90-BADD000C931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1020" y="2298533"/>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图片 53">
            <a:extLst>
              <a:ext uri="{FF2B5EF4-FFF2-40B4-BE49-F238E27FC236}">
                <a16:creationId xmlns:a16="http://schemas.microsoft.com/office/drawing/2014/main" id="{3AA42B08-D149-9CE5-00D3-D6425DDF4F4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00271" y="2298533"/>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图片 60">
            <a:extLst>
              <a:ext uri="{FF2B5EF4-FFF2-40B4-BE49-F238E27FC236}">
                <a16:creationId xmlns:a16="http://schemas.microsoft.com/office/drawing/2014/main" id="{66458D7E-DFD2-21B9-8ECB-D1FE9CBDE3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6579" y="2828210"/>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61">
            <a:extLst>
              <a:ext uri="{FF2B5EF4-FFF2-40B4-BE49-F238E27FC236}">
                <a16:creationId xmlns:a16="http://schemas.microsoft.com/office/drawing/2014/main" id="{9BCB36C9-5291-CFF1-4A7D-5CE25FD71F4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46033" y="2828210"/>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图片 55">
            <a:extLst>
              <a:ext uri="{FF2B5EF4-FFF2-40B4-BE49-F238E27FC236}">
                <a16:creationId xmlns:a16="http://schemas.microsoft.com/office/drawing/2014/main" id="{54DF5354-8BEB-29A3-D77F-DC81812B08E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1020" y="3360781"/>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图片 56">
            <a:extLst>
              <a:ext uri="{FF2B5EF4-FFF2-40B4-BE49-F238E27FC236}">
                <a16:creationId xmlns:a16="http://schemas.microsoft.com/office/drawing/2014/main" id="{D34DD6DC-C478-7610-9DAD-6CB8377EE59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00271" y="3360781"/>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图片 58">
            <a:extLst>
              <a:ext uri="{FF2B5EF4-FFF2-40B4-BE49-F238E27FC236}">
                <a16:creationId xmlns:a16="http://schemas.microsoft.com/office/drawing/2014/main" id="{0A2E5B1F-4442-452A-577E-48A535ED780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41306" y="1933131"/>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图片 59">
            <a:extLst>
              <a:ext uri="{FF2B5EF4-FFF2-40B4-BE49-F238E27FC236}">
                <a16:creationId xmlns:a16="http://schemas.microsoft.com/office/drawing/2014/main" id="{1424F28C-B338-81C7-80C2-431658F8B74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41306" y="3723288"/>
            <a:ext cx="349679" cy="30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直接连接符 56">
            <a:extLst>
              <a:ext uri="{FF2B5EF4-FFF2-40B4-BE49-F238E27FC236}">
                <a16:creationId xmlns:a16="http://schemas.microsoft.com/office/drawing/2014/main" id="{83F17D88-02CF-C251-1728-F4AFA1A5B76D}"/>
              </a:ext>
            </a:extLst>
          </p:cNvPr>
          <p:cNvCxnSpPr/>
          <p:nvPr/>
        </p:nvCxnSpPr>
        <p:spPr>
          <a:xfrm>
            <a:off x="3174604" y="2682355"/>
            <a:ext cx="1954702"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5B9ECA5-8AFB-4708-585E-0270E0158D26}"/>
              </a:ext>
            </a:extLst>
          </p:cNvPr>
          <p:cNvCxnSpPr/>
          <p:nvPr/>
        </p:nvCxnSpPr>
        <p:spPr>
          <a:xfrm flipV="1">
            <a:off x="3174604" y="2164757"/>
            <a:ext cx="868422" cy="5122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0E8F197E-2731-3FA3-1DC1-44740897585A}"/>
              </a:ext>
            </a:extLst>
          </p:cNvPr>
          <p:cNvCxnSpPr/>
          <p:nvPr/>
        </p:nvCxnSpPr>
        <p:spPr>
          <a:xfrm flipH="1" flipV="1">
            <a:off x="4171531" y="2168868"/>
            <a:ext cx="825673" cy="524717"/>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5B802F8-CB26-F836-9E45-E383AEE28413}"/>
              </a:ext>
            </a:extLst>
          </p:cNvPr>
          <p:cNvCxnSpPr/>
          <p:nvPr/>
        </p:nvCxnSpPr>
        <p:spPr>
          <a:xfrm flipV="1">
            <a:off x="4578591" y="2631730"/>
            <a:ext cx="419644" cy="9999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77731E7-790F-D1B3-E43B-3B64F94E0586}"/>
              </a:ext>
            </a:extLst>
          </p:cNvPr>
          <p:cNvCxnSpPr/>
          <p:nvPr/>
        </p:nvCxnSpPr>
        <p:spPr>
          <a:xfrm flipH="1" flipV="1">
            <a:off x="3194494" y="2696934"/>
            <a:ext cx="444093" cy="87983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9B31FC9-D688-9FA3-39C0-8A1C495943F0}"/>
              </a:ext>
            </a:extLst>
          </p:cNvPr>
          <p:cNvCxnSpPr/>
          <p:nvPr/>
        </p:nvCxnSpPr>
        <p:spPr>
          <a:xfrm>
            <a:off x="3511909" y="3565642"/>
            <a:ext cx="1158938"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0E7C318D-723C-F224-0274-811EBB3FCEED}"/>
              </a:ext>
            </a:extLst>
          </p:cNvPr>
          <p:cNvCxnSpPr/>
          <p:nvPr/>
        </p:nvCxnSpPr>
        <p:spPr>
          <a:xfrm flipV="1">
            <a:off x="3498141" y="2118265"/>
            <a:ext cx="587128" cy="1690238"/>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EA0749A9-DBB3-D4E1-C1BA-1281DC088411}"/>
              </a:ext>
            </a:extLst>
          </p:cNvPr>
          <p:cNvCxnSpPr/>
          <p:nvPr/>
        </p:nvCxnSpPr>
        <p:spPr>
          <a:xfrm flipH="1" flipV="1">
            <a:off x="4114121" y="2020869"/>
            <a:ext cx="529721" cy="152539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907319B-0913-40D8-BE18-428D03A63FC4}"/>
              </a:ext>
            </a:extLst>
          </p:cNvPr>
          <p:cNvCxnSpPr/>
          <p:nvPr/>
        </p:nvCxnSpPr>
        <p:spPr>
          <a:xfrm flipH="1" flipV="1">
            <a:off x="3139401" y="2671126"/>
            <a:ext cx="1498282" cy="875136"/>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E2E9C9DE-2F91-DDBE-3C65-4F49D502C99D}"/>
              </a:ext>
            </a:extLst>
          </p:cNvPr>
          <p:cNvCxnSpPr/>
          <p:nvPr/>
        </p:nvCxnSpPr>
        <p:spPr>
          <a:xfrm flipH="1">
            <a:off x="3608845" y="2639577"/>
            <a:ext cx="1373789" cy="92606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pic>
        <p:nvPicPr>
          <p:cNvPr id="68" name="图片 18">
            <a:extLst>
              <a:ext uri="{FF2B5EF4-FFF2-40B4-BE49-F238E27FC236}">
                <a16:creationId xmlns:a16="http://schemas.microsoft.com/office/drawing/2014/main" id="{B5E8203C-929F-C610-A4DB-314BFAF1CD0D}"/>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46227" y="1947907"/>
            <a:ext cx="462672" cy="42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19">
            <a:extLst>
              <a:ext uri="{FF2B5EF4-FFF2-40B4-BE49-F238E27FC236}">
                <a16:creationId xmlns:a16="http://schemas.microsoft.com/office/drawing/2014/main" id="{271019DD-5F45-6A44-A8BF-3DAB495C7C3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08065" y="2512964"/>
            <a:ext cx="462672" cy="42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图片 20">
            <a:extLst>
              <a:ext uri="{FF2B5EF4-FFF2-40B4-BE49-F238E27FC236}">
                <a16:creationId xmlns:a16="http://schemas.microsoft.com/office/drawing/2014/main" id="{AB251D75-1A14-2B79-5478-B31D8BCE777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53474" y="2465180"/>
            <a:ext cx="462672" cy="42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21">
            <a:extLst>
              <a:ext uri="{FF2B5EF4-FFF2-40B4-BE49-F238E27FC236}">
                <a16:creationId xmlns:a16="http://schemas.microsoft.com/office/drawing/2014/main" id="{3DABD5BE-EFFB-8E3C-C868-00E65953467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69417" y="3420867"/>
            <a:ext cx="462672" cy="42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22">
            <a:extLst>
              <a:ext uri="{FF2B5EF4-FFF2-40B4-BE49-F238E27FC236}">
                <a16:creationId xmlns:a16="http://schemas.microsoft.com/office/drawing/2014/main" id="{3F376182-9EEE-02CD-811C-FE61530FCD6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84392" y="3420867"/>
            <a:ext cx="462672" cy="42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矩形 103">
            <a:extLst>
              <a:ext uri="{FF2B5EF4-FFF2-40B4-BE49-F238E27FC236}">
                <a16:creationId xmlns:a16="http://schemas.microsoft.com/office/drawing/2014/main" id="{43C2EEA6-BB26-B997-5E68-2EA0D50363F4}"/>
              </a:ext>
            </a:extLst>
          </p:cNvPr>
          <p:cNvSpPr/>
          <p:nvPr/>
        </p:nvSpPr>
        <p:spPr>
          <a:xfrm>
            <a:off x="2969621" y="4096015"/>
            <a:ext cx="2177143" cy="523220"/>
          </a:xfrm>
          <a:prstGeom prst="rect">
            <a:avLst/>
          </a:prstGeom>
        </p:spPr>
        <p:txBody>
          <a:bodyPr wrap="square">
            <a:spAutoFit/>
          </a:bodyPr>
          <a:lstStyle/>
          <a:p>
            <a:r>
              <a:rPr lang="en-US" altLang="zh-CN" sz="1400" dirty="0"/>
              <a:t>5 </a:t>
            </a:r>
            <a:r>
              <a:rPr lang="zh-CN" altLang="en-US" sz="1400" dirty="0"/>
              <a:t>部电话机两两直接相连，需 </a:t>
            </a:r>
            <a:r>
              <a:rPr lang="en-US" altLang="zh-CN" sz="1400" dirty="0"/>
              <a:t>10 </a:t>
            </a:r>
            <a:r>
              <a:rPr lang="zh-CN" altLang="en-US" sz="1400" dirty="0"/>
              <a:t>对电线。</a:t>
            </a:r>
          </a:p>
        </p:txBody>
      </p:sp>
      <p:sp>
        <p:nvSpPr>
          <p:cNvPr id="105" name="矩形 104">
            <a:extLst>
              <a:ext uri="{FF2B5EF4-FFF2-40B4-BE49-F238E27FC236}">
                <a16:creationId xmlns:a16="http://schemas.microsoft.com/office/drawing/2014/main" id="{A5E5D312-6782-2105-37A0-1AD4EF8AC49B}"/>
              </a:ext>
            </a:extLst>
          </p:cNvPr>
          <p:cNvSpPr/>
          <p:nvPr/>
        </p:nvSpPr>
        <p:spPr>
          <a:xfrm>
            <a:off x="5724414" y="4096015"/>
            <a:ext cx="2524139" cy="523220"/>
          </a:xfrm>
          <a:prstGeom prst="rect">
            <a:avLst/>
          </a:prstGeom>
        </p:spPr>
        <p:txBody>
          <a:bodyPr wrap="square">
            <a:spAutoFit/>
          </a:bodyPr>
          <a:lstStyle/>
          <a:p>
            <a:r>
              <a:rPr lang="en-US" altLang="zh-CN" sz="1400" dirty="0"/>
              <a:t>N </a:t>
            </a:r>
            <a:r>
              <a:rPr lang="zh-CN" altLang="en-US" sz="1400" dirty="0"/>
              <a:t>部电话机两两直接相连，需 </a:t>
            </a:r>
            <a:r>
              <a:rPr lang="en-US" altLang="zh-CN" sz="1400" dirty="0"/>
              <a:t>N(N –1)/2  </a:t>
            </a:r>
            <a:r>
              <a:rPr lang="zh-CN" altLang="en-US" sz="1400" dirty="0"/>
              <a:t>对电线。</a:t>
            </a:r>
          </a:p>
        </p:txBody>
      </p:sp>
    </p:spTree>
    <p:extLst>
      <p:ext uri="{BB962C8B-B14F-4D97-AF65-F5344CB8AC3E}">
        <p14:creationId xmlns:p14="http://schemas.microsoft.com/office/powerpoint/2010/main" val="28321086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50"/>
                                        <p:tgtEl>
                                          <p:spTgt spid="58"/>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250"/>
                                        <p:tgtEl>
                                          <p:spTgt spid="5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left)">
                                      <p:cBhvr>
                                        <p:cTn id="15" dur="250"/>
                                        <p:tgtEl>
                                          <p:spTgt spid="65"/>
                                        </p:tgtEl>
                                      </p:cBhvr>
                                    </p:animEffect>
                                  </p:childTnLst>
                                </p:cTn>
                              </p:par>
                            </p:childTnLst>
                          </p:cTn>
                        </p:par>
                        <p:par>
                          <p:cTn id="16" fill="hold">
                            <p:stCondLst>
                              <p:cond delay="75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up)">
                                      <p:cBhvr>
                                        <p:cTn id="19" dur="250"/>
                                        <p:tgtEl>
                                          <p:spTgt spid="61"/>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up)">
                                      <p:cBhvr>
                                        <p:cTn id="23" dur="250"/>
                                        <p:tgtEl>
                                          <p:spTgt spid="63"/>
                                        </p:tgtEl>
                                      </p:cBhvr>
                                    </p:animEffect>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up)">
                                      <p:cBhvr>
                                        <p:cTn id="27" dur="250"/>
                                        <p:tgtEl>
                                          <p:spTgt spid="64"/>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up)">
                                      <p:cBhvr>
                                        <p:cTn id="31" dur="250"/>
                                        <p:tgtEl>
                                          <p:spTgt spid="59"/>
                                        </p:tgtEl>
                                      </p:cBhvr>
                                    </p:animEffect>
                                  </p:childTnLst>
                                </p:cTn>
                              </p:par>
                            </p:childTnLst>
                          </p:cTn>
                        </p:par>
                        <p:par>
                          <p:cTn id="32" fill="hold">
                            <p:stCondLst>
                              <p:cond delay="1750"/>
                            </p:stCondLst>
                            <p:childTnLst>
                              <p:par>
                                <p:cTn id="33" presetID="22" presetClass="entr" presetSubtype="8" fill="hold"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250"/>
                                        <p:tgtEl>
                                          <p:spTgt spid="66"/>
                                        </p:tgtEl>
                                      </p:cBhvr>
                                    </p:animEffect>
                                  </p:childTnLst>
                                </p:cTn>
                              </p:par>
                            </p:childTnLst>
                          </p:cTn>
                        </p:par>
                        <p:par>
                          <p:cTn id="36" fill="hold">
                            <p:stCondLst>
                              <p:cond delay="2000"/>
                            </p:stCondLst>
                            <p:childTnLst>
                              <p:par>
                                <p:cTn id="37" presetID="22" presetClass="entr" presetSubtype="4"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250"/>
                                        <p:tgtEl>
                                          <p:spTgt spid="62"/>
                                        </p:tgtEl>
                                      </p:cBhvr>
                                    </p:animEffect>
                                  </p:childTnLst>
                                </p:cTn>
                              </p:par>
                            </p:childTnLst>
                          </p:cTn>
                        </p:par>
                        <p:par>
                          <p:cTn id="40" fill="hold">
                            <p:stCondLst>
                              <p:cond delay="2250"/>
                            </p:stCondLst>
                            <p:childTnLst>
                              <p:par>
                                <p:cTn id="41" presetID="22" presetClass="entr" presetSubtype="4"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down)">
                                      <p:cBhvr>
                                        <p:cTn id="43"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F627542-E7EE-6D2A-4069-CB8470A925F1}"/>
              </a:ext>
            </a:extLst>
          </p:cNvPr>
          <p:cNvSpPr>
            <a:spLocks noGrp="1"/>
          </p:cNvSpPr>
          <p:nvPr>
            <p:ph type="title"/>
          </p:nvPr>
        </p:nvSpPr>
        <p:spPr>
          <a:xfrm>
            <a:off x="612000" y="144000"/>
            <a:ext cx="7920000" cy="341632"/>
          </a:xfrm>
        </p:spPr>
        <p:txBody>
          <a:bodyPr/>
          <a:lstStyle/>
          <a:p>
            <a:r>
              <a:rPr lang="en-US" altLang="zh-CN" dirty="0"/>
              <a:t>1. </a:t>
            </a:r>
            <a:r>
              <a:rPr lang="zh-CN" altLang="en-US" dirty="0"/>
              <a:t>电路交换 </a:t>
            </a:r>
            <a:r>
              <a:rPr lang="en-US" altLang="zh-CN" dirty="0"/>
              <a:t>Circuit Switching</a:t>
            </a:r>
            <a:endParaRPr lang="zh-CN" altLang="en-US" dirty="0"/>
          </a:p>
        </p:txBody>
      </p:sp>
      <p:sp>
        <p:nvSpPr>
          <p:cNvPr id="103" name="内容占位符 102"/>
          <p:cNvSpPr>
            <a:spLocks noGrp="1"/>
          </p:cNvSpPr>
          <p:nvPr>
            <p:ph sz="quarter" idx="10"/>
          </p:nvPr>
        </p:nvSpPr>
        <p:spPr>
          <a:xfrm>
            <a:off x="612000" y="899999"/>
            <a:ext cx="7920000" cy="3780000"/>
          </a:xfrm>
        </p:spPr>
        <p:txBody>
          <a:bodyPr/>
          <a:lstStyle/>
          <a:p>
            <a:r>
              <a:rPr lang="zh-CN" altLang="en-US" dirty="0"/>
              <a:t>使用交换机</a:t>
            </a:r>
            <a:endParaRPr lang="en-US" altLang="zh-CN" dirty="0"/>
          </a:p>
          <a:p>
            <a:pPr lvl="1"/>
            <a:r>
              <a:rPr lang="zh-CN" altLang="en-US" dirty="0"/>
              <a:t>当电话机的数量增多时，借助电话交换机</a:t>
            </a:r>
            <a:r>
              <a:rPr lang="en-US" altLang="zh-CN" dirty="0"/>
              <a:t>/</a:t>
            </a:r>
            <a:r>
              <a:rPr lang="zh-CN" altLang="en-US" dirty="0"/>
              <a:t>程控交换机动态地分配传输线路的资源</a:t>
            </a:r>
            <a:endParaRPr lang="en-US" altLang="zh-CN" dirty="0"/>
          </a:p>
          <a:p>
            <a:pPr lvl="1"/>
            <a:r>
              <a:rPr lang="zh-CN" altLang="en-US" dirty="0"/>
              <a:t>交换俗称转接：把一条电话线转接到另一条电话线，使它们连通起来</a:t>
            </a:r>
          </a:p>
        </p:txBody>
      </p:sp>
      <p:cxnSp>
        <p:nvCxnSpPr>
          <p:cNvPr id="74" name="直接连接符 73"/>
          <p:cNvCxnSpPr/>
          <p:nvPr/>
        </p:nvCxnSpPr>
        <p:spPr>
          <a:xfrm>
            <a:off x="3434694" y="2466173"/>
            <a:ext cx="688975" cy="6064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2725081" y="3072598"/>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3233081" y="3318661"/>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4123669" y="3402798"/>
            <a:ext cx="233362" cy="9080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4639606" y="3378986"/>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cxnSpLocks/>
          </p:cNvCxnSpPr>
          <p:nvPr/>
        </p:nvCxnSpPr>
        <p:spPr>
          <a:xfrm flipV="1">
            <a:off x="4279244" y="2226461"/>
            <a:ext cx="131762" cy="8064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4734856" y="2350286"/>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cxnSpLocks/>
          </p:cNvCxnSpPr>
          <p:nvPr/>
        </p:nvCxnSpPr>
        <p:spPr>
          <a:xfrm flipV="1">
            <a:off x="4866619" y="2947186"/>
            <a:ext cx="993775" cy="1619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5691481" y="3352859"/>
            <a:ext cx="179495" cy="265114"/>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83"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66319" y="289638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9231" y="373299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3956" y="408224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444" y="364409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5606" y="218518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3669" y="2010561"/>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8706" y="2123273"/>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4969" y="2709061"/>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立方体 92"/>
          <p:cNvSpPr/>
          <p:nvPr/>
        </p:nvSpPr>
        <p:spPr>
          <a:xfrm>
            <a:off x="3882119" y="2983524"/>
            <a:ext cx="1080000" cy="432000"/>
          </a:xfrm>
          <a:prstGeom prst="cube">
            <a:avLst/>
          </a:prstGeom>
          <a:ln/>
        </p:spPr>
        <p:style>
          <a:lnRef idx="0">
            <a:schemeClr val="accent5"/>
          </a:lnRef>
          <a:fillRef idx="3">
            <a:schemeClr val="accent5"/>
          </a:fillRef>
          <a:effectRef idx="3">
            <a:schemeClr val="accent5"/>
          </a:effectRef>
          <a:fontRef idx="minor">
            <a:schemeClr val="lt1"/>
          </a:fontRef>
        </p:style>
        <p:txBody>
          <a:bodyPr wrap="none">
            <a:spAutoFit/>
          </a:bodyPr>
          <a:lstStyle/>
          <a:p>
            <a:pPr algn="ctr" fontAlgn="auto">
              <a:spcBef>
                <a:spcPts val="0"/>
              </a:spcBef>
              <a:spcAft>
                <a:spcPts val="0"/>
              </a:spcAft>
              <a:defRPr/>
            </a:pPr>
            <a:r>
              <a:rPr lang="zh-CN" altLang="en-US" sz="1200" dirty="0"/>
              <a:t>交换机</a:t>
            </a:r>
          </a:p>
        </p:txBody>
      </p:sp>
    </p:spTree>
    <p:extLst>
      <p:ext uri="{BB962C8B-B14F-4D97-AF65-F5344CB8AC3E}">
        <p14:creationId xmlns:p14="http://schemas.microsoft.com/office/powerpoint/2010/main" val="20635354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250"/>
                                        <p:tgtEl>
                                          <p:spTgt spid="81"/>
                                        </p:tgtEl>
                                      </p:cBhvr>
                                    </p:animEffect>
                                  </p:childTnLst>
                                </p:cTn>
                              </p:par>
                            </p:childTnLst>
                          </p:cTn>
                        </p:par>
                        <p:par>
                          <p:cTn id="8" fill="hold">
                            <p:stCondLst>
                              <p:cond delay="500"/>
                            </p:stCondLst>
                            <p:childTnLst>
                              <p:par>
                                <p:cTn id="9" presetID="22" presetClass="entr" presetSubtype="4" fill="hold" nodeType="afterEffect">
                                  <p:stCondLst>
                                    <p:cond delay="250"/>
                                  </p:stCondLst>
                                  <p:childTnLst>
                                    <p:set>
                                      <p:cBhvr>
                                        <p:cTn id="10" dur="1" fill="hold">
                                          <p:stCondLst>
                                            <p:cond delay="0"/>
                                          </p:stCondLst>
                                        </p:cTn>
                                        <p:tgtEl>
                                          <p:spTgt spid="80"/>
                                        </p:tgtEl>
                                        <p:attrNameLst>
                                          <p:attrName>style.visibility</p:attrName>
                                        </p:attrNameLst>
                                      </p:cBhvr>
                                      <p:to>
                                        <p:strVal val="visible"/>
                                      </p:to>
                                    </p:set>
                                    <p:animEffect transition="in" filter="wipe(down)">
                                      <p:cBhvr>
                                        <p:cTn id="11" dur="250"/>
                                        <p:tgtEl>
                                          <p:spTgt spid="80"/>
                                        </p:tgtEl>
                                      </p:cBhvr>
                                    </p:animEffect>
                                  </p:childTnLst>
                                </p:cTn>
                              </p:par>
                            </p:childTnLst>
                          </p:cTn>
                        </p:par>
                        <p:par>
                          <p:cTn id="12" fill="hold">
                            <p:stCondLst>
                              <p:cond delay="1000"/>
                            </p:stCondLst>
                            <p:childTnLst>
                              <p:par>
                                <p:cTn id="13" presetID="22" presetClass="entr" presetSubtype="4" fill="hold" nodeType="afterEffect">
                                  <p:stCondLst>
                                    <p:cond delay="250"/>
                                  </p:stCondLst>
                                  <p:childTnLst>
                                    <p:set>
                                      <p:cBhvr>
                                        <p:cTn id="14" dur="1" fill="hold">
                                          <p:stCondLst>
                                            <p:cond delay="0"/>
                                          </p:stCondLst>
                                        </p:cTn>
                                        <p:tgtEl>
                                          <p:spTgt spid="79"/>
                                        </p:tgtEl>
                                        <p:attrNameLst>
                                          <p:attrName>style.visibility</p:attrName>
                                        </p:attrNameLst>
                                      </p:cBhvr>
                                      <p:to>
                                        <p:strVal val="visible"/>
                                      </p:to>
                                    </p:set>
                                    <p:animEffect transition="in" filter="wipe(down)">
                                      <p:cBhvr>
                                        <p:cTn id="15" dur="250"/>
                                        <p:tgtEl>
                                          <p:spTgt spid="79"/>
                                        </p:tgtEl>
                                      </p:cBhvr>
                                    </p:animEffect>
                                  </p:childTnLst>
                                </p:cTn>
                              </p:par>
                            </p:childTnLst>
                          </p:cTn>
                        </p:par>
                        <p:par>
                          <p:cTn id="16" fill="hold">
                            <p:stCondLst>
                              <p:cond delay="1500"/>
                            </p:stCondLst>
                            <p:childTnLst>
                              <p:par>
                                <p:cTn id="17" presetID="22" presetClass="entr" presetSubtype="2" fill="hold" nodeType="afterEffect">
                                  <p:stCondLst>
                                    <p:cond delay="250"/>
                                  </p:stCondLst>
                                  <p:childTnLst>
                                    <p:set>
                                      <p:cBhvr>
                                        <p:cTn id="18" dur="1" fill="hold">
                                          <p:stCondLst>
                                            <p:cond delay="0"/>
                                          </p:stCondLst>
                                        </p:cTn>
                                        <p:tgtEl>
                                          <p:spTgt spid="74"/>
                                        </p:tgtEl>
                                        <p:attrNameLst>
                                          <p:attrName>style.visibility</p:attrName>
                                        </p:attrNameLst>
                                      </p:cBhvr>
                                      <p:to>
                                        <p:strVal val="visible"/>
                                      </p:to>
                                    </p:set>
                                    <p:animEffect transition="in" filter="wipe(right)">
                                      <p:cBhvr>
                                        <p:cTn id="19" dur="250"/>
                                        <p:tgtEl>
                                          <p:spTgt spid="74"/>
                                        </p:tgtEl>
                                      </p:cBhvr>
                                    </p:animEffect>
                                  </p:childTnLst>
                                </p:cTn>
                              </p:par>
                            </p:childTnLst>
                          </p:cTn>
                        </p:par>
                        <p:par>
                          <p:cTn id="20" fill="hold">
                            <p:stCondLst>
                              <p:cond delay="2000"/>
                            </p:stCondLst>
                            <p:childTnLst>
                              <p:par>
                                <p:cTn id="21" presetID="22" presetClass="entr" presetSubtype="2" fill="hold" nodeType="afterEffect">
                                  <p:stCondLst>
                                    <p:cond delay="250"/>
                                  </p:stCondLst>
                                  <p:childTnLst>
                                    <p:set>
                                      <p:cBhvr>
                                        <p:cTn id="22" dur="1" fill="hold">
                                          <p:stCondLst>
                                            <p:cond delay="0"/>
                                          </p:stCondLst>
                                        </p:cTn>
                                        <p:tgtEl>
                                          <p:spTgt spid="75"/>
                                        </p:tgtEl>
                                        <p:attrNameLst>
                                          <p:attrName>style.visibility</p:attrName>
                                        </p:attrNameLst>
                                      </p:cBhvr>
                                      <p:to>
                                        <p:strVal val="visible"/>
                                      </p:to>
                                    </p:set>
                                    <p:animEffect transition="in" filter="wipe(right)">
                                      <p:cBhvr>
                                        <p:cTn id="23" dur="250"/>
                                        <p:tgtEl>
                                          <p:spTgt spid="75"/>
                                        </p:tgtEl>
                                      </p:cBhvr>
                                    </p:animEffect>
                                  </p:childTnLst>
                                </p:cTn>
                              </p:par>
                            </p:childTnLst>
                          </p:cTn>
                        </p:par>
                        <p:par>
                          <p:cTn id="24" fill="hold">
                            <p:stCondLst>
                              <p:cond delay="2500"/>
                            </p:stCondLst>
                            <p:childTnLst>
                              <p:par>
                                <p:cTn id="25" presetID="22" presetClass="entr" presetSubtype="2" fill="hold" nodeType="afterEffect">
                                  <p:stCondLst>
                                    <p:cond delay="250"/>
                                  </p:stCondLst>
                                  <p:childTnLst>
                                    <p:set>
                                      <p:cBhvr>
                                        <p:cTn id="26" dur="1" fill="hold">
                                          <p:stCondLst>
                                            <p:cond delay="0"/>
                                          </p:stCondLst>
                                        </p:cTn>
                                        <p:tgtEl>
                                          <p:spTgt spid="76"/>
                                        </p:tgtEl>
                                        <p:attrNameLst>
                                          <p:attrName>style.visibility</p:attrName>
                                        </p:attrNameLst>
                                      </p:cBhvr>
                                      <p:to>
                                        <p:strVal val="visible"/>
                                      </p:to>
                                    </p:set>
                                    <p:animEffect transition="in" filter="wipe(right)">
                                      <p:cBhvr>
                                        <p:cTn id="27" dur="250"/>
                                        <p:tgtEl>
                                          <p:spTgt spid="76"/>
                                        </p:tgtEl>
                                      </p:cBhvr>
                                    </p:animEffect>
                                  </p:childTnLst>
                                </p:cTn>
                              </p:par>
                            </p:childTnLst>
                          </p:cTn>
                        </p:par>
                        <p:par>
                          <p:cTn id="28" fill="hold">
                            <p:stCondLst>
                              <p:cond delay="3000"/>
                            </p:stCondLst>
                            <p:childTnLst>
                              <p:par>
                                <p:cTn id="29" presetID="22" presetClass="entr" presetSubtype="1" fill="hold" nodeType="afterEffect">
                                  <p:stCondLst>
                                    <p:cond delay="250"/>
                                  </p:stCondLst>
                                  <p:childTnLst>
                                    <p:set>
                                      <p:cBhvr>
                                        <p:cTn id="30" dur="1" fill="hold">
                                          <p:stCondLst>
                                            <p:cond delay="0"/>
                                          </p:stCondLst>
                                        </p:cTn>
                                        <p:tgtEl>
                                          <p:spTgt spid="77"/>
                                        </p:tgtEl>
                                        <p:attrNameLst>
                                          <p:attrName>style.visibility</p:attrName>
                                        </p:attrNameLst>
                                      </p:cBhvr>
                                      <p:to>
                                        <p:strVal val="visible"/>
                                      </p:to>
                                    </p:set>
                                    <p:animEffect transition="in" filter="wipe(up)">
                                      <p:cBhvr>
                                        <p:cTn id="31" dur="250"/>
                                        <p:tgtEl>
                                          <p:spTgt spid="77"/>
                                        </p:tgtEl>
                                      </p:cBhvr>
                                    </p:animEffect>
                                  </p:childTnLst>
                                </p:cTn>
                              </p:par>
                            </p:childTnLst>
                          </p:cTn>
                        </p:par>
                        <p:par>
                          <p:cTn id="32" fill="hold">
                            <p:stCondLst>
                              <p:cond delay="3500"/>
                            </p:stCondLst>
                            <p:childTnLst>
                              <p:par>
                                <p:cTn id="33" presetID="22" presetClass="entr" presetSubtype="1" fill="hold" nodeType="afterEffect">
                                  <p:stCondLst>
                                    <p:cond delay="250"/>
                                  </p:stCondLst>
                                  <p:childTnLst>
                                    <p:set>
                                      <p:cBhvr>
                                        <p:cTn id="34" dur="1" fill="hold">
                                          <p:stCondLst>
                                            <p:cond delay="0"/>
                                          </p:stCondLst>
                                        </p:cTn>
                                        <p:tgtEl>
                                          <p:spTgt spid="78"/>
                                        </p:tgtEl>
                                        <p:attrNameLst>
                                          <p:attrName>style.visibility</p:attrName>
                                        </p:attrNameLst>
                                      </p:cBhvr>
                                      <p:to>
                                        <p:strVal val="visible"/>
                                      </p:to>
                                    </p:set>
                                    <p:animEffect transition="in" filter="wipe(up)">
                                      <p:cBhvr>
                                        <p:cTn id="35" dur="25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8E9AF79-EB99-796A-3BD9-B2CA7AE89CEF}"/>
              </a:ext>
            </a:extLst>
          </p:cNvPr>
          <p:cNvSpPr>
            <a:spLocks noGrp="1"/>
          </p:cNvSpPr>
          <p:nvPr>
            <p:ph type="title"/>
          </p:nvPr>
        </p:nvSpPr>
        <p:spPr>
          <a:xfrm>
            <a:off x="612000" y="144000"/>
            <a:ext cx="7920000" cy="341632"/>
          </a:xfrm>
        </p:spPr>
        <p:txBody>
          <a:bodyPr/>
          <a:lstStyle/>
          <a:p>
            <a:r>
              <a:rPr lang="en-US" altLang="zh-CN" dirty="0"/>
              <a:t>1. </a:t>
            </a:r>
            <a:r>
              <a:rPr lang="zh-CN" altLang="en-US" dirty="0"/>
              <a:t>电路交换 </a:t>
            </a:r>
            <a:r>
              <a:rPr lang="en-US" altLang="zh-CN" dirty="0"/>
              <a:t>Circuit Switching</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三个阶段：</a:t>
            </a:r>
          </a:p>
          <a:p>
            <a:pPr lvl="1"/>
            <a:r>
              <a:rPr lang="zh-CN" altLang="en-US" dirty="0"/>
              <a:t>建立连接：建立一条专用的物理通路（占用通信资源）</a:t>
            </a:r>
            <a:endParaRPr lang="en-US" altLang="zh-CN" dirty="0"/>
          </a:p>
          <a:p>
            <a:pPr lvl="1"/>
            <a:r>
              <a:rPr lang="zh-CN" altLang="en-US" dirty="0"/>
              <a:t>通话：主叫和被叫双方互相通电话（一直占用通信资源）</a:t>
            </a:r>
          </a:p>
          <a:p>
            <a:pPr lvl="1"/>
            <a:r>
              <a:rPr lang="zh-CN" altLang="en-US" dirty="0"/>
              <a:t>释放连接：释放刚才使用的专用的物理通路（归还通信资源）</a:t>
            </a:r>
          </a:p>
          <a:p>
            <a:endParaRPr lang="zh-CN" altLang="en-US" dirty="0"/>
          </a:p>
        </p:txBody>
      </p:sp>
      <p:grpSp>
        <p:nvGrpSpPr>
          <p:cNvPr id="16" name="Group 6"/>
          <p:cNvGrpSpPr/>
          <p:nvPr/>
        </p:nvGrpSpPr>
        <p:grpSpPr bwMode="auto">
          <a:xfrm>
            <a:off x="2400040" y="2265684"/>
            <a:ext cx="4343919" cy="2238103"/>
            <a:chOff x="1680" y="240"/>
            <a:chExt cx="2529" cy="1270"/>
          </a:xfrm>
          <a:solidFill>
            <a:srgbClr val="F2F2F2"/>
          </a:solidFill>
        </p:grpSpPr>
        <p:sp>
          <p:nvSpPr>
            <p:cNvPr id="17" name="Oval 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Oval 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Oval 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Oval 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Oval 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Oval 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Oval 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Oval 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5" name="Oval 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26" name="Line 23"/>
          <p:cNvSpPr>
            <a:spLocks noChangeShapeType="1"/>
          </p:cNvSpPr>
          <p:nvPr/>
        </p:nvSpPr>
        <p:spPr bwMode="auto">
          <a:xfrm>
            <a:off x="2979687" y="3456481"/>
            <a:ext cx="3021012"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27" name="Text Box 24"/>
          <p:cNvSpPr txBox="1">
            <a:spLocks noChangeArrowheads="1"/>
          </p:cNvSpPr>
          <p:nvPr/>
        </p:nvSpPr>
        <p:spPr bwMode="auto">
          <a:xfrm>
            <a:off x="1257249" y="2879823"/>
            <a:ext cx="312906"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A</a:t>
            </a:r>
          </a:p>
        </p:txBody>
      </p:sp>
      <p:sp>
        <p:nvSpPr>
          <p:cNvPr id="28" name="Text Box 25"/>
          <p:cNvSpPr txBox="1">
            <a:spLocks noChangeArrowheads="1"/>
          </p:cNvSpPr>
          <p:nvPr/>
        </p:nvSpPr>
        <p:spPr bwMode="auto">
          <a:xfrm>
            <a:off x="7329437" y="2879823"/>
            <a:ext cx="319318"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B</a:t>
            </a:r>
          </a:p>
        </p:txBody>
      </p:sp>
      <p:sp>
        <p:nvSpPr>
          <p:cNvPr id="29" name="Line 26"/>
          <p:cNvSpPr>
            <a:spLocks noChangeShapeType="1"/>
          </p:cNvSpPr>
          <p:nvPr/>
        </p:nvSpPr>
        <p:spPr bwMode="auto">
          <a:xfrm>
            <a:off x="1541412" y="3456481"/>
            <a:ext cx="13144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0" name="Line 27"/>
          <p:cNvSpPr>
            <a:spLocks noChangeShapeType="1"/>
          </p:cNvSpPr>
          <p:nvPr/>
        </p:nvSpPr>
        <p:spPr bwMode="auto">
          <a:xfrm>
            <a:off x="6062612" y="3456481"/>
            <a:ext cx="14001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1" name="Text Box 28"/>
          <p:cNvSpPr txBox="1">
            <a:spLocks noChangeArrowheads="1"/>
          </p:cNvSpPr>
          <p:nvPr/>
        </p:nvSpPr>
        <p:spPr bwMode="auto">
          <a:xfrm>
            <a:off x="4427487" y="2420344"/>
            <a:ext cx="723900" cy="307975"/>
          </a:xfrm>
          <a:prstGeom prst="rect">
            <a:avLst/>
          </a:prstGeom>
          <a:noFill/>
        </p:spPr>
        <p:txBody>
          <a:bodyPr wrap="none" rtlCol="0">
            <a:spAutoFit/>
          </a:bodyPr>
          <a:lstStyle>
            <a:defPPr>
              <a:defRPr lang="zh-CN"/>
            </a:defPPr>
            <a:lvl1pPr>
              <a:defRPr sz="1400"/>
            </a:lvl1pPr>
          </a:lstStyle>
          <a:p>
            <a:r>
              <a:rPr lang="zh-CN" altLang="en-US" dirty="0">
                <a:latin typeface="+mj-lt"/>
                <a:ea typeface="+mj-ea"/>
              </a:rPr>
              <a:t>电信网</a:t>
            </a:r>
          </a:p>
        </p:txBody>
      </p:sp>
      <p:sp>
        <p:nvSpPr>
          <p:cNvPr id="36" name="Text Box 34"/>
          <p:cNvSpPr txBox="1">
            <a:spLocks noChangeArrowheads="1"/>
          </p:cNvSpPr>
          <p:nvPr/>
        </p:nvSpPr>
        <p:spPr bwMode="auto">
          <a:xfrm>
            <a:off x="4154437" y="4059820"/>
            <a:ext cx="723275" cy="307777"/>
          </a:xfrm>
          <a:prstGeom prst="rect">
            <a:avLst/>
          </a:prstGeom>
          <a:noFill/>
        </p:spPr>
        <p:txBody>
          <a:bodyPr wrap="none" rtlCol="0">
            <a:spAutoFit/>
          </a:bodyPr>
          <a:lstStyle>
            <a:defPPr>
              <a:defRPr lang="zh-CN"/>
            </a:defPPr>
            <a:lvl1pPr>
              <a:defRPr sz="1400"/>
            </a:lvl1pPr>
          </a:lstStyle>
          <a:p>
            <a:r>
              <a:rPr lang="zh-CN" altLang="en-US" dirty="0">
                <a:latin typeface="+mj-lt"/>
                <a:ea typeface="+mj-ea"/>
              </a:rPr>
              <a:t>中继线</a:t>
            </a:r>
          </a:p>
        </p:txBody>
      </p:sp>
      <p:sp>
        <p:nvSpPr>
          <p:cNvPr id="37" name="Line 35"/>
          <p:cNvSpPr>
            <a:spLocks noChangeShapeType="1"/>
          </p:cNvSpPr>
          <p:nvPr/>
        </p:nvSpPr>
        <p:spPr bwMode="auto">
          <a:xfrm>
            <a:off x="3421012" y="3475531"/>
            <a:ext cx="820689" cy="607285"/>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8" name="Line 36"/>
          <p:cNvSpPr>
            <a:spLocks noChangeShapeType="1"/>
          </p:cNvSpPr>
          <p:nvPr/>
        </p:nvSpPr>
        <p:spPr bwMode="auto">
          <a:xfrm>
            <a:off x="4546549" y="3489819"/>
            <a:ext cx="0" cy="57785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9" name="Line 37"/>
          <p:cNvSpPr>
            <a:spLocks noChangeShapeType="1"/>
          </p:cNvSpPr>
          <p:nvPr/>
        </p:nvSpPr>
        <p:spPr bwMode="auto">
          <a:xfrm flipH="1">
            <a:off x="4848222" y="3496997"/>
            <a:ext cx="825223" cy="591332"/>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0" name="Line 38"/>
          <p:cNvSpPr>
            <a:spLocks noChangeShapeType="1"/>
          </p:cNvSpPr>
          <p:nvPr/>
        </p:nvSpPr>
        <p:spPr bwMode="auto">
          <a:xfrm flipH="1">
            <a:off x="2141487" y="3464419"/>
            <a:ext cx="231775" cy="404812"/>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1" name="Line 39"/>
          <p:cNvSpPr>
            <a:spLocks noChangeShapeType="1"/>
          </p:cNvSpPr>
          <p:nvPr/>
        </p:nvSpPr>
        <p:spPr bwMode="auto">
          <a:xfrm>
            <a:off x="6865887" y="3464419"/>
            <a:ext cx="114300" cy="390525"/>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2" name="Text Box 40"/>
          <p:cNvSpPr txBox="1">
            <a:spLocks noChangeArrowheads="1"/>
          </p:cNvSpPr>
          <p:nvPr/>
        </p:nvSpPr>
        <p:spPr bwMode="auto">
          <a:xfrm>
            <a:off x="1781124" y="3877169"/>
            <a:ext cx="722313" cy="307975"/>
          </a:xfrm>
          <a:prstGeom prst="rect">
            <a:avLst/>
          </a:prstGeom>
          <a:noFill/>
        </p:spPr>
        <p:txBody>
          <a:bodyPr wrap="none" rtlCol="0">
            <a:spAutoFit/>
          </a:bodyPr>
          <a:lstStyle>
            <a:defPPr>
              <a:defRPr lang="zh-CN"/>
            </a:defPPr>
            <a:lvl1pPr>
              <a:defRPr sz="1400"/>
            </a:lvl1pPr>
          </a:lstStyle>
          <a:p>
            <a:r>
              <a:rPr lang="zh-CN" altLang="en-US" dirty="0">
                <a:latin typeface="+mj-lt"/>
                <a:ea typeface="+mj-ea"/>
              </a:rPr>
              <a:t>用户线</a:t>
            </a:r>
          </a:p>
        </p:txBody>
      </p:sp>
      <p:sp>
        <p:nvSpPr>
          <p:cNvPr id="43" name="Text Box 41"/>
          <p:cNvSpPr txBox="1">
            <a:spLocks noChangeArrowheads="1"/>
          </p:cNvSpPr>
          <p:nvPr/>
        </p:nvSpPr>
        <p:spPr bwMode="auto">
          <a:xfrm>
            <a:off x="6640462" y="3869231"/>
            <a:ext cx="723900" cy="307975"/>
          </a:xfrm>
          <a:prstGeom prst="rect">
            <a:avLst/>
          </a:prstGeom>
          <a:noFill/>
        </p:spPr>
        <p:txBody>
          <a:bodyPr wrap="none" rtlCol="0">
            <a:spAutoFit/>
          </a:bodyPr>
          <a:lstStyle>
            <a:defPPr>
              <a:defRPr lang="zh-CN"/>
            </a:defPPr>
            <a:lvl1pPr>
              <a:defRPr sz="1400"/>
            </a:lvl1pPr>
          </a:lstStyle>
          <a:p>
            <a:r>
              <a:rPr lang="zh-CN" altLang="en-US" dirty="0">
                <a:latin typeface="+mj-lt"/>
                <a:ea typeface="+mj-ea"/>
              </a:rPr>
              <a:t>用户线</a:t>
            </a:r>
          </a:p>
        </p:txBody>
      </p:sp>
      <p:grpSp>
        <p:nvGrpSpPr>
          <p:cNvPr id="44" name="Group 56"/>
          <p:cNvGrpSpPr/>
          <p:nvPr/>
        </p:nvGrpSpPr>
        <p:grpSpPr bwMode="auto">
          <a:xfrm flipH="1">
            <a:off x="6430166" y="2970494"/>
            <a:ext cx="720000" cy="131762"/>
            <a:chOff x="1519" y="2160"/>
            <a:chExt cx="953" cy="227"/>
          </a:xfrm>
        </p:grpSpPr>
        <p:sp>
          <p:nvSpPr>
            <p:cNvPr id="45" name="Freeform 57"/>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6" name="Freeform 58"/>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7" name="Freeform 59"/>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8"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9" name="Line 61"/>
            <p:cNvSpPr>
              <a:spLocks noChangeShapeType="1"/>
            </p:cNvSpPr>
            <p:nvPr/>
          </p:nvSpPr>
          <p:spPr bwMode="auto">
            <a:xfrm>
              <a:off x="2109" y="2258"/>
              <a:ext cx="363" cy="0"/>
            </a:xfrm>
            <a:prstGeom prst="line">
              <a:avLst/>
            </a:prstGeom>
            <a:noFill/>
            <a:ln w="19050">
              <a:solidFill>
                <a:srgbClr val="D4237A"/>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grpSp>
        <p:nvGrpSpPr>
          <p:cNvPr id="50" name="Group 64"/>
          <p:cNvGrpSpPr/>
          <p:nvPr/>
        </p:nvGrpSpPr>
        <p:grpSpPr bwMode="auto">
          <a:xfrm>
            <a:off x="1727149" y="2970494"/>
            <a:ext cx="720000" cy="131762"/>
            <a:chOff x="1519" y="2160"/>
            <a:chExt cx="953" cy="227"/>
          </a:xfrm>
        </p:grpSpPr>
        <p:sp>
          <p:nvSpPr>
            <p:cNvPr id="51" name="Freeform 65"/>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2" name="Freeform 66"/>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3" name="Freeform 67"/>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4"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D4237A"/>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5" name="Line 69"/>
            <p:cNvSpPr>
              <a:spLocks noChangeShapeType="1"/>
            </p:cNvSpPr>
            <p:nvPr/>
          </p:nvSpPr>
          <p:spPr bwMode="auto">
            <a:xfrm>
              <a:off x="2109" y="2258"/>
              <a:ext cx="363" cy="0"/>
            </a:xfrm>
            <a:prstGeom prst="line">
              <a:avLst/>
            </a:prstGeom>
            <a:noFill/>
            <a:ln w="19050">
              <a:solidFill>
                <a:srgbClr val="D4237A"/>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sp>
        <p:nvSpPr>
          <p:cNvPr id="56" name="Freeform 71"/>
          <p:cNvSpPr/>
          <p:nvPr/>
        </p:nvSpPr>
        <p:spPr bwMode="auto">
          <a:xfrm>
            <a:off x="3099414" y="3003831"/>
            <a:ext cx="54000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D4237A"/>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7" name="Freeform 72"/>
          <p:cNvSpPr/>
          <p:nvPr/>
        </p:nvSpPr>
        <p:spPr bwMode="auto">
          <a:xfrm>
            <a:off x="4181808" y="3003831"/>
            <a:ext cx="54000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D4237A"/>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58" name="Freeform 73"/>
          <p:cNvSpPr/>
          <p:nvPr/>
        </p:nvSpPr>
        <p:spPr bwMode="auto">
          <a:xfrm>
            <a:off x="5264202" y="3003831"/>
            <a:ext cx="54000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D4237A"/>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63" name="Text Box 24"/>
          <p:cNvSpPr txBox="1">
            <a:spLocks noChangeArrowheads="1"/>
          </p:cNvSpPr>
          <p:nvPr/>
        </p:nvSpPr>
        <p:spPr bwMode="auto">
          <a:xfrm>
            <a:off x="2670962" y="2879823"/>
            <a:ext cx="314510"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C</a:t>
            </a:r>
          </a:p>
        </p:txBody>
      </p:sp>
      <p:sp>
        <p:nvSpPr>
          <p:cNvPr id="64" name="Text Box 24"/>
          <p:cNvSpPr txBox="1">
            <a:spLocks noChangeArrowheads="1"/>
          </p:cNvSpPr>
          <p:nvPr/>
        </p:nvSpPr>
        <p:spPr bwMode="auto">
          <a:xfrm>
            <a:off x="3799714" y="2879823"/>
            <a:ext cx="333746"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D</a:t>
            </a:r>
          </a:p>
        </p:txBody>
      </p:sp>
      <p:sp>
        <p:nvSpPr>
          <p:cNvPr id="65" name="Text Box 24"/>
          <p:cNvSpPr txBox="1">
            <a:spLocks noChangeArrowheads="1"/>
          </p:cNvSpPr>
          <p:nvPr/>
        </p:nvSpPr>
        <p:spPr bwMode="auto">
          <a:xfrm>
            <a:off x="4870969" y="2879823"/>
            <a:ext cx="304892"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E</a:t>
            </a:r>
          </a:p>
        </p:txBody>
      </p:sp>
      <p:sp>
        <p:nvSpPr>
          <p:cNvPr id="66" name="Text Box 24"/>
          <p:cNvSpPr txBox="1">
            <a:spLocks noChangeArrowheads="1"/>
          </p:cNvSpPr>
          <p:nvPr/>
        </p:nvSpPr>
        <p:spPr bwMode="auto">
          <a:xfrm>
            <a:off x="5926157" y="2879823"/>
            <a:ext cx="298480" cy="307777"/>
          </a:xfrm>
          <a:prstGeom prst="rect">
            <a:avLst/>
          </a:prstGeom>
          <a:noFill/>
        </p:spPr>
        <p:txBody>
          <a:bodyPr wrap="none" rtlCol="0">
            <a:spAutoFit/>
          </a:bodyPr>
          <a:lstStyle>
            <a:defPPr>
              <a:defRPr lang="zh-CN"/>
            </a:defPPr>
            <a:lvl1pPr>
              <a:defRPr sz="1400"/>
            </a:lvl1pPr>
          </a:lstStyle>
          <a:p>
            <a:r>
              <a:rPr lang="en-US" altLang="zh-CN" dirty="0">
                <a:latin typeface="+mj-lt"/>
                <a:ea typeface="+mj-ea"/>
              </a:rPr>
              <a:t>F</a:t>
            </a:r>
          </a:p>
        </p:txBody>
      </p:sp>
      <p:sp>
        <p:nvSpPr>
          <p:cNvPr id="67" name="Line 26"/>
          <p:cNvSpPr>
            <a:spLocks noChangeShapeType="1"/>
          </p:cNvSpPr>
          <p:nvPr/>
        </p:nvSpPr>
        <p:spPr bwMode="auto">
          <a:xfrm>
            <a:off x="1749796" y="3174934"/>
            <a:ext cx="5400000" cy="0"/>
          </a:xfrm>
          <a:prstGeom prst="line">
            <a:avLst/>
          </a:prstGeom>
          <a:noFill/>
          <a:ln w="3810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pic>
        <p:nvPicPr>
          <p:cNvPr id="68" name="图片 4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3587" y="3171266"/>
            <a:ext cx="5889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4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99262" y="3171266"/>
            <a:ext cx="5873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立方体 73">
            <a:extLst>
              <a:ext uri="{FF2B5EF4-FFF2-40B4-BE49-F238E27FC236}">
                <a16:creationId xmlns:a16="http://schemas.microsoft.com/office/drawing/2014/main" id="{02984B57-1C51-3E5D-9EEF-A2BD211FFA2A}"/>
              </a:ext>
            </a:extLst>
          </p:cNvPr>
          <p:cNvSpPr/>
          <p:nvPr/>
        </p:nvSpPr>
        <p:spPr>
          <a:xfrm>
            <a:off x="4633005" y="3250028"/>
            <a:ext cx="720000" cy="360000"/>
          </a:xfrm>
          <a:prstGeom prst="cube">
            <a:avLst/>
          </a:prstGeom>
          <a:ln/>
        </p:spPr>
        <p:style>
          <a:lnRef idx="0">
            <a:schemeClr val="accent5"/>
          </a:lnRef>
          <a:fillRef idx="3">
            <a:schemeClr val="accent5"/>
          </a:fillRef>
          <a:effectRef idx="3">
            <a:schemeClr val="accent5"/>
          </a:effectRef>
          <a:fontRef idx="minor">
            <a:schemeClr val="lt1"/>
          </a:fontRef>
        </p:style>
        <p:txBody>
          <a:bodyPr wrap="none">
            <a:spAutoFit/>
          </a:bodyPr>
          <a:lstStyle/>
          <a:p>
            <a:pPr algn="ctr" fontAlgn="auto">
              <a:spcBef>
                <a:spcPts val="0"/>
              </a:spcBef>
              <a:spcAft>
                <a:spcPts val="0"/>
              </a:spcAft>
              <a:defRPr/>
            </a:pPr>
            <a:r>
              <a:rPr lang="zh-CN" altLang="en-US" sz="1200" dirty="0"/>
              <a:t>交换机</a:t>
            </a:r>
          </a:p>
        </p:txBody>
      </p:sp>
      <p:sp>
        <p:nvSpPr>
          <p:cNvPr id="76" name="立方体 75">
            <a:extLst>
              <a:ext uri="{FF2B5EF4-FFF2-40B4-BE49-F238E27FC236}">
                <a16:creationId xmlns:a16="http://schemas.microsoft.com/office/drawing/2014/main" id="{9D351A5E-4460-A9AF-505A-1EF2580A9554}"/>
              </a:ext>
            </a:extLst>
          </p:cNvPr>
          <p:cNvSpPr/>
          <p:nvPr/>
        </p:nvSpPr>
        <p:spPr>
          <a:xfrm>
            <a:off x="3550611" y="3250028"/>
            <a:ext cx="720000" cy="360000"/>
          </a:xfrm>
          <a:prstGeom prst="cube">
            <a:avLst/>
          </a:prstGeom>
          <a:ln/>
        </p:spPr>
        <p:style>
          <a:lnRef idx="0">
            <a:schemeClr val="accent5"/>
          </a:lnRef>
          <a:fillRef idx="3">
            <a:schemeClr val="accent5"/>
          </a:fillRef>
          <a:effectRef idx="3">
            <a:schemeClr val="accent5"/>
          </a:effectRef>
          <a:fontRef idx="minor">
            <a:schemeClr val="lt1"/>
          </a:fontRef>
        </p:style>
        <p:txBody>
          <a:bodyPr wrap="none">
            <a:spAutoFit/>
          </a:bodyPr>
          <a:lstStyle/>
          <a:p>
            <a:pPr algn="ctr" fontAlgn="auto">
              <a:spcBef>
                <a:spcPts val="0"/>
              </a:spcBef>
              <a:spcAft>
                <a:spcPts val="0"/>
              </a:spcAft>
              <a:defRPr/>
            </a:pPr>
            <a:r>
              <a:rPr lang="zh-CN" altLang="en-US" sz="1200" dirty="0"/>
              <a:t>交换机</a:t>
            </a:r>
          </a:p>
        </p:txBody>
      </p:sp>
      <p:sp>
        <p:nvSpPr>
          <p:cNvPr id="78" name="立方体 77">
            <a:extLst>
              <a:ext uri="{FF2B5EF4-FFF2-40B4-BE49-F238E27FC236}">
                <a16:creationId xmlns:a16="http://schemas.microsoft.com/office/drawing/2014/main" id="{B73D6BED-8438-C16B-BA31-8AFA2C748E9F}"/>
              </a:ext>
            </a:extLst>
          </p:cNvPr>
          <p:cNvSpPr/>
          <p:nvPr/>
        </p:nvSpPr>
        <p:spPr>
          <a:xfrm>
            <a:off x="2468217" y="3250028"/>
            <a:ext cx="720000" cy="360000"/>
          </a:xfrm>
          <a:prstGeom prst="cube">
            <a:avLst/>
          </a:prstGeom>
          <a:ln/>
        </p:spPr>
        <p:style>
          <a:lnRef idx="0">
            <a:schemeClr val="accent5"/>
          </a:lnRef>
          <a:fillRef idx="3">
            <a:schemeClr val="accent5"/>
          </a:fillRef>
          <a:effectRef idx="3">
            <a:schemeClr val="accent5"/>
          </a:effectRef>
          <a:fontRef idx="minor">
            <a:schemeClr val="lt1"/>
          </a:fontRef>
        </p:style>
        <p:txBody>
          <a:bodyPr wrap="none">
            <a:spAutoFit/>
          </a:bodyPr>
          <a:lstStyle/>
          <a:p>
            <a:pPr algn="ctr" fontAlgn="auto">
              <a:spcBef>
                <a:spcPts val="0"/>
              </a:spcBef>
              <a:spcAft>
                <a:spcPts val="0"/>
              </a:spcAft>
              <a:defRPr/>
            </a:pPr>
            <a:r>
              <a:rPr lang="zh-CN" altLang="en-US" sz="1200" dirty="0"/>
              <a:t>交换机</a:t>
            </a:r>
          </a:p>
        </p:txBody>
      </p:sp>
      <p:sp>
        <p:nvSpPr>
          <p:cNvPr id="80" name="立方体 79">
            <a:extLst>
              <a:ext uri="{FF2B5EF4-FFF2-40B4-BE49-F238E27FC236}">
                <a16:creationId xmlns:a16="http://schemas.microsoft.com/office/drawing/2014/main" id="{B59AAAA7-E264-E578-F428-5C26746FABCA}"/>
              </a:ext>
            </a:extLst>
          </p:cNvPr>
          <p:cNvSpPr/>
          <p:nvPr/>
        </p:nvSpPr>
        <p:spPr>
          <a:xfrm>
            <a:off x="5715397" y="3250028"/>
            <a:ext cx="720000" cy="360000"/>
          </a:xfrm>
          <a:prstGeom prst="cube">
            <a:avLst/>
          </a:prstGeom>
          <a:ln/>
        </p:spPr>
        <p:style>
          <a:lnRef idx="0">
            <a:schemeClr val="accent5"/>
          </a:lnRef>
          <a:fillRef idx="3">
            <a:schemeClr val="accent5"/>
          </a:fillRef>
          <a:effectRef idx="3">
            <a:schemeClr val="accent5"/>
          </a:effectRef>
          <a:fontRef idx="minor">
            <a:schemeClr val="lt1"/>
          </a:fontRef>
        </p:style>
        <p:txBody>
          <a:bodyPr wrap="none">
            <a:spAutoFit/>
          </a:bodyPr>
          <a:lstStyle/>
          <a:p>
            <a:pPr algn="ctr" fontAlgn="auto">
              <a:spcBef>
                <a:spcPts val="0"/>
              </a:spcBef>
              <a:spcAft>
                <a:spcPts val="0"/>
              </a:spcAft>
              <a:defRPr/>
            </a:pPr>
            <a:r>
              <a:rPr lang="zh-CN" altLang="en-US" sz="1200" dirty="0"/>
              <a:t>交换机</a:t>
            </a:r>
          </a:p>
        </p:txBody>
      </p:sp>
    </p:spTree>
    <p:extLst>
      <p:ext uri="{BB962C8B-B14F-4D97-AF65-F5344CB8AC3E}">
        <p14:creationId xmlns:p14="http://schemas.microsoft.com/office/powerpoint/2010/main" val="7200850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4000"/>
                                        <p:tgtEl>
                                          <p:spTgt spid="67"/>
                                        </p:tgtEl>
                                      </p:cBhvr>
                                    </p:animEffect>
                                  </p:childTnLst>
                                </p:cTn>
                              </p:par>
                            </p:childTnLst>
                          </p:cTn>
                        </p:par>
                        <p:par>
                          <p:cTn id="8" fill="hold">
                            <p:stCondLst>
                              <p:cond delay="5000"/>
                            </p:stCondLst>
                            <p:childTnLst>
                              <p:par>
                                <p:cTn id="9" presetID="35" presetClass="emph" presetSubtype="0" repeatCount="5000" fill="hold" grpId="1" nodeType="afterEffect">
                                  <p:stCondLst>
                                    <p:cond delay="0"/>
                                  </p:stCondLst>
                                  <p:childTnLst>
                                    <p:anim calcmode="discrete" valueType="str">
                                      <p:cBhvr>
                                        <p:cTn id="10"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11" fill="hold">
                            <p:stCondLst>
                              <p:cond delay="10000"/>
                            </p:stCondLst>
                            <p:childTnLst>
                              <p:par>
                                <p:cTn id="12" presetID="22" presetClass="exit" presetSubtype="2" fill="hold" grpId="2" nodeType="afterEffect">
                                  <p:stCondLst>
                                    <p:cond delay="0"/>
                                  </p:stCondLst>
                                  <p:childTnLst>
                                    <p:animEffect transition="out" filter="wipe(right)">
                                      <p:cBhvr>
                                        <p:cTn id="13" dur="3000"/>
                                        <p:tgtEl>
                                          <p:spTgt spid="67"/>
                                        </p:tgtEl>
                                      </p:cBhvr>
                                    </p:animEffect>
                                    <p:set>
                                      <p:cBhvr>
                                        <p:cTn id="14" dur="1" fill="hold">
                                          <p:stCondLst>
                                            <p:cond delay="2999"/>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7" grpId="1" animBg="1"/>
      <p:bldP spid="67" grpId="2"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标题 64">
            <a:extLst>
              <a:ext uri="{FF2B5EF4-FFF2-40B4-BE49-F238E27FC236}">
                <a16:creationId xmlns:a16="http://schemas.microsoft.com/office/drawing/2014/main" id="{AA520517-F777-D96E-F9D4-693032BF504E}"/>
              </a:ext>
            </a:extLst>
          </p:cNvPr>
          <p:cNvSpPr>
            <a:spLocks noGrp="1"/>
          </p:cNvSpPr>
          <p:nvPr>
            <p:ph type="title"/>
          </p:nvPr>
        </p:nvSpPr>
        <p:spPr>
          <a:xfrm>
            <a:off x="612000" y="144000"/>
            <a:ext cx="7920000" cy="341632"/>
          </a:xfrm>
        </p:spPr>
        <p:txBody>
          <a:bodyPr/>
          <a:lstStyle/>
          <a:p>
            <a:r>
              <a:rPr lang="en-US" altLang="zh-CN" dirty="0"/>
              <a:t>1. </a:t>
            </a:r>
            <a:r>
              <a:rPr lang="zh-CN" altLang="en-US" dirty="0"/>
              <a:t>电路交换 </a:t>
            </a:r>
            <a:r>
              <a:rPr lang="en-US" altLang="zh-CN" dirty="0"/>
              <a:t>Circuit Switching</a:t>
            </a:r>
            <a:endParaRPr lang="zh-CN" altLang="en-US" dirty="0"/>
          </a:p>
        </p:txBody>
      </p:sp>
      <p:sp>
        <p:nvSpPr>
          <p:cNvPr id="4" name="内容占位符 3">
            <a:extLst>
              <a:ext uri="{FF2B5EF4-FFF2-40B4-BE49-F238E27FC236}">
                <a16:creationId xmlns:a16="http://schemas.microsoft.com/office/drawing/2014/main" id="{969A3BA3-5EE1-75F8-EF61-427F81F18F85}"/>
              </a:ext>
            </a:extLst>
          </p:cNvPr>
          <p:cNvSpPr>
            <a:spLocks noGrp="1"/>
          </p:cNvSpPr>
          <p:nvPr>
            <p:ph sz="quarter" idx="10"/>
          </p:nvPr>
        </p:nvSpPr>
        <p:spPr>
          <a:xfrm>
            <a:off x="612000" y="899999"/>
            <a:ext cx="7920000" cy="3780000"/>
          </a:xfrm>
        </p:spPr>
        <p:txBody>
          <a:bodyPr/>
          <a:lstStyle/>
          <a:p>
            <a:r>
              <a:rPr lang="zh-CN" altLang="en-US" dirty="0"/>
              <a:t>特点</a:t>
            </a:r>
            <a:endParaRPr lang="en-US" altLang="zh-CN" dirty="0"/>
          </a:p>
          <a:p>
            <a:pPr lvl="1"/>
            <a:r>
              <a:rPr lang="zh-CN" altLang="en-US" dirty="0"/>
              <a:t>资源独占：通话的两个用户始终占用端到端的通信资源</a:t>
            </a:r>
            <a:endParaRPr lang="en-US" altLang="zh-CN" dirty="0"/>
          </a:p>
          <a:p>
            <a:pPr lvl="1"/>
            <a:r>
              <a:rPr lang="zh-CN" altLang="en-US" dirty="0"/>
              <a:t>资源利用率很低：计算机数据具有突发性，这导致在传送数据时，真正用来传送数据的时间往往不到 </a:t>
            </a:r>
            <a:r>
              <a:rPr lang="en-US" altLang="zh-CN" dirty="0"/>
              <a:t>10%</a:t>
            </a:r>
            <a:r>
              <a:rPr lang="zh-CN" altLang="en-US" dirty="0"/>
              <a:t>，甚至不到 </a:t>
            </a:r>
            <a:r>
              <a:rPr lang="en-US" altLang="zh-CN" dirty="0"/>
              <a:t>1%</a:t>
            </a:r>
            <a:r>
              <a:rPr lang="zh-CN" altLang="en-US" dirty="0"/>
              <a:t>；通信线路资源在绝大部分时间里都是空闲的</a:t>
            </a:r>
          </a:p>
        </p:txBody>
      </p:sp>
    </p:spTree>
    <p:extLst>
      <p:ext uri="{BB962C8B-B14F-4D97-AF65-F5344CB8AC3E}">
        <p14:creationId xmlns:p14="http://schemas.microsoft.com/office/powerpoint/2010/main" val="6945357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E277E-F134-93C7-C88C-6004C53305A3}"/>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2F4D2300-AAED-55BD-6AB9-0D190A714D94}"/>
              </a:ext>
            </a:extLst>
          </p:cNvPr>
          <p:cNvSpPr>
            <a:spLocks noGrp="1"/>
          </p:cNvSpPr>
          <p:nvPr>
            <p:ph type="title"/>
          </p:nvPr>
        </p:nvSpPr>
        <p:spPr>
          <a:xfrm>
            <a:off x="612000" y="144000"/>
            <a:ext cx="7920000" cy="341632"/>
          </a:xfrm>
        </p:spPr>
        <p:txBody>
          <a:bodyPr/>
          <a:lstStyle/>
          <a:p>
            <a:r>
              <a:rPr lang="en-US" altLang="zh-CN" dirty="0"/>
              <a:t>2. </a:t>
            </a:r>
            <a:r>
              <a:rPr lang="zh-CN" altLang="en-US" dirty="0"/>
              <a:t>分组交换 </a:t>
            </a:r>
            <a:r>
              <a:rPr lang="en-US" altLang="zh-CN" dirty="0"/>
              <a:t>Packet</a:t>
            </a:r>
            <a:r>
              <a:rPr lang="zh-CN" altLang="en-US" dirty="0"/>
              <a:t> </a:t>
            </a:r>
            <a:r>
              <a:rPr lang="en-US" altLang="zh-CN" dirty="0"/>
              <a:t>Switching</a:t>
            </a:r>
            <a:endParaRPr lang="zh-CN" altLang="en-US" dirty="0"/>
          </a:p>
        </p:txBody>
      </p:sp>
      <p:sp>
        <p:nvSpPr>
          <p:cNvPr id="2" name="内容占位符 1">
            <a:extLst>
              <a:ext uri="{FF2B5EF4-FFF2-40B4-BE49-F238E27FC236}">
                <a16:creationId xmlns:a16="http://schemas.microsoft.com/office/drawing/2014/main" id="{417D5A59-B111-D8F9-B9D4-78882EDC3AB8}"/>
              </a:ext>
            </a:extLst>
          </p:cNvPr>
          <p:cNvSpPr>
            <a:spLocks noGrp="1"/>
          </p:cNvSpPr>
          <p:nvPr>
            <p:ph sz="quarter" idx="10"/>
          </p:nvPr>
        </p:nvSpPr>
        <p:spPr>
          <a:xfrm>
            <a:off x="612000" y="899999"/>
            <a:ext cx="7920000" cy="3780000"/>
          </a:xfrm>
        </p:spPr>
        <p:txBody>
          <a:bodyPr/>
          <a:lstStyle/>
          <a:p>
            <a:r>
              <a:rPr lang="zh-CN" altLang="en-US" dirty="0"/>
              <a:t>分组交换以分组作为数据传输单元</a:t>
            </a:r>
            <a:endParaRPr lang="en-US" altLang="zh-CN" dirty="0"/>
          </a:p>
          <a:p>
            <a:r>
              <a:rPr lang="zh-CN" altLang="en-US" dirty="0"/>
              <a:t>发送前，先把较长的报文划分成更小的等长数据段</a:t>
            </a:r>
            <a:endParaRPr lang="en-US" altLang="zh-CN" dirty="0"/>
          </a:p>
          <a:p>
            <a:pPr lvl="1"/>
            <a:endParaRPr lang="zh-CN" altLang="en-US" dirty="0"/>
          </a:p>
          <a:p>
            <a:endParaRPr lang="zh-CN" altLang="en-US" dirty="0"/>
          </a:p>
        </p:txBody>
      </p:sp>
      <p:sp>
        <p:nvSpPr>
          <p:cNvPr id="3" name="Line 8">
            <a:extLst>
              <a:ext uri="{FF2B5EF4-FFF2-40B4-BE49-F238E27FC236}">
                <a16:creationId xmlns:a16="http://schemas.microsoft.com/office/drawing/2014/main" id="{9B98B9C8-897B-1735-CC7C-7FC3B1670C34}"/>
              </a:ext>
            </a:extLst>
          </p:cNvPr>
          <p:cNvSpPr>
            <a:spLocks noChangeShapeType="1"/>
          </p:cNvSpPr>
          <p:nvPr/>
        </p:nvSpPr>
        <p:spPr bwMode="auto">
          <a:xfrm>
            <a:off x="1872000" y="2208938"/>
            <a:ext cx="5400000"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useBgFill="1">
        <p:nvSpPr>
          <p:cNvPr id="7" name="Text Box 9">
            <a:extLst>
              <a:ext uri="{FF2B5EF4-FFF2-40B4-BE49-F238E27FC236}">
                <a16:creationId xmlns:a16="http://schemas.microsoft.com/office/drawing/2014/main" id="{A79AEF01-784D-BB35-D3DA-E519F6DFEF4B}"/>
              </a:ext>
            </a:extLst>
          </p:cNvPr>
          <p:cNvSpPr txBox="1">
            <a:spLocks noChangeArrowheads="1"/>
          </p:cNvSpPr>
          <p:nvPr/>
        </p:nvSpPr>
        <p:spPr bwMode="auto">
          <a:xfrm>
            <a:off x="3900569" y="2070439"/>
            <a:ext cx="1342863" cy="276999"/>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stStyle>
          <a:p>
            <a:r>
              <a:rPr lang="zh-CN" altLang="en-US" sz="1200" dirty="0"/>
              <a:t>报文 </a:t>
            </a:r>
            <a:r>
              <a:rPr lang="en-US" altLang="zh-CN" sz="1200" dirty="0"/>
              <a:t>Packet</a:t>
            </a:r>
            <a:endParaRPr lang="zh-CN" altLang="en-US" sz="1200" dirty="0"/>
          </a:p>
        </p:txBody>
      </p:sp>
      <p:cxnSp>
        <p:nvCxnSpPr>
          <p:cNvPr id="9" name="直接连接符 10">
            <a:extLst>
              <a:ext uri="{FF2B5EF4-FFF2-40B4-BE49-F238E27FC236}">
                <a16:creationId xmlns:a16="http://schemas.microsoft.com/office/drawing/2014/main" id="{5D9A3E82-7F85-28AC-E346-0107F50FE51E}"/>
              </a:ext>
            </a:extLst>
          </p:cNvPr>
          <p:cNvCxnSpPr>
            <a:cxnSpLocks noChangeShapeType="1"/>
          </p:cNvCxnSpPr>
          <p:nvPr/>
        </p:nvCxnSpPr>
        <p:spPr bwMode="auto">
          <a:xfrm>
            <a:off x="7272000" y="2028938"/>
            <a:ext cx="0" cy="360000"/>
          </a:xfrm>
          <a:prstGeom prst="line">
            <a:avLst/>
          </a:prstGeom>
          <a:solidFill>
            <a:srgbClr val="CDF3CD"/>
          </a:solidFill>
          <a:ln w="19050">
            <a:solidFill>
              <a:srgbClr val="00CC00"/>
            </a:solidFill>
            <a:miter lim="800000"/>
          </a:ln>
        </p:spPr>
      </p:cxnSp>
      <p:cxnSp>
        <p:nvCxnSpPr>
          <p:cNvPr id="12" name="直接连接符 11">
            <a:extLst>
              <a:ext uri="{FF2B5EF4-FFF2-40B4-BE49-F238E27FC236}">
                <a16:creationId xmlns:a16="http://schemas.microsoft.com/office/drawing/2014/main" id="{035D4F5B-7C06-E6F6-2821-98F38A917B67}"/>
              </a:ext>
            </a:extLst>
          </p:cNvPr>
          <p:cNvCxnSpPr>
            <a:cxnSpLocks noChangeShapeType="1"/>
          </p:cNvCxnSpPr>
          <p:nvPr/>
        </p:nvCxnSpPr>
        <p:spPr bwMode="auto">
          <a:xfrm>
            <a:off x="1872000" y="2028938"/>
            <a:ext cx="0" cy="360000"/>
          </a:xfrm>
          <a:prstGeom prst="line">
            <a:avLst/>
          </a:prstGeom>
          <a:solidFill>
            <a:srgbClr val="CDF3CD"/>
          </a:solidFill>
          <a:ln w="19050">
            <a:solidFill>
              <a:srgbClr val="00CC00"/>
            </a:solidFill>
            <a:miter lim="800000"/>
          </a:ln>
        </p:spPr>
      </p:cxnSp>
      <p:sp>
        <p:nvSpPr>
          <p:cNvPr id="13" name="Rectangle 74">
            <a:extLst>
              <a:ext uri="{FF2B5EF4-FFF2-40B4-BE49-F238E27FC236}">
                <a16:creationId xmlns:a16="http://schemas.microsoft.com/office/drawing/2014/main" id="{45F1AAEB-BB43-44D8-D79D-BADE56BB4DE7}"/>
              </a:ext>
            </a:extLst>
          </p:cNvPr>
          <p:cNvSpPr>
            <a:spLocks noChangeArrowheads="1"/>
          </p:cNvSpPr>
          <p:nvPr/>
        </p:nvSpPr>
        <p:spPr bwMode="auto">
          <a:xfrm>
            <a:off x="1872000" y="2464464"/>
            <a:ext cx="5400000" cy="360000"/>
          </a:xfrm>
          <a:prstGeom prst="rect">
            <a:avLst/>
          </a:prstGeom>
          <a:solidFill>
            <a:srgbClr val="CDF3CD"/>
          </a:solidFill>
          <a:ln w="19050">
            <a:solidFill>
              <a:srgbClr val="00CC00"/>
            </a:solidFill>
            <a:miter lim="800000"/>
          </a:ln>
        </p:spPr>
        <p:txBody>
          <a:bodyPr wrap="none" anchor="ctr"/>
          <a:lstStyle/>
          <a:p>
            <a:pPr algn="ctr"/>
            <a:r>
              <a:rPr lang="zh-CN" altLang="en-US" sz="1200" dirty="0"/>
              <a:t>数据 </a:t>
            </a:r>
            <a:r>
              <a:rPr lang="en-US" altLang="zh-CN" sz="1200" dirty="0"/>
              <a:t>Data                        </a:t>
            </a:r>
            <a:r>
              <a:rPr lang="zh-CN" altLang="en-US" sz="1200" dirty="0"/>
              <a:t>数据 </a:t>
            </a:r>
            <a:r>
              <a:rPr lang="en-US" altLang="zh-CN" sz="1200" dirty="0"/>
              <a:t>Data                           </a:t>
            </a:r>
            <a:r>
              <a:rPr lang="zh-CN" altLang="en-US" sz="1200" dirty="0"/>
              <a:t>数据 </a:t>
            </a:r>
            <a:r>
              <a:rPr lang="en-US" altLang="zh-CN" sz="1200" dirty="0"/>
              <a:t>Data</a:t>
            </a:r>
          </a:p>
        </p:txBody>
      </p:sp>
      <p:cxnSp>
        <p:nvCxnSpPr>
          <p:cNvPr id="14" name="直接连接符 10">
            <a:extLst>
              <a:ext uri="{FF2B5EF4-FFF2-40B4-BE49-F238E27FC236}">
                <a16:creationId xmlns:a16="http://schemas.microsoft.com/office/drawing/2014/main" id="{6ED978D8-704E-80D5-4F68-359C4C2C60FA}"/>
              </a:ext>
            </a:extLst>
          </p:cNvPr>
          <p:cNvCxnSpPr>
            <a:cxnSpLocks noChangeShapeType="1"/>
          </p:cNvCxnSpPr>
          <p:nvPr/>
        </p:nvCxnSpPr>
        <p:spPr bwMode="auto">
          <a:xfrm>
            <a:off x="3672000" y="2464464"/>
            <a:ext cx="0" cy="360000"/>
          </a:xfrm>
          <a:prstGeom prst="line">
            <a:avLst/>
          </a:prstGeom>
          <a:solidFill>
            <a:srgbClr val="CDF3CD"/>
          </a:solidFill>
          <a:ln w="19050">
            <a:solidFill>
              <a:srgbClr val="00CC00"/>
            </a:solidFill>
            <a:miter lim="800000"/>
          </a:ln>
        </p:spPr>
      </p:cxnSp>
      <p:cxnSp>
        <p:nvCxnSpPr>
          <p:cNvPr id="15" name="直接连接符 10">
            <a:extLst>
              <a:ext uri="{FF2B5EF4-FFF2-40B4-BE49-F238E27FC236}">
                <a16:creationId xmlns:a16="http://schemas.microsoft.com/office/drawing/2014/main" id="{0D11EFF8-24CF-7164-FDA2-7CB93646B926}"/>
              </a:ext>
            </a:extLst>
          </p:cNvPr>
          <p:cNvCxnSpPr>
            <a:cxnSpLocks noChangeShapeType="1"/>
          </p:cNvCxnSpPr>
          <p:nvPr/>
        </p:nvCxnSpPr>
        <p:spPr bwMode="auto">
          <a:xfrm>
            <a:off x="5472000" y="2464464"/>
            <a:ext cx="0" cy="360000"/>
          </a:xfrm>
          <a:prstGeom prst="line">
            <a:avLst/>
          </a:prstGeom>
          <a:solidFill>
            <a:srgbClr val="CDF3CD"/>
          </a:solidFill>
          <a:ln w="19050">
            <a:solidFill>
              <a:srgbClr val="00CC00"/>
            </a:solidFill>
            <a:miter lim="800000"/>
          </a:ln>
        </p:spPr>
      </p:cxnSp>
    </p:spTree>
    <p:extLst>
      <p:ext uri="{BB962C8B-B14F-4D97-AF65-F5344CB8AC3E}">
        <p14:creationId xmlns:p14="http://schemas.microsoft.com/office/powerpoint/2010/main" val="37952405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51911A7D-B252-8039-8DB8-B2F80C9D36CD}"/>
              </a:ext>
            </a:extLst>
          </p:cNvPr>
          <p:cNvSpPr>
            <a:spLocks noGrp="1"/>
          </p:cNvSpPr>
          <p:nvPr>
            <p:ph type="title"/>
          </p:nvPr>
        </p:nvSpPr>
        <p:spPr>
          <a:xfrm>
            <a:off x="612000" y="144000"/>
            <a:ext cx="7920000" cy="341632"/>
          </a:xfrm>
        </p:spPr>
        <p:txBody>
          <a:bodyPr/>
          <a:lstStyle/>
          <a:p>
            <a:r>
              <a:rPr lang="en-US" altLang="zh-CN" dirty="0"/>
              <a:t>2. </a:t>
            </a:r>
            <a:r>
              <a:rPr lang="zh-CN" altLang="en-US" dirty="0"/>
              <a:t>分组交换 </a:t>
            </a:r>
            <a:r>
              <a:rPr lang="en-US" altLang="zh-CN" dirty="0"/>
              <a:t>Packet</a:t>
            </a:r>
            <a:r>
              <a:rPr lang="zh-CN" altLang="en-US" dirty="0"/>
              <a:t> </a:t>
            </a:r>
            <a:r>
              <a:rPr lang="en-US" altLang="zh-CN" dirty="0"/>
              <a:t>Switching</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数据段前面添加首部就构成了分组 </a:t>
            </a:r>
            <a:r>
              <a:rPr lang="en-US" altLang="zh-CN" dirty="0"/>
              <a:t>Packet</a:t>
            </a:r>
          </a:p>
          <a:p>
            <a:r>
              <a:rPr lang="zh-CN" altLang="en-US" dirty="0"/>
              <a:t>分组又称为包，而分组的首部也可称为包头</a:t>
            </a:r>
            <a:endParaRPr lang="en-US" altLang="zh-CN" dirty="0"/>
          </a:p>
          <a:p>
            <a:r>
              <a:rPr lang="zh-CN" altLang="en-US" dirty="0"/>
              <a:t>发送端依次把各分组发送到接收端</a:t>
            </a:r>
          </a:p>
          <a:p>
            <a:pPr lvl="1"/>
            <a:endParaRPr lang="zh-CN" altLang="en-US" dirty="0"/>
          </a:p>
          <a:p>
            <a:endParaRPr lang="zh-CN" altLang="en-US" dirty="0"/>
          </a:p>
        </p:txBody>
      </p:sp>
      <p:grpSp>
        <p:nvGrpSpPr>
          <p:cNvPr id="71" name="组合 70">
            <a:extLst>
              <a:ext uri="{FF2B5EF4-FFF2-40B4-BE49-F238E27FC236}">
                <a16:creationId xmlns:a16="http://schemas.microsoft.com/office/drawing/2014/main" id="{0B9510A0-F4F3-B16A-05D3-4BADBAB0B419}"/>
              </a:ext>
            </a:extLst>
          </p:cNvPr>
          <p:cNvGrpSpPr/>
          <p:nvPr/>
        </p:nvGrpSpPr>
        <p:grpSpPr>
          <a:xfrm>
            <a:off x="1512000" y="2901344"/>
            <a:ext cx="2160744" cy="806127"/>
            <a:chOff x="1512000" y="3405608"/>
            <a:chExt cx="2160744" cy="806127"/>
          </a:xfrm>
        </p:grpSpPr>
        <p:sp>
          <p:nvSpPr>
            <p:cNvPr id="54" name="Rectangle 2"/>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55" name="Rectangle 10"/>
            <p:cNvSpPr>
              <a:spLocks noChangeArrowheads="1"/>
            </p:cNvSpPr>
            <p:nvPr/>
          </p:nvSpPr>
          <p:spPr bwMode="auto">
            <a:xfrm>
              <a:off x="1512000" y="3851735"/>
              <a:ext cx="360000" cy="360000"/>
            </a:xfrm>
            <a:prstGeom prst="rect">
              <a:avLst/>
            </a:prstGeom>
            <a:solidFill>
              <a:schemeClr val="bg1"/>
            </a:solidFill>
            <a:ln w="19050">
              <a:solidFill>
                <a:schemeClr val="tx1"/>
              </a:solidFill>
              <a:miter lim="800000"/>
            </a:ln>
          </p:spPr>
          <p:txBody>
            <a:bodyPr wrap="none" anchor="ctr"/>
            <a:lstStyle/>
            <a:p>
              <a:pPr algn="ctr"/>
              <a:r>
                <a:rPr lang="zh-CN" altLang="en-US" sz="1200" dirty="0"/>
                <a:t>首部</a:t>
              </a:r>
            </a:p>
          </p:txBody>
        </p:sp>
        <p:sp>
          <p:nvSpPr>
            <p:cNvPr id="57" name="AutoShape 14"/>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58" name="Text Box 15"/>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grpSp>
        <p:nvGrpSpPr>
          <p:cNvPr id="72" name="组合 71">
            <a:extLst>
              <a:ext uri="{FF2B5EF4-FFF2-40B4-BE49-F238E27FC236}">
                <a16:creationId xmlns:a16="http://schemas.microsoft.com/office/drawing/2014/main" id="{1C9BBE23-5AB5-3CC3-08B2-19D9F37F9748}"/>
              </a:ext>
            </a:extLst>
          </p:cNvPr>
          <p:cNvGrpSpPr/>
          <p:nvPr/>
        </p:nvGrpSpPr>
        <p:grpSpPr>
          <a:xfrm>
            <a:off x="3311256" y="3461641"/>
            <a:ext cx="2160744" cy="806127"/>
            <a:chOff x="1512000" y="3405608"/>
            <a:chExt cx="2160744" cy="806127"/>
          </a:xfrm>
        </p:grpSpPr>
        <p:sp>
          <p:nvSpPr>
            <p:cNvPr id="73" name="Rectangle 2">
              <a:extLst>
                <a:ext uri="{FF2B5EF4-FFF2-40B4-BE49-F238E27FC236}">
                  <a16:creationId xmlns:a16="http://schemas.microsoft.com/office/drawing/2014/main" id="{C9797E4B-C693-0743-4CB8-DF537F617A2E}"/>
                </a:ext>
              </a:extLst>
            </p:cNvPr>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74" name="Rectangle 10">
              <a:extLst>
                <a:ext uri="{FF2B5EF4-FFF2-40B4-BE49-F238E27FC236}">
                  <a16:creationId xmlns:a16="http://schemas.microsoft.com/office/drawing/2014/main" id="{F40915F1-CDB2-D702-03AD-4A62784D62E2}"/>
                </a:ext>
              </a:extLst>
            </p:cNvPr>
            <p:cNvSpPr>
              <a:spLocks noChangeArrowheads="1"/>
            </p:cNvSpPr>
            <p:nvPr/>
          </p:nvSpPr>
          <p:spPr bwMode="auto">
            <a:xfrm>
              <a:off x="1512000" y="3851735"/>
              <a:ext cx="360000" cy="360000"/>
            </a:xfrm>
            <a:prstGeom prst="rect">
              <a:avLst/>
            </a:prstGeom>
            <a:solidFill>
              <a:schemeClr val="bg1"/>
            </a:solidFill>
            <a:ln w="19050">
              <a:solidFill>
                <a:schemeClr val="tx1"/>
              </a:solidFill>
              <a:miter lim="800000"/>
            </a:ln>
          </p:spPr>
          <p:txBody>
            <a:bodyPr wrap="none" anchor="ctr"/>
            <a:lstStyle/>
            <a:p>
              <a:pPr algn="ctr"/>
              <a:r>
                <a:rPr lang="zh-CN" altLang="en-US" sz="1200" dirty="0"/>
                <a:t>首部</a:t>
              </a:r>
            </a:p>
          </p:txBody>
        </p:sp>
        <p:sp>
          <p:nvSpPr>
            <p:cNvPr id="75" name="AutoShape 14">
              <a:extLst>
                <a:ext uri="{FF2B5EF4-FFF2-40B4-BE49-F238E27FC236}">
                  <a16:creationId xmlns:a16="http://schemas.microsoft.com/office/drawing/2014/main" id="{7F5D718D-C55B-EABD-9B8C-449314235239}"/>
                </a:ext>
              </a:extLst>
            </p:cNvPr>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76" name="Text Box 15">
              <a:extLst>
                <a:ext uri="{FF2B5EF4-FFF2-40B4-BE49-F238E27FC236}">
                  <a16:creationId xmlns:a16="http://schemas.microsoft.com/office/drawing/2014/main" id="{F4D3F212-3509-E686-32AA-B552DB3CDB7E}"/>
                </a:ext>
              </a:extLst>
            </p:cNvPr>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grpSp>
        <p:nvGrpSpPr>
          <p:cNvPr id="77" name="组合 76">
            <a:extLst>
              <a:ext uri="{FF2B5EF4-FFF2-40B4-BE49-F238E27FC236}">
                <a16:creationId xmlns:a16="http://schemas.microsoft.com/office/drawing/2014/main" id="{FC7F351B-279F-0766-D324-10AE6DDA3AEE}"/>
              </a:ext>
            </a:extLst>
          </p:cNvPr>
          <p:cNvGrpSpPr/>
          <p:nvPr/>
        </p:nvGrpSpPr>
        <p:grpSpPr>
          <a:xfrm>
            <a:off x="5111256" y="4021938"/>
            <a:ext cx="2160744" cy="806127"/>
            <a:chOff x="1512000" y="3405608"/>
            <a:chExt cx="2160744" cy="806127"/>
          </a:xfrm>
        </p:grpSpPr>
        <p:sp>
          <p:nvSpPr>
            <p:cNvPr id="78" name="Rectangle 2">
              <a:extLst>
                <a:ext uri="{FF2B5EF4-FFF2-40B4-BE49-F238E27FC236}">
                  <a16:creationId xmlns:a16="http://schemas.microsoft.com/office/drawing/2014/main" id="{0254D680-EA03-1639-8929-A8B97B1BD582}"/>
                </a:ext>
              </a:extLst>
            </p:cNvPr>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79" name="Rectangle 10">
              <a:extLst>
                <a:ext uri="{FF2B5EF4-FFF2-40B4-BE49-F238E27FC236}">
                  <a16:creationId xmlns:a16="http://schemas.microsoft.com/office/drawing/2014/main" id="{10D153B5-5356-E863-F104-6CC1494FB127}"/>
                </a:ext>
              </a:extLst>
            </p:cNvPr>
            <p:cNvSpPr>
              <a:spLocks noChangeArrowheads="1"/>
            </p:cNvSpPr>
            <p:nvPr/>
          </p:nvSpPr>
          <p:spPr bwMode="auto">
            <a:xfrm>
              <a:off x="1512000" y="3851735"/>
              <a:ext cx="360000" cy="360000"/>
            </a:xfrm>
            <a:prstGeom prst="rect">
              <a:avLst/>
            </a:prstGeom>
            <a:solidFill>
              <a:schemeClr val="bg1"/>
            </a:solidFill>
            <a:ln w="19050">
              <a:solidFill>
                <a:schemeClr val="tx1"/>
              </a:solidFill>
              <a:miter lim="800000"/>
            </a:ln>
          </p:spPr>
          <p:txBody>
            <a:bodyPr wrap="none" anchor="ctr"/>
            <a:lstStyle/>
            <a:p>
              <a:pPr algn="ctr"/>
              <a:r>
                <a:rPr lang="zh-CN" altLang="en-US" sz="1200" dirty="0"/>
                <a:t>首部</a:t>
              </a:r>
            </a:p>
          </p:txBody>
        </p:sp>
        <p:sp>
          <p:nvSpPr>
            <p:cNvPr id="80" name="AutoShape 14">
              <a:extLst>
                <a:ext uri="{FF2B5EF4-FFF2-40B4-BE49-F238E27FC236}">
                  <a16:creationId xmlns:a16="http://schemas.microsoft.com/office/drawing/2014/main" id="{AE4E15C6-13B7-3221-6325-03E8D4C52F11}"/>
                </a:ext>
              </a:extLst>
            </p:cNvPr>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81" name="Text Box 15">
              <a:extLst>
                <a:ext uri="{FF2B5EF4-FFF2-40B4-BE49-F238E27FC236}">
                  <a16:creationId xmlns:a16="http://schemas.microsoft.com/office/drawing/2014/main" id="{A6996A48-A08F-0B85-D8AC-1587F6FDA38C}"/>
                </a:ext>
              </a:extLst>
            </p:cNvPr>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sp>
        <p:nvSpPr>
          <p:cNvPr id="82" name="Line 8">
            <a:extLst>
              <a:ext uri="{FF2B5EF4-FFF2-40B4-BE49-F238E27FC236}">
                <a16:creationId xmlns:a16="http://schemas.microsoft.com/office/drawing/2014/main" id="{0DCE8FCB-F9D4-506B-650B-F0CE8334E602}"/>
              </a:ext>
            </a:extLst>
          </p:cNvPr>
          <p:cNvSpPr>
            <a:spLocks noChangeShapeType="1"/>
          </p:cNvSpPr>
          <p:nvPr/>
        </p:nvSpPr>
        <p:spPr bwMode="auto">
          <a:xfrm>
            <a:off x="1872000" y="2208938"/>
            <a:ext cx="5400000"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useBgFill="1">
        <p:nvSpPr>
          <p:cNvPr id="83" name="Text Box 9">
            <a:extLst>
              <a:ext uri="{FF2B5EF4-FFF2-40B4-BE49-F238E27FC236}">
                <a16:creationId xmlns:a16="http://schemas.microsoft.com/office/drawing/2014/main" id="{9D55B05C-2F5A-3387-71C4-A06AEA2B3FDE}"/>
              </a:ext>
            </a:extLst>
          </p:cNvPr>
          <p:cNvSpPr txBox="1">
            <a:spLocks noChangeArrowheads="1"/>
          </p:cNvSpPr>
          <p:nvPr/>
        </p:nvSpPr>
        <p:spPr bwMode="auto">
          <a:xfrm>
            <a:off x="3900569" y="2070439"/>
            <a:ext cx="1342863" cy="276999"/>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stStyle>
          <a:p>
            <a:r>
              <a:rPr lang="zh-CN" altLang="en-US" sz="1200" dirty="0"/>
              <a:t>报文 </a:t>
            </a:r>
            <a:r>
              <a:rPr lang="en-US" altLang="zh-CN" sz="1200" dirty="0"/>
              <a:t>Packet</a:t>
            </a:r>
            <a:endParaRPr lang="zh-CN" altLang="en-US" sz="1200" dirty="0"/>
          </a:p>
        </p:txBody>
      </p:sp>
      <p:cxnSp>
        <p:nvCxnSpPr>
          <p:cNvPr id="84" name="直接连接符 10">
            <a:extLst>
              <a:ext uri="{FF2B5EF4-FFF2-40B4-BE49-F238E27FC236}">
                <a16:creationId xmlns:a16="http://schemas.microsoft.com/office/drawing/2014/main" id="{F04DB95F-BCC1-8CA4-FA88-C3A3E5D89E75}"/>
              </a:ext>
            </a:extLst>
          </p:cNvPr>
          <p:cNvCxnSpPr>
            <a:cxnSpLocks noChangeShapeType="1"/>
          </p:cNvCxnSpPr>
          <p:nvPr/>
        </p:nvCxnSpPr>
        <p:spPr bwMode="auto">
          <a:xfrm>
            <a:off x="7272000" y="2028938"/>
            <a:ext cx="0" cy="360000"/>
          </a:xfrm>
          <a:prstGeom prst="line">
            <a:avLst/>
          </a:prstGeom>
          <a:solidFill>
            <a:srgbClr val="CDF3CD"/>
          </a:solidFill>
          <a:ln w="19050">
            <a:solidFill>
              <a:srgbClr val="00CC00"/>
            </a:solidFill>
            <a:miter lim="800000"/>
          </a:ln>
        </p:spPr>
      </p:cxnSp>
      <p:cxnSp>
        <p:nvCxnSpPr>
          <p:cNvPr id="85" name="直接连接符 11">
            <a:extLst>
              <a:ext uri="{FF2B5EF4-FFF2-40B4-BE49-F238E27FC236}">
                <a16:creationId xmlns:a16="http://schemas.microsoft.com/office/drawing/2014/main" id="{41B5D424-232F-CE07-2B82-C7C73DFE10B0}"/>
              </a:ext>
            </a:extLst>
          </p:cNvPr>
          <p:cNvCxnSpPr>
            <a:cxnSpLocks noChangeShapeType="1"/>
          </p:cNvCxnSpPr>
          <p:nvPr/>
        </p:nvCxnSpPr>
        <p:spPr bwMode="auto">
          <a:xfrm>
            <a:off x="1872000" y="2028938"/>
            <a:ext cx="0" cy="360000"/>
          </a:xfrm>
          <a:prstGeom prst="line">
            <a:avLst/>
          </a:prstGeom>
          <a:solidFill>
            <a:srgbClr val="CDF3CD"/>
          </a:solidFill>
          <a:ln w="19050">
            <a:solidFill>
              <a:srgbClr val="00CC00"/>
            </a:solidFill>
            <a:miter lim="800000"/>
          </a:ln>
        </p:spPr>
      </p:cxnSp>
      <p:sp>
        <p:nvSpPr>
          <p:cNvPr id="86" name="Rectangle 74">
            <a:extLst>
              <a:ext uri="{FF2B5EF4-FFF2-40B4-BE49-F238E27FC236}">
                <a16:creationId xmlns:a16="http://schemas.microsoft.com/office/drawing/2014/main" id="{B7DE82B3-3C43-5E36-FAD8-889BF6BC1F95}"/>
              </a:ext>
            </a:extLst>
          </p:cNvPr>
          <p:cNvSpPr>
            <a:spLocks noChangeArrowheads="1"/>
          </p:cNvSpPr>
          <p:nvPr/>
        </p:nvSpPr>
        <p:spPr bwMode="auto">
          <a:xfrm>
            <a:off x="1872000" y="2464464"/>
            <a:ext cx="5400000" cy="360000"/>
          </a:xfrm>
          <a:prstGeom prst="rect">
            <a:avLst/>
          </a:prstGeom>
          <a:solidFill>
            <a:srgbClr val="CDF3CD"/>
          </a:solidFill>
          <a:ln w="19050">
            <a:solidFill>
              <a:srgbClr val="00CC00"/>
            </a:solidFill>
            <a:miter lim="800000"/>
          </a:ln>
        </p:spPr>
        <p:txBody>
          <a:bodyPr wrap="none" anchor="ctr"/>
          <a:lstStyle/>
          <a:p>
            <a:pPr algn="ctr"/>
            <a:r>
              <a:rPr lang="zh-CN" altLang="en-US" sz="1200" dirty="0"/>
              <a:t>数据 </a:t>
            </a:r>
            <a:r>
              <a:rPr lang="en-US" altLang="zh-CN" sz="1200" dirty="0"/>
              <a:t>Data                        </a:t>
            </a:r>
            <a:r>
              <a:rPr lang="zh-CN" altLang="en-US" sz="1200" dirty="0"/>
              <a:t>数据 </a:t>
            </a:r>
            <a:r>
              <a:rPr lang="en-US" altLang="zh-CN" sz="1200" dirty="0"/>
              <a:t>Data                           </a:t>
            </a:r>
            <a:r>
              <a:rPr lang="zh-CN" altLang="en-US" sz="1200" dirty="0"/>
              <a:t>数据 </a:t>
            </a:r>
            <a:r>
              <a:rPr lang="en-US" altLang="zh-CN" sz="1200" dirty="0"/>
              <a:t>Data</a:t>
            </a:r>
          </a:p>
        </p:txBody>
      </p:sp>
      <p:cxnSp>
        <p:nvCxnSpPr>
          <p:cNvPr id="87" name="直接连接符 10">
            <a:extLst>
              <a:ext uri="{FF2B5EF4-FFF2-40B4-BE49-F238E27FC236}">
                <a16:creationId xmlns:a16="http://schemas.microsoft.com/office/drawing/2014/main" id="{9F63F13E-5DB2-C2D9-79EB-34B7B2CADE93}"/>
              </a:ext>
            </a:extLst>
          </p:cNvPr>
          <p:cNvCxnSpPr>
            <a:cxnSpLocks noChangeShapeType="1"/>
          </p:cNvCxnSpPr>
          <p:nvPr/>
        </p:nvCxnSpPr>
        <p:spPr bwMode="auto">
          <a:xfrm>
            <a:off x="3672000" y="2464464"/>
            <a:ext cx="0" cy="360000"/>
          </a:xfrm>
          <a:prstGeom prst="line">
            <a:avLst/>
          </a:prstGeom>
          <a:solidFill>
            <a:srgbClr val="CDF3CD"/>
          </a:solidFill>
          <a:ln w="19050">
            <a:solidFill>
              <a:srgbClr val="00CC00"/>
            </a:solidFill>
            <a:miter lim="800000"/>
          </a:ln>
        </p:spPr>
      </p:cxnSp>
      <p:cxnSp>
        <p:nvCxnSpPr>
          <p:cNvPr id="88" name="直接连接符 10">
            <a:extLst>
              <a:ext uri="{FF2B5EF4-FFF2-40B4-BE49-F238E27FC236}">
                <a16:creationId xmlns:a16="http://schemas.microsoft.com/office/drawing/2014/main" id="{C70AC922-E016-D375-5119-219E3CB78B46}"/>
              </a:ext>
            </a:extLst>
          </p:cNvPr>
          <p:cNvCxnSpPr>
            <a:cxnSpLocks noChangeShapeType="1"/>
          </p:cNvCxnSpPr>
          <p:nvPr/>
        </p:nvCxnSpPr>
        <p:spPr bwMode="auto">
          <a:xfrm>
            <a:off x="5472000" y="2464464"/>
            <a:ext cx="0" cy="360000"/>
          </a:xfrm>
          <a:prstGeom prst="line">
            <a:avLst/>
          </a:prstGeom>
          <a:solidFill>
            <a:srgbClr val="CDF3CD"/>
          </a:solidFill>
          <a:ln w="19050">
            <a:solidFill>
              <a:srgbClr val="00CC00"/>
            </a:solidFill>
            <a:miter lim="800000"/>
          </a:ln>
        </p:spPr>
      </p:cxnSp>
      <p:sp>
        <p:nvSpPr>
          <p:cNvPr id="90" name="箭头: 下 89">
            <a:extLst>
              <a:ext uri="{FF2B5EF4-FFF2-40B4-BE49-F238E27FC236}">
                <a16:creationId xmlns:a16="http://schemas.microsoft.com/office/drawing/2014/main" id="{7D2C3A6C-D4AF-17AA-7863-836E3EF471D1}"/>
              </a:ext>
            </a:extLst>
          </p:cNvPr>
          <p:cNvSpPr/>
          <p:nvPr/>
        </p:nvSpPr>
        <p:spPr>
          <a:xfrm>
            <a:off x="4484594" y="2891109"/>
            <a:ext cx="181535" cy="175812"/>
          </a:xfrm>
          <a:prstGeom prst="downArrow">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81174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7DD34F-F6F5-AB2C-B763-BB054A3C8A3D}"/>
              </a:ext>
            </a:extLst>
          </p:cNvPr>
          <p:cNvSpPr>
            <a:spLocks noGrp="1"/>
          </p:cNvSpPr>
          <p:nvPr>
            <p:ph type="title"/>
          </p:nvPr>
        </p:nvSpPr>
        <p:spPr>
          <a:xfrm>
            <a:off x="612000" y="144000"/>
            <a:ext cx="7920000" cy="341632"/>
          </a:xfrm>
        </p:spPr>
        <p:txBody>
          <a:bodyPr/>
          <a:lstStyle/>
          <a:p>
            <a:r>
              <a:rPr lang="en-US" altLang="zh-CN" dirty="0"/>
              <a:t>2. </a:t>
            </a:r>
            <a:r>
              <a:rPr lang="zh-CN" altLang="en-US" dirty="0"/>
              <a:t>分组交换 </a:t>
            </a:r>
            <a:r>
              <a:rPr lang="en-US" altLang="zh-CN" dirty="0"/>
              <a:t>Packet</a:t>
            </a:r>
            <a:r>
              <a:rPr lang="zh-CN" altLang="en-US" dirty="0"/>
              <a:t> </a:t>
            </a:r>
            <a:r>
              <a:rPr lang="en-US" altLang="zh-CN" dirty="0"/>
              <a:t>Switching</a:t>
            </a:r>
            <a:endParaRPr lang="zh-CN" altLang="en-US" dirty="0"/>
          </a:p>
        </p:txBody>
      </p:sp>
      <p:sp>
        <p:nvSpPr>
          <p:cNvPr id="19" name="内容占位符 18">
            <a:extLst>
              <a:ext uri="{FF2B5EF4-FFF2-40B4-BE49-F238E27FC236}">
                <a16:creationId xmlns:a16="http://schemas.microsoft.com/office/drawing/2014/main" id="{47225FEC-C541-50F2-934A-31874E36828A}"/>
              </a:ext>
            </a:extLst>
          </p:cNvPr>
          <p:cNvSpPr>
            <a:spLocks noGrp="1"/>
          </p:cNvSpPr>
          <p:nvPr>
            <p:ph sz="quarter" idx="10"/>
          </p:nvPr>
        </p:nvSpPr>
        <p:spPr>
          <a:xfrm>
            <a:off x="612000" y="899999"/>
            <a:ext cx="7920000" cy="3780000"/>
          </a:xfrm>
        </p:spPr>
        <p:txBody>
          <a:bodyPr/>
          <a:lstStyle/>
          <a:p>
            <a:r>
              <a:rPr lang="zh-CN" altLang="en-US" dirty="0"/>
              <a:t>接收端收到分组后剥去首部，还原成原来的报文</a:t>
            </a:r>
            <a:endParaRPr lang="en-US" altLang="zh-CN" dirty="0"/>
          </a:p>
          <a:p>
            <a:r>
              <a:rPr lang="zh-CN" altLang="en-US" dirty="0"/>
              <a:t>假定分组在传输过程中没有出现差错，在转发时也没有被丢弃</a:t>
            </a:r>
          </a:p>
        </p:txBody>
      </p:sp>
      <p:sp>
        <p:nvSpPr>
          <p:cNvPr id="37" name="Line 8">
            <a:extLst>
              <a:ext uri="{FF2B5EF4-FFF2-40B4-BE49-F238E27FC236}">
                <a16:creationId xmlns:a16="http://schemas.microsoft.com/office/drawing/2014/main" id="{DCCB1C98-87C8-EB10-7587-4DC9CE9B69C0}"/>
              </a:ext>
            </a:extLst>
          </p:cNvPr>
          <p:cNvSpPr>
            <a:spLocks noChangeShapeType="1"/>
          </p:cNvSpPr>
          <p:nvPr/>
        </p:nvSpPr>
        <p:spPr bwMode="auto">
          <a:xfrm>
            <a:off x="1872000" y="3990677"/>
            <a:ext cx="5400000"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useBgFill="1">
        <p:nvSpPr>
          <p:cNvPr id="38" name="Text Box 9">
            <a:extLst>
              <a:ext uri="{FF2B5EF4-FFF2-40B4-BE49-F238E27FC236}">
                <a16:creationId xmlns:a16="http://schemas.microsoft.com/office/drawing/2014/main" id="{1CBFC1D4-73F7-6714-BF98-1EBBFE2FF25D}"/>
              </a:ext>
            </a:extLst>
          </p:cNvPr>
          <p:cNvSpPr txBox="1">
            <a:spLocks noChangeArrowheads="1"/>
          </p:cNvSpPr>
          <p:nvPr/>
        </p:nvSpPr>
        <p:spPr bwMode="auto">
          <a:xfrm>
            <a:off x="3900569" y="3852178"/>
            <a:ext cx="1342863" cy="276999"/>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stStyle>
          <a:p>
            <a:r>
              <a:rPr lang="zh-CN" altLang="en-US" sz="1200" dirty="0"/>
              <a:t>报文 </a:t>
            </a:r>
            <a:r>
              <a:rPr lang="en-US" altLang="zh-CN" sz="1200" dirty="0"/>
              <a:t>Packet</a:t>
            </a:r>
            <a:endParaRPr lang="zh-CN" altLang="en-US" sz="1200" dirty="0"/>
          </a:p>
        </p:txBody>
      </p:sp>
      <p:cxnSp>
        <p:nvCxnSpPr>
          <p:cNvPr id="39" name="直接连接符 10">
            <a:extLst>
              <a:ext uri="{FF2B5EF4-FFF2-40B4-BE49-F238E27FC236}">
                <a16:creationId xmlns:a16="http://schemas.microsoft.com/office/drawing/2014/main" id="{94BC5D34-26E0-AB4C-B70D-5ACA0653AB33}"/>
              </a:ext>
            </a:extLst>
          </p:cNvPr>
          <p:cNvCxnSpPr>
            <a:cxnSpLocks noChangeShapeType="1"/>
          </p:cNvCxnSpPr>
          <p:nvPr/>
        </p:nvCxnSpPr>
        <p:spPr bwMode="auto">
          <a:xfrm>
            <a:off x="7272000" y="3810677"/>
            <a:ext cx="0" cy="360000"/>
          </a:xfrm>
          <a:prstGeom prst="line">
            <a:avLst/>
          </a:prstGeom>
          <a:solidFill>
            <a:srgbClr val="CDF3CD"/>
          </a:solidFill>
          <a:ln w="19050">
            <a:solidFill>
              <a:srgbClr val="00CC00"/>
            </a:solidFill>
            <a:miter lim="800000"/>
          </a:ln>
        </p:spPr>
      </p:cxnSp>
      <p:cxnSp>
        <p:nvCxnSpPr>
          <p:cNvPr id="40" name="直接连接符 11">
            <a:extLst>
              <a:ext uri="{FF2B5EF4-FFF2-40B4-BE49-F238E27FC236}">
                <a16:creationId xmlns:a16="http://schemas.microsoft.com/office/drawing/2014/main" id="{D4585718-A961-74C3-E983-666866D7780B}"/>
              </a:ext>
            </a:extLst>
          </p:cNvPr>
          <p:cNvCxnSpPr>
            <a:cxnSpLocks noChangeShapeType="1"/>
          </p:cNvCxnSpPr>
          <p:nvPr/>
        </p:nvCxnSpPr>
        <p:spPr bwMode="auto">
          <a:xfrm>
            <a:off x="1872000" y="3810677"/>
            <a:ext cx="0" cy="360000"/>
          </a:xfrm>
          <a:prstGeom prst="line">
            <a:avLst/>
          </a:prstGeom>
          <a:solidFill>
            <a:srgbClr val="CDF3CD"/>
          </a:solidFill>
          <a:ln w="19050">
            <a:solidFill>
              <a:srgbClr val="00CC00"/>
            </a:solidFill>
            <a:miter lim="800000"/>
          </a:ln>
        </p:spPr>
      </p:cxnSp>
      <p:sp>
        <p:nvSpPr>
          <p:cNvPr id="43" name="Rectangle 74">
            <a:extLst>
              <a:ext uri="{FF2B5EF4-FFF2-40B4-BE49-F238E27FC236}">
                <a16:creationId xmlns:a16="http://schemas.microsoft.com/office/drawing/2014/main" id="{BCB36521-EFE3-DF89-56B4-43FB322D740D}"/>
              </a:ext>
            </a:extLst>
          </p:cNvPr>
          <p:cNvSpPr>
            <a:spLocks noChangeArrowheads="1"/>
          </p:cNvSpPr>
          <p:nvPr/>
        </p:nvSpPr>
        <p:spPr bwMode="auto">
          <a:xfrm>
            <a:off x="1872000" y="4246203"/>
            <a:ext cx="5400000" cy="360000"/>
          </a:xfrm>
          <a:prstGeom prst="rect">
            <a:avLst/>
          </a:prstGeom>
          <a:solidFill>
            <a:srgbClr val="CDF3CD"/>
          </a:solidFill>
          <a:ln w="19050">
            <a:solidFill>
              <a:srgbClr val="00CC00"/>
            </a:solidFill>
            <a:miter lim="800000"/>
          </a:ln>
        </p:spPr>
        <p:txBody>
          <a:bodyPr wrap="none" anchor="ctr"/>
          <a:lstStyle/>
          <a:p>
            <a:pPr algn="ctr"/>
            <a:r>
              <a:rPr lang="zh-CN" altLang="en-US" sz="1200" dirty="0"/>
              <a:t>数据 </a:t>
            </a:r>
            <a:r>
              <a:rPr lang="en-US" altLang="zh-CN" sz="1200" dirty="0"/>
              <a:t>Data                        </a:t>
            </a:r>
            <a:r>
              <a:rPr lang="zh-CN" altLang="en-US" sz="1200" dirty="0"/>
              <a:t>数据 </a:t>
            </a:r>
            <a:r>
              <a:rPr lang="en-US" altLang="zh-CN" sz="1200" dirty="0"/>
              <a:t>Data                           </a:t>
            </a:r>
            <a:r>
              <a:rPr lang="zh-CN" altLang="en-US" sz="1200" dirty="0"/>
              <a:t>数据 </a:t>
            </a:r>
            <a:r>
              <a:rPr lang="en-US" altLang="zh-CN" sz="1200" dirty="0"/>
              <a:t>Data</a:t>
            </a:r>
          </a:p>
        </p:txBody>
      </p:sp>
      <p:cxnSp>
        <p:nvCxnSpPr>
          <p:cNvPr id="44" name="直接连接符 10">
            <a:extLst>
              <a:ext uri="{FF2B5EF4-FFF2-40B4-BE49-F238E27FC236}">
                <a16:creationId xmlns:a16="http://schemas.microsoft.com/office/drawing/2014/main" id="{25A1064C-3C9C-6CFB-5BB1-B27ADB694C2C}"/>
              </a:ext>
            </a:extLst>
          </p:cNvPr>
          <p:cNvCxnSpPr>
            <a:cxnSpLocks noChangeShapeType="1"/>
          </p:cNvCxnSpPr>
          <p:nvPr/>
        </p:nvCxnSpPr>
        <p:spPr bwMode="auto">
          <a:xfrm>
            <a:off x="3672000" y="4246203"/>
            <a:ext cx="0" cy="360000"/>
          </a:xfrm>
          <a:prstGeom prst="line">
            <a:avLst/>
          </a:prstGeom>
          <a:solidFill>
            <a:srgbClr val="CDF3CD"/>
          </a:solidFill>
          <a:ln w="19050">
            <a:solidFill>
              <a:srgbClr val="00CC00"/>
            </a:solidFill>
            <a:miter lim="800000"/>
          </a:ln>
        </p:spPr>
      </p:cxnSp>
      <p:cxnSp>
        <p:nvCxnSpPr>
          <p:cNvPr id="45" name="直接连接符 10">
            <a:extLst>
              <a:ext uri="{FF2B5EF4-FFF2-40B4-BE49-F238E27FC236}">
                <a16:creationId xmlns:a16="http://schemas.microsoft.com/office/drawing/2014/main" id="{DC3AD763-F6DF-EF1A-A996-1B97FEE9B5CE}"/>
              </a:ext>
            </a:extLst>
          </p:cNvPr>
          <p:cNvCxnSpPr>
            <a:cxnSpLocks noChangeShapeType="1"/>
          </p:cNvCxnSpPr>
          <p:nvPr/>
        </p:nvCxnSpPr>
        <p:spPr bwMode="auto">
          <a:xfrm>
            <a:off x="5472000" y="4246203"/>
            <a:ext cx="0" cy="360000"/>
          </a:xfrm>
          <a:prstGeom prst="line">
            <a:avLst/>
          </a:prstGeom>
          <a:solidFill>
            <a:srgbClr val="CDF3CD"/>
          </a:solidFill>
          <a:ln w="19050">
            <a:solidFill>
              <a:srgbClr val="00CC00"/>
            </a:solidFill>
            <a:miter lim="800000"/>
          </a:ln>
        </p:spPr>
      </p:cxnSp>
      <p:grpSp>
        <p:nvGrpSpPr>
          <p:cNvPr id="46" name="组合 45">
            <a:extLst>
              <a:ext uri="{FF2B5EF4-FFF2-40B4-BE49-F238E27FC236}">
                <a16:creationId xmlns:a16="http://schemas.microsoft.com/office/drawing/2014/main" id="{256940A1-986A-E665-6A4A-18390C2FAF36}"/>
              </a:ext>
            </a:extLst>
          </p:cNvPr>
          <p:cNvGrpSpPr/>
          <p:nvPr/>
        </p:nvGrpSpPr>
        <p:grpSpPr>
          <a:xfrm>
            <a:off x="1512000" y="1576802"/>
            <a:ext cx="2160744" cy="806127"/>
            <a:chOff x="1512000" y="3405608"/>
            <a:chExt cx="2160744" cy="806127"/>
          </a:xfrm>
        </p:grpSpPr>
        <p:sp>
          <p:nvSpPr>
            <p:cNvPr id="47" name="Rectangle 2">
              <a:extLst>
                <a:ext uri="{FF2B5EF4-FFF2-40B4-BE49-F238E27FC236}">
                  <a16:creationId xmlns:a16="http://schemas.microsoft.com/office/drawing/2014/main" id="{394765F2-1338-2905-74E9-4019C2DF15D1}"/>
                </a:ext>
              </a:extLst>
            </p:cNvPr>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48" name="Rectangle 10">
              <a:extLst>
                <a:ext uri="{FF2B5EF4-FFF2-40B4-BE49-F238E27FC236}">
                  <a16:creationId xmlns:a16="http://schemas.microsoft.com/office/drawing/2014/main" id="{A4AED4FD-1C14-1711-9B3E-616C51B22414}"/>
                </a:ext>
              </a:extLst>
            </p:cNvPr>
            <p:cNvSpPr>
              <a:spLocks noChangeArrowheads="1"/>
            </p:cNvSpPr>
            <p:nvPr/>
          </p:nvSpPr>
          <p:spPr bwMode="auto">
            <a:xfrm>
              <a:off x="1512000" y="3851735"/>
              <a:ext cx="360000" cy="360000"/>
            </a:xfrm>
            <a:prstGeom prst="rect">
              <a:avLst/>
            </a:prstGeom>
            <a:pattFill prst="wdUpDiag">
              <a:fgClr>
                <a:schemeClr val="tx1">
                  <a:lumMod val="50000"/>
                  <a:lumOff val="50000"/>
                </a:schemeClr>
              </a:fgClr>
              <a:bgClr>
                <a:schemeClr val="bg1"/>
              </a:bgClr>
            </a:pattFill>
            <a:ln w="19050">
              <a:solidFill>
                <a:schemeClr val="tx1"/>
              </a:solidFill>
              <a:miter lim="800000"/>
            </a:ln>
          </p:spPr>
          <p:txBody>
            <a:bodyPr wrap="none" anchor="ctr"/>
            <a:lstStyle/>
            <a:p>
              <a:pPr algn="ctr"/>
              <a:r>
                <a:rPr lang="zh-CN" altLang="en-US" sz="1200" dirty="0"/>
                <a:t>首部</a:t>
              </a:r>
            </a:p>
          </p:txBody>
        </p:sp>
        <p:sp>
          <p:nvSpPr>
            <p:cNvPr id="49" name="AutoShape 14">
              <a:extLst>
                <a:ext uri="{FF2B5EF4-FFF2-40B4-BE49-F238E27FC236}">
                  <a16:creationId xmlns:a16="http://schemas.microsoft.com/office/drawing/2014/main" id="{CA3DF672-D0F4-5212-B0CC-AF8DF4915A0B}"/>
                </a:ext>
              </a:extLst>
            </p:cNvPr>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50" name="Text Box 15">
              <a:extLst>
                <a:ext uri="{FF2B5EF4-FFF2-40B4-BE49-F238E27FC236}">
                  <a16:creationId xmlns:a16="http://schemas.microsoft.com/office/drawing/2014/main" id="{86DA33AB-0CDA-AF94-2D6A-714F2A45A1C3}"/>
                </a:ext>
              </a:extLst>
            </p:cNvPr>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grpSp>
        <p:nvGrpSpPr>
          <p:cNvPr id="51" name="组合 50">
            <a:extLst>
              <a:ext uri="{FF2B5EF4-FFF2-40B4-BE49-F238E27FC236}">
                <a16:creationId xmlns:a16="http://schemas.microsoft.com/office/drawing/2014/main" id="{F7570D07-B826-8234-9413-0C9E0BAA8350}"/>
              </a:ext>
            </a:extLst>
          </p:cNvPr>
          <p:cNvGrpSpPr/>
          <p:nvPr/>
        </p:nvGrpSpPr>
        <p:grpSpPr>
          <a:xfrm>
            <a:off x="3311256" y="2137099"/>
            <a:ext cx="2160744" cy="806127"/>
            <a:chOff x="1512000" y="3405608"/>
            <a:chExt cx="2160744" cy="806127"/>
          </a:xfrm>
        </p:grpSpPr>
        <p:sp>
          <p:nvSpPr>
            <p:cNvPr id="52" name="Rectangle 2">
              <a:extLst>
                <a:ext uri="{FF2B5EF4-FFF2-40B4-BE49-F238E27FC236}">
                  <a16:creationId xmlns:a16="http://schemas.microsoft.com/office/drawing/2014/main" id="{E7C1B19F-2E09-9517-F28F-04B150519112}"/>
                </a:ext>
              </a:extLst>
            </p:cNvPr>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53" name="Rectangle 10">
              <a:extLst>
                <a:ext uri="{FF2B5EF4-FFF2-40B4-BE49-F238E27FC236}">
                  <a16:creationId xmlns:a16="http://schemas.microsoft.com/office/drawing/2014/main" id="{D573B469-833B-0546-33BD-E35AF3368A54}"/>
                </a:ext>
              </a:extLst>
            </p:cNvPr>
            <p:cNvSpPr>
              <a:spLocks noChangeArrowheads="1"/>
            </p:cNvSpPr>
            <p:nvPr/>
          </p:nvSpPr>
          <p:spPr bwMode="auto">
            <a:xfrm>
              <a:off x="1512000" y="3851735"/>
              <a:ext cx="360000" cy="360000"/>
            </a:xfrm>
            <a:prstGeom prst="rect">
              <a:avLst/>
            </a:prstGeom>
            <a:pattFill prst="wdUpDiag">
              <a:fgClr>
                <a:schemeClr val="tx1">
                  <a:lumMod val="50000"/>
                  <a:lumOff val="50000"/>
                </a:schemeClr>
              </a:fgClr>
              <a:bgClr>
                <a:schemeClr val="bg1"/>
              </a:bgClr>
            </a:pattFill>
            <a:ln w="19050">
              <a:solidFill>
                <a:schemeClr val="tx1"/>
              </a:solidFill>
              <a:miter lim="800000"/>
            </a:ln>
          </p:spPr>
          <p:txBody>
            <a:bodyPr wrap="none" anchor="ctr"/>
            <a:lstStyle/>
            <a:p>
              <a:pPr algn="ctr"/>
              <a:r>
                <a:rPr lang="zh-CN" altLang="en-US" sz="1200" dirty="0"/>
                <a:t>首部</a:t>
              </a:r>
            </a:p>
          </p:txBody>
        </p:sp>
        <p:sp>
          <p:nvSpPr>
            <p:cNvPr id="54" name="AutoShape 14">
              <a:extLst>
                <a:ext uri="{FF2B5EF4-FFF2-40B4-BE49-F238E27FC236}">
                  <a16:creationId xmlns:a16="http://schemas.microsoft.com/office/drawing/2014/main" id="{7EBA5BF9-355A-B17C-1540-7FE7A8325C8A}"/>
                </a:ext>
              </a:extLst>
            </p:cNvPr>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55" name="Text Box 15">
              <a:extLst>
                <a:ext uri="{FF2B5EF4-FFF2-40B4-BE49-F238E27FC236}">
                  <a16:creationId xmlns:a16="http://schemas.microsoft.com/office/drawing/2014/main" id="{08D98252-42D2-DD60-7F73-D30D57C98602}"/>
                </a:ext>
              </a:extLst>
            </p:cNvPr>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grpSp>
        <p:nvGrpSpPr>
          <p:cNvPr id="56" name="组合 55">
            <a:extLst>
              <a:ext uri="{FF2B5EF4-FFF2-40B4-BE49-F238E27FC236}">
                <a16:creationId xmlns:a16="http://schemas.microsoft.com/office/drawing/2014/main" id="{96CDE868-4185-125A-93A4-5573375D8419}"/>
              </a:ext>
            </a:extLst>
          </p:cNvPr>
          <p:cNvGrpSpPr/>
          <p:nvPr/>
        </p:nvGrpSpPr>
        <p:grpSpPr>
          <a:xfrm>
            <a:off x="5111256" y="2697396"/>
            <a:ext cx="2160744" cy="806127"/>
            <a:chOff x="1512000" y="3405608"/>
            <a:chExt cx="2160744" cy="806127"/>
          </a:xfrm>
        </p:grpSpPr>
        <p:sp>
          <p:nvSpPr>
            <p:cNvPr id="57" name="Rectangle 2">
              <a:extLst>
                <a:ext uri="{FF2B5EF4-FFF2-40B4-BE49-F238E27FC236}">
                  <a16:creationId xmlns:a16="http://schemas.microsoft.com/office/drawing/2014/main" id="{76A5D0D6-FD02-12BF-4374-01BF146465F6}"/>
                </a:ext>
              </a:extLst>
            </p:cNvPr>
            <p:cNvSpPr>
              <a:spLocks noChangeArrowheads="1"/>
            </p:cNvSpPr>
            <p:nvPr/>
          </p:nvSpPr>
          <p:spPr bwMode="auto">
            <a:xfrm>
              <a:off x="1872000" y="3851735"/>
              <a:ext cx="1800000" cy="360000"/>
            </a:xfrm>
            <a:prstGeom prst="rect">
              <a:avLst/>
            </a:prstGeom>
            <a:noFill/>
            <a:ln w="19050">
              <a:solidFill>
                <a:schemeClr val="tx1"/>
              </a:solidFill>
              <a:miter lim="800000"/>
            </a:ln>
          </p:spPr>
          <p:txBody>
            <a:bodyPr wrap="none" anchor="ctr"/>
            <a:lstStyle/>
            <a:p>
              <a:pPr algn="ctr"/>
              <a:r>
                <a:rPr lang="zh-CN" altLang="en-US" sz="1200" dirty="0"/>
                <a:t>数据 </a:t>
              </a:r>
              <a:r>
                <a:rPr lang="en-US" altLang="zh-CN" sz="1200" dirty="0"/>
                <a:t>Data</a:t>
              </a:r>
              <a:endParaRPr lang="zh-CN" altLang="en-US" sz="1200" dirty="0"/>
            </a:p>
          </p:txBody>
        </p:sp>
        <p:sp>
          <p:nvSpPr>
            <p:cNvPr id="58" name="Rectangle 10">
              <a:extLst>
                <a:ext uri="{FF2B5EF4-FFF2-40B4-BE49-F238E27FC236}">
                  <a16:creationId xmlns:a16="http://schemas.microsoft.com/office/drawing/2014/main" id="{CFBECEDD-18B1-481E-D9DC-D200A2F49FD7}"/>
                </a:ext>
              </a:extLst>
            </p:cNvPr>
            <p:cNvSpPr>
              <a:spLocks noChangeArrowheads="1"/>
            </p:cNvSpPr>
            <p:nvPr/>
          </p:nvSpPr>
          <p:spPr bwMode="auto">
            <a:xfrm>
              <a:off x="1512000" y="3851735"/>
              <a:ext cx="360000" cy="360000"/>
            </a:xfrm>
            <a:prstGeom prst="rect">
              <a:avLst/>
            </a:prstGeom>
            <a:pattFill prst="wdUpDiag">
              <a:fgClr>
                <a:schemeClr val="tx1">
                  <a:lumMod val="50000"/>
                  <a:lumOff val="50000"/>
                </a:schemeClr>
              </a:fgClr>
              <a:bgClr>
                <a:schemeClr val="bg1"/>
              </a:bgClr>
            </a:pattFill>
            <a:ln w="19050">
              <a:solidFill>
                <a:schemeClr val="tx1"/>
              </a:solidFill>
              <a:miter lim="800000"/>
            </a:ln>
          </p:spPr>
          <p:txBody>
            <a:bodyPr wrap="none" anchor="ctr"/>
            <a:lstStyle/>
            <a:p>
              <a:pPr algn="ctr"/>
              <a:r>
                <a:rPr lang="zh-CN" altLang="en-US" sz="1200" dirty="0"/>
                <a:t>首部</a:t>
              </a:r>
            </a:p>
          </p:txBody>
        </p:sp>
        <p:sp>
          <p:nvSpPr>
            <p:cNvPr id="59" name="AutoShape 14">
              <a:extLst>
                <a:ext uri="{FF2B5EF4-FFF2-40B4-BE49-F238E27FC236}">
                  <a16:creationId xmlns:a16="http://schemas.microsoft.com/office/drawing/2014/main" id="{78C3F735-F8AC-80C4-0029-400ECB71EE37}"/>
                </a:ext>
              </a:extLst>
            </p:cNvPr>
            <p:cNvSpPr/>
            <p:nvPr/>
          </p:nvSpPr>
          <p:spPr bwMode="auto">
            <a:xfrm rot="5400000">
              <a:off x="2531577" y="2674260"/>
              <a:ext cx="122334" cy="2160000"/>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dirty="0"/>
            </a:p>
          </p:txBody>
        </p:sp>
        <p:sp>
          <p:nvSpPr>
            <p:cNvPr id="60" name="Text Box 15">
              <a:extLst>
                <a:ext uri="{FF2B5EF4-FFF2-40B4-BE49-F238E27FC236}">
                  <a16:creationId xmlns:a16="http://schemas.microsoft.com/office/drawing/2014/main" id="{5B8E921E-7E05-FAB5-F4DD-B933725FBABE}"/>
                </a:ext>
              </a:extLst>
            </p:cNvPr>
            <p:cNvSpPr txBox="1">
              <a:spLocks noChangeArrowheads="1"/>
            </p:cNvSpPr>
            <p:nvPr/>
          </p:nvSpPr>
          <p:spPr bwMode="auto">
            <a:xfrm>
              <a:off x="2233240" y="3405608"/>
              <a:ext cx="71900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1400"/>
              </a:lvl1pPr>
            </a:lstStyle>
            <a:p>
              <a:r>
                <a:rPr lang="zh-CN" altLang="en-US" sz="1200" dirty="0"/>
                <a:t>分组 </a:t>
              </a:r>
              <a:r>
                <a:rPr lang="en-US" altLang="zh-CN" sz="1200" dirty="0"/>
                <a:t>1</a:t>
              </a:r>
            </a:p>
          </p:txBody>
        </p:sp>
      </p:grpSp>
      <p:sp>
        <p:nvSpPr>
          <p:cNvPr id="61" name="箭头: 下 60">
            <a:extLst>
              <a:ext uri="{FF2B5EF4-FFF2-40B4-BE49-F238E27FC236}">
                <a16:creationId xmlns:a16="http://schemas.microsoft.com/office/drawing/2014/main" id="{C3612CFA-5B65-8683-4682-D19054679422}"/>
              </a:ext>
            </a:extLst>
          </p:cNvPr>
          <p:cNvSpPr/>
          <p:nvPr/>
        </p:nvSpPr>
        <p:spPr>
          <a:xfrm>
            <a:off x="4484594" y="3650876"/>
            <a:ext cx="181535" cy="175812"/>
          </a:xfrm>
          <a:prstGeom prst="downArrow">
            <a:avLst/>
          </a:prstGeom>
          <a:solidFill>
            <a:srgbClr val="D42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65554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46F6232D-30A9-6E90-5463-09FCFA6AA518}"/>
              </a:ext>
            </a:extLst>
          </p:cNvPr>
          <p:cNvSpPr>
            <a:spLocks noGrp="1"/>
          </p:cNvSpPr>
          <p:nvPr>
            <p:ph type="title"/>
          </p:nvPr>
        </p:nvSpPr>
        <p:spPr>
          <a:xfrm>
            <a:off x="612000" y="144000"/>
            <a:ext cx="7920000" cy="341632"/>
          </a:xfrm>
        </p:spPr>
        <p:txBody>
          <a:bodyPr/>
          <a:lstStyle/>
          <a:p>
            <a:r>
              <a:rPr lang="en-US" altLang="zh-CN" dirty="0"/>
              <a:t>2. </a:t>
            </a:r>
            <a:r>
              <a:rPr lang="zh-CN" altLang="en-US" dirty="0"/>
              <a:t>分组交换 </a:t>
            </a:r>
            <a:r>
              <a:rPr lang="en-US" altLang="zh-CN" dirty="0"/>
              <a:t>Packet</a:t>
            </a:r>
            <a:r>
              <a:rPr lang="zh-CN" altLang="en-US" dirty="0"/>
              <a:t> </a:t>
            </a:r>
            <a:r>
              <a:rPr lang="en-US" altLang="zh-CN" dirty="0"/>
              <a:t>Switching</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r>
              <a:rPr lang="zh-CN" altLang="en-US" dirty="0"/>
              <a:t>分组在互联网中的转发过程</a:t>
            </a:r>
            <a:endParaRPr lang="en-US" altLang="zh-CN" dirty="0"/>
          </a:p>
          <a:p>
            <a:pPr lvl="1"/>
            <a:r>
              <a:rPr lang="zh-CN" altLang="en-US" dirty="0"/>
              <a:t>根据首部中包含的目的地址、源地址等重要控制信息进行转发</a:t>
            </a:r>
            <a:endParaRPr lang="en-US" altLang="zh-CN" dirty="0"/>
          </a:p>
          <a:p>
            <a:pPr lvl="1"/>
            <a:r>
              <a:rPr lang="zh-CN" altLang="en-US" dirty="0"/>
              <a:t>每一个分组在互联网中独立选择传输路径</a:t>
            </a:r>
            <a:endParaRPr lang="en-US" altLang="zh-CN" dirty="0"/>
          </a:p>
          <a:p>
            <a:pPr lvl="1"/>
            <a:r>
              <a:rPr lang="zh-CN" altLang="en-US" dirty="0"/>
              <a:t>位于网络核心部分的路由器负责转发分组，即进行分组交换</a:t>
            </a:r>
            <a:endParaRPr lang="en-US" altLang="zh-CN" dirty="0"/>
          </a:p>
          <a:p>
            <a:pPr lvl="1"/>
            <a:r>
              <a:rPr lang="zh-CN" altLang="en-US" dirty="0"/>
              <a:t>路由器要创建和动态维护转发表</a:t>
            </a:r>
            <a:endParaRPr lang="en-US" altLang="zh-CN" dirty="0"/>
          </a:p>
          <a:p>
            <a:endParaRPr lang="en-US" altLang="zh-CN" dirty="0"/>
          </a:p>
        </p:txBody>
      </p:sp>
      <p:grpSp>
        <p:nvGrpSpPr>
          <p:cNvPr id="4" name="组合 3"/>
          <p:cNvGrpSpPr/>
          <p:nvPr/>
        </p:nvGrpSpPr>
        <p:grpSpPr>
          <a:xfrm>
            <a:off x="5951729" y="1621750"/>
            <a:ext cx="2682240" cy="3027422"/>
            <a:chOff x="5286100" y="1209505"/>
            <a:chExt cx="2682240" cy="3027422"/>
          </a:xfrm>
        </p:grpSpPr>
        <p:sp>
          <p:nvSpPr>
            <p:cNvPr id="5" name="圆角矩形 4"/>
            <p:cNvSpPr/>
            <p:nvPr/>
          </p:nvSpPr>
          <p:spPr>
            <a:xfrm>
              <a:off x="5286100" y="1209505"/>
              <a:ext cx="2682240" cy="307777"/>
            </a:xfrm>
            <a:prstGeom prst="rect">
              <a:avLst/>
            </a:prstGeom>
            <a:solidFill>
              <a:srgbClr val="F2F2F2"/>
            </a:solidFill>
            <a:ln>
              <a:noFill/>
            </a:ln>
          </p:spPr>
          <p:style>
            <a:lnRef idx="1">
              <a:schemeClr val="accent1"/>
            </a:lnRef>
            <a:fillRef idx="2">
              <a:schemeClr val="accent1"/>
            </a:fillRef>
            <a:effectRef idx="1">
              <a:schemeClr val="accent1"/>
            </a:effectRef>
            <a:fontRef idx="minor">
              <a:schemeClr val="dk1"/>
            </a:fontRef>
          </p:style>
          <p:txBody>
            <a:bodyPr rtlCol="0" anchor="ctr">
              <a:spAutoFit/>
            </a:bodyPr>
            <a:lstStyle/>
            <a:p>
              <a:pPr algn="ctr"/>
              <a:r>
                <a:rPr lang="zh-CN" altLang="en-US" sz="1400" dirty="0"/>
                <a:t>暂存收到的分组</a:t>
              </a:r>
            </a:p>
          </p:txBody>
        </p:sp>
        <p:sp>
          <p:nvSpPr>
            <p:cNvPr id="6" name="圆角矩形 5"/>
            <p:cNvSpPr/>
            <p:nvPr/>
          </p:nvSpPr>
          <p:spPr>
            <a:xfrm>
              <a:off x="5286100" y="1860312"/>
              <a:ext cx="2682240" cy="307777"/>
            </a:xfrm>
            <a:prstGeom prst="rect">
              <a:avLst/>
            </a:prstGeom>
            <a:solidFill>
              <a:srgbClr val="F2F2F2"/>
            </a:solidFill>
            <a:ln>
              <a:noFill/>
            </a:ln>
          </p:spPr>
          <p:style>
            <a:lnRef idx="1">
              <a:schemeClr val="accent1"/>
            </a:lnRef>
            <a:fillRef idx="2">
              <a:schemeClr val="accent1"/>
            </a:fillRef>
            <a:effectRef idx="1">
              <a:schemeClr val="accent1"/>
            </a:effectRef>
            <a:fontRef idx="minor">
              <a:schemeClr val="dk1"/>
            </a:fontRef>
          </p:style>
          <p:txBody>
            <a:bodyPr rtlCol="0" anchor="ctr">
              <a:spAutoFit/>
            </a:bodyPr>
            <a:lstStyle/>
            <a:p>
              <a:pPr algn="ctr"/>
              <a:r>
                <a:rPr lang="zh-CN" altLang="en-US" sz="1400" dirty="0"/>
                <a:t>检查分组首部</a:t>
              </a:r>
            </a:p>
          </p:txBody>
        </p:sp>
        <p:sp>
          <p:nvSpPr>
            <p:cNvPr id="7" name="圆角矩形 6"/>
            <p:cNvSpPr/>
            <p:nvPr/>
          </p:nvSpPr>
          <p:spPr>
            <a:xfrm>
              <a:off x="5286100" y="2526204"/>
              <a:ext cx="2682240" cy="307777"/>
            </a:xfrm>
            <a:prstGeom prst="rect">
              <a:avLst/>
            </a:prstGeom>
            <a:solidFill>
              <a:srgbClr val="F2F2F2"/>
            </a:solidFill>
            <a:ln>
              <a:noFill/>
            </a:ln>
          </p:spPr>
          <p:style>
            <a:lnRef idx="1">
              <a:schemeClr val="accent1"/>
            </a:lnRef>
            <a:fillRef idx="2">
              <a:schemeClr val="accent1"/>
            </a:fillRef>
            <a:effectRef idx="1">
              <a:schemeClr val="accent1"/>
            </a:effectRef>
            <a:fontRef idx="minor">
              <a:schemeClr val="dk1"/>
            </a:fontRef>
          </p:style>
          <p:txBody>
            <a:bodyPr rtlCol="0" anchor="ctr">
              <a:spAutoFit/>
            </a:bodyPr>
            <a:lstStyle/>
            <a:p>
              <a:pPr algn="ctr"/>
              <a:r>
                <a:rPr lang="zh-CN" altLang="en-US" sz="1400" dirty="0"/>
                <a:t>查找转发表</a:t>
              </a:r>
            </a:p>
          </p:txBody>
        </p:sp>
        <p:sp>
          <p:nvSpPr>
            <p:cNvPr id="8" name="圆角矩形 7"/>
            <p:cNvSpPr/>
            <p:nvPr/>
          </p:nvSpPr>
          <p:spPr>
            <a:xfrm>
              <a:off x="5286100" y="3225194"/>
              <a:ext cx="2682240" cy="523220"/>
            </a:xfrm>
            <a:prstGeom prst="rect">
              <a:avLst/>
            </a:prstGeom>
            <a:solidFill>
              <a:srgbClr val="F2F2F2"/>
            </a:solidFill>
            <a:ln>
              <a:noFill/>
            </a:ln>
          </p:spPr>
          <p:style>
            <a:lnRef idx="1">
              <a:schemeClr val="accent1"/>
            </a:lnRef>
            <a:fillRef idx="2">
              <a:schemeClr val="accent1"/>
            </a:fillRef>
            <a:effectRef idx="1">
              <a:schemeClr val="accent1"/>
            </a:effectRef>
            <a:fontRef idx="minor">
              <a:schemeClr val="dk1"/>
            </a:fontRef>
          </p:style>
          <p:txBody>
            <a:bodyPr rtlCol="0" anchor="ctr">
              <a:spAutoFit/>
            </a:bodyPr>
            <a:lstStyle/>
            <a:p>
              <a:r>
                <a:rPr lang="zh-CN" altLang="en-US" sz="1400" dirty="0"/>
                <a:t>按照首部中的目的地址，找到合适的接口转发出去</a:t>
              </a:r>
            </a:p>
          </p:txBody>
        </p:sp>
        <p:cxnSp>
          <p:nvCxnSpPr>
            <p:cNvPr id="10" name="直接箭头连接符 9"/>
            <p:cNvCxnSpPr/>
            <p:nvPr/>
          </p:nvCxnSpPr>
          <p:spPr>
            <a:xfrm>
              <a:off x="6627220" y="1554982"/>
              <a:ext cx="0" cy="267630"/>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627220" y="2205789"/>
              <a:ext cx="0" cy="282715"/>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a:xfrm>
              <a:off x="6627220" y="2871681"/>
              <a:ext cx="0" cy="282716"/>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sp>
          <p:nvSpPr>
            <p:cNvPr id="24" name="矩形 23"/>
            <p:cNvSpPr/>
            <p:nvPr/>
          </p:nvSpPr>
          <p:spPr>
            <a:xfrm>
              <a:off x="5603590" y="3959928"/>
              <a:ext cx="22365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1200" dirty="0"/>
                <a:t>路由器处理分组的过程</a:t>
              </a:r>
            </a:p>
          </p:txBody>
        </p:sp>
      </p:grpSp>
    </p:spTree>
    <p:extLst>
      <p:ext uri="{BB962C8B-B14F-4D97-AF65-F5344CB8AC3E}">
        <p14:creationId xmlns:p14="http://schemas.microsoft.com/office/powerpoint/2010/main" val="24930342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8" name="矩形 3"/>
          <p:cNvSpPr>
            <a:spLocks noChangeArrowheads="1"/>
          </p:cNvSpPr>
          <p:nvPr/>
        </p:nvSpPr>
        <p:spPr bwMode="auto">
          <a:xfrm>
            <a:off x="2773349" y="4276262"/>
            <a:ext cx="40632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1400" dirty="0"/>
              <a:t>(a) </a:t>
            </a:r>
            <a:r>
              <a:rPr lang="zh-CN" altLang="zh-CN" sz="1400" dirty="0"/>
              <a:t>核心部分的路由器把网络互连起来</a:t>
            </a:r>
            <a:endParaRPr lang="zh-CN" altLang="en-US" sz="1400" dirty="0"/>
          </a:p>
        </p:txBody>
      </p:sp>
      <p:grpSp>
        <p:nvGrpSpPr>
          <p:cNvPr id="5" name="组合 4"/>
          <p:cNvGrpSpPr/>
          <p:nvPr/>
        </p:nvGrpSpPr>
        <p:grpSpPr>
          <a:xfrm>
            <a:off x="1836055" y="838602"/>
            <a:ext cx="5713413" cy="3270250"/>
            <a:chOff x="1836055" y="838602"/>
            <a:chExt cx="5713413" cy="3270250"/>
          </a:xfrm>
        </p:grpSpPr>
        <p:sp>
          <p:nvSpPr>
            <p:cNvPr id="74766" name="Text Box 204"/>
            <p:cNvSpPr txBox="1">
              <a:spLocks noChangeArrowheads="1"/>
            </p:cNvSpPr>
            <p:nvPr/>
          </p:nvSpPr>
          <p:spPr bwMode="auto">
            <a:xfrm>
              <a:off x="4010293" y="838602"/>
              <a:ext cx="141546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sp>
          <p:nvSpPr>
            <p:cNvPr id="74768" name="Oval 4"/>
            <p:cNvSpPr>
              <a:spLocks noChangeArrowheads="1"/>
            </p:cNvSpPr>
            <p:nvPr/>
          </p:nvSpPr>
          <p:spPr bwMode="auto">
            <a:xfrm rot="19925028">
              <a:off x="3261024" y="1483825"/>
              <a:ext cx="1436906" cy="83058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69" name="Oval 5"/>
            <p:cNvSpPr>
              <a:spLocks noChangeArrowheads="1"/>
            </p:cNvSpPr>
            <p:nvPr/>
          </p:nvSpPr>
          <p:spPr bwMode="auto">
            <a:xfrm rot="20825028">
              <a:off x="4223452" y="1315710"/>
              <a:ext cx="1255006" cy="7714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0" name="Oval 6"/>
            <p:cNvSpPr>
              <a:spLocks noChangeArrowheads="1"/>
            </p:cNvSpPr>
            <p:nvPr/>
          </p:nvSpPr>
          <p:spPr bwMode="auto">
            <a:xfrm rot="21425028">
              <a:off x="5140647" y="1597012"/>
              <a:ext cx="926818" cy="997871"/>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1" name="Oval 7"/>
            <p:cNvSpPr>
              <a:spLocks noChangeArrowheads="1"/>
            </p:cNvSpPr>
            <p:nvPr/>
          </p:nvSpPr>
          <p:spPr bwMode="auto">
            <a:xfrm rot="18365028">
              <a:off x="5329718" y="2115794"/>
              <a:ext cx="823930" cy="863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2" name="Oval 8"/>
            <p:cNvSpPr>
              <a:spLocks noChangeArrowheads="1"/>
            </p:cNvSpPr>
            <p:nvPr/>
          </p:nvSpPr>
          <p:spPr bwMode="auto">
            <a:xfrm rot="19925028">
              <a:off x="4260987" y="2586559"/>
              <a:ext cx="1571645" cy="926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3" name="Oval 9"/>
            <p:cNvSpPr>
              <a:spLocks noChangeArrowheads="1"/>
            </p:cNvSpPr>
            <p:nvPr/>
          </p:nvSpPr>
          <p:spPr bwMode="auto">
            <a:xfrm rot="21005028">
              <a:off x="3644070" y="2977718"/>
              <a:ext cx="1123153" cy="640835"/>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4" name="Oval 10"/>
            <p:cNvSpPr>
              <a:spLocks noChangeArrowheads="1"/>
            </p:cNvSpPr>
            <p:nvPr/>
          </p:nvSpPr>
          <p:spPr bwMode="auto">
            <a:xfrm rot="19925028">
              <a:off x="3212903" y="2698914"/>
              <a:ext cx="711235" cy="757350"/>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5" name="Oval 11"/>
            <p:cNvSpPr>
              <a:spLocks noChangeArrowheads="1"/>
            </p:cNvSpPr>
            <p:nvPr/>
          </p:nvSpPr>
          <p:spPr bwMode="auto">
            <a:xfrm rot="18065028">
              <a:off x="2929036" y="2082904"/>
              <a:ext cx="950437" cy="846724"/>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776" name="Freeform 12"/>
            <p:cNvSpPr/>
            <p:nvPr/>
          </p:nvSpPr>
          <p:spPr bwMode="auto">
            <a:xfrm>
              <a:off x="3279311" y="1460523"/>
              <a:ext cx="2733295" cy="201987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77" name="Line 13"/>
            <p:cNvSpPr>
              <a:spLocks noChangeShapeType="1"/>
            </p:cNvSpPr>
            <p:nvPr/>
          </p:nvSpPr>
          <p:spPr bwMode="auto">
            <a:xfrm flipV="1">
              <a:off x="3975146" y="1450283"/>
              <a:ext cx="950879" cy="34871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78" name="Line 14"/>
            <p:cNvSpPr>
              <a:spLocks noChangeShapeType="1"/>
            </p:cNvSpPr>
            <p:nvPr/>
          </p:nvSpPr>
          <p:spPr bwMode="auto">
            <a:xfrm>
              <a:off x="5043441" y="1496889"/>
              <a:ext cx="562057" cy="87636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79" name="Line 15"/>
            <p:cNvSpPr>
              <a:spLocks noChangeShapeType="1"/>
            </p:cNvSpPr>
            <p:nvPr/>
          </p:nvSpPr>
          <p:spPr bwMode="auto">
            <a:xfrm flipH="1">
              <a:off x="3415013" y="1855590"/>
              <a:ext cx="493726" cy="78980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0" name="Line 16"/>
            <p:cNvSpPr>
              <a:spLocks noChangeShapeType="1"/>
            </p:cNvSpPr>
            <p:nvPr/>
          </p:nvSpPr>
          <p:spPr bwMode="auto">
            <a:xfrm>
              <a:off x="3444848" y="2755255"/>
              <a:ext cx="1158164" cy="52877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1" name="Line 17"/>
            <p:cNvSpPr>
              <a:spLocks noChangeShapeType="1"/>
            </p:cNvSpPr>
            <p:nvPr/>
          </p:nvSpPr>
          <p:spPr bwMode="auto">
            <a:xfrm flipV="1">
              <a:off x="4619973" y="2547192"/>
              <a:ext cx="985526" cy="81976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2" name="Line 18"/>
            <p:cNvSpPr>
              <a:spLocks noChangeShapeType="1"/>
            </p:cNvSpPr>
            <p:nvPr/>
          </p:nvSpPr>
          <p:spPr bwMode="auto">
            <a:xfrm>
              <a:off x="4013643" y="1859751"/>
              <a:ext cx="1580306" cy="59506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3" name="Line 19"/>
            <p:cNvSpPr>
              <a:spLocks noChangeShapeType="1"/>
            </p:cNvSpPr>
            <p:nvPr/>
          </p:nvSpPr>
          <p:spPr bwMode="auto">
            <a:xfrm>
              <a:off x="3938573" y="1759049"/>
              <a:ext cx="742995" cy="155131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4" name="Line 20"/>
            <p:cNvSpPr>
              <a:spLocks noChangeShapeType="1"/>
            </p:cNvSpPr>
            <p:nvPr/>
          </p:nvSpPr>
          <p:spPr bwMode="auto">
            <a:xfrm flipV="1">
              <a:off x="3943560" y="3368046"/>
              <a:ext cx="710097" cy="48084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5" name="Line 21"/>
            <p:cNvSpPr>
              <a:spLocks noChangeShapeType="1"/>
            </p:cNvSpPr>
            <p:nvPr/>
          </p:nvSpPr>
          <p:spPr bwMode="auto">
            <a:xfrm rot="16200000">
              <a:off x="5274732" y="791473"/>
              <a:ext cx="441496" cy="99647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6" name="Line 22"/>
            <p:cNvSpPr>
              <a:spLocks noChangeShapeType="1"/>
            </p:cNvSpPr>
            <p:nvPr/>
          </p:nvSpPr>
          <p:spPr bwMode="auto">
            <a:xfrm>
              <a:off x="5674794" y="2560760"/>
              <a:ext cx="475439" cy="63334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7" name="Line 23"/>
            <p:cNvSpPr>
              <a:spLocks noChangeShapeType="1"/>
            </p:cNvSpPr>
            <p:nvPr/>
          </p:nvSpPr>
          <p:spPr bwMode="auto">
            <a:xfrm>
              <a:off x="2409672" y="2737197"/>
              <a:ext cx="1011115" cy="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8" name="Line 24"/>
            <p:cNvSpPr>
              <a:spLocks noChangeShapeType="1"/>
            </p:cNvSpPr>
            <p:nvPr/>
          </p:nvSpPr>
          <p:spPr bwMode="auto">
            <a:xfrm rot="5400000" flipH="1">
              <a:off x="3538107" y="1405885"/>
              <a:ext cx="512122" cy="23299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89" name="Text Box 25"/>
            <p:cNvSpPr txBox="1">
              <a:spLocks noChangeArrowheads="1"/>
            </p:cNvSpPr>
            <p:nvPr/>
          </p:nvSpPr>
          <p:spPr bwMode="auto">
            <a:xfrm>
              <a:off x="1836055" y="2557062"/>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4790" name="Text Box 26"/>
            <p:cNvSpPr txBox="1">
              <a:spLocks noChangeArrowheads="1"/>
            </p:cNvSpPr>
            <p:nvPr/>
          </p:nvSpPr>
          <p:spPr bwMode="auto">
            <a:xfrm>
              <a:off x="6453740" y="3093303"/>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4791" name="Text Box 27"/>
            <p:cNvSpPr txBox="1">
              <a:spLocks noChangeArrowheads="1"/>
            </p:cNvSpPr>
            <p:nvPr/>
          </p:nvSpPr>
          <p:spPr bwMode="auto">
            <a:xfrm>
              <a:off x="3096610" y="877814"/>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4792" name="Text Box 28"/>
            <p:cNvSpPr txBox="1">
              <a:spLocks noChangeArrowheads="1"/>
            </p:cNvSpPr>
            <p:nvPr/>
          </p:nvSpPr>
          <p:spPr bwMode="auto">
            <a:xfrm>
              <a:off x="6177056" y="915018"/>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4793" name="Text Box 29"/>
            <p:cNvSpPr txBox="1">
              <a:spLocks noChangeArrowheads="1"/>
            </p:cNvSpPr>
            <p:nvPr/>
          </p:nvSpPr>
          <p:spPr bwMode="auto">
            <a:xfrm>
              <a:off x="3282259" y="3691429"/>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4794" name="Line 30"/>
            <p:cNvSpPr>
              <a:spLocks noChangeShapeType="1"/>
            </p:cNvSpPr>
            <p:nvPr/>
          </p:nvSpPr>
          <p:spPr bwMode="auto">
            <a:xfrm flipV="1">
              <a:off x="5674794" y="1834875"/>
              <a:ext cx="1132565" cy="61020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795" name="Text Box 31"/>
            <p:cNvSpPr txBox="1">
              <a:spLocks noChangeArrowheads="1"/>
            </p:cNvSpPr>
            <p:nvPr/>
          </p:nvSpPr>
          <p:spPr bwMode="auto">
            <a:xfrm>
              <a:off x="7143676" y="1684096"/>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grpSp>
          <p:nvGrpSpPr>
            <p:cNvPr id="74801" name="Group 43"/>
            <p:cNvGrpSpPr/>
            <p:nvPr/>
          </p:nvGrpSpPr>
          <p:grpSpPr bwMode="auto">
            <a:xfrm>
              <a:off x="4246550" y="1444709"/>
              <a:ext cx="449454" cy="323747"/>
              <a:chOff x="2949" y="196"/>
              <a:chExt cx="941" cy="598"/>
            </a:xfrm>
          </p:grpSpPr>
          <p:sp>
            <p:nvSpPr>
              <p:cNvPr id="74951" name="Oval 4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2" name="Oval 4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3" name="Oval 4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4" name="Oval 4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5" name="Oval 4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6" name="Oval 4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7" name="Oval 5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8" name="Oval 5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59" name="Freeform 5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60" name="Freeform 5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61" name="Freeform 5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2" name="Group 55"/>
            <p:cNvGrpSpPr/>
            <p:nvPr/>
          </p:nvGrpSpPr>
          <p:grpSpPr bwMode="auto">
            <a:xfrm rot="867730">
              <a:off x="4396690" y="1961537"/>
              <a:ext cx="674663" cy="388661"/>
              <a:chOff x="2949" y="196"/>
              <a:chExt cx="941" cy="598"/>
            </a:xfrm>
          </p:grpSpPr>
          <p:sp>
            <p:nvSpPr>
              <p:cNvPr id="74940" name="Oval 5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1" name="Oval 5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2" name="Oval 5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3" name="Oval 5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4" name="Oval 6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5" name="Oval 6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6" name="Oval 6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7" name="Oval 6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48" name="Freeform 6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49" name="Freeform 6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50" name="Freeform 6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3" name="Group 67"/>
            <p:cNvGrpSpPr/>
            <p:nvPr/>
          </p:nvGrpSpPr>
          <p:grpSpPr bwMode="auto">
            <a:xfrm>
              <a:off x="5746012" y="2091370"/>
              <a:ext cx="450416" cy="322913"/>
              <a:chOff x="2949" y="196"/>
              <a:chExt cx="941" cy="598"/>
            </a:xfrm>
          </p:grpSpPr>
          <p:sp>
            <p:nvSpPr>
              <p:cNvPr id="74929" name="Oval 6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0" name="Oval 6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1" name="Oval 7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2" name="Oval 7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3" name="Oval 7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4" name="Oval 7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5" name="Oval 7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6" name="Oval 7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37" name="Freeform 7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38" name="Freeform 7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39" name="Freeform 7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4" name="Group 79"/>
            <p:cNvGrpSpPr/>
            <p:nvPr/>
          </p:nvGrpSpPr>
          <p:grpSpPr bwMode="auto">
            <a:xfrm rot="21151335">
              <a:off x="5071352" y="1768455"/>
              <a:ext cx="674662" cy="387829"/>
              <a:chOff x="2949" y="196"/>
              <a:chExt cx="941" cy="598"/>
            </a:xfrm>
          </p:grpSpPr>
          <p:sp>
            <p:nvSpPr>
              <p:cNvPr id="74918" name="Oval 8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9" name="Oval 8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0" name="Oval 8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1" name="Oval 8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2" name="Oval 8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3" name="Oval 8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4" name="Oval 8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5" name="Oval 8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26" name="Freeform 8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27" name="Freeform 8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28" name="Freeform 9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5" name="Group 91"/>
            <p:cNvGrpSpPr/>
            <p:nvPr/>
          </p:nvGrpSpPr>
          <p:grpSpPr bwMode="auto">
            <a:xfrm>
              <a:off x="3947237" y="2348536"/>
              <a:ext cx="748770" cy="452746"/>
              <a:chOff x="2949" y="196"/>
              <a:chExt cx="941" cy="598"/>
            </a:xfrm>
          </p:grpSpPr>
          <p:sp>
            <p:nvSpPr>
              <p:cNvPr id="74907"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8"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9"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0"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1"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2"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3"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4"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15"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16"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17"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6" name="Group 103"/>
            <p:cNvGrpSpPr/>
            <p:nvPr/>
          </p:nvGrpSpPr>
          <p:grpSpPr bwMode="auto">
            <a:xfrm rot="21114427">
              <a:off x="4847107" y="2671449"/>
              <a:ext cx="674663" cy="388661"/>
              <a:chOff x="2949" y="196"/>
              <a:chExt cx="941" cy="598"/>
            </a:xfrm>
          </p:grpSpPr>
          <p:sp>
            <p:nvSpPr>
              <p:cNvPr id="74896" name="Oval 10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7" name="Oval 10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8" name="Oval 10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9" name="Oval 10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0" name="Oval 10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1" name="Oval 10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2" name="Oval 11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3" name="Oval 11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904" name="Freeform 11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05" name="Freeform 11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906" name="Freeform 11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7" name="Group 115"/>
            <p:cNvGrpSpPr/>
            <p:nvPr/>
          </p:nvGrpSpPr>
          <p:grpSpPr bwMode="auto">
            <a:xfrm rot="19200976">
              <a:off x="5671908" y="2737198"/>
              <a:ext cx="449454" cy="322913"/>
              <a:chOff x="2949" y="196"/>
              <a:chExt cx="941" cy="598"/>
            </a:xfrm>
          </p:grpSpPr>
          <p:sp>
            <p:nvSpPr>
              <p:cNvPr id="74885" name="Oval 11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6" name="Oval 11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7" name="Oval 11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8" name="Oval 11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9" name="Oval 12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0" name="Oval 12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1" name="Oval 12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2" name="Oval 12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93" name="Freeform 12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94" name="Freeform 12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95" name="Freeform 12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8" name="Group 127"/>
            <p:cNvGrpSpPr/>
            <p:nvPr/>
          </p:nvGrpSpPr>
          <p:grpSpPr bwMode="auto">
            <a:xfrm rot="651098">
              <a:off x="4169346" y="3426342"/>
              <a:ext cx="449454" cy="259662"/>
              <a:chOff x="2949" y="196"/>
              <a:chExt cx="941" cy="598"/>
            </a:xfrm>
          </p:grpSpPr>
          <p:sp>
            <p:nvSpPr>
              <p:cNvPr id="74874" name="Oval 12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5" name="Oval 12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6" name="Oval 13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7" name="Oval 13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8" name="Oval 13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9" name="Oval 13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0" name="Oval 13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1" name="Oval 13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82" name="Freeform 1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83" name="Freeform 1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84" name="Freeform 1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09" name="Group 139"/>
            <p:cNvGrpSpPr/>
            <p:nvPr/>
          </p:nvGrpSpPr>
          <p:grpSpPr bwMode="auto">
            <a:xfrm rot="21035385">
              <a:off x="3731176" y="2848695"/>
              <a:ext cx="450416" cy="322913"/>
              <a:chOff x="2949" y="196"/>
              <a:chExt cx="941" cy="598"/>
            </a:xfrm>
          </p:grpSpPr>
          <p:sp>
            <p:nvSpPr>
              <p:cNvPr id="74863" name="Oval 14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4" name="Oval 14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5" name="Oval 14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6" name="Oval 14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7" name="Oval 14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8" name="Oval 14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9" name="Oval 14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0" name="Oval 14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71" name="Freeform 14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72" name="Freeform 14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73" name="Freeform 15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10" name="Group 151"/>
            <p:cNvGrpSpPr/>
            <p:nvPr/>
          </p:nvGrpSpPr>
          <p:grpSpPr bwMode="auto">
            <a:xfrm rot="1237793">
              <a:off x="5195508" y="1272435"/>
              <a:ext cx="332038" cy="203901"/>
              <a:chOff x="2949" y="196"/>
              <a:chExt cx="941" cy="598"/>
            </a:xfrm>
          </p:grpSpPr>
          <p:sp>
            <p:nvSpPr>
              <p:cNvPr id="7485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5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6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6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6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11" name="Group 163"/>
            <p:cNvGrpSpPr/>
            <p:nvPr/>
          </p:nvGrpSpPr>
          <p:grpSpPr bwMode="auto">
            <a:xfrm rot="1582351">
              <a:off x="3420786" y="2091369"/>
              <a:ext cx="450416" cy="322913"/>
              <a:chOff x="2949" y="196"/>
              <a:chExt cx="941" cy="598"/>
            </a:xfrm>
          </p:grpSpPr>
          <p:sp>
            <p:nvSpPr>
              <p:cNvPr id="74841" name="Oval 16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2" name="Oval 16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3" name="Oval 16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4" name="Oval 16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5" name="Oval 16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6" name="Oval 16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7" name="Oval 17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8" name="Oval 17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49" name="Freeform 17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50" name="Freeform 17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51" name="Freeform 17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grpSp>
          <p:nvGrpSpPr>
            <p:cNvPr id="74813" name="Group 187"/>
            <p:cNvGrpSpPr/>
            <p:nvPr/>
          </p:nvGrpSpPr>
          <p:grpSpPr bwMode="auto">
            <a:xfrm rot="5241567">
              <a:off x="2853540" y="2586969"/>
              <a:ext cx="382837" cy="295468"/>
              <a:chOff x="2949" y="196"/>
              <a:chExt cx="941" cy="598"/>
            </a:xfrm>
          </p:grpSpPr>
          <p:sp>
            <p:nvSpPr>
              <p:cNvPr id="74819" name="Oval 18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0" name="Oval 18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1" name="Oval 19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2" name="Oval 19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3" name="Oval 19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4" name="Oval 19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5" name="Oval 19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6" name="Oval 19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4827" name="Freeform 19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28" name="Freeform 19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29" name="Freeform 19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sp>
          <p:nvSpPr>
            <p:cNvPr id="74814" name="Text Box 200"/>
            <p:cNvSpPr txBox="1">
              <a:spLocks noChangeArrowheads="1"/>
            </p:cNvSpPr>
            <p:nvPr/>
          </p:nvSpPr>
          <p:spPr bwMode="auto">
            <a:xfrm>
              <a:off x="2504755" y="1419476"/>
              <a:ext cx="80004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61" name="Line 201"/>
            <p:cNvSpPr>
              <a:spLocks noChangeShapeType="1"/>
            </p:cNvSpPr>
            <p:nvPr/>
          </p:nvSpPr>
          <p:spPr bwMode="auto">
            <a:xfrm>
              <a:off x="3246265" y="1617924"/>
              <a:ext cx="502727" cy="214453"/>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ln w="12700">
                  <a:solidFill>
                    <a:prstClr val="black"/>
                  </a:solidFill>
                </a:ln>
                <a:solidFill>
                  <a:srgbClr val="000099"/>
                </a:solidFill>
                <a:latin typeface="Times New Roman" panose="02020603050405020304" pitchFamily="18" charset="0"/>
              </a:endParaRPr>
            </a:p>
          </p:txBody>
        </p:sp>
        <p:sp>
          <p:nvSpPr>
            <p:cNvPr id="74816" name="Text Box 202"/>
            <p:cNvSpPr txBox="1">
              <a:spLocks noChangeArrowheads="1"/>
            </p:cNvSpPr>
            <p:nvPr/>
          </p:nvSpPr>
          <p:spPr bwMode="auto">
            <a:xfrm>
              <a:off x="4059391" y="2410411"/>
              <a:ext cx="543621"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网络</a:t>
              </a:r>
            </a:p>
          </p:txBody>
        </p:sp>
        <p:sp>
          <p:nvSpPr>
            <p:cNvPr id="74817" name="Line 205"/>
            <p:cNvSpPr>
              <a:spLocks noChangeShapeType="1"/>
            </p:cNvSpPr>
            <p:nvPr/>
          </p:nvSpPr>
          <p:spPr bwMode="auto">
            <a:xfrm>
              <a:off x="4569249" y="1131688"/>
              <a:ext cx="84494" cy="2365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4818" name="Text Box 206"/>
            <p:cNvSpPr txBox="1">
              <a:spLocks noChangeArrowheads="1"/>
            </p:cNvSpPr>
            <p:nvPr/>
          </p:nvSpPr>
          <p:spPr bwMode="auto">
            <a:xfrm>
              <a:off x="2098038" y="3005368"/>
              <a:ext cx="594907"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pic>
          <p:nvPicPr>
            <p:cNvPr id="7476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530" y="1675214"/>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255" y="914802"/>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368" y="868764"/>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118" y="2580089"/>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505" y="3708802"/>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368" y="3100789"/>
              <a:ext cx="401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1372" y="2526325"/>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2042" y="170776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4741" y="235152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3268" y="1385653"/>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07" name="Group 151"/>
            <p:cNvGrpSpPr/>
            <p:nvPr/>
          </p:nvGrpSpPr>
          <p:grpSpPr bwMode="auto">
            <a:xfrm rot="20376906">
              <a:off x="3627744" y="1439535"/>
              <a:ext cx="332038" cy="203901"/>
              <a:chOff x="2949" y="196"/>
              <a:chExt cx="941" cy="598"/>
            </a:xfrm>
          </p:grpSpPr>
          <p:sp>
            <p:nvSpPr>
              <p:cNvPr id="21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1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22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2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2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pic>
          <p:nvPicPr>
            <p:cNvPr id="223"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6535" y="3118409"/>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2" name="矩形 3"/>
          <p:cNvSpPr>
            <a:spLocks noChangeArrowheads="1"/>
          </p:cNvSpPr>
          <p:nvPr/>
        </p:nvSpPr>
        <p:spPr bwMode="auto">
          <a:xfrm>
            <a:off x="2806002" y="4265099"/>
            <a:ext cx="38250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1400" dirty="0"/>
              <a:t>(b) </a:t>
            </a:r>
            <a:r>
              <a:rPr lang="zh-CN" altLang="zh-CN" sz="1400" dirty="0"/>
              <a:t>核心部分</a:t>
            </a:r>
            <a:r>
              <a:rPr lang="zh-CN" altLang="en-US" sz="1400" dirty="0"/>
              <a:t>中</a:t>
            </a:r>
            <a:r>
              <a:rPr lang="zh-CN" altLang="zh-CN" sz="1400" dirty="0"/>
              <a:t>的</a:t>
            </a:r>
            <a:r>
              <a:rPr lang="zh-CN" altLang="en-US" sz="1400" dirty="0"/>
              <a:t>网络</a:t>
            </a:r>
            <a:r>
              <a:rPr lang="zh-CN" altLang="zh-CN" sz="1400" dirty="0"/>
              <a:t>可用一条链路表示</a:t>
            </a:r>
            <a:endParaRPr lang="zh-CN" altLang="en-US" sz="1400" dirty="0"/>
          </a:p>
        </p:txBody>
      </p:sp>
      <p:grpSp>
        <p:nvGrpSpPr>
          <p:cNvPr id="75783" name="组合 62"/>
          <p:cNvGrpSpPr/>
          <p:nvPr/>
        </p:nvGrpSpPr>
        <p:grpSpPr bwMode="auto">
          <a:xfrm>
            <a:off x="1702572" y="814614"/>
            <a:ext cx="5672137" cy="3197225"/>
            <a:chOff x="1077101" y="828844"/>
            <a:chExt cx="6958259" cy="3921427"/>
          </a:xfrm>
        </p:grpSpPr>
        <p:grpSp>
          <p:nvGrpSpPr>
            <p:cNvPr id="75784" name="组合 4"/>
            <p:cNvGrpSpPr/>
            <p:nvPr/>
          </p:nvGrpSpPr>
          <p:grpSpPr bwMode="auto">
            <a:xfrm>
              <a:off x="1077101" y="960352"/>
              <a:ext cx="6958259" cy="3561265"/>
              <a:chOff x="-754503" y="424192"/>
              <a:chExt cx="10689977" cy="5580717"/>
            </a:xfrm>
          </p:grpSpPr>
          <p:sp>
            <p:nvSpPr>
              <p:cNvPr id="75798" name="Oval 4"/>
              <p:cNvSpPr>
                <a:spLocks noChangeArrowheads="1"/>
              </p:cNvSpPr>
              <p:nvPr/>
            </p:nvSpPr>
            <p:spPr bwMode="auto">
              <a:xfrm rot="-1674972">
                <a:off x="2477133" y="1514475"/>
                <a:ext cx="2665677" cy="1519238"/>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799" name="Oval 5"/>
              <p:cNvSpPr>
                <a:spLocks noChangeArrowheads="1"/>
              </p:cNvSpPr>
              <p:nvPr/>
            </p:nvSpPr>
            <p:spPr bwMode="auto">
              <a:xfrm rot="-774972">
                <a:off x="4262276" y="1208088"/>
                <a:ext cx="2328598" cy="14097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0" name="Oval 6"/>
              <p:cNvSpPr>
                <a:spLocks noChangeArrowheads="1"/>
              </p:cNvSpPr>
              <p:nvPr/>
            </p:nvSpPr>
            <p:spPr bwMode="auto">
              <a:xfrm rot="-174972">
                <a:off x="5964870" y="1722439"/>
                <a:ext cx="1718071" cy="182403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1" name="Oval 7"/>
              <p:cNvSpPr>
                <a:spLocks noChangeArrowheads="1"/>
              </p:cNvSpPr>
              <p:nvPr/>
            </p:nvSpPr>
            <p:spPr bwMode="auto">
              <a:xfrm rot="-3234972">
                <a:off x="6326026" y="2658534"/>
                <a:ext cx="1506537" cy="1602846"/>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2" name="Oval 8"/>
              <p:cNvSpPr>
                <a:spLocks noChangeArrowheads="1"/>
              </p:cNvSpPr>
              <p:nvPr/>
            </p:nvSpPr>
            <p:spPr bwMode="auto">
              <a:xfrm rot="-1674972">
                <a:off x="4332788" y="3530601"/>
                <a:ext cx="2915047" cy="1693863"/>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3" name="Oval 9"/>
              <p:cNvSpPr>
                <a:spLocks noChangeArrowheads="1"/>
              </p:cNvSpPr>
              <p:nvPr/>
            </p:nvSpPr>
            <p:spPr bwMode="auto">
              <a:xfrm rot="-594972">
                <a:off x="3187405" y="4246564"/>
                <a:ext cx="2084388" cy="116998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4" name="Oval 10"/>
              <p:cNvSpPr>
                <a:spLocks noChangeArrowheads="1"/>
              </p:cNvSpPr>
              <p:nvPr/>
            </p:nvSpPr>
            <p:spPr bwMode="auto">
              <a:xfrm rot="-1674972">
                <a:off x="2387703" y="3736975"/>
                <a:ext cx="1319080" cy="13843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5" name="Oval 11"/>
              <p:cNvSpPr>
                <a:spLocks noChangeArrowheads="1"/>
              </p:cNvSpPr>
              <p:nvPr/>
            </p:nvSpPr>
            <p:spPr bwMode="auto">
              <a:xfrm rot="-3534972">
                <a:off x="2141707" y="2695510"/>
                <a:ext cx="1525588" cy="1322519"/>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75806" name="Freeform 12"/>
              <p:cNvSpPr/>
              <p:nvPr/>
            </p:nvSpPr>
            <p:spPr bwMode="auto">
              <a:xfrm>
                <a:off x="2509808" y="1473200"/>
                <a:ext cx="5071666" cy="3690938"/>
              </a:xfrm>
              <a:custGeom>
                <a:avLst/>
                <a:gdLst>
                  <a:gd name="T0" fmla="*/ 1520712 w 1931"/>
                  <a:gd name="T1" fmla="*/ 576435 h 1684"/>
                  <a:gd name="T2" fmla="*/ 1659913 w 1931"/>
                  <a:gd name="T3" fmla="*/ 368217 h 1684"/>
                  <a:gd name="T4" fmla="*/ 1825380 w 1931"/>
                  <a:gd name="T5" fmla="*/ 276163 h 1684"/>
                  <a:gd name="T6" fmla="*/ 2405824 w 1931"/>
                  <a:gd name="T7" fmla="*/ 252053 h 1684"/>
                  <a:gd name="T8" fmla="*/ 2875958 w 1931"/>
                  <a:gd name="T9" fmla="*/ 113972 h 1684"/>
                  <a:gd name="T10" fmla="*/ 3041424 w 1931"/>
                  <a:gd name="T11" fmla="*/ 46027 h 1684"/>
                  <a:gd name="T12" fmla="*/ 3206890 w 1931"/>
                  <a:gd name="T13" fmla="*/ 0 h 1684"/>
                  <a:gd name="T14" fmla="*/ 3511557 w 1931"/>
                  <a:gd name="T15" fmla="*/ 92054 h 1684"/>
                  <a:gd name="T16" fmla="*/ 3677024 w 1931"/>
                  <a:gd name="T17" fmla="*/ 184109 h 1684"/>
                  <a:gd name="T18" fmla="*/ 3761070 w 1931"/>
                  <a:gd name="T19" fmla="*/ 230136 h 1684"/>
                  <a:gd name="T20" fmla="*/ 3952800 w 1931"/>
                  <a:gd name="T21" fmla="*/ 346299 h 1684"/>
                  <a:gd name="T22" fmla="*/ 4007956 w 1931"/>
                  <a:gd name="T23" fmla="*/ 414244 h 1684"/>
                  <a:gd name="T24" fmla="*/ 4092002 w 1931"/>
                  <a:gd name="T25" fmla="*/ 460271 h 1684"/>
                  <a:gd name="T26" fmla="*/ 4341514 w 1931"/>
                  <a:gd name="T27" fmla="*/ 644380 h 1684"/>
                  <a:gd name="T28" fmla="*/ 4562136 w 1931"/>
                  <a:gd name="T29" fmla="*/ 806571 h 1684"/>
                  <a:gd name="T30" fmla="*/ 4727602 w 1931"/>
                  <a:gd name="T31" fmla="*/ 852598 h 1684"/>
                  <a:gd name="T32" fmla="*/ 4811648 w 1931"/>
                  <a:gd name="T33" fmla="*/ 898625 h 1684"/>
                  <a:gd name="T34" fmla="*/ 5032269 w 1931"/>
                  <a:gd name="T35" fmla="*/ 1290952 h 1684"/>
                  <a:gd name="T36" fmla="*/ 4837912 w 1931"/>
                  <a:gd name="T37" fmla="*/ 2375877 h 1684"/>
                  <a:gd name="T38" fmla="*/ 4646182 w 1931"/>
                  <a:gd name="T39" fmla="*/ 2559986 h 1684"/>
                  <a:gd name="T40" fmla="*/ 4341514 w 1931"/>
                  <a:gd name="T41" fmla="*/ 2814231 h 1684"/>
                  <a:gd name="T42" fmla="*/ 4176048 w 1931"/>
                  <a:gd name="T43" fmla="*/ 2952312 h 1684"/>
                  <a:gd name="T44" fmla="*/ 4092002 w 1931"/>
                  <a:gd name="T45" fmla="*/ 2998339 h 1684"/>
                  <a:gd name="T46" fmla="*/ 3871380 w 1931"/>
                  <a:gd name="T47" fmla="*/ 3136421 h 1684"/>
                  <a:gd name="T48" fmla="*/ 3705914 w 1931"/>
                  <a:gd name="T49" fmla="*/ 3184639 h 1684"/>
                  <a:gd name="T50" fmla="*/ 3290936 w 1931"/>
                  <a:gd name="T51" fmla="*/ 3460802 h 1684"/>
                  <a:gd name="T52" fmla="*/ 3125470 w 1931"/>
                  <a:gd name="T53" fmla="*/ 3552857 h 1684"/>
                  <a:gd name="T54" fmla="*/ 2626445 w 1931"/>
                  <a:gd name="T55" fmla="*/ 3690938 h 1684"/>
                  <a:gd name="T56" fmla="*/ 1134624 w 1931"/>
                  <a:gd name="T57" fmla="*/ 3622993 h 1684"/>
                  <a:gd name="T58" fmla="*/ 885112 w 1931"/>
                  <a:gd name="T59" fmla="*/ 3552857 h 1684"/>
                  <a:gd name="T60" fmla="*/ 635600 w 1931"/>
                  <a:gd name="T61" fmla="*/ 3414775 h 1684"/>
                  <a:gd name="T62" fmla="*/ 441243 w 1931"/>
                  <a:gd name="T63" fmla="*/ 3206557 h 1684"/>
                  <a:gd name="T64" fmla="*/ 330932 w 1931"/>
                  <a:gd name="T65" fmla="*/ 3068476 h 1684"/>
                  <a:gd name="T66" fmla="*/ 275777 w 1931"/>
                  <a:gd name="T67" fmla="*/ 2998339 h 1684"/>
                  <a:gd name="T68" fmla="*/ 55155 w 1931"/>
                  <a:gd name="T69" fmla="*/ 2722176 h 1684"/>
                  <a:gd name="T70" fmla="*/ 84046 w 1931"/>
                  <a:gd name="T71" fmla="*/ 2259713 h 1684"/>
                  <a:gd name="T72" fmla="*/ 110311 w 1931"/>
                  <a:gd name="T73" fmla="*/ 1799442 h 1684"/>
                  <a:gd name="T74" fmla="*/ 220621 w 1931"/>
                  <a:gd name="T75" fmla="*/ 1383006 h 1684"/>
                  <a:gd name="T76" fmla="*/ 525289 w 1931"/>
                  <a:gd name="T77" fmla="*/ 738626 h 1684"/>
                  <a:gd name="T78" fmla="*/ 635600 w 1931"/>
                  <a:gd name="T79" fmla="*/ 576435 h 1684"/>
                  <a:gd name="T80" fmla="*/ 801066 w 1931"/>
                  <a:gd name="T81" fmla="*/ 552326 h 1684"/>
                  <a:gd name="T82" fmla="*/ 856221 w 1931"/>
                  <a:gd name="T83" fmla="*/ 414244 h 1684"/>
                  <a:gd name="T84" fmla="*/ 1050578 w 1931"/>
                  <a:gd name="T85" fmla="*/ 322190 h 1684"/>
                  <a:gd name="T86" fmla="*/ 1134624 w 1931"/>
                  <a:gd name="T87" fmla="*/ 368217 h 1684"/>
                  <a:gd name="T88" fmla="*/ 1189780 w 1931"/>
                  <a:gd name="T89" fmla="*/ 438354 h 1684"/>
                  <a:gd name="T90" fmla="*/ 1410401 w 1931"/>
                  <a:gd name="T91" fmla="*/ 460271 h 1684"/>
                  <a:gd name="T92" fmla="*/ 1465557 w 1931"/>
                  <a:gd name="T93" fmla="*/ 530408 h 1684"/>
                  <a:gd name="T94" fmla="*/ 1520712 w 1931"/>
                  <a:gd name="T95" fmla="*/ 576435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07" name="Line 13"/>
              <p:cNvSpPr>
                <a:spLocks noChangeShapeType="1"/>
              </p:cNvSpPr>
              <p:nvPr/>
            </p:nvSpPr>
            <p:spPr bwMode="auto">
              <a:xfrm flipV="1">
                <a:off x="3801372" y="1477964"/>
                <a:ext cx="1764506" cy="6381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08" name="Line 14"/>
              <p:cNvSpPr>
                <a:spLocks noChangeShapeType="1"/>
              </p:cNvSpPr>
              <p:nvPr/>
            </p:nvSpPr>
            <p:spPr bwMode="auto">
              <a:xfrm>
                <a:off x="5784291" y="1563689"/>
                <a:ext cx="1042194" cy="1603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09" name="Line 15"/>
              <p:cNvSpPr>
                <a:spLocks noChangeShapeType="1"/>
              </p:cNvSpPr>
              <p:nvPr/>
            </p:nvSpPr>
            <p:spPr bwMode="auto">
              <a:xfrm flipH="1">
                <a:off x="2760898" y="2219326"/>
                <a:ext cx="918369" cy="14446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0" name="Line 16"/>
              <p:cNvSpPr>
                <a:spLocks noChangeShapeType="1"/>
              </p:cNvSpPr>
              <p:nvPr/>
            </p:nvSpPr>
            <p:spPr bwMode="auto">
              <a:xfrm>
                <a:off x="2817651" y="3863976"/>
                <a:ext cx="2091267" cy="10144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1" name="Line 17"/>
              <p:cNvSpPr>
                <a:spLocks noChangeShapeType="1"/>
              </p:cNvSpPr>
              <p:nvPr/>
            </p:nvSpPr>
            <p:spPr bwMode="auto">
              <a:xfrm flipV="1">
                <a:off x="4998347" y="3484563"/>
                <a:ext cx="1828138" cy="14986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2" name="Line 18"/>
              <p:cNvSpPr>
                <a:spLocks noChangeShapeType="1"/>
              </p:cNvSpPr>
              <p:nvPr/>
            </p:nvSpPr>
            <p:spPr bwMode="auto">
              <a:xfrm>
                <a:off x="3871883" y="2227264"/>
                <a:ext cx="2933965" cy="108743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3" name="Line 19"/>
              <p:cNvSpPr>
                <a:spLocks noChangeShapeType="1"/>
              </p:cNvSpPr>
              <p:nvPr/>
            </p:nvSpPr>
            <p:spPr bwMode="auto">
              <a:xfrm>
                <a:off x="3734299" y="2043114"/>
                <a:ext cx="1377554" cy="28352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4" name="Line 20"/>
              <p:cNvSpPr>
                <a:spLocks noChangeShapeType="1"/>
              </p:cNvSpPr>
              <p:nvPr/>
            </p:nvSpPr>
            <p:spPr bwMode="auto">
              <a:xfrm flipV="1">
                <a:off x="4229599" y="4959349"/>
                <a:ext cx="830661" cy="77932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5" name="Line 21"/>
              <p:cNvSpPr>
                <a:spLocks noChangeShapeType="1"/>
              </p:cNvSpPr>
              <p:nvPr/>
            </p:nvSpPr>
            <p:spPr bwMode="auto">
              <a:xfrm rot="-5400000">
                <a:off x="6288672" y="401763"/>
                <a:ext cx="571552" cy="175229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6" name="Line 22"/>
              <p:cNvSpPr>
                <a:spLocks noChangeShapeType="1"/>
              </p:cNvSpPr>
              <p:nvPr/>
            </p:nvSpPr>
            <p:spPr bwMode="auto">
              <a:xfrm>
                <a:off x="6955471" y="3484563"/>
                <a:ext cx="1490108" cy="115728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7" name="Line 23"/>
              <p:cNvSpPr>
                <a:spLocks noChangeShapeType="1"/>
              </p:cNvSpPr>
              <p:nvPr/>
            </p:nvSpPr>
            <p:spPr bwMode="auto">
              <a:xfrm>
                <a:off x="397036" y="3769938"/>
                <a:ext cx="2377620" cy="3688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8" name="Line 24"/>
              <p:cNvSpPr>
                <a:spLocks noChangeShapeType="1"/>
              </p:cNvSpPr>
              <p:nvPr/>
            </p:nvSpPr>
            <p:spPr bwMode="auto">
              <a:xfrm rot="5400000" flipH="1">
                <a:off x="2734695" y="1104624"/>
                <a:ext cx="1107863" cy="788161"/>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19" name="Text Box 25"/>
              <p:cNvSpPr txBox="1">
                <a:spLocks noChangeArrowheads="1"/>
              </p:cNvSpPr>
              <p:nvPr/>
            </p:nvSpPr>
            <p:spPr bwMode="auto">
              <a:xfrm>
                <a:off x="-754503" y="352362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5820" name="Text Box 26"/>
              <p:cNvSpPr txBox="1">
                <a:spLocks noChangeArrowheads="1"/>
              </p:cNvSpPr>
              <p:nvPr/>
            </p:nvSpPr>
            <p:spPr bwMode="auto">
              <a:xfrm>
                <a:off x="8716388" y="4300540"/>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5821" name="Text Box 27"/>
              <p:cNvSpPr txBox="1">
                <a:spLocks noChangeArrowheads="1"/>
              </p:cNvSpPr>
              <p:nvPr/>
            </p:nvSpPr>
            <p:spPr bwMode="auto">
              <a:xfrm>
                <a:off x="1875510" y="42419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5822" name="Text Box 28"/>
              <p:cNvSpPr txBox="1">
                <a:spLocks noChangeArrowheads="1"/>
              </p:cNvSpPr>
              <p:nvPr/>
            </p:nvSpPr>
            <p:spPr bwMode="auto">
              <a:xfrm>
                <a:off x="7704732" y="618741"/>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5823" name="Text Box 29"/>
              <p:cNvSpPr txBox="1">
                <a:spLocks noChangeArrowheads="1"/>
              </p:cNvSpPr>
              <p:nvPr/>
            </p:nvSpPr>
            <p:spPr bwMode="auto">
              <a:xfrm>
                <a:off x="3136656" y="5413277"/>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5824" name="Line 30"/>
              <p:cNvSpPr>
                <a:spLocks noChangeShapeType="1"/>
              </p:cNvSpPr>
              <p:nvPr/>
            </p:nvSpPr>
            <p:spPr bwMode="auto">
              <a:xfrm flipV="1">
                <a:off x="6955471" y="2562221"/>
                <a:ext cx="1781989" cy="71120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25" name="Text Box 31"/>
              <p:cNvSpPr txBox="1">
                <a:spLocks noChangeArrowheads="1"/>
              </p:cNvSpPr>
              <p:nvPr/>
            </p:nvSpPr>
            <p:spPr bwMode="auto">
              <a:xfrm>
                <a:off x="9170575" y="2215125"/>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sp>
            <p:nvSpPr>
              <p:cNvPr id="75826" name="Text Box 38"/>
              <p:cNvSpPr txBox="1">
                <a:spLocks noChangeArrowheads="1"/>
              </p:cNvSpPr>
              <p:nvPr/>
            </p:nvSpPr>
            <p:spPr bwMode="auto">
              <a:xfrm>
                <a:off x="299942" y="4923211"/>
                <a:ext cx="2412411" cy="650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发送的分组</a:t>
                </a:r>
              </a:p>
            </p:txBody>
          </p:sp>
          <p:pic>
            <p:nvPicPr>
              <p:cNvPr id="75827"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8" name="Picture 4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9"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832" name="Text Box 45"/>
              <p:cNvSpPr txBox="1">
                <a:spLocks noChangeArrowheads="1"/>
              </p:cNvSpPr>
              <p:nvPr/>
            </p:nvSpPr>
            <p:spPr bwMode="auto">
              <a:xfrm>
                <a:off x="917418" y="1459489"/>
                <a:ext cx="1508049" cy="65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75833" name="Line 46"/>
              <p:cNvSpPr>
                <a:spLocks noChangeShapeType="1"/>
              </p:cNvSpPr>
              <p:nvPr/>
            </p:nvSpPr>
            <p:spPr bwMode="auto">
              <a:xfrm>
                <a:off x="2301320" y="1860060"/>
                <a:ext cx="1151910" cy="327959"/>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34" name="Text Box 47"/>
              <p:cNvSpPr txBox="1">
                <a:spLocks noChangeArrowheads="1"/>
              </p:cNvSpPr>
              <p:nvPr/>
            </p:nvSpPr>
            <p:spPr bwMode="auto">
              <a:xfrm>
                <a:off x="3177049" y="3398623"/>
                <a:ext cx="63802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A</a:t>
                </a:r>
              </a:p>
            </p:txBody>
          </p:sp>
          <p:sp>
            <p:nvSpPr>
              <p:cNvPr id="75835" name="Text Box 48"/>
              <p:cNvSpPr txBox="1">
                <a:spLocks noChangeArrowheads="1"/>
              </p:cNvSpPr>
              <p:nvPr/>
            </p:nvSpPr>
            <p:spPr bwMode="auto">
              <a:xfrm>
                <a:off x="6650786" y="2562223"/>
                <a:ext cx="568540"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75836" name="Text Box 49"/>
              <p:cNvSpPr txBox="1">
                <a:spLocks noChangeArrowheads="1"/>
              </p:cNvSpPr>
              <p:nvPr/>
            </p:nvSpPr>
            <p:spPr bwMode="auto">
              <a:xfrm>
                <a:off x="5272315" y="1754932"/>
                <a:ext cx="653126"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75837" name="Text Box 50"/>
              <p:cNvSpPr txBox="1">
                <a:spLocks noChangeArrowheads="1"/>
              </p:cNvSpPr>
              <p:nvPr/>
            </p:nvSpPr>
            <p:spPr bwMode="auto">
              <a:xfrm>
                <a:off x="3587959" y="1406667"/>
                <a:ext cx="613854"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B</a:t>
                </a:r>
              </a:p>
            </p:txBody>
          </p:sp>
          <p:sp>
            <p:nvSpPr>
              <p:cNvPr id="75838" name="Text Box 51"/>
              <p:cNvSpPr txBox="1">
                <a:spLocks noChangeArrowheads="1"/>
              </p:cNvSpPr>
              <p:nvPr/>
            </p:nvSpPr>
            <p:spPr bwMode="auto">
              <a:xfrm>
                <a:off x="5324208" y="4578350"/>
                <a:ext cx="607812"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C</a:t>
                </a:r>
              </a:p>
            </p:txBody>
          </p:sp>
          <p:sp>
            <p:nvSpPr>
              <p:cNvPr id="75839" name="Line 52"/>
              <p:cNvSpPr>
                <a:spLocks noChangeShapeType="1"/>
              </p:cNvSpPr>
              <p:nvPr/>
            </p:nvSpPr>
            <p:spPr bwMode="auto">
              <a:xfrm flipV="1">
                <a:off x="1768579" y="4121150"/>
                <a:ext cx="278606" cy="825500"/>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40" name="Line 73"/>
              <p:cNvSpPr>
                <a:spLocks noChangeShapeType="1"/>
              </p:cNvSpPr>
              <p:nvPr/>
            </p:nvSpPr>
            <p:spPr bwMode="auto">
              <a:xfrm>
                <a:off x="5108414" y="754806"/>
                <a:ext cx="137582" cy="4746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75841" name="Text Box 74"/>
              <p:cNvSpPr txBox="1">
                <a:spLocks noChangeArrowheads="1"/>
              </p:cNvSpPr>
              <p:nvPr/>
            </p:nvSpPr>
            <p:spPr bwMode="auto">
              <a:xfrm>
                <a:off x="-289156" y="2916788"/>
                <a:ext cx="112137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grpSp>
        <p:sp>
          <p:nvSpPr>
            <p:cNvPr id="75785" name="Text Box 204"/>
            <p:cNvSpPr txBox="1">
              <a:spLocks noChangeArrowheads="1"/>
            </p:cNvSpPr>
            <p:nvPr/>
          </p:nvSpPr>
          <p:spPr bwMode="auto">
            <a:xfrm>
              <a:off x="4155246" y="828844"/>
              <a:ext cx="1736690" cy="41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pic>
          <p:nvPicPr>
            <p:cNvPr id="757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305" y="1111810"/>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3903" y="4247033"/>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3951" y="3514533"/>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7932" y="2119188"/>
              <a:ext cx="503239"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343" y="2937872"/>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直接连接符 56"/>
            <p:cNvCxnSpPr/>
            <p:nvPr/>
          </p:nvCxnSpPr>
          <p:spPr>
            <a:xfrm flipH="1" flipV="1">
              <a:off x="4321562" y="2074978"/>
              <a:ext cx="1462539" cy="547131"/>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316675" y="2199591"/>
              <a:ext cx="432335" cy="630855"/>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96300" y="2982319"/>
              <a:ext cx="1119786" cy="0"/>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94352" y="3225705"/>
              <a:ext cx="1156789" cy="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5112229" y="2974530"/>
              <a:ext cx="615396" cy="517924"/>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flipV="1">
              <a:off x="3351729" y="3272435"/>
              <a:ext cx="1104207" cy="554918"/>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57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3930" y="942280"/>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ChangeArrowheads="1"/>
          </p:cNvSpPr>
          <p:nvPr/>
        </p:nvSpPr>
        <p:spPr bwMode="auto">
          <a:xfrm>
            <a:off x="6106973" y="1734313"/>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b="1" dirty="0">
                <a:solidFill>
                  <a:srgbClr val="C00000"/>
                </a:solidFill>
                <a:latin typeface="微软雅黑" panose="020B0503020204020204" pitchFamily="34" charset="-122"/>
                <a:ea typeface="微软雅黑" panose="020B0503020204020204" pitchFamily="34" charset="-122"/>
              </a:rPr>
              <a:t>注意分组路径的变化！</a:t>
            </a:r>
          </a:p>
        </p:txBody>
      </p:sp>
      <p:sp>
        <p:nvSpPr>
          <p:cNvPr id="6" name="Text Box 98"/>
          <p:cNvSpPr txBox="1">
            <a:spLocks noChangeArrowheads="1"/>
          </p:cNvSpPr>
          <p:nvPr/>
        </p:nvSpPr>
        <p:spPr bwMode="auto">
          <a:xfrm>
            <a:off x="1000364" y="3293701"/>
            <a:ext cx="16097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hangingPunct="0">
              <a:defRPr sz="1400"/>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dirty="0"/>
              <a:t>H1 </a:t>
            </a:r>
            <a:r>
              <a:rPr lang="zh-CN" altLang="en-US"/>
              <a:t>向 </a:t>
            </a:r>
            <a:r>
              <a:rPr lang="en-US" altLang="zh-CN" dirty="0"/>
              <a:t>H5 </a:t>
            </a:r>
            <a:r>
              <a:rPr lang="zh-CN" altLang="en-US" dirty="0"/>
              <a:t>发送分组</a:t>
            </a:r>
          </a:p>
        </p:txBody>
      </p:sp>
      <p:sp>
        <p:nvSpPr>
          <p:cNvPr id="7" name="Text Box 99"/>
          <p:cNvSpPr txBox="1">
            <a:spLocks noChangeArrowheads="1"/>
          </p:cNvSpPr>
          <p:nvPr/>
        </p:nvSpPr>
        <p:spPr bwMode="auto">
          <a:xfrm>
            <a:off x="1000125" y="3690871"/>
            <a:ext cx="16097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hangingPunct="0">
              <a:defRPr sz="1400"/>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en-US" altLang="zh-CN" dirty="0"/>
              <a:t>H2 </a:t>
            </a:r>
            <a:r>
              <a:rPr lang="zh-CN" altLang="en-US" dirty="0"/>
              <a:t>向 </a:t>
            </a:r>
            <a:r>
              <a:rPr lang="en-US" altLang="zh-CN" dirty="0"/>
              <a:t>H6 </a:t>
            </a:r>
            <a:r>
              <a:rPr lang="zh-CN" altLang="en-US" dirty="0"/>
              <a:t>发送分组</a:t>
            </a:r>
          </a:p>
        </p:txBody>
      </p:sp>
      <p:pic>
        <p:nvPicPr>
          <p:cNvPr id="7681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463" y="1360488"/>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p:cNvGrpSpPr/>
          <p:nvPr/>
        </p:nvGrpSpPr>
        <p:grpSpPr bwMode="auto">
          <a:xfrm>
            <a:off x="3061993" y="1629841"/>
            <a:ext cx="2650085" cy="2192781"/>
            <a:chOff x="2256" y="2386"/>
            <a:chExt cx="2147" cy="1919"/>
          </a:xfrm>
          <a:solidFill>
            <a:schemeClr val="bg1"/>
          </a:solidFill>
        </p:grpSpPr>
        <p:sp>
          <p:nvSpPr>
            <p:cNvPr id="11" name="Oval 5"/>
            <p:cNvSpPr>
              <a:spLocks noChangeArrowheads="1"/>
            </p:cNvSpPr>
            <p:nvPr/>
          </p:nvSpPr>
          <p:spPr bwMode="auto">
            <a:xfrm rot="-1674972">
              <a:off x="2346" y="2526"/>
              <a:ext cx="1015" cy="69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2" name="Oval 6"/>
            <p:cNvSpPr>
              <a:spLocks noChangeArrowheads="1"/>
            </p:cNvSpPr>
            <p:nvPr/>
          </p:nvSpPr>
          <p:spPr bwMode="auto">
            <a:xfrm rot="-774972">
              <a:off x="3025" y="2386"/>
              <a:ext cx="887" cy="64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3" name="Oval 7"/>
            <p:cNvSpPr>
              <a:spLocks noChangeArrowheads="1"/>
            </p:cNvSpPr>
            <p:nvPr/>
          </p:nvSpPr>
          <p:spPr bwMode="auto">
            <a:xfrm rot="-174972">
              <a:off x="3673" y="2621"/>
              <a:ext cx="655" cy="83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4" name="Oval 8"/>
            <p:cNvSpPr>
              <a:spLocks noChangeArrowheads="1"/>
            </p:cNvSpPr>
            <p:nvPr/>
          </p:nvSpPr>
          <p:spPr bwMode="auto">
            <a:xfrm rot="18365028">
              <a:off x="3754" y="3108"/>
              <a:ext cx="687" cy="610"/>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5" name="Oval 9"/>
            <p:cNvSpPr>
              <a:spLocks noChangeArrowheads="1"/>
            </p:cNvSpPr>
            <p:nvPr/>
          </p:nvSpPr>
          <p:spPr bwMode="auto">
            <a:xfrm rot="-1674972">
              <a:off x="3052" y="3445"/>
              <a:ext cx="1110" cy="77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6" name="Oval 10"/>
            <p:cNvSpPr>
              <a:spLocks noChangeArrowheads="1"/>
            </p:cNvSpPr>
            <p:nvPr/>
          </p:nvSpPr>
          <p:spPr bwMode="auto">
            <a:xfrm rot="-594972">
              <a:off x="2616" y="3772"/>
              <a:ext cx="793" cy="533"/>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7" name="Oval 11"/>
            <p:cNvSpPr>
              <a:spLocks noChangeArrowheads="1"/>
            </p:cNvSpPr>
            <p:nvPr/>
          </p:nvSpPr>
          <p:spPr bwMode="auto">
            <a:xfrm rot="-1674972">
              <a:off x="2311" y="3539"/>
              <a:ext cx="503" cy="631"/>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8" name="Oval 12"/>
            <p:cNvSpPr>
              <a:spLocks noChangeArrowheads="1"/>
            </p:cNvSpPr>
            <p:nvPr/>
          </p:nvSpPr>
          <p:spPr bwMode="auto">
            <a:xfrm rot="18065028">
              <a:off x="2160" y="3115"/>
              <a:ext cx="695" cy="504"/>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sp>
          <p:nvSpPr>
            <p:cNvPr id="19"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dirty="0">
                <a:solidFill>
                  <a:srgbClr val="000099"/>
                </a:solidFill>
                <a:latin typeface="Times New Roman" panose="02020603050405020304" pitchFamily="18" charset="0"/>
              </a:endParaRPr>
            </a:p>
          </p:txBody>
        </p:sp>
      </p:grpSp>
      <p:sp>
        <p:nvSpPr>
          <p:cNvPr id="76812" name="Line 14"/>
          <p:cNvSpPr>
            <a:spLocks noChangeShapeType="1"/>
          </p:cNvSpPr>
          <p:nvPr/>
        </p:nvSpPr>
        <p:spPr bwMode="auto">
          <a:xfrm flipV="1">
            <a:off x="3795713" y="1770063"/>
            <a:ext cx="828675" cy="3317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3" name="Line 15"/>
          <p:cNvSpPr>
            <a:spLocks noChangeShapeType="1"/>
          </p:cNvSpPr>
          <p:nvPr/>
        </p:nvSpPr>
        <p:spPr bwMode="auto">
          <a:xfrm>
            <a:off x="4727575" y="1814513"/>
            <a:ext cx="490538" cy="83661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4" name="Line 16"/>
          <p:cNvSpPr>
            <a:spLocks noChangeShapeType="1"/>
          </p:cNvSpPr>
          <p:nvPr/>
        </p:nvSpPr>
        <p:spPr bwMode="auto">
          <a:xfrm flipH="1">
            <a:off x="3305175" y="2157413"/>
            <a:ext cx="431800" cy="7508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5" name="Line 17"/>
          <p:cNvSpPr>
            <a:spLocks noChangeShapeType="1"/>
          </p:cNvSpPr>
          <p:nvPr/>
        </p:nvSpPr>
        <p:spPr bwMode="auto">
          <a:xfrm>
            <a:off x="3332163" y="3014663"/>
            <a:ext cx="985837" cy="52863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6" name="Line 18"/>
          <p:cNvSpPr>
            <a:spLocks noChangeShapeType="1"/>
          </p:cNvSpPr>
          <p:nvPr/>
        </p:nvSpPr>
        <p:spPr bwMode="auto">
          <a:xfrm flipV="1">
            <a:off x="4359275" y="2816225"/>
            <a:ext cx="858838" cy="7810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7" name="Line 19"/>
          <p:cNvSpPr>
            <a:spLocks noChangeShapeType="1"/>
          </p:cNvSpPr>
          <p:nvPr/>
        </p:nvSpPr>
        <p:spPr bwMode="auto">
          <a:xfrm>
            <a:off x="3829050" y="2162175"/>
            <a:ext cx="1376363" cy="5651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8" name="Line 20"/>
          <p:cNvSpPr>
            <a:spLocks noChangeShapeType="1"/>
          </p:cNvSpPr>
          <p:nvPr/>
        </p:nvSpPr>
        <p:spPr bwMode="auto">
          <a:xfrm>
            <a:off x="3763963" y="2063750"/>
            <a:ext cx="647700" cy="147796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19" name="Line 21"/>
          <p:cNvSpPr>
            <a:spLocks noChangeShapeType="1"/>
          </p:cNvSpPr>
          <p:nvPr/>
        </p:nvSpPr>
        <p:spPr bwMode="auto">
          <a:xfrm flipH="1" flipV="1">
            <a:off x="4387850" y="3584575"/>
            <a:ext cx="441325" cy="4064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0" name="Line 22"/>
          <p:cNvSpPr>
            <a:spLocks noChangeShapeType="1"/>
          </p:cNvSpPr>
          <p:nvPr/>
        </p:nvSpPr>
        <p:spPr bwMode="auto">
          <a:xfrm rot="-5400000">
            <a:off x="4903788" y="1228725"/>
            <a:ext cx="349250" cy="6985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1" name="Line 23"/>
          <p:cNvSpPr>
            <a:spLocks noChangeShapeType="1"/>
          </p:cNvSpPr>
          <p:nvPr/>
        </p:nvSpPr>
        <p:spPr bwMode="auto">
          <a:xfrm>
            <a:off x="5276850" y="2816225"/>
            <a:ext cx="730250" cy="7556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2" name="Line 24"/>
          <p:cNvSpPr>
            <a:spLocks noChangeShapeType="1"/>
          </p:cNvSpPr>
          <p:nvPr/>
        </p:nvSpPr>
        <p:spPr bwMode="auto">
          <a:xfrm>
            <a:off x="2571750" y="2476500"/>
            <a:ext cx="652463" cy="4492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3" name="Line 25"/>
          <p:cNvSpPr>
            <a:spLocks noChangeShapeType="1"/>
          </p:cNvSpPr>
          <p:nvPr/>
        </p:nvSpPr>
        <p:spPr bwMode="auto">
          <a:xfrm rot="5400000" flipH="1">
            <a:off x="3247231" y="1581944"/>
            <a:ext cx="528638" cy="4508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4" name="Oval 31"/>
          <p:cNvSpPr>
            <a:spLocks noChangeArrowheads="1"/>
          </p:cNvSpPr>
          <p:nvPr/>
        </p:nvSpPr>
        <p:spPr bwMode="auto">
          <a:xfrm>
            <a:off x="3144838" y="2816225"/>
            <a:ext cx="295275" cy="274638"/>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dirty="0">
                <a:solidFill>
                  <a:schemeClr val="bg1"/>
                </a:solidFill>
                <a:latin typeface="Times New Roman" panose="02020603050405020304" pitchFamily="18" charset="0"/>
                <a:ea typeface="微软雅黑 Light" panose="020B0502040204020203" pitchFamily="34" charset="-122"/>
              </a:rPr>
              <a:t>A</a:t>
            </a:r>
          </a:p>
        </p:txBody>
      </p:sp>
      <p:sp>
        <p:nvSpPr>
          <p:cNvPr id="76825" name="Line 39"/>
          <p:cNvSpPr>
            <a:spLocks noChangeShapeType="1"/>
          </p:cNvSpPr>
          <p:nvPr/>
        </p:nvSpPr>
        <p:spPr bwMode="auto">
          <a:xfrm flipV="1">
            <a:off x="5276850" y="2422525"/>
            <a:ext cx="1141413" cy="2841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6826" name="Oval 80"/>
          <p:cNvSpPr>
            <a:spLocks noChangeArrowheads="1"/>
          </p:cNvSpPr>
          <p:nvPr/>
        </p:nvSpPr>
        <p:spPr bwMode="auto">
          <a:xfrm>
            <a:off x="3613150" y="1998663"/>
            <a:ext cx="296863"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dirty="0">
                <a:solidFill>
                  <a:schemeClr val="bg1"/>
                </a:solidFill>
                <a:latin typeface="Times New Roman" panose="02020603050405020304" pitchFamily="18" charset="0"/>
                <a:ea typeface="微软雅黑 Light" panose="020B0502040204020203" pitchFamily="34" charset="-122"/>
              </a:rPr>
              <a:t>B</a:t>
            </a:r>
          </a:p>
        </p:txBody>
      </p:sp>
      <p:sp>
        <p:nvSpPr>
          <p:cNvPr id="76827" name="Oval 81"/>
          <p:cNvSpPr>
            <a:spLocks noChangeArrowheads="1"/>
          </p:cNvSpPr>
          <p:nvPr/>
        </p:nvSpPr>
        <p:spPr bwMode="auto">
          <a:xfrm>
            <a:off x="4533900" y="1633538"/>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dirty="0">
                <a:solidFill>
                  <a:schemeClr val="bg1"/>
                </a:solidFill>
                <a:latin typeface="Times New Roman" panose="02020603050405020304" pitchFamily="18" charset="0"/>
                <a:ea typeface="微软雅黑 Light" panose="020B0502040204020203" pitchFamily="34" charset="-122"/>
              </a:rPr>
              <a:t>D</a:t>
            </a:r>
          </a:p>
        </p:txBody>
      </p:sp>
      <p:sp>
        <p:nvSpPr>
          <p:cNvPr id="76828" name="Oval 82"/>
          <p:cNvSpPr>
            <a:spLocks noChangeArrowheads="1"/>
          </p:cNvSpPr>
          <p:nvPr/>
        </p:nvSpPr>
        <p:spPr bwMode="auto">
          <a:xfrm>
            <a:off x="5086350" y="2608263"/>
            <a:ext cx="296863" cy="273050"/>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dirty="0">
                <a:solidFill>
                  <a:schemeClr val="bg1"/>
                </a:solidFill>
                <a:latin typeface="Times New Roman" panose="02020603050405020304" pitchFamily="18" charset="0"/>
                <a:ea typeface="微软雅黑 Light" panose="020B0502040204020203" pitchFamily="34" charset="-122"/>
              </a:rPr>
              <a:t>E</a:t>
            </a:r>
          </a:p>
        </p:txBody>
      </p:sp>
      <p:sp>
        <p:nvSpPr>
          <p:cNvPr id="76829" name="Oval 83"/>
          <p:cNvSpPr>
            <a:spLocks noChangeArrowheads="1"/>
          </p:cNvSpPr>
          <p:nvPr/>
        </p:nvSpPr>
        <p:spPr bwMode="auto">
          <a:xfrm>
            <a:off x="4240213" y="3395663"/>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dirty="0">
                <a:solidFill>
                  <a:schemeClr val="bg1"/>
                </a:solidFill>
                <a:latin typeface="Times New Roman" panose="02020603050405020304" pitchFamily="18" charset="0"/>
                <a:ea typeface="微软雅黑 Light" panose="020B0502040204020203" pitchFamily="34" charset="-122"/>
              </a:rPr>
              <a:t>C</a:t>
            </a:r>
          </a:p>
        </p:txBody>
      </p:sp>
      <p:sp>
        <p:nvSpPr>
          <p:cNvPr id="76830" name="Line 106"/>
          <p:cNvSpPr>
            <a:spLocks noChangeShapeType="1"/>
          </p:cNvSpPr>
          <p:nvPr/>
        </p:nvSpPr>
        <p:spPr bwMode="auto">
          <a:xfrm flipH="1">
            <a:off x="3798888" y="1597025"/>
            <a:ext cx="133350" cy="3825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6831" name="Line 107"/>
          <p:cNvSpPr>
            <a:spLocks noChangeShapeType="1"/>
          </p:cNvSpPr>
          <p:nvPr/>
        </p:nvSpPr>
        <p:spPr bwMode="auto">
          <a:xfrm>
            <a:off x="1765300" y="2476500"/>
            <a:ext cx="452438" cy="142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76832" name="Text Box 45"/>
          <p:cNvSpPr txBox="1">
            <a:spLocks noChangeArrowheads="1"/>
          </p:cNvSpPr>
          <p:nvPr/>
        </p:nvSpPr>
        <p:spPr bwMode="auto">
          <a:xfrm>
            <a:off x="3570288" y="12985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pic>
        <p:nvPicPr>
          <p:cNvPr id="7683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5" y="12985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4"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2188" y="2303463"/>
            <a:ext cx="4016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448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385762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7" name="Text Box 27"/>
          <p:cNvSpPr txBox="1">
            <a:spLocks noChangeArrowheads="1"/>
          </p:cNvSpPr>
          <p:nvPr/>
        </p:nvSpPr>
        <p:spPr bwMode="auto">
          <a:xfrm>
            <a:off x="2611438" y="1398588"/>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2</a:t>
            </a:r>
          </a:p>
        </p:txBody>
      </p:sp>
      <p:sp>
        <p:nvSpPr>
          <p:cNvPr id="76838" name="Text Box 27"/>
          <p:cNvSpPr txBox="1">
            <a:spLocks noChangeArrowheads="1"/>
          </p:cNvSpPr>
          <p:nvPr/>
        </p:nvSpPr>
        <p:spPr bwMode="auto">
          <a:xfrm>
            <a:off x="5630863" y="1292225"/>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4</a:t>
            </a:r>
          </a:p>
        </p:txBody>
      </p:sp>
      <p:sp>
        <p:nvSpPr>
          <p:cNvPr id="76839" name="Text Box 27"/>
          <p:cNvSpPr txBox="1">
            <a:spLocks noChangeArrowheads="1"/>
          </p:cNvSpPr>
          <p:nvPr/>
        </p:nvSpPr>
        <p:spPr bwMode="auto">
          <a:xfrm>
            <a:off x="6546850" y="23336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6</a:t>
            </a:r>
          </a:p>
        </p:txBody>
      </p:sp>
      <p:sp>
        <p:nvSpPr>
          <p:cNvPr id="76840" name="Text Box 27"/>
          <p:cNvSpPr txBox="1">
            <a:spLocks noChangeArrowheads="1"/>
          </p:cNvSpPr>
          <p:nvPr/>
        </p:nvSpPr>
        <p:spPr bwMode="auto">
          <a:xfrm>
            <a:off x="6237288" y="35020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5</a:t>
            </a:r>
          </a:p>
        </p:txBody>
      </p:sp>
      <p:sp>
        <p:nvSpPr>
          <p:cNvPr id="76841" name="Text Box 27"/>
          <p:cNvSpPr txBox="1">
            <a:spLocks noChangeArrowheads="1"/>
          </p:cNvSpPr>
          <p:nvPr/>
        </p:nvSpPr>
        <p:spPr bwMode="auto">
          <a:xfrm>
            <a:off x="5021263" y="3879850"/>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3</a:t>
            </a:r>
          </a:p>
        </p:txBody>
      </p:sp>
      <p:sp>
        <p:nvSpPr>
          <p:cNvPr id="76842" name="Text Box 27"/>
          <p:cNvSpPr txBox="1">
            <a:spLocks noChangeArrowheads="1"/>
          </p:cNvSpPr>
          <p:nvPr/>
        </p:nvSpPr>
        <p:spPr bwMode="auto">
          <a:xfrm>
            <a:off x="2259013" y="2049463"/>
            <a:ext cx="404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1</a:t>
            </a:r>
          </a:p>
        </p:txBody>
      </p:sp>
      <p:sp>
        <p:nvSpPr>
          <p:cNvPr id="76843" name="Text Box 204"/>
          <p:cNvSpPr txBox="1">
            <a:spLocks noChangeArrowheads="1"/>
          </p:cNvSpPr>
          <p:nvPr/>
        </p:nvSpPr>
        <p:spPr bwMode="auto">
          <a:xfrm>
            <a:off x="4130675" y="26447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6844" name="Text Box 45"/>
          <p:cNvSpPr txBox="1">
            <a:spLocks noChangeArrowheads="1"/>
          </p:cNvSpPr>
          <p:nvPr/>
        </p:nvSpPr>
        <p:spPr bwMode="auto">
          <a:xfrm>
            <a:off x="1257300" y="2314575"/>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pic>
        <p:nvPicPr>
          <p:cNvPr id="76845"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16650" y="2286000"/>
            <a:ext cx="403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96"/>
          <p:cNvSpPr>
            <a:spLocks noChangeArrowheads="1"/>
          </p:cNvSpPr>
          <p:nvPr/>
        </p:nvSpPr>
        <p:spPr bwMode="auto">
          <a:xfrm>
            <a:off x="3046413" y="1431925"/>
            <a:ext cx="184150" cy="16986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dirty="0">
              <a:solidFill>
                <a:srgbClr val="00CC00"/>
              </a:solidFill>
              <a:latin typeface="Times New Roman" panose="02020603050405020304" pitchFamily="18" charset="0"/>
              <a:ea typeface="微软雅黑 Light" panose="020B0502040204020203" pitchFamily="34" charset="-122"/>
            </a:endParaRPr>
          </a:p>
        </p:txBody>
      </p:sp>
      <p:sp>
        <p:nvSpPr>
          <p:cNvPr id="54" name="Rectangle 96"/>
          <p:cNvSpPr>
            <a:spLocks noChangeArrowheads="1"/>
          </p:cNvSpPr>
          <p:nvPr/>
        </p:nvSpPr>
        <p:spPr bwMode="auto">
          <a:xfrm>
            <a:off x="2368550" y="2373313"/>
            <a:ext cx="184150" cy="171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dirty="0">
              <a:solidFill>
                <a:srgbClr val="00CC00"/>
              </a:solidFill>
              <a:latin typeface="Times New Roman" panose="02020603050405020304" pitchFamily="18" charset="0"/>
              <a:ea typeface="微软雅黑 Light" panose="020B0502040204020203" pitchFamily="34" charset="-122"/>
            </a:endParaRPr>
          </a:p>
        </p:txBody>
      </p:sp>
      <p:sp>
        <p:nvSpPr>
          <p:cNvPr id="2" name="标题 1">
            <a:extLst>
              <a:ext uri="{FF2B5EF4-FFF2-40B4-BE49-F238E27FC236}">
                <a16:creationId xmlns:a16="http://schemas.microsoft.com/office/drawing/2014/main" id="{C92BF83E-9F0A-8490-3CB5-1B08AEBE2268}"/>
              </a:ext>
            </a:extLst>
          </p:cNvPr>
          <p:cNvSpPr>
            <a:spLocks noGrp="1"/>
          </p:cNvSpPr>
          <p:nvPr>
            <p:ph type="title"/>
          </p:nvPr>
        </p:nvSpPr>
        <p:spPr>
          <a:xfrm>
            <a:off x="612000" y="144000"/>
            <a:ext cx="7920000" cy="341632"/>
          </a:xfrm>
        </p:spPr>
        <p:txBody>
          <a:bodyPr/>
          <a:lstStyle/>
          <a:p>
            <a:r>
              <a:rPr lang="zh-CN" altLang="en-US" dirty="0"/>
              <a:t>每个分组独立选择传输路径</a:t>
            </a:r>
          </a:p>
        </p:txBody>
      </p:sp>
    </p:spTree>
    <p:extLst>
      <p:ext uri="{BB962C8B-B14F-4D97-AF65-F5344CB8AC3E}">
        <p14:creationId xmlns:p14="http://schemas.microsoft.com/office/powerpoint/2010/main" val="25182423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5000" fill="remove" grpId="0" nodeType="afterEffect">
                                  <p:stCondLst>
                                    <p:cond delay="0"/>
                                  </p:stCondLst>
                                  <p:childTnLst>
                                    <p:animClr clrSpc="rgb" dir="cw">
                                      <p:cBhvr override="childStyle">
                                        <p:cTn id="6" dur="500" autoRev="1" fill="remove"/>
                                        <p:tgtEl>
                                          <p:spTgt spid="6"/>
                                        </p:tgtEl>
                                        <p:attrNameLst>
                                          <p:attrName>style.color</p:attrName>
                                        </p:attrNameLst>
                                      </p:cBhvr>
                                      <p:to>
                                        <a:schemeClr val="bg1"/>
                                      </p:to>
                                    </p:animClr>
                                    <p:animClr clrSpc="rgb" dir="cw">
                                      <p:cBhvr>
                                        <p:cTn id="7" dur="500" autoRev="1" fill="remove"/>
                                        <p:tgtEl>
                                          <p:spTgt spid="6"/>
                                        </p:tgtEl>
                                        <p:attrNameLst>
                                          <p:attrName>fillcolor</p:attrName>
                                        </p:attrNameLst>
                                      </p:cBhvr>
                                      <p:to>
                                        <a:schemeClr val="bg1"/>
                                      </p:to>
                                    </p:animClr>
                                    <p:set>
                                      <p:cBhvr>
                                        <p:cTn id="8" dur="500" autoRev="1" fill="remove"/>
                                        <p:tgtEl>
                                          <p:spTgt spid="6"/>
                                        </p:tgtEl>
                                        <p:attrNameLst>
                                          <p:attrName>fill.type</p:attrName>
                                        </p:attrNameLst>
                                      </p:cBhvr>
                                      <p:to>
                                        <p:strVal val="solid"/>
                                      </p:to>
                                    </p:set>
                                    <p:set>
                                      <p:cBhvr>
                                        <p:cTn id="9" dur="500" autoRev="1" fill="remove"/>
                                        <p:tgtEl>
                                          <p:spTgt spid="6"/>
                                        </p:tgtEl>
                                        <p:attrNameLst>
                                          <p:attrName>fill.on</p:attrName>
                                        </p:attrNameLst>
                                      </p:cBhvr>
                                      <p:to>
                                        <p:strVal val="true"/>
                                      </p:to>
                                    </p:set>
                                  </p:childTnLst>
                                </p:cTn>
                              </p:par>
                              <p:par>
                                <p:cTn id="10" presetID="0" presetClass="path" presetSubtype="0" accel="50000" decel="50000" fill="hold" grpId="0" nodeType="withEffect">
                                  <p:stCondLst>
                                    <p:cond delay="3000"/>
                                  </p:stCondLst>
                                  <p:childTnLst>
                                    <p:animMotion origin="layout" path="M 2.77778E-6 -4.02285E-6 L 0.09114 0.09571 L 0.21007 0.20655 L 0.30208 0.05465 L 0.3967 0.21921 " pathEditMode="relative" rAng="0" ptsTypes="AAAAA">
                                      <p:cBhvr>
                                        <p:cTn id="11" dur="3000" fill="hold"/>
                                        <p:tgtEl>
                                          <p:spTgt spid="54"/>
                                        </p:tgtEl>
                                        <p:attrNameLst>
                                          <p:attrName>ppt_x</p:attrName>
                                          <p:attrName>ppt_y</p:attrName>
                                        </p:attrNameLst>
                                      </p:cBhvr>
                                      <p:rCtr x="19826" y="10960"/>
                                    </p:animMotion>
                                  </p:childTnLst>
                                </p:cTn>
                              </p:par>
                            </p:childTnLst>
                          </p:cTn>
                        </p:par>
                      </p:childTnLst>
                    </p:cTn>
                  </p:par>
                  <p:par>
                    <p:cTn id="12" fill="hold">
                      <p:stCondLst>
                        <p:cond delay="indefinite"/>
                      </p:stCondLst>
                      <p:childTnLst>
                        <p:par>
                          <p:cTn id="13" fill="hold">
                            <p:stCondLst>
                              <p:cond delay="0"/>
                            </p:stCondLst>
                            <p:childTnLst>
                              <p:par>
                                <p:cTn id="14" presetID="27" presetClass="emph" presetSubtype="0" repeatCount="5000" fill="remove" grpId="1" nodeType="clickEffect">
                                  <p:stCondLst>
                                    <p:cond delay="0"/>
                                  </p:stCondLst>
                                  <p:childTnLst>
                                    <p:animClr clrSpc="rgb" dir="cw">
                                      <p:cBhvr override="childStyle">
                                        <p:cTn id="15" dur="500" autoRev="1" fill="remove"/>
                                        <p:tgtEl>
                                          <p:spTgt spid="6"/>
                                        </p:tgtEl>
                                        <p:attrNameLst>
                                          <p:attrName>style.color</p:attrName>
                                        </p:attrNameLst>
                                      </p:cBhvr>
                                      <p:to>
                                        <a:schemeClr val="bg1"/>
                                      </p:to>
                                    </p:animClr>
                                    <p:animClr clrSpc="rgb" dir="cw">
                                      <p:cBhvr>
                                        <p:cTn id="16" dur="500" autoRev="1" fill="remove"/>
                                        <p:tgtEl>
                                          <p:spTgt spid="6"/>
                                        </p:tgtEl>
                                        <p:attrNameLst>
                                          <p:attrName>fillcolor</p:attrName>
                                        </p:attrNameLst>
                                      </p:cBhvr>
                                      <p:to>
                                        <a:schemeClr val="bg1"/>
                                      </p:to>
                                    </p:animClr>
                                    <p:set>
                                      <p:cBhvr>
                                        <p:cTn id="17" dur="500" autoRev="1" fill="remove"/>
                                        <p:tgtEl>
                                          <p:spTgt spid="6"/>
                                        </p:tgtEl>
                                        <p:attrNameLst>
                                          <p:attrName>fill.type</p:attrName>
                                        </p:attrNameLst>
                                      </p:cBhvr>
                                      <p:to>
                                        <p:strVal val="solid"/>
                                      </p:to>
                                    </p:set>
                                    <p:set>
                                      <p:cBhvr>
                                        <p:cTn id="18" dur="500" autoRev="1" fill="remove"/>
                                        <p:tgtEl>
                                          <p:spTgt spid="6"/>
                                        </p:tgtEl>
                                        <p:attrNameLst>
                                          <p:attrName>fill.on</p:attrName>
                                        </p:attrNameLst>
                                      </p:cBhvr>
                                      <p:to>
                                        <p:strVal val="true"/>
                                      </p:to>
                                    </p:set>
                                  </p:childTnLst>
                                </p:cTn>
                              </p:par>
                              <p:par>
                                <p:cTn id="19" presetID="0" presetClass="path" presetSubtype="0" accel="50000" decel="50000" fill="hold" grpId="1" nodeType="withEffect">
                                  <p:stCondLst>
                                    <p:cond delay="1000"/>
                                  </p:stCondLst>
                                  <p:childTnLst>
                                    <p:animMotion origin="layout" path="M 0 0 L 0.09514 0.09386 L 0.14323 -0.06699 L 0.30555 0.05403 L 0.40087 0.21766 " pathEditMode="relative" ptsTypes="AAAAA">
                                      <p:cBhvr>
                                        <p:cTn id="20" dur="3000" fill="hold"/>
                                        <p:tgtEl>
                                          <p:spTgt spid="54"/>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27" presetClass="emph" presetSubtype="0" repeatCount="5000" fill="remove" grpId="0" nodeType="clickEffect">
                                  <p:stCondLst>
                                    <p:cond delay="0"/>
                                  </p:stCondLst>
                                  <p:childTnLst>
                                    <p:animClr clrSpc="rgb" dir="cw">
                                      <p:cBhvr override="childStyle">
                                        <p:cTn id="24" dur="500" autoRev="1" fill="remove"/>
                                        <p:tgtEl>
                                          <p:spTgt spid="7"/>
                                        </p:tgtEl>
                                        <p:attrNameLst>
                                          <p:attrName>style.color</p:attrName>
                                        </p:attrNameLst>
                                      </p:cBhvr>
                                      <p:to>
                                        <a:schemeClr val="bg1"/>
                                      </p:to>
                                    </p:animClr>
                                    <p:animClr clrSpc="rgb" dir="cw">
                                      <p:cBhvr>
                                        <p:cTn id="25" dur="500" autoRev="1" fill="remove"/>
                                        <p:tgtEl>
                                          <p:spTgt spid="7"/>
                                        </p:tgtEl>
                                        <p:attrNameLst>
                                          <p:attrName>fillcolor</p:attrName>
                                        </p:attrNameLst>
                                      </p:cBhvr>
                                      <p:to>
                                        <a:schemeClr val="bg1"/>
                                      </p:to>
                                    </p:animClr>
                                    <p:set>
                                      <p:cBhvr>
                                        <p:cTn id="26" dur="500" autoRev="1" fill="remove"/>
                                        <p:tgtEl>
                                          <p:spTgt spid="7"/>
                                        </p:tgtEl>
                                        <p:attrNameLst>
                                          <p:attrName>fill.type</p:attrName>
                                        </p:attrNameLst>
                                      </p:cBhvr>
                                      <p:to>
                                        <p:strVal val="solid"/>
                                      </p:to>
                                    </p:set>
                                    <p:set>
                                      <p:cBhvr>
                                        <p:cTn id="27" dur="500" autoRev="1" fill="remove"/>
                                        <p:tgtEl>
                                          <p:spTgt spid="7"/>
                                        </p:tgtEl>
                                        <p:attrNameLst>
                                          <p:attrName>fill.on</p:attrName>
                                        </p:attrNameLst>
                                      </p:cBhvr>
                                      <p:to>
                                        <p:strVal val="true"/>
                                      </p:to>
                                    </p:set>
                                  </p:childTnLst>
                                </p:cTn>
                              </p:par>
                              <p:par>
                                <p:cTn id="28" presetID="1" presetClass="entr" presetSubtype="0" fill="hold" grpId="1" nodeType="withEffect">
                                  <p:stCondLst>
                                    <p:cond delay="500"/>
                                  </p:stCondLst>
                                  <p:childTnLst>
                                    <p:set>
                                      <p:cBhvr>
                                        <p:cTn id="29" dur="1" fill="hold">
                                          <p:stCondLst>
                                            <p:cond delay="0"/>
                                          </p:stCondLst>
                                        </p:cTn>
                                        <p:tgtEl>
                                          <p:spTgt spid="7"/>
                                        </p:tgtEl>
                                        <p:attrNameLst>
                                          <p:attrName>style.visibility</p:attrName>
                                        </p:attrNameLst>
                                      </p:cBhvr>
                                      <p:to>
                                        <p:strVal val="visible"/>
                                      </p:to>
                                    </p:set>
                                  </p:childTnLst>
                                </p:cTn>
                              </p:par>
                              <p:par>
                                <p:cTn id="30" presetID="0" presetClass="path" presetSubtype="0" accel="50000" decel="50000" fill="hold" grpId="0" nodeType="withEffect">
                                  <p:stCondLst>
                                    <p:cond delay="1000"/>
                                  </p:stCondLst>
                                  <p:childTnLst>
                                    <p:animMotion origin="layout" path="M -2.5E-6 7.37265E-6 L 0.06649 0.12227 L 0.23125 0.24175 L 0.35677 0.18062 " pathEditMode="relative" ptsTypes="AAAA">
                                      <p:cBhvr>
                                        <p:cTn id="31" dur="3000" fill="hold"/>
                                        <p:tgtEl>
                                          <p:spTgt spid="40"/>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27" presetClass="emph" presetSubtype="0" repeatCount="5000" fill="remove" grpId="0" nodeType="clickEffect">
                                  <p:stCondLst>
                                    <p:cond delay="0"/>
                                  </p:stCondLst>
                                  <p:childTnLst>
                                    <p:animClr clrSpc="rgb" dir="cw">
                                      <p:cBhvr override="childStyle">
                                        <p:cTn id="35" dur="500" autoRev="1" fill="remove"/>
                                        <p:tgtEl>
                                          <p:spTgt spid="8"/>
                                        </p:tgtEl>
                                        <p:attrNameLst>
                                          <p:attrName>style.color</p:attrName>
                                        </p:attrNameLst>
                                      </p:cBhvr>
                                      <p:to>
                                        <a:schemeClr val="bg1"/>
                                      </p:to>
                                    </p:animClr>
                                    <p:animClr clrSpc="rgb" dir="cw">
                                      <p:cBhvr>
                                        <p:cTn id="36" dur="500" autoRev="1" fill="remove"/>
                                        <p:tgtEl>
                                          <p:spTgt spid="8"/>
                                        </p:tgtEl>
                                        <p:attrNameLst>
                                          <p:attrName>fillcolor</p:attrName>
                                        </p:attrNameLst>
                                      </p:cBhvr>
                                      <p:to>
                                        <a:schemeClr val="bg1"/>
                                      </p:to>
                                    </p:animClr>
                                    <p:set>
                                      <p:cBhvr>
                                        <p:cTn id="37" dur="500" autoRev="1" fill="remove"/>
                                        <p:tgtEl>
                                          <p:spTgt spid="8"/>
                                        </p:tgtEl>
                                        <p:attrNameLst>
                                          <p:attrName>fill.type</p:attrName>
                                        </p:attrNameLst>
                                      </p:cBhvr>
                                      <p:to>
                                        <p:strVal val="solid"/>
                                      </p:to>
                                    </p:set>
                                    <p:set>
                                      <p:cBhvr>
                                        <p:cTn id="38" dur="500" autoRev="1" fill="remove"/>
                                        <p:tgtEl>
                                          <p:spTgt spid="8"/>
                                        </p:tgtEl>
                                        <p:attrNameLst>
                                          <p:attrName>fill.on</p:attrName>
                                        </p:attrNameLst>
                                      </p:cBhvr>
                                      <p:to>
                                        <p:strVal val="true"/>
                                      </p:to>
                                    </p:set>
                                  </p:childTnLst>
                                </p:cTn>
                              </p:par>
                              <p:par>
                                <p:cTn id="39" presetID="0" presetClass="path" presetSubtype="0" accel="50000" decel="50000" fill="hold" grpId="2" nodeType="withEffect">
                                  <p:stCondLst>
                                    <p:cond delay="1000"/>
                                  </p:stCondLst>
                                  <p:childTnLst>
                                    <p:animMotion origin="layout" path="M 0 0 L 0.09045 0.09107 L 0.1408 -0.06824 L 0.30087 0.05402 L 0.39844 0.22074 " pathEditMode="relative" ptsTypes="AAAAA">
                                      <p:cBhvr>
                                        <p:cTn id="40" dur="3000" fill="hold"/>
                                        <p:tgtEl>
                                          <p:spTgt spid="54"/>
                                        </p:tgtEl>
                                        <p:attrNameLst>
                                          <p:attrName>ppt_x</p:attrName>
                                          <p:attrName>ppt_y</p:attrName>
                                        </p:attrNameLst>
                                      </p:cBhvr>
                                    </p:animMotion>
                                  </p:childTnLst>
                                </p:cTn>
                              </p:par>
                              <p:par>
                                <p:cTn id="41" presetID="0" presetClass="path" presetSubtype="0" accel="50000" decel="50000" fill="hold" grpId="1" nodeType="withEffect">
                                  <p:stCondLst>
                                    <p:cond delay="2000"/>
                                  </p:stCondLst>
                                  <p:childTnLst>
                                    <p:animMotion origin="layout" path="M 0 0 L 0.07049 0.1238 L 0.22969 0.23618 L 0.35764 0.17783 " pathEditMode="relative" ptsTypes="AAAA">
                                      <p:cBhvr>
                                        <p:cTn id="42" dur="3000" fill="hold"/>
                                        <p:tgtEl>
                                          <p:spTgt spid="40"/>
                                        </p:tgtEl>
                                        <p:attrNameLst>
                                          <p:attrName>ppt_x</p:attrName>
                                          <p:attrName>ppt_y</p:attrName>
                                        </p:attrNameLst>
                                      </p:cBhvr>
                                    </p:animMotion>
                                  </p:childTnLst>
                                </p:cTn>
                              </p:par>
                              <p:par>
                                <p:cTn id="43" presetID="0" presetClass="path" presetSubtype="0" accel="50000" decel="50000" fill="hold" grpId="3" nodeType="withEffect">
                                  <p:stCondLst>
                                    <p:cond delay="3000"/>
                                  </p:stCondLst>
                                  <p:childTnLst>
                                    <p:animMotion origin="layout" path="M 0 0 L 0.0927 0.09386 L 0.14479 -0.067 L 0.21111 0.20901 L 0.30156 0.06113 L 0.39913 0.22198 " pathEditMode="relative" ptsTypes="AAAAAA">
                                      <p:cBhvr>
                                        <p:cTn id="44" dur="3000" fill="hold"/>
                                        <p:tgtEl>
                                          <p:spTgt spid="5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6" grpId="1" animBg="1"/>
      <p:bldP spid="7" grpId="0" animBg="1"/>
      <p:bldP spid="7" grpId="1" animBg="1"/>
      <p:bldP spid="40" grpId="0" animBg="1"/>
      <p:bldP spid="40" grpId="1" animBg="1"/>
      <p:bldP spid="54" grpId="0" animBg="1"/>
      <p:bldP spid="54" grpId="1" animBg="1"/>
      <p:bldP spid="54" grpId="2" animBg="1"/>
      <p:bldP spid="54" grpId="3"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3"/>
          <p:cNvGrpSpPr/>
          <p:nvPr/>
        </p:nvGrpSpPr>
        <p:grpSpPr bwMode="auto">
          <a:xfrm>
            <a:off x="3072041" y="1560753"/>
            <a:ext cx="2956714" cy="2446498"/>
            <a:chOff x="2256" y="2386"/>
            <a:chExt cx="2147" cy="1919"/>
          </a:xfrm>
          <a:solidFill>
            <a:schemeClr val="bg1"/>
          </a:solidFill>
        </p:grpSpPr>
        <p:sp>
          <p:nvSpPr>
            <p:cNvPr id="56" name="Oval 4"/>
            <p:cNvSpPr>
              <a:spLocks noChangeArrowheads="1"/>
            </p:cNvSpPr>
            <p:nvPr/>
          </p:nvSpPr>
          <p:spPr bwMode="auto">
            <a:xfrm rot="-1674972">
              <a:off x="2346" y="2526"/>
              <a:ext cx="1015" cy="69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7" name="Oval 5"/>
            <p:cNvSpPr>
              <a:spLocks noChangeArrowheads="1"/>
            </p:cNvSpPr>
            <p:nvPr/>
          </p:nvSpPr>
          <p:spPr bwMode="auto">
            <a:xfrm rot="-774972">
              <a:off x="3025" y="2386"/>
              <a:ext cx="887" cy="64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8" name="Oval 6"/>
            <p:cNvSpPr>
              <a:spLocks noChangeArrowheads="1"/>
            </p:cNvSpPr>
            <p:nvPr/>
          </p:nvSpPr>
          <p:spPr bwMode="auto">
            <a:xfrm rot="-174972">
              <a:off x="3673" y="2621"/>
              <a:ext cx="655" cy="83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9" name="Oval 7"/>
            <p:cNvSpPr>
              <a:spLocks noChangeArrowheads="1"/>
            </p:cNvSpPr>
            <p:nvPr/>
          </p:nvSpPr>
          <p:spPr bwMode="auto">
            <a:xfrm rot="18365028">
              <a:off x="3754" y="3108"/>
              <a:ext cx="687" cy="610"/>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0" name="Oval 8"/>
            <p:cNvSpPr>
              <a:spLocks noChangeArrowheads="1"/>
            </p:cNvSpPr>
            <p:nvPr/>
          </p:nvSpPr>
          <p:spPr bwMode="auto">
            <a:xfrm rot="-1674972">
              <a:off x="3052" y="3445"/>
              <a:ext cx="1110" cy="77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1" name="Oval 9"/>
            <p:cNvSpPr>
              <a:spLocks noChangeArrowheads="1"/>
            </p:cNvSpPr>
            <p:nvPr/>
          </p:nvSpPr>
          <p:spPr bwMode="auto">
            <a:xfrm rot="-594972">
              <a:off x="2616" y="3772"/>
              <a:ext cx="793" cy="533"/>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2" name="Oval 10"/>
            <p:cNvSpPr>
              <a:spLocks noChangeArrowheads="1"/>
            </p:cNvSpPr>
            <p:nvPr/>
          </p:nvSpPr>
          <p:spPr bwMode="auto">
            <a:xfrm rot="-1674972">
              <a:off x="2311" y="3539"/>
              <a:ext cx="503" cy="631"/>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3" name="Oval 11"/>
            <p:cNvSpPr>
              <a:spLocks noChangeArrowheads="1"/>
            </p:cNvSpPr>
            <p:nvPr/>
          </p:nvSpPr>
          <p:spPr bwMode="auto">
            <a:xfrm rot="18065028">
              <a:off x="2160" y="3115"/>
              <a:ext cx="695" cy="504"/>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4" name="Freeform 12"/>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grpSp>
      <p:sp>
        <p:nvSpPr>
          <p:cNvPr id="77832" name="Line 13"/>
          <p:cNvSpPr>
            <a:spLocks noChangeShapeType="1"/>
          </p:cNvSpPr>
          <p:nvPr/>
        </p:nvSpPr>
        <p:spPr bwMode="auto">
          <a:xfrm flipV="1">
            <a:off x="3889375" y="1717675"/>
            <a:ext cx="927100" cy="369888"/>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3" name="Line 14"/>
          <p:cNvSpPr>
            <a:spLocks noChangeShapeType="1"/>
          </p:cNvSpPr>
          <p:nvPr/>
        </p:nvSpPr>
        <p:spPr bwMode="auto">
          <a:xfrm>
            <a:off x="4929188" y="1766888"/>
            <a:ext cx="547687" cy="93345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4" name="Line 15"/>
          <p:cNvSpPr>
            <a:spLocks noChangeShapeType="1"/>
          </p:cNvSpPr>
          <p:nvPr/>
        </p:nvSpPr>
        <p:spPr bwMode="auto">
          <a:xfrm flipH="1">
            <a:off x="3343275" y="2149475"/>
            <a:ext cx="481013" cy="83820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5" name="Line 16"/>
          <p:cNvSpPr>
            <a:spLocks noChangeShapeType="1"/>
          </p:cNvSpPr>
          <p:nvPr/>
        </p:nvSpPr>
        <p:spPr bwMode="auto">
          <a:xfrm>
            <a:off x="3373438" y="3106738"/>
            <a:ext cx="1100137" cy="587375"/>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6" name="Line 17"/>
          <p:cNvSpPr>
            <a:spLocks noChangeShapeType="1"/>
          </p:cNvSpPr>
          <p:nvPr/>
        </p:nvSpPr>
        <p:spPr bwMode="auto">
          <a:xfrm flipV="1">
            <a:off x="4519613" y="2884488"/>
            <a:ext cx="957262" cy="8715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7" name="Line 18"/>
          <p:cNvSpPr>
            <a:spLocks noChangeShapeType="1"/>
          </p:cNvSpPr>
          <p:nvPr/>
        </p:nvSpPr>
        <p:spPr bwMode="auto">
          <a:xfrm>
            <a:off x="3927475" y="2154238"/>
            <a:ext cx="1536700" cy="6302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8" name="Line 19"/>
          <p:cNvSpPr>
            <a:spLocks noChangeShapeType="1"/>
          </p:cNvSpPr>
          <p:nvPr/>
        </p:nvSpPr>
        <p:spPr bwMode="auto">
          <a:xfrm>
            <a:off x="3854450" y="2044700"/>
            <a:ext cx="722313" cy="1649413"/>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39" name="Line 20"/>
          <p:cNvSpPr>
            <a:spLocks noChangeShapeType="1"/>
          </p:cNvSpPr>
          <p:nvPr/>
        </p:nvSpPr>
        <p:spPr bwMode="auto">
          <a:xfrm flipH="1" flipV="1">
            <a:off x="4551363" y="3741738"/>
            <a:ext cx="652462" cy="454025"/>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0" name="Line 21"/>
          <p:cNvSpPr>
            <a:spLocks noChangeShapeType="1"/>
          </p:cNvSpPr>
          <p:nvPr/>
        </p:nvSpPr>
        <p:spPr bwMode="auto">
          <a:xfrm rot="-5400000">
            <a:off x="5165725" y="1176338"/>
            <a:ext cx="155575" cy="73025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1" name="Line 22"/>
          <p:cNvSpPr>
            <a:spLocks noChangeShapeType="1"/>
          </p:cNvSpPr>
          <p:nvPr/>
        </p:nvSpPr>
        <p:spPr bwMode="auto">
          <a:xfrm>
            <a:off x="5543550" y="2884488"/>
            <a:ext cx="461963" cy="673100"/>
          </a:xfrm>
          <a:prstGeom prst="line">
            <a:avLst/>
          </a:prstGeom>
          <a:noFill/>
          <a:ln w="28575">
            <a:solidFill>
              <a:schemeClr val="tx2">
                <a:lumMod val="60000"/>
                <a:lumOff val="4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2" name="Line 23"/>
          <p:cNvSpPr>
            <a:spLocks noChangeShapeType="1"/>
          </p:cNvSpPr>
          <p:nvPr/>
        </p:nvSpPr>
        <p:spPr bwMode="auto">
          <a:xfrm flipV="1">
            <a:off x="2382838" y="3055938"/>
            <a:ext cx="792162" cy="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3" name="Line 24"/>
          <p:cNvSpPr>
            <a:spLocks noChangeShapeType="1"/>
          </p:cNvSpPr>
          <p:nvPr/>
        </p:nvSpPr>
        <p:spPr bwMode="auto">
          <a:xfrm rot="5400000" flipH="1">
            <a:off x="3313113" y="1539875"/>
            <a:ext cx="515938" cy="50958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4" name="Text Box 25"/>
          <p:cNvSpPr txBox="1">
            <a:spLocks noChangeArrowheads="1"/>
          </p:cNvSpPr>
          <p:nvPr/>
        </p:nvSpPr>
        <p:spPr bwMode="auto">
          <a:xfrm>
            <a:off x="1714500" y="2860675"/>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1</a:t>
            </a:r>
            <a:endParaRPr kumimoji="1" lang="en-US" altLang="zh-CN" b="1" dirty="0">
              <a:latin typeface="Times New Roman" panose="02020603050405020304" pitchFamily="18" charset="0"/>
              <a:ea typeface="微软雅黑 Light" panose="020B0502040204020203" pitchFamily="34" charset="-122"/>
            </a:endParaRPr>
          </a:p>
        </p:txBody>
      </p:sp>
      <p:sp>
        <p:nvSpPr>
          <p:cNvPr id="77845" name="Oval 26"/>
          <p:cNvSpPr>
            <a:spLocks noChangeArrowheads="1"/>
          </p:cNvSpPr>
          <p:nvPr/>
        </p:nvSpPr>
        <p:spPr bwMode="auto">
          <a:xfrm>
            <a:off x="3114675" y="2878138"/>
            <a:ext cx="404813" cy="374650"/>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latin typeface="Times New Roman" panose="02020603050405020304" pitchFamily="18" charset="0"/>
                <a:ea typeface="微软雅黑 Light" panose="020B0502040204020203" pitchFamily="34" charset="-122"/>
              </a:rPr>
              <a:t>A</a:t>
            </a:r>
          </a:p>
        </p:txBody>
      </p:sp>
      <p:sp>
        <p:nvSpPr>
          <p:cNvPr id="77846" name="Line 27"/>
          <p:cNvSpPr>
            <a:spLocks noChangeShapeType="1"/>
          </p:cNvSpPr>
          <p:nvPr/>
        </p:nvSpPr>
        <p:spPr bwMode="auto">
          <a:xfrm flipV="1">
            <a:off x="5543550" y="2233613"/>
            <a:ext cx="993775" cy="52863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7847" name="Oval 35"/>
          <p:cNvSpPr>
            <a:spLocks noChangeArrowheads="1"/>
          </p:cNvSpPr>
          <p:nvPr/>
        </p:nvSpPr>
        <p:spPr bwMode="auto">
          <a:xfrm>
            <a:off x="3687763" y="1973263"/>
            <a:ext cx="381000" cy="3524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latin typeface="Times New Roman" panose="02020603050405020304" pitchFamily="18" charset="0"/>
                <a:ea typeface="微软雅黑 Light" panose="020B0502040204020203" pitchFamily="34" charset="-122"/>
              </a:rPr>
              <a:t>B</a:t>
            </a:r>
          </a:p>
        </p:txBody>
      </p:sp>
      <p:sp>
        <p:nvSpPr>
          <p:cNvPr id="77848" name="Oval 36"/>
          <p:cNvSpPr>
            <a:spLocks noChangeArrowheads="1"/>
          </p:cNvSpPr>
          <p:nvPr/>
        </p:nvSpPr>
        <p:spPr bwMode="auto">
          <a:xfrm>
            <a:off x="4713288" y="1565275"/>
            <a:ext cx="373062" cy="344488"/>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latin typeface="Times New Roman" panose="02020603050405020304" pitchFamily="18" charset="0"/>
                <a:ea typeface="微软雅黑 Light" panose="020B0502040204020203" pitchFamily="34" charset="-122"/>
              </a:rPr>
              <a:t>D</a:t>
            </a:r>
          </a:p>
        </p:txBody>
      </p:sp>
      <p:sp>
        <p:nvSpPr>
          <p:cNvPr id="77849" name="Oval 37"/>
          <p:cNvSpPr>
            <a:spLocks noChangeArrowheads="1"/>
          </p:cNvSpPr>
          <p:nvPr/>
        </p:nvSpPr>
        <p:spPr bwMode="auto">
          <a:xfrm>
            <a:off x="5292725" y="2657475"/>
            <a:ext cx="414338" cy="38417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latin typeface="Times New Roman" panose="02020603050405020304" pitchFamily="18" charset="0"/>
                <a:ea typeface="微软雅黑 Light" panose="020B0502040204020203" pitchFamily="34" charset="-122"/>
              </a:rPr>
              <a:t>E</a:t>
            </a:r>
          </a:p>
        </p:txBody>
      </p:sp>
      <p:sp>
        <p:nvSpPr>
          <p:cNvPr id="77850" name="Oval 38"/>
          <p:cNvSpPr>
            <a:spLocks noChangeArrowheads="1"/>
          </p:cNvSpPr>
          <p:nvPr/>
        </p:nvSpPr>
        <p:spPr bwMode="auto">
          <a:xfrm>
            <a:off x="4386263" y="3532188"/>
            <a:ext cx="393700" cy="3651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latin typeface="Times New Roman" panose="02020603050405020304" pitchFamily="18" charset="0"/>
                <a:ea typeface="微软雅黑 Light" panose="020B0502040204020203" pitchFamily="34" charset="-122"/>
              </a:rPr>
              <a:t>C</a:t>
            </a:r>
          </a:p>
        </p:txBody>
      </p:sp>
      <p:sp>
        <p:nvSpPr>
          <p:cNvPr id="77851" name="Text Box 39"/>
          <p:cNvSpPr txBox="1">
            <a:spLocks noChangeArrowheads="1"/>
          </p:cNvSpPr>
          <p:nvPr/>
        </p:nvSpPr>
        <p:spPr bwMode="auto">
          <a:xfrm>
            <a:off x="6267450" y="3432175"/>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5</a:t>
            </a:r>
            <a:endParaRPr kumimoji="1" lang="en-US" altLang="zh-CN" b="1" dirty="0">
              <a:latin typeface="Times New Roman" panose="02020603050405020304" pitchFamily="18" charset="0"/>
              <a:ea typeface="微软雅黑 Light" panose="020B0502040204020203" pitchFamily="34" charset="-122"/>
            </a:endParaRPr>
          </a:p>
        </p:txBody>
      </p:sp>
      <p:sp>
        <p:nvSpPr>
          <p:cNvPr id="77852" name="Text Box 40"/>
          <p:cNvSpPr txBox="1">
            <a:spLocks noChangeArrowheads="1"/>
          </p:cNvSpPr>
          <p:nvPr/>
        </p:nvSpPr>
        <p:spPr bwMode="auto">
          <a:xfrm>
            <a:off x="6788150" y="2039938"/>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6</a:t>
            </a:r>
            <a:endParaRPr kumimoji="1" lang="en-US" altLang="zh-CN" b="1" dirty="0">
              <a:latin typeface="Times New Roman" panose="02020603050405020304" pitchFamily="18" charset="0"/>
              <a:ea typeface="微软雅黑 Light" panose="020B0502040204020203" pitchFamily="34" charset="-122"/>
            </a:endParaRPr>
          </a:p>
        </p:txBody>
      </p:sp>
      <p:sp>
        <p:nvSpPr>
          <p:cNvPr id="77853" name="Text Box 42"/>
          <p:cNvSpPr txBox="1">
            <a:spLocks noChangeArrowheads="1"/>
          </p:cNvSpPr>
          <p:nvPr/>
        </p:nvSpPr>
        <p:spPr bwMode="auto">
          <a:xfrm>
            <a:off x="3360738" y="1277938"/>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2</a:t>
            </a:r>
            <a:endParaRPr kumimoji="1" lang="en-US" altLang="zh-CN" b="1" dirty="0">
              <a:latin typeface="Times New Roman" panose="02020603050405020304" pitchFamily="18" charset="0"/>
              <a:ea typeface="微软雅黑 Light" panose="020B0502040204020203" pitchFamily="34" charset="-122"/>
            </a:endParaRPr>
          </a:p>
        </p:txBody>
      </p:sp>
      <p:sp>
        <p:nvSpPr>
          <p:cNvPr id="77854" name="Text Box 43"/>
          <p:cNvSpPr txBox="1">
            <a:spLocks noChangeArrowheads="1"/>
          </p:cNvSpPr>
          <p:nvPr/>
        </p:nvSpPr>
        <p:spPr bwMode="auto">
          <a:xfrm>
            <a:off x="5367338" y="3902075"/>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3</a:t>
            </a:r>
            <a:endParaRPr kumimoji="1" lang="en-US" altLang="zh-CN" b="1" dirty="0">
              <a:latin typeface="Times New Roman" panose="02020603050405020304" pitchFamily="18" charset="0"/>
              <a:ea typeface="微软雅黑 Light" panose="020B0502040204020203" pitchFamily="34" charset="-122"/>
            </a:endParaRPr>
          </a:p>
        </p:txBody>
      </p:sp>
      <p:sp>
        <p:nvSpPr>
          <p:cNvPr id="77855" name="Text Box 55"/>
          <p:cNvSpPr txBox="1">
            <a:spLocks noChangeArrowheads="1"/>
          </p:cNvSpPr>
          <p:nvPr/>
        </p:nvSpPr>
        <p:spPr bwMode="auto">
          <a:xfrm>
            <a:off x="2247900" y="2038350"/>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sp>
        <p:nvSpPr>
          <p:cNvPr id="77856" name="Line 57"/>
          <p:cNvSpPr>
            <a:spLocks noChangeShapeType="1"/>
          </p:cNvSpPr>
          <p:nvPr/>
        </p:nvSpPr>
        <p:spPr bwMode="auto">
          <a:xfrm flipV="1">
            <a:off x="2971800" y="2058988"/>
            <a:ext cx="738188" cy="12065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pic>
        <p:nvPicPr>
          <p:cNvPr id="7785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390525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58" name="Line 58"/>
          <p:cNvSpPr>
            <a:spLocks noChangeShapeType="1"/>
          </p:cNvSpPr>
          <p:nvPr/>
        </p:nvSpPr>
        <p:spPr bwMode="auto">
          <a:xfrm>
            <a:off x="1979613" y="2513013"/>
            <a:ext cx="260350" cy="3841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3" name="Text Box 64"/>
          <p:cNvSpPr txBox="1">
            <a:spLocks noChangeArrowheads="1"/>
          </p:cNvSpPr>
          <p:nvPr/>
        </p:nvSpPr>
        <p:spPr bwMode="auto">
          <a:xfrm>
            <a:off x="6121949" y="3077893"/>
            <a:ext cx="2262188" cy="338137"/>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最后到达目的主机 </a:t>
            </a:r>
            <a:r>
              <a:rPr kumimoji="1" lang="en-US" altLang="zh-CN" sz="1600" b="1" dirty="0">
                <a:solidFill>
                  <a:schemeClr val="bg1"/>
                </a:solidFill>
                <a:latin typeface="微软雅黑" panose="020B0503020204020204" pitchFamily="34" charset="-122"/>
                <a:ea typeface="微软雅黑" panose="020B0503020204020204" pitchFamily="34" charset="-122"/>
              </a:rPr>
              <a:t>H</a:t>
            </a:r>
            <a:r>
              <a:rPr kumimoji="1" lang="en-US" altLang="zh-CN" sz="1600" b="1" baseline="-25000" dirty="0">
                <a:solidFill>
                  <a:schemeClr val="bg1"/>
                </a:solidFill>
                <a:latin typeface="微软雅黑" panose="020B0503020204020204" pitchFamily="34" charset="-122"/>
                <a:ea typeface="微软雅黑" panose="020B0503020204020204" pitchFamily="34" charset="-122"/>
              </a:rPr>
              <a:t>5</a:t>
            </a:r>
          </a:p>
        </p:txBody>
      </p:sp>
      <p:sp>
        <p:nvSpPr>
          <p:cNvPr id="77860" name="Text Box 204"/>
          <p:cNvSpPr txBox="1">
            <a:spLocks noChangeArrowheads="1"/>
          </p:cNvSpPr>
          <p:nvPr/>
        </p:nvSpPr>
        <p:spPr bwMode="auto">
          <a:xfrm>
            <a:off x="4316413" y="2741613"/>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7861" name="Text Box 98"/>
          <p:cNvSpPr txBox="1">
            <a:spLocks noChangeArrowheads="1"/>
          </p:cNvSpPr>
          <p:nvPr/>
        </p:nvSpPr>
        <p:spPr bwMode="auto">
          <a:xfrm>
            <a:off x="705610" y="1494832"/>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1</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向 </a:t>
            </a:r>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5</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发送分组</a:t>
            </a:r>
          </a:p>
        </p:txBody>
      </p:sp>
      <p:sp>
        <p:nvSpPr>
          <p:cNvPr id="77862" name="Text Box 42"/>
          <p:cNvSpPr txBox="1">
            <a:spLocks noChangeArrowheads="1"/>
          </p:cNvSpPr>
          <p:nvPr/>
        </p:nvSpPr>
        <p:spPr bwMode="auto">
          <a:xfrm>
            <a:off x="5810250" y="1252538"/>
            <a:ext cx="442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latin typeface="Times New Roman" panose="02020603050405020304" pitchFamily="18" charset="0"/>
                <a:ea typeface="微软雅黑 Light" panose="020B0502040204020203" pitchFamily="34" charset="-122"/>
              </a:rPr>
              <a:t>H</a:t>
            </a:r>
            <a:r>
              <a:rPr kumimoji="1" lang="en-US" altLang="zh-CN" b="1" baseline="-25000" dirty="0">
                <a:latin typeface="Times New Roman" panose="02020603050405020304" pitchFamily="18" charset="0"/>
                <a:ea typeface="微软雅黑 Light" panose="020B0502040204020203" pitchFamily="34" charset="-122"/>
              </a:rPr>
              <a:t>4</a:t>
            </a:r>
            <a:endParaRPr kumimoji="1" lang="en-US" altLang="zh-CN" b="1" dirty="0">
              <a:latin typeface="Times New Roman" panose="02020603050405020304" pitchFamily="18" charset="0"/>
              <a:ea typeface="微软雅黑 Light" panose="020B0502040204020203" pitchFamily="34" charset="-122"/>
            </a:endParaRPr>
          </a:p>
        </p:txBody>
      </p:sp>
      <p:pic>
        <p:nvPicPr>
          <p:cNvPr id="778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2032000"/>
            <a:ext cx="43338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54400"/>
            <a:ext cx="4318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895600"/>
            <a:ext cx="4333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Rectangle 46"/>
          <p:cNvSpPr>
            <a:spLocks noChangeArrowheads="1"/>
          </p:cNvSpPr>
          <p:nvPr/>
        </p:nvSpPr>
        <p:spPr bwMode="auto">
          <a:xfrm>
            <a:off x="2122488" y="2957513"/>
            <a:ext cx="233362" cy="214312"/>
          </a:xfrm>
          <a:prstGeom prst="rect">
            <a:avLst/>
          </a:prstGeom>
          <a:solidFill>
            <a:srgbClr val="FF0000"/>
          </a:solidFill>
          <a:ln w="9525">
            <a:solidFill>
              <a:srgbClr val="FF0000"/>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pic>
        <p:nvPicPr>
          <p:cNvPr id="7786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284288"/>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26682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Text Box 54"/>
          <p:cNvSpPr txBox="1">
            <a:spLocks noChangeArrowheads="1"/>
          </p:cNvSpPr>
          <p:nvPr/>
        </p:nvSpPr>
        <p:spPr bwMode="auto">
          <a:xfrm>
            <a:off x="3504033" y="1957476"/>
            <a:ext cx="2124075"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A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endParaRPr kumimoji="1"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17" name="Rectangle 46"/>
          <p:cNvSpPr>
            <a:spLocks noChangeArrowheads="1"/>
          </p:cNvSpPr>
          <p:nvPr/>
        </p:nvSpPr>
        <p:spPr bwMode="auto">
          <a:xfrm>
            <a:off x="3216275" y="2962275"/>
            <a:ext cx="233363" cy="214313"/>
          </a:xfrm>
          <a:prstGeom prst="rect">
            <a:avLst/>
          </a:prstGeom>
          <a:solidFill>
            <a:srgbClr val="FF0000"/>
          </a:solidFill>
          <a:ln w="9525">
            <a:solidFill>
              <a:srgbClr val="FF0000"/>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104" name="Text Box 60"/>
          <p:cNvSpPr txBox="1">
            <a:spLocks noChangeArrowheads="1"/>
          </p:cNvSpPr>
          <p:nvPr/>
        </p:nvSpPr>
        <p:spPr bwMode="auto">
          <a:xfrm flipH="1">
            <a:off x="3849004" y="2380172"/>
            <a:ext cx="1776413"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C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8" name="Rectangle 46"/>
          <p:cNvSpPr>
            <a:spLocks noChangeArrowheads="1"/>
          </p:cNvSpPr>
          <p:nvPr/>
        </p:nvSpPr>
        <p:spPr bwMode="auto">
          <a:xfrm>
            <a:off x="4478338" y="3608388"/>
            <a:ext cx="233362" cy="215900"/>
          </a:xfrm>
          <a:prstGeom prst="rect">
            <a:avLst/>
          </a:prstGeom>
          <a:solidFill>
            <a:srgbClr val="FF0000"/>
          </a:solidFill>
          <a:ln w="9525">
            <a:solidFill>
              <a:srgbClr val="FF0000"/>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102" name="Text Box 62"/>
          <p:cNvSpPr txBox="1">
            <a:spLocks noChangeArrowheads="1"/>
          </p:cNvSpPr>
          <p:nvPr/>
        </p:nvSpPr>
        <p:spPr bwMode="auto">
          <a:xfrm>
            <a:off x="3378200" y="2331380"/>
            <a:ext cx="1797050"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E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9" name="Rectangle 46"/>
          <p:cNvSpPr>
            <a:spLocks noChangeArrowheads="1"/>
          </p:cNvSpPr>
          <p:nvPr/>
        </p:nvSpPr>
        <p:spPr bwMode="auto">
          <a:xfrm>
            <a:off x="5399088" y="2746375"/>
            <a:ext cx="234950" cy="215900"/>
          </a:xfrm>
          <a:prstGeom prst="rect">
            <a:avLst/>
          </a:prstGeom>
          <a:solidFill>
            <a:srgbClr val="FF0000"/>
          </a:solidFill>
          <a:ln w="9525">
            <a:solidFill>
              <a:srgbClr val="FF0000"/>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5" name="Text Box 45"/>
          <p:cNvSpPr txBox="1">
            <a:spLocks noChangeArrowheads="1"/>
          </p:cNvSpPr>
          <p:nvPr/>
        </p:nvSpPr>
        <p:spPr bwMode="auto">
          <a:xfrm>
            <a:off x="1501793" y="2279856"/>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sp>
        <p:nvSpPr>
          <p:cNvPr id="2" name="标题 1">
            <a:extLst>
              <a:ext uri="{FF2B5EF4-FFF2-40B4-BE49-F238E27FC236}">
                <a16:creationId xmlns:a16="http://schemas.microsoft.com/office/drawing/2014/main" id="{A5E1C669-C123-E270-EF43-1D6F74D63444}"/>
              </a:ext>
            </a:extLst>
          </p:cNvPr>
          <p:cNvSpPr>
            <a:spLocks noGrp="1"/>
          </p:cNvSpPr>
          <p:nvPr>
            <p:ph type="title"/>
          </p:nvPr>
        </p:nvSpPr>
        <p:spPr>
          <a:xfrm>
            <a:off x="612000" y="144000"/>
            <a:ext cx="7920000" cy="341632"/>
          </a:xfrm>
        </p:spPr>
        <p:txBody>
          <a:bodyPr/>
          <a:lstStyle/>
          <a:p>
            <a:r>
              <a:rPr lang="zh-CN" altLang="en-US" dirty="0"/>
              <a:t>分组的存储转发过程</a:t>
            </a:r>
          </a:p>
        </p:txBody>
      </p:sp>
    </p:spTree>
    <p:extLst>
      <p:ext uri="{BB962C8B-B14F-4D97-AF65-F5344CB8AC3E}">
        <p14:creationId xmlns:p14="http://schemas.microsoft.com/office/powerpoint/2010/main" val="3757513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2000"/>
                                  </p:stCondLst>
                                  <p:childTnLst>
                                    <p:animMotion origin="layout" path="M 0.00052 -0.00093 L 0.11962 0.00093 " pathEditMode="relative" rAng="0" ptsTypes="AA">
                                      <p:cBhvr>
                                        <p:cTn id="6" dur="2000" fill="hold"/>
                                        <p:tgtEl>
                                          <p:spTgt spid="97"/>
                                        </p:tgtEl>
                                        <p:attrNameLst>
                                          <p:attrName>ppt_x</p:attrName>
                                          <p:attrName>ppt_y</p:attrName>
                                        </p:attrNameLst>
                                      </p:cBhvr>
                                      <p:rCtr x="5955" y="93"/>
                                    </p:animMotion>
                                  </p:childTnLst>
                                </p:cTn>
                              </p:par>
                            </p:childTnLst>
                          </p:cTn>
                        </p:par>
                        <p:par>
                          <p:cTn id="7" fill="hold">
                            <p:stCondLst>
                              <p:cond delay="4000"/>
                            </p:stCondLst>
                            <p:childTnLst>
                              <p:par>
                                <p:cTn id="8" presetID="53" presetClass="entr" presetSubtype="16" fill="hold" grpId="0" nodeType="afterEffect">
                                  <p:stCondLst>
                                    <p:cond delay="500"/>
                                  </p:stCondLst>
                                  <p:childTnLst>
                                    <p:set>
                                      <p:cBhvr>
                                        <p:cTn id="9" dur="1" fill="hold">
                                          <p:stCondLst>
                                            <p:cond delay="0"/>
                                          </p:stCondLst>
                                        </p:cTn>
                                        <p:tgtEl>
                                          <p:spTgt spid="105"/>
                                        </p:tgtEl>
                                        <p:attrNameLst>
                                          <p:attrName>style.visibility</p:attrName>
                                        </p:attrNameLst>
                                      </p:cBhvr>
                                      <p:to>
                                        <p:strVal val="visible"/>
                                      </p:to>
                                    </p:set>
                                    <p:anim calcmode="lin" valueType="num">
                                      <p:cBhvr>
                                        <p:cTn id="10" dur="500" fill="hold"/>
                                        <p:tgtEl>
                                          <p:spTgt spid="105"/>
                                        </p:tgtEl>
                                        <p:attrNameLst>
                                          <p:attrName>ppt_w</p:attrName>
                                        </p:attrNameLst>
                                      </p:cBhvr>
                                      <p:tavLst>
                                        <p:tav tm="0">
                                          <p:val>
                                            <p:fltVal val="0"/>
                                          </p:val>
                                        </p:tav>
                                        <p:tav tm="100000">
                                          <p:val>
                                            <p:strVal val="#ppt_w"/>
                                          </p:val>
                                        </p:tav>
                                      </p:tavLst>
                                    </p:anim>
                                    <p:anim calcmode="lin" valueType="num">
                                      <p:cBhvr>
                                        <p:cTn id="11" dur="500" fill="hold"/>
                                        <p:tgtEl>
                                          <p:spTgt spid="105"/>
                                        </p:tgtEl>
                                        <p:attrNameLst>
                                          <p:attrName>ppt_h</p:attrName>
                                        </p:attrNameLst>
                                      </p:cBhvr>
                                      <p:tavLst>
                                        <p:tav tm="0">
                                          <p:val>
                                            <p:fltVal val="0"/>
                                          </p:val>
                                        </p:tav>
                                        <p:tav tm="100000">
                                          <p:val>
                                            <p:strVal val="#ppt_h"/>
                                          </p:val>
                                        </p:tav>
                                      </p:tavLst>
                                    </p:anim>
                                    <p:animEffect transition="in" filter="fade">
                                      <p:cBhvr>
                                        <p:cTn id="12" dur="500"/>
                                        <p:tgtEl>
                                          <p:spTgt spid="105"/>
                                        </p:tgtEl>
                                      </p:cBhvr>
                                    </p:animEffect>
                                  </p:childTnLst>
                                </p:cTn>
                              </p:par>
                            </p:childTnLst>
                          </p:cTn>
                        </p:par>
                        <p:par>
                          <p:cTn id="13" fill="hold">
                            <p:stCondLst>
                              <p:cond delay="5000"/>
                            </p:stCondLst>
                            <p:childTnLst>
                              <p:par>
                                <p:cTn id="14" presetID="1" presetClass="exit" presetSubtype="0" fill="hold" grpId="1" nodeType="afterEffect">
                                  <p:stCondLst>
                                    <p:cond delay="0"/>
                                  </p:stCondLst>
                                  <p:childTnLst>
                                    <p:set>
                                      <p:cBhvr>
                                        <p:cTn id="15" dur="1" fill="hold">
                                          <p:stCondLst>
                                            <p:cond delay="0"/>
                                          </p:stCondLst>
                                        </p:cTn>
                                        <p:tgtEl>
                                          <p:spTgt spid="97"/>
                                        </p:tgtEl>
                                        <p:attrNameLst>
                                          <p:attrName>style.visibility</p:attrName>
                                        </p:attrNameLst>
                                      </p:cBhvr>
                                      <p:to>
                                        <p:strVal val="hidden"/>
                                      </p:to>
                                    </p:set>
                                  </p:childTnLst>
                                </p:cTn>
                              </p:par>
                            </p:childTnLst>
                          </p:cTn>
                        </p:par>
                        <p:par>
                          <p:cTn id="16" fill="hold">
                            <p:stCondLst>
                              <p:cond delay="5000"/>
                            </p:stCondLst>
                            <p:childTnLst>
                              <p:par>
                                <p:cTn id="17" presetID="1" presetClass="entr" presetSubtype="0" fill="hold" grpId="1" nodeType="afterEffect">
                                  <p:stCondLst>
                                    <p:cond delay="400"/>
                                  </p:stCondLst>
                                  <p:childTnLst>
                                    <p:set>
                                      <p:cBhvr>
                                        <p:cTn id="18" dur="1" fill="hold">
                                          <p:stCondLst>
                                            <p:cond delay="0"/>
                                          </p:stCondLst>
                                        </p:cTn>
                                        <p:tgtEl>
                                          <p:spTgt spid="117"/>
                                        </p:tgtEl>
                                        <p:attrNameLst>
                                          <p:attrName>style.visibility</p:attrName>
                                        </p:attrNameLst>
                                      </p:cBhvr>
                                      <p:to>
                                        <p:strVal val="visible"/>
                                      </p:to>
                                    </p:set>
                                  </p:childTnLst>
                                </p:cTn>
                              </p:par>
                            </p:childTnLst>
                          </p:cTn>
                        </p:par>
                        <p:par>
                          <p:cTn id="19" fill="hold">
                            <p:stCondLst>
                              <p:cond delay="5400"/>
                            </p:stCondLst>
                            <p:childTnLst>
                              <p:par>
                                <p:cTn id="20" presetID="1" presetClass="exit" presetSubtype="0" fill="hold" grpId="1" nodeType="afterEffect">
                                  <p:stCondLst>
                                    <p:cond delay="3000"/>
                                  </p:stCondLst>
                                  <p:childTnLst>
                                    <p:set>
                                      <p:cBhvr>
                                        <p:cTn id="21" dur="1" fill="hold">
                                          <p:stCondLst>
                                            <p:cond delay="0"/>
                                          </p:stCondLst>
                                        </p:cTn>
                                        <p:tgtEl>
                                          <p:spTgt spid="105"/>
                                        </p:tgtEl>
                                        <p:attrNameLst>
                                          <p:attrName>style.visibility</p:attrName>
                                        </p:attrNameLst>
                                      </p:cBhvr>
                                      <p:to>
                                        <p:strVal val="hidden"/>
                                      </p:to>
                                    </p:set>
                                  </p:childTnLst>
                                </p:cTn>
                              </p:par>
                            </p:childTnLst>
                          </p:cTn>
                        </p:par>
                        <p:par>
                          <p:cTn id="22" fill="hold">
                            <p:stCondLst>
                              <p:cond delay="8400"/>
                            </p:stCondLst>
                            <p:childTnLst>
                              <p:par>
                                <p:cTn id="23" presetID="0" presetClass="path" presetSubtype="0" accel="50000" decel="50000" fill="hold" grpId="0" nodeType="afterEffect">
                                  <p:stCondLst>
                                    <p:cond delay="0"/>
                                  </p:stCondLst>
                                  <p:childTnLst>
                                    <p:animMotion origin="layout" path="M 0 0 L 0.13403 0.13136 " pathEditMode="relative" ptsTypes="AA">
                                      <p:cBhvr>
                                        <p:cTn id="24" dur="2000" fill="hold"/>
                                        <p:tgtEl>
                                          <p:spTgt spid="117"/>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2" nodeType="afterEffect">
                                  <p:stCondLst>
                                    <p:cond delay="3000"/>
                                  </p:stCondLst>
                                  <p:childTnLst>
                                    <p:set>
                                      <p:cBhvr>
                                        <p:cTn id="31" dur="1" fill="hold">
                                          <p:stCondLst>
                                            <p:cond delay="0"/>
                                          </p:stCondLst>
                                        </p:cTn>
                                        <p:tgtEl>
                                          <p:spTgt spid="104"/>
                                        </p:tgtEl>
                                        <p:attrNameLst>
                                          <p:attrName>style.visibility</p:attrName>
                                        </p:attrNameLst>
                                      </p:cBhvr>
                                      <p:to>
                                        <p:strVal val="hidden"/>
                                      </p:to>
                                    </p:set>
                                  </p:childTnLst>
                                </p:cTn>
                              </p:par>
                            </p:childTnLst>
                          </p:cTn>
                        </p:par>
                        <p:par>
                          <p:cTn id="32" fill="hold">
                            <p:stCondLst>
                              <p:cond delay="3000"/>
                            </p:stCondLst>
                            <p:childTnLst>
                              <p:par>
                                <p:cTn id="33" presetID="1" presetClass="exit" presetSubtype="0" fill="hold" grpId="2" nodeType="afterEffect">
                                  <p:stCondLst>
                                    <p:cond delay="0"/>
                                  </p:stCondLst>
                                  <p:childTnLst>
                                    <p:set>
                                      <p:cBhvr>
                                        <p:cTn id="34" dur="1" fill="hold">
                                          <p:stCondLst>
                                            <p:cond delay="0"/>
                                          </p:stCondLst>
                                        </p:cTn>
                                        <p:tgtEl>
                                          <p:spTgt spid="117"/>
                                        </p:tgtEl>
                                        <p:attrNameLst>
                                          <p:attrName>style.visibility</p:attrName>
                                        </p:attrNameLst>
                                      </p:cBhvr>
                                      <p:to>
                                        <p:strVal val="hidden"/>
                                      </p:to>
                                    </p:se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118"/>
                                        </p:tgtEl>
                                        <p:attrNameLst>
                                          <p:attrName>style.visibility</p:attrName>
                                        </p:attrNameLst>
                                      </p:cBhvr>
                                      <p:to>
                                        <p:strVal val="visible"/>
                                      </p:to>
                                    </p:set>
                                  </p:childTnLst>
                                </p:cTn>
                              </p:par>
                            </p:childTnLst>
                          </p:cTn>
                        </p:par>
                        <p:par>
                          <p:cTn id="38" fill="hold">
                            <p:stCondLst>
                              <p:cond delay="3000"/>
                            </p:stCondLst>
                            <p:childTnLst>
                              <p:par>
                                <p:cTn id="39" presetID="0" presetClass="path" presetSubtype="0" accel="50000" decel="50000" fill="hold" grpId="1" nodeType="afterEffect">
                                  <p:stCondLst>
                                    <p:cond delay="0"/>
                                  </p:stCondLst>
                                  <p:childTnLst>
                                    <p:animMotion origin="layout" path="M -0.00399 0.00555 L 0.1 -0.17145 " pathEditMode="relative" rAng="0" ptsTypes="AA">
                                      <p:cBhvr>
                                        <p:cTn id="40" dur="2000" fill="hold"/>
                                        <p:tgtEl>
                                          <p:spTgt spid="118"/>
                                        </p:tgtEl>
                                        <p:attrNameLst>
                                          <p:attrName>ppt_x</p:attrName>
                                          <p:attrName>ppt_y</p:attrName>
                                        </p:attrNameLst>
                                      </p:cBhvr>
                                      <p:rCtr x="5191" y="-8850"/>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childTnLst>
                          </p:cTn>
                        </p:par>
                        <p:par>
                          <p:cTn id="45" fill="hold">
                            <p:stCondLst>
                              <p:cond delay="0"/>
                            </p:stCondLst>
                            <p:childTnLst>
                              <p:par>
                                <p:cTn id="46" presetID="53" presetClass="entr" presetSubtype="16" fill="hold" grpId="1" nodeType="after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childTnLst>
                          </p:cTn>
                        </p:par>
                        <p:par>
                          <p:cTn id="51" fill="hold">
                            <p:stCondLst>
                              <p:cond delay="500"/>
                            </p:stCondLst>
                            <p:childTnLst>
                              <p:par>
                                <p:cTn id="52" presetID="1" presetClass="exit" presetSubtype="0" fill="hold" grpId="2" nodeType="afterEffect">
                                  <p:stCondLst>
                                    <p:cond delay="3000"/>
                                  </p:stCondLst>
                                  <p:childTnLst>
                                    <p:set>
                                      <p:cBhvr>
                                        <p:cTn id="53" dur="1" fill="hold">
                                          <p:stCondLst>
                                            <p:cond delay="0"/>
                                          </p:stCondLst>
                                        </p:cTn>
                                        <p:tgtEl>
                                          <p:spTgt spid="118"/>
                                        </p:tgtEl>
                                        <p:attrNameLst>
                                          <p:attrName>style.visibility</p:attrName>
                                        </p:attrNameLst>
                                      </p:cBhvr>
                                      <p:to>
                                        <p:strVal val="hidden"/>
                                      </p:to>
                                    </p:set>
                                  </p:childTnLst>
                                </p:cTn>
                              </p:par>
                            </p:childTnLst>
                          </p:cTn>
                        </p:par>
                        <p:par>
                          <p:cTn id="54" fill="hold">
                            <p:stCondLst>
                              <p:cond delay="3500"/>
                            </p:stCondLst>
                            <p:childTnLst>
                              <p:par>
                                <p:cTn id="55" presetID="1" presetClass="exit" presetSubtype="0" fill="hold" grpId="2" nodeType="afterEffect">
                                  <p:stCondLst>
                                    <p:cond delay="0"/>
                                  </p:stCondLst>
                                  <p:childTnLst>
                                    <p:set>
                                      <p:cBhvr>
                                        <p:cTn id="56" dur="1" fill="hold">
                                          <p:stCondLst>
                                            <p:cond delay="0"/>
                                          </p:stCondLst>
                                        </p:cTn>
                                        <p:tgtEl>
                                          <p:spTgt spid="102"/>
                                        </p:tgtEl>
                                        <p:attrNameLst>
                                          <p:attrName>style.visibility</p:attrName>
                                        </p:attrNameLst>
                                      </p:cBhvr>
                                      <p:to>
                                        <p:strVal val="hidden"/>
                                      </p:to>
                                    </p:set>
                                  </p:childTnLst>
                                </p:cTn>
                              </p:par>
                            </p:childTnLst>
                          </p:cTn>
                        </p:par>
                        <p:par>
                          <p:cTn id="57" fill="hold">
                            <p:stCondLst>
                              <p:cond delay="3500"/>
                            </p:stCondLst>
                            <p:childTnLst>
                              <p:par>
                                <p:cTn id="58" presetID="1" presetClass="entr" presetSubtype="0" fill="hold" grpId="0" nodeType="afterEffect">
                                  <p:stCondLst>
                                    <p:cond delay="0"/>
                                  </p:stCondLst>
                                  <p:childTnLst>
                                    <p:set>
                                      <p:cBhvr>
                                        <p:cTn id="59" dur="1" fill="hold">
                                          <p:stCondLst>
                                            <p:cond delay="0"/>
                                          </p:stCondLst>
                                        </p:cTn>
                                        <p:tgtEl>
                                          <p:spTgt spid="119"/>
                                        </p:tgtEl>
                                        <p:attrNameLst>
                                          <p:attrName>style.visibility</p:attrName>
                                        </p:attrNameLst>
                                      </p:cBhvr>
                                      <p:to>
                                        <p:strVal val="visible"/>
                                      </p:to>
                                    </p:set>
                                  </p:childTnLst>
                                </p:cTn>
                              </p:par>
                            </p:childTnLst>
                          </p:cTn>
                        </p:par>
                        <p:par>
                          <p:cTn id="60" fill="hold">
                            <p:stCondLst>
                              <p:cond delay="3500"/>
                            </p:stCondLst>
                            <p:childTnLst>
                              <p:par>
                                <p:cTn id="61" presetID="0" presetClass="path" presetSubtype="0" accel="50000" decel="50000" fill="hold" grpId="1" nodeType="afterEffect">
                                  <p:stCondLst>
                                    <p:cond delay="0"/>
                                  </p:stCondLst>
                                  <p:childTnLst>
                                    <p:animMotion origin="layout" path="M -0.00087 -0.00402 L 0.0651 0.14907 " pathEditMode="relative" ptsTypes="AA">
                                      <p:cBhvr>
                                        <p:cTn id="62" dur="2000" fill="hold"/>
                                        <p:tgtEl>
                                          <p:spTgt spid="119"/>
                                        </p:tgtEl>
                                        <p:attrNameLst>
                                          <p:attrName>ppt_x</p:attrName>
                                          <p:attrName>ppt_y</p:attrName>
                                        </p:attrNameLst>
                                      </p:cBhvr>
                                    </p:animMotion>
                                  </p:childTnLst>
                                </p:cTn>
                              </p:par>
                            </p:childTnLst>
                          </p:cTn>
                        </p:par>
                        <p:par>
                          <p:cTn id="63" fill="hold">
                            <p:stCondLst>
                              <p:cond delay="5500"/>
                            </p:stCondLst>
                            <p:childTnLst>
                              <p:par>
                                <p:cTn id="64" presetID="1" presetClass="entr" presetSubtype="0" fill="hold" grpId="0" nodeType="after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par>
                          <p:cTn id="66" fill="hold">
                            <p:stCondLst>
                              <p:cond delay="5500"/>
                            </p:stCondLst>
                            <p:childTnLst>
                              <p:par>
                                <p:cTn id="67" presetID="53" presetClass="entr" presetSubtype="16" fill="hold" grpId="1" nodeType="afterEffect">
                                  <p:stCondLst>
                                    <p:cond delay="0"/>
                                  </p:stCondLst>
                                  <p:childTnLst>
                                    <p:set>
                                      <p:cBhvr>
                                        <p:cTn id="68" dur="1" fill="hold">
                                          <p:stCondLst>
                                            <p:cond delay="0"/>
                                          </p:stCondLst>
                                        </p:cTn>
                                        <p:tgtEl>
                                          <p:spTgt spid="103"/>
                                        </p:tgtEl>
                                        <p:attrNameLst>
                                          <p:attrName>style.visibility</p:attrName>
                                        </p:attrNameLst>
                                      </p:cBhvr>
                                      <p:to>
                                        <p:strVal val="visible"/>
                                      </p:to>
                                    </p:set>
                                    <p:anim calcmode="lin" valueType="num">
                                      <p:cBhvr>
                                        <p:cTn id="69" dur="500" fill="hold"/>
                                        <p:tgtEl>
                                          <p:spTgt spid="103"/>
                                        </p:tgtEl>
                                        <p:attrNameLst>
                                          <p:attrName>ppt_w</p:attrName>
                                        </p:attrNameLst>
                                      </p:cBhvr>
                                      <p:tavLst>
                                        <p:tav tm="0">
                                          <p:val>
                                            <p:fltVal val="0"/>
                                          </p:val>
                                        </p:tav>
                                        <p:tav tm="100000">
                                          <p:val>
                                            <p:strVal val="#ppt_w"/>
                                          </p:val>
                                        </p:tav>
                                      </p:tavLst>
                                    </p:anim>
                                    <p:anim calcmode="lin" valueType="num">
                                      <p:cBhvr>
                                        <p:cTn id="70" dur="500" fill="hold"/>
                                        <p:tgtEl>
                                          <p:spTgt spid="103"/>
                                        </p:tgtEl>
                                        <p:attrNameLst>
                                          <p:attrName>ppt_h</p:attrName>
                                        </p:attrNameLst>
                                      </p:cBhvr>
                                      <p:tavLst>
                                        <p:tav tm="0">
                                          <p:val>
                                            <p:fltVal val="0"/>
                                          </p:val>
                                        </p:tav>
                                        <p:tav tm="100000">
                                          <p:val>
                                            <p:strVal val="#ppt_h"/>
                                          </p:val>
                                        </p:tav>
                                      </p:tavLst>
                                    </p:anim>
                                    <p:animEffect transition="in" filter="fade">
                                      <p:cBhvr>
                                        <p:cTn id="7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3" grpId="1" animBg="1"/>
      <p:bldP spid="97" grpId="0" animBg="1"/>
      <p:bldP spid="97" grpId="1" animBg="1"/>
      <p:bldP spid="105" grpId="0" animBg="1"/>
      <p:bldP spid="105" grpId="1" animBg="1"/>
      <p:bldP spid="117" grpId="0" animBg="1"/>
      <p:bldP spid="117" grpId="1" animBg="1"/>
      <p:bldP spid="117" grpId="2" animBg="1"/>
      <p:bldP spid="104" grpId="0" animBg="1"/>
      <p:bldP spid="104" grpId="2" animBg="1"/>
      <p:bldP spid="118" grpId="0" animBg="1"/>
      <p:bldP spid="118" grpId="1" animBg="1"/>
      <p:bldP spid="118" grpId="2" animBg="1"/>
      <p:bldP spid="102" grpId="0" animBg="1"/>
      <p:bldP spid="102" grpId="1" animBg="1"/>
      <p:bldP spid="102" grpId="2" animBg="1"/>
      <p:bldP spid="119" grpId="0" animBg="1"/>
      <p:bldP spid="119"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p:cNvGraphicFramePr/>
          <p:nvPr>
            <p:extLst>
              <p:ext uri="{D42A27DB-BD31-4B8C-83A1-F6EECF244321}">
                <p14:modId xmlns:p14="http://schemas.microsoft.com/office/powerpoint/2010/main" val="1326947020"/>
              </p:ext>
            </p:extLst>
          </p:nvPr>
        </p:nvGraphicFramePr>
        <p:xfrm>
          <a:off x="612000" y="1133228"/>
          <a:ext cx="7920000" cy="1585378"/>
        </p:xfrm>
        <a:graphic>
          <a:graphicData uri="http://schemas.openxmlformats.org/drawingml/2006/table">
            <a:tbl>
              <a:tblPr firstRow="1" firstCol="1" bandRow="1" bandCol="1">
                <a:tableStyleId>{2D5ABB26-0587-4C30-8999-92F81FD0307C}</a:tableStyleId>
              </a:tblPr>
              <a:tblGrid>
                <a:gridCol w="1440000">
                  <a:extLst>
                    <a:ext uri="{9D8B030D-6E8A-4147-A177-3AD203B41FA5}">
                      <a16:colId xmlns:a16="http://schemas.microsoft.com/office/drawing/2014/main" val="20000"/>
                    </a:ext>
                  </a:extLst>
                </a:gridCol>
                <a:gridCol w="6480000">
                  <a:extLst>
                    <a:ext uri="{9D8B030D-6E8A-4147-A177-3AD203B41FA5}">
                      <a16:colId xmlns:a16="http://schemas.microsoft.com/office/drawing/2014/main" val="20001"/>
                    </a:ext>
                  </a:extLst>
                </a:gridCol>
              </a:tblGrid>
              <a:tr h="0">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solidFill>
                            <a:srgbClr val="FF0000"/>
                          </a:solidFill>
                          <a:latin typeface="+mj-ea"/>
                          <a:ea typeface="+mj-ea"/>
                        </a:rPr>
                        <a:t>优点</a:t>
                      </a:r>
                    </a:p>
                  </a:txBody>
                  <a:tcPr marL="107997" marR="107997" marT="72025" marB="72025" anchor="ctr">
                    <a:lnB w="6350" cap="flat" cmpd="sng" algn="ctr">
                      <a:solidFill>
                        <a:schemeClr val="tx1"/>
                      </a:solidFill>
                      <a:prstDash val="solid"/>
                      <a:round/>
                      <a:headEnd type="none" w="med" len="med"/>
                      <a:tailEnd type="none" w="med" len="med"/>
                    </a:lnB>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说明</a:t>
                      </a:r>
                    </a:p>
                  </a:txBody>
                  <a:tcPr marL="89998" marR="89998" marT="46816" marB="46816" anchor="ct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高效</a:t>
                      </a:r>
                    </a:p>
                  </a:txBody>
                  <a:tcPr marL="89998" marR="89998" marT="46816" marB="46816" anchor="ctr">
                    <a:lnT w="6350" cap="flat" cmpd="sng" algn="ctr">
                      <a:solidFill>
                        <a:schemeClr val="tx1"/>
                      </a:solidFill>
                      <a:prstDash val="solid"/>
                      <a:round/>
                      <a:headEnd type="none" w="med" len="med"/>
                      <a:tailEnd type="none" w="med" len="med"/>
                    </a:lnT>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在分组传输的过程中动态分配传输带宽，对通信链路是逐段占用</a:t>
                      </a:r>
                    </a:p>
                  </a:txBody>
                  <a:tcPr marL="89998" marR="89998" marT="46816" marB="46816" anchor="ctr">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灵活</a:t>
                      </a:r>
                    </a:p>
                  </a:txBody>
                  <a:tcPr marL="89998" marR="89998" marT="46816" marB="46816" anchor="ct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为每一个分组独立地选择最合适的转发路由</a:t>
                      </a:r>
                    </a:p>
                  </a:txBody>
                  <a:tcPr marL="89998" marR="89998" marT="46816" marB="46816" anchor="ctr"/>
                </a:tc>
                <a:extLst>
                  <a:ext uri="{0D108BD9-81ED-4DB2-BD59-A6C34878D82A}">
                    <a16:rowId xmlns:a16="http://schemas.microsoft.com/office/drawing/2014/main" val="10002"/>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迅速</a:t>
                      </a:r>
                    </a:p>
                  </a:txBody>
                  <a:tcPr marL="89998" marR="89998" marT="46816" marB="46816" anchor="ct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以分组作为传送单位，可以不事先建立连接就能向其他主机发送分组</a:t>
                      </a:r>
                    </a:p>
                  </a:txBody>
                  <a:tcPr marL="89998" marR="89998" marT="46816" marB="46816" anchor="ctr"/>
                </a:tc>
                <a:extLst>
                  <a:ext uri="{0D108BD9-81ED-4DB2-BD59-A6C34878D82A}">
                    <a16:rowId xmlns:a16="http://schemas.microsoft.com/office/drawing/2014/main" val="10003"/>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可靠</a:t>
                      </a:r>
                    </a:p>
                  </a:txBody>
                  <a:tcPr marL="89998" marR="89998" marT="46816" marB="46816" anchor="ct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保证可靠性的网络协议；分布式多路由的分组交换网，使网络有很好的生存性</a:t>
                      </a:r>
                    </a:p>
                  </a:txBody>
                  <a:tcPr marL="89998" marR="89998" marT="46816" marB="46816" anchor="ctr"/>
                </a:tc>
                <a:extLst>
                  <a:ext uri="{0D108BD9-81ED-4DB2-BD59-A6C34878D82A}">
                    <a16:rowId xmlns:a16="http://schemas.microsoft.com/office/drawing/2014/main" val="10004"/>
                  </a:ext>
                </a:extLst>
              </a:tr>
            </a:tbl>
          </a:graphicData>
        </a:graphic>
      </p:graphicFrame>
      <p:sp>
        <p:nvSpPr>
          <p:cNvPr id="2" name="标题 1">
            <a:extLst>
              <a:ext uri="{FF2B5EF4-FFF2-40B4-BE49-F238E27FC236}">
                <a16:creationId xmlns:a16="http://schemas.microsoft.com/office/drawing/2014/main" id="{D0A57D7A-64FD-F2A5-913B-54C2FDD00724}"/>
              </a:ext>
            </a:extLst>
          </p:cNvPr>
          <p:cNvSpPr>
            <a:spLocks noGrp="1"/>
          </p:cNvSpPr>
          <p:nvPr>
            <p:ph type="title"/>
          </p:nvPr>
        </p:nvSpPr>
        <p:spPr>
          <a:xfrm>
            <a:off x="612000" y="144000"/>
            <a:ext cx="7920000" cy="341632"/>
          </a:xfrm>
        </p:spPr>
        <p:txBody>
          <a:bodyPr/>
          <a:lstStyle/>
          <a:p>
            <a:r>
              <a:rPr lang="en-US" altLang="zh-CN" dirty="0"/>
              <a:t>2. </a:t>
            </a:r>
            <a:r>
              <a:rPr lang="zh-CN" altLang="en-US" dirty="0"/>
              <a:t>分组交换 </a:t>
            </a:r>
            <a:r>
              <a:rPr lang="en-US" altLang="zh-CN" dirty="0"/>
              <a:t>Packet</a:t>
            </a:r>
            <a:r>
              <a:rPr lang="zh-CN" altLang="en-US" dirty="0"/>
              <a:t> </a:t>
            </a:r>
            <a:r>
              <a:rPr lang="en-US" altLang="zh-CN" dirty="0"/>
              <a:t>Switching</a:t>
            </a:r>
            <a:endParaRPr lang="zh-CN" altLang="en-US" dirty="0"/>
          </a:p>
        </p:txBody>
      </p:sp>
      <p:graphicFrame>
        <p:nvGraphicFramePr>
          <p:cNvPr id="7" name="内容占位符 2">
            <a:extLst>
              <a:ext uri="{FF2B5EF4-FFF2-40B4-BE49-F238E27FC236}">
                <a16:creationId xmlns:a16="http://schemas.microsoft.com/office/drawing/2014/main" id="{39BB5C77-91BE-6ECC-4DB7-6C26D45DF905}"/>
              </a:ext>
            </a:extLst>
          </p:cNvPr>
          <p:cNvGraphicFramePr/>
          <p:nvPr>
            <p:extLst>
              <p:ext uri="{D42A27DB-BD31-4B8C-83A1-F6EECF244321}">
                <p14:modId xmlns:p14="http://schemas.microsoft.com/office/powerpoint/2010/main" val="2112179615"/>
              </p:ext>
            </p:extLst>
          </p:nvPr>
        </p:nvGraphicFramePr>
        <p:xfrm>
          <a:off x="612000" y="2968419"/>
          <a:ext cx="7920000" cy="1278386"/>
        </p:xfrm>
        <a:graphic>
          <a:graphicData uri="http://schemas.openxmlformats.org/drawingml/2006/table">
            <a:tbl>
              <a:tblPr firstRow="1" firstCol="1" bandRow="1" bandCol="1">
                <a:tableStyleId>{2D5ABB26-0587-4C30-8999-92F81FD0307C}</a:tableStyleId>
              </a:tblPr>
              <a:tblGrid>
                <a:gridCol w="1440000">
                  <a:extLst>
                    <a:ext uri="{9D8B030D-6E8A-4147-A177-3AD203B41FA5}">
                      <a16:colId xmlns:a16="http://schemas.microsoft.com/office/drawing/2014/main" val="20000"/>
                    </a:ext>
                  </a:extLst>
                </a:gridCol>
                <a:gridCol w="6480000">
                  <a:extLst>
                    <a:ext uri="{9D8B030D-6E8A-4147-A177-3AD203B41FA5}">
                      <a16:colId xmlns:a16="http://schemas.microsoft.com/office/drawing/2014/main" val="20001"/>
                    </a:ext>
                  </a:extLst>
                </a:gridCol>
              </a:tblGrid>
              <a:tr h="0">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solidFill>
                            <a:srgbClr val="FF0000"/>
                          </a:solidFill>
                          <a:latin typeface="+mj-ea"/>
                          <a:ea typeface="+mj-ea"/>
                        </a:rPr>
                        <a:t>缺点</a:t>
                      </a:r>
                    </a:p>
                  </a:txBody>
                  <a:tcPr marL="107997" marR="107997" marT="72025" marB="72025" anchor="ctr">
                    <a:lnB w="6350" cap="flat" cmpd="sng" algn="ctr">
                      <a:solidFill>
                        <a:schemeClr val="tx1"/>
                      </a:solidFill>
                      <a:prstDash val="solid"/>
                      <a:round/>
                      <a:headEnd type="none" w="med" len="med"/>
                      <a:tailEnd type="none" w="med" len="med"/>
                    </a:lnB>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说明</a:t>
                      </a:r>
                    </a:p>
                  </a:txBody>
                  <a:tcPr marL="89998" marR="89998" marT="46816" marB="46816" anchor="ct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排队延迟</a:t>
                      </a:r>
                    </a:p>
                  </a:txBody>
                  <a:tcPr marL="89998" marR="89998" marT="46816" marB="46816" anchor="ctr">
                    <a:lnT w="6350" cap="flat" cmpd="sng" algn="ctr">
                      <a:solidFill>
                        <a:schemeClr val="tx1"/>
                      </a:solidFill>
                      <a:prstDash val="solid"/>
                      <a:round/>
                      <a:headEnd type="none" w="med" len="med"/>
                      <a:tailEnd type="none" w="med" len="med"/>
                    </a:lnT>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分组在各路由器存储转发时需要排队</a:t>
                      </a:r>
                    </a:p>
                  </a:txBody>
                  <a:tcPr marL="89998" marR="89998" marT="46816" marB="46816" anchor="ctr">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不保证带宽</a:t>
                      </a:r>
                    </a:p>
                  </a:txBody>
                  <a:tcPr marL="89998" marR="89998" marT="46816" marB="46816" anchor="ct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动态分配，无法保证</a:t>
                      </a:r>
                    </a:p>
                  </a:txBody>
                  <a:tcPr marL="89998" marR="89998" marT="46816" marB="46816" anchor="ctr"/>
                </a:tc>
                <a:extLst>
                  <a:ext uri="{0D108BD9-81ED-4DB2-BD59-A6C34878D82A}">
                    <a16:rowId xmlns:a16="http://schemas.microsoft.com/office/drawing/2014/main" val="10002"/>
                  </a:ext>
                </a:extLst>
              </a:tr>
              <a:tr h="137436">
                <a:tc>
                  <a:txBody>
                    <a:bodyPr/>
                    <a:lstStyle/>
                    <a:p>
                      <a:pPr marL="0" marR="0" lvl="0" indent="0" algn="ctr" defTabSz="914400" rtl="0" eaLnBrk="0" fontAlgn="base" latinLnBrk="0" hangingPunct="0">
                        <a:lnSpc>
                          <a:spcPct val="100000"/>
                        </a:lnSpc>
                        <a:spcBef>
                          <a:spcPct val="0"/>
                        </a:spcBef>
                        <a:spcAft>
                          <a:spcPct val="0"/>
                        </a:spcAft>
                        <a:buClrTx/>
                        <a:buSzTx/>
                        <a:buFontTx/>
                        <a:buNone/>
                      </a:pPr>
                      <a:r>
                        <a:rPr lang="zh-CN" altLang="en-US" sz="1400" dirty="0">
                          <a:latin typeface="+mj-ea"/>
                          <a:ea typeface="+mj-ea"/>
                        </a:rPr>
                        <a:t>增加开销</a:t>
                      </a:r>
                    </a:p>
                  </a:txBody>
                  <a:tcPr marL="89998" marR="89998" marT="46816" marB="46816" anchor="ct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dirty="0"/>
                        <a:t>各分组必须携带控制信息；路由器要暂存分组，维护转发表等</a:t>
                      </a:r>
                    </a:p>
                  </a:txBody>
                  <a:tcPr marL="89998" marR="89998" marT="46816" marB="46816"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1611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EBBBDF0-E80F-CE51-CD4D-DB8F95055F22}"/>
              </a:ext>
            </a:extLst>
          </p:cNvPr>
          <p:cNvSpPr>
            <a:spLocks noGrp="1"/>
          </p:cNvSpPr>
          <p:nvPr>
            <p:ph type="title"/>
          </p:nvPr>
        </p:nvSpPr>
        <p:spPr>
          <a:xfrm>
            <a:off x="612000" y="144000"/>
            <a:ext cx="7920000" cy="341632"/>
          </a:xfrm>
        </p:spPr>
        <p:txBody>
          <a:bodyPr/>
          <a:lstStyle/>
          <a:p>
            <a:r>
              <a:rPr lang="en-US" altLang="zh-CN" dirty="0"/>
              <a:t>3. </a:t>
            </a:r>
            <a:r>
              <a:rPr lang="zh-CN" altLang="en-US" dirty="0"/>
              <a:t>报文交换 </a:t>
            </a:r>
            <a:r>
              <a:rPr lang="en-US" altLang="zh-CN" dirty="0"/>
              <a:t>Message</a:t>
            </a:r>
            <a:r>
              <a:rPr lang="zh-CN" altLang="en-US" dirty="0"/>
              <a:t> </a:t>
            </a:r>
            <a:r>
              <a:rPr lang="en-US" altLang="zh-CN" dirty="0"/>
              <a:t>Switching</a:t>
            </a:r>
            <a:endParaRPr lang="zh-CN" altLang="en-US" dirty="0"/>
          </a:p>
        </p:txBody>
      </p:sp>
      <p:sp>
        <p:nvSpPr>
          <p:cNvPr id="2" name="内容占位符 1"/>
          <p:cNvSpPr>
            <a:spLocks noGrp="1"/>
          </p:cNvSpPr>
          <p:nvPr>
            <p:ph sz="quarter" idx="10"/>
          </p:nvPr>
        </p:nvSpPr>
        <p:spPr>
          <a:xfrm>
            <a:off x="612000" y="899999"/>
            <a:ext cx="7920000" cy="3780000"/>
          </a:xfrm>
        </p:spPr>
        <p:txBody>
          <a:bodyPr>
            <a:normAutofit/>
          </a:bodyPr>
          <a:lstStyle/>
          <a:p>
            <a:r>
              <a:rPr lang="zh-CN" altLang="en-US" dirty="0"/>
              <a:t>在 </a:t>
            </a:r>
            <a:r>
              <a:rPr lang="en-US" altLang="zh-CN" dirty="0"/>
              <a:t>20 </a:t>
            </a:r>
            <a:r>
              <a:rPr lang="zh-CN" altLang="en-US" dirty="0"/>
              <a:t>世纪 </a:t>
            </a:r>
            <a:r>
              <a:rPr lang="en-US" altLang="zh-CN" dirty="0"/>
              <a:t>40 </a:t>
            </a:r>
            <a:r>
              <a:rPr lang="zh-CN" altLang="en-US" dirty="0"/>
              <a:t>年代，电报通信就采用了基于存储转发原理的报文交换 </a:t>
            </a:r>
          </a:p>
          <a:p>
            <a:r>
              <a:rPr lang="zh-CN" altLang="en-US" dirty="0"/>
              <a:t>全报文 </a:t>
            </a:r>
            <a:r>
              <a:rPr lang="en-US" altLang="zh-CN" dirty="0"/>
              <a:t>Message </a:t>
            </a:r>
            <a:r>
              <a:rPr lang="zh-CN" altLang="en-US" dirty="0"/>
              <a:t>存储转发</a:t>
            </a:r>
            <a:endParaRPr lang="en-US" altLang="zh-CN" dirty="0"/>
          </a:p>
          <a:p>
            <a:r>
              <a:rPr lang="zh-CN" altLang="en-US" dirty="0"/>
              <a:t>现在报文交换已经很少使用</a:t>
            </a:r>
            <a:endParaRPr lang="en-US" altLang="zh-CN" dirty="0"/>
          </a:p>
          <a:p>
            <a:pPr lvl="0"/>
            <a:r>
              <a:rPr lang="zh-CN" altLang="en-US" dirty="0"/>
              <a:t>优点</a:t>
            </a:r>
            <a:endParaRPr lang="en-US" altLang="zh-CN" dirty="0"/>
          </a:p>
          <a:p>
            <a:pPr lvl="1"/>
            <a:r>
              <a:rPr lang="zh-CN" altLang="zh-CN" dirty="0"/>
              <a:t>通信前无需建立连接</a:t>
            </a:r>
          </a:p>
          <a:p>
            <a:pPr lvl="1"/>
            <a:r>
              <a:rPr lang="zh-CN" altLang="zh-CN" dirty="0"/>
              <a:t>数据以报文为单位被交换节点间存储转发，通信线路可以灵活分配</a:t>
            </a:r>
          </a:p>
          <a:p>
            <a:pPr lvl="1"/>
            <a:r>
              <a:rPr lang="zh-CN" altLang="zh-CN" dirty="0"/>
              <a:t>在通信时间内，两个用户无需独占一整条物理线路。相比于电路交换，线路利用率高</a:t>
            </a:r>
          </a:p>
          <a:p>
            <a:pPr lvl="1"/>
            <a:r>
              <a:rPr lang="zh-CN" altLang="zh-CN" dirty="0"/>
              <a:t>交换节点支持差错控制（通过校验技术）</a:t>
            </a:r>
          </a:p>
          <a:p>
            <a:r>
              <a:rPr lang="zh-CN" altLang="zh-CN" dirty="0"/>
              <a:t>缺点：</a:t>
            </a:r>
          </a:p>
          <a:p>
            <a:pPr lvl="1"/>
            <a:r>
              <a:rPr lang="zh-CN" altLang="zh-CN" dirty="0"/>
              <a:t>报文不定长，不方便存储转发管理</a:t>
            </a:r>
          </a:p>
          <a:p>
            <a:pPr lvl="1"/>
            <a:r>
              <a:rPr lang="zh-CN" altLang="zh-CN" dirty="0"/>
              <a:t>长报文的存储转发时间开销大、缓存开销大</a:t>
            </a:r>
          </a:p>
          <a:p>
            <a:pPr lvl="1"/>
            <a:r>
              <a:rPr lang="zh-CN" altLang="zh-CN" dirty="0"/>
              <a:t>长报文容易出错，重传代价高</a:t>
            </a:r>
          </a:p>
          <a:p>
            <a:endParaRPr lang="zh-CN" altLang="en-US" dirty="0"/>
          </a:p>
          <a:p>
            <a:endParaRPr lang="zh-CN" altLang="en-US" dirty="0"/>
          </a:p>
        </p:txBody>
      </p:sp>
    </p:spTree>
    <p:extLst>
      <p:ext uri="{BB962C8B-B14F-4D97-AF65-F5344CB8AC3E}">
        <p14:creationId xmlns:p14="http://schemas.microsoft.com/office/powerpoint/2010/main" val="2017669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4" name="组合 213"/>
          <p:cNvGrpSpPr/>
          <p:nvPr/>
        </p:nvGrpSpPr>
        <p:grpSpPr bwMode="auto">
          <a:xfrm>
            <a:off x="6087561" y="1690421"/>
            <a:ext cx="960437" cy="327025"/>
            <a:chOff x="5671771" y="1787171"/>
            <a:chExt cx="960767" cy="327823"/>
          </a:xfrm>
        </p:grpSpPr>
        <p:grpSp>
          <p:nvGrpSpPr>
            <p:cNvPr id="84112" name="组合 145"/>
            <p:cNvGrpSpPr/>
            <p:nvPr/>
          </p:nvGrpSpPr>
          <p:grpSpPr bwMode="auto">
            <a:xfrm>
              <a:off x="5671771" y="1787171"/>
              <a:ext cx="960767" cy="327823"/>
              <a:chOff x="6127637" y="2338510"/>
              <a:chExt cx="1464113" cy="499569"/>
            </a:xfrm>
          </p:grpSpPr>
          <p:sp>
            <p:nvSpPr>
              <p:cNvPr id="84114" name="AutoShape 54"/>
              <p:cNvSpPr>
                <a:spLocks noChangeArrowheads="1"/>
              </p:cNvSpPr>
              <p:nvPr/>
            </p:nvSpPr>
            <p:spPr bwMode="auto">
              <a:xfrm rot="5400000">
                <a:off x="6347066" y="2302899"/>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15" name="Line 56"/>
              <p:cNvSpPr>
                <a:spLocks noChangeShapeType="1"/>
              </p:cNvSpPr>
              <p:nvPr/>
            </p:nvSpPr>
            <p:spPr bwMode="auto">
              <a:xfrm>
                <a:off x="6240474" y="2402266"/>
                <a:ext cx="454598"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16" name="Line 57"/>
              <p:cNvSpPr>
                <a:spLocks noChangeShapeType="1"/>
              </p:cNvSpPr>
              <p:nvPr/>
            </p:nvSpPr>
            <p:spPr bwMode="auto">
              <a:xfrm>
                <a:off x="6236717" y="2576824"/>
                <a:ext cx="453346"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84117" name="Group 136"/>
              <p:cNvGrpSpPr/>
              <p:nvPr/>
            </p:nvGrpSpPr>
            <p:grpSpPr bwMode="auto">
              <a:xfrm>
                <a:off x="6685061" y="2478552"/>
                <a:ext cx="458356" cy="248542"/>
                <a:chOff x="4652" y="2004"/>
                <a:chExt cx="366" cy="215"/>
              </a:xfrm>
            </p:grpSpPr>
            <p:sp>
              <p:nvSpPr>
                <p:cNvPr id="84126" name="AutoShape 14"/>
                <p:cNvSpPr>
                  <a:spLocks noChangeArrowheads="1"/>
                </p:cNvSpPr>
                <p:nvPr/>
              </p:nvSpPr>
              <p:spPr bwMode="auto">
                <a:xfrm rot="5400000">
                  <a:off x="4732" y="193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7"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28"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29"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118" name="Group 140"/>
              <p:cNvGrpSpPr/>
              <p:nvPr/>
            </p:nvGrpSpPr>
            <p:grpSpPr bwMode="auto">
              <a:xfrm>
                <a:off x="7008161" y="2486651"/>
                <a:ext cx="583589" cy="351428"/>
                <a:chOff x="4910" y="2011"/>
                <a:chExt cx="466" cy="304"/>
              </a:xfrm>
            </p:grpSpPr>
            <p:sp>
              <p:nvSpPr>
                <p:cNvPr id="84121" name="AutoShape 29"/>
                <p:cNvSpPr>
                  <a:spLocks noChangeArrowheads="1"/>
                </p:cNvSpPr>
                <p:nvPr/>
              </p:nvSpPr>
              <p:spPr bwMode="auto">
                <a:xfrm rot="5400000">
                  <a:off x="5091" y="2000"/>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2" name="Text Box 30"/>
                <p:cNvSpPr txBox="1">
                  <a:spLocks noChangeArrowheads="1"/>
                </p:cNvSpPr>
                <p:nvPr/>
              </p:nvSpPr>
              <p:spPr bwMode="auto">
                <a:xfrm rot="626605">
                  <a:off x="4910" y="2011"/>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123"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24"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25"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9" name="Text Box 55"/>
              <p:cNvSpPr txBox="1">
                <a:spLocks noChangeArrowheads="1"/>
              </p:cNvSpPr>
              <p:nvPr/>
            </p:nvSpPr>
            <p:spPr bwMode="auto">
              <a:xfrm rot="626605">
                <a:off x="6127637" y="233851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20" name="AutoShape 58"/>
              <p:cNvSpPr>
                <a:spLocks noChangeArrowheads="1"/>
              </p:cNvSpPr>
              <p:nvPr/>
            </p:nvSpPr>
            <p:spPr bwMode="auto">
              <a:xfrm rot="746037">
                <a:off x="6493475" y="247740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3" name="Text Box 15"/>
            <p:cNvSpPr txBox="1">
              <a:spLocks noChangeArrowheads="1"/>
            </p:cNvSpPr>
            <p:nvPr/>
          </p:nvSpPr>
          <p:spPr bwMode="auto">
            <a:xfrm rot="626605">
              <a:off x="5968441" y="1836475"/>
              <a:ext cx="330540" cy="2308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164" name="组合 163"/>
          <p:cNvGrpSpPr/>
          <p:nvPr/>
        </p:nvGrpSpPr>
        <p:grpSpPr bwMode="auto">
          <a:xfrm>
            <a:off x="6395536" y="1784084"/>
            <a:ext cx="660400" cy="458787"/>
            <a:chOff x="6589886" y="2482016"/>
            <a:chExt cx="1006880" cy="698229"/>
          </a:xfrm>
        </p:grpSpPr>
        <p:sp>
          <p:nvSpPr>
            <p:cNvPr id="84097" name="AutoShape 54"/>
            <p:cNvSpPr>
              <a:spLocks noChangeArrowheads="1"/>
            </p:cNvSpPr>
            <p:nvPr/>
          </p:nvSpPr>
          <p:spPr bwMode="auto">
            <a:xfrm rot="5400000">
              <a:off x="6779122" y="2560691"/>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98" name="Group 141"/>
            <p:cNvGrpSpPr/>
            <p:nvPr/>
          </p:nvGrpSpPr>
          <p:grpSpPr bwMode="auto">
            <a:xfrm>
              <a:off x="7138410" y="2759463"/>
              <a:ext cx="458356" cy="247386"/>
              <a:chOff x="5014" y="2247"/>
              <a:chExt cx="366" cy="214"/>
            </a:xfrm>
          </p:grpSpPr>
          <p:sp>
            <p:nvSpPr>
              <p:cNvPr id="84108" name="AutoShape 34"/>
              <p:cNvSpPr>
                <a:spLocks noChangeArrowheads="1"/>
              </p:cNvSpPr>
              <p:nvPr/>
            </p:nvSpPr>
            <p:spPr bwMode="auto">
              <a:xfrm rot="5400000">
                <a:off x="5094" y="217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9"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10"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111"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99" name="Line 112"/>
            <p:cNvSpPr>
              <a:spLocks noChangeShapeType="1"/>
            </p:cNvSpPr>
            <p:nvPr/>
          </p:nvSpPr>
          <p:spPr bwMode="auto">
            <a:xfrm>
              <a:off x="6696956" y="2835856"/>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84100" name="Group 137"/>
            <p:cNvGrpSpPr/>
            <p:nvPr/>
          </p:nvGrpSpPr>
          <p:grpSpPr bwMode="auto">
            <a:xfrm>
              <a:off x="6589886" y="2482016"/>
              <a:ext cx="631179" cy="698229"/>
              <a:chOff x="4576" y="2007"/>
              <a:chExt cx="504" cy="604"/>
            </a:xfrm>
          </p:grpSpPr>
          <p:sp>
            <p:nvSpPr>
              <p:cNvPr id="84103" name="AutoShape 19"/>
              <p:cNvSpPr>
                <a:spLocks noChangeArrowheads="1"/>
              </p:cNvSpPr>
              <p:nvPr/>
            </p:nvSpPr>
            <p:spPr bwMode="auto">
              <a:xfrm rot="5400000">
                <a:off x="4637" y="2052"/>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4" name="Text Box 20"/>
              <p:cNvSpPr txBox="1">
                <a:spLocks noChangeArrowheads="1"/>
              </p:cNvSpPr>
              <p:nvPr/>
            </p:nvSpPr>
            <p:spPr bwMode="auto">
              <a:xfrm rot="626605">
                <a:off x="4576" y="211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05" name="Line 21"/>
              <p:cNvSpPr>
                <a:spLocks noChangeShapeType="1"/>
              </p:cNvSpPr>
              <p:nvPr/>
            </p:nvSpPr>
            <p:spPr bwMode="auto">
              <a:xfrm>
                <a:off x="4659" y="2180"/>
                <a:ext cx="363"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dirty="0">
                  <a:latin typeface="Times New Roman" panose="02020603050405020304" pitchFamily="18" charset="0"/>
                  <a:ea typeface="微软雅黑 Light" panose="020B0502040204020203" pitchFamily="34" charset="-122"/>
                </a:endParaRPr>
              </a:p>
            </p:txBody>
          </p:sp>
          <p:sp>
            <p:nvSpPr>
              <p:cNvPr id="84106" name="Line 22"/>
              <p:cNvSpPr>
                <a:spLocks noChangeShapeType="1"/>
              </p:cNvSpPr>
              <p:nvPr/>
            </p:nvSpPr>
            <p:spPr bwMode="auto">
              <a:xfrm>
                <a:off x="4656" y="2331"/>
                <a:ext cx="362"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dirty="0">
                  <a:latin typeface="Times New Roman" panose="02020603050405020304" pitchFamily="18" charset="0"/>
                  <a:ea typeface="微软雅黑 Light" panose="020B0502040204020203" pitchFamily="34" charset="-122"/>
                </a:endParaRPr>
              </a:p>
            </p:txBody>
          </p:sp>
          <p:sp>
            <p:nvSpPr>
              <p:cNvPr id="84107" name="AutoShape 23"/>
              <p:cNvSpPr>
                <a:spLocks noChangeArrowheads="1"/>
              </p:cNvSpPr>
              <p:nvPr/>
            </p:nvSpPr>
            <p:spPr bwMode="auto">
              <a:xfrm rot="746037">
                <a:off x="4788" y="2007"/>
                <a:ext cx="257" cy="604"/>
              </a:xfrm>
              <a:prstGeom prst="rightArrow">
                <a:avLst>
                  <a:gd name="adj1" fmla="val 50000"/>
                  <a:gd name="adj2" fmla="val 2619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01" name="AutoShape 38"/>
            <p:cNvSpPr>
              <a:spLocks noChangeArrowheads="1"/>
            </p:cNvSpPr>
            <p:nvPr/>
          </p:nvSpPr>
          <p:spPr bwMode="auto">
            <a:xfrm rot="746037">
              <a:off x="6956606" y="2737924"/>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2" name="Text Box 35"/>
            <p:cNvSpPr txBox="1">
              <a:spLocks noChangeArrowheads="1"/>
            </p:cNvSpPr>
            <p:nvPr/>
          </p:nvSpPr>
          <p:spPr bwMode="auto">
            <a:xfrm rot="626605">
              <a:off x="7020553" y="2695710"/>
              <a:ext cx="503710" cy="35176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5" name="Group 127"/>
          <p:cNvGrpSpPr/>
          <p:nvPr/>
        </p:nvGrpSpPr>
        <p:grpSpPr bwMode="auto">
          <a:xfrm>
            <a:off x="4676579" y="1916993"/>
            <a:ext cx="325435" cy="518114"/>
            <a:chOff x="2869" y="2182"/>
            <a:chExt cx="396" cy="683"/>
          </a:xfrm>
          <a:solidFill>
            <a:srgbClr val="368AD6"/>
          </a:solidFill>
        </p:grpSpPr>
        <p:sp>
          <p:nvSpPr>
            <p:cNvPr id="6" name="AutoShape 59"/>
            <p:cNvSpPr>
              <a:spLocks noChangeArrowheads="1"/>
            </p:cNvSpPr>
            <p:nvPr/>
          </p:nvSpPr>
          <p:spPr bwMode="auto">
            <a:xfrm rot="5400000">
              <a:off x="2729" y="2350"/>
              <a:ext cx="674" cy="355"/>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7" name="Text Box 61"/>
            <p:cNvSpPr txBox="1">
              <a:spLocks noChangeArrowheads="1"/>
            </p:cNvSpPr>
            <p:nvPr/>
          </p:nvSpPr>
          <p:spPr bwMode="auto">
            <a:xfrm>
              <a:off x="2869" y="218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8" name="Line 62"/>
            <p:cNvSpPr>
              <a:spLocks noChangeShapeType="1"/>
            </p:cNvSpPr>
            <p:nvPr/>
          </p:nvSpPr>
          <p:spPr bwMode="auto">
            <a:xfrm>
              <a:off x="2876" y="2191"/>
              <a:ext cx="363" cy="57"/>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9" name="Line 63"/>
            <p:cNvSpPr>
              <a:spLocks noChangeShapeType="1"/>
            </p:cNvSpPr>
            <p:nvPr/>
          </p:nvSpPr>
          <p:spPr bwMode="auto">
            <a:xfrm>
              <a:off x="2876" y="2807"/>
              <a:ext cx="363"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0" name="AutoShape 60"/>
            <p:cNvSpPr>
              <a:spLocks noChangeArrowheads="1"/>
            </p:cNvSpPr>
            <p:nvPr/>
          </p:nvSpPr>
          <p:spPr bwMode="auto">
            <a:xfrm rot="746037">
              <a:off x="2960" y="2674"/>
              <a:ext cx="227" cy="127"/>
            </a:xfrm>
            <a:prstGeom prst="rightArrow">
              <a:avLst>
                <a:gd name="adj1" fmla="val 50000"/>
                <a:gd name="adj2" fmla="val 4468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1" name="Group 128"/>
          <p:cNvGrpSpPr/>
          <p:nvPr/>
        </p:nvGrpSpPr>
        <p:grpSpPr bwMode="auto">
          <a:xfrm>
            <a:off x="4990499" y="2550416"/>
            <a:ext cx="327076" cy="524184"/>
            <a:chOff x="3251" y="3017"/>
            <a:chExt cx="398" cy="691"/>
          </a:xfrm>
          <a:solidFill>
            <a:srgbClr val="368AD6"/>
          </a:solidFill>
        </p:grpSpPr>
        <p:sp>
          <p:nvSpPr>
            <p:cNvPr id="12" name="AutoShape 64"/>
            <p:cNvSpPr>
              <a:spLocks noChangeArrowheads="1"/>
            </p:cNvSpPr>
            <p:nvPr/>
          </p:nvSpPr>
          <p:spPr bwMode="auto">
            <a:xfrm rot="5400000">
              <a:off x="3102" y="3193"/>
              <a:ext cx="675" cy="355"/>
            </a:xfrm>
            <a:prstGeom prst="parallelogram">
              <a:avLst>
                <a:gd name="adj" fmla="val 18292"/>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3" name="Text Box 66"/>
            <p:cNvSpPr txBox="1">
              <a:spLocks noChangeArrowheads="1"/>
            </p:cNvSpPr>
            <p:nvPr/>
          </p:nvSpPr>
          <p:spPr bwMode="auto">
            <a:xfrm>
              <a:off x="3253" y="3017"/>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14" name="Line 67"/>
            <p:cNvSpPr>
              <a:spLocks noChangeShapeType="1"/>
            </p:cNvSpPr>
            <p:nvPr/>
          </p:nvSpPr>
          <p:spPr bwMode="auto">
            <a:xfrm>
              <a:off x="3251" y="3033"/>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5" name="Line 68"/>
            <p:cNvSpPr>
              <a:spLocks noChangeShapeType="1"/>
            </p:cNvSpPr>
            <p:nvPr/>
          </p:nvSpPr>
          <p:spPr bwMode="auto">
            <a:xfrm>
              <a:off x="3251" y="3650"/>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6" name="AutoShape 65"/>
            <p:cNvSpPr>
              <a:spLocks noChangeArrowheads="1"/>
            </p:cNvSpPr>
            <p:nvPr/>
          </p:nvSpPr>
          <p:spPr bwMode="auto">
            <a:xfrm rot="746037">
              <a:off x="3331" y="3527"/>
              <a:ext cx="226" cy="126"/>
            </a:xfrm>
            <a:prstGeom prst="rightArrow">
              <a:avLst>
                <a:gd name="adj1" fmla="val 50000"/>
                <a:gd name="adj2" fmla="val 44841"/>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7" name="Group 126"/>
          <p:cNvGrpSpPr/>
          <p:nvPr/>
        </p:nvGrpSpPr>
        <p:grpSpPr bwMode="auto">
          <a:xfrm>
            <a:off x="4387305" y="1302539"/>
            <a:ext cx="325434" cy="524942"/>
            <a:chOff x="2517" y="1372"/>
            <a:chExt cx="396" cy="692"/>
          </a:xfrm>
          <a:solidFill>
            <a:srgbClr val="368AD6"/>
          </a:solidFill>
        </p:grpSpPr>
        <p:sp>
          <p:nvSpPr>
            <p:cNvPr id="18" name="AutoShape 69"/>
            <p:cNvSpPr>
              <a:spLocks noChangeArrowheads="1"/>
            </p:cNvSpPr>
            <p:nvPr/>
          </p:nvSpPr>
          <p:spPr bwMode="auto">
            <a:xfrm rot="5400000">
              <a:off x="2363" y="1546"/>
              <a:ext cx="674" cy="362"/>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9" name="Text Box 71"/>
            <p:cNvSpPr txBox="1">
              <a:spLocks noChangeArrowheads="1"/>
            </p:cNvSpPr>
            <p:nvPr/>
          </p:nvSpPr>
          <p:spPr bwMode="auto">
            <a:xfrm>
              <a:off x="2517" y="137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20" name="Line 72"/>
            <p:cNvSpPr>
              <a:spLocks noChangeShapeType="1"/>
            </p:cNvSpPr>
            <p:nvPr/>
          </p:nvSpPr>
          <p:spPr bwMode="auto">
            <a:xfrm>
              <a:off x="2519" y="1395"/>
              <a:ext cx="357" cy="5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1" name="Line 73"/>
            <p:cNvSpPr>
              <a:spLocks noChangeShapeType="1"/>
            </p:cNvSpPr>
            <p:nvPr/>
          </p:nvSpPr>
          <p:spPr bwMode="auto">
            <a:xfrm>
              <a:off x="2519" y="2001"/>
              <a:ext cx="357" cy="6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2" name="AutoShape 70"/>
            <p:cNvSpPr>
              <a:spLocks noChangeArrowheads="1"/>
            </p:cNvSpPr>
            <p:nvPr/>
          </p:nvSpPr>
          <p:spPr bwMode="auto">
            <a:xfrm rot="746037">
              <a:off x="2591" y="1861"/>
              <a:ext cx="226" cy="127"/>
            </a:xfrm>
            <a:prstGeom prst="rightArrow">
              <a:avLst>
                <a:gd name="adj1" fmla="val 50000"/>
                <a:gd name="adj2" fmla="val 44488"/>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sp>
        <p:nvSpPr>
          <p:cNvPr id="83980" name="Line 74"/>
          <p:cNvSpPr>
            <a:spLocks noChangeShapeType="1"/>
          </p:cNvSpPr>
          <p:nvPr/>
        </p:nvSpPr>
        <p:spPr bwMode="auto">
          <a:xfrm>
            <a:off x="292049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81" name="Line 75"/>
          <p:cNvSpPr>
            <a:spLocks noChangeShapeType="1"/>
          </p:cNvSpPr>
          <p:nvPr/>
        </p:nvSpPr>
        <p:spPr bwMode="auto">
          <a:xfrm>
            <a:off x="321894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82" name="Text Box 76"/>
          <p:cNvSpPr txBox="1">
            <a:spLocks noChangeArrowheads="1"/>
          </p:cNvSpPr>
          <p:nvPr/>
        </p:nvSpPr>
        <p:spPr bwMode="auto">
          <a:xfrm>
            <a:off x="2471236" y="3125521"/>
            <a:ext cx="13303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0000FF"/>
                </a:solidFill>
                <a:latin typeface="微软雅黑" panose="020B0503020204020204" pitchFamily="34" charset="-122"/>
                <a:ea typeface="微软雅黑" panose="020B0503020204020204" pitchFamily="34" charset="-122"/>
              </a:rPr>
              <a:t>A    B    C     D </a:t>
            </a:r>
          </a:p>
        </p:txBody>
      </p:sp>
      <p:sp>
        <p:nvSpPr>
          <p:cNvPr id="83983" name="Text Box 77"/>
          <p:cNvSpPr txBox="1">
            <a:spLocks noChangeArrowheads="1"/>
          </p:cNvSpPr>
          <p:nvPr/>
        </p:nvSpPr>
        <p:spPr bwMode="auto">
          <a:xfrm>
            <a:off x="4265111" y="3125521"/>
            <a:ext cx="118903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990099"/>
                </a:solidFill>
                <a:latin typeface="微软雅黑" panose="020B0503020204020204" pitchFamily="34" charset="-122"/>
                <a:ea typeface="微软雅黑" panose="020B0503020204020204" pitchFamily="34" charset="-122"/>
              </a:rPr>
              <a:t>A    B    C    D</a:t>
            </a:r>
          </a:p>
        </p:txBody>
      </p:sp>
      <p:sp>
        <p:nvSpPr>
          <p:cNvPr id="83984" name="Text Box 78"/>
          <p:cNvSpPr txBox="1">
            <a:spLocks noChangeArrowheads="1"/>
          </p:cNvSpPr>
          <p:nvPr/>
        </p:nvSpPr>
        <p:spPr bwMode="auto">
          <a:xfrm>
            <a:off x="6028823" y="3125521"/>
            <a:ext cx="12366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rgbClr val="C00000"/>
                </a:solidFill>
                <a:latin typeface="微软雅黑" panose="020B0503020204020204" pitchFamily="34" charset="-122"/>
                <a:ea typeface="微软雅黑" panose="020B0503020204020204" pitchFamily="34" charset="-122"/>
              </a:rPr>
              <a:t>A    B    C    D</a:t>
            </a:r>
          </a:p>
        </p:txBody>
      </p:sp>
      <p:sp>
        <p:nvSpPr>
          <p:cNvPr id="28" name="Line 79"/>
          <p:cNvSpPr>
            <a:spLocks noChangeShapeType="1"/>
          </p:cNvSpPr>
          <p:nvPr/>
        </p:nvSpPr>
        <p:spPr bwMode="auto">
          <a:xfrm>
            <a:off x="2622048" y="1379271"/>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9" name="Line 80"/>
          <p:cNvSpPr>
            <a:spLocks noChangeShapeType="1"/>
          </p:cNvSpPr>
          <p:nvPr/>
        </p:nvSpPr>
        <p:spPr bwMode="auto">
          <a:xfrm>
            <a:off x="2920498" y="1507859"/>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0" name="Line 81"/>
          <p:cNvSpPr>
            <a:spLocks noChangeShapeType="1"/>
          </p:cNvSpPr>
          <p:nvPr/>
        </p:nvSpPr>
        <p:spPr bwMode="auto">
          <a:xfrm>
            <a:off x="3218948" y="1634859"/>
            <a:ext cx="298450" cy="333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1" name="Line 82"/>
          <p:cNvSpPr>
            <a:spLocks noChangeShapeType="1"/>
          </p:cNvSpPr>
          <p:nvPr/>
        </p:nvSpPr>
        <p:spPr bwMode="auto">
          <a:xfrm flipH="1">
            <a:off x="2622048" y="1826946"/>
            <a:ext cx="895350" cy="128588"/>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2" name="Text Box 87"/>
          <p:cNvSpPr txBox="1">
            <a:spLocks noChangeArrowheads="1"/>
          </p:cNvSpPr>
          <p:nvPr/>
        </p:nvSpPr>
        <p:spPr bwMode="auto">
          <a:xfrm>
            <a:off x="44730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990099"/>
                </a:solidFill>
                <a:latin typeface="微软雅黑" panose="020B0503020204020204" pitchFamily="34" charset="-122"/>
                <a:ea typeface="微软雅黑" panose="020B0503020204020204" pitchFamily="34" charset="-122"/>
              </a:rPr>
              <a:t>报文交换</a:t>
            </a:r>
          </a:p>
        </p:txBody>
      </p:sp>
      <p:sp>
        <p:nvSpPr>
          <p:cNvPr id="83990" name="Text Box 88"/>
          <p:cNvSpPr txBox="1">
            <a:spLocks noChangeArrowheads="1"/>
          </p:cNvSpPr>
          <p:nvPr/>
        </p:nvSpPr>
        <p:spPr bwMode="auto">
          <a:xfrm>
            <a:off x="26696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0000FF"/>
                </a:solidFill>
                <a:latin typeface="微软雅黑" panose="020B0503020204020204" pitchFamily="34" charset="-122"/>
                <a:ea typeface="微软雅黑" panose="020B0503020204020204" pitchFamily="34" charset="-122"/>
              </a:rPr>
              <a:t>电路交换</a:t>
            </a:r>
          </a:p>
        </p:txBody>
      </p:sp>
      <p:sp>
        <p:nvSpPr>
          <p:cNvPr id="34" name="Text Box 89"/>
          <p:cNvSpPr txBox="1">
            <a:spLocks noChangeArrowheads="1"/>
          </p:cNvSpPr>
          <p:nvPr/>
        </p:nvSpPr>
        <p:spPr bwMode="auto">
          <a:xfrm>
            <a:off x="6206623" y="1025259"/>
            <a:ext cx="9032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C00000"/>
                </a:solidFill>
                <a:latin typeface="微软雅黑" panose="020B0503020204020204" pitchFamily="34" charset="-122"/>
                <a:ea typeface="微软雅黑" panose="020B0503020204020204" pitchFamily="34" charset="-122"/>
              </a:rPr>
              <a:t>分组交换</a:t>
            </a:r>
          </a:p>
        </p:txBody>
      </p:sp>
      <p:sp>
        <p:nvSpPr>
          <p:cNvPr id="83992" name="Line 90"/>
          <p:cNvSpPr>
            <a:spLocks noChangeShapeType="1"/>
          </p:cNvSpPr>
          <p:nvPr/>
        </p:nvSpPr>
        <p:spPr bwMode="auto">
          <a:xfrm>
            <a:off x="3953961" y="1539609"/>
            <a:ext cx="0" cy="1311275"/>
          </a:xfrm>
          <a:prstGeom prst="line">
            <a:avLst/>
          </a:prstGeom>
          <a:noFill/>
          <a:ln w="28575">
            <a:solidFill>
              <a:srgbClr val="0000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93" name="Text Box 91"/>
          <p:cNvSpPr txBox="1">
            <a:spLocks noChangeArrowheads="1"/>
          </p:cNvSpPr>
          <p:nvPr/>
        </p:nvSpPr>
        <p:spPr bwMode="auto">
          <a:xfrm>
            <a:off x="3821824" y="2780441"/>
            <a:ext cx="2874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latin typeface="Times New Roman" panose="02020603050405020304" pitchFamily="18" charset="0"/>
                <a:ea typeface="微软雅黑 Light" panose="020B0502040204020203" pitchFamily="34" charset="-122"/>
              </a:rPr>
              <a:t>t</a:t>
            </a:r>
          </a:p>
        </p:txBody>
      </p:sp>
      <p:grpSp>
        <p:nvGrpSpPr>
          <p:cNvPr id="42" name="Group 123"/>
          <p:cNvGrpSpPr/>
          <p:nvPr/>
        </p:nvGrpSpPr>
        <p:grpSpPr bwMode="auto">
          <a:xfrm>
            <a:off x="1694948" y="1965059"/>
            <a:ext cx="895350" cy="484187"/>
            <a:chOff x="-277" y="2246"/>
            <a:chExt cx="1089" cy="637"/>
          </a:xfrm>
        </p:grpSpPr>
        <p:sp>
          <p:nvSpPr>
            <p:cNvPr id="84094" name="Line 93"/>
            <p:cNvSpPr>
              <a:spLocks noChangeShapeType="1"/>
            </p:cNvSpPr>
            <p:nvPr/>
          </p:nvSpPr>
          <p:spPr bwMode="auto">
            <a:xfrm>
              <a:off x="630" y="288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95" name="Text Box 96"/>
            <p:cNvSpPr txBox="1">
              <a:spLocks noChangeArrowheads="1"/>
            </p:cNvSpPr>
            <p:nvPr/>
          </p:nvSpPr>
          <p:spPr bwMode="auto">
            <a:xfrm>
              <a:off x="-277" y="2405"/>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数据传送</a:t>
              </a:r>
            </a:p>
          </p:txBody>
        </p:sp>
        <p:sp>
          <p:nvSpPr>
            <p:cNvPr id="84096" name="Line 98"/>
            <p:cNvSpPr>
              <a:spLocks noChangeShapeType="1"/>
            </p:cNvSpPr>
            <p:nvPr/>
          </p:nvSpPr>
          <p:spPr bwMode="auto">
            <a:xfrm>
              <a:off x="721" y="2246"/>
              <a:ext cx="0" cy="637"/>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sp>
        <p:nvSpPr>
          <p:cNvPr id="83995" name="Freeform 99"/>
          <p:cNvSpPr/>
          <p:nvPr/>
        </p:nvSpPr>
        <p:spPr bwMode="auto">
          <a:xfrm>
            <a:off x="2620461" y="1315771"/>
            <a:ext cx="1587" cy="1825625"/>
          </a:xfrm>
          <a:custGeom>
            <a:avLst/>
            <a:gdLst>
              <a:gd name="T0" fmla="*/ 2465 w 3"/>
              <a:gd name="T1" fmla="*/ 0 h 2742"/>
              <a:gd name="T2" fmla="*/ 0 w 3"/>
              <a:gd name="T3" fmla="*/ 1825917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96" name="Freeform 100"/>
          <p:cNvSpPr/>
          <p:nvPr/>
        </p:nvSpPr>
        <p:spPr bwMode="auto">
          <a:xfrm>
            <a:off x="5289048" y="1306246"/>
            <a:ext cx="1588" cy="1820863"/>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97" name="Line 104"/>
          <p:cNvSpPr>
            <a:spLocks noChangeShapeType="1"/>
          </p:cNvSpPr>
          <p:nvPr/>
        </p:nvSpPr>
        <p:spPr bwMode="auto">
          <a:xfrm>
            <a:off x="43873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98" name="Line 105"/>
          <p:cNvSpPr>
            <a:spLocks noChangeShapeType="1"/>
          </p:cNvSpPr>
          <p:nvPr/>
        </p:nvSpPr>
        <p:spPr bwMode="auto">
          <a:xfrm>
            <a:off x="4682623"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3999" name="Line 106"/>
          <p:cNvSpPr>
            <a:spLocks noChangeShapeType="1"/>
          </p:cNvSpPr>
          <p:nvPr/>
        </p:nvSpPr>
        <p:spPr bwMode="auto">
          <a:xfrm>
            <a:off x="4989011"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54" name="Group 125"/>
          <p:cNvGrpSpPr/>
          <p:nvPr/>
        </p:nvGrpSpPr>
        <p:grpSpPr bwMode="auto">
          <a:xfrm>
            <a:off x="2615335" y="1959475"/>
            <a:ext cx="914666" cy="611420"/>
            <a:chOff x="817" y="2238"/>
            <a:chExt cx="1113" cy="806"/>
          </a:xfrm>
          <a:solidFill>
            <a:srgbClr val="92D050"/>
          </a:solidFill>
        </p:grpSpPr>
        <p:sp>
          <p:nvSpPr>
            <p:cNvPr id="55" name="Line 83"/>
            <p:cNvSpPr>
              <a:spLocks noChangeShapeType="1"/>
            </p:cNvSpPr>
            <p:nvPr/>
          </p:nvSpPr>
          <p:spPr bwMode="auto">
            <a:xfrm>
              <a:off x="841" y="2268"/>
              <a:ext cx="1089" cy="168"/>
            </a:xfrm>
            <a:prstGeom prst="line">
              <a:avLst/>
            </a:prstGeom>
            <a:grpFill/>
            <a:ln>
              <a:noFill/>
            </a:ln>
            <a:effectLst/>
            <a:extLs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6" name="AutoShape 84"/>
            <p:cNvSpPr>
              <a:spLocks noChangeArrowheads="1"/>
            </p:cNvSpPr>
            <p:nvPr/>
          </p:nvSpPr>
          <p:spPr bwMode="auto">
            <a:xfrm rot="5400000">
              <a:off x="976" y="2091"/>
              <a:ext cx="793" cy="1092"/>
            </a:xfrm>
            <a:prstGeom prst="parallelogram">
              <a:avLst>
                <a:gd name="adj" fmla="val 21176"/>
              </a:avLst>
            </a:prstGeom>
            <a:solidFill>
              <a:srgbClr val="00B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7" name="Text Box 85"/>
            <p:cNvSpPr txBox="1">
              <a:spLocks noChangeArrowheads="1"/>
            </p:cNvSpPr>
            <p:nvPr/>
          </p:nvSpPr>
          <p:spPr bwMode="auto">
            <a:xfrm>
              <a:off x="1086" y="2373"/>
              <a:ext cx="599" cy="365"/>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chemeClr val="bg1"/>
                  </a:solidFill>
                </a:rPr>
                <a:t>报文</a:t>
              </a:r>
            </a:p>
          </p:txBody>
        </p:sp>
        <p:sp>
          <p:nvSpPr>
            <p:cNvPr id="58" name="AutoShape 86"/>
            <p:cNvSpPr>
              <a:spLocks noChangeArrowheads="1"/>
            </p:cNvSpPr>
            <p:nvPr/>
          </p:nvSpPr>
          <p:spPr bwMode="auto">
            <a:xfrm rot="746037">
              <a:off x="1174" y="2713"/>
              <a:ext cx="408" cy="127"/>
            </a:xfrm>
            <a:prstGeom prst="rightArrow">
              <a:avLst>
                <a:gd name="adj1" fmla="val 50000"/>
                <a:gd name="adj2" fmla="val 8031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9" name="Line 108"/>
            <p:cNvSpPr>
              <a:spLocks noChangeShapeType="1"/>
            </p:cNvSpPr>
            <p:nvPr/>
          </p:nvSpPr>
          <p:spPr bwMode="auto">
            <a:xfrm>
              <a:off x="823" y="2238"/>
              <a:ext cx="1094" cy="174"/>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60" name="Line 109"/>
            <p:cNvSpPr>
              <a:spLocks noChangeShapeType="1"/>
            </p:cNvSpPr>
            <p:nvPr/>
          </p:nvSpPr>
          <p:spPr bwMode="auto">
            <a:xfrm>
              <a:off x="817" y="2865"/>
              <a:ext cx="1100" cy="179"/>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61" name="Group 130"/>
          <p:cNvGrpSpPr/>
          <p:nvPr/>
        </p:nvGrpSpPr>
        <p:grpSpPr bwMode="auto">
          <a:xfrm>
            <a:off x="6078036" y="1287196"/>
            <a:ext cx="379412" cy="230188"/>
            <a:chOff x="4196" y="1352"/>
            <a:chExt cx="461" cy="304"/>
          </a:xfrm>
        </p:grpSpPr>
        <p:sp>
          <p:nvSpPr>
            <p:cNvPr id="84089" name="AutoShape 110"/>
            <p:cNvSpPr>
              <a:spLocks noChangeArrowheads="1"/>
            </p:cNvSpPr>
            <p:nvPr/>
          </p:nvSpPr>
          <p:spPr bwMode="auto">
            <a:xfrm rot="5400000">
              <a:off x="4371" y="1337"/>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90" name="Text Box 111"/>
            <p:cNvSpPr txBox="1">
              <a:spLocks noChangeArrowheads="1"/>
            </p:cNvSpPr>
            <p:nvPr/>
          </p:nvSpPr>
          <p:spPr bwMode="auto">
            <a:xfrm rot="626605">
              <a:off x="4196" y="1352"/>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9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9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93"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68" name="Line 116"/>
          <p:cNvSpPr>
            <a:spLocks noChangeShapeType="1"/>
          </p:cNvSpPr>
          <p:nvPr/>
        </p:nvSpPr>
        <p:spPr bwMode="auto">
          <a:xfrm>
            <a:off x="2620461" y="2488934"/>
            <a:ext cx="298450" cy="444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69" name="Line 117"/>
          <p:cNvSpPr>
            <a:spLocks noChangeShapeType="1"/>
          </p:cNvSpPr>
          <p:nvPr/>
        </p:nvSpPr>
        <p:spPr bwMode="auto">
          <a:xfrm>
            <a:off x="2923673" y="2574659"/>
            <a:ext cx="293688" cy="460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0" name="Line 118"/>
          <p:cNvSpPr>
            <a:spLocks noChangeShapeType="1"/>
          </p:cNvSpPr>
          <p:nvPr/>
        </p:nvSpPr>
        <p:spPr bwMode="auto">
          <a:xfrm>
            <a:off x="3217361" y="2665146"/>
            <a:ext cx="296862" cy="41275"/>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71" name="Group 124"/>
          <p:cNvGrpSpPr/>
          <p:nvPr/>
        </p:nvGrpSpPr>
        <p:grpSpPr bwMode="auto">
          <a:xfrm>
            <a:off x="1691773" y="2438134"/>
            <a:ext cx="885825" cy="325437"/>
            <a:chOff x="-281" y="2869"/>
            <a:chExt cx="1078" cy="429"/>
          </a:xfrm>
        </p:grpSpPr>
        <p:sp>
          <p:nvSpPr>
            <p:cNvPr id="84086" name="Line 119"/>
            <p:cNvSpPr>
              <a:spLocks noChangeShapeType="1"/>
            </p:cNvSpPr>
            <p:nvPr/>
          </p:nvSpPr>
          <p:spPr bwMode="auto">
            <a:xfrm>
              <a:off x="615" y="324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87" name="Line 120"/>
            <p:cNvSpPr>
              <a:spLocks noChangeShapeType="1"/>
            </p:cNvSpPr>
            <p:nvPr/>
          </p:nvSpPr>
          <p:spPr bwMode="auto">
            <a:xfrm>
              <a:off x="721" y="2869"/>
              <a:ext cx="0" cy="373"/>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88" name="Text Box 121"/>
            <p:cNvSpPr txBox="1">
              <a:spLocks noChangeArrowheads="1"/>
            </p:cNvSpPr>
            <p:nvPr/>
          </p:nvSpPr>
          <p:spPr bwMode="auto">
            <a:xfrm>
              <a:off x="-281" y="29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连接释放</a:t>
              </a:r>
            </a:p>
          </p:txBody>
        </p:sp>
      </p:grpSp>
      <p:sp>
        <p:nvSpPr>
          <p:cNvPr id="84006" name="Freeform 107"/>
          <p:cNvSpPr/>
          <p:nvPr/>
        </p:nvSpPr>
        <p:spPr bwMode="auto">
          <a:xfrm>
            <a:off x="3517398" y="1326884"/>
            <a:ext cx="3175" cy="1822450"/>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07" name="AutoShape 143"/>
          <p:cNvSpPr>
            <a:spLocks noChangeArrowheads="1"/>
          </p:cNvSpPr>
          <p:nvPr/>
        </p:nvSpPr>
        <p:spPr bwMode="auto">
          <a:xfrm>
            <a:off x="1833061" y="3438259"/>
            <a:ext cx="5542869" cy="800100"/>
          </a:xfrm>
          <a:prstGeom prst="roundRect">
            <a:avLst>
              <a:gd name="adj" fmla="val 16667"/>
            </a:avLst>
          </a:prstGeom>
          <a:solidFill>
            <a:schemeClr val="bg1"/>
          </a:solidFill>
          <a:ln w="19050">
            <a:solidFill>
              <a:srgbClr val="339933"/>
            </a:solidFill>
            <a:round/>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08" name="Line 144"/>
          <p:cNvSpPr>
            <a:spLocks noChangeShapeType="1"/>
          </p:cNvSpPr>
          <p:nvPr/>
        </p:nvSpPr>
        <p:spPr bwMode="auto">
          <a:xfrm>
            <a:off x="6188345"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4009" name="Line 145"/>
          <p:cNvSpPr>
            <a:spLocks noChangeShapeType="1"/>
          </p:cNvSpPr>
          <p:nvPr/>
        </p:nvSpPr>
        <p:spPr bwMode="auto">
          <a:xfrm>
            <a:off x="4380138"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84010" name="Line 146"/>
          <p:cNvSpPr>
            <a:spLocks noChangeShapeType="1"/>
          </p:cNvSpPr>
          <p:nvPr/>
        </p:nvSpPr>
        <p:spPr bwMode="auto">
          <a:xfrm>
            <a:off x="2636336" y="3927209"/>
            <a:ext cx="866775"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grpSp>
        <p:nvGrpSpPr>
          <p:cNvPr id="80" name="Group 147"/>
          <p:cNvGrpSpPr/>
          <p:nvPr/>
        </p:nvGrpSpPr>
        <p:grpSpPr bwMode="auto">
          <a:xfrm>
            <a:off x="2596226" y="3854693"/>
            <a:ext cx="986162" cy="109236"/>
            <a:chOff x="768" y="2544"/>
            <a:chExt cx="1200" cy="144"/>
          </a:xfrm>
          <a:solidFill>
            <a:srgbClr val="339933"/>
          </a:solidFill>
        </p:grpSpPr>
        <p:sp>
          <p:nvSpPr>
            <p:cNvPr id="81" name="AutoShape 14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2" name="AutoShape 14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3" name="AutoShape 15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4" name="AutoShape 15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85" name="Group 152"/>
          <p:cNvGrpSpPr/>
          <p:nvPr/>
        </p:nvGrpSpPr>
        <p:grpSpPr bwMode="auto">
          <a:xfrm>
            <a:off x="4341308" y="3854693"/>
            <a:ext cx="986162" cy="109236"/>
            <a:chOff x="768" y="2544"/>
            <a:chExt cx="1200" cy="144"/>
          </a:xfrm>
          <a:solidFill>
            <a:srgbClr val="368AD6"/>
          </a:solidFill>
        </p:grpSpPr>
        <p:sp>
          <p:nvSpPr>
            <p:cNvPr id="86" name="AutoShape 153"/>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7" name="AutoShape 154"/>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8" name="AutoShape 155"/>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9" name="AutoShape 156"/>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90" name="Group 157"/>
          <p:cNvGrpSpPr/>
          <p:nvPr/>
        </p:nvGrpSpPr>
        <p:grpSpPr bwMode="auto">
          <a:xfrm>
            <a:off x="6149170" y="3854693"/>
            <a:ext cx="986162" cy="109236"/>
            <a:chOff x="768" y="2544"/>
            <a:chExt cx="1200" cy="144"/>
          </a:xfrm>
          <a:solidFill>
            <a:srgbClr val="C00000"/>
          </a:solidFill>
        </p:grpSpPr>
        <p:sp>
          <p:nvSpPr>
            <p:cNvPr id="91" name="AutoShape 15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2" name="AutoShape 15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3" name="AutoShape 16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4" name="AutoShape 16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sp>
        <p:nvSpPr>
          <p:cNvPr id="84014" name="AutoShape 162"/>
          <p:cNvSpPr>
            <a:spLocks noChangeArrowheads="1"/>
          </p:cNvSpPr>
          <p:nvPr/>
        </p:nvSpPr>
        <p:spPr bwMode="auto">
          <a:xfrm>
            <a:off x="4342038" y="3673209"/>
            <a:ext cx="354012" cy="144462"/>
          </a:xfrm>
          <a:prstGeom prst="curvedDownArrow">
            <a:avLst>
              <a:gd name="adj1" fmla="val 49533"/>
              <a:gd name="adj2" fmla="val 94777"/>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15" name="AutoShape 163"/>
          <p:cNvSpPr>
            <a:spLocks noChangeArrowheads="1"/>
          </p:cNvSpPr>
          <p:nvPr/>
        </p:nvSpPr>
        <p:spPr bwMode="auto">
          <a:xfrm>
            <a:off x="4677000" y="3673209"/>
            <a:ext cx="354013" cy="144462"/>
          </a:xfrm>
          <a:prstGeom prst="curvedDownArrow">
            <a:avLst>
              <a:gd name="adj1" fmla="val 49533"/>
              <a:gd name="adj2" fmla="val 94778"/>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16" name="AutoShape 164"/>
          <p:cNvSpPr>
            <a:spLocks noChangeArrowheads="1"/>
          </p:cNvSpPr>
          <p:nvPr/>
        </p:nvSpPr>
        <p:spPr bwMode="auto">
          <a:xfrm>
            <a:off x="5011963" y="3673209"/>
            <a:ext cx="355600" cy="144462"/>
          </a:xfrm>
          <a:prstGeom prst="curvedDownArrow">
            <a:avLst>
              <a:gd name="adj1" fmla="val 49755"/>
              <a:gd name="adj2" fmla="val 95203"/>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17" name="AutoShape 165"/>
          <p:cNvSpPr>
            <a:spLocks noChangeArrowheads="1"/>
          </p:cNvSpPr>
          <p:nvPr/>
        </p:nvSpPr>
        <p:spPr bwMode="auto">
          <a:xfrm>
            <a:off x="2636336" y="3673209"/>
            <a:ext cx="985837" cy="144462"/>
          </a:xfrm>
          <a:prstGeom prst="rightArrow">
            <a:avLst>
              <a:gd name="adj1" fmla="val 58333"/>
              <a:gd name="adj2" fmla="val 110230"/>
            </a:avLst>
          </a:prstGeom>
          <a:solidFill>
            <a:srgbClr val="00B050"/>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18" name="AutoShape 166"/>
          <p:cNvSpPr>
            <a:spLocks noChangeArrowheads="1"/>
          </p:cNvSpPr>
          <p:nvPr/>
        </p:nvSpPr>
        <p:spPr bwMode="auto">
          <a:xfrm>
            <a:off x="6148657"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19" name="AutoShape 167"/>
          <p:cNvSpPr>
            <a:spLocks noChangeArrowheads="1"/>
          </p:cNvSpPr>
          <p:nvPr/>
        </p:nvSpPr>
        <p:spPr bwMode="auto">
          <a:xfrm>
            <a:off x="6464570"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20" name="AutoShape 168"/>
          <p:cNvSpPr>
            <a:spLocks noChangeArrowheads="1"/>
          </p:cNvSpPr>
          <p:nvPr/>
        </p:nvSpPr>
        <p:spPr bwMode="auto">
          <a:xfrm>
            <a:off x="6780482"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21" name="Text Box 169"/>
          <p:cNvSpPr txBox="1">
            <a:spLocks noChangeArrowheads="1"/>
          </p:cNvSpPr>
          <p:nvPr/>
        </p:nvSpPr>
        <p:spPr bwMode="auto">
          <a:xfrm>
            <a:off x="1941129" y="3502089"/>
            <a:ext cx="4921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数据</a:t>
            </a:r>
            <a:endParaRPr lang="en-US" altLang="zh-CN" sz="1200" b="1" dirty="0">
              <a:solidFill>
                <a:srgbClr val="0000FF"/>
              </a:solidFill>
              <a:latin typeface="微软雅黑" panose="020B0503020204020204" pitchFamily="34" charset="-122"/>
              <a:ea typeface="微软雅黑" panose="020B0503020204020204" pitchFamily="34" charset="-122"/>
            </a:endParaRP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传送</a:t>
            </a: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特点</a:t>
            </a:r>
          </a:p>
        </p:txBody>
      </p:sp>
      <p:sp>
        <p:nvSpPr>
          <p:cNvPr id="103" name="Text Box 170"/>
          <p:cNvSpPr txBox="1">
            <a:spLocks noChangeArrowheads="1"/>
          </p:cNvSpPr>
          <p:nvPr/>
        </p:nvSpPr>
        <p:spPr bwMode="auto">
          <a:xfrm>
            <a:off x="2525211" y="3471596"/>
            <a:ext cx="117157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比特流直达终点</a:t>
            </a:r>
          </a:p>
        </p:txBody>
      </p:sp>
      <p:sp>
        <p:nvSpPr>
          <p:cNvPr id="104" name="Text Box 171"/>
          <p:cNvSpPr txBox="1">
            <a:spLocks noChangeArrowheads="1"/>
          </p:cNvSpPr>
          <p:nvPr/>
        </p:nvSpPr>
        <p:spPr bwMode="auto">
          <a:xfrm>
            <a:off x="4300763"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5" name="Text Box 172"/>
          <p:cNvSpPr txBox="1">
            <a:spLocks noChangeArrowheads="1"/>
          </p:cNvSpPr>
          <p:nvPr/>
        </p:nvSpPr>
        <p:spPr bwMode="auto">
          <a:xfrm>
            <a:off x="4640488"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6" name="Text Box 173"/>
          <p:cNvSpPr txBox="1">
            <a:spLocks noChangeArrowheads="1"/>
          </p:cNvSpPr>
          <p:nvPr/>
        </p:nvSpPr>
        <p:spPr bwMode="auto">
          <a:xfrm>
            <a:off x="497545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7" name="Text Box 174"/>
          <p:cNvSpPr txBox="1">
            <a:spLocks noChangeArrowheads="1"/>
          </p:cNvSpPr>
          <p:nvPr/>
        </p:nvSpPr>
        <p:spPr bwMode="auto">
          <a:xfrm>
            <a:off x="6028007"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8" name="Text Box 175"/>
          <p:cNvSpPr txBox="1">
            <a:spLocks noChangeArrowheads="1"/>
          </p:cNvSpPr>
          <p:nvPr/>
        </p:nvSpPr>
        <p:spPr bwMode="auto">
          <a:xfrm>
            <a:off x="6353445"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9" name="Text Box 176"/>
          <p:cNvSpPr txBox="1">
            <a:spLocks noChangeArrowheads="1"/>
          </p:cNvSpPr>
          <p:nvPr/>
        </p:nvSpPr>
        <p:spPr bwMode="auto">
          <a:xfrm>
            <a:off x="668047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10" name="Text Box 177"/>
          <p:cNvSpPr txBox="1">
            <a:spLocks noChangeArrowheads="1"/>
          </p:cNvSpPr>
          <p:nvPr/>
        </p:nvSpPr>
        <p:spPr bwMode="auto">
          <a:xfrm>
            <a:off x="4202338"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14" name="组合 113"/>
          <p:cNvGrpSpPr/>
          <p:nvPr/>
        </p:nvGrpSpPr>
        <p:grpSpPr bwMode="auto">
          <a:xfrm>
            <a:off x="6085973" y="1422134"/>
            <a:ext cx="668338" cy="280987"/>
            <a:chOff x="6125279" y="1930603"/>
            <a:chExt cx="1019406" cy="426741"/>
          </a:xfrm>
        </p:grpSpPr>
        <p:grpSp>
          <p:nvGrpSpPr>
            <p:cNvPr id="84074" name="Group 134"/>
            <p:cNvGrpSpPr/>
            <p:nvPr/>
          </p:nvGrpSpPr>
          <p:grpSpPr bwMode="auto">
            <a:xfrm>
              <a:off x="6686328" y="2069332"/>
              <a:ext cx="458357" cy="247387"/>
              <a:chOff x="4653" y="1650"/>
              <a:chExt cx="366" cy="214"/>
            </a:xfrm>
          </p:grpSpPr>
          <p:sp>
            <p:nvSpPr>
              <p:cNvPr id="84083" name="AutoShape 4"/>
              <p:cNvSpPr>
                <a:spLocks noChangeArrowheads="1"/>
              </p:cNvSpPr>
              <p:nvPr/>
            </p:nvSpPr>
            <p:spPr bwMode="auto">
              <a:xfrm rot="5400000">
                <a:off x="4733" y="1579"/>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4"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85"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84075" name="Group 131"/>
            <p:cNvGrpSpPr/>
            <p:nvPr/>
          </p:nvGrpSpPr>
          <p:grpSpPr bwMode="auto">
            <a:xfrm>
              <a:off x="6125279" y="1930603"/>
              <a:ext cx="561050" cy="351427"/>
              <a:chOff x="4205" y="1530"/>
              <a:chExt cx="448" cy="304"/>
            </a:xfrm>
          </p:grpSpPr>
          <p:sp>
            <p:nvSpPr>
              <p:cNvPr id="84078" name="AutoShape 44"/>
              <p:cNvSpPr>
                <a:spLocks noChangeArrowheads="1"/>
              </p:cNvSpPr>
              <p:nvPr/>
            </p:nvSpPr>
            <p:spPr bwMode="auto">
              <a:xfrm rot="5400000">
                <a:off x="4367" y="151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9" name="Text Box 45"/>
              <p:cNvSpPr txBox="1">
                <a:spLocks noChangeArrowheads="1"/>
              </p:cNvSpPr>
              <p:nvPr/>
            </p:nvSpPr>
            <p:spPr bwMode="auto">
              <a:xfrm rot="626605">
                <a:off x="4205" y="153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80"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81" name="AutoShape 48"/>
              <p:cNvSpPr>
                <a:spLocks noChangeArrowheads="1"/>
              </p:cNvSpPr>
              <p:nvPr/>
            </p:nvSpPr>
            <p:spPr bwMode="auto">
              <a:xfrm rot="746037">
                <a:off x="4493" y="1652"/>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2"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sp>
          <p:nvSpPr>
            <p:cNvPr id="84076" name="Text Box 5"/>
            <p:cNvSpPr txBox="1">
              <a:spLocks noChangeArrowheads="1"/>
            </p:cNvSpPr>
            <p:nvPr/>
          </p:nvSpPr>
          <p:spPr bwMode="auto">
            <a:xfrm rot="626605">
              <a:off x="6584756" y="2005580"/>
              <a:ext cx="503711" cy="35176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77" name="AutoShape 8"/>
            <p:cNvSpPr>
              <a:spLocks noChangeArrowheads="1"/>
            </p:cNvSpPr>
            <p:nvPr/>
          </p:nvSpPr>
          <p:spPr bwMode="auto">
            <a:xfrm rot="746037">
              <a:off x="6929283" y="2144470"/>
              <a:ext cx="166561" cy="145658"/>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27" name="组合 126"/>
          <p:cNvGrpSpPr/>
          <p:nvPr/>
        </p:nvGrpSpPr>
        <p:grpSpPr bwMode="auto">
          <a:xfrm>
            <a:off x="6084386" y="1557071"/>
            <a:ext cx="966787" cy="333375"/>
            <a:chOff x="6124016" y="2136378"/>
            <a:chExt cx="1473997" cy="508646"/>
          </a:xfrm>
        </p:grpSpPr>
        <p:grpSp>
          <p:nvGrpSpPr>
            <p:cNvPr id="84056" name="Group 135"/>
            <p:cNvGrpSpPr/>
            <p:nvPr/>
          </p:nvGrpSpPr>
          <p:grpSpPr bwMode="auto">
            <a:xfrm>
              <a:off x="6680052" y="2276252"/>
              <a:ext cx="459609" cy="247386"/>
              <a:chOff x="4648" y="1829"/>
              <a:chExt cx="367" cy="214"/>
            </a:xfrm>
          </p:grpSpPr>
          <p:sp>
            <p:nvSpPr>
              <p:cNvPr id="84071" name="AutoShape 9"/>
              <p:cNvSpPr>
                <a:spLocks noChangeArrowheads="1"/>
              </p:cNvSpPr>
              <p:nvPr/>
            </p:nvSpPr>
            <p:spPr bwMode="auto">
              <a:xfrm rot="5400000">
                <a:off x="4729" y="1758"/>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2"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73"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84057" name="Group 139"/>
            <p:cNvGrpSpPr/>
            <p:nvPr/>
          </p:nvGrpSpPr>
          <p:grpSpPr bwMode="auto">
            <a:xfrm>
              <a:off x="7023189" y="2293596"/>
              <a:ext cx="574824" cy="351428"/>
              <a:chOff x="4922" y="1844"/>
              <a:chExt cx="459" cy="304"/>
            </a:xfrm>
          </p:grpSpPr>
          <p:sp>
            <p:nvSpPr>
              <p:cNvPr id="84066" name="AutoShape 24"/>
              <p:cNvSpPr>
                <a:spLocks noChangeArrowheads="1"/>
              </p:cNvSpPr>
              <p:nvPr/>
            </p:nvSpPr>
            <p:spPr bwMode="auto">
              <a:xfrm rot="5400000">
                <a:off x="5096" y="1821"/>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7" name="Text Box 25"/>
              <p:cNvSpPr txBox="1">
                <a:spLocks noChangeArrowheads="1"/>
              </p:cNvSpPr>
              <p:nvPr/>
            </p:nvSpPr>
            <p:spPr bwMode="auto">
              <a:xfrm rot="626605">
                <a:off x="4922" y="184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68"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69"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70"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058" name="Group 132"/>
            <p:cNvGrpSpPr/>
            <p:nvPr/>
          </p:nvGrpSpPr>
          <p:grpSpPr bwMode="auto">
            <a:xfrm>
              <a:off x="6124016" y="2136378"/>
              <a:ext cx="566057" cy="351428"/>
              <a:chOff x="4204" y="1708"/>
              <a:chExt cx="452" cy="304"/>
            </a:xfrm>
          </p:grpSpPr>
          <p:sp>
            <p:nvSpPr>
              <p:cNvPr id="84061" name="AutoShape 49"/>
              <p:cNvSpPr>
                <a:spLocks noChangeArrowheads="1"/>
              </p:cNvSpPr>
              <p:nvPr/>
            </p:nvSpPr>
            <p:spPr bwMode="auto">
              <a:xfrm rot="5400000">
                <a:off x="4371" y="1691"/>
                <a:ext cx="210" cy="36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2" name="Text Box 50"/>
              <p:cNvSpPr txBox="1">
                <a:spLocks noChangeArrowheads="1"/>
              </p:cNvSpPr>
              <p:nvPr/>
            </p:nvSpPr>
            <p:spPr bwMode="auto">
              <a:xfrm rot="626605">
                <a:off x="4204" y="1708"/>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sp>
            <p:nvSpPr>
              <p:cNvPr id="84063"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64"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65" name="AutoShape 53"/>
              <p:cNvSpPr>
                <a:spLocks noChangeArrowheads="1"/>
              </p:cNvSpPr>
              <p:nvPr/>
            </p:nvSpPr>
            <p:spPr bwMode="auto">
              <a:xfrm rot="746037">
                <a:off x="4496" y="1827"/>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59" name="Text Box 10"/>
            <p:cNvSpPr txBox="1">
              <a:spLocks noChangeArrowheads="1"/>
            </p:cNvSpPr>
            <p:nvPr/>
          </p:nvSpPr>
          <p:spPr bwMode="auto">
            <a:xfrm rot="626605">
              <a:off x="6570965" y="221250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60" name="AutoShape 13"/>
            <p:cNvSpPr>
              <a:spLocks noChangeArrowheads="1"/>
            </p:cNvSpPr>
            <p:nvPr/>
          </p:nvSpPr>
          <p:spPr bwMode="auto">
            <a:xfrm rot="746037">
              <a:off x="6924259" y="2351391"/>
              <a:ext cx="165309" cy="145657"/>
            </a:xfrm>
            <a:prstGeom prst="rightArrow">
              <a:avLst>
                <a:gd name="adj1" fmla="val 50000"/>
                <a:gd name="adj2" fmla="val 26192"/>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80" name="组合 179"/>
          <p:cNvGrpSpPr/>
          <p:nvPr/>
        </p:nvGrpSpPr>
        <p:grpSpPr bwMode="auto">
          <a:xfrm>
            <a:off x="6673348" y="2039671"/>
            <a:ext cx="431800" cy="312738"/>
            <a:chOff x="7021271" y="2851447"/>
            <a:chExt cx="657481" cy="475119"/>
          </a:xfrm>
        </p:grpSpPr>
        <p:sp>
          <p:nvSpPr>
            <p:cNvPr id="84049" name="AutoShape 54"/>
            <p:cNvSpPr>
              <a:spLocks noChangeArrowheads="1"/>
            </p:cNvSpPr>
            <p:nvPr/>
          </p:nvSpPr>
          <p:spPr bwMode="auto">
            <a:xfrm rot="5400000">
              <a:off x="7244991" y="2836979"/>
              <a:ext cx="243919" cy="449589"/>
            </a:xfrm>
            <a:prstGeom prst="parallelogram">
              <a:avLst>
                <a:gd name="adj" fmla="val 29162"/>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50" name="组合 181"/>
            <p:cNvGrpSpPr/>
            <p:nvPr/>
          </p:nvGrpSpPr>
          <p:grpSpPr bwMode="auto">
            <a:xfrm>
              <a:off x="7021271" y="2851447"/>
              <a:ext cx="657481" cy="475119"/>
              <a:chOff x="7021271" y="2851447"/>
              <a:chExt cx="657481" cy="475119"/>
            </a:xfrm>
          </p:grpSpPr>
          <p:grpSp>
            <p:nvGrpSpPr>
              <p:cNvPr id="84051" name="Group 142"/>
              <p:cNvGrpSpPr/>
              <p:nvPr/>
            </p:nvGrpSpPr>
            <p:grpSpPr bwMode="auto">
              <a:xfrm>
                <a:off x="7021271" y="2851447"/>
                <a:ext cx="657481" cy="475119"/>
                <a:chOff x="4917" y="2326"/>
                <a:chExt cx="525" cy="411"/>
              </a:xfrm>
            </p:grpSpPr>
            <p:sp>
              <p:nvSpPr>
                <p:cNvPr id="84054" name="AutoShape 39"/>
                <p:cNvSpPr>
                  <a:spLocks noChangeArrowheads="1"/>
                </p:cNvSpPr>
                <p:nvPr/>
              </p:nvSpPr>
              <p:spPr bwMode="auto">
                <a:xfrm rot="5400000">
                  <a:off x="4999" y="2295"/>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55" name="Text Box 40"/>
                <p:cNvSpPr txBox="1">
                  <a:spLocks noChangeArrowheads="1"/>
                </p:cNvSpPr>
                <p:nvPr/>
              </p:nvSpPr>
              <p:spPr bwMode="auto">
                <a:xfrm rot="626605">
                  <a:off x="4917" y="235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grpSp>
          <p:sp>
            <p:nvSpPr>
              <p:cNvPr id="84052" name="Line 112"/>
              <p:cNvSpPr>
                <a:spLocks noChangeShapeType="1"/>
              </p:cNvSpPr>
              <p:nvPr/>
            </p:nvSpPr>
            <p:spPr bwMode="auto">
              <a:xfrm>
                <a:off x="7129282" y="3113994"/>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53" name="AutoShape 38"/>
              <p:cNvSpPr>
                <a:spLocks noChangeArrowheads="1"/>
              </p:cNvSpPr>
              <p:nvPr/>
            </p:nvSpPr>
            <p:spPr bwMode="auto">
              <a:xfrm rot="746037">
                <a:off x="7396188" y="300788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sp>
        <p:nvSpPr>
          <p:cNvPr id="190" name="Text Box 177"/>
          <p:cNvSpPr txBox="1">
            <a:spLocks noChangeArrowheads="1"/>
          </p:cNvSpPr>
          <p:nvPr/>
        </p:nvSpPr>
        <p:spPr bwMode="auto">
          <a:xfrm>
            <a:off x="481987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1" name="Text Box 177"/>
          <p:cNvSpPr txBox="1">
            <a:spLocks noChangeArrowheads="1"/>
          </p:cNvSpPr>
          <p:nvPr/>
        </p:nvSpPr>
        <p:spPr bwMode="auto">
          <a:xfrm>
            <a:off x="5919286" y="4000234"/>
            <a:ext cx="722312"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2" name="Text Box 177"/>
          <p:cNvSpPr txBox="1">
            <a:spLocks noChangeArrowheads="1"/>
          </p:cNvSpPr>
          <p:nvPr/>
        </p:nvSpPr>
        <p:spPr bwMode="auto">
          <a:xfrm>
            <a:off x="654394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96" name="组合 195"/>
          <p:cNvGrpSpPr/>
          <p:nvPr/>
        </p:nvGrpSpPr>
        <p:grpSpPr bwMode="auto">
          <a:xfrm>
            <a:off x="1715586" y="1339584"/>
            <a:ext cx="884237" cy="611187"/>
            <a:chOff x="1986461" y="1436989"/>
            <a:chExt cx="883227" cy="610785"/>
          </a:xfrm>
        </p:grpSpPr>
        <p:grpSp>
          <p:nvGrpSpPr>
            <p:cNvPr id="84041" name="Group 122"/>
            <p:cNvGrpSpPr/>
            <p:nvPr/>
          </p:nvGrpSpPr>
          <p:grpSpPr bwMode="auto">
            <a:xfrm>
              <a:off x="1986461" y="1436989"/>
              <a:ext cx="800435" cy="587904"/>
              <a:chOff x="71" y="1473"/>
              <a:chExt cx="974" cy="775"/>
            </a:xfrm>
          </p:grpSpPr>
          <p:sp>
            <p:nvSpPr>
              <p:cNvPr id="84045" name="Line 92"/>
              <p:cNvSpPr>
                <a:spLocks noChangeShapeType="1"/>
              </p:cNvSpPr>
              <p:nvPr/>
            </p:nvSpPr>
            <p:spPr bwMode="auto">
              <a:xfrm>
                <a:off x="630" y="1474"/>
                <a:ext cx="18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dirty="0">
                  <a:latin typeface="Times New Roman" panose="02020603050405020304" pitchFamily="18" charset="0"/>
                  <a:ea typeface="微软雅黑 Light" panose="020B0502040204020203" pitchFamily="34" charset="-122"/>
                </a:endParaRPr>
              </a:p>
            </p:txBody>
          </p:sp>
          <p:sp>
            <p:nvSpPr>
              <p:cNvPr id="84046" name="Line 94"/>
              <p:cNvSpPr>
                <a:spLocks noChangeShapeType="1"/>
              </p:cNvSpPr>
              <p:nvPr/>
            </p:nvSpPr>
            <p:spPr bwMode="auto">
              <a:xfrm>
                <a:off x="622" y="2248"/>
                <a:ext cx="181"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dirty="0">
                  <a:latin typeface="Times New Roman" panose="02020603050405020304" pitchFamily="18" charset="0"/>
                  <a:ea typeface="微软雅黑 Light" panose="020B0502040204020203" pitchFamily="34" charset="-122"/>
                </a:endParaRPr>
              </a:p>
            </p:txBody>
          </p:sp>
          <p:sp>
            <p:nvSpPr>
              <p:cNvPr id="84047" name="Text Box 95"/>
              <p:cNvSpPr txBox="1">
                <a:spLocks noChangeArrowheads="1"/>
              </p:cNvSpPr>
              <p:nvPr/>
            </p:nvSpPr>
            <p:spPr bwMode="auto">
              <a:xfrm>
                <a:off x="71" y="17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latin typeface="微软雅黑" panose="020B0503020204020204" pitchFamily="34" charset="-122"/>
                    <a:ea typeface="微软雅黑" panose="020B0503020204020204" pitchFamily="34" charset="-122"/>
                  </a:rPr>
                  <a:t>连接建立</a:t>
                </a:r>
              </a:p>
            </p:txBody>
          </p:sp>
          <p:sp>
            <p:nvSpPr>
              <p:cNvPr id="84048" name="Line 97"/>
              <p:cNvSpPr>
                <a:spLocks noChangeShapeType="1"/>
              </p:cNvSpPr>
              <p:nvPr/>
            </p:nvSpPr>
            <p:spPr bwMode="auto">
              <a:xfrm>
                <a:off x="720" y="1473"/>
                <a:ext cx="0" cy="75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dirty="0">
                  <a:latin typeface="Times New Roman" panose="02020603050405020304" pitchFamily="18" charset="0"/>
                  <a:ea typeface="微软雅黑 Light" panose="020B0502040204020203" pitchFamily="34" charset="-122"/>
                </a:endParaRPr>
              </a:p>
            </p:txBody>
          </p:sp>
        </p:grpSp>
        <p:sp>
          <p:nvSpPr>
            <p:cNvPr id="84042" name="Line 98"/>
            <p:cNvSpPr>
              <a:spLocks noChangeShapeType="1"/>
            </p:cNvSpPr>
            <p:nvPr/>
          </p:nvSpPr>
          <p:spPr bwMode="auto">
            <a:xfrm>
              <a:off x="2785557" y="1492950"/>
              <a:ext cx="0" cy="504318"/>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43" name="Line 93"/>
            <p:cNvSpPr>
              <a:spLocks noChangeShapeType="1"/>
            </p:cNvSpPr>
            <p:nvPr/>
          </p:nvSpPr>
          <p:spPr bwMode="auto">
            <a:xfrm>
              <a:off x="2708145" y="2047774"/>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44" name="Line 93"/>
            <p:cNvSpPr>
              <a:spLocks noChangeShapeType="1"/>
            </p:cNvSpPr>
            <p:nvPr/>
          </p:nvSpPr>
          <p:spPr bwMode="auto">
            <a:xfrm>
              <a:off x="2720120" y="1448209"/>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sp>
        <p:nvSpPr>
          <p:cNvPr id="84037" name="Line 102"/>
          <p:cNvSpPr>
            <a:spLocks noChangeShapeType="1"/>
          </p:cNvSpPr>
          <p:nvPr/>
        </p:nvSpPr>
        <p:spPr bwMode="auto">
          <a:xfrm>
            <a:off x="6751136" y="13221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38" name="Line 103"/>
          <p:cNvSpPr>
            <a:spLocks noChangeShapeType="1"/>
          </p:cNvSpPr>
          <p:nvPr/>
        </p:nvSpPr>
        <p:spPr bwMode="auto">
          <a:xfrm>
            <a:off x="64574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39" name="Line 101"/>
          <p:cNvSpPr>
            <a:spLocks noChangeShapeType="1"/>
          </p:cNvSpPr>
          <p:nvPr/>
        </p:nvSpPr>
        <p:spPr bwMode="auto">
          <a:xfrm>
            <a:off x="7049586" y="132847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040" name="Line 115"/>
          <p:cNvSpPr>
            <a:spLocks noChangeShapeType="1"/>
          </p:cNvSpPr>
          <p:nvPr/>
        </p:nvSpPr>
        <p:spPr bwMode="auto">
          <a:xfrm>
            <a:off x="6154236" y="13094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 name="标题 1">
            <a:extLst>
              <a:ext uri="{FF2B5EF4-FFF2-40B4-BE49-F238E27FC236}">
                <a16:creationId xmlns:a16="http://schemas.microsoft.com/office/drawing/2014/main" id="{EDF5B06D-66DF-180C-6761-349EA479449A}"/>
              </a:ext>
            </a:extLst>
          </p:cNvPr>
          <p:cNvSpPr>
            <a:spLocks noGrp="1"/>
          </p:cNvSpPr>
          <p:nvPr>
            <p:ph type="title"/>
          </p:nvPr>
        </p:nvSpPr>
        <p:spPr>
          <a:xfrm>
            <a:off x="612000" y="144000"/>
            <a:ext cx="7920000" cy="341632"/>
          </a:xfrm>
        </p:spPr>
        <p:txBody>
          <a:bodyPr/>
          <a:lstStyle/>
          <a:p>
            <a:r>
              <a:rPr lang="zh-CN" altLang="en-US" dirty="0"/>
              <a:t>电路交换、报文交换和分组交换的主要区别</a:t>
            </a:r>
          </a:p>
        </p:txBody>
      </p:sp>
    </p:spTree>
    <p:extLst>
      <p:ext uri="{BB962C8B-B14F-4D97-AF65-F5344CB8AC3E}">
        <p14:creationId xmlns:p14="http://schemas.microsoft.com/office/powerpoint/2010/main" val="36042741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96"/>
                                        </p:tgtEl>
                                        <p:attrNameLst>
                                          <p:attrName>style.visibility</p:attrName>
                                        </p:attrNameLst>
                                      </p:cBhvr>
                                      <p:to>
                                        <p:strVal val="visible"/>
                                      </p:to>
                                    </p:set>
                                    <p:animEffect transition="in" filter="wipe(left)">
                                      <p:cBhvr>
                                        <p:cTn id="7" dur="1000"/>
                                        <p:tgtEl>
                                          <p:spTgt spid="196"/>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1000"/>
                                        <p:tgtEl>
                                          <p:spTgt spid="28"/>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par>
                          <p:cTn id="16" fill="hold">
                            <p:stCondLst>
                              <p:cond delay="4000"/>
                            </p:stCondLst>
                            <p:childTnLst>
                              <p:par>
                                <p:cTn id="17" presetID="22" presetClass="entr" presetSubtype="8"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1000"/>
                                        <p:tgtEl>
                                          <p:spTgt spid="30"/>
                                        </p:tgtEl>
                                      </p:cBhvr>
                                    </p:animEffect>
                                  </p:childTnLst>
                                </p:cTn>
                              </p:par>
                            </p:childTnLst>
                          </p:cTn>
                        </p:par>
                        <p:par>
                          <p:cTn id="20" fill="hold">
                            <p:stCondLst>
                              <p:cond delay="5000"/>
                            </p:stCondLst>
                            <p:childTnLst>
                              <p:par>
                                <p:cTn id="21" presetID="22" presetClass="entr" presetSubtype="2"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1000"/>
                                        <p:tgtEl>
                                          <p:spTgt spid="31"/>
                                        </p:tgtEl>
                                      </p:cBhvr>
                                    </p:animEffect>
                                  </p:childTnLst>
                                </p:cTn>
                              </p:par>
                            </p:childTnLst>
                          </p:cTn>
                        </p:par>
                        <p:par>
                          <p:cTn id="24" fill="hold">
                            <p:stCondLst>
                              <p:cond delay="6000"/>
                            </p:stCondLst>
                            <p:childTnLst>
                              <p:par>
                                <p:cTn id="25" presetID="22" presetClass="entr" presetSubtype="8"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1000"/>
                                        <p:tgtEl>
                                          <p:spTgt spid="42"/>
                                        </p:tgtEl>
                                      </p:cBhvr>
                                    </p:animEffect>
                                  </p:childTnLst>
                                </p:cTn>
                              </p:par>
                            </p:childTnLst>
                          </p:cTn>
                        </p:par>
                        <p:par>
                          <p:cTn id="28" fill="hold">
                            <p:stCondLst>
                              <p:cond delay="7000"/>
                            </p:stCondLst>
                            <p:childTnLst>
                              <p:par>
                                <p:cTn id="29" presetID="22" presetClass="entr" presetSubtype="8"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1000"/>
                                        <p:tgtEl>
                                          <p:spTgt spid="54"/>
                                        </p:tgtEl>
                                      </p:cBhvr>
                                    </p:animEffect>
                                  </p:childTnLst>
                                </p:cTn>
                              </p:par>
                            </p:childTnLst>
                          </p:cTn>
                        </p:par>
                        <p:par>
                          <p:cTn id="32" fill="hold">
                            <p:stCondLst>
                              <p:cond delay="8000"/>
                            </p:stCondLst>
                            <p:childTnLst>
                              <p:par>
                                <p:cTn id="33" presetID="22" presetClass="entr" presetSubtype="8" fill="hold"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wipe(left)">
                                      <p:cBhvr>
                                        <p:cTn id="35" dur="1000"/>
                                        <p:tgtEl>
                                          <p:spTgt spid="71"/>
                                        </p:tgtEl>
                                      </p:cBhvr>
                                    </p:animEffect>
                                  </p:childTnLst>
                                </p:cTn>
                              </p:par>
                            </p:childTnLst>
                          </p:cTn>
                        </p:par>
                        <p:par>
                          <p:cTn id="36" fill="hold">
                            <p:stCondLst>
                              <p:cond delay="9000"/>
                            </p:stCondLst>
                            <p:childTnLst>
                              <p:par>
                                <p:cTn id="37" presetID="22" presetClass="entr" presetSubtype="8"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wipe(left)">
                                      <p:cBhvr>
                                        <p:cTn id="39" dur="1000"/>
                                        <p:tgtEl>
                                          <p:spTgt spid="68"/>
                                        </p:tgtEl>
                                      </p:cBhvr>
                                    </p:animEffect>
                                  </p:childTnLst>
                                </p:cTn>
                              </p:par>
                            </p:childTnLst>
                          </p:cTn>
                        </p:par>
                        <p:par>
                          <p:cTn id="40" fill="hold">
                            <p:stCondLst>
                              <p:cond delay="10000"/>
                            </p:stCondLst>
                            <p:childTnLst>
                              <p:par>
                                <p:cTn id="41" presetID="22" presetClass="entr" presetSubtype="8" fill="hold" grpId="0" nodeType="after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wipe(left)">
                                      <p:cBhvr>
                                        <p:cTn id="43" dur="1000"/>
                                        <p:tgtEl>
                                          <p:spTgt spid="69"/>
                                        </p:tgtEl>
                                      </p:cBhvr>
                                    </p:animEffect>
                                  </p:childTnLst>
                                </p:cTn>
                              </p:par>
                            </p:childTnLst>
                          </p:cTn>
                        </p:par>
                        <p:par>
                          <p:cTn id="44" fill="hold">
                            <p:stCondLst>
                              <p:cond delay="11000"/>
                            </p:stCondLst>
                            <p:childTnLst>
                              <p:par>
                                <p:cTn id="45" presetID="22" presetClass="entr" presetSubtype="8" fill="hold" grpId="0" nodeType="after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1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2000"/>
                                        <p:tgtEl>
                                          <p:spTgt spid="17"/>
                                        </p:tgtEl>
                                      </p:cBhvr>
                                    </p:animEffect>
                                  </p:childTnLst>
                                </p:cTn>
                              </p:par>
                            </p:childTnLst>
                          </p:cTn>
                        </p:par>
                        <p:par>
                          <p:cTn id="56" fill="hold">
                            <p:stCondLst>
                              <p:cond delay="2000"/>
                            </p:stCondLst>
                            <p:childTnLst>
                              <p:par>
                                <p:cTn id="57" presetID="22" presetClass="entr" presetSubtype="8"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2000"/>
                                        <p:tgtEl>
                                          <p:spTgt spid="5"/>
                                        </p:tgtEl>
                                      </p:cBhvr>
                                    </p:animEffect>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20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par>
                          <p:cTn id="68" fill="hold">
                            <p:stCondLst>
                              <p:cond delay="0"/>
                            </p:stCondLst>
                            <p:childTnLst>
                              <p:par>
                                <p:cTn id="69" presetID="22" presetClass="entr" presetSubtype="8" fill="hold" nodeType="after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left)">
                                      <p:cBhvr>
                                        <p:cTn id="71" dur="2000"/>
                                        <p:tgtEl>
                                          <p:spTgt spid="61"/>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wipe(left)">
                                      <p:cBhvr>
                                        <p:cTn id="75" dur="2000"/>
                                        <p:tgtEl>
                                          <p:spTgt spid="114"/>
                                        </p:tgtEl>
                                      </p:cBhvr>
                                    </p:animEffect>
                                  </p:childTnLst>
                                </p:cTn>
                              </p:par>
                            </p:childTnLst>
                          </p:cTn>
                        </p:par>
                        <p:par>
                          <p:cTn id="76" fill="hold">
                            <p:stCondLst>
                              <p:cond delay="4000"/>
                            </p:stCondLst>
                            <p:childTnLst>
                              <p:par>
                                <p:cTn id="77" presetID="22" presetClass="entr" presetSubtype="8"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wipe(left)">
                                      <p:cBhvr>
                                        <p:cTn id="79" dur="2000"/>
                                        <p:tgtEl>
                                          <p:spTgt spid="127"/>
                                        </p:tgtEl>
                                      </p:cBhvr>
                                    </p:animEffect>
                                  </p:childTnLst>
                                </p:cTn>
                              </p:par>
                            </p:childTnLst>
                          </p:cTn>
                        </p:par>
                        <p:par>
                          <p:cTn id="80" fill="hold">
                            <p:stCondLst>
                              <p:cond delay="6000"/>
                            </p:stCondLst>
                            <p:childTnLst>
                              <p:par>
                                <p:cTn id="81" presetID="22" presetClass="entr" presetSubtype="8" fill="hold" nodeType="afterEffect">
                                  <p:stCondLst>
                                    <p:cond delay="0"/>
                                  </p:stCondLst>
                                  <p:childTnLst>
                                    <p:set>
                                      <p:cBhvr>
                                        <p:cTn id="82" dur="1" fill="hold">
                                          <p:stCondLst>
                                            <p:cond delay="0"/>
                                          </p:stCondLst>
                                        </p:cTn>
                                        <p:tgtEl>
                                          <p:spTgt spid="214"/>
                                        </p:tgtEl>
                                        <p:attrNameLst>
                                          <p:attrName>style.visibility</p:attrName>
                                        </p:attrNameLst>
                                      </p:cBhvr>
                                      <p:to>
                                        <p:strVal val="visible"/>
                                      </p:to>
                                    </p:set>
                                    <p:animEffect transition="in" filter="wipe(left)">
                                      <p:cBhvr>
                                        <p:cTn id="83" dur="2000"/>
                                        <p:tgtEl>
                                          <p:spTgt spid="214"/>
                                        </p:tgtEl>
                                      </p:cBhvr>
                                    </p:animEffect>
                                  </p:childTnLst>
                                </p:cTn>
                              </p:par>
                            </p:childTnLst>
                          </p:cTn>
                        </p:par>
                        <p:par>
                          <p:cTn id="84" fill="hold">
                            <p:stCondLst>
                              <p:cond delay="8000"/>
                            </p:stCondLst>
                            <p:childTnLst>
                              <p:par>
                                <p:cTn id="85" presetID="22" presetClass="entr" presetSubtype="8" fill="hold" nodeType="after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left)">
                                      <p:cBhvr>
                                        <p:cTn id="87" dur="2000"/>
                                        <p:tgtEl>
                                          <p:spTgt spid="164"/>
                                        </p:tgtEl>
                                      </p:cBhvr>
                                    </p:animEffect>
                                  </p:childTnLst>
                                </p:cTn>
                              </p:par>
                            </p:childTnLst>
                          </p:cTn>
                        </p:par>
                        <p:par>
                          <p:cTn id="88" fill="hold">
                            <p:stCondLst>
                              <p:cond delay="10000"/>
                            </p:stCondLst>
                            <p:childTnLst>
                              <p:par>
                                <p:cTn id="89" presetID="22" presetClass="entr" presetSubtype="8" fill="hold" nodeType="afterEffect">
                                  <p:stCondLst>
                                    <p:cond delay="0"/>
                                  </p:stCondLst>
                                  <p:childTnLst>
                                    <p:set>
                                      <p:cBhvr>
                                        <p:cTn id="90" dur="1" fill="hold">
                                          <p:stCondLst>
                                            <p:cond delay="0"/>
                                          </p:stCondLst>
                                        </p:cTn>
                                        <p:tgtEl>
                                          <p:spTgt spid="180"/>
                                        </p:tgtEl>
                                        <p:attrNameLst>
                                          <p:attrName>style.visibility</p:attrName>
                                        </p:attrNameLst>
                                      </p:cBhvr>
                                      <p:to>
                                        <p:strVal val="visible"/>
                                      </p:to>
                                    </p:set>
                                    <p:animEffect transition="in" filter="wipe(left)">
                                      <p:cBhvr>
                                        <p:cTn id="91" dur="2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p:bldP spid="34" grpId="0"/>
      <p:bldP spid="68" grpId="0" animBg="1"/>
      <p:bldP spid="69" grpId="0" animBg="1"/>
      <p:bldP spid="7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5FC216F-C5E3-2765-D2D6-24AD568BDD44}"/>
              </a:ext>
            </a:extLst>
          </p:cNvPr>
          <p:cNvSpPr>
            <a:spLocks noGrp="1"/>
          </p:cNvSpPr>
          <p:nvPr>
            <p:ph type="title"/>
          </p:nvPr>
        </p:nvSpPr>
        <p:spPr>
          <a:xfrm>
            <a:off x="612000" y="144000"/>
            <a:ext cx="7920000" cy="341632"/>
          </a:xfrm>
        </p:spPr>
        <p:txBody>
          <a:bodyPr/>
          <a:lstStyle/>
          <a:p>
            <a:r>
              <a:rPr lang="zh-CN" altLang="en-US" dirty="0"/>
              <a:t>三种交换方式的比较</a:t>
            </a:r>
          </a:p>
        </p:txBody>
      </p:sp>
      <p:sp>
        <p:nvSpPr>
          <p:cNvPr id="3" name="内容占位符 2"/>
          <p:cNvSpPr>
            <a:spLocks noGrp="1"/>
          </p:cNvSpPr>
          <p:nvPr>
            <p:ph sz="quarter" idx="10"/>
          </p:nvPr>
        </p:nvSpPr>
        <p:spPr>
          <a:xfrm>
            <a:off x="612000" y="899999"/>
            <a:ext cx="7920000" cy="3780000"/>
          </a:xfrm>
        </p:spPr>
        <p:txBody>
          <a:bodyPr/>
          <a:lstStyle/>
          <a:p>
            <a:r>
              <a:rPr lang="zh-CN" altLang="en-US" dirty="0"/>
              <a:t>若要连续传送大量的数据，且其传送时间远大于连接建立时间，则电路交换的传输速率较快</a:t>
            </a:r>
          </a:p>
          <a:p>
            <a:r>
              <a:rPr lang="zh-CN" altLang="en-US" dirty="0"/>
              <a:t>报文交换和分组交换不需要预先分配传输带宽，在传送突发数据时可提高整个网络的信道利用率</a:t>
            </a:r>
          </a:p>
          <a:p>
            <a:r>
              <a:rPr lang="zh-CN" altLang="en-US" dirty="0"/>
              <a:t>由于一个分组的长度往往远小于整个报文的长度，因此分组交换比报文交换的时延小，同时也具有更好的灵活性</a:t>
            </a:r>
          </a:p>
          <a:p>
            <a:endParaRPr lang="zh-CN" altLang="en-US" dirty="0"/>
          </a:p>
        </p:txBody>
      </p:sp>
    </p:spTree>
    <p:extLst>
      <p:ext uri="{BB962C8B-B14F-4D97-AF65-F5344CB8AC3E}">
        <p14:creationId xmlns:p14="http://schemas.microsoft.com/office/powerpoint/2010/main" val="5947867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7069A33-7D77-9702-D96F-CD43153EB8F9}"/>
              </a:ext>
            </a:extLst>
          </p:cNvPr>
          <p:cNvSpPr>
            <a:spLocks noGrp="1"/>
          </p:cNvSpPr>
          <p:nvPr>
            <p:ph type="title"/>
          </p:nvPr>
        </p:nvSpPr>
        <p:spPr>
          <a:xfrm>
            <a:off x="612000" y="144000"/>
            <a:ext cx="7920000" cy="341632"/>
          </a:xfrm>
        </p:spPr>
        <p:txBody>
          <a:bodyPr/>
          <a:lstStyle/>
          <a:p>
            <a:r>
              <a:rPr lang="en-US" altLang="zh-CN" dirty="0"/>
              <a:t>1.4  </a:t>
            </a:r>
            <a:r>
              <a:rPr lang="zh-CN" altLang="en-US" dirty="0"/>
              <a:t>计算机网络在我国的发展</a:t>
            </a:r>
          </a:p>
        </p:txBody>
      </p:sp>
      <p:sp>
        <p:nvSpPr>
          <p:cNvPr id="5" name="内容占位符 4"/>
          <p:cNvSpPr>
            <a:spLocks noGrp="1"/>
          </p:cNvSpPr>
          <p:nvPr>
            <p:ph sz="quarter" idx="10"/>
          </p:nvPr>
        </p:nvSpPr>
        <p:spPr>
          <a:xfrm>
            <a:off x="612000" y="899999"/>
            <a:ext cx="7920000" cy="3780000"/>
          </a:xfrm>
        </p:spPr>
        <p:txBody>
          <a:bodyPr/>
          <a:lstStyle/>
          <a:p>
            <a:r>
              <a:rPr lang="en-US" altLang="zh-CN" dirty="0"/>
              <a:t>1980 </a:t>
            </a:r>
            <a:r>
              <a:rPr lang="zh-CN" altLang="en-US" dirty="0"/>
              <a:t>年，铁道部开始进行计算机联网实验</a:t>
            </a:r>
          </a:p>
          <a:p>
            <a:r>
              <a:rPr lang="en-US" altLang="zh-CN" dirty="0"/>
              <a:t>1989 </a:t>
            </a:r>
            <a:r>
              <a:rPr lang="zh-CN" altLang="en-US" dirty="0"/>
              <a:t>年 </a:t>
            </a:r>
            <a:r>
              <a:rPr lang="en-US" altLang="zh-CN" dirty="0"/>
              <a:t>11 </a:t>
            </a:r>
            <a:r>
              <a:rPr lang="zh-CN" altLang="en-US" dirty="0"/>
              <a:t>月，我国第一个公用分组交换网 </a:t>
            </a:r>
            <a:r>
              <a:rPr lang="en-US" altLang="zh-CN" dirty="0"/>
              <a:t>CNPAC </a:t>
            </a:r>
            <a:r>
              <a:rPr lang="zh-CN" altLang="en-US" dirty="0"/>
              <a:t>建成运行 </a:t>
            </a:r>
          </a:p>
          <a:p>
            <a:r>
              <a:rPr lang="en-US" altLang="zh-CN" dirty="0"/>
              <a:t>1994 </a:t>
            </a:r>
            <a:r>
              <a:rPr lang="zh-CN" altLang="en-US" dirty="0"/>
              <a:t>年 </a:t>
            </a:r>
            <a:r>
              <a:rPr lang="en-US" altLang="zh-CN" dirty="0"/>
              <a:t>4 </a:t>
            </a:r>
            <a:r>
              <a:rPr lang="zh-CN" altLang="en-US" dirty="0"/>
              <a:t>月 </a:t>
            </a:r>
            <a:r>
              <a:rPr lang="en-US" altLang="zh-CN" dirty="0"/>
              <a:t>20 </a:t>
            </a:r>
            <a:r>
              <a:rPr lang="zh-CN" altLang="en-US" dirty="0"/>
              <a:t>日，我国用 </a:t>
            </a:r>
            <a:r>
              <a:rPr lang="en-US" altLang="zh-CN" dirty="0"/>
              <a:t>64 Kbit/s </a:t>
            </a:r>
            <a:r>
              <a:rPr lang="zh-CN" altLang="en-US" dirty="0"/>
              <a:t>专线正式连入互联网，我国被国际上正式承认为接入互联网的国家</a:t>
            </a:r>
          </a:p>
          <a:p>
            <a:r>
              <a:rPr lang="en-US" altLang="zh-CN" dirty="0"/>
              <a:t>1994 </a:t>
            </a:r>
            <a:r>
              <a:rPr lang="zh-CN" altLang="en-US" dirty="0"/>
              <a:t>年 </a:t>
            </a:r>
            <a:r>
              <a:rPr lang="en-US" altLang="zh-CN" dirty="0"/>
              <a:t>5 </a:t>
            </a:r>
            <a:r>
              <a:rPr lang="zh-CN" altLang="en-US" dirty="0"/>
              <a:t>月，中国科学院高能物理研究所设立了我国第一个万维网服务器</a:t>
            </a:r>
          </a:p>
          <a:p>
            <a:r>
              <a:rPr lang="en-US" altLang="zh-CN" dirty="0"/>
              <a:t>1994 </a:t>
            </a:r>
            <a:r>
              <a:rPr lang="zh-CN" altLang="en-US" dirty="0"/>
              <a:t>年 </a:t>
            </a:r>
            <a:r>
              <a:rPr lang="en-US" altLang="zh-CN" dirty="0"/>
              <a:t>9 </a:t>
            </a:r>
            <a:r>
              <a:rPr lang="zh-CN" altLang="en-US" dirty="0"/>
              <a:t>月，中国公用计算机互联网 </a:t>
            </a:r>
            <a:r>
              <a:rPr lang="en-US" altLang="zh-CN" dirty="0"/>
              <a:t>CHINANET </a:t>
            </a:r>
            <a:r>
              <a:rPr lang="zh-CN" altLang="en-US" dirty="0"/>
              <a:t>正式启动</a:t>
            </a:r>
          </a:p>
          <a:p>
            <a:endParaRPr lang="zh-CN" altLang="en-US" dirty="0"/>
          </a:p>
        </p:txBody>
      </p:sp>
    </p:spTree>
    <p:extLst>
      <p:ext uri="{BB962C8B-B14F-4D97-AF65-F5344CB8AC3E}">
        <p14:creationId xmlns:p14="http://schemas.microsoft.com/office/powerpoint/2010/main" val="31731728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AFD804-D290-9A84-1817-299FC9763276}"/>
              </a:ext>
            </a:extLst>
          </p:cNvPr>
          <p:cNvSpPr>
            <a:spLocks noGrp="1"/>
          </p:cNvSpPr>
          <p:nvPr>
            <p:ph type="title"/>
          </p:nvPr>
        </p:nvSpPr>
        <p:spPr>
          <a:xfrm>
            <a:off x="612000" y="144000"/>
            <a:ext cx="7920000" cy="341632"/>
          </a:xfrm>
        </p:spPr>
        <p:txBody>
          <a:bodyPr/>
          <a:lstStyle/>
          <a:p>
            <a:r>
              <a:rPr lang="en-US" altLang="zh-CN" dirty="0"/>
              <a:t>1.4  </a:t>
            </a:r>
            <a:r>
              <a:rPr lang="zh-CN" altLang="en-US" dirty="0"/>
              <a:t>计算机网络在我国的发展</a:t>
            </a:r>
          </a:p>
        </p:txBody>
      </p:sp>
      <p:sp>
        <p:nvSpPr>
          <p:cNvPr id="5" name="内容占位符 4"/>
          <p:cNvSpPr>
            <a:spLocks noGrp="1"/>
          </p:cNvSpPr>
          <p:nvPr>
            <p:ph sz="quarter" idx="10"/>
          </p:nvPr>
        </p:nvSpPr>
        <p:spPr>
          <a:xfrm>
            <a:off x="612000" y="899999"/>
            <a:ext cx="7920000" cy="3780000"/>
          </a:xfrm>
        </p:spPr>
        <p:txBody>
          <a:bodyPr/>
          <a:lstStyle/>
          <a:p>
            <a:r>
              <a:rPr lang="zh-CN" altLang="en-US" dirty="0"/>
              <a:t>到目前为止，我国陆续建造了基于互联网技术的并能够和互联网互连的多个全国范围的公用计算机网络</a:t>
            </a:r>
            <a:endParaRPr lang="en-US" altLang="zh-CN" dirty="0"/>
          </a:p>
          <a:p>
            <a:r>
              <a:rPr lang="zh-CN" altLang="en-US" dirty="0"/>
              <a:t>其中规模最大的五个：</a:t>
            </a:r>
          </a:p>
          <a:p>
            <a:pPr lvl="1"/>
            <a:r>
              <a:rPr lang="zh-CN" altLang="en-US" dirty="0"/>
              <a:t>中国电信互联网 </a:t>
            </a:r>
            <a:r>
              <a:rPr lang="en-US" altLang="zh-CN" dirty="0"/>
              <a:t>CHINANET</a:t>
            </a:r>
            <a:r>
              <a:rPr lang="zh-CN" altLang="en-US" dirty="0"/>
              <a:t>（也就是原来的中国公用计算机互联网）</a:t>
            </a:r>
          </a:p>
          <a:p>
            <a:pPr lvl="1"/>
            <a:r>
              <a:rPr lang="zh-CN" altLang="en-US" dirty="0"/>
              <a:t>中国联通互联网 </a:t>
            </a:r>
            <a:r>
              <a:rPr lang="en-US" altLang="zh-CN" dirty="0"/>
              <a:t>UNINET</a:t>
            </a:r>
          </a:p>
          <a:p>
            <a:pPr lvl="1"/>
            <a:r>
              <a:rPr lang="zh-CN" altLang="en-US" dirty="0"/>
              <a:t>中国移动互联网 </a:t>
            </a:r>
            <a:r>
              <a:rPr lang="en-US" altLang="zh-CN" dirty="0"/>
              <a:t>CMNET</a:t>
            </a:r>
          </a:p>
          <a:p>
            <a:pPr lvl="1"/>
            <a:r>
              <a:rPr lang="zh-CN" altLang="en-US" dirty="0"/>
              <a:t>中国教育和科研计算机网 </a:t>
            </a:r>
            <a:r>
              <a:rPr lang="en-US" altLang="zh-CN" dirty="0"/>
              <a:t>CERNET</a:t>
            </a:r>
          </a:p>
          <a:p>
            <a:pPr lvl="1"/>
            <a:r>
              <a:rPr lang="zh-CN" altLang="en-US" dirty="0"/>
              <a:t>中国科学技术网 </a:t>
            </a:r>
            <a:r>
              <a:rPr lang="en-US" altLang="zh-CN" dirty="0"/>
              <a:t>CSTNET</a:t>
            </a:r>
          </a:p>
          <a:p>
            <a:endParaRPr lang="zh-CN" altLang="en-US" dirty="0"/>
          </a:p>
        </p:txBody>
      </p:sp>
    </p:spTree>
    <p:extLst>
      <p:ext uri="{BB962C8B-B14F-4D97-AF65-F5344CB8AC3E}">
        <p14:creationId xmlns:p14="http://schemas.microsoft.com/office/powerpoint/2010/main" val="33402936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D28F71F2-4374-224D-007B-D6D90CF48B35}"/>
              </a:ext>
            </a:extLst>
          </p:cNvPr>
          <p:cNvSpPr>
            <a:spLocks noGrp="1"/>
          </p:cNvSpPr>
          <p:nvPr>
            <p:ph type="title"/>
          </p:nvPr>
        </p:nvSpPr>
        <p:spPr>
          <a:xfrm>
            <a:off x="612000" y="144000"/>
            <a:ext cx="7920000" cy="341632"/>
          </a:xfrm>
        </p:spPr>
        <p:txBody>
          <a:bodyPr/>
          <a:lstStyle/>
          <a:p>
            <a:r>
              <a:rPr lang="en-US" altLang="zh-CN" dirty="0"/>
              <a:t>1.4  </a:t>
            </a:r>
            <a:r>
              <a:rPr lang="zh-CN" altLang="en-US" dirty="0"/>
              <a:t>计算机网络在我国的发展</a:t>
            </a:r>
          </a:p>
        </p:txBody>
      </p:sp>
      <p:sp>
        <p:nvSpPr>
          <p:cNvPr id="5" name="内容占位符 4"/>
          <p:cNvSpPr>
            <a:spLocks noGrp="1"/>
          </p:cNvSpPr>
          <p:nvPr>
            <p:ph sz="quarter" idx="10"/>
          </p:nvPr>
        </p:nvSpPr>
        <p:spPr>
          <a:xfrm>
            <a:off x="612000" y="899999"/>
            <a:ext cx="7920000" cy="3780000"/>
          </a:xfrm>
        </p:spPr>
        <p:txBody>
          <a:bodyPr>
            <a:normAutofit/>
          </a:bodyPr>
          <a:lstStyle/>
          <a:p>
            <a:r>
              <a:rPr lang="en-US" altLang="zh-CN" dirty="0"/>
              <a:t>1994 </a:t>
            </a:r>
            <a:r>
              <a:rPr lang="zh-CN" altLang="en-US" dirty="0"/>
              <a:t>年，中国教育和科研计算机网 </a:t>
            </a:r>
            <a:r>
              <a:rPr lang="en-US" altLang="zh-CN" dirty="0"/>
              <a:t>CERNET (China Education and Research Network) </a:t>
            </a:r>
            <a:r>
              <a:rPr lang="zh-CN" altLang="en-US" dirty="0"/>
              <a:t>是我国第一个 </a:t>
            </a:r>
            <a:r>
              <a:rPr lang="en-US" altLang="zh-CN" dirty="0"/>
              <a:t>IPv4 </a:t>
            </a:r>
            <a:r>
              <a:rPr lang="zh-CN" altLang="en-US" dirty="0"/>
              <a:t>互联网主干网</a:t>
            </a:r>
          </a:p>
          <a:p>
            <a:r>
              <a:rPr lang="en-US" altLang="zh-CN" dirty="0"/>
              <a:t>2004 </a:t>
            </a:r>
            <a:r>
              <a:rPr lang="zh-CN" altLang="en-US" dirty="0"/>
              <a:t>年 </a:t>
            </a:r>
            <a:r>
              <a:rPr lang="en-US" altLang="zh-CN" dirty="0"/>
              <a:t>2 </a:t>
            </a:r>
            <a:r>
              <a:rPr lang="zh-CN" altLang="en-US" dirty="0"/>
              <a:t>月，我国的第一个下一代互联网 </a:t>
            </a:r>
            <a:r>
              <a:rPr lang="en-US" altLang="zh-CN" dirty="0"/>
              <a:t>CNGI </a:t>
            </a:r>
            <a:r>
              <a:rPr lang="zh-CN" altLang="en-US" dirty="0"/>
              <a:t>的主干网 </a:t>
            </a:r>
            <a:r>
              <a:rPr lang="en-US" altLang="zh-CN" dirty="0"/>
              <a:t>CERNET2 </a:t>
            </a:r>
            <a:r>
              <a:rPr lang="zh-CN" altLang="en-US" dirty="0"/>
              <a:t>试验网正式开通，并提供服务</a:t>
            </a:r>
            <a:endParaRPr lang="en-US" altLang="zh-CN" dirty="0"/>
          </a:p>
          <a:p>
            <a:pPr lvl="1"/>
            <a:r>
              <a:rPr lang="zh-CN" altLang="en-US" dirty="0"/>
              <a:t>试验网以 </a:t>
            </a:r>
            <a:r>
              <a:rPr lang="en-US" altLang="zh-CN" dirty="0"/>
              <a:t>2.5~10 </a:t>
            </a:r>
            <a:r>
              <a:rPr lang="en-US" altLang="zh-CN" dirty="0" err="1"/>
              <a:t>Gbit</a:t>
            </a:r>
            <a:r>
              <a:rPr lang="en-US" altLang="zh-CN" dirty="0"/>
              <a:t>/s </a:t>
            </a:r>
            <a:r>
              <a:rPr lang="zh-CN" altLang="en-US" dirty="0"/>
              <a:t>的速率连接北京、上海和广州三个 </a:t>
            </a:r>
            <a:r>
              <a:rPr lang="en-US" altLang="zh-CN" dirty="0"/>
              <a:t>CERNET </a:t>
            </a:r>
            <a:r>
              <a:rPr lang="zh-CN" altLang="en-US" dirty="0"/>
              <a:t>核心节点，并与国际下一代互联网相连接</a:t>
            </a:r>
          </a:p>
          <a:p>
            <a:r>
              <a:rPr lang="zh-CN" altLang="en-US" dirty="0"/>
              <a:t>中国互联网络信息中心 </a:t>
            </a:r>
            <a:r>
              <a:rPr lang="en-US" altLang="zh-CN" dirty="0">
                <a:hlinkClick r:id="rId2"/>
              </a:rPr>
              <a:t>CNNIC</a:t>
            </a:r>
            <a:r>
              <a:rPr lang="en-US" altLang="zh-CN" dirty="0"/>
              <a:t> (China Network Information Center)  </a:t>
            </a:r>
            <a:r>
              <a:rPr lang="zh-CN" altLang="en-US" dirty="0"/>
              <a:t>每年两次公布我国互联网的发展情况</a:t>
            </a:r>
            <a:endParaRPr lang="en-US" altLang="zh-CN" dirty="0"/>
          </a:p>
          <a:p>
            <a:r>
              <a:rPr lang="zh-CN" altLang="en-US" dirty="0"/>
              <a:t>到 </a:t>
            </a:r>
            <a:r>
              <a:rPr lang="en-US" altLang="zh-CN" dirty="0"/>
              <a:t>2019 </a:t>
            </a:r>
            <a:r>
              <a:rPr lang="zh-CN" altLang="en-US" dirty="0"/>
              <a:t>年底，我国国际出口带宽已超过 </a:t>
            </a:r>
            <a:r>
              <a:rPr lang="en-US" altLang="zh-CN" dirty="0"/>
              <a:t>8.8 </a:t>
            </a:r>
            <a:r>
              <a:rPr lang="en-US" altLang="zh-CN" dirty="0" err="1"/>
              <a:t>Tbit</a:t>
            </a:r>
            <a:r>
              <a:rPr lang="en-US" altLang="zh-CN" dirty="0"/>
              <a:t>/s </a:t>
            </a:r>
            <a:r>
              <a:rPr lang="zh-CN" altLang="en-US" dirty="0"/>
              <a:t>（</a:t>
            </a:r>
            <a:r>
              <a:rPr lang="en-US" altLang="zh-CN" dirty="0"/>
              <a:t>1 Tbit/s = 103 Gbit/s</a:t>
            </a:r>
            <a:r>
              <a:rPr lang="zh-CN" altLang="en-US" dirty="0"/>
              <a:t>）</a:t>
            </a:r>
          </a:p>
          <a:p>
            <a:endParaRPr lang="zh-CN" altLang="en-US" dirty="0"/>
          </a:p>
        </p:txBody>
      </p:sp>
    </p:spTree>
    <p:extLst>
      <p:ext uri="{BB962C8B-B14F-4D97-AF65-F5344CB8AC3E}">
        <p14:creationId xmlns:p14="http://schemas.microsoft.com/office/powerpoint/2010/main" val="1368053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2F84FF96-A0FB-6A87-89D4-A85D4E83F191}"/>
              </a:ext>
            </a:extLst>
          </p:cNvPr>
          <p:cNvSpPr>
            <a:spLocks noGrp="1"/>
          </p:cNvSpPr>
          <p:nvPr>
            <p:ph type="title"/>
          </p:nvPr>
        </p:nvSpPr>
        <p:spPr>
          <a:xfrm>
            <a:off x="612000" y="144000"/>
            <a:ext cx="7920000" cy="341632"/>
          </a:xfrm>
        </p:spPr>
        <p:txBody>
          <a:bodyPr/>
          <a:lstStyle/>
          <a:p>
            <a:r>
              <a:rPr lang="zh-CN" altLang="en-US" dirty="0"/>
              <a:t>对我国互联网事业发展影响较大的人物和事件</a:t>
            </a:r>
          </a:p>
        </p:txBody>
      </p:sp>
      <p:sp>
        <p:nvSpPr>
          <p:cNvPr id="5" name="内容占位符 4"/>
          <p:cNvSpPr>
            <a:spLocks noGrp="1"/>
          </p:cNvSpPr>
          <p:nvPr>
            <p:ph sz="quarter" idx="10"/>
          </p:nvPr>
        </p:nvSpPr>
        <p:spPr>
          <a:xfrm>
            <a:off x="612000" y="899999"/>
            <a:ext cx="7920000" cy="3780000"/>
          </a:xfrm>
        </p:spPr>
        <p:txBody>
          <a:bodyPr/>
          <a:lstStyle/>
          <a:p>
            <a:r>
              <a:rPr lang="en-US" altLang="zh-CN" dirty="0"/>
              <a:t>1996 </a:t>
            </a:r>
            <a:r>
              <a:rPr lang="zh-CN" altLang="en-US" dirty="0"/>
              <a:t>年，张朝阳创立了爱特信公司</a:t>
            </a:r>
            <a:endParaRPr lang="en-US" altLang="zh-CN" dirty="0"/>
          </a:p>
          <a:p>
            <a:pPr lvl="1"/>
            <a:r>
              <a:rPr lang="zh-CN" altLang="en-US" dirty="0"/>
              <a:t>中国第一家以风险投资资金建立的互联网公司</a:t>
            </a:r>
            <a:endParaRPr lang="en-US" altLang="zh-CN" dirty="0"/>
          </a:p>
          <a:p>
            <a:pPr lvl="1"/>
            <a:r>
              <a:rPr lang="zh-CN" altLang="en-US" dirty="0"/>
              <a:t>两年后，更名为搜狐公司</a:t>
            </a:r>
            <a:r>
              <a:rPr lang="en-US" altLang="zh-CN" dirty="0"/>
              <a:t>(Sohu)</a:t>
            </a:r>
          </a:p>
          <a:p>
            <a:pPr lvl="1"/>
            <a:r>
              <a:rPr lang="zh-CN" altLang="en-US" dirty="0"/>
              <a:t>搜狐网站</a:t>
            </a:r>
            <a:r>
              <a:rPr lang="en-US" altLang="zh-CN" dirty="0"/>
              <a:t>(Sohu.com)</a:t>
            </a:r>
            <a:r>
              <a:rPr lang="zh-CN" altLang="en-US" dirty="0"/>
              <a:t>是中国首家大型分类查询搜索引擎</a:t>
            </a:r>
            <a:endParaRPr lang="en-US" altLang="zh-CN" dirty="0"/>
          </a:p>
          <a:p>
            <a:r>
              <a:rPr lang="en-US" altLang="zh-CN" dirty="0"/>
              <a:t>1997 </a:t>
            </a:r>
            <a:r>
              <a:rPr lang="zh-CN" altLang="en-US" dirty="0"/>
              <a:t>年，丁磊创立了网易公司</a:t>
            </a:r>
            <a:r>
              <a:rPr lang="en-US" altLang="zh-CN" dirty="0"/>
              <a:t>(NetEase)</a:t>
            </a:r>
          </a:p>
          <a:p>
            <a:pPr lvl="1"/>
            <a:r>
              <a:rPr lang="zh-CN" altLang="en-US" dirty="0"/>
              <a:t>中国第一家中文全文搜索引擎</a:t>
            </a:r>
            <a:endParaRPr lang="en-US" altLang="zh-CN" dirty="0"/>
          </a:p>
          <a:p>
            <a:pPr lvl="1"/>
            <a:r>
              <a:rPr lang="zh-CN" altLang="en-US" dirty="0"/>
              <a:t>超大容量免费邮箱（如</a:t>
            </a:r>
            <a:r>
              <a:rPr lang="en-US" altLang="zh-CN" dirty="0"/>
              <a:t>163</a:t>
            </a:r>
            <a:r>
              <a:rPr lang="zh-CN" altLang="en-US" dirty="0"/>
              <a:t>和</a:t>
            </a:r>
            <a:r>
              <a:rPr lang="en-US" altLang="zh-CN" dirty="0"/>
              <a:t>126</a:t>
            </a:r>
            <a:r>
              <a:rPr lang="zh-CN" altLang="en-US" dirty="0"/>
              <a:t>等）</a:t>
            </a:r>
            <a:endParaRPr lang="en-US" altLang="zh-CN" dirty="0"/>
          </a:p>
          <a:p>
            <a:r>
              <a:rPr lang="en-US" altLang="zh-CN" dirty="0"/>
              <a:t>1998 </a:t>
            </a:r>
            <a:r>
              <a:rPr lang="zh-CN" altLang="en-US" dirty="0"/>
              <a:t>年，王志东创立新浪网站</a:t>
            </a:r>
            <a:r>
              <a:rPr lang="en-US" altLang="zh-CN" dirty="0"/>
              <a:t>(Sina.com )</a:t>
            </a:r>
            <a:r>
              <a:rPr lang="zh-CN" altLang="en-US" dirty="0"/>
              <a:t> </a:t>
            </a:r>
            <a:endParaRPr lang="en-US" altLang="zh-CN" dirty="0"/>
          </a:p>
          <a:p>
            <a:pPr lvl="1"/>
            <a:r>
              <a:rPr lang="zh-CN" altLang="en-US" dirty="0"/>
              <a:t>新浪的微博是全球使用最多的微博之一</a:t>
            </a:r>
          </a:p>
        </p:txBody>
      </p:sp>
    </p:spTree>
    <p:extLst>
      <p:ext uri="{BB962C8B-B14F-4D97-AF65-F5344CB8AC3E}">
        <p14:creationId xmlns:p14="http://schemas.microsoft.com/office/powerpoint/2010/main" val="99605822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EDA4951-2092-FDF3-50A1-AAAA59E5DEAD}"/>
              </a:ext>
            </a:extLst>
          </p:cNvPr>
          <p:cNvSpPr>
            <a:spLocks noGrp="1"/>
          </p:cNvSpPr>
          <p:nvPr>
            <p:ph type="title"/>
          </p:nvPr>
        </p:nvSpPr>
        <p:spPr>
          <a:xfrm>
            <a:off x="612000" y="144000"/>
            <a:ext cx="7920000" cy="341632"/>
          </a:xfrm>
        </p:spPr>
        <p:txBody>
          <a:bodyPr/>
          <a:lstStyle/>
          <a:p>
            <a:r>
              <a:rPr lang="zh-CN" altLang="en-US" dirty="0"/>
              <a:t>对我国互联网事业发展影响较大的人物和事件</a:t>
            </a:r>
          </a:p>
        </p:txBody>
      </p:sp>
      <p:sp>
        <p:nvSpPr>
          <p:cNvPr id="5" name="内容占位符 4"/>
          <p:cNvSpPr>
            <a:spLocks noGrp="1"/>
          </p:cNvSpPr>
          <p:nvPr>
            <p:ph sz="quarter" idx="10"/>
          </p:nvPr>
        </p:nvSpPr>
        <p:spPr>
          <a:xfrm>
            <a:off x="612000" y="899999"/>
            <a:ext cx="7920000" cy="3780000"/>
          </a:xfrm>
        </p:spPr>
        <p:txBody>
          <a:bodyPr>
            <a:normAutofit/>
          </a:bodyPr>
          <a:lstStyle/>
          <a:p>
            <a:r>
              <a:rPr lang="en-US" altLang="zh-CN" dirty="0"/>
              <a:t>1998 </a:t>
            </a:r>
            <a:r>
              <a:rPr lang="zh-CN" altLang="en-US" dirty="0"/>
              <a:t>年，马化腾、张志东创立腾讯公司 </a:t>
            </a:r>
            <a:r>
              <a:rPr lang="en-US" altLang="zh-CN" dirty="0"/>
              <a:t>Tencent</a:t>
            </a:r>
          </a:p>
          <a:p>
            <a:r>
              <a:rPr lang="en-US" altLang="zh-CN" dirty="0"/>
              <a:t>1999 </a:t>
            </a:r>
            <a:r>
              <a:rPr lang="zh-CN" altLang="en-US" dirty="0"/>
              <a:t>年，腾讯就推出用在 </a:t>
            </a:r>
            <a:r>
              <a:rPr lang="en-US" altLang="zh-CN" dirty="0"/>
              <a:t>PC </a:t>
            </a:r>
            <a:r>
              <a:rPr lang="zh-CN" altLang="en-US" dirty="0"/>
              <a:t>上的即时通信软件 </a:t>
            </a:r>
            <a:r>
              <a:rPr lang="en-US" altLang="zh-CN" dirty="0"/>
              <a:t>OICQ</a:t>
            </a:r>
            <a:r>
              <a:rPr lang="zh-CN" altLang="en-US" dirty="0"/>
              <a:t>，后改名 </a:t>
            </a:r>
            <a:r>
              <a:rPr lang="en-US" altLang="zh-CN" dirty="0"/>
              <a:t>QQ</a:t>
            </a:r>
          </a:p>
          <a:p>
            <a:r>
              <a:rPr lang="en-US" altLang="zh-CN" dirty="0"/>
              <a:t>1999 </a:t>
            </a:r>
            <a:r>
              <a:rPr lang="zh-CN" altLang="en-US" dirty="0"/>
              <a:t>年，马云创建阿里巴巴网站 </a:t>
            </a:r>
            <a:r>
              <a:rPr lang="en-US" altLang="zh-CN" dirty="0"/>
              <a:t>Alibaba.com</a:t>
            </a:r>
          </a:p>
          <a:p>
            <a:r>
              <a:rPr lang="en-US" altLang="zh-CN" dirty="0"/>
              <a:t>2000 </a:t>
            </a:r>
            <a:r>
              <a:rPr lang="zh-CN" altLang="en-US" dirty="0"/>
              <a:t>年，李彦宏和徐勇创建百度网站 </a:t>
            </a:r>
            <a:r>
              <a:rPr lang="en-US" altLang="zh-CN" dirty="0"/>
              <a:t>Baidu.com</a:t>
            </a:r>
            <a:r>
              <a:rPr lang="zh-CN" altLang="en-US" dirty="0"/>
              <a:t>，现在已成为全球最大的中文搜索引擎</a:t>
            </a:r>
            <a:endParaRPr lang="en-US" altLang="zh-CN" dirty="0"/>
          </a:p>
          <a:p>
            <a:r>
              <a:rPr lang="en-US" altLang="zh-CN" dirty="0"/>
              <a:t>2003 </a:t>
            </a:r>
            <a:r>
              <a:rPr lang="zh-CN" altLang="en-US" dirty="0"/>
              <a:t>年，马云创立个人网上贸易市场平台</a:t>
            </a:r>
            <a:r>
              <a:rPr lang="en-US" altLang="zh-CN" dirty="0"/>
              <a:t>-</a:t>
            </a:r>
            <a:r>
              <a:rPr lang="zh-CN" altLang="en-US" dirty="0"/>
              <a:t>淘宝网 </a:t>
            </a:r>
            <a:r>
              <a:rPr lang="en-US" altLang="zh-CN" dirty="0"/>
              <a:t>Taobao.com</a:t>
            </a:r>
          </a:p>
          <a:p>
            <a:r>
              <a:rPr lang="en-US" altLang="zh-CN" dirty="0"/>
              <a:t>2004 </a:t>
            </a:r>
            <a:r>
              <a:rPr lang="zh-CN" altLang="en-US" dirty="0"/>
              <a:t>年，阿里巴巴集团创立了第三方支付平台</a:t>
            </a:r>
            <a:r>
              <a:rPr lang="en-US" altLang="zh-CN" dirty="0"/>
              <a:t>-</a:t>
            </a:r>
            <a:r>
              <a:rPr lang="zh-CN" altLang="en-US" dirty="0"/>
              <a:t>支付宝 </a:t>
            </a:r>
            <a:r>
              <a:rPr lang="en-US" altLang="zh-CN" dirty="0"/>
              <a:t>Alipay.com</a:t>
            </a:r>
          </a:p>
          <a:p>
            <a:r>
              <a:rPr lang="en-US" altLang="zh-CN" dirty="0"/>
              <a:t>2011 </a:t>
            </a:r>
            <a:r>
              <a:rPr lang="zh-CN" altLang="en-US" dirty="0"/>
              <a:t>年，腾讯推出了专门供智能手机使用的即时通信软件</a:t>
            </a:r>
            <a:r>
              <a:rPr lang="en-US" altLang="zh-CN" dirty="0"/>
              <a:t>-</a:t>
            </a:r>
            <a:r>
              <a:rPr lang="zh-CN" altLang="en-US" dirty="0"/>
              <a:t>微信 </a:t>
            </a:r>
            <a:r>
              <a:rPr lang="en-US" altLang="zh-CN" dirty="0"/>
              <a:t>WeChat</a:t>
            </a:r>
          </a:p>
          <a:p>
            <a:endParaRPr lang="zh-CN" altLang="en-US" dirty="0"/>
          </a:p>
        </p:txBody>
      </p:sp>
    </p:spTree>
    <p:extLst>
      <p:ext uri="{BB962C8B-B14F-4D97-AF65-F5344CB8AC3E}">
        <p14:creationId xmlns:p14="http://schemas.microsoft.com/office/powerpoint/2010/main" val="25784890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Line 16"/>
          <p:cNvSpPr>
            <a:spLocks noChangeShapeType="1"/>
          </p:cNvSpPr>
          <p:nvPr/>
        </p:nvSpPr>
        <p:spPr bwMode="auto">
          <a:xfrm>
            <a:off x="3636963" y="1271910"/>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3" name="标题 2">
            <a:extLst>
              <a:ext uri="{FF2B5EF4-FFF2-40B4-BE49-F238E27FC236}">
                <a16:creationId xmlns:a16="http://schemas.microsoft.com/office/drawing/2014/main" id="{F6E2F4A7-86B5-3A67-53AF-8F21A5B9FDC2}"/>
              </a:ext>
            </a:extLst>
          </p:cNvPr>
          <p:cNvSpPr>
            <a:spLocks noGrp="1"/>
          </p:cNvSpPr>
          <p:nvPr>
            <p:ph type="title"/>
          </p:nvPr>
        </p:nvSpPr>
        <p:spPr>
          <a:xfrm>
            <a:off x="3873500" y="1290318"/>
            <a:ext cx="4320000" cy="341632"/>
          </a:xfrm>
        </p:spPr>
        <p:txBody>
          <a:bodyPr/>
          <a:lstStyle/>
          <a:p>
            <a:r>
              <a:rPr lang="fr-FR" altLang="zh-CN" dirty="0"/>
              <a:t>1.5 </a:t>
            </a:r>
            <a:r>
              <a:rPr lang="zh-CN" altLang="zh-CN" dirty="0"/>
              <a:t>计算机网络的类别</a:t>
            </a:r>
            <a:endParaRPr lang="zh-CN" altLang="en-US" dirty="0"/>
          </a:p>
        </p:txBody>
      </p:sp>
      <p:sp>
        <p:nvSpPr>
          <p:cNvPr id="6" name="文本占位符 5">
            <a:extLst>
              <a:ext uri="{FF2B5EF4-FFF2-40B4-BE49-F238E27FC236}">
                <a16:creationId xmlns:a16="http://schemas.microsoft.com/office/drawing/2014/main" id="{A01C4BEA-2FA3-D027-990F-37293A1EA416}"/>
              </a:ext>
            </a:extLst>
          </p:cNvPr>
          <p:cNvSpPr>
            <a:spLocks noGrp="1"/>
          </p:cNvSpPr>
          <p:nvPr>
            <p:ph type="body" sz="quarter" idx="10"/>
          </p:nvPr>
        </p:nvSpPr>
        <p:spPr>
          <a:xfrm>
            <a:off x="3873500" y="1631950"/>
            <a:ext cx="4320000" cy="1803400"/>
          </a:xfrm>
        </p:spPr>
        <p:txBody>
          <a:bodyPr/>
          <a:lstStyle/>
          <a:p>
            <a:r>
              <a:rPr lang="en-US" altLang="zh-CN" dirty="0"/>
              <a:t>1.5.1 </a:t>
            </a:r>
            <a:r>
              <a:rPr lang="zh-CN" altLang="zh-CN" dirty="0"/>
              <a:t>计算机网络的定义</a:t>
            </a:r>
            <a:endParaRPr lang="en-US" altLang="zh-CN" dirty="0"/>
          </a:p>
          <a:p>
            <a:r>
              <a:rPr lang="en-US" altLang="zh-CN" dirty="0"/>
              <a:t>1.5.2 </a:t>
            </a:r>
            <a:r>
              <a:rPr lang="zh-CN" altLang="zh-CN" dirty="0"/>
              <a:t>几种不同类别的</a:t>
            </a:r>
            <a:r>
              <a:rPr lang="zh-CN" altLang="en-US" dirty="0"/>
              <a:t>计算机</a:t>
            </a:r>
            <a:r>
              <a:rPr lang="zh-CN" altLang="zh-CN" dirty="0"/>
              <a:t>网络</a:t>
            </a:r>
          </a:p>
          <a:p>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AACFB25-23F2-2FE4-29FE-4CEFB0DF35A4}"/>
              </a:ext>
            </a:extLst>
          </p:cNvPr>
          <p:cNvSpPr>
            <a:spLocks noGrp="1"/>
          </p:cNvSpPr>
          <p:nvPr>
            <p:ph type="title"/>
          </p:nvPr>
        </p:nvSpPr>
        <p:spPr>
          <a:xfrm>
            <a:off x="612000" y="144000"/>
            <a:ext cx="7920000" cy="341632"/>
          </a:xfrm>
        </p:spPr>
        <p:txBody>
          <a:bodyPr/>
          <a:lstStyle/>
          <a:p>
            <a:r>
              <a:rPr lang="en-US" altLang="zh-CN" dirty="0"/>
              <a:t>1.5.1  </a:t>
            </a:r>
            <a:r>
              <a:rPr lang="zh-CN" altLang="en-US" dirty="0"/>
              <a:t>计算机网络的定义</a:t>
            </a:r>
          </a:p>
        </p:txBody>
      </p:sp>
      <p:sp>
        <p:nvSpPr>
          <p:cNvPr id="3" name="内容占位符 2"/>
          <p:cNvSpPr>
            <a:spLocks noGrp="1"/>
          </p:cNvSpPr>
          <p:nvPr>
            <p:ph sz="quarter" idx="10"/>
          </p:nvPr>
        </p:nvSpPr>
        <p:spPr>
          <a:xfrm>
            <a:off x="612000" y="899999"/>
            <a:ext cx="7920000" cy="3780000"/>
          </a:xfrm>
        </p:spPr>
        <p:txBody>
          <a:bodyPr/>
          <a:lstStyle/>
          <a:p>
            <a:r>
              <a:rPr lang="zh-CN" altLang="en-US" dirty="0"/>
              <a:t>计算机网络的精确定义并未统一</a:t>
            </a:r>
            <a:endParaRPr lang="en-US" altLang="zh-CN" dirty="0"/>
          </a:p>
          <a:p>
            <a:r>
              <a:rPr lang="zh-CN" altLang="en-US" dirty="0"/>
              <a:t>较好的定义</a:t>
            </a:r>
          </a:p>
          <a:p>
            <a:endParaRPr lang="zh-CN" altLang="en-US" dirty="0"/>
          </a:p>
        </p:txBody>
      </p:sp>
      <p:sp>
        <p:nvSpPr>
          <p:cNvPr id="4" name="矩形 3"/>
          <p:cNvSpPr/>
          <p:nvPr/>
        </p:nvSpPr>
        <p:spPr>
          <a:xfrm>
            <a:off x="2232000" y="1926007"/>
            <a:ext cx="4680000" cy="1400383"/>
          </a:xfrm>
          <a:prstGeom prst="rect">
            <a:avLst/>
          </a:prstGeom>
          <a:solidFill>
            <a:srgbClr val="F2F2F2"/>
          </a:solidFill>
          <a:ln>
            <a:noFill/>
          </a:ln>
        </p:spPr>
        <p:style>
          <a:lnRef idx="1">
            <a:schemeClr val="accent6"/>
          </a:lnRef>
          <a:fillRef idx="2">
            <a:schemeClr val="accent6"/>
          </a:fillRef>
          <a:effectRef idx="1">
            <a:schemeClr val="accent6"/>
          </a:effectRef>
          <a:fontRef idx="minor">
            <a:schemeClr val="dk1"/>
          </a:fontRef>
        </p:style>
        <p:txBody>
          <a:bodyPr wrap="square">
            <a:spAutoFit/>
          </a:bodyPr>
          <a:lstStyle/>
          <a:p>
            <a:pPr>
              <a:spcAft>
                <a:spcPts val="600"/>
              </a:spcAft>
            </a:pPr>
            <a:r>
              <a:rPr lang="zh-CN" altLang="en-US" sz="1600" dirty="0">
                <a:solidFill>
                  <a:schemeClr val="tx1"/>
                </a:solidFill>
              </a:rPr>
              <a:t>计算机网络主要是由一些通用的、可编程的硬件互连而成的，而这些硬件并非专门用来实现某一特定目的（例如，传送数据或视频信号）。</a:t>
            </a:r>
            <a:endParaRPr lang="en-US" altLang="zh-CN" sz="1600" dirty="0">
              <a:solidFill>
                <a:schemeClr val="tx1"/>
              </a:solidFill>
            </a:endParaRPr>
          </a:p>
          <a:p>
            <a:pPr>
              <a:spcAft>
                <a:spcPts val="600"/>
              </a:spcAft>
            </a:pPr>
            <a:r>
              <a:rPr lang="zh-CN" altLang="en-US" sz="1600" dirty="0">
                <a:solidFill>
                  <a:schemeClr val="tx1"/>
                </a:solidFill>
              </a:rPr>
              <a:t>这些可编程的硬件能够用来传送多种不同类型的数据，并能支持广泛的和日益增长的应用。</a:t>
            </a:r>
          </a:p>
        </p:txBody>
      </p:sp>
    </p:spTree>
    <p:extLst>
      <p:ext uri="{BB962C8B-B14F-4D97-AF65-F5344CB8AC3E}">
        <p14:creationId xmlns:p14="http://schemas.microsoft.com/office/powerpoint/2010/main" val="34667470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68FA28B-5035-EEDC-FFF1-9B1ED5D61886}"/>
              </a:ext>
            </a:extLst>
          </p:cNvPr>
          <p:cNvSpPr>
            <a:spLocks noGrp="1"/>
          </p:cNvSpPr>
          <p:nvPr>
            <p:ph type="title"/>
          </p:nvPr>
        </p:nvSpPr>
        <p:spPr>
          <a:xfrm>
            <a:off x="612000" y="144000"/>
            <a:ext cx="7920000" cy="341632"/>
          </a:xfrm>
        </p:spPr>
        <p:txBody>
          <a:bodyPr/>
          <a:lstStyle/>
          <a:p>
            <a:r>
              <a:rPr lang="en-US" altLang="zh-CN" dirty="0"/>
              <a:t>1.5.1  </a:t>
            </a:r>
            <a:r>
              <a:rPr lang="zh-CN" altLang="en-US" dirty="0"/>
              <a:t>计算机网络的定义</a:t>
            </a:r>
          </a:p>
        </p:txBody>
      </p:sp>
      <p:sp>
        <p:nvSpPr>
          <p:cNvPr id="4" name="内容占位符 3"/>
          <p:cNvSpPr>
            <a:spLocks noGrp="1"/>
          </p:cNvSpPr>
          <p:nvPr>
            <p:ph sz="quarter" idx="10"/>
          </p:nvPr>
        </p:nvSpPr>
        <p:spPr>
          <a:xfrm>
            <a:off x="612000" y="899999"/>
            <a:ext cx="7920000" cy="3780000"/>
          </a:xfrm>
        </p:spPr>
        <p:txBody>
          <a:bodyPr/>
          <a:lstStyle/>
          <a:p>
            <a:r>
              <a:rPr lang="zh-CN" altLang="en-US" dirty="0"/>
              <a:t>“可编程的硬件”表明：这种硬件一定包含有中央处理器 </a:t>
            </a:r>
            <a:r>
              <a:rPr lang="en-US" altLang="zh-CN" dirty="0"/>
              <a:t>CPU</a:t>
            </a:r>
          </a:p>
          <a:p>
            <a:r>
              <a:rPr lang="zh-CN" altLang="en-US" dirty="0"/>
              <a:t>计算机网络所连接的硬件包括：</a:t>
            </a:r>
            <a:endParaRPr lang="en-US" altLang="zh-CN" dirty="0"/>
          </a:p>
          <a:p>
            <a:pPr lvl="1"/>
            <a:r>
              <a:rPr lang="zh-CN" altLang="en-US" dirty="0"/>
              <a:t>一般的计算机</a:t>
            </a:r>
            <a:endParaRPr lang="en-US" altLang="zh-CN" dirty="0"/>
          </a:p>
          <a:p>
            <a:pPr lvl="1"/>
            <a:r>
              <a:rPr lang="zh-CN" altLang="en-US" dirty="0"/>
              <a:t>智能手机、电视等</a:t>
            </a:r>
          </a:p>
          <a:p>
            <a:r>
              <a:rPr lang="zh-CN" altLang="en-US" dirty="0"/>
              <a:t>计算机网络可以</a:t>
            </a:r>
            <a:endParaRPr lang="en-US" altLang="zh-CN" dirty="0"/>
          </a:p>
          <a:p>
            <a:pPr lvl="1"/>
            <a:r>
              <a:rPr lang="zh-CN" altLang="en-US" dirty="0"/>
              <a:t>传送数据</a:t>
            </a:r>
            <a:endParaRPr lang="en-US" altLang="zh-CN" dirty="0"/>
          </a:p>
          <a:p>
            <a:pPr lvl="1"/>
            <a:r>
              <a:rPr lang="zh-CN" altLang="en-US" dirty="0"/>
              <a:t>支持多种应用（包括今后可能出现的各种应用）</a:t>
            </a:r>
          </a:p>
          <a:p>
            <a:endParaRPr lang="zh-CN" altLang="en-US" dirty="0"/>
          </a:p>
        </p:txBody>
      </p:sp>
    </p:spTree>
    <p:extLst>
      <p:ext uri="{BB962C8B-B14F-4D97-AF65-F5344CB8AC3E}">
        <p14:creationId xmlns:p14="http://schemas.microsoft.com/office/powerpoint/2010/main" val="1018350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9BD6E07-C9CC-4FF6-1B94-0D6EFAEC54F9}"/>
              </a:ext>
            </a:extLst>
          </p:cNvPr>
          <p:cNvSpPr>
            <a:spLocks noGrp="1"/>
          </p:cNvSpPr>
          <p:nvPr>
            <p:ph type="title"/>
          </p:nvPr>
        </p:nvSpPr>
        <p:spPr>
          <a:xfrm>
            <a:off x="612000" y="144000"/>
            <a:ext cx="7920000" cy="341632"/>
          </a:xfrm>
        </p:spPr>
        <p:txBody>
          <a:bodyPr/>
          <a:lstStyle/>
          <a:p>
            <a:r>
              <a:rPr lang="en-US" altLang="zh-CN" dirty="0"/>
              <a:t>1.5.2  </a:t>
            </a:r>
            <a:r>
              <a:rPr lang="zh-CN" altLang="en-US" dirty="0"/>
              <a:t>几种不同类别的计算机网络</a:t>
            </a:r>
          </a:p>
        </p:txBody>
      </p:sp>
      <p:sp>
        <p:nvSpPr>
          <p:cNvPr id="5" name="内容占位符 4"/>
          <p:cNvSpPr>
            <a:spLocks noGrp="1"/>
          </p:cNvSpPr>
          <p:nvPr>
            <p:ph sz="quarter" idx="10"/>
          </p:nvPr>
        </p:nvSpPr>
        <p:spPr>
          <a:xfrm>
            <a:off x="612000" y="899999"/>
            <a:ext cx="7920000" cy="3780000"/>
          </a:xfrm>
        </p:spPr>
        <p:txBody>
          <a:bodyPr/>
          <a:lstStyle/>
          <a:p>
            <a:r>
              <a:rPr lang="zh-CN" altLang="en-US" dirty="0"/>
              <a:t>计算机网络有多种类别</a:t>
            </a:r>
            <a:endParaRPr lang="en-US" altLang="zh-CN" dirty="0"/>
          </a:p>
          <a:p>
            <a:r>
              <a:rPr lang="zh-CN" altLang="en-US" dirty="0"/>
              <a:t>可以按以下方法分类：</a:t>
            </a:r>
          </a:p>
          <a:p>
            <a:pPr lvl="1"/>
            <a:r>
              <a:rPr lang="zh-CN" altLang="en-US" dirty="0"/>
              <a:t>按照网络的作用范围进行分类</a:t>
            </a:r>
          </a:p>
          <a:p>
            <a:pPr lvl="1"/>
            <a:r>
              <a:rPr lang="zh-CN" altLang="en-US" dirty="0"/>
              <a:t>按照网络的使用者进行分类</a:t>
            </a:r>
          </a:p>
          <a:p>
            <a:pPr lvl="1"/>
            <a:r>
              <a:rPr lang="zh-CN" altLang="en-US" dirty="0"/>
              <a:t>用来把用户接入到互联网的网络</a:t>
            </a:r>
          </a:p>
          <a:p>
            <a:endParaRPr lang="zh-CN" altLang="en-US" dirty="0"/>
          </a:p>
        </p:txBody>
      </p:sp>
    </p:spTree>
    <p:extLst>
      <p:ext uri="{BB962C8B-B14F-4D97-AF65-F5344CB8AC3E}">
        <p14:creationId xmlns:p14="http://schemas.microsoft.com/office/powerpoint/2010/main" val="40562084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90BD393-156A-4E74-9ACB-B3F23EF62207}"/>
              </a:ext>
            </a:extLst>
          </p:cNvPr>
          <p:cNvSpPr>
            <a:spLocks noGrp="1"/>
          </p:cNvSpPr>
          <p:nvPr>
            <p:ph type="title"/>
          </p:nvPr>
        </p:nvSpPr>
        <p:spPr>
          <a:xfrm>
            <a:off x="612000" y="144000"/>
            <a:ext cx="7920000" cy="341632"/>
          </a:xfrm>
        </p:spPr>
        <p:txBody>
          <a:bodyPr/>
          <a:lstStyle/>
          <a:p>
            <a:r>
              <a:rPr lang="en-US" altLang="zh-CN" dirty="0"/>
              <a:t>1. </a:t>
            </a:r>
            <a:r>
              <a:rPr lang="zh-CN" altLang="en-US" dirty="0"/>
              <a:t>按照网络的作用范围进行分类</a:t>
            </a:r>
          </a:p>
        </p:txBody>
      </p:sp>
      <p:graphicFrame>
        <p:nvGraphicFramePr>
          <p:cNvPr id="13" name="内容占位符 5"/>
          <p:cNvGraphicFramePr>
            <a:graphicFrameLocks/>
          </p:cNvGraphicFramePr>
          <p:nvPr>
            <p:extLst>
              <p:ext uri="{D42A27DB-BD31-4B8C-83A1-F6EECF244321}">
                <p14:modId xmlns:p14="http://schemas.microsoft.com/office/powerpoint/2010/main" val="188418921"/>
              </p:ext>
            </p:extLst>
          </p:nvPr>
        </p:nvGraphicFramePr>
        <p:xfrm>
          <a:off x="612775" y="1467044"/>
          <a:ext cx="7918450" cy="2834640"/>
        </p:xfrm>
        <a:graphic>
          <a:graphicData uri="http://schemas.openxmlformats.org/drawingml/2006/table">
            <a:tbl>
              <a:tblPr firstRow="1" bandRow="1" bandCol="1">
                <a:tableStyleId>{5940675A-B579-460E-94D1-54222C63F5DA}</a:tableStyleId>
              </a:tblPr>
              <a:tblGrid>
                <a:gridCol w="2842401">
                  <a:extLst>
                    <a:ext uri="{9D8B030D-6E8A-4147-A177-3AD203B41FA5}">
                      <a16:colId xmlns:a16="http://schemas.microsoft.com/office/drawing/2014/main" val="2752561288"/>
                    </a:ext>
                  </a:extLst>
                </a:gridCol>
                <a:gridCol w="5076049">
                  <a:extLst>
                    <a:ext uri="{9D8B030D-6E8A-4147-A177-3AD203B41FA5}">
                      <a16:colId xmlns:a16="http://schemas.microsoft.com/office/drawing/2014/main" val="1271823278"/>
                    </a:ext>
                  </a:extLst>
                </a:gridCol>
              </a:tblGrid>
              <a:tr h="0">
                <a:tc>
                  <a:txBody>
                    <a:bodyPr/>
                    <a:lstStyle/>
                    <a:p>
                      <a:pPr algn="l"/>
                      <a:r>
                        <a:rPr lang="zh-CN" altLang="en-US" sz="1200" dirty="0"/>
                        <a:t>类别</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作用范围或距离</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3287312"/>
                  </a:ext>
                </a:extLst>
              </a:tr>
              <a:tr h="249450">
                <a:tc>
                  <a:txBody>
                    <a:bodyPr/>
                    <a:lstStyle/>
                    <a:p>
                      <a:pPr algn="l"/>
                      <a:r>
                        <a:rPr lang="zh-CN" altLang="en-US" sz="1200" dirty="0"/>
                        <a:t>广域网</a:t>
                      </a:r>
                      <a:endParaRPr lang="en-US" altLang="zh-CN" sz="1200" dirty="0"/>
                    </a:p>
                    <a:p>
                      <a:pPr algn="l"/>
                      <a:r>
                        <a:rPr lang="en-US" altLang="zh-CN" sz="1200" dirty="0"/>
                        <a:t>WAN </a:t>
                      </a:r>
                    </a:p>
                    <a:p>
                      <a:pPr algn="l"/>
                      <a:r>
                        <a:rPr lang="en-US" altLang="zh-CN" sz="1200" dirty="0"/>
                        <a:t>Wide Area Network</a:t>
                      </a:r>
                      <a:endParaRPr lang="zh-CN" altLang="en-US" sz="1200" dirty="0"/>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通常为几十到几千公里；有时也称为远程网</a:t>
                      </a:r>
                      <a:r>
                        <a:rPr lang="en-US" altLang="zh-CN" sz="1200" dirty="0"/>
                        <a:t>(long haul network)</a:t>
                      </a:r>
                    </a:p>
                    <a:p>
                      <a:pPr algn="l"/>
                      <a:r>
                        <a:rPr lang="zh-CN" altLang="en-US" sz="1200" dirty="0"/>
                        <a:t>是互联网的核心部分</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1952148"/>
                  </a:ext>
                </a:extLst>
              </a:tr>
              <a:tr h="249450">
                <a:tc>
                  <a:txBody>
                    <a:bodyPr/>
                    <a:lstStyle/>
                    <a:p>
                      <a:pPr algn="l"/>
                      <a:r>
                        <a:rPr lang="zh-CN" altLang="en-US" sz="1200" dirty="0"/>
                        <a:t>城域网</a:t>
                      </a:r>
                      <a:endParaRPr lang="en-US" altLang="zh-CN" sz="1200" dirty="0"/>
                    </a:p>
                    <a:p>
                      <a:pPr algn="l"/>
                      <a:r>
                        <a:rPr lang="en-US" altLang="zh-CN" sz="1200" dirty="0"/>
                        <a:t>MAN </a:t>
                      </a:r>
                    </a:p>
                    <a:p>
                      <a:pPr algn="l"/>
                      <a:r>
                        <a:rPr lang="en-US" altLang="zh-CN" sz="1200" dirty="0"/>
                        <a:t>Metropolitan Area Network</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作用范围一般是一个城市，作用距离约为 </a:t>
                      </a:r>
                      <a:r>
                        <a:rPr lang="en-US" altLang="zh-CN" sz="1200" dirty="0"/>
                        <a:t>5~50 Km</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436720"/>
                  </a:ext>
                </a:extLst>
              </a:tr>
              <a:tr h="249450">
                <a:tc>
                  <a:txBody>
                    <a:bodyPr/>
                    <a:lstStyle/>
                    <a:p>
                      <a:pPr marL="0" algn="l" defTabSz="914400" rtl="0" eaLnBrk="1" latinLnBrk="0" hangingPunct="1"/>
                      <a:r>
                        <a:rPr lang="zh-CN" altLang="en-US" sz="1200" dirty="0"/>
                        <a:t>局域网</a:t>
                      </a:r>
                      <a:endParaRPr lang="en-US" altLang="zh-CN" sz="1200" dirty="0"/>
                    </a:p>
                    <a:p>
                      <a:pPr marL="0" algn="l" defTabSz="914400" rtl="0" eaLnBrk="1" latinLnBrk="0" hangingPunct="1"/>
                      <a:r>
                        <a:rPr lang="en-US" altLang="zh-CN" sz="1200" dirty="0"/>
                        <a:t>LAN </a:t>
                      </a:r>
                    </a:p>
                    <a:p>
                      <a:pPr algn="l"/>
                      <a:r>
                        <a:rPr lang="en-US" altLang="zh-CN" sz="1200" dirty="0"/>
                        <a:t>Local Area Network</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局限在较小的范围（如 </a:t>
                      </a:r>
                      <a:r>
                        <a:rPr lang="en-US" altLang="zh-CN" sz="1200" dirty="0"/>
                        <a:t>1 Km</a:t>
                      </a:r>
                      <a:r>
                        <a:rPr lang="zh-CN" altLang="en-US" sz="1200" dirty="0"/>
                        <a:t>左右）</a:t>
                      </a:r>
                      <a:endParaRPr lang="en-US" altLang="zh-CN" sz="1200" dirty="0"/>
                    </a:p>
                    <a:p>
                      <a:pPr algn="l"/>
                      <a:r>
                        <a:rPr lang="zh-CN" altLang="en-US" sz="1200" dirty="0"/>
                        <a:t>通常采用高速通信线路</a:t>
                      </a:r>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2654821"/>
                  </a:ext>
                </a:extLst>
              </a:tr>
              <a:tr h="249450">
                <a:tc>
                  <a:txBody>
                    <a:bodyPr/>
                    <a:lstStyle/>
                    <a:p>
                      <a:pPr algn="l"/>
                      <a:r>
                        <a:rPr lang="zh-CN" altLang="en-US" sz="1200" dirty="0"/>
                        <a:t>个域网</a:t>
                      </a:r>
                      <a:endParaRPr lang="en-US" altLang="zh-CN" sz="1200" dirty="0"/>
                    </a:p>
                    <a:p>
                      <a:pPr algn="l"/>
                      <a:r>
                        <a:rPr lang="en-US" altLang="zh-CN" sz="1200" dirty="0"/>
                        <a:t>PAN </a:t>
                      </a:r>
                    </a:p>
                    <a:p>
                      <a:pPr algn="l"/>
                      <a:r>
                        <a:rPr lang="en-US" altLang="zh-CN" sz="1200" dirty="0"/>
                        <a:t>Personal Area Network</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范围很小，大约在 </a:t>
                      </a:r>
                      <a:r>
                        <a:rPr lang="en-US" altLang="zh-CN" sz="1200" dirty="0"/>
                        <a:t>10 m</a:t>
                      </a:r>
                      <a:r>
                        <a:rPr lang="zh-CN" altLang="en-US" sz="1200" dirty="0"/>
                        <a:t>左右</a:t>
                      </a:r>
                      <a:endParaRPr lang="en-US" altLang="zh-CN" sz="1200" dirty="0"/>
                    </a:p>
                    <a:p>
                      <a:pPr algn="l"/>
                      <a:r>
                        <a:rPr lang="zh-CN" altLang="en-US" sz="1200" dirty="0"/>
                        <a:t>有时也称为无线个人区域网 </a:t>
                      </a:r>
                      <a:r>
                        <a:rPr lang="en-US" altLang="zh-CN" sz="1200" dirty="0"/>
                        <a:t>WPAN (Wireless PAN)</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9985109"/>
                  </a:ext>
                </a:extLst>
              </a:tr>
            </a:tbl>
          </a:graphicData>
        </a:graphic>
      </p:graphicFrame>
    </p:spTree>
    <p:extLst>
      <p:ext uri="{BB962C8B-B14F-4D97-AF65-F5344CB8AC3E}">
        <p14:creationId xmlns:p14="http://schemas.microsoft.com/office/powerpoint/2010/main" val="9585271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6D3589B3-FFD5-D2DC-9108-AC83900D9C1E}"/>
              </a:ext>
            </a:extLst>
          </p:cNvPr>
          <p:cNvSpPr>
            <a:spLocks noGrp="1"/>
          </p:cNvSpPr>
          <p:nvPr>
            <p:ph type="title"/>
          </p:nvPr>
        </p:nvSpPr>
        <p:spPr>
          <a:xfrm>
            <a:off x="612000" y="144000"/>
            <a:ext cx="7920000" cy="341632"/>
          </a:xfrm>
        </p:spPr>
        <p:txBody>
          <a:bodyPr/>
          <a:lstStyle/>
          <a:p>
            <a:r>
              <a:rPr lang="en-US" altLang="zh-CN" dirty="0"/>
              <a:t>2. </a:t>
            </a:r>
            <a:r>
              <a:rPr lang="zh-CN" altLang="en-US" dirty="0"/>
              <a:t>按照网络的使用者进行分类</a:t>
            </a:r>
          </a:p>
        </p:txBody>
      </p:sp>
      <p:graphicFrame>
        <p:nvGraphicFramePr>
          <p:cNvPr id="11" name="内容占位符 5">
            <a:extLst>
              <a:ext uri="{FF2B5EF4-FFF2-40B4-BE49-F238E27FC236}">
                <a16:creationId xmlns:a16="http://schemas.microsoft.com/office/drawing/2014/main" id="{EF760E7E-0621-D44E-BC5F-08ABC3F98135}"/>
              </a:ext>
            </a:extLst>
          </p:cNvPr>
          <p:cNvGraphicFramePr>
            <a:graphicFrameLocks/>
          </p:cNvGraphicFramePr>
          <p:nvPr>
            <p:extLst>
              <p:ext uri="{D42A27DB-BD31-4B8C-83A1-F6EECF244321}">
                <p14:modId xmlns:p14="http://schemas.microsoft.com/office/powerpoint/2010/main" val="2471545022"/>
              </p:ext>
            </p:extLst>
          </p:nvPr>
        </p:nvGraphicFramePr>
        <p:xfrm>
          <a:off x="612775" y="1467044"/>
          <a:ext cx="7918450" cy="1188720"/>
        </p:xfrm>
        <a:graphic>
          <a:graphicData uri="http://schemas.openxmlformats.org/drawingml/2006/table">
            <a:tbl>
              <a:tblPr firstRow="1" bandRow="1" bandCol="1">
                <a:tableStyleId>{5940675A-B579-460E-94D1-54222C63F5DA}</a:tableStyleId>
              </a:tblPr>
              <a:tblGrid>
                <a:gridCol w="2842401">
                  <a:extLst>
                    <a:ext uri="{9D8B030D-6E8A-4147-A177-3AD203B41FA5}">
                      <a16:colId xmlns:a16="http://schemas.microsoft.com/office/drawing/2014/main" val="2752561288"/>
                    </a:ext>
                  </a:extLst>
                </a:gridCol>
                <a:gridCol w="5076049">
                  <a:extLst>
                    <a:ext uri="{9D8B030D-6E8A-4147-A177-3AD203B41FA5}">
                      <a16:colId xmlns:a16="http://schemas.microsoft.com/office/drawing/2014/main" val="1271823278"/>
                    </a:ext>
                  </a:extLst>
                </a:gridCol>
              </a:tblGrid>
              <a:tr h="0">
                <a:tc>
                  <a:txBody>
                    <a:bodyPr/>
                    <a:lstStyle/>
                    <a:p>
                      <a:pPr algn="l"/>
                      <a:r>
                        <a:rPr lang="zh-CN" altLang="en-US" sz="1200" dirty="0"/>
                        <a:t>类别</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作用范围或距离</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3287312"/>
                  </a:ext>
                </a:extLst>
              </a:tr>
              <a:tr h="164997">
                <a:tc>
                  <a:txBody>
                    <a:bodyPr/>
                    <a:lstStyle/>
                    <a:p>
                      <a:pPr algn="l"/>
                      <a:r>
                        <a:rPr lang="zh-CN" altLang="en-US" sz="1200" dirty="0"/>
                        <a:t>公用网 </a:t>
                      </a:r>
                      <a:endParaRPr lang="en-US" altLang="zh-CN" sz="1200" dirty="0"/>
                    </a:p>
                    <a:p>
                      <a:pPr algn="l"/>
                      <a:r>
                        <a:rPr lang="en-US" altLang="zh-CN" sz="1200" dirty="0"/>
                        <a:t>Public Network</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按规定交纳费用的人都可以使用的网络</a:t>
                      </a:r>
                      <a:endParaRPr lang="en-US" altLang="zh-CN" sz="1200" dirty="0"/>
                    </a:p>
                    <a:p>
                      <a:pPr algn="l"/>
                      <a:r>
                        <a:rPr lang="zh-CN" altLang="en-US" sz="1200" dirty="0"/>
                        <a:t>也可称为公众网</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1952148"/>
                  </a:ext>
                </a:extLst>
              </a:tr>
              <a:tr h="164997">
                <a:tc>
                  <a:txBody>
                    <a:bodyPr/>
                    <a:lstStyle/>
                    <a:p>
                      <a:pPr algn="l"/>
                      <a:r>
                        <a:rPr lang="zh-CN" altLang="en-US" sz="1200" dirty="0"/>
                        <a:t>专用网 </a:t>
                      </a:r>
                      <a:endParaRPr lang="en-US" altLang="zh-CN" sz="1200" dirty="0"/>
                    </a:p>
                    <a:p>
                      <a:pPr algn="l"/>
                      <a:r>
                        <a:rPr lang="en-US" altLang="zh-CN" sz="1200" dirty="0"/>
                        <a:t>Private Network</a:t>
                      </a:r>
                      <a:endParaRPr lang="zh-CN" altLang="en-US" sz="1200" dirty="0"/>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200" dirty="0"/>
                        <a:t>为特殊业务工作的需要而建造的网络</a:t>
                      </a:r>
                      <a:endParaRPr lang="en-US" altLang="zh-CN" sz="1200" dirty="0"/>
                    </a:p>
                    <a:p>
                      <a:pPr algn="l"/>
                      <a:r>
                        <a:rPr lang="zh-CN" altLang="en-US" sz="1200" dirty="0"/>
                        <a:t>银行、军队等特殊职能部门</a:t>
                      </a:r>
                    </a:p>
                  </a:txBody>
                  <a:tcPr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436720"/>
                  </a:ext>
                </a:extLst>
              </a:tr>
            </a:tbl>
          </a:graphicData>
        </a:graphic>
      </p:graphicFrame>
    </p:spTree>
    <p:extLst>
      <p:ext uri="{BB962C8B-B14F-4D97-AF65-F5344CB8AC3E}">
        <p14:creationId xmlns:p14="http://schemas.microsoft.com/office/powerpoint/2010/main" val="9783827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p:cNvGrpSpPr/>
          <p:nvPr/>
        </p:nvGrpSpPr>
        <p:grpSpPr>
          <a:xfrm>
            <a:off x="5984006" y="1684603"/>
            <a:ext cx="2610599" cy="2905642"/>
            <a:chOff x="6144716" y="1121534"/>
            <a:chExt cx="2610599" cy="2905642"/>
          </a:xfrm>
        </p:grpSpPr>
        <p:grpSp>
          <p:nvGrpSpPr>
            <p:cNvPr id="73" name="组合 72"/>
            <p:cNvGrpSpPr/>
            <p:nvPr/>
          </p:nvGrpSpPr>
          <p:grpSpPr>
            <a:xfrm>
              <a:off x="6144716" y="1121534"/>
              <a:ext cx="2610599" cy="1222104"/>
              <a:chOff x="6144716" y="1121534"/>
              <a:chExt cx="2610599" cy="1222104"/>
            </a:xfrm>
          </p:grpSpPr>
          <p:grpSp>
            <p:nvGrpSpPr>
              <p:cNvPr id="23" name="组合 22"/>
              <p:cNvGrpSpPr/>
              <p:nvPr/>
            </p:nvGrpSpPr>
            <p:grpSpPr>
              <a:xfrm rot="542862">
                <a:off x="6144716" y="1121534"/>
                <a:ext cx="2610599" cy="1222104"/>
                <a:chOff x="3291761" y="1881768"/>
                <a:chExt cx="2359495" cy="1384214"/>
              </a:xfrm>
            </p:grpSpPr>
            <p:sp>
              <p:nvSpPr>
                <p:cNvPr id="56" name="Oval 8"/>
                <p:cNvSpPr>
                  <a:spLocks noChangeArrowheads="1"/>
                </p:cNvSpPr>
                <p:nvPr/>
              </p:nvSpPr>
              <p:spPr bwMode="auto">
                <a:xfrm rot="19925028">
                  <a:off x="4232468" y="2618460"/>
                  <a:ext cx="1254312" cy="556788"/>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7" name="Oval 4"/>
                <p:cNvSpPr>
                  <a:spLocks noChangeArrowheads="1"/>
                </p:cNvSpPr>
                <p:nvPr/>
              </p:nvSpPr>
              <p:spPr bwMode="auto">
                <a:xfrm rot="19925028">
                  <a:off x="3498803" y="1982820"/>
                  <a:ext cx="1062001" cy="499257"/>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8" name="Oval 5"/>
                <p:cNvSpPr>
                  <a:spLocks noChangeArrowheads="1"/>
                </p:cNvSpPr>
                <p:nvPr/>
              </p:nvSpPr>
              <p:spPr bwMode="auto">
                <a:xfrm rot="20825028">
                  <a:off x="4210122" y="1881768"/>
                  <a:ext cx="927560" cy="46373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9" name="Oval 6"/>
                <p:cNvSpPr>
                  <a:spLocks noChangeArrowheads="1"/>
                </p:cNvSpPr>
                <p:nvPr/>
              </p:nvSpPr>
              <p:spPr bwMode="auto">
                <a:xfrm rot="21425028">
                  <a:off x="4888010" y="2050856"/>
                  <a:ext cx="685001" cy="59980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0" name="Oval 7"/>
                <p:cNvSpPr>
                  <a:spLocks noChangeArrowheads="1"/>
                </p:cNvSpPr>
                <p:nvPr/>
              </p:nvSpPr>
              <p:spPr bwMode="auto">
                <a:xfrm rot="18365028">
                  <a:off x="5084601" y="2303123"/>
                  <a:ext cx="495255" cy="63805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1" name="Oval 9"/>
                <p:cNvSpPr>
                  <a:spLocks noChangeArrowheads="1"/>
                </p:cNvSpPr>
                <p:nvPr/>
              </p:nvSpPr>
              <p:spPr bwMode="auto">
                <a:xfrm rot="21005028">
                  <a:off x="3781908" y="2880783"/>
                  <a:ext cx="830109" cy="38519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2" name="Oval 10"/>
                <p:cNvSpPr>
                  <a:spLocks noChangeArrowheads="1"/>
                </p:cNvSpPr>
                <p:nvPr/>
              </p:nvSpPr>
              <p:spPr bwMode="auto">
                <a:xfrm rot="19925028">
                  <a:off x="3463237" y="2713197"/>
                  <a:ext cx="525666" cy="455235"/>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3" name="Oval 11"/>
                <p:cNvSpPr>
                  <a:spLocks noChangeArrowheads="1"/>
                </p:cNvSpPr>
                <p:nvPr/>
              </p:nvSpPr>
              <p:spPr bwMode="auto">
                <a:xfrm rot="18065028">
                  <a:off x="3319014" y="2284496"/>
                  <a:ext cx="571297" cy="62580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64" name="Freeform 12"/>
                <p:cNvSpPr/>
                <p:nvPr/>
              </p:nvSpPr>
              <p:spPr bwMode="auto">
                <a:xfrm>
                  <a:off x="3512318" y="1968814"/>
                  <a:ext cx="2020147" cy="121412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sp>
            <p:nvSpPr>
              <p:cNvPr id="24" name="Line 14"/>
              <p:cNvSpPr>
                <a:spLocks noChangeShapeType="1"/>
              </p:cNvSpPr>
              <p:nvPr/>
            </p:nvSpPr>
            <p:spPr bwMode="auto">
              <a:xfrm>
                <a:off x="6614431" y="1661676"/>
                <a:ext cx="807064" cy="14933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5" name="Line 19"/>
              <p:cNvSpPr>
                <a:spLocks noChangeShapeType="1"/>
              </p:cNvSpPr>
              <p:nvPr/>
            </p:nvSpPr>
            <p:spPr bwMode="auto">
              <a:xfrm>
                <a:off x="7461156" y="1762360"/>
                <a:ext cx="4421" cy="35213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6" name="Line 15"/>
              <p:cNvSpPr>
                <a:spLocks noChangeShapeType="1"/>
              </p:cNvSpPr>
              <p:nvPr/>
            </p:nvSpPr>
            <p:spPr bwMode="auto">
              <a:xfrm flipH="1">
                <a:off x="7610781" y="1526097"/>
                <a:ext cx="587219" cy="2849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7" name="Line 16"/>
              <p:cNvSpPr>
                <a:spLocks noChangeShapeType="1"/>
              </p:cNvSpPr>
              <p:nvPr/>
            </p:nvSpPr>
            <p:spPr bwMode="auto">
              <a:xfrm flipV="1">
                <a:off x="6568928" y="1401359"/>
                <a:ext cx="818737" cy="22740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28" name="Line 18"/>
              <p:cNvSpPr>
                <a:spLocks noChangeShapeType="1"/>
              </p:cNvSpPr>
              <p:nvPr/>
            </p:nvSpPr>
            <p:spPr bwMode="auto">
              <a:xfrm>
                <a:off x="7340210" y="1382431"/>
                <a:ext cx="849590" cy="1493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nvGrpSpPr>
              <p:cNvPr id="29" name="Group 91"/>
              <p:cNvGrpSpPr/>
              <p:nvPr/>
            </p:nvGrpSpPr>
            <p:grpSpPr bwMode="auto">
              <a:xfrm>
                <a:off x="7076296" y="1583569"/>
                <a:ext cx="723152" cy="332967"/>
                <a:chOff x="2949" y="196"/>
                <a:chExt cx="941" cy="598"/>
              </a:xfrm>
            </p:grpSpPr>
            <p:sp>
              <p:nvSpPr>
                <p:cNvPr id="45"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6"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7"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8"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9"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0"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1"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2"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53"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54"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55"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pic>
            <p:nvPicPr>
              <p:cNvPr id="3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375" y="2022144"/>
                <a:ext cx="495054" cy="25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151"/>
              <p:cNvGrpSpPr/>
              <p:nvPr/>
            </p:nvGrpSpPr>
            <p:grpSpPr bwMode="auto">
              <a:xfrm rot="20600977">
                <a:off x="7153351" y="1292473"/>
                <a:ext cx="433883" cy="192432"/>
                <a:chOff x="2949" y="196"/>
                <a:chExt cx="941" cy="598"/>
              </a:xfrm>
            </p:grpSpPr>
            <p:sp>
              <p:nvSpPr>
                <p:cNvPr id="34"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35"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36"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37"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38"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39"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0"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1"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42"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43"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44"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grpSp>
          <p:sp>
            <p:nvSpPr>
              <p:cNvPr id="65" name="矩形 64"/>
              <p:cNvSpPr/>
              <p:nvPr/>
            </p:nvSpPr>
            <p:spPr>
              <a:xfrm>
                <a:off x="7804514" y="1881867"/>
                <a:ext cx="692818" cy="261610"/>
              </a:xfrm>
              <a:prstGeom prst="rect">
                <a:avLst/>
              </a:prstGeom>
            </p:spPr>
            <p:txBody>
              <a:bodyPr wrap="none">
                <a:spAutoFit/>
              </a:bodyPr>
              <a:lstStyle/>
              <a:p>
                <a:pPr eaLnBrk="0" hangingPunct="0"/>
                <a:r>
                  <a:rPr lang="zh-CN" altLang="en-US" sz="1100" b="1" dirty="0">
                    <a:solidFill>
                      <a:srgbClr val="0000FF"/>
                    </a:solidFill>
                    <a:latin typeface="微软雅黑" panose="020B0503020204020204" pitchFamily="34" charset="-122"/>
                    <a:ea typeface="微软雅黑" panose="020B0503020204020204" pitchFamily="34" charset="-122"/>
                  </a:rPr>
                  <a:t>本地</a:t>
                </a:r>
                <a:r>
                  <a:rPr lang="en-US" altLang="zh-CN" sz="1100" b="1" dirty="0">
                    <a:solidFill>
                      <a:srgbClr val="0000FF"/>
                    </a:solidFill>
                    <a:latin typeface="微软雅黑" panose="020B0503020204020204" pitchFamily="34" charset="-122"/>
                    <a:ea typeface="微软雅黑" panose="020B0503020204020204" pitchFamily="34" charset="-122"/>
                  </a:rPr>
                  <a:t>ISP</a:t>
                </a:r>
                <a:endParaRPr lang="zh-CN" altLang="en-US" sz="1100" b="1" dirty="0">
                  <a:solidFill>
                    <a:srgbClr val="0000FF"/>
                  </a:solidFill>
                  <a:latin typeface="微软雅黑" panose="020B0503020204020204" pitchFamily="34" charset="-122"/>
                  <a:ea typeface="微软雅黑" panose="020B0503020204020204" pitchFamily="34" charset="-122"/>
                </a:endParaRPr>
              </a:p>
            </p:txBody>
          </p:sp>
          <p:sp>
            <p:nvSpPr>
              <p:cNvPr id="71" name="Line 18"/>
              <p:cNvSpPr>
                <a:spLocks noChangeShapeType="1"/>
              </p:cNvSpPr>
              <p:nvPr/>
            </p:nvSpPr>
            <p:spPr bwMode="auto">
              <a:xfrm flipV="1">
                <a:off x="8186006" y="1269750"/>
                <a:ext cx="247507" cy="268653"/>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pic>
            <p:nvPicPr>
              <p:cNvPr id="32"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6896" y="1478046"/>
                <a:ext cx="427758" cy="160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2" name="Line 18"/>
              <p:cNvSpPr>
                <a:spLocks noChangeShapeType="1"/>
              </p:cNvSpPr>
              <p:nvPr/>
            </p:nvSpPr>
            <p:spPr bwMode="auto">
              <a:xfrm flipH="1" flipV="1">
                <a:off x="6275644" y="1149926"/>
                <a:ext cx="264521" cy="493601"/>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pic>
            <p:nvPicPr>
              <p:cNvPr id="3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03" y="1585553"/>
                <a:ext cx="427758"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69" name="组合 68"/>
            <p:cNvGrpSpPr/>
            <p:nvPr/>
          </p:nvGrpSpPr>
          <p:grpSpPr>
            <a:xfrm>
              <a:off x="6357254" y="2272472"/>
              <a:ext cx="2239962" cy="1754704"/>
              <a:chOff x="6357254" y="2272472"/>
              <a:chExt cx="2239962" cy="1754704"/>
            </a:xfrm>
          </p:grpSpPr>
          <p:grpSp>
            <p:nvGrpSpPr>
              <p:cNvPr id="68" name="组合 67"/>
              <p:cNvGrpSpPr/>
              <p:nvPr/>
            </p:nvGrpSpPr>
            <p:grpSpPr>
              <a:xfrm>
                <a:off x="6357254" y="2605585"/>
                <a:ext cx="2239962" cy="1421591"/>
                <a:chOff x="6357254" y="2605585"/>
                <a:chExt cx="2239962" cy="1421591"/>
              </a:xfrm>
            </p:grpSpPr>
            <p:sp>
              <p:nvSpPr>
                <p:cNvPr id="9" name="Line 17"/>
                <p:cNvSpPr>
                  <a:spLocks noChangeShapeType="1"/>
                </p:cNvSpPr>
                <p:nvPr/>
              </p:nvSpPr>
              <p:spPr bwMode="auto">
                <a:xfrm flipV="1">
                  <a:off x="6526065" y="3256686"/>
                  <a:ext cx="261782" cy="37199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l="12119" r="11766"/>
                <a:stretch/>
              </p:blipFill>
              <p:spPr>
                <a:xfrm flipH="1">
                  <a:off x="7703263" y="3595416"/>
                  <a:ext cx="267428" cy="431760"/>
                </a:xfrm>
                <a:prstGeom prst="rect">
                  <a:avLst/>
                </a:prstGeom>
              </p:spPr>
            </p:pic>
            <p:sp>
              <p:nvSpPr>
                <p:cNvPr id="12" name="椭圆 11"/>
                <p:cNvSpPr/>
                <p:nvPr/>
              </p:nvSpPr>
              <p:spPr>
                <a:xfrm>
                  <a:off x="6388256" y="2605585"/>
                  <a:ext cx="2208960" cy="741579"/>
                </a:xfrm>
                <a:prstGeom prst="ellipse">
                  <a:avLst/>
                </a:prstGeom>
                <a:solidFill>
                  <a:srgbClr val="33CC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79090" y="2929431"/>
                  <a:ext cx="234039" cy="326725"/>
                </a:xfrm>
                <a:prstGeom prst="rect">
                  <a:avLst/>
                </a:prstGeom>
              </p:spPr>
            </p:pic>
            <p:pic>
              <p:nvPicPr>
                <p:cNvPr id="15" name="图片 14" descr="LAN-蓝.png"/>
                <p:cNvPicPr>
                  <a:picLocks noChangeAspect="1"/>
                </p:cNvPicPr>
                <p:nvPr/>
              </p:nvPicPr>
              <p:blipFill>
                <a:blip r:embed="rId6" cstate="print"/>
                <a:stretch>
                  <a:fillRect/>
                </a:stretch>
              </p:blipFill>
              <p:spPr>
                <a:xfrm>
                  <a:off x="6669206" y="2910534"/>
                  <a:ext cx="488612" cy="263499"/>
                </a:xfrm>
                <a:prstGeom prst="rect">
                  <a:avLst/>
                </a:prstGeom>
              </p:spPr>
            </p:pic>
            <p:pic>
              <p:nvPicPr>
                <p:cNvPr id="16" name="图片 15" descr="PSTN-蓝.png"/>
                <p:cNvPicPr>
                  <a:picLocks noChangeAspect="1"/>
                </p:cNvPicPr>
                <p:nvPr/>
              </p:nvPicPr>
              <p:blipFill>
                <a:blip r:embed="rId7" cstate="print"/>
                <a:stretch>
                  <a:fillRect/>
                </a:stretch>
              </p:blipFill>
              <p:spPr>
                <a:xfrm>
                  <a:off x="7803913" y="2895430"/>
                  <a:ext cx="532346" cy="287084"/>
                </a:xfrm>
                <a:prstGeom prst="rect">
                  <a:avLst/>
                </a:prstGeom>
              </p:spPr>
            </p:pic>
            <p:sp>
              <p:nvSpPr>
                <p:cNvPr id="17" name="Line 17"/>
                <p:cNvSpPr>
                  <a:spLocks noChangeShapeType="1"/>
                </p:cNvSpPr>
                <p:nvPr/>
              </p:nvSpPr>
              <p:spPr bwMode="auto">
                <a:xfrm flipV="1">
                  <a:off x="7133258" y="3315598"/>
                  <a:ext cx="68263" cy="32254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sp>
              <p:nvSpPr>
                <p:cNvPr id="18" name="Line 17"/>
                <p:cNvSpPr>
                  <a:spLocks noChangeShapeType="1"/>
                </p:cNvSpPr>
                <p:nvPr/>
              </p:nvSpPr>
              <p:spPr bwMode="auto">
                <a:xfrm flipH="1" flipV="1">
                  <a:off x="8163665" y="3256686"/>
                  <a:ext cx="246450" cy="39016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latin typeface="Times New Roman" panose="02020603050405020304" pitchFamily="18" charset="0"/>
                    <a:ea typeface="微软雅黑 Light" panose="020B0502040204020203" pitchFamily="34" charset="-122"/>
                  </a:endParaRPr>
                </a:p>
              </p:txBody>
            </p:sp>
            <p:pic>
              <p:nvPicPr>
                <p:cNvPr id="19" name="图片 18" descr="wifi信号蓝.png"/>
                <p:cNvPicPr>
                  <a:picLocks noChangeAspect="1"/>
                </p:cNvPicPr>
                <p:nvPr/>
              </p:nvPicPr>
              <p:blipFill>
                <a:blip r:embed="rId8" cstate="print"/>
                <a:stretch>
                  <a:fillRect/>
                </a:stretch>
              </p:blipFill>
              <p:spPr>
                <a:xfrm>
                  <a:off x="7725041" y="3360335"/>
                  <a:ext cx="218732" cy="194596"/>
                </a:xfrm>
                <a:prstGeom prst="rect">
                  <a:avLst/>
                </a:prstGeom>
              </p:spPr>
            </p:pic>
            <p:pic>
              <p:nvPicPr>
                <p:cNvPr id="20" name="Picture 246" descr="jisuanji"/>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7254" y="3542758"/>
                  <a:ext cx="378025" cy="36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descr="SAN网络-蓝.png"/>
                <p:cNvPicPr>
                  <a:picLocks noChangeAspect="1"/>
                </p:cNvPicPr>
                <p:nvPr/>
              </p:nvPicPr>
              <p:blipFill>
                <a:blip r:embed="rId10" cstate="print"/>
                <a:stretch>
                  <a:fillRect/>
                </a:stretch>
              </p:blipFill>
              <p:spPr>
                <a:xfrm>
                  <a:off x="8273037" y="3527191"/>
                  <a:ext cx="324178" cy="280782"/>
                </a:xfrm>
                <a:prstGeom prst="rect">
                  <a:avLst/>
                </a:prstGeom>
              </p:spPr>
            </p:pic>
            <p:pic>
              <p:nvPicPr>
                <p:cNvPr id="22" name="图片 38"/>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019451" y="3512809"/>
                  <a:ext cx="263394" cy="39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196830" y="2608936"/>
                  <a:ext cx="692818"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接入网 </a:t>
                  </a:r>
                  <a:endParaRPr lang="zh-CN" altLang="en-US" sz="1200" dirty="0">
                    <a:solidFill>
                      <a:srgbClr val="0000FF"/>
                    </a:solidFill>
                    <a:latin typeface="Times New Roman" panose="02020603050405020304" pitchFamily="18" charset="0"/>
                    <a:ea typeface="微软雅黑 Light" panose="020B0502040204020203" pitchFamily="34" charset="-122"/>
                  </a:endParaRPr>
                </a:p>
              </p:txBody>
            </p:sp>
          </p:grpSp>
          <p:cxnSp>
            <p:nvCxnSpPr>
              <p:cNvPr id="13" name="直接连接符 12"/>
              <p:cNvCxnSpPr>
                <a:stCxn id="30" idx="2"/>
                <a:endCxn id="12" idx="0"/>
              </p:cNvCxnSpPr>
              <p:nvPr/>
            </p:nvCxnSpPr>
            <p:spPr>
              <a:xfrm>
                <a:off x="7487902" y="2272472"/>
                <a:ext cx="4834" cy="333113"/>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grpSp>
      </p:grpSp>
      <p:sp>
        <p:nvSpPr>
          <p:cNvPr id="3" name="标题 2">
            <a:extLst>
              <a:ext uri="{FF2B5EF4-FFF2-40B4-BE49-F238E27FC236}">
                <a16:creationId xmlns:a16="http://schemas.microsoft.com/office/drawing/2014/main" id="{B1332590-3D41-E3BC-9BAD-0592E80DC862}"/>
              </a:ext>
            </a:extLst>
          </p:cNvPr>
          <p:cNvSpPr>
            <a:spLocks noGrp="1"/>
          </p:cNvSpPr>
          <p:nvPr>
            <p:ph type="title"/>
          </p:nvPr>
        </p:nvSpPr>
        <p:spPr>
          <a:xfrm>
            <a:off x="612000" y="144000"/>
            <a:ext cx="7920000" cy="341632"/>
          </a:xfrm>
        </p:spPr>
        <p:txBody>
          <a:bodyPr/>
          <a:lstStyle/>
          <a:p>
            <a:r>
              <a:rPr lang="en-US" altLang="zh-CN" dirty="0"/>
              <a:t>3. </a:t>
            </a:r>
            <a:r>
              <a:rPr lang="zh-CN" altLang="en-US" dirty="0"/>
              <a:t>用来把用户接入到互联网的网络</a:t>
            </a:r>
          </a:p>
        </p:txBody>
      </p:sp>
      <p:sp>
        <p:nvSpPr>
          <p:cNvPr id="4" name="内容占位符 3"/>
          <p:cNvSpPr>
            <a:spLocks noGrp="1"/>
          </p:cNvSpPr>
          <p:nvPr>
            <p:ph sz="quarter" idx="10"/>
          </p:nvPr>
        </p:nvSpPr>
        <p:spPr>
          <a:xfrm>
            <a:off x="612000" y="899999"/>
            <a:ext cx="7920000" cy="3780000"/>
          </a:xfrm>
        </p:spPr>
        <p:txBody>
          <a:bodyPr/>
          <a:lstStyle/>
          <a:p>
            <a:r>
              <a:rPr lang="zh-CN" altLang="en-US" dirty="0"/>
              <a:t>接入网 </a:t>
            </a:r>
            <a:r>
              <a:rPr lang="en-US" altLang="zh-CN" dirty="0"/>
              <a:t>AN (Access Network)</a:t>
            </a:r>
          </a:p>
          <a:p>
            <a:pPr lvl="1"/>
            <a:r>
              <a:rPr lang="zh-CN" altLang="en-US" dirty="0"/>
              <a:t>又称为本地接入网或居民接入网</a:t>
            </a:r>
            <a:endParaRPr lang="en-US" altLang="zh-CN" dirty="0"/>
          </a:p>
          <a:p>
            <a:pPr lvl="1"/>
            <a:r>
              <a:rPr lang="zh-CN" altLang="en-US" dirty="0"/>
              <a:t>用于将用户接入互联网</a:t>
            </a:r>
          </a:p>
          <a:p>
            <a:pPr lvl="1"/>
            <a:r>
              <a:rPr lang="zh-CN" altLang="en-US" dirty="0"/>
              <a:t>实际上就是本地 </a:t>
            </a:r>
            <a:r>
              <a:rPr lang="en-US" altLang="zh-CN" dirty="0"/>
              <a:t>ISP </a:t>
            </a:r>
            <a:r>
              <a:rPr lang="zh-CN" altLang="en-US" dirty="0"/>
              <a:t>所拥有的网络，它既不是互联网的核心部分，也不是互联网的边缘部分。</a:t>
            </a:r>
          </a:p>
          <a:p>
            <a:pPr lvl="1"/>
            <a:r>
              <a:rPr lang="zh-CN" altLang="en-US" dirty="0"/>
              <a:t>是从某个用户端系统到本地 </a:t>
            </a:r>
            <a:r>
              <a:rPr lang="en-US" altLang="zh-CN" dirty="0"/>
              <a:t>ISP </a:t>
            </a:r>
            <a:r>
              <a:rPr lang="zh-CN" altLang="en-US" dirty="0"/>
              <a:t>的第一个路由器（也称为边缘路由器）之间的一种网络。</a:t>
            </a:r>
            <a:endParaRPr lang="en-US" altLang="zh-CN" dirty="0"/>
          </a:p>
          <a:p>
            <a:pPr lvl="1"/>
            <a:r>
              <a:rPr lang="zh-CN" altLang="en-US" dirty="0"/>
              <a:t>从覆盖的范围看，很多接入网还是属于局域网</a:t>
            </a:r>
          </a:p>
        </p:txBody>
      </p:sp>
    </p:spTree>
    <p:extLst>
      <p:ext uri="{BB962C8B-B14F-4D97-AF65-F5344CB8AC3E}">
        <p14:creationId xmlns:p14="http://schemas.microsoft.com/office/powerpoint/2010/main" val="39042085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368DD-C335-F1FC-30E2-D7B1D4199E92}"/>
              </a:ext>
            </a:extLst>
          </p:cNvPr>
          <p:cNvSpPr>
            <a:spLocks noGrp="1"/>
          </p:cNvSpPr>
          <p:nvPr>
            <p:ph type="title"/>
          </p:nvPr>
        </p:nvSpPr>
        <p:spPr>
          <a:xfrm>
            <a:off x="3873500" y="1290318"/>
            <a:ext cx="3600000" cy="341632"/>
          </a:xfrm>
        </p:spPr>
        <p:txBody>
          <a:bodyPr/>
          <a:lstStyle/>
          <a:p>
            <a:r>
              <a:rPr lang="fr-FR" altLang="zh-CN" dirty="0"/>
              <a:t>1.6 </a:t>
            </a:r>
            <a:r>
              <a:rPr lang="zh-CN" altLang="zh-CN" dirty="0"/>
              <a:t>计算机网络的性能</a:t>
            </a:r>
            <a:endParaRPr lang="zh-CN" altLang="en-US" dirty="0"/>
          </a:p>
        </p:txBody>
      </p:sp>
      <p:sp>
        <p:nvSpPr>
          <p:cNvPr id="3" name="文本占位符 2">
            <a:extLst>
              <a:ext uri="{FF2B5EF4-FFF2-40B4-BE49-F238E27FC236}">
                <a16:creationId xmlns:a16="http://schemas.microsoft.com/office/drawing/2014/main" id="{985C43E1-99E5-85D3-1B85-75936A741A49}"/>
              </a:ext>
            </a:extLst>
          </p:cNvPr>
          <p:cNvSpPr>
            <a:spLocks noGrp="1"/>
          </p:cNvSpPr>
          <p:nvPr>
            <p:ph type="body" sz="quarter" idx="10"/>
          </p:nvPr>
        </p:nvSpPr>
        <p:spPr>
          <a:xfrm>
            <a:off x="3873500" y="1631950"/>
            <a:ext cx="4320000" cy="1803400"/>
          </a:xfrm>
        </p:spPr>
        <p:txBody>
          <a:bodyPr/>
          <a:lstStyle/>
          <a:p>
            <a:r>
              <a:rPr lang="en-US" altLang="zh-CN" dirty="0"/>
              <a:t>1.6.1 </a:t>
            </a:r>
            <a:r>
              <a:rPr lang="zh-CN" altLang="zh-CN" dirty="0"/>
              <a:t>计算机网络的性能指标</a:t>
            </a:r>
            <a:endParaRPr lang="en-US" altLang="zh-CN" dirty="0"/>
          </a:p>
          <a:p>
            <a:r>
              <a:rPr lang="en-US" altLang="zh-CN" dirty="0"/>
              <a:t>1.6.2 </a:t>
            </a:r>
            <a:r>
              <a:rPr lang="zh-CN" altLang="zh-CN" dirty="0"/>
              <a:t>计算机网络的非性能特征</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DFA647E-B13A-F98E-5E90-C8854E593CB1}"/>
              </a:ext>
            </a:extLst>
          </p:cNvPr>
          <p:cNvSpPr>
            <a:spLocks noGrp="1"/>
          </p:cNvSpPr>
          <p:nvPr>
            <p:ph type="title"/>
          </p:nvPr>
        </p:nvSpPr>
        <p:spPr>
          <a:xfrm>
            <a:off x="612000" y="144000"/>
            <a:ext cx="7920000" cy="341632"/>
          </a:xfrm>
        </p:spPr>
        <p:txBody>
          <a:bodyPr/>
          <a:lstStyle/>
          <a:p>
            <a:r>
              <a:rPr lang="en-US" altLang="zh-CN" dirty="0"/>
              <a:t>1.6.1  </a:t>
            </a:r>
            <a:r>
              <a:rPr lang="zh-CN" altLang="en-US" dirty="0"/>
              <a:t>性能指标 </a:t>
            </a:r>
            <a:r>
              <a:rPr lang="en-US" altLang="zh-CN" dirty="0"/>
              <a:t>Specification</a:t>
            </a:r>
            <a:endParaRPr lang="zh-CN" altLang="en-US" dirty="0"/>
          </a:p>
        </p:txBody>
      </p:sp>
      <p:sp>
        <p:nvSpPr>
          <p:cNvPr id="3" name="内容占位符 2">
            <a:extLst>
              <a:ext uri="{FF2B5EF4-FFF2-40B4-BE49-F238E27FC236}">
                <a16:creationId xmlns:a16="http://schemas.microsoft.com/office/drawing/2014/main" id="{D31F4F29-D8B7-C279-6E15-4E7EC0A4D8E5}"/>
              </a:ext>
            </a:extLst>
          </p:cNvPr>
          <p:cNvSpPr>
            <a:spLocks noGrp="1"/>
          </p:cNvSpPr>
          <p:nvPr>
            <p:ph sz="quarter" idx="10"/>
          </p:nvPr>
        </p:nvSpPr>
        <p:spPr>
          <a:xfrm>
            <a:off x="612000" y="899999"/>
            <a:ext cx="7920000" cy="3780000"/>
          </a:xfrm>
        </p:spPr>
        <p:txBody>
          <a:bodyPr/>
          <a:lstStyle/>
          <a:p>
            <a:r>
              <a:rPr lang="zh-CN" altLang="en-US" dirty="0"/>
              <a:t>从不同的方面来度量计算机网络的性能</a:t>
            </a:r>
          </a:p>
        </p:txBody>
      </p:sp>
      <p:sp>
        <p:nvSpPr>
          <p:cNvPr id="2" name="矩形: 圆角 1">
            <a:hlinkClick r:id="rId2" action="ppaction://hlinkfile"/>
            <a:extLst>
              <a:ext uri="{FF2B5EF4-FFF2-40B4-BE49-F238E27FC236}">
                <a16:creationId xmlns:a16="http://schemas.microsoft.com/office/drawing/2014/main" id="{DE6D6FEF-5244-D208-1A45-BCACA8603ACE}"/>
              </a:ext>
            </a:extLst>
          </p:cNvPr>
          <p:cNvSpPr/>
          <p:nvPr/>
        </p:nvSpPr>
        <p:spPr>
          <a:xfrm>
            <a:off x="2990881" y="1785243"/>
            <a:ext cx="1440000" cy="432000"/>
          </a:xfrm>
          <a:prstGeom prst="roundRect">
            <a:avLst/>
          </a:prstGeom>
          <a:solidFill>
            <a:srgbClr val="D4237A"/>
          </a:solidFill>
          <a:ln>
            <a:solidFill>
              <a:srgbClr val="D4237A"/>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速率</a:t>
            </a:r>
          </a:p>
        </p:txBody>
      </p:sp>
      <p:sp>
        <p:nvSpPr>
          <p:cNvPr id="6" name="矩形: 圆角 5">
            <a:hlinkClick r:id="rId2" action="ppaction://hlinkfile"/>
            <a:extLst>
              <a:ext uri="{FF2B5EF4-FFF2-40B4-BE49-F238E27FC236}">
                <a16:creationId xmlns:a16="http://schemas.microsoft.com/office/drawing/2014/main" id="{1B14ADDE-DA0A-02A6-7E30-0459F4278617}"/>
              </a:ext>
            </a:extLst>
          </p:cNvPr>
          <p:cNvSpPr/>
          <p:nvPr/>
        </p:nvSpPr>
        <p:spPr>
          <a:xfrm>
            <a:off x="2990881" y="2469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带宽</a:t>
            </a:r>
          </a:p>
        </p:txBody>
      </p:sp>
      <p:sp>
        <p:nvSpPr>
          <p:cNvPr id="7" name="矩形: 圆角 6">
            <a:hlinkClick r:id="rId2" action="ppaction://hlinkfile"/>
            <a:extLst>
              <a:ext uri="{FF2B5EF4-FFF2-40B4-BE49-F238E27FC236}">
                <a16:creationId xmlns:a16="http://schemas.microsoft.com/office/drawing/2014/main" id="{7500D1B8-0408-177A-A122-E8E31E7BE6A5}"/>
              </a:ext>
            </a:extLst>
          </p:cNvPr>
          <p:cNvSpPr/>
          <p:nvPr/>
        </p:nvSpPr>
        <p:spPr>
          <a:xfrm>
            <a:off x="2990881" y="3153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吞吐量</a:t>
            </a:r>
          </a:p>
        </p:txBody>
      </p:sp>
      <p:sp>
        <p:nvSpPr>
          <p:cNvPr id="8" name="矩形: 圆角 7">
            <a:hlinkClick r:id="rId2" action="ppaction://hlinkfile"/>
            <a:extLst>
              <a:ext uri="{FF2B5EF4-FFF2-40B4-BE49-F238E27FC236}">
                <a16:creationId xmlns:a16="http://schemas.microsoft.com/office/drawing/2014/main" id="{1C407E0F-9FD9-0DD4-8488-D8EADEC4B211}"/>
              </a:ext>
            </a:extLst>
          </p:cNvPr>
          <p:cNvSpPr/>
          <p:nvPr/>
        </p:nvSpPr>
        <p:spPr>
          <a:xfrm>
            <a:off x="2990881" y="3837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时延</a:t>
            </a:r>
          </a:p>
        </p:txBody>
      </p:sp>
      <p:sp>
        <p:nvSpPr>
          <p:cNvPr id="9" name="矩形: 圆角 8">
            <a:hlinkClick r:id="rId2" action="ppaction://hlinkfile"/>
            <a:extLst>
              <a:ext uri="{FF2B5EF4-FFF2-40B4-BE49-F238E27FC236}">
                <a16:creationId xmlns:a16="http://schemas.microsoft.com/office/drawing/2014/main" id="{7F489549-E4E4-BBD4-3EB8-B08538B181AE}"/>
              </a:ext>
            </a:extLst>
          </p:cNvPr>
          <p:cNvSpPr/>
          <p:nvPr/>
        </p:nvSpPr>
        <p:spPr>
          <a:xfrm>
            <a:off x="4468909" y="2127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时延带宽积</a:t>
            </a:r>
          </a:p>
        </p:txBody>
      </p:sp>
      <p:sp>
        <p:nvSpPr>
          <p:cNvPr id="10" name="矩形: 圆角 9">
            <a:hlinkClick r:id="rId2" action="ppaction://hlinkfile"/>
            <a:extLst>
              <a:ext uri="{FF2B5EF4-FFF2-40B4-BE49-F238E27FC236}">
                <a16:creationId xmlns:a16="http://schemas.microsoft.com/office/drawing/2014/main" id="{0C45A14C-1042-AEA3-28B2-6772A27B8C79}"/>
              </a:ext>
            </a:extLst>
          </p:cNvPr>
          <p:cNvSpPr/>
          <p:nvPr/>
        </p:nvSpPr>
        <p:spPr>
          <a:xfrm>
            <a:off x="4468909" y="2811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往返时间</a:t>
            </a:r>
          </a:p>
        </p:txBody>
      </p:sp>
      <p:sp>
        <p:nvSpPr>
          <p:cNvPr id="11" name="矩形: 圆角 10">
            <a:hlinkClick r:id="rId2" action="ppaction://hlinkfile"/>
            <a:extLst>
              <a:ext uri="{FF2B5EF4-FFF2-40B4-BE49-F238E27FC236}">
                <a16:creationId xmlns:a16="http://schemas.microsoft.com/office/drawing/2014/main" id="{7A6E7424-8DD9-84AE-39F9-8D09108E04D7}"/>
              </a:ext>
            </a:extLst>
          </p:cNvPr>
          <p:cNvSpPr/>
          <p:nvPr/>
        </p:nvSpPr>
        <p:spPr>
          <a:xfrm>
            <a:off x="4468909" y="3495243"/>
            <a:ext cx="1440000" cy="432000"/>
          </a:xfrm>
          <a:prstGeom prst="roundRect">
            <a:avLst/>
          </a:prstGeom>
          <a:solidFill>
            <a:srgbClr val="D4237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400" dirty="0"/>
              <a:t>利用率</a:t>
            </a:r>
          </a:p>
        </p:txBody>
      </p:sp>
      <p:sp>
        <p:nvSpPr>
          <p:cNvPr id="12" name="文本框 11">
            <a:extLst>
              <a:ext uri="{FF2B5EF4-FFF2-40B4-BE49-F238E27FC236}">
                <a16:creationId xmlns:a16="http://schemas.microsoft.com/office/drawing/2014/main" id="{50B7F34D-6C17-6F67-D650-1E4DFB50E8A2}"/>
              </a:ext>
            </a:extLst>
          </p:cNvPr>
          <p:cNvSpPr txBox="1"/>
          <p:nvPr/>
        </p:nvSpPr>
        <p:spPr>
          <a:xfrm>
            <a:off x="2208804" y="1887001"/>
            <a:ext cx="543740" cy="307777"/>
          </a:xfrm>
          <a:prstGeom prst="rect">
            <a:avLst/>
          </a:prstGeom>
          <a:noFill/>
        </p:spPr>
        <p:txBody>
          <a:bodyPr wrap="none" rtlCol="0">
            <a:spAutoFit/>
          </a:bodyPr>
          <a:lstStyle/>
          <a:p>
            <a:pPr algn="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Rate</a:t>
            </a:r>
            <a:endParaRPr lang="zh-CN" altLang="en-US" sz="1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48940754-EAF4-0272-CD9B-C023FFB1B9C0}"/>
              </a:ext>
            </a:extLst>
          </p:cNvPr>
          <p:cNvSpPr txBox="1"/>
          <p:nvPr/>
        </p:nvSpPr>
        <p:spPr>
          <a:xfrm>
            <a:off x="1710271" y="2571001"/>
            <a:ext cx="1042273" cy="307777"/>
          </a:xfrm>
          <a:prstGeom prst="rect">
            <a:avLst/>
          </a:prstGeom>
          <a:noFill/>
        </p:spPr>
        <p:txBody>
          <a:bodyPr wrap="none" rtlCol="0">
            <a:spAutoFit/>
          </a:bodyPr>
          <a:lstStyle/>
          <a:p>
            <a:pPr algn="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Bandwidth</a:t>
            </a:r>
            <a:endParaRPr lang="zh-CN" altLang="en-US" sz="1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88A8F0AE-AD66-9DAD-4924-0B62349BED07}"/>
              </a:ext>
            </a:extLst>
          </p:cNvPr>
          <p:cNvSpPr txBox="1"/>
          <p:nvPr/>
        </p:nvSpPr>
        <p:spPr>
          <a:xfrm>
            <a:off x="1606716" y="3255001"/>
            <a:ext cx="1145828" cy="307777"/>
          </a:xfrm>
          <a:prstGeom prst="rect">
            <a:avLst/>
          </a:prstGeom>
          <a:noFill/>
        </p:spPr>
        <p:txBody>
          <a:bodyPr wrap="none" rtlCol="0">
            <a:spAutoFit/>
          </a:bodyPr>
          <a:lstStyle/>
          <a:p>
            <a:pPr algn="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Throughput</a:t>
            </a:r>
          </a:p>
        </p:txBody>
      </p:sp>
      <p:sp>
        <p:nvSpPr>
          <p:cNvPr id="15" name="文本框 14">
            <a:extLst>
              <a:ext uri="{FF2B5EF4-FFF2-40B4-BE49-F238E27FC236}">
                <a16:creationId xmlns:a16="http://schemas.microsoft.com/office/drawing/2014/main" id="{18691E97-8D0B-635C-259E-2BA876C22219}"/>
              </a:ext>
            </a:extLst>
          </p:cNvPr>
          <p:cNvSpPr txBox="1"/>
          <p:nvPr/>
        </p:nvSpPr>
        <p:spPr>
          <a:xfrm>
            <a:off x="2115830" y="3939001"/>
            <a:ext cx="636714" cy="307777"/>
          </a:xfrm>
          <a:prstGeom prst="rect">
            <a:avLst/>
          </a:prstGeom>
          <a:noFill/>
        </p:spPr>
        <p:txBody>
          <a:bodyPr wrap="none" rtlCol="0">
            <a:spAutoFit/>
          </a:bodyPr>
          <a:lstStyle/>
          <a:p>
            <a:pPr algn="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Delay</a:t>
            </a:r>
          </a:p>
        </p:txBody>
      </p:sp>
      <p:sp>
        <p:nvSpPr>
          <p:cNvPr id="16" name="文本框 15">
            <a:extLst>
              <a:ext uri="{FF2B5EF4-FFF2-40B4-BE49-F238E27FC236}">
                <a16:creationId xmlns:a16="http://schemas.microsoft.com/office/drawing/2014/main" id="{6B951AA4-73AC-4E51-2CE4-5469112DFE86}"/>
              </a:ext>
            </a:extLst>
          </p:cNvPr>
          <p:cNvSpPr txBox="1"/>
          <p:nvPr/>
        </p:nvSpPr>
        <p:spPr>
          <a:xfrm>
            <a:off x="6148890" y="2229001"/>
            <a:ext cx="2043508" cy="307777"/>
          </a:xfrm>
          <a:prstGeom prst="rect">
            <a:avLst/>
          </a:prstGeom>
          <a:noFill/>
        </p:spPr>
        <p:txBody>
          <a:bodyPr wrap="none" rtlCol="0">
            <a:spAutoFit/>
          </a:bodyPr>
          <a:lstStyle/>
          <a:p>
            <a:pP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Band Delay Production</a:t>
            </a:r>
          </a:p>
        </p:txBody>
      </p:sp>
      <p:sp>
        <p:nvSpPr>
          <p:cNvPr id="17" name="文本框 16">
            <a:extLst>
              <a:ext uri="{FF2B5EF4-FFF2-40B4-BE49-F238E27FC236}">
                <a16:creationId xmlns:a16="http://schemas.microsoft.com/office/drawing/2014/main" id="{F79AB145-C61D-DB2A-0564-01B877EA644F}"/>
              </a:ext>
            </a:extLst>
          </p:cNvPr>
          <p:cNvSpPr txBox="1"/>
          <p:nvPr/>
        </p:nvSpPr>
        <p:spPr>
          <a:xfrm>
            <a:off x="6148890" y="2913001"/>
            <a:ext cx="1531253" cy="307777"/>
          </a:xfrm>
          <a:prstGeom prst="rect">
            <a:avLst/>
          </a:prstGeom>
          <a:noFill/>
        </p:spPr>
        <p:txBody>
          <a:bodyPr wrap="none" rtlCol="0">
            <a:spAutoFit/>
          </a:bodyPr>
          <a:lstStyle/>
          <a:p>
            <a:pP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Round-Trip Time</a:t>
            </a:r>
            <a:endParaRPr lang="zh-CN" altLang="en-US" sz="1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B0965D35-DA65-BC97-777B-17F5A3CC33CB}"/>
              </a:ext>
            </a:extLst>
          </p:cNvPr>
          <p:cNvSpPr txBox="1"/>
          <p:nvPr/>
        </p:nvSpPr>
        <p:spPr>
          <a:xfrm>
            <a:off x="6148890" y="3597001"/>
            <a:ext cx="984565" cy="307777"/>
          </a:xfrm>
          <a:prstGeom prst="rect">
            <a:avLst/>
          </a:prstGeom>
          <a:noFill/>
        </p:spPr>
        <p:txBody>
          <a:bodyPr wrap="none" rtlCol="0">
            <a:spAutoFit/>
          </a:bodyPr>
          <a:lstStyle/>
          <a:p>
            <a:pPr>
              <a:spcBef>
                <a:spcPts val="600"/>
              </a:spcBef>
              <a:spcAft>
                <a:spcPts val="600"/>
              </a:spcAft>
            </a:pPr>
            <a:r>
              <a:rPr lang="en-US" altLang="zh-CN" sz="1400" kern="100" dirty="0">
                <a:latin typeface="微软雅黑 Light" panose="020B0502040204020203" pitchFamily="34" charset="-122"/>
                <a:ea typeface="微软雅黑 Light" panose="020B0502040204020203" pitchFamily="34" charset="-122"/>
                <a:cs typeface="Times New Roman" panose="02020603050405020304" pitchFamily="18" charset="0"/>
              </a:rPr>
              <a:t>Utilization</a:t>
            </a:r>
            <a:endParaRPr lang="zh-CN" altLang="en-US" sz="1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150984FC-B15D-F39A-1470-7C46EC5A4132}"/>
              </a:ext>
            </a:extLst>
          </p:cNvPr>
          <p:cNvCxnSpPr>
            <a:stCxn id="12" idx="3"/>
            <a:endCxn id="2" idx="1"/>
          </p:cNvCxnSpPr>
          <p:nvPr/>
        </p:nvCxnSpPr>
        <p:spPr>
          <a:xfrm flipV="1">
            <a:off x="2752544" y="2001243"/>
            <a:ext cx="238337"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EBBAB79F-63DC-1A1C-F7AE-39FCB5007D71}"/>
              </a:ext>
            </a:extLst>
          </p:cNvPr>
          <p:cNvCxnSpPr>
            <a:stCxn id="13" idx="3"/>
            <a:endCxn id="6" idx="1"/>
          </p:cNvCxnSpPr>
          <p:nvPr/>
        </p:nvCxnSpPr>
        <p:spPr>
          <a:xfrm flipV="1">
            <a:off x="2752544" y="2685243"/>
            <a:ext cx="238337"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74536850-2E39-6F97-9EEB-0A89E13B61A9}"/>
              </a:ext>
            </a:extLst>
          </p:cNvPr>
          <p:cNvCxnSpPr>
            <a:stCxn id="14" idx="3"/>
            <a:endCxn id="7" idx="1"/>
          </p:cNvCxnSpPr>
          <p:nvPr/>
        </p:nvCxnSpPr>
        <p:spPr>
          <a:xfrm flipV="1">
            <a:off x="2752544" y="3369243"/>
            <a:ext cx="238337"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EEF44FCD-0E93-FC46-93D9-6A8D5A15E12D}"/>
              </a:ext>
            </a:extLst>
          </p:cNvPr>
          <p:cNvCxnSpPr>
            <a:stCxn id="15" idx="3"/>
            <a:endCxn id="8" idx="1"/>
          </p:cNvCxnSpPr>
          <p:nvPr/>
        </p:nvCxnSpPr>
        <p:spPr>
          <a:xfrm flipV="1">
            <a:off x="2752544" y="4053243"/>
            <a:ext cx="238337"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25DF2FA5-2D56-E952-9DC3-6AF02B7E4BCD}"/>
              </a:ext>
            </a:extLst>
          </p:cNvPr>
          <p:cNvCxnSpPr>
            <a:stCxn id="16" idx="1"/>
            <a:endCxn id="9" idx="3"/>
          </p:cNvCxnSpPr>
          <p:nvPr/>
        </p:nvCxnSpPr>
        <p:spPr>
          <a:xfrm flipH="1" flipV="1">
            <a:off x="5908909" y="2343243"/>
            <a:ext cx="239981"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CCCEB7ED-7D00-5AE1-96E8-5AACA8D42241}"/>
              </a:ext>
            </a:extLst>
          </p:cNvPr>
          <p:cNvCxnSpPr>
            <a:stCxn id="17" idx="1"/>
            <a:endCxn id="10" idx="3"/>
          </p:cNvCxnSpPr>
          <p:nvPr/>
        </p:nvCxnSpPr>
        <p:spPr>
          <a:xfrm flipH="1" flipV="1">
            <a:off x="5908909" y="3027243"/>
            <a:ext cx="239981"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361B4CE9-7835-55D9-2B27-A53F9363287F}"/>
              </a:ext>
            </a:extLst>
          </p:cNvPr>
          <p:cNvCxnSpPr>
            <a:stCxn id="18" idx="1"/>
            <a:endCxn id="11" idx="3"/>
          </p:cNvCxnSpPr>
          <p:nvPr/>
        </p:nvCxnSpPr>
        <p:spPr>
          <a:xfrm flipH="1" flipV="1">
            <a:off x="5908909" y="3711243"/>
            <a:ext cx="239981" cy="39647"/>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28432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A810738-F540-8D57-7883-3FD9EE570ADB}"/>
              </a:ext>
            </a:extLst>
          </p:cNvPr>
          <p:cNvSpPr>
            <a:spLocks noGrp="1"/>
          </p:cNvSpPr>
          <p:nvPr>
            <p:ph type="title"/>
          </p:nvPr>
        </p:nvSpPr>
        <p:spPr>
          <a:xfrm>
            <a:off x="612000" y="144000"/>
            <a:ext cx="7920000" cy="341632"/>
          </a:xfrm>
        </p:spPr>
        <p:txBody>
          <a:bodyPr/>
          <a:lstStyle/>
          <a:p>
            <a:r>
              <a:rPr lang="en-US" altLang="zh-CN" dirty="0"/>
              <a:t>1. </a:t>
            </a:r>
            <a:r>
              <a:rPr lang="zh-CN" altLang="en-US" dirty="0"/>
              <a:t>速率 </a:t>
            </a:r>
            <a:r>
              <a:rPr lang="en-US" altLang="zh-CN" dirty="0"/>
              <a:t>bit rate</a:t>
            </a:r>
            <a:endParaRPr lang="zh-CN" altLang="en-US" dirty="0"/>
          </a:p>
        </p:txBody>
      </p:sp>
      <p:sp>
        <p:nvSpPr>
          <p:cNvPr id="4" name="内容占位符 3"/>
          <p:cNvSpPr>
            <a:spLocks noGrp="1"/>
          </p:cNvSpPr>
          <p:nvPr>
            <p:ph sz="quarter" idx="10"/>
          </p:nvPr>
        </p:nvSpPr>
        <p:spPr>
          <a:xfrm>
            <a:off x="612000" y="899999"/>
            <a:ext cx="7920000" cy="3780000"/>
          </a:xfrm>
        </p:spPr>
        <p:txBody>
          <a:bodyPr/>
          <a:lstStyle/>
          <a:p>
            <a:r>
              <a:rPr lang="zh-CN" altLang="en-US" dirty="0"/>
              <a:t>最重要的一个性能指标</a:t>
            </a:r>
            <a:endParaRPr lang="en-US" altLang="zh-CN" dirty="0"/>
          </a:p>
          <a:p>
            <a:r>
              <a:rPr lang="zh-CN" altLang="en-US" dirty="0"/>
              <a:t>指的是数据的传：送速率每秒 </a:t>
            </a:r>
            <a:r>
              <a:rPr lang="en-US" altLang="zh-CN" dirty="0"/>
              <a:t>second </a:t>
            </a:r>
            <a:r>
              <a:rPr lang="zh-CN" altLang="en-US" dirty="0"/>
              <a:t>传送多少个比特 </a:t>
            </a:r>
            <a:r>
              <a:rPr lang="en-US" altLang="zh-CN" dirty="0"/>
              <a:t>bit</a:t>
            </a:r>
          </a:p>
          <a:p>
            <a:r>
              <a:rPr lang="zh-CN" altLang="en-US" dirty="0"/>
              <a:t>也称为数据率 </a:t>
            </a:r>
            <a:r>
              <a:rPr lang="en-US" altLang="zh-CN" dirty="0"/>
              <a:t>data rate</a:t>
            </a:r>
          </a:p>
          <a:p>
            <a:r>
              <a:rPr lang="zh-CN" altLang="en-US" dirty="0"/>
              <a:t>常见单位：</a:t>
            </a:r>
            <a:r>
              <a:rPr lang="en-US" altLang="zh-CN" dirty="0"/>
              <a:t>bit/s</a:t>
            </a:r>
            <a:r>
              <a:rPr lang="zh-CN" altLang="en-US" dirty="0"/>
              <a:t>，或 </a:t>
            </a:r>
            <a:r>
              <a:rPr lang="en-US" altLang="zh-CN" dirty="0"/>
              <a:t>Kbit/s</a:t>
            </a:r>
            <a:r>
              <a:rPr lang="zh-CN" altLang="en-US" dirty="0"/>
              <a:t>、</a:t>
            </a:r>
            <a:r>
              <a:rPr lang="en-US" altLang="zh-CN" dirty="0"/>
              <a:t>Mbit/s</a:t>
            </a:r>
            <a:r>
              <a:rPr lang="zh-CN" altLang="en-US" dirty="0"/>
              <a:t>、 </a:t>
            </a:r>
            <a:r>
              <a:rPr lang="en-US" altLang="zh-CN" dirty="0"/>
              <a:t>Gbit/s </a:t>
            </a:r>
          </a:p>
          <a:p>
            <a:r>
              <a:rPr lang="zh-CN" altLang="en-US" dirty="0"/>
              <a:t>通常简写为 </a:t>
            </a:r>
            <a:r>
              <a:rPr lang="en-US" altLang="zh-CN" dirty="0"/>
              <a:t>bps</a:t>
            </a:r>
            <a:r>
              <a:rPr lang="zh-CN" altLang="en-US" dirty="0"/>
              <a:t>（</a:t>
            </a:r>
            <a:r>
              <a:rPr lang="en-US" altLang="zh-CN" dirty="0"/>
              <a:t>bit per second</a:t>
            </a:r>
            <a:r>
              <a:rPr lang="zh-CN" altLang="en-US" dirty="0"/>
              <a:t>）</a:t>
            </a:r>
            <a:endParaRPr lang="en-US" altLang="zh-CN" dirty="0"/>
          </a:p>
          <a:p>
            <a:r>
              <a:rPr lang="zh-CN" altLang="en-US" dirty="0"/>
              <a:t>速率往往是指</a:t>
            </a:r>
            <a:r>
              <a:rPr lang="zh-CN" altLang="en-US" dirty="0">
                <a:solidFill>
                  <a:srgbClr val="D4237A"/>
                </a:solidFill>
              </a:rPr>
              <a:t>额定速率</a:t>
            </a:r>
            <a:r>
              <a:rPr lang="zh-CN" altLang="en-US" dirty="0"/>
              <a:t>或</a:t>
            </a:r>
            <a:r>
              <a:rPr lang="zh-CN" altLang="en-US" dirty="0">
                <a:solidFill>
                  <a:srgbClr val="D4237A"/>
                </a:solidFill>
              </a:rPr>
              <a:t>标称速率</a:t>
            </a:r>
            <a:r>
              <a:rPr lang="zh-CN" altLang="en-US" dirty="0"/>
              <a:t>，非实际运行速率</a:t>
            </a:r>
          </a:p>
        </p:txBody>
      </p:sp>
      <p:graphicFrame>
        <p:nvGraphicFramePr>
          <p:cNvPr id="6" name="表格 5">
            <a:extLst>
              <a:ext uri="{FF2B5EF4-FFF2-40B4-BE49-F238E27FC236}">
                <a16:creationId xmlns:a16="http://schemas.microsoft.com/office/drawing/2014/main" id="{EE5AB4CF-F209-B06D-13DE-9506C0EAE7D8}"/>
              </a:ext>
            </a:extLst>
          </p:cNvPr>
          <p:cNvGraphicFramePr>
            <a:graphicFrameLocks noGrp="1"/>
          </p:cNvGraphicFramePr>
          <p:nvPr>
            <p:extLst>
              <p:ext uri="{D42A27DB-BD31-4B8C-83A1-F6EECF244321}">
                <p14:modId xmlns:p14="http://schemas.microsoft.com/office/powerpoint/2010/main" val="2926149004"/>
              </p:ext>
            </p:extLst>
          </p:nvPr>
        </p:nvGraphicFramePr>
        <p:xfrm>
          <a:off x="1512000" y="3187029"/>
          <a:ext cx="6120000" cy="1112520"/>
        </p:xfrm>
        <a:graphic>
          <a:graphicData uri="http://schemas.openxmlformats.org/drawingml/2006/table">
            <a:tbl>
              <a:tblPr firstRow="1" bandRow="1">
                <a:tableStyleId>{2D5ABB26-0587-4C30-8999-92F81FD0307C}</a:tableStyleId>
              </a:tblPr>
              <a:tblGrid>
                <a:gridCol w="1440000">
                  <a:extLst>
                    <a:ext uri="{9D8B030D-6E8A-4147-A177-3AD203B41FA5}">
                      <a16:colId xmlns:a16="http://schemas.microsoft.com/office/drawing/2014/main" val="3651162237"/>
                    </a:ext>
                  </a:extLst>
                </a:gridCol>
                <a:gridCol w="2520000">
                  <a:extLst>
                    <a:ext uri="{9D8B030D-6E8A-4147-A177-3AD203B41FA5}">
                      <a16:colId xmlns:a16="http://schemas.microsoft.com/office/drawing/2014/main" val="507947089"/>
                    </a:ext>
                  </a:extLst>
                </a:gridCol>
                <a:gridCol w="2160000">
                  <a:extLst>
                    <a:ext uri="{9D8B030D-6E8A-4147-A177-3AD203B41FA5}">
                      <a16:colId xmlns:a16="http://schemas.microsoft.com/office/drawing/2014/main" val="1124127991"/>
                    </a:ext>
                  </a:extLst>
                </a:gridCol>
              </a:tblGrid>
              <a:tr h="370840">
                <a:tc>
                  <a:txBody>
                    <a:bodyPr/>
                    <a:lstStyle/>
                    <a:p>
                      <a:pPr algn="r"/>
                      <a:r>
                        <a:rPr lang="en-US" altLang="zh-CN" sz="1400" dirty="0"/>
                        <a:t>4 </a:t>
                      </a:r>
                      <a:r>
                        <a:rPr lang="en-US" altLang="zh-CN" sz="1400" dirty="0">
                          <a:sym typeface="Symbol" pitchFamily="18" charset="2"/>
                        </a:rPr>
                        <a:t></a:t>
                      </a:r>
                      <a:r>
                        <a:rPr lang="en-US" altLang="zh-CN" sz="1400" dirty="0"/>
                        <a:t> 10</a:t>
                      </a:r>
                      <a:r>
                        <a:rPr lang="en-US" altLang="zh-CN" sz="1400" baseline="30000" dirty="0"/>
                        <a:t>10</a:t>
                      </a:r>
                      <a:r>
                        <a:rPr lang="en-US" altLang="zh-CN" sz="1400" dirty="0"/>
                        <a:t>  bit/s </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t>= 40 </a:t>
                      </a:r>
                      <a:r>
                        <a:rPr lang="en-US" altLang="zh-CN" sz="1400" dirty="0">
                          <a:sym typeface="Symbol" pitchFamily="18" charset="2"/>
                        </a:rPr>
                        <a:t></a:t>
                      </a:r>
                      <a:r>
                        <a:rPr lang="en-US" altLang="zh-CN" sz="1400" dirty="0"/>
                        <a:t> 10</a:t>
                      </a:r>
                      <a:r>
                        <a:rPr lang="en-US" altLang="zh-CN" sz="1400" baseline="30000" dirty="0"/>
                        <a:t>9</a:t>
                      </a:r>
                      <a:r>
                        <a:rPr lang="en-US" altLang="zh-CN" sz="1400" dirty="0"/>
                        <a:t> bit/s </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a:t>
                      </a:r>
                      <a:r>
                        <a:rPr lang="en-US" altLang="zh-CN" sz="1400" dirty="0"/>
                        <a:t> 40 Gbps</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1723995"/>
                  </a:ext>
                </a:extLst>
              </a:tr>
              <a:tr h="370840">
                <a:tc>
                  <a:txBody>
                    <a:bodyPr/>
                    <a:lstStyle/>
                    <a:p>
                      <a:pPr algn="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t>= 40 </a:t>
                      </a:r>
                      <a:r>
                        <a:rPr lang="en-US" altLang="zh-CN" sz="1400" dirty="0">
                          <a:sym typeface="Symbol" pitchFamily="18" charset="2"/>
                        </a:rPr>
                        <a:t></a:t>
                      </a:r>
                      <a:r>
                        <a:rPr lang="en-US" altLang="zh-CN" sz="1400" dirty="0"/>
                        <a:t> 10</a:t>
                      </a:r>
                      <a:r>
                        <a:rPr lang="en-US" altLang="zh-CN" sz="1400" baseline="30000" dirty="0"/>
                        <a:t>3 </a:t>
                      </a:r>
                      <a:r>
                        <a:rPr lang="en-US" altLang="zh-CN" sz="1400" dirty="0">
                          <a:sym typeface="Symbol" pitchFamily="18" charset="2"/>
                        </a:rPr>
                        <a:t></a:t>
                      </a:r>
                      <a:r>
                        <a:rPr lang="en-US" altLang="zh-CN" sz="1400" dirty="0"/>
                        <a:t> 10</a:t>
                      </a:r>
                      <a:r>
                        <a:rPr lang="en-US" altLang="zh-CN" sz="1400" baseline="30000" dirty="0"/>
                        <a:t>6</a:t>
                      </a:r>
                      <a:r>
                        <a:rPr lang="en-US" altLang="zh-CN" sz="1400" dirty="0"/>
                        <a:t> bit/s </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a:t>
                      </a:r>
                      <a:r>
                        <a:rPr lang="en-US" altLang="zh-CN" sz="1400" dirty="0"/>
                        <a:t> 40 </a:t>
                      </a:r>
                      <a:r>
                        <a:rPr lang="en-US" altLang="zh-CN" sz="1400" dirty="0">
                          <a:sym typeface="Symbol" pitchFamily="18" charset="2"/>
                        </a:rPr>
                        <a:t></a:t>
                      </a:r>
                      <a:r>
                        <a:rPr lang="en-US" altLang="zh-CN" sz="1400" dirty="0"/>
                        <a:t> 10</a:t>
                      </a:r>
                      <a:r>
                        <a:rPr lang="en-US" altLang="zh-CN" sz="1400" baseline="30000" dirty="0"/>
                        <a:t>3  </a:t>
                      </a:r>
                      <a:r>
                        <a:rPr lang="en-US" altLang="zh-CN" sz="1400" dirty="0"/>
                        <a:t>Mbps</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7322207"/>
                  </a:ext>
                </a:extLst>
              </a:tr>
              <a:tr h="370840">
                <a:tc>
                  <a:txBody>
                    <a:bodyPr/>
                    <a:lstStyle/>
                    <a:p>
                      <a:pPr algn="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t>= 40 </a:t>
                      </a:r>
                      <a:r>
                        <a:rPr lang="en-US" altLang="zh-CN" sz="1400" dirty="0">
                          <a:sym typeface="Symbol" pitchFamily="18" charset="2"/>
                        </a:rPr>
                        <a:t></a:t>
                      </a:r>
                      <a:r>
                        <a:rPr lang="en-US" altLang="zh-CN" sz="1400" dirty="0"/>
                        <a:t> 10</a:t>
                      </a:r>
                      <a:r>
                        <a:rPr lang="en-US" altLang="zh-CN" sz="1400" baseline="30000" dirty="0"/>
                        <a:t>3 </a:t>
                      </a:r>
                      <a:r>
                        <a:rPr lang="en-US" altLang="zh-CN" sz="1400" dirty="0">
                          <a:sym typeface="Symbol" pitchFamily="18" charset="2"/>
                        </a:rPr>
                        <a:t></a:t>
                      </a:r>
                      <a:r>
                        <a:rPr lang="en-US" altLang="zh-CN" sz="1400" dirty="0"/>
                        <a:t> 10</a:t>
                      </a:r>
                      <a:r>
                        <a:rPr lang="en-US" altLang="zh-CN" sz="1400" baseline="30000" dirty="0"/>
                        <a:t>3</a:t>
                      </a:r>
                      <a:r>
                        <a:rPr lang="en-US" altLang="zh-CN" sz="1400" dirty="0"/>
                        <a:t> </a:t>
                      </a:r>
                      <a:r>
                        <a:rPr lang="en-US" altLang="zh-CN" sz="1400" dirty="0">
                          <a:sym typeface="Symbol" pitchFamily="18" charset="2"/>
                        </a:rPr>
                        <a:t></a:t>
                      </a:r>
                      <a:r>
                        <a:rPr lang="en-US" altLang="zh-CN" sz="1400" dirty="0"/>
                        <a:t> 10</a:t>
                      </a:r>
                      <a:r>
                        <a:rPr lang="en-US" altLang="zh-CN" sz="1400" baseline="30000" dirty="0"/>
                        <a:t>3 </a:t>
                      </a:r>
                      <a:r>
                        <a:rPr lang="en-US" altLang="zh-CN" sz="1400" dirty="0"/>
                        <a:t>bit/s </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a:t>
                      </a:r>
                      <a:r>
                        <a:rPr lang="en-US" altLang="zh-CN" sz="1400" dirty="0"/>
                        <a:t> 40 </a:t>
                      </a:r>
                      <a:r>
                        <a:rPr lang="en-US" altLang="zh-CN" sz="1400" dirty="0">
                          <a:sym typeface="Symbol" pitchFamily="18" charset="2"/>
                        </a:rPr>
                        <a:t></a:t>
                      </a:r>
                      <a:r>
                        <a:rPr lang="en-US" altLang="zh-CN" sz="1400" dirty="0"/>
                        <a:t> 10</a:t>
                      </a:r>
                      <a:r>
                        <a:rPr lang="en-US" altLang="zh-CN" sz="1400" baseline="30000" dirty="0"/>
                        <a:t>3  </a:t>
                      </a:r>
                      <a:r>
                        <a:rPr lang="en-US" altLang="zh-CN" sz="1400" dirty="0">
                          <a:sym typeface="Symbol" pitchFamily="18" charset="2"/>
                        </a:rPr>
                        <a:t></a:t>
                      </a:r>
                      <a:r>
                        <a:rPr lang="en-US" altLang="zh-CN" sz="1400" dirty="0"/>
                        <a:t> 10</a:t>
                      </a:r>
                      <a:r>
                        <a:rPr lang="en-US" altLang="zh-CN" sz="1400" baseline="30000" dirty="0"/>
                        <a:t>3  </a:t>
                      </a:r>
                      <a:r>
                        <a:rPr lang="en-US" altLang="zh-CN" sz="1400" dirty="0"/>
                        <a:t>Kbps</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0185868"/>
                  </a:ext>
                </a:extLst>
              </a:tr>
            </a:tbl>
          </a:graphicData>
        </a:graphic>
      </p:graphicFrame>
      <p:pic>
        <p:nvPicPr>
          <p:cNvPr id="5" name="Picture 2">
            <a:extLst>
              <a:ext uri="{FF2B5EF4-FFF2-40B4-BE49-F238E27FC236}">
                <a16:creationId xmlns:a16="http://schemas.microsoft.com/office/drawing/2014/main" id="{7B9FD912-946F-15F7-3E38-EC5395D0DB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000" y="463501"/>
            <a:ext cx="1440000"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37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85E49DF-B476-99B9-EF51-9C0FCA9BFA1C}"/>
              </a:ext>
            </a:extLst>
          </p:cNvPr>
          <p:cNvSpPr>
            <a:spLocks noGrp="1"/>
          </p:cNvSpPr>
          <p:nvPr>
            <p:ph type="title"/>
          </p:nvPr>
        </p:nvSpPr>
        <p:spPr>
          <a:xfrm>
            <a:off x="612000" y="144000"/>
            <a:ext cx="7920000" cy="341632"/>
          </a:xfrm>
        </p:spPr>
        <p:txBody>
          <a:bodyPr/>
          <a:lstStyle/>
          <a:p>
            <a:r>
              <a:rPr lang="en-US" altLang="zh-CN" dirty="0"/>
              <a:t>2. </a:t>
            </a:r>
            <a:r>
              <a:rPr lang="zh-CN" altLang="en-US" dirty="0"/>
              <a:t>带宽 </a:t>
            </a:r>
            <a:r>
              <a:rPr lang="en-US" altLang="zh-CN" dirty="0"/>
              <a:t>bandwidth</a:t>
            </a:r>
            <a:endParaRPr lang="zh-CN" altLang="en-US" dirty="0"/>
          </a:p>
        </p:txBody>
      </p:sp>
      <p:sp>
        <p:nvSpPr>
          <p:cNvPr id="7" name="内容占位符 6">
            <a:extLst>
              <a:ext uri="{FF2B5EF4-FFF2-40B4-BE49-F238E27FC236}">
                <a16:creationId xmlns:a16="http://schemas.microsoft.com/office/drawing/2014/main" id="{7510743D-BF72-2C51-F35F-42438CB51979}"/>
              </a:ext>
            </a:extLst>
          </p:cNvPr>
          <p:cNvSpPr>
            <a:spLocks noGrp="1"/>
          </p:cNvSpPr>
          <p:nvPr>
            <p:ph sz="quarter" idx="10"/>
          </p:nvPr>
        </p:nvSpPr>
        <p:spPr>
          <a:xfrm>
            <a:off x="612000" y="899999"/>
            <a:ext cx="7920000" cy="3780000"/>
          </a:xfrm>
        </p:spPr>
        <p:txBody>
          <a:bodyPr>
            <a:normAutofit/>
          </a:bodyPr>
          <a:lstStyle/>
          <a:p>
            <a:r>
              <a:rPr lang="zh-CN" altLang="en-US" dirty="0"/>
              <a:t>频域</a:t>
            </a:r>
            <a:endParaRPr lang="en-US" altLang="zh-CN" dirty="0"/>
          </a:p>
          <a:p>
            <a:pPr lvl="1"/>
            <a:r>
              <a:rPr lang="zh-CN" altLang="en-US" dirty="0"/>
              <a:t>某个信号具有的频带宽度</a:t>
            </a:r>
          </a:p>
          <a:p>
            <a:pPr lvl="1"/>
            <a:r>
              <a:rPr lang="zh-CN" altLang="en-US" dirty="0"/>
              <a:t>单位：赫兹 </a:t>
            </a:r>
            <a:r>
              <a:rPr lang="en-US" altLang="zh-CN" dirty="0" err="1"/>
              <a:t>hz</a:t>
            </a:r>
            <a:r>
              <a:rPr lang="zh-CN" altLang="en-US" dirty="0"/>
              <a:t>、千赫 </a:t>
            </a:r>
            <a:r>
              <a:rPr lang="en-US" altLang="zh-CN" dirty="0" err="1"/>
              <a:t>Khz</a:t>
            </a:r>
            <a:r>
              <a:rPr lang="zh-CN" altLang="en-US" dirty="0"/>
              <a:t>、兆赫 </a:t>
            </a:r>
            <a:r>
              <a:rPr lang="en-US" altLang="zh-CN" dirty="0" err="1"/>
              <a:t>Mhz</a:t>
            </a:r>
            <a:r>
              <a:rPr lang="zh-CN" altLang="en-US" dirty="0"/>
              <a:t>、吉赫 </a:t>
            </a:r>
            <a:r>
              <a:rPr lang="en-US" altLang="zh-CN" dirty="0" err="1"/>
              <a:t>Ghz</a:t>
            </a:r>
            <a:endParaRPr lang="zh-CN" altLang="en-US" dirty="0"/>
          </a:p>
          <a:p>
            <a:pPr lvl="1"/>
            <a:r>
              <a:rPr lang="zh-CN" altLang="en-US" dirty="0"/>
              <a:t>某信道允许通过的信号频带范围称为该信道的带宽</a:t>
            </a:r>
            <a:r>
              <a:rPr lang="en-US" altLang="zh-CN" dirty="0"/>
              <a:t>/</a:t>
            </a:r>
            <a:r>
              <a:rPr lang="zh-CN" altLang="en-US" dirty="0"/>
              <a:t>通频带</a:t>
            </a:r>
          </a:p>
          <a:p>
            <a:r>
              <a:rPr lang="zh-CN" altLang="en-US" dirty="0"/>
              <a:t>时域</a:t>
            </a:r>
            <a:endParaRPr lang="en-US" altLang="zh-CN" dirty="0"/>
          </a:p>
          <a:p>
            <a:pPr lvl="1"/>
            <a:r>
              <a:rPr lang="zh-CN" altLang="en-US" dirty="0"/>
              <a:t>表示在单位时间内网络中的某信道所能通过的</a:t>
            </a:r>
            <a:r>
              <a:rPr lang="zh-CN" altLang="en-US" dirty="0">
                <a:solidFill>
                  <a:srgbClr val="D4237A"/>
                </a:solidFill>
              </a:rPr>
              <a:t>最高数据率</a:t>
            </a:r>
          </a:p>
          <a:p>
            <a:pPr lvl="1"/>
            <a:r>
              <a:rPr lang="zh-CN" altLang="en-US" dirty="0"/>
              <a:t>网络中某通道传送数据的能力</a:t>
            </a:r>
            <a:endParaRPr lang="en-US" altLang="zh-CN" dirty="0"/>
          </a:p>
          <a:p>
            <a:pPr lvl="1"/>
            <a:r>
              <a:rPr lang="zh-CN" altLang="en-US" dirty="0"/>
              <a:t>单位就是数据率的单位 </a:t>
            </a:r>
            <a:r>
              <a:rPr lang="en-US" altLang="en-US" dirty="0"/>
              <a:t>bit/s</a:t>
            </a:r>
            <a:endParaRPr lang="en-US" altLang="zh-CN" dirty="0"/>
          </a:p>
          <a:p>
            <a:r>
              <a:rPr lang="zh-CN" altLang="en-US" dirty="0"/>
              <a:t>两者</a:t>
            </a:r>
            <a:r>
              <a:rPr lang="zh-CN" altLang="zh-CN" dirty="0"/>
              <a:t>本质相同</a:t>
            </a:r>
            <a:r>
              <a:rPr lang="zh-CN" altLang="en-US" dirty="0"/>
              <a:t>：</a:t>
            </a:r>
            <a:r>
              <a:rPr lang="zh-CN" altLang="zh-CN" dirty="0"/>
              <a:t>一条通信链路的带宽越宽，其所能传输的最高数据率也越高</a:t>
            </a:r>
            <a:endParaRPr lang="zh-CN" altLang="en-US" dirty="0"/>
          </a:p>
        </p:txBody>
      </p:sp>
      <p:pic>
        <p:nvPicPr>
          <p:cNvPr id="3" name="Picture 2">
            <a:extLst>
              <a:ext uri="{FF2B5EF4-FFF2-40B4-BE49-F238E27FC236}">
                <a16:creationId xmlns:a16="http://schemas.microsoft.com/office/drawing/2014/main" id="{B45BD449-292A-A0E9-223B-9576202CBC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000" y="463501"/>
            <a:ext cx="1440000"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0959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B6D2ABB-F15C-5C22-55AD-23B8A06951D9}"/>
              </a:ext>
            </a:extLst>
          </p:cNvPr>
          <p:cNvSpPr>
            <a:spLocks noGrp="1"/>
          </p:cNvSpPr>
          <p:nvPr>
            <p:ph type="title"/>
          </p:nvPr>
        </p:nvSpPr>
        <p:spPr>
          <a:xfrm>
            <a:off x="612000" y="144000"/>
            <a:ext cx="7920000" cy="341632"/>
          </a:xfrm>
        </p:spPr>
        <p:txBody>
          <a:bodyPr/>
          <a:lstStyle/>
          <a:p>
            <a:r>
              <a:rPr lang="en-US" altLang="zh-CN" dirty="0"/>
              <a:t>3. </a:t>
            </a:r>
            <a:r>
              <a:rPr lang="zh-CN" altLang="en-US" dirty="0"/>
              <a:t>吞吐量 </a:t>
            </a:r>
            <a:r>
              <a:rPr lang="en-US" altLang="zh-CN" dirty="0"/>
              <a:t>(throughput)</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单位时间内通过某个网络（或信道、接口）的</a:t>
            </a:r>
            <a:r>
              <a:rPr lang="zh-CN" altLang="en-US" dirty="0">
                <a:solidFill>
                  <a:srgbClr val="D4237A"/>
                </a:solidFill>
              </a:rPr>
              <a:t>实际数据量</a:t>
            </a:r>
            <a:endParaRPr lang="en-US" altLang="zh-CN" dirty="0">
              <a:solidFill>
                <a:srgbClr val="D4237A"/>
              </a:solidFill>
            </a:endParaRPr>
          </a:p>
          <a:p>
            <a:r>
              <a:rPr lang="zh-CN" altLang="en-US" dirty="0"/>
              <a:t>受网络的带宽或网络的额定速率的限制</a:t>
            </a:r>
            <a:endParaRPr lang="en-US" altLang="zh-CN" dirty="0"/>
          </a:p>
          <a:p>
            <a:pPr lvl="1"/>
            <a:r>
              <a:rPr lang="zh-CN" altLang="en-US" dirty="0"/>
              <a:t>额定速率是绝对上限值</a:t>
            </a:r>
            <a:endParaRPr lang="en-US" altLang="zh-CN" dirty="0"/>
          </a:p>
          <a:p>
            <a:pPr lvl="1"/>
            <a:r>
              <a:rPr lang="zh-CN" altLang="en-US" dirty="0"/>
              <a:t>可能会远小于额定速率，甚至下降到零</a:t>
            </a:r>
            <a:endParaRPr lang="en-US" altLang="zh-CN" dirty="0"/>
          </a:p>
          <a:p>
            <a:r>
              <a:rPr lang="zh-CN" altLang="en-US" dirty="0"/>
              <a:t>有时可用每秒传送的字节数或帧数来表示</a:t>
            </a:r>
          </a:p>
        </p:txBody>
      </p:sp>
    </p:spTree>
    <p:extLst>
      <p:ext uri="{BB962C8B-B14F-4D97-AF65-F5344CB8AC3E}">
        <p14:creationId xmlns:p14="http://schemas.microsoft.com/office/powerpoint/2010/main" val="4131284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3180868-9227-821F-CB6B-7010FE22187C}"/>
              </a:ext>
            </a:extLst>
          </p:cNvPr>
          <p:cNvSpPr>
            <a:spLocks noGrp="1"/>
          </p:cNvSpPr>
          <p:nvPr>
            <p:ph type="title"/>
          </p:nvPr>
        </p:nvSpPr>
        <p:spPr>
          <a:xfrm>
            <a:off x="612000" y="144000"/>
            <a:ext cx="7920000" cy="341632"/>
          </a:xfrm>
        </p:spPr>
        <p:txBody>
          <a:bodyPr/>
          <a:lstStyle/>
          <a:p>
            <a:r>
              <a:rPr lang="en-US" altLang="zh-CN" dirty="0"/>
              <a:t>4. </a:t>
            </a:r>
            <a:r>
              <a:rPr lang="zh-CN" altLang="en-US" dirty="0"/>
              <a:t>时延 </a:t>
            </a:r>
            <a:r>
              <a:rPr lang="en-US" altLang="zh-CN" dirty="0"/>
              <a:t>delay</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指数据（一个报文或分组，甚至比特）从网络（或链路）的一端传送到另一端所需的时间</a:t>
            </a:r>
          </a:p>
          <a:p>
            <a:r>
              <a:rPr lang="zh-CN" altLang="en-US" dirty="0"/>
              <a:t>也称为延迟或迟延 </a:t>
            </a:r>
            <a:r>
              <a:rPr lang="en-US" altLang="zh-CN" dirty="0"/>
              <a:t>latency</a:t>
            </a:r>
          </a:p>
          <a:p>
            <a:r>
              <a:rPr lang="zh-CN" altLang="en-US" dirty="0"/>
              <a:t>组成：</a:t>
            </a:r>
          </a:p>
          <a:p>
            <a:pPr lvl="1"/>
            <a:r>
              <a:rPr lang="zh-CN" altLang="en-US" dirty="0"/>
              <a:t>发送时延</a:t>
            </a:r>
            <a:endParaRPr lang="en-US" altLang="zh-CN" dirty="0"/>
          </a:p>
          <a:p>
            <a:pPr lvl="1"/>
            <a:r>
              <a:rPr lang="zh-CN" altLang="en-US" dirty="0"/>
              <a:t>传播时延</a:t>
            </a:r>
          </a:p>
          <a:p>
            <a:pPr lvl="1"/>
            <a:r>
              <a:rPr lang="zh-CN" altLang="en-US" dirty="0"/>
              <a:t>处理时延</a:t>
            </a:r>
          </a:p>
          <a:p>
            <a:pPr lvl="1"/>
            <a:r>
              <a:rPr lang="zh-CN" altLang="en-US" dirty="0"/>
              <a:t>排队时延</a:t>
            </a:r>
            <a:endParaRPr lang="en-US" altLang="zh-CN" dirty="0"/>
          </a:p>
          <a:p>
            <a:endParaRPr lang="zh-CN" altLang="en-US" dirty="0"/>
          </a:p>
        </p:txBody>
      </p:sp>
    </p:spTree>
    <p:extLst>
      <p:ext uri="{BB962C8B-B14F-4D97-AF65-F5344CB8AC3E}">
        <p14:creationId xmlns:p14="http://schemas.microsoft.com/office/powerpoint/2010/main" val="32293182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EB513F33-92BE-8BFF-1FAA-72CFD3C81D3D}"/>
              </a:ext>
            </a:extLst>
          </p:cNvPr>
          <p:cNvSpPr>
            <a:spLocks noGrp="1"/>
          </p:cNvSpPr>
          <p:nvPr>
            <p:ph type="title"/>
          </p:nvPr>
        </p:nvSpPr>
        <p:spPr>
          <a:xfrm>
            <a:off x="612000" y="144000"/>
            <a:ext cx="7920000" cy="341632"/>
          </a:xfrm>
        </p:spPr>
        <p:txBody>
          <a:bodyPr/>
          <a:lstStyle/>
          <a:p>
            <a:r>
              <a:rPr lang="en-US" altLang="zh-CN" dirty="0"/>
              <a:t>4.1 </a:t>
            </a:r>
            <a:r>
              <a:rPr lang="zh-CN" altLang="en-US" dirty="0"/>
              <a:t>发送时延</a:t>
            </a:r>
          </a:p>
        </p:txBody>
      </p:sp>
      <p:sp>
        <p:nvSpPr>
          <p:cNvPr id="2" name="内容占位符 1"/>
          <p:cNvSpPr>
            <a:spLocks noGrp="1"/>
          </p:cNvSpPr>
          <p:nvPr>
            <p:ph sz="quarter" idx="10"/>
          </p:nvPr>
        </p:nvSpPr>
        <p:spPr>
          <a:xfrm>
            <a:off x="612000" y="899999"/>
            <a:ext cx="7920000" cy="3780000"/>
          </a:xfrm>
        </p:spPr>
        <p:txBody>
          <a:bodyPr/>
          <a:lstStyle/>
          <a:p>
            <a:r>
              <a:rPr lang="zh-CN" altLang="en-US" dirty="0"/>
              <a:t>也称为传输时延</a:t>
            </a:r>
          </a:p>
          <a:p>
            <a:r>
              <a:rPr lang="zh-CN" altLang="en-US" dirty="0"/>
              <a:t>是主机或路由器发送数据帧所需要的时间：从发送数据帧的第一个比特算起，到该帧的最后一个比特发送完毕所需的时间</a:t>
            </a:r>
            <a:endParaRPr lang="en-US" altLang="zh-CN" dirty="0"/>
          </a:p>
          <a:p>
            <a:r>
              <a:rPr lang="zh-CN" altLang="en-US" dirty="0"/>
              <a:t>发送时延发生在机器内部的发送器中，与传输信道的长度（或信号传送的距离）没有任何关系</a:t>
            </a:r>
            <a:endParaRPr lang="en-US" altLang="zh-CN" dirty="0"/>
          </a:p>
          <a:p>
            <a:endParaRPr lang="zh-CN" altLang="en-US" dirty="0"/>
          </a:p>
          <a:p>
            <a:endParaRPr lang="zh-CN" altLang="en-US" dirty="0"/>
          </a:p>
        </p:txBody>
      </p:sp>
      <p:grpSp>
        <p:nvGrpSpPr>
          <p:cNvPr id="6" name="组合 6"/>
          <p:cNvGrpSpPr>
            <a:grpSpLocks/>
          </p:cNvGrpSpPr>
          <p:nvPr/>
        </p:nvGrpSpPr>
        <p:grpSpPr bwMode="auto">
          <a:xfrm>
            <a:off x="1912375" y="2823924"/>
            <a:ext cx="5319251" cy="847785"/>
            <a:chOff x="2539747" y="4370700"/>
            <a:chExt cx="4467381" cy="847785"/>
          </a:xfrm>
        </p:grpSpPr>
        <p:sp>
          <p:nvSpPr>
            <p:cNvPr id="7" name="Text Box 9"/>
            <p:cNvSpPr txBox="1">
              <a:spLocks noChangeArrowheads="1"/>
            </p:cNvSpPr>
            <p:nvPr/>
          </p:nvSpPr>
          <p:spPr bwMode="auto">
            <a:xfrm>
              <a:off x="2539747" y="4602475"/>
              <a:ext cx="12469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发送时延 </a:t>
              </a:r>
              <a:r>
                <a:rPr lang="en-US" altLang="zh-CN" sz="2000" b="1" dirty="0">
                  <a:solidFill>
                    <a:sysClr val="windowText" lastClr="000000"/>
                  </a:solidFill>
                  <a:latin typeface="+mj-lt"/>
                  <a:ea typeface="+mj-ea"/>
                </a:rPr>
                <a:t>= </a:t>
              </a:r>
            </a:p>
          </p:txBody>
        </p:sp>
        <p:sp>
          <p:nvSpPr>
            <p:cNvPr id="8" name="Text Box 10"/>
            <p:cNvSpPr txBox="1">
              <a:spLocks noChangeArrowheads="1"/>
            </p:cNvSpPr>
            <p:nvPr/>
          </p:nvSpPr>
          <p:spPr bwMode="auto">
            <a:xfrm>
              <a:off x="4333881" y="4370700"/>
              <a:ext cx="195911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数据帧长度（</a:t>
              </a:r>
              <a:r>
                <a:rPr lang="en-US" altLang="zh-CN" sz="2000" b="1" dirty="0">
                  <a:solidFill>
                    <a:sysClr val="windowText" lastClr="000000"/>
                  </a:solidFill>
                  <a:latin typeface="+mj-lt"/>
                  <a:ea typeface="+mj-ea"/>
                </a:rPr>
                <a:t>bit</a:t>
              </a:r>
              <a:r>
                <a:rPr lang="zh-CN" altLang="en-US" sz="2000" b="1" dirty="0">
                  <a:solidFill>
                    <a:sysClr val="windowText" lastClr="000000"/>
                  </a:solidFill>
                  <a:latin typeface="+mj-lt"/>
                  <a:ea typeface="+mj-ea"/>
                </a:rPr>
                <a:t>）</a:t>
              </a:r>
            </a:p>
          </p:txBody>
        </p:sp>
        <p:sp>
          <p:nvSpPr>
            <p:cNvPr id="9" name="Text Box 11"/>
            <p:cNvSpPr txBox="1">
              <a:spLocks noChangeArrowheads="1"/>
            </p:cNvSpPr>
            <p:nvPr/>
          </p:nvSpPr>
          <p:spPr bwMode="auto">
            <a:xfrm>
              <a:off x="4337429" y="4818375"/>
              <a:ext cx="184064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发送速率（</a:t>
              </a:r>
              <a:r>
                <a:rPr lang="en-US" altLang="zh-CN" sz="2000" b="1" dirty="0">
                  <a:solidFill>
                    <a:sysClr val="windowText" lastClr="000000"/>
                  </a:solidFill>
                  <a:latin typeface="+mj-lt"/>
                  <a:ea typeface="+mj-ea"/>
                </a:rPr>
                <a:t>bit/s</a:t>
              </a:r>
              <a:r>
                <a:rPr lang="zh-CN" altLang="en-US" sz="2000" b="1" dirty="0">
                  <a:solidFill>
                    <a:sysClr val="windowText" lastClr="000000"/>
                  </a:solidFill>
                  <a:latin typeface="+mj-lt"/>
                  <a:ea typeface="+mj-ea"/>
                </a:rPr>
                <a:t>）</a:t>
              </a:r>
            </a:p>
          </p:txBody>
        </p:sp>
        <p:sp>
          <p:nvSpPr>
            <p:cNvPr id="10" name="Line 12"/>
            <p:cNvSpPr>
              <a:spLocks noChangeShapeType="1"/>
            </p:cNvSpPr>
            <p:nvPr/>
          </p:nvSpPr>
          <p:spPr bwMode="auto">
            <a:xfrm>
              <a:off x="3780428" y="4805675"/>
              <a:ext cx="32267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ysClr val="windowText" lastClr="000000"/>
                </a:solidFill>
                <a:latin typeface="+mj-lt"/>
                <a:ea typeface="+mj-ea"/>
              </a:endParaRPr>
            </a:p>
          </p:txBody>
        </p:sp>
      </p:grpSp>
    </p:spTree>
    <p:extLst>
      <p:ext uri="{BB962C8B-B14F-4D97-AF65-F5344CB8AC3E}">
        <p14:creationId xmlns:p14="http://schemas.microsoft.com/office/powerpoint/2010/main" val="35197820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D60AEE4-E10B-8BE7-E891-E7775BDCFCD3}"/>
              </a:ext>
            </a:extLst>
          </p:cNvPr>
          <p:cNvSpPr>
            <a:spLocks noGrp="1"/>
          </p:cNvSpPr>
          <p:nvPr>
            <p:ph type="title"/>
          </p:nvPr>
        </p:nvSpPr>
        <p:spPr>
          <a:xfrm>
            <a:off x="612000" y="144000"/>
            <a:ext cx="7920000" cy="341632"/>
          </a:xfrm>
        </p:spPr>
        <p:txBody>
          <a:bodyPr/>
          <a:lstStyle/>
          <a:p>
            <a:r>
              <a:rPr lang="en-US" altLang="zh-CN" dirty="0"/>
              <a:t>4.2 </a:t>
            </a:r>
            <a:r>
              <a:rPr lang="zh-CN" altLang="en-US" dirty="0"/>
              <a:t>传播时延</a:t>
            </a:r>
          </a:p>
        </p:txBody>
      </p:sp>
      <p:sp>
        <p:nvSpPr>
          <p:cNvPr id="2" name="内容占位符 1"/>
          <p:cNvSpPr>
            <a:spLocks noGrp="1"/>
          </p:cNvSpPr>
          <p:nvPr>
            <p:ph sz="quarter" idx="10"/>
          </p:nvPr>
        </p:nvSpPr>
        <p:spPr>
          <a:xfrm>
            <a:off x="612000" y="899999"/>
            <a:ext cx="7920000" cy="3780000"/>
          </a:xfrm>
        </p:spPr>
        <p:txBody>
          <a:bodyPr>
            <a:normAutofit/>
          </a:bodyPr>
          <a:lstStyle/>
          <a:p>
            <a:r>
              <a:rPr lang="zh-CN" altLang="en-US" dirty="0"/>
              <a:t>是电磁波在信道中传播一定的距离需要花费的时间</a:t>
            </a:r>
            <a:endParaRPr lang="en-US" altLang="zh-CN" dirty="0"/>
          </a:p>
          <a:p>
            <a:r>
              <a:rPr lang="zh-CN" altLang="en-US" dirty="0"/>
              <a:t>传播时延则发生在机器外部的传输信道媒体上，而与信号的发送速率无关。信号传送的距离越远，传播时延就越大</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电磁波传播速率：</a:t>
            </a:r>
            <a:endParaRPr lang="en-US" altLang="zh-CN" dirty="0"/>
          </a:p>
          <a:p>
            <a:pPr lvl="1"/>
            <a:r>
              <a:rPr lang="zh-CN" altLang="en-US" dirty="0"/>
              <a:t>自由空间的传播速率是光速 </a:t>
            </a:r>
            <a:r>
              <a:rPr lang="en-US" altLang="zh-CN" dirty="0"/>
              <a:t>= 3.0 </a:t>
            </a:r>
            <a:r>
              <a:rPr lang="en-US" altLang="zh-CN" dirty="0">
                <a:sym typeface="Symbol" pitchFamily="18" charset="2"/>
              </a:rPr>
              <a:t></a:t>
            </a:r>
            <a:r>
              <a:rPr lang="en-US" altLang="zh-CN" dirty="0"/>
              <a:t> 10</a:t>
            </a:r>
            <a:r>
              <a:rPr lang="en-US" altLang="zh-CN" baseline="30000" dirty="0"/>
              <a:t>5</a:t>
            </a:r>
            <a:r>
              <a:rPr lang="en-US" altLang="zh-CN" dirty="0"/>
              <a:t> Km/s</a:t>
            </a:r>
          </a:p>
          <a:p>
            <a:pPr lvl="1"/>
            <a:r>
              <a:rPr lang="zh-CN" altLang="en-US" dirty="0"/>
              <a:t>在铜线电缆中的传播速率约 </a:t>
            </a:r>
            <a:r>
              <a:rPr lang="en-US" altLang="zh-CN" dirty="0"/>
              <a:t>= 2.3 </a:t>
            </a:r>
            <a:r>
              <a:rPr lang="en-US" altLang="zh-CN" dirty="0">
                <a:sym typeface="Symbol" pitchFamily="18" charset="2"/>
              </a:rPr>
              <a:t></a:t>
            </a:r>
            <a:r>
              <a:rPr lang="en-US" altLang="zh-CN" dirty="0"/>
              <a:t> 10</a:t>
            </a:r>
            <a:r>
              <a:rPr lang="en-US" altLang="zh-CN" baseline="30000" dirty="0"/>
              <a:t>5</a:t>
            </a:r>
            <a:r>
              <a:rPr lang="en-US" altLang="zh-CN" dirty="0"/>
              <a:t> Km/s</a:t>
            </a:r>
          </a:p>
          <a:p>
            <a:pPr lvl="1"/>
            <a:r>
              <a:rPr lang="zh-CN" altLang="en-US" dirty="0"/>
              <a:t>在光纤中的传播速率约 </a:t>
            </a:r>
            <a:r>
              <a:rPr lang="en-US" altLang="zh-CN" dirty="0"/>
              <a:t>=</a:t>
            </a:r>
            <a:r>
              <a:rPr lang="zh-CN" altLang="en-US" dirty="0"/>
              <a:t> </a:t>
            </a:r>
            <a:r>
              <a:rPr lang="en-US" altLang="zh-CN" dirty="0"/>
              <a:t>2.0 </a:t>
            </a:r>
            <a:r>
              <a:rPr lang="en-US" altLang="zh-CN" dirty="0">
                <a:sym typeface="Symbol" pitchFamily="18" charset="2"/>
              </a:rPr>
              <a:t></a:t>
            </a:r>
            <a:r>
              <a:rPr lang="zh-CN" altLang="en-US" dirty="0"/>
              <a:t> </a:t>
            </a:r>
            <a:r>
              <a:rPr lang="en-US" altLang="zh-CN" dirty="0"/>
              <a:t>10</a:t>
            </a:r>
            <a:r>
              <a:rPr lang="en-US" altLang="zh-CN" baseline="30000" dirty="0"/>
              <a:t>5</a:t>
            </a:r>
            <a:r>
              <a:rPr lang="en-US" altLang="zh-CN" dirty="0"/>
              <a:t> Km/s</a:t>
            </a:r>
          </a:p>
        </p:txBody>
      </p:sp>
      <p:grpSp>
        <p:nvGrpSpPr>
          <p:cNvPr id="13" name="组合 13"/>
          <p:cNvGrpSpPr>
            <a:grpSpLocks/>
          </p:cNvGrpSpPr>
          <p:nvPr/>
        </p:nvGrpSpPr>
        <p:grpSpPr bwMode="auto">
          <a:xfrm>
            <a:off x="1372290" y="2118620"/>
            <a:ext cx="6399421" cy="857019"/>
            <a:chOff x="2196085" y="4343452"/>
            <a:chExt cx="5374557" cy="857019"/>
          </a:xfrm>
        </p:grpSpPr>
        <p:sp>
          <p:nvSpPr>
            <p:cNvPr id="14" name="Text Box 9"/>
            <p:cNvSpPr txBox="1">
              <a:spLocks noChangeArrowheads="1"/>
            </p:cNvSpPr>
            <p:nvPr/>
          </p:nvSpPr>
          <p:spPr bwMode="auto">
            <a:xfrm>
              <a:off x="2196085" y="4554685"/>
              <a:ext cx="124692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传播时延 </a:t>
              </a:r>
              <a:r>
                <a:rPr lang="en-US" altLang="zh-CN" sz="2000" b="1" dirty="0">
                  <a:solidFill>
                    <a:sysClr val="windowText" lastClr="000000"/>
                  </a:solidFill>
                  <a:latin typeface="+mj-lt"/>
                  <a:ea typeface="+mj-ea"/>
                </a:rPr>
                <a:t>= </a:t>
              </a:r>
            </a:p>
          </p:txBody>
        </p:sp>
        <p:sp>
          <p:nvSpPr>
            <p:cNvPr id="15" name="Text Box 10"/>
            <p:cNvSpPr txBox="1">
              <a:spLocks noChangeArrowheads="1"/>
            </p:cNvSpPr>
            <p:nvPr/>
          </p:nvSpPr>
          <p:spPr bwMode="auto">
            <a:xfrm>
              <a:off x="4527837" y="4343452"/>
              <a:ext cx="166292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信道长度（</a:t>
              </a:r>
              <a:r>
                <a:rPr lang="en-US" altLang="zh-CN" sz="2000" b="1" dirty="0">
                  <a:solidFill>
                    <a:sysClr val="windowText" lastClr="000000"/>
                  </a:solidFill>
                  <a:latin typeface="+mj-lt"/>
                  <a:ea typeface="+mj-ea"/>
                </a:rPr>
                <a:t>m</a:t>
              </a:r>
              <a:r>
                <a:rPr lang="zh-CN" altLang="en-US" sz="2000" b="1" dirty="0">
                  <a:solidFill>
                    <a:sysClr val="windowText" lastClr="000000"/>
                  </a:solidFill>
                  <a:latin typeface="+mj-lt"/>
                  <a:ea typeface="+mj-ea"/>
                </a:rPr>
                <a:t>）</a:t>
              </a:r>
            </a:p>
          </p:txBody>
        </p:sp>
        <p:sp>
          <p:nvSpPr>
            <p:cNvPr id="16" name="Text Box 11"/>
            <p:cNvSpPr txBox="1">
              <a:spLocks noChangeArrowheads="1"/>
            </p:cNvSpPr>
            <p:nvPr/>
          </p:nvSpPr>
          <p:spPr bwMode="auto">
            <a:xfrm>
              <a:off x="3429460" y="4800361"/>
              <a:ext cx="414118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ysClr val="windowText" lastClr="000000"/>
                  </a:solidFill>
                  <a:latin typeface="+mj-lt"/>
                  <a:ea typeface="+mj-ea"/>
                </a:rPr>
                <a:t>信号在信道上的传播速率（</a:t>
              </a:r>
              <a:r>
                <a:rPr lang="en-US" altLang="zh-CN" sz="2000" b="1" dirty="0">
                  <a:solidFill>
                    <a:sysClr val="windowText" lastClr="000000"/>
                  </a:solidFill>
                  <a:latin typeface="+mj-lt"/>
                  <a:ea typeface="+mj-ea"/>
                </a:rPr>
                <a:t>m/s</a:t>
              </a:r>
              <a:r>
                <a:rPr lang="zh-CN" altLang="en-US" sz="2000" b="1" dirty="0">
                  <a:solidFill>
                    <a:sysClr val="windowText" lastClr="000000"/>
                  </a:solidFill>
                  <a:latin typeface="+mj-lt"/>
                  <a:ea typeface="+mj-ea"/>
                </a:rPr>
                <a:t>）</a:t>
              </a:r>
            </a:p>
          </p:txBody>
        </p:sp>
        <p:sp>
          <p:nvSpPr>
            <p:cNvPr id="17" name="Line 12"/>
            <p:cNvSpPr>
              <a:spLocks noChangeShapeType="1"/>
            </p:cNvSpPr>
            <p:nvPr/>
          </p:nvSpPr>
          <p:spPr bwMode="auto">
            <a:xfrm>
              <a:off x="3429459" y="4759955"/>
              <a:ext cx="38424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ysClr val="windowText" lastClr="000000"/>
                </a:solidFill>
                <a:latin typeface="+mj-lt"/>
                <a:ea typeface="+mj-ea"/>
              </a:endParaRPr>
            </a:p>
          </p:txBody>
        </p:sp>
      </p:grpSp>
    </p:spTree>
    <p:extLst>
      <p:ext uri="{BB962C8B-B14F-4D97-AF65-F5344CB8AC3E}">
        <p14:creationId xmlns:p14="http://schemas.microsoft.com/office/powerpoint/2010/main" val="59751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359650C-0371-8480-50FB-BAC617F778BD}"/>
              </a:ext>
            </a:extLst>
          </p:cNvPr>
          <p:cNvSpPr>
            <a:spLocks noGrp="1"/>
          </p:cNvSpPr>
          <p:nvPr>
            <p:ph type="title"/>
          </p:nvPr>
        </p:nvSpPr>
        <p:spPr>
          <a:xfrm>
            <a:off x="612000" y="144000"/>
            <a:ext cx="7920000" cy="341632"/>
          </a:xfrm>
        </p:spPr>
        <p:txBody>
          <a:bodyPr/>
          <a:lstStyle/>
          <a:p>
            <a:r>
              <a:rPr lang="en-US" altLang="zh-CN" dirty="0"/>
              <a:t>4.3 </a:t>
            </a:r>
            <a:r>
              <a:rPr lang="zh-CN" altLang="en-US" dirty="0"/>
              <a:t>处理时延</a:t>
            </a:r>
          </a:p>
        </p:txBody>
      </p:sp>
      <p:sp>
        <p:nvSpPr>
          <p:cNvPr id="5" name="内容占位符 4"/>
          <p:cNvSpPr>
            <a:spLocks noGrp="1"/>
          </p:cNvSpPr>
          <p:nvPr>
            <p:ph sz="quarter" idx="10"/>
          </p:nvPr>
        </p:nvSpPr>
        <p:spPr>
          <a:xfrm>
            <a:off x="612000" y="899999"/>
            <a:ext cx="7920000" cy="3780000"/>
          </a:xfrm>
        </p:spPr>
        <p:txBody>
          <a:bodyPr/>
          <a:lstStyle/>
          <a:p>
            <a:r>
              <a:rPr lang="zh-CN" altLang="en-US" dirty="0"/>
              <a:t>主机或路由器在收到分组时，为处理分组（例如分析首部、提取数据、差错检验或查找路由）所花费的时间</a:t>
            </a:r>
          </a:p>
        </p:txBody>
      </p:sp>
    </p:spTree>
    <p:extLst>
      <p:ext uri="{BB962C8B-B14F-4D97-AF65-F5344CB8AC3E}">
        <p14:creationId xmlns:p14="http://schemas.microsoft.com/office/powerpoint/2010/main" val="10416022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6B772-8F63-5B56-B354-23710E020AB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57121A9-E71E-064A-2691-AAAAA7CAE4F2}"/>
              </a:ext>
            </a:extLst>
          </p:cNvPr>
          <p:cNvSpPr>
            <a:spLocks noGrp="1"/>
          </p:cNvSpPr>
          <p:nvPr>
            <p:ph type="title"/>
          </p:nvPr>
        </p:nvSpPr>
        <p:spPr>
          <a:xfrm>
            <a:off x="612000" y="144000"/>
            <a:ext cx="7920000" cy="341632"/>
          </a:xfrm>
        </p:spPr>
        <p:txBody>
          <a:bodyPr/>
          <a:lstStyle/>
          <a:p>
            <a:r>
              <a:rPr lang="en-US" altLang="zh-CN" dirty="0"/>
              <a:t>4.4 </a:t>
            </a:r>
            <a:r>
              <a:rPr lang="zh-CN" altLang="en-US" dirty="0"/>
              <a:t>排队时延</a:t>
            </a:r>
          </a:p>
        </p:txBody>
      </p:sp>
      <p:sp>
        <p:nvSpPr>
          <p:cNvPr id="5" name="内容占位符 4">
            <a:extLst>
              <a:ext uri="{FF2B5EF4-FFF2-40B4-BE49-F238E27FC236}">
                <a16:creationId xmlns:a16="http://schemas.microsoft.com/office/drawing/2014/main" id="{4B75B7D0-3809-D25B-8748-7140ED55638E}"/>
              </a:ext>
            </a:extLst>
          </p:cNvPr>
          <p:cNvSpPr>
            <a:spLocks noGrp="1"/>
          </p:cNvSpPr>
          <p:nvPr>
            <p:ph sz="quarter" idx="10"/>
          </p:nvPr>
        </p:nvSpPr>
        <p:spPr>
          <a:xfrm>
            <a:off x="612000" y="899999"/>
            <a:ext cx="7920000" cy="3780000"/>
          </a:xfrm>
        </p:spPr>
        <p:txBody>
          <a:bodyPr/>
          <a:lstStyle/>
          <a:p>
            <a:r>
              <a:rPr lang="zh-CN" altLang="en-US" dirty="0"/>
              <a:t>分组在路由器输入输出队列中排队等待处理和转发所经历的时延</a:t>
            </a:r>
          </a:p>
          <a:p>
            <a:r>
              <a:rPr lang="zh-CN" altLang="en-US" dirty="0"/>
              <a:t>排队时延的长短往往取决于网络中当时的通信量</a:t>
            </a:r>
            <a:endParaRPr lang="en-US" altLang="zh-CN" dirty="0"/>
          </a:p>
          <a:p>
            <a:r>
              <a:rPr lang="zh-CN" altLang="en-US" dirty="0"/>
              <a:t>当网络的通信量很大时会发生队列溢出，使分组丢失，这相当于排队时延为无穷大</a:t>
            </a:r>
          </a:p>
        </p:txBody>
      </p:sp>
    </p:spTree>
    <p:extLst>
      <p:ext uri="{BB962C8B-B14F-4D97-AF65-F5344CB8AC3E}">
        <p14:creationId xmlns:p14="http://schemas.microsoft.com/office/powerpoint/2010/main" val="12585844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6D5B31C-0D64-7C19-DFD5-839A99479227}"/>
              </a:ext>
            </a:extLst>
          </p:cNvPr>
          <p:cNvSpPr>
            <a:spLocks noGrp="1"/>
          </p:cNvSpPr>
          <p:nvPr>
            <p:ph type="title"/>
          </p:nvPr>
        </p:nvSpPr>
        <p:spPr>
          <a:xfrm>
            <a:off x="612000" y="144000"/>
            <a:ext cx="7920000" cy="341632"/>
          </a:xfrm>
        </p:spPr>
        <p:txBody>
          <a:bodyPr/>
          <a:lstStyle/>
          <a:p>
            <a:r>
              <a:rPr lang="en-US" altLang="zh-CN" dirty="0"/>
              <a:t>4. </a:t>
            </a:r>
            <a:r>
              <a:rPr lang="zh-CN" altLang="en-US" dirty="0"/>
              <a:t>时延 </a:t>
            </a:r>
            <a:r>
              <a:rPr lang="en-US" altLang="zh-CN" dirty="0"/>
              <a:t>delay</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endParaRPr lang="en-US" altLang="zh-CN" dirty="0"/>
          </a:p>
          <a:p>
            <a:endParaRPr lang="en-US" altLang="zh-CN" dirty="0"/>
          </a:p>
          <a:p>
            <a:endParaRPr lang="en-US" altLang="zh-CN" dirty="0"/>
          </a:p>
          <a:p>
            <a:r>
              <a:rPr lang="zh-CN" altLang="en-US" dirty="0"/>
              <a:t>一般说来，小时延的网络要优于大时延的网络</a:t>
            </a:r>
            <a:endParaRPr lang="en-US" altLang="zh-CN" dirty="0"/>
          </a:p>
          <a:p>
            <a:r>
              <a:rPr lang="zh-CN" altLang="en-US" dirty="0"/>
              <a:t>在某些情况下，一个低速率、小时延的网络很可能要优于一个高速率但大时延的网络</a:t>
            </a:r>
            <a:endParaRPr lang="en-US" altLang="zh-CN" dirty="0"/>
          </a:p>
          <a:p>
            <a:r>
              <a:rPr lang="zh-CN" altLang="zh-CN" dirty="0"/>
              <a:t>总时延中，哪一种时延占主导地位，必须具体</a:t>
            </a:r>
            <a:r>
              <a:rPr lang="zh-CN" altLang="en-US" dirty="0"/>
              <a:t>情况具体</a:t>
            </a:r>
            <a:r>
              <a:rPr lang="zh-CN" altLang="zh-CN" dirty="0"/>
              <a:t>分析</a:t>
            </a:r>
            <a:endParaRPr lang="zh-CN" altLang="en-US" dirty="0"/>
          </a:p>
        </p:txBody>
      </p:sp>
      <p:sp>
        <p:nvSpPr>
          <p:cNvPr id="6" name="矩形 13"/>
          <p:cNvSpPr>
            <a:spLocks noChangeArrowheads="1"/>
          </p:cNvSpPr>
          <p:nvPr/>
        </p:nvSpPr>
        <p:spPr bwMode="auto">
          <a:xfrm>
            <a:off x="1285583" y="1064701"/>
            <a:ext cx="657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ts val="600"/>
              </a:spcBef>
            </a:pPr>
            <a:r>
              <a:rPr lang="zh-CN" altLang="en-US" sz="2000" b="1" dirty="0">
                <a:latin typeface="微软雅黑" pitchFamily="34" charset="-122"/>
                <a:ea typeface="微软雅黑" pitchFamily="34" charset="-122"/>
              </a:rPr>
              <a:t>总时延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发送时延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传播时延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处理时延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排队时延</a:t>
            </a:r>
          </a:p>
        </p:txBody>
      </p:sp>
    </p:spTree>
    <p:extLst>
      <p:ext uri="{BB962C8B-B14F-4D97-AF65-F5344CB8AC3E}">
        <p14:creationId xmlns:p14="http://schemas.microsoft.com/office/powerpoint/2010/main" val="39509313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1" name="Rectangle 7"/>
          <p:cNvSpPr>
            <a:spLocks noChangeArrowheads="1"/>
          </p:cNvSpPr>
          <p:nvPr/>
        </p:nvSpPr>
        <p:spPr bwMode="auto">
          <a:xfrm>
            <a:off x="3006696" y="3030623"/>
            <a:ext cx="3849687" cy="169862"/>
          </a:xfrm>
          <a:prstGeom prst="rect">
            <a:avLst/>
          </a:prstGeom>
          <a:gradFill rotWithShape="1">
            <a:gsLst>
              <a:gs pos="0">
                <a:srgbClr val="339933"/>
              </a:gs>
              <a:gs pos="50000">
                <a:srgbClr val="CDF3CD"/>
              </a:gs>
              <a:gs pos="100000">
                <a:srgbClr val="339933"/>
              </a:gs>
            </a:gsLst>
            <a:lin ang="5400000" scaled="1"/>
          </a:gradFill>
          <a:ln w="9525">
            <a:solidFill>
              <a:schemeClr val="folHlink"/>
            </a:solidFill>
            <a:miter lim="800000"/>
            <a:headEnd/>
            <a:tailEnd/>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8" name="Oval 9"/>
          <p:cNvSpPr>
            <a:spLocks noChangeArrowheads="1"/>
          </p:cNvSpPr>
          <p:nvPr/>
        </p:nvSpPr>
        <p:spPr bwMode="auto">
          <a:xfrm>
            <a:off x="2122882" y="2686973"/>
            <a:ext cx="947043" cy="856832"/>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pPr fontAlgn="auto">
              <a:spcBef>
                <a:spcPts val="0"/>
              </a:spcBef>
              <a:spcAft>
                <a:spcPts val="0"/>
              </a:spcAft>
              <a:defRPr/>
            </a:pPr>
            <a:endParaRPr lang="zh-CN" altLang="en-US" sz="1200" b="1" dirty="0">
              <a:latin typeface="+mn-lt"/>
              <a:ea typeface="微软雅黑 Light" panose="020B0502040204020203" pitchFamily="34" charset="-122"/>
            </a:endParaRPr>
          </a:p>
        </p:txBody>
      </p:sp>
      <p:sp>
        <p:nvSpPr>
          <p:cNvPr id="108555" name="Oval 10"/>
          <p:cNvSpPr>
            <a:spLocks noChangeArrowheads="1"/>
          </p:cNvSpPr>
          <p:nvPr/>
        </p:nvSpPr>
        <p:spPr bwMode="auto">
          <a:xfrm>
            <a:off x="6792883" y="2687723"/>
            <a:ext cx="947738" cy="855662"/>
          </a:xfrm>
          <a:prstGeom prst="ellipse">
            <a:avLst/>
          </a:prstGeom>
          <a:gradFill rotWithShape="1">
            <a:gsLst>
              <a:gs pos="0">
                <a:srgbClr val="85D1F7"/>
              </a:gs>
              <a:gs pos="100000">
                <a:srgbClr val="0070C0"/>
              </a:gs>
            </a:gsLst>
            <a:path path="shape">
              <a:fillToRect l="50000" t="50000" r="50000" b="50000"/>
            </a:path>
          </a:gradFill>
          <a:ln w="9525">
            <a:solidFill>
              <a:schemeClr val="folHlink"/>
            </a:solidFill>
            <a:round/>
            <a:headEnd/>
            <a:tailEnd/>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11" name="Rectangle 12"/>
          <p:cNvSpPr>
            <a:spLocks noChangeArrowheads="1"/>
          </p:cNvSpPr>
          <p:nvPr/>
        </p:nvSpPr>
        <p:spPr bwMode="auto">
          <a:xfrm>
            <a:off x="2502392" y="2949660"/>
            <a:ext cx="377304" cy="295275"/>
          </a:xfrm>
          <a:prstGeom prst="rect">
            <a:avLst/>
          </a:prstGeom>
          <a:solidFill>
            <a:srgbClr val="85D1F7"/>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ea typeface="微软雅黑 Light" panose="020B0502040204020203" pitchFamily="34" charset="-122"/>
            </a:endParaRPr>
          </a:p>
        </p:txBody>
      </p:sp>
      <p:sp>
        <p:nvSpPr>
          <p:cNvPr id="108579" name="Freeform 13"/>
          <p:cNvSpPr>
            <a:spLocks/>
          </p:cNvSpPr>
          <p:nvPr/>
        </p:nvSpPr>
        <p:spPr bwMode="auto">
          <a:xfrm>
            <a:off x="2374871" y="2949660"/>
            <a:ext cx="504825" cy="295275"/>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80" name="Line 14"/>
          <p:cNvSpPr>
            <a:spLocks noChangeShapeType="1"/>
          </p:cNvSpPr>
          <p:nvPr/>
        </p:nvSpPr>
        <p:spPr bwMode="auto">
          <a:xfrm>
            <a:off x="2753490" y="2949660"/>
            <a:ext cx="0" cy="295275"/>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81" name="Line 15"/>
          <p:cNvSpPr>
            <a:spLocks noChangeShapeType="1"/>
          </p:cNvSpPr>
          <p:nvPr/>
        </p:nvSpPr>
        <p:spPr bwMode="auto">
          <a:xfrm>
            <a:off x="2627284" y="2949660"/>
            <a:ext cx="0" cy="295275"/>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82" name="Line 16"/>
          <p:cNvSpPr>
            <a:spLocks noChangeShapeType="1"/>
          </p:cNvSpPr>
          <p:nvPr/>
        </p:nvSpPr>
        <p:spPr bwMode="auto">
          <a:xfrm>
            <a:off x="2501077" y="2949660"/>
            <a:ext cx="0" cy="295275"/>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57" name="Line 17"/>
          <p:cNvSpPr>
            <a:spLocks noChangeShapeType="1"/>
          </p:cNvSpPr>
          <p:nvPr/>
        </p:nvSpPr>
        <p:spPr bwMode="auto">
          <a:xfrm>
            <a:off x="2876521" y="3108410"/>
            <a:ext cx="188912" cy="3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58" name="Rectangle 18"/>
          <p:cNvSpPr>
            <a:spLocks noChangeArrowheads="1"/>
          </p:cNvSpPr>
          <p:nvPr/>
        </p:nvSpPr>
        <p:spPr bwMode="auto">
          <a:xfrm>
            <a:off x="2927321" y="3048085"/>
            <a:ext cx="119062" cy="123825"/>
          </a:xfrm>
          <a:prstGeom prst="rect">
            <a:avLst/>
          </a:prstGeom>
          <a:solidFill>
            <a:srgbClr val="9AFEA6"/>
          </a:solidFill>
          <a:ln w="19050">
            <a:solidFill>
              <a:srgbClr val="0000FF"/>
            </a:solidFill>
            <a:miter lim="800000"/>
            <a:headEnd/>
            <a:tailEnd/>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108559" name="AutoShape 21"/>
          <p:cNvSpPr>
            <a:spLocks noChangeArrowheads="1"/>
          </p:cNvSpPr>
          <p:nvPr/>
        </p:nvSpPr>
        <p:spPr bwMode="auto">
          <a:xfrm>
            <a:off x="3448021" y="3063960"/>
            <a:ext cx="882650" cy="114300"/>
          </a:xfrm>
          <a:prstGeom prst="rightArrow">
            <a:avLst>
              <a:gd name="adj1" fmla="val 50000"/>
              <a:gd name="adj2" fmla="val 178219"/>
            </a:avLst>
          </a:prstGeom>
          <a:solidFill>
            <a:srgbClr val="FFCC00"/>
          </a:solidFill>
          <a:ln>
            <a:solidFill>
              <a:srgbClr val="000066"/>
            </a:solidFill>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108560" name="AutoShape 26"/>
          <p:cNvSpPr>
            <a:spLocks noChangeArrowheads="1"/>
          </p:cNvSpPr>
          <p:nvPr/>
        </p:nvSpPr>
        <p:spPr bwMode="auto">
          <a:xfrm>
            <a:off x="1703358" y="3063960"/>
            <a:ext cx="795338" cy="114300"/>
          </a:xfrm>
          <a:prstGeom prst="rightArrow">
            <a:avLst>
              <a:gd name="adj1" fmla="val 50000"/>
              <a:gd name="adj2" fmla="val 178436"/>
            </a:avLst>
          </a:prstGeom>
          <a:solidFill>
            <a:srgbClr val="FFCC00"/>
          </a:solidFill>
          <a:ln>
            <a:solidFill>
              <a:srgbClr val="000066"/>
            </a:solidFill>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108561" name="AutoShape 27"/>
          <p:cNvSpPr>
            <a:spLocks noChangeArrowheads="1"/>
          </p:cNvSpPr>
          <p:nvPr/>
        </p:nvSpPr>
        <p:spPr bwMode="auto">
          <a:xfrm>
            <a:off x="6313458" y="3059198"/>
            <a:ext cx="882650" cy="112712"/>
          </a:xfrm>
          <a:prstGeom prst="rightArrow">
            <a:avLst>
              <a:gd name="adj1" fmla="val 50000"/>
              <a:gd name="adj2" fmla="val 180730"/>
            </a:avLst>
          </a:prstGeom>
          <a:solidFill>
            <a:srgbClr val="FFCC00"/>
          </a:solidFill>
          <a:ln>
            <a:solidFill>
              <a:srgbClr val="000066"/>
            </a:solidFill>
          </a:ln>
        </p:spPr>
        <p:txBody>
          <a:bodyPr wrap="none" anchor="ctr"/>
          <a:lstStyle/>
          <a:p>
            <a:endParaRPr lang="zh-CN" altLang="en-US" sz="1200" b="1" dirty="0">
              <a:latin typeface="Times New Roman" panose="02020603050405020304" pitchFamily="18" charset="0"/>
              <a:ea typeface="微软雅黑 Light" panose="020B0502040204020203" pitchFamily="34" charset="-122"/>
            </a:endParaRPr>
          </a:p>
        </p:txBody>
      </p:sp>
      <p:sp>
        <p:nvSpPr>
          <p:cNvPr id="108563" name="Text Box 29"/>
          <p:cNvSpPr txBox="1">
            <a:spLocks noChangeArrowheads="1"/>
          </p:cNvSpPr>
          <p:nvPr/>
        </p:nvSpPr>
        <p:spPr bwMode="auto">
          <a:xfrm>
            <a:off x="5473671" y="288298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en-US" altLang="zh-CN" sz="2000" b="1" dirty="0">
                <a:latin typeface="Times New Roman" panose="02020603050405020304" pitchFamily="18" charset="0"/>
                <a:ea typeface="微软雅黑 Light" panose="020B0502040204020203" pitchFamily="34" charset="-122"/>
              </a:rPr>
              <a:t>…</a:t>
            </a:r>
          </a:p>
        </p:txBody>
      </p:sp>
      <p:sp>
        <p:nvSpPr>
          <p:cNvPr id="108564" name="Text Box 32"/>
          <p:cNvSpPr txBox="1">
            <a:spLocks noChangeArrowheads="1"/>
          </p:cNvSpPr>
          <p:nvPr/>
        </p:nvSpPr>
        <p:spPr bwMode="auto">
          <a:xfrm>
            <a:off x="3312180" y="337193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200">
                <a:latin typeface="+mj-ea"/>
                <a:ea typeface="+mj-ea"/>
              </a:defRPr>
            </a:lvl1pPr>
          </a:lstStyle>
          <a:p>
            <a:r>
              <a:rPr lang="zh-CN" altLang="en-US" dirty="0"/>
              <a:t>发送器</a:t>
            </a:r>
          </a:p>
        </p:txBody>
      </p:sp>
      <p:sp>
        <p:nvSpPr>
          <p:cNvPr id="108565" name="Text Box 34"/>
          <p:cNvSpPr txBox="1">
            <a:spLocks noChangeArrowheads="1"/>
          </p:cNvSpPr>
          <p:nvPr/>
        </p:nvSpPr>
        <p:spPr bwMode="auto">
          <a:xfrm>
            <a:off x="2447913" y="323078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200">
                <a:latin typeface="+mj-ea"/>
                <a:ea typeface="+mj-ea"/>
              </a:defRPr>
            </a:lvl1pPr>
          </a:lstStyle>
          <a:p>
            <a:r>
              <a:rPr lang="zh-CN" altLang="en-US" dirty="0">
                <a:solidFill>
                  <a:schemeClr val="bg1"/>
                </a:solidFill>
                <a:latin typeface="+mn-ea"/>
                <a:ea typeface="+mn-ea"/>
              </a:rPr>
              <a:t>队列</a:t>
            </a:r>
          </a:p>
        </p:txBody>
      </p:sp>
      <p:sp>
        <p:nvSpPr>
          <p:cNvPr id="26" name="Line 33"/>
          <p:cNvSpPr>
            <a:spLocks noChangeShapeType="1"/>
          </p:cNvSpPr>
          <p:nvPr/>
        </p:nvSpPr>
        <p:spPr bwMode="auto">
          <a:xfrm flipH="1">
            <a:off x="5110637" y="2329110"/>
            <a:ext cx="356247" cy="592327"/>
          </a:xfrm>
          <a:prstGeom prst="line">
            <a:avLst/>
          </a:prstGeom>
          <a:solidFill>
            <a:srgbClr val="0070C0"/>
          </a:solidFill>
          <a:ln w="28575">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ln>
                <a:solidFill>
                  <a:srgbClr val="993300"/>
                </a:solidFill>
              </a:ln>
              <a:solidFill>
                <a:schemeClr val="accent3"/>
              </a:solidFill>
              <a:latin typeface="微软雅黑" pitchFamily="34" charset="-122"/>
              <a:ea typeface="微软雅黑" pitchFamily="34" charset="-122"/>
            </a:endParaRPr>
          </a:p>
        </p:txBody>
      </p:sp>
      <p:sp>
        <p:nvSpPr>
          <p:cNvPr id="27" name="Text Box 36"/>
          <p:cNvSpPr txBox="1">
            <a:spLocks noChangeArrowheads="1"/>
          </p:cNvSpPr>
          <p:nvPr/>
        </p:nvSpPr>
        <p:spPr bwMode="auto">
          <a:xfrm>
            <a:off x="5268846" y="1883843"/>
            <a:ext cx="1485839" cy="480131"/>
          </a:xfrm>
          <a:prstGeom prst="rect">
            <a:avLst/>
          </a:prstGeom>
        </p:spPr>
        <p:txBody>
          <a:bodyPr vert="horz" lIns="91440" tIns="45720" rIns="91440" bIns="45720" rtlCol="0" anchor="ctr">
            <a:spAutoFit/>
          </a:bodyPr>
          <a:lstStyle>
            <a:defPPr>
              <a:defRPr lang="zh-CN"/>
            </a:defPPr>
            <a:lvl1pPr algn="ctr" defTabSz="685800">
              <a:lnSpc>
                <a:spcPct val="90000"/>
              </a:lnSpc>
              <a:spcBef>
                <a:spcPct val="0"/>
              </a:spcBef>
              <a:buNone/>
              <a:defRPr sz="1400">
                <a:latin typeface="+mj-lt"/>
                <a:ea typeface="+mj-ea"/>
                <a:cs typeface="+mj-cs"/>
              </a:defRPr>
            </a:lvl1pPr>
          </a:lstStyle>
          <a:p>
            <a:r>
              <a:rPr lang="zh-CN" altLang="en-US" dirty="0"/>
              <a:t>在链路上产生</a:t>
            </a:r>
          </a:p>
          <a:p>
            <a:r>
              <a:rPr lang="zh-CN" altLang="en-US" dirty="0"/>
              <a:t>传播时延</a:t>
            </a:r>
          </a:p>
        </p:txBody>
      </p:sp>
      <p:sp>
        <p:nvSpPr>
          <p:cNvPr id="108567" name="Text Box 37"/>
          <p:cNvSpPr txBox="1">
            <a:spLocks noChangeArrowheads="1"/>
          </p:cNvSpPr>
          <p:nvPr/>
        </p:nvSpPr>
        <p:spPr bwMode="auto">
          <a:xfrm>
            <a:off x="6816752" y="3557806"/>
            <a:ext cx="900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600">
                <a:latin typeface="+mj-ea"/>
                <a:ea typeface="+mj-ea"/>
              </a:defRPr>
            </a:lvl1pPr>
          </a:lstStyle>
          <a:p>
            <a:r>
              <a:rPr lang="zh-CN" altLang="en-US" dirty="0"/>
              <a:t>结点 </a:t>
            </a:r>
            <a:r>
              <a:rPr lang="en-US" altLang="zh-CN" dirty="0"/>
              <a:t>B</a:t>
            </a:r>
          </a:p>
        </p:txBody>
      </p:sp>
      <p:sp>
        <p:nvSpPr>
          <p:cNvPr id="108568" name="Text Box 38"/>
          <p:cNvSpPr txBox="1">
            <a:spLocks noChangeArrowheads="1"/>
          </p:cNvSpPr>
          <p:nvPr/>
        </p:nvSpPr>
        <p:spPr bwMode="auto">
          <a:xfrm>
            <a:off x="2146403" y="3557598"/>
            <a:ext cx="90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200">
                <a:latin typeface="+mj-ea"/>
                <a:ea typeface="+mj-ea"/>
              </a:defRPr>
            </a:lvl1pPr>
          </a:lstStyle>
          <a:p>
            <a:r>
              <a:rPr lang="zh-CN" altLang="en-US" sz="1600" dirty="0"/>
              <a:t>结点 </a:t>
            </a:r>
            <a:r>
              <a:rPr lang="en-US" altLang="zh-CN" sz="1600" dirty="0"/>
              <a:t>A</a:t>
            </a:r>
          </a:p>
        </p:txBody>
      </p:sp>
      <p:sp>
        <p:nvSpPr>
          <p:cNvPr id="32" name="Line 40"/>
          <p:cNvSpPr>
            <a:spLocks noChangeShapeType="1"/>
          </p:cNvSpPr>
          <p:nvPr/>
        </p:nvSpPr>
        <p:spPr bwMode="auto">
          <a:xfrm flipH="1">
            <a:off x="2987414" y="2151073"/>
            <a:ext cx="134976" cy="956915"/>
          </a:xfrm>
          <a:prstGeom prst="line">
            <a:avLst/>
          </a:prstGeom>
          <a:solidFill>
            <a:srgbClr val="0070C0"/>
          </a:solidFill>
          <a:ln w="28575">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solidFill>
                <a:schemeClr val="accent3"/>
              </a:solidFill>
              <a:latin typeface="微软雅黑" pitchFamily="34" charset="-122"/>
              <a:ea typeface="微软雅黑" pitchFamily="34" charset="-122"/>
            </a:endParaRPr>
          </a:p>
        </p:txBody>
      </p:sp>
      <p:sp>
        <p:nvSpPr>
          <p:cNvPr id="31" name="Text Box 24"/>
          <p:cNvSpPr txBox="1">
            <a:spLocks noChangeArrowheads="1"/>
          </p:cNvSpPr>
          <p:nvPr/>
        </p:nvSpPr>
        <p:spPr bwMode="auto">
          <a:xfrm>
            <a:off x="3035163" y="1728274"/>
            <a:ext cx="1980029" cy="480131"/>
          </a:xfrm>
          <a:prstGeom prst="rect">
            <a:avLst/>
          </a:prstGeom>
        </p:spPr>
        <p:txBody>
          <a:bodyPr vert="horz" lIns="91440" tIns="45720" rIns="91440" bIns="45720" rtlCol="0" anchor="ctr">
            <a:spAutoFit/>
          </a:bodyPr>
          <a:lstStyle>
            <a:defPPr>
              <a:defRPr lang="zh-CN"/>
            </a:defPPr>
            <a:lvl1pPr algn="ctr" defTabSz="685800">
              <a:lnSpc>
                <a:spcPct val="90000"/>
              </a:lnSpc>
              <a:spcBef>
                <a:spcPct val="0"/>
              </a:spcBef>
              <a:buNone/>
              <a:defRPr sz="1400">
                <a:latin typeface="+mj-lt"/>
                <a:ea typeface="+mj-ea"/>
                <a:cs typeface="+mj-cs"/>
              </a:defRPr>
            </a:lvl1pPr>
          </a:lstStyle>
          <a:p>
            <a:r>
              <a:rPr lang="zh-CN" altLang="en-US" dirty="0"/>
              <a:t>在发送器产生发送时延</a:t>
            </a:r>
          </a:p>
          <a:p>
            <a:r>
              <a:rPr lang="en-US" altLang="zh-CN" dirty="0"/>
              <a:t>(</a:t>
            </a:r>
            <a:r>
              <a:rPr lang="zh-CN" altLang="en-US" dirty="0"/>
              <a:t>即发送时延</a:t>
            </a:r>
            <a:r>
              <a:rPr lang="en-US" altLang="zh-CN" dirty="0"/>
              <a:t>)</a:t>
            </a:r>
          </a:p>
        </p:txBody>
      </p:sp>
      <p:sp>
        <p:nvSpPr>
          <p:cNvPr id="108570" name="Line 41"/>
          <p:cNvSpPr>
            <a:spLocks noChangeShapeType="1"/>
          </p:cNvSpPr>
          <p:nvPr/>
        </p:nvSpPr>
        <p:spPr bwMode="auto">
          <a:xfrm flipH="1" flipV="1">
            <a:off x="3027332" y="3178260"/>
            <a:ext cx="280986" cy="365123"/>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76" name="Line 39"/>
          <p:cNvSpPr>
            <a:spLocks noChangeShapeType="1"/>
          </p:cNvSpPr>
          <p:nvPr/>
        </p:nvSpPr>
        <p:spPr bwMode="auto">
          <a:xfrm>
            <a:off x="2031971" y="2151543"/>
            <a:ext cx="673894" cy="909661"/>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08577" name="Text Box 42"/>
          <p:cNvSpPr txBox="1">
            <a:spLocks noChangeArrowheads="1"/>
          </p:cNvSpPr>
          <p:nvPr/>
        </p:nvSpPr>
        <p:spPr bwMode="auto">
          <a:xfrm>
            <a:off x="944400" y="1676855"/>
            <a:ext cx="1800493" cy="480131"/>
          </a:xfrm>
          <a:prstGeom prst="rect">
            <a:avLst/>
          </a:prstGeom>
        </p:spPr>
        <p:txBody>
          <a:bodyPr vert="horz" lIns="91440" tIns="45720" rIns="91440" bIns="45720" rtlCol="0" anchor="ctr">
            <a:spAutoFit/>
          </a:bodyPr>
          <a:lstStyle>
            <a:defPPr>
              <a:defRPr lang="zh-CN"/>
            </a:defPPr>
            <a:lvl1pPr algn="ctr" defTabSz="685800">
              <a:lnSpc>
                <a:spcPct val="90000"/>
              </a:lnSpc>
              <a:spcBef>
                <a:spcPct val="0"/>
              </a:spcBef>
              <a:buNone/>
              <a:defRPr sz="1400">
                <a:latin typeface="+mj-lt"/>
                <a:ea typeface="+mj-ea"/>
                <a:cs typeface="+mj-cs"/>
              </a:defRPr>
            </a:lvl1pPr>
          </a:lstStyle>
          <a:p>
            <a:r>
              <a:rPr lang="zh-CN" altLang="en-US" dirty="0"/>
              <a:t>在这里产生</a:t>
            </a:r>
          </a:p>
          <a:p>
            <a:r>
              <a:rPr lang="zh-CN" altLang="en-US" dirty="0"/>
              <a:t>处理时延和排队时延</a:t>
            </a:r>
          </a:p>
        </p:txBody>
      </p:sp>
      <p:sp>
        <p:nvSpPr>
          <p:cNvPr id="108572" name="Text Box 46"/>
          <p:cNvSpPr txBox="1">
            <a:spLocks noChangeArrowheads="1"/>
          </p:cNvSpPr>
          <p:nvPr/>
        </p:nvSpPr>
        <p:spPr bwMode="auto">
          <a:xfrm>
            <a:off x="1696849" y="3244935"/>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200"/>
            </a:lvl1pPr>
          </a:lstStyle>
          <a:p>
            <a:r>
              <a:rPr lang="zh-CN" altLang="en-US" dirty="0">
                <a:latin typeface="+mj-ea"/>
                <a:ea typeface="+mj-ea"/>
              </a:rPr>
              <a:t>数据</a:t>
            </a:r>
          </a:p>
        </p:txBody>
      </p:sp>
      <p:sp>
        <p:nvSpPr>
          <p:cNvPr id="108573" name="Text Box 47"/>
          <p:cNvSpPr txBox="1">
            <a:spLocks noChangeArrowheads="1"/>
          </p:cNvSpPr>
          <p:nvPr/>
        </p:nvSpPr>
        <p:spPr bwMode="auto">
          <a:xfrm>
            <a:off x="2266589" y="1030136"/>
            <a:ext cx="4343217" cy="286232"/>
          </a:xfrm>
          <a:prstGeom prst="rect">
            <a:avLst/>
          </a:prstGeom>
        </p:spPr>
        <p:txBody>
          <a:bodyPr vert="horz" lIns="91440" tIns="45720" rIns="91440" bIns="45720" rtlCol="0" anchor="ctr">
            <a:spAutoFit/>
          </a:bodyPr>
          <a:lstStyle>
            <a:lvl1pPr defTabSz="685800">
              <a:lnSpc>
                <a:spcPct val="90000"/>
              </a:lnSpc>
              <a:spcBef>
                <a:spcPct val="0"/>
              </a:spcBef>
              <a:buNone/>
              <a:defRPr lang="zh-CN" altLang="en-US" dirty="0">
                <a:solidFill>
                  <a:schemeClr val="bg1"/>
                </a:solidFill>
                <a:latin typeface="+mj-lt"/>
                <a:ea typeface="+mj-ea"/>
                <a:cs typeface="+mj-cs"/>
              </a:defRPr>
            </a:lvl1pPr>
          </a:lstStyle>
          <a:p>
            <a:pPr algn="ctr"/>
            <a:r>
              <a:rPr lang="zh-CN" altLang="en-US" sz="1400" dirty="0">
                <a:solidFill>
                  <a:schemeClr val="tx1"/>
                </a:solidFill>
              </a:rPr>
              <a:t>假设从结点 </a:t>
            </a:r>
            <a:r>
              <a:rPr lang="en-US" altLang="zh-CN" sz="1400" dirty="0">
                <a:solidFill>
                  <a:schemeClr val="tx1"/>
                </a:solidFill>
              </a:rPr>
              <a:t>A </a:t>
            </a:r>
            <a:r>
              <a:rPr lang="zh-CN" altLang="en-US" sz="1400" dirty="0">
                <a:solidFill>
                  <a:schemeClr val="tx1"/>
                </a:solidFill>
              </a:rPr>
              <a:t>向结点 </a:t>
            </a:r>
            <a:r>
              <a:rPr lang="en-US" altLang="zh-CN" sz="1400" dirty="0">
                <a:solidFill>
                  <a:schemeClr val="tx1"/>
                </a:solidFill>
              </a:rPr>
              <a:t>B </a:t>
            </a:r>
            <a:r>
              <a:rPr lang="zh-CN" altLang="en-US" sz="1400" dirty="0">
                <a:solidFill>
                  <a:schemeClr val="tx1"/>
                </a:solidFill>
              </a:rPr>
              <a:t>发送数据</a:t>
            </a:r>
          </a:p>
        </p:txBody>
      </p:sp>
      <p:sp>
        <p:nvSpPr>
          <p:cNvPr id="108574" name="Text Box 48"/>
          <p:cNvSpPr txBox="1">
            <a:spLocks noChangeArrowheads="1"/>
          </p:cNvSpPr>
          <p:nvPr/>
        </p:nvSpPr>
        <p:spPr bwMode="auto">
          <a:xfrm>
            <a:off x="4585306" y="32306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defRPr sz="1200">
                <a:latin typeface="+mj-ea"/>
                <a:ea typeface="+mj-ea"/>
              </a:defRPr>
            </a:lvl1pPr>
          </a:lstStyle>
          <a:p>
            <a:r>
              <a:rPr lang="zh-CN" altLang="en-US" dirty="0"/>
              <a:t>链路</a:t>
            </a:r>
          </a:p>
        </p:txBody>
      </p:sp>
      <p:sp>
        <p:nvSpPr>
          <p:cNvPr id="108575" name="矩形 38"/>
          <p:cNvSpPr>
            <a:spLocks noChangeArrowheads="1"/>
          </p:cNvSpPr>
          <p:nvPr/>
        </p:nvSpPr>
        <p:spPr bwMode="auto">
          <a:xfrm>
            <a:off x="2285668" y="4028885"/>
            <a:ext cx="45726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200" dirty="0"/>
              <a:t>四</a:t>
            </a:r>
            <a:r>
              <a:rPr lang="zh-CN" altLang="zh-CN" sz="1200" dirty="0"/>
              <a:t>种时延产生的地方</a:t>
            </a:r>
            <a:endParaRPr lang="zh-CN" altLang="en-US" sz="1200" dirty="0"/>
          </a:p>
        </p:txBody>
      </p:sp>
      <p:cxnSp>
        <p:nvCxnSpPr>
          <p:cNvPr id="5" name="直接连接符 4"/>
          <p:cNvCxnSpPr/>
          <p:nvPr/>
        </p:nvCxnSpPr>
        <p:spPr>
          <a:xfrm>
            <a:off x="3069925"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6792883"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a:off x="3069925" y="2921437"/>
            <a:ext cx="3684858"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Freeform 119"/>
          <p:cNvSpPr>
            <a:spLocks/>
          </p:cNvSpPr>
          <p:nvPr/>
        </p:nvSpPr>
        <p:spPr bwMode="auto">
          <a:xfrm>
            <a:off x="4372342" y="3065349"/>
            <a:ext cx="1006222" cy="96385"/>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80"/>
              <a:gd name="T79" fmla="*/ 0 h 90"/>
              <a:gd name="T80" fmla="*/ 680 w 680"/>
              <a:gd name="T81" fmla="*/ 90 h 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9" name="标题 8">
            <a:extLst>
              <a:ext uri="{FF2B5EF4-FFF2-40B4-BE49-F238E27FC236}">
                <a16:creationId xmlns:a16="http://schemas.microsoft.com/office/drawing/2014/main" id="{AB889599-2EF2-AECF-A8A7-1FDEDCC5F522}"/>
              </a:ext>
            </a:extLst>
          </p:cNvPr>
          <p:cNvSpPr>
            <a:spLocks noGrp="1"/>
          </p:cNvSpPr>
          <p:nvPr>
            <p:ph type="title"/>
          </p:nvPr>
        </p:nvSpPr>
        <p:spPr>
          <a:xfrm>
            <a:off x="612000" y="144000"/>
            <a:ext cx="7920000" cy="341632"/>
          </a:xfrm>
        </p:spPr>
        <p:txBody>
          <a:bodyPr/>
          <a:lstStyle/>
          <a:p>
            <a:r>
              <a:rPr lang="en-US" altLang="zh-CN" dirty="0"/>
              <a:t>4. </a:t>
            </a:r>
            <a:r>
              <a:rPr lang="zh-CN" altLang="en-US" dirty="0"/>
              <a:t>时延 </a:t>
            </a:r>
            <a:r>
              <a:rPr lang="en-US" altLang="zh-CN" dirty="0"/>
              <a:t>delay</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FEFB68C-FECB-2051-1A96-9282D0F84733}"/>
              </a:ext>
            </a:extLst>
          </p:cNvPr>
          <p:cNvSpPr>
            <a:spLocks noGrp="1"/>
          </p:cNvSpPr>
          <p:nvPr>
            <p:ph type="title"/>
          </p:nvPr>
        </p:nvSpPr>
        <p:spPr>
          <a:xfrm>
            <a:off x="612000" y="144000"/>
            <a:ext cx="7920000" cy="341632"/>
          </a:xfrm>
        </p:spPr>
        <p:txBody>
          <a:bodyPr/>
          <a:lstStyle/>
          <a:p>
            <a:r>
              <a:rPr lang="en-US" altLang="zh-CN"/>
              <a:t>[</a:t>
            </a:r>
            <a:r>
              <a:rPr lang="zh-CN" altLang="en-US"/>
              <a:t>练习</a:t>
            </a:r>
            <a:r>
              <a:rPr lang="en-US" altLang="zh-CN"/>
              <a:t>]</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endParaRPr lang="en-US" altLang="zh-CN"/>
          </a:p>
          <a:p>
            <a:endParaRPr lang="en-US" altLang="zh-CN"/>
          </a:p>
          <a:p>
            <a:endParaRPr lang="en-US" altLang="zh-CN"/>
          </a:p>
          <a:p>
            <a:r>
              <a:rPr lang="zh-CN" altLang="en-US"/>
              <a:t>对于高速网络链路，我们提高的仅仅是数据的发送速率，而不是比特在链路上的传播速率</a:t>
            </a:r>
            <a:endParaRPr lang="en-US" altLang="zh-CN"/>
          </a:p>
          <a:p>
            <a:r>
              <a:rPr lang="zh-CN" altLang="en-US"/>
              <a:t>提高数据的发送速率只是减小了数据的发送时延</a:t>
            </a:r>
            <a:endParaRPr lang="zh-CN" altLang="en-US" dirty="0"/>
          </a:p>
        </p:txBody>
      </p:sp>
      <p:sp>
        <p:nvSpPr>
          <p:cNvPr id="2" name="矩形 1"/>
          <p:cNvSpPr/>
          <p:nvPr/>
        </p:nvSpPr>
        <p:spPr>
          <a:xfrm>
            <a:off x="612775" y="867392"/>
            <a:ext cx="7918450" cy="406971"/>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700"/>
              </a:lnSpc>
              <a:spcBef>
                <a:spcPts val="600"/>
              </a:spcBef>
            </a:pPr>
            <a:r>
              <a:rPr lang="zh-CN" altLang="en-US" b="1" dirty="0">
                <a:latin typeface="微软雅黑" pitchFamily="34" charset="-122"/>
                <a:ea typeface="微软雅黑" pitchFamily="34" charset="-122"/>
              </a:rPr>
              <a:t>判断题：</a:t>
            </a:r>
            <a:r>
              <a:rPr lang="zh-CN" altLang="zh-CN" b="1" dirty="0">
                <a:latin typeface="微软雅黑" pitchFamily="34" charset="-122"/>
                <a:ea typeface="微软雅黑" pitchFamily="34" charset="-122"/>
              </a:rPr>
              <a:t>在高速链路（或高带宽链路）上，比特会传送得更快些。</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08658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B83942AA-77AD-66EB-6B80-381C197BEA0E}"/>
              </a:ext>
            </a:extLst>
          </p:cNvPr>
          <p:cNvSpPr>
            <a:spLocks noGrp="1"/>
          </p:cNvSpPr>
          <p:nvPr>
            <p:ph type="title"/>
          </p:nvPr>
        </p:nvSpPr>
        <p:spPr>
          <a:xfrm>
            <a:off x="612000" y="144000"/>
            <a:ext cx="7920000" cy="341632"/>
          </a:xfrm>
        </p:spPr>
        <p:txBody>
          <a:bodyPr/>
          <a:lstStyle/>
          <a:p>
            <a:r>
              <a:rPr lang="en-US" altLang="zh-CN"/>
              <a:t>[</a:t>
            </a:r>
            <a:r>
              <a:rPr lang="zh-CN" altLang="en-US"/>
              <a:t>练习</a:t>
            </a:r>
            <a:r>
              <a:rPr lang="en-US" altLang="zh-CN"/>
              <a:t>]</a:t>
            </a:r>
            <a:endParaRPr lang="zh-CN" altLang="en-US" dirty="0"/>
          </a:p>
        </p:txBody>
      </p:sp>
      <p:sp>
        <p:nvSpPr>
          <p:cNvPr id="4" name="椭圆 3"/>
          <p:cNvSpPr/>
          <p:nvPr/>
        </p:nvSpPr>
        <p:spPr>
          <a:xfrm>
            <a:off x="2394997" y="1216646"/>
            <a:ext cx="418008" cy="418009"/>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endParaRPr lang="zh-CN" altLang="en-US" sz="1200" b="1">
              <a:solidFill>
                <a:schemeClr val="tx1"/>
              </a:solidFill>
              <a:ea typeface="微软雅黑 Light" panose="020B0502040204020203" pitchFamily="34" charset="-122"/>
            </a:endParaRPr>
          </a:p>
        </p:txBody>
      </p:sp>
      <p:sp>
        <p:nvSpPr>
          <p:cNvPr id="5" name="椭圆 4"/>
          <p:cNvSpPr/>
          <p:nvPr/>
        </p:nvSpPr>
        <p:spPr>
          <a:xfrm>
            <a:off x="6322563" y="1216646"/>
            <a:ext cx="418008" cy="418009"/>
          </a:xfrm>
          <a:prstGeom prst="ellipse">
            <a:avLst/>
          </a:prstGeom>
          <a:gradFill rotWithShape="1">
            <a:gsLst>
              <a:gs pos="0">
                <a:srgbClr val="85D1F7"/>
              </a:gs>
              <a:gs pos="100000">
                <a:srgbClr val="0070C0"/>
              </a:gs>
            </a:gsLst>
            <a:path path="shape">
              <a:fillToRect l="50000" t="50000" r="50000" b="50000"/>
            </a:path>
          </a:gradFill>
          <a:ln w="9525">
            <a:noFill/>
            <a:round/>
            <a:headEnd/>
            <a:tailEnd/>
          </a:ln>
        </p:spPr>
        <p:txBody>
          <a:bodyPr wrap="none" anchor="ctr"/>
          <a:lstStyle/>
          <a:p>
            <a:endParaRPr lang="zh-CN" altLang="en-US" sz="1200" b="1">
              <a:solidFill>
                <a:schemeClr val="tx1"/>
              </a:solidFill>
              <a:latin typeface="Times New Roman" panose="02020603050405020304" pitchFamily="18" charset="0"/>
              <a:ea typeface="微软雅黑 Light" panose="020B0502040204020203" pitchFamily="34" charset="-122"/>
            </a:endParaRPr>
          </a:p>
        </p:txBody>
      </p:sp>
      <p:cxnSp>
        <p:nvCxnSpPr>
          <p:cNvPr id="7" name="直接连接符 6"/>
          <p:cNvCxnSpPr>
            <a:stCxn id="4" idx="6"/>
            <a:endCxn id="5" idx="2"/>
          </p:cNvCxnSpPr>
          <p:nvPr/>
        </p:nvCxnSpPr>
        <p:spPr>
          <a:xfrm>
            <a:off x="2813005" y="1425651"/>
            <a:ext cx="35095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700399" y="1115449"/>
            <a:ext cx="1734770" cy="307777"/>
          </a:xfrm>
          <a:prstGeom prst="rect">
            <a:avLst/>
          </a:prstGeom>
          <a:noFill/>
        </p:spPr>
        <p:txBody>
          <a:bodyPr wrap="none" rtlCol="0">
            <a:spAutoFit/>
          </a:bodyPr>
          <a:lstStyle/>
          <a:p>
            <a:pPr algn="ctr"/>
            <a:r>
              <a:rPr lang="zh-CN" altLang="en-US" sz="1400" dirty="0"/>
              <a:t>光纤链路 </a:t>
            </a:r>
            <a:r>
              <a:rPr lang="en-US" altLang="zh-CN" sz="1400" dirty="0"/>
              <a:t>1000 Km</a:t>
            </a:r>
            <a:endParaRPr lang="zh-CN" altLang="en-US" sz="1400" dirty="0"/>
          </a:p>
        </p:txBody>
      </p:sp>
      <p:sp>
        <p:nvSpPr>
          <p:cNvPr id="11" name="Text Box 37"/>
          <p:cNvSpPr txBox="1">
            <a:spLocks noChangeArrowheads="1"/>
          </p:cNvSpPr>
          <p:nvPr/>
        </p:nvSpPr>
        <p:spPr bwMode="auto">
          <a:xfrm>
            <a:off x="6184699" y="1644425"/>
            <a:ext cx="724878"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B</a:t>
            </a:r>
          </a:p>
        </p:txBody>
      </p:sp>
      <p:sp>
        <p:nvSpPr>
          <p:cNvPr id="12" name="Text Box 38"/>
          <p:cNvSpPr txBox="1">
            <a:spLocks noChangeArrowheads="1"/>
          </p:cNvSpPr>
          <p:nvPr/>
        </p:nvSpPr>
        <p:spPr bwMode="auto">
          <a:xfrm>
            <a:off x="2244771" y="1644425"/>
            <a:ext cx="718466"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A</a:t>
            </a:r>
          </a:p>
        </p:txBody>
      </p:sp>
      <p:sp>
        <p:nvSpPr>
          <p:cNvPr id="18" name="文本框 17">
            <a:extLst>
              <a:ext uri="{FF2B5EF4-FFF2-40B4-BE49-F238E27FC236}">
                <a16:creationId xmlns:a16="http://schemas.microsoft.com/office/drawing/2014/main" id="{F7F89758-B5F8-E3C8-4B30-8A79F664664E}"/>
              </a:ext>
            </a:extLst>
          </p:cNvPr>
          <p:cNvSpPr txBox="1"/>
          <p:nvPr/>
        </p:nvSpPr>
        <p:spPr>
          <a:xfrm>
            <a:off x="612776" y="2283359"/>
            <a:ext cx="7918449" cy="2123658"/>
          </a:xfrm>
          <a:prstGeom prst="rect">
            <a:avLst/>
          </a:prstGeom>
          <a:noFill/>
        </p:spPr>
        <p:txBody>
          <a:bodyPr wrap="square" rtlCol="0">
            <a:spAutoFit/>
          </a:bodyPr>
          <a:lstStyle/>
          <a:p>
            <a:pPr>
              <a:spcAft>
                <a:spcPts val="600"/>
              </a:spcAft>
            </a:pPr>
            <a:r>
              <a:rPr lang="zh-CN" altLang="en-US" sz="1600" dirty="0"/>
              <a:t>结点 </a:t>
            </a:r>
            <a:r>
              <a:rPr lang="en-US" altLang="zh-CN" sz="1600" dirty="0"/>
              <a:t>A </a:t>
            </a:r>
            <a:r>
              <a:rPr lang="zh-CN" altLang="en-US" sz="1600" dirty="0"/>
              <a:t>要将一个数据块通过 </a:t>
            </a:r>
            <a:r>
              <a:rPr lang="en-US" altLang="zh-CN" sz="1600" dirty="0"/>
              <a:t>1000 Km </a:t>
            </a:r>
            <a:r>
              <a:rPr lang="zh-CN" altLang="en-US" sz="1600" dirty="0"/>
              <a:t>的光纤链路发送给结点 </a:t>
            </a:r>
            <a:r>
              <a:rPr lang="en-US" altLang="zh-CN" sz="1600" dirty="0"/>
              <a:t>B</a:t>
            </a:r>
            <a:r>
              <a:rPr lang="zh-CN" altLang="en-US" sz="1600" dirty="0"/>
              <a:t>。假设忽略处理时延和排队时延。请分别计算下列情况时的总时延，并验证“数据的发送速率越高，其传送的总时延就越小”的说法是否正确。</a:t>
            </a:r>
            <a:endParaRPr lang="en-US" altLang="zh-CN" sz="1600" dirty="0"/>
          </a:p>
          <a:p>
            <a:pPr marL="180000" lvl="1">
              <a:spcAft>
                <a:spcPts val="600"/>
              </a:spcAft>
            </a:pPr>
            <a:r>
              <a:rPr lang="zh-CN" altLang="en-US" sz="1600" dirty="0"/>
              <a:t>（</a:t>
            </a:r>
            <a:r>
              <a:rPr lang="en-US" altLang="zh-CN" sz="1600" dirty="0"/>
              <a:t>1</a:t>
            </a:r>
            <a:r>
              <a:rPr lang="zh-CN" altLang="en-US" sz="1600" dirty="0"/>
              <a:t>）数据块大小为 </a:t>
            </a:r>
            <a:r>
              <a:rPr lang="en-US" altLang="zh-CN" sz="1600" dirty="0"/>
              <a:t>100 MB</a:t>
            </a:r>
            <a:r>
              <a:rPr lang="zh-CN" altLang="en-US" sz="1600" dirty="0"/>
              <a:t>，信道带宽为 </a:t>
            </a:r>
            <a:r>
              <a:rPr lang="en-US" altLang="zh-CN" sz="1600" dirty="0"/>
              <a:t>1 Mbit/s </a:t>
            </a:r>
          </a:p>
          <a:p>
            <a:pPr marL="180000" lvl="1">
              <a:spcAft>
                <a:spcPts val="600"/>
              </a:spcAft>
            </a:pPr>
            <a:r>
              <a:rPr lang="zh-CN" altLang="en-US" sz="1600" dirty="0"/>
              <a:t>（</a:t>
            </a:r>
            <a:r>
              <a:rPr lang="en-US" altLang="zh-CN" sz="1600" dirty="0"/>
              <a:t>2</a:t>
            </a:r>
            <a:r>
              <a:rPr lang="zh-CN" altLang="en-US" sz="1600" dirty="0"/>
              <a:t>）数据块大小为 </a:t>
            </a:r>
            <a:r>
              <a:rPr lang="en-US" altLang="zh-CN" sz="1600" dirty="0"/>
              <a:t>100 MB</a:t>
            </a:r>
            <a:r>
              <a:rPr lang="zh-CN" altLang="en-US" sz="1600" dirty="0"/>
              <a:t>，信道带宽为 </a:t>
            </a:r>
            <a:r>
              <a:rPr lang="en-US" altLang="zh-CN" sz="1600" dirty="0"/>
              <a:t>100 Mbit/s</a:t>
            </a:r>
          </a:p>
          <a:p>
            <a:pPr marL="180000" lvl="1">
              <a:spcAft>
                <a:spcPts val="600"/>
              </a:spcAft>
            </a:pPr>
            <a:r>
              <a:rPr lang="zh-CN" altLang="en-US" sz="1600" dirty="0"/>
              <a:t>（</a:t>
            </a:r>
            <a:r>
              <a:rPr lang="en-US" altLang="zh-CN" sz="1600" dirty="0"/>
              <a:t>3</a:t>
            </a:r>
            <a:r>
              <a:rPr lang="zh-CN" altLang="en-US" sz="1600" dirty="0"/>
              <a:t>）数据块大小为 </a:t>
            </a:r>
            <a:r>
              <a:rPr lang="en-US" altLang="zh-CN" sz="1600" dirty="0"/>
              <a:t>1 B</a:t>
            </a:r>
            <a:r>
              <a:rPr lang="zh-CN" altLang="en-US" sz="1600" dirty="0"/>
              <a:t>，信道带宽为 </a:t>
            </a:r>
            <a:r>
              <a:rPr lang="en-US" altLang="zh-CN" sz="1600" dirty="0"/>
              <a:t>1 Mbit/s </a:t>
            </a:r>
          </a:p>
          <a:p>
            <a:pPr marL="180000" lvl="1">
              <a:spcAft>
                <a:spcPts val="600"/>
              </a:spcAft>
            </a:pPr>
            <a:r>
              <a:rPr lang="zh-CN" altLang="en-US" sz="1600" dirty="0"/>
              <a:t>（</a:t>
            </a:r>
            <a:r>
              <a:rPr lang="en-US" altLang="zh-CN" sz="1600" dirty="0"/>
              <a:t>4</a:t>
            </a:r>
            <a:r>
              <a:rPr lang="zh-CN" altLang="en-US" sz="1600" dirty="0"/>
              <a:t>）数据块大小为 </a:t>
            </a:r>
            <a:r>
              <a:rPr lang="en-US" altLang="zh-CN" sz="1600" dirty="0"/>
              <a:t>1 B</a:t>
            </a:r>
            <a:r>
              <a:rPr lang="zh-CN" altLang="en-US" sz="1600" dirty="0"/>
              <a:t>，信道带宽为 </a:t>
            </a:r>
            <a:r>
              <a:rPr lang="en-US" altLang="zh-CN" sz="1600" dirty="0"/>
              <a:t>1 Gbit/s</a:t>
            </a:r>
          </a:p>
        </p:txBody>
      </p:sp>
    </p:spTree>
    <p:extLst>
      <p:ext uri="{BB962C8B-B14F-4D97-AF65-F5344CB8AC3E}">
        <p14:creationId xmlns:p14="http://schemas.microsoft.com/office/powerpoint/2010/main" val="4792755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2085FCD-423F-F17E-E82D-5226FD96FEB4}"/>
              </a:ext>
            </a:extLst>
          </p:cNvPr>
          <p:cNvSpPr>
            <a:spLocks noGrp="1"/>
          </p:cNvSpPr>
          <p:nvPr>
            <p:ph type="title"/>
          </p:nvPr>
        </p:nvSpPr>
        <p:spPr>
          <a:xfrm>
            <a:off x="612000" y="144000"/>
            <a:ext cx="7920000" cy="341632"/>
          </a:xfrm>
        </p:spPr>
        <p:txBody>
          <a:bodyPr/>
          <a:lstStyle/>
          <a:p>
            <a:r>
              <a:rPr lang="en-US" altLang="zh-CN"/>
              <a:t>[</a:t>
            </a:r>
            <a:r>
              <a:rPr lang="zh-CN" altLang="en-US"/>
              <a:t>练习</a:t>
            </a:r>
            <a:r>
              <a:rPr lang="en-US" altLang="zh-CN"/>
              <a:t>]</a:t>
            </a:r>
            <a:endParaRPr lang="zh-CN" altLang="en-US" dirty="0"/>
          </a:p>
        </p:txBody>
      </p:sp>
      <p:sp>
        <p:nvSpPr>
          <p:cNvPr id="8" name="文本框 7">
            <a:extLst>
              <a:ext uri="{FF2B5EF4-FFF2-40B4-BE49-F238E27FC236}">
                <a16:creationId xmlns:a16="http://schemas.microsoft.com/office/drawing/2014/main" id="{B530D1CF-8F9E-74C5-554B-3449FE52AB42}"/>
              </a:ext>
            </a:extLst>
          </p:cNvPr>
          <p:cNvSpPr txBox="1"/>
          <p:nvPr/>
        </p:nvSpPr>
        <p:spPr>
          <a:xfrm>
            <a:off x="611999" y="1156444"/>
            <a:ext cx="7919999" cy="3247043"/>
          </a:xfrm>
          <a:prstGeom prst="rect">
            <a:avLst/>
          </a:prstGeom>
          <a:noFill/>
        </p:spPr>
        <p:txBody>
          <a:bodyPr wrap="square" rtlCol="0">
            <a:spAutoFit/>
          </a:bodyPr>
          <a:lstStyle/>
          <a:p>
            <a:pPr>
              <a:spcAft>
                <a:spcPts val="600"/>
              </a:spcAft>
            </a:pPr>
            <a:r>
              <a:rPr lang="zh-CN" altLang="en-US" sz="1600" dirty="0"/>
              <a:t>解：</a:t>
            </a:r>
            <a:endParaRPr lang="en-US" altLang="zh-CN" sz="1600" dirty="0"/>
          </a:p>
          <a:p>
            <a:pPr>
              <a:spcAft>
                <a:spcPts val="600"/>
              </a:spcAft>
            </a:pPr>
            <a:r>
              <a:rPr lang="zh-CN" altLang="en-US" sz="1600" dirty="0"/>
              <a:t>传播时延 </a:t>
            </a:r>
            <a:r>
              <a:rPr lang="en-US" altLang="zh-CN" sz="1600" dirty="0"/>
              <a:t>= 1000 Km / 2.0 </a:t>
            </a:r>
            <a:r>
              <a:rPr lang="en-US" altLang="zh-CN" sz="1600" dirty="0">
                <a:sym typeface="Symbol" pitchFamily="18" charset="2"/>
              </a:rPr>
              <a:t></a:t>
            </a:r>
            <a:r>
              <a:rPr lang="zh-CN" altLang="en-US" sz="1600" dirty="0"/>
              <a:t> </a:t>
            </a:r>
            <a:r>
              <a:rPr lang="en-US" altLang="zh-CN" sz="1600" dirty="0"/>
              <a:t>10</a:t>
            </a:r>
            <a:r>
              <a:rPr lang="en-US" altLang="zh-CN" sz="1600" baseline="30000" dirty="0"/>
              <a:t>5</a:t>
            </a:r>
            <a:r>
              <a:rPr lang="en-US" altLang="zh-CN" sz="1600" dirty="0"/>
              <a:t> Km/s =</a:t>
            </a:r>
            <a:r>
              <a:rPr lang="zh-CN" altLang="en-US" sz="1600" dirty="0"/>
              <a:t> </a:t>
            </a:r>
            <a:r>
              <a:rPr lang="en-US" altLang="zh-CN" sz="1600" dirty="0"/>
              <a:t>5 </a:t>
            </a:r>
            <a:r>
              <a:rPr lang="en-US" altLang="zh-CN" sz="1600" dirty="0" err="1"/>
              <a:t>ms</a:t>
            </a:r>
            <a:endParaRPr lang="en-US" altLang="zh-CN" sz="1600" dirty="0"/>
          </a:p>
          <a:p>
            <a:pPr>
              <a:spcAft>
                <a:spcPts val="600"/>
              </a:spcAft>
            </a:pPr>
            <a:r>
              <a:rPr lang="zh-CN" altLang="en-US" sz="1600" dirty="0"/>
              <a:t>（</a:t>
            </a:r>
            <a:r>
              <a:rPr lang="en-US" altLang="zh-CN" sz="1600" dirty="0"/>
              <a:t>1</a:t>
            </a:r>
            <a:r>
              <a:rPr lang="zh-CN" altLang="en-US" sz="1600" dirty="0"/>
              <a:t>）</a:t>
            </a:r>
            <a:r>
              <a:rPr lang="zh-CN" altLang="zh-CN" sz="1600" dirty="0"/>
              <a:t>发送时延</a:t>
            </a:r>
            <a:r>
              <a:rPr lang="en-US" altLang="zh-CN" sz="1600" dirty="0"/>
              <a:t> = 100 </a:t>
            </a:r>
            <a:r>
              <a:rPr lang="en-US" altLang="zh-CN" sz="1600" dirty="0">
                <a:sym typeface="Symbol" pitchFamily="18" charset="2"/>
              </a:rPr>
              <a:t></a:t>
            </a:r>
            <a:r>
              <a:rPr lang="en-US" altLang="zh-CN" sz="1600" dirty="0"/>
              <a:t> 2</a:t>
            </a:r>
            <a:r>
              <a:rPr lang="en-US" altLang="zh-CN" sz="1600" baseline="30000" dirty="0"/>
              <a:t>20</a:t>
            </a:r>
            <a:r>
              <a:rPr lang="en-US" altLang="zh-CN" sz="1600" dirty="0"/>
              <a:t> </a:t>
            </a:r>
            <a:r>
              <a:rPr lang="en-US" altLang="zh-CN" sz="1600" dirty="0">
                <a:sym typeface="Symbol" panose="05050102010706020507" pitchFamily="18" charset="2"/>
              </a:rPr>
              <a:t></a:t>
            </a:r>
            <a:r>
              <a:rPr lang="en-US" altLang="zh-CN" sz="1600" dirty="0"/>
              <a:t> 8 bit </a:t>
            </a:r>
            <a:r>
              <a:rPr lang="en-US" altLang="zh-CN" sz="1600" dirty="0">
                <a:sym typeface="Symbol" panose="05050102010706020507" pitchFamily="18" charset="2"/>
              </a:rPr>
              <a:t></a:t>
            </a:r>
            <a:r>
              <a:rPr lang="en-US" altLang="zh-CN" sz="1600" dirty="0"/>
              <a:t> 10</a:t>
            </a:r>
            <a:r>
              <a:rPr lang="en-US" altLang="zh-CN" sz="1600" baseline="30000" dirty="0"/>
              <a:t>6</a:t>
            </a:r>
            <a:r>
              <a:rPr lang="en-US" altLang="zh-CN" sz="1600" dirty="0"/>
              <a:t> bit/s= 838.9 s</a:t>
            </a:r>
          </a:p>
          <a:p>
            <a:pPr>
              <a:spcAft>
                <a:spcPts val="600"/>
              </a:spcAft>
            </a:pPr>
            <a:r>
              <a:rPr lang="en-US" altLang="zh-CN" sz="1600" dirty="0"/>
              <a:t>        </a:t>
            </a:r>
            <a:r>
              <a:rPr lang="zh-CN" altLang="en-US" sz="1600" dirty="0"/>
              <a:t>总时延 </a:t>
            </a:r>
            <a:r>
              <a:rPr lang="en-US" altLang="zh-CN" sz="1600" dirty="0"/>
              <a:t>= 838.9 s+ 0.005 s≈ 838.9 s</a:t>
            </a:r>
            <a:endParaRPr lang="zh-CN" altLang="zh-CN" sz="1600" dirty="0"/>
          </a:p>
          <a:p>
            <a:pPr>
              <a:spcAft>
                <a:spcPts val="600"/>
              </a:spcAft>
            </a:pPr>
            <a:r>
              <a:rPr lang="zh-CN" altLang="en-US" sz="1600" dirty="0"/>
              <a:t>（</a:t>
            </a:r>
            <a:r>
              <a:rPr lang="en-US" altLang="zh-CN" sz="1600" dirty="0"/>
              <a:t>2</a:t>
            </a:r>
            <a:r>
              <a:rPr lang="zh-CN" altLang="en-US" sz="1600" dirty="0"/>
              <a:t>）</a:t>
            </a:r>
            <a:r>
              <a:rPr lang="zh-CN" altLang="zh-CN" sz="1600" dirty="0"/>
              <a:t>发送时延</a:t>
            </a:r>
            <a:r>
              <a:rPr lang="en-US" altLang="zh-CN" sz="1600" dirty="0"/>
              <a:t> = 100 </a:t>
            </a:r>
            <a:r>
              <a:rPr lang="en-US" altLang="zh-CN" sz="1600" dirty="0">
                <a:sym typeface="Symbol" panose="05050102010706020507" pitchFamily="18" charset="2"/>
              </a:rPr>
              <a:t></a:t>
            </a:r>
            <a:r>
              <a:rPr lang="en-US" altLang="zh-CN" sz="1600" dirty="0"/>
              <a:t> 2</a:t>
            </a:r>
            <a:r>
              <a:rPr lang="en-US" altLang="zh-CN" sz="1600" baseline="30000" dirty="0"/>
              <a:t>20</a:t>
            </a:r>
            <a:r>
              <a:rPr lang="en-US" altLang="zh-CN" sz="1600" dirty="0"/>
              <a:t> </a:t>
            </a:r>
            <a:r>
              <a:rPr lang="en-US" altLang="zh-CN" sz="1600" dirty="0">
                <a:sym typeface="Symbol" panose="05050102010706020507" pitchFamily="18" charset="2"/>
              </a:rPr>
              <a:t></a:t>
            </a:r>
            <a:r>
              <a:rPr lang="en-US" altLang="zh-CN" sz="1600" dirty="0"/>
              <a:t> 8 bit</a:t>
            </a:r>
            <a:r>
              <a:rPr lang="en-US" altLang="zh-CN" sz="1600" dirty="0">
                <a:sym typeface="Symbol" panose="05050102010706020507" pitchFamily="18" charset="2"/>
              </a:rPr>
              <a:t></a:t>
            </a:r>
            <a:r>
              <a:rPr lang="en-US" altLang="zh-CN" sz="1600" dirty="0"/>
              <a:t> 10</a:t>
            </a:r>
            <a:r>
              <a:rPr lang="en-US" altLang="zh-CN" sz="1600" baseline="30000" dirty="0"/>
              <a:t>8</a:t>
            </a:r>
            <a:r>
              <a:rPr lang="en-US" altLang="zh-CN" sz="1600" dirty="0"/>
              <a:t> bit/s= 8.389 s</a:t>
            </a:r>
          </a:p>
          <a:p>
            <a:pPr>
              <a:spcAft>
                <a:spcPts val="600"/>
              </a:spcAft>
            </a:pPr>
            <a:r>
              <a:rPr lang="en-US" altLang="zh-CN" sz="1600" dirty="0"/>
              <a:t>        </a:t>
            </a:r>
            <a:r>
              <a:rPr lang="zh-CN" altLang="en-US" sz="1600" dirty="0"/>
              <a:t>总时延 </a:t>
            </a:r>
            <a:r>
              <a:rPr lang="en-US" altLang="zh-CN" sz="1600" dirty="0"/>
              <a:t>= 8.389 s+ 0.005</a:t>
            </a:r>
            <a:r>
              <a:rPr lang="zh-CN" altLang="en-US" sz="1600" dirty="0"/>
              <a:t> </a:t>
            </a:r>
            <a:r>
              <a:rPr lang="en-US" altLang="zh-CN" sz="1600" dirty="0"/>
              <a:t>s= 8.394 s</a:t>
            </a:r>
            <a:r>
              <a:rPr lang="zh-CN" altLang="en-US" sz="1600" dirty="0"/>
              <a:t>。缩小到（</a:t>
            </a:r>
            <a:r>
              <a:rPr lang="en-US" altLang="zh-CN" sz="1600" dirty="0"/>
              <a:t>1</a:t>
            </a:r>
            <a:r>
              <a:rPr lang="zh-CN" altLang="en-US" sz="1600" dirty="0"/>
              <a:t>）的近 </a:t>
            </a:r>
            <a:r>
              <a:rPr lang="en-US" altLang="zh-CN" sz="1600" dirty="0"/>
              <a:t>1/100</a:t>
            </a:r>
          </a:p>
          <a:p>
            <a:pPr>
              <a:spcAft>
                <a:spcPts val="600"/>
              </a:spcAft>
            </a:pPr>
            <a:r>
              <a:rPr lang="zh-CN" altLang="en-US" sz="1600" dirty="0"/>
              <a:t>（</a:t>
            </a:r>
            <a:r>
              <a:rPr lang="en-US" altLang="zh-CN" sz="1600" dirty="0"/>
              <a:t>3</a:t>
            </a:r>
            <a:r>
              <a:rPr lang="zh-CN" altLang="en-US" sz="1600" dirty="0"/>
              <a:t>）</a:t>
            </a:r>
            <a:r>
              <a:rPr lang="zh-CN" altLang="zh-CN" sz="1600" dirty="0"/>
              <a:t>发送时延</a:t>
            </a:r>
            <a:r>
              <a:rPr lang="en-US" altLang="zh-CN" sz="1600" dirty="0"/>
              <a:t> = 1 </a:t>
            </a:r>
            <a:r>
              <a:rPr lang="en-US" altLang="zh-CN" sz="1600" dirty="0">
                <a:sym typeface="Symbol" panose="05050102010706020507" pitchFamily="18" charset="2"/>
              </a:rPr>
              <a:t></a:t>
            </a:r>
            <a:r>
              <a:rPr lang="en-US" altLang="zh-CN" sz="1600" dirty="0"/>
              <a:t> 8 bit</a:t>
            </a:r>
            <a:r>
              <a:rPr lang="en-US" altLang="zh-CN" sz="1600" dirty="0">
                <a:sym typeface="Symbol" panose="05050102010706020507" pitchFamily="18" charset="2"/>
              </a:rPr>
              <a:t></a:t>
            </a:r>
            <a:r>
              <a:rPr lang="en-US" altLang="zh-CN" sz="1600" dirty="0"/>
              <a:t> 10</a:t>
            </a:r>
            <a:r>
              <a:rPr lang="en-US" altLang="zh-CN" sz="1600" baseline="30000" dirty="0"/>
              <a:t>6</a:t>
            </a:r>
            <a:r>
              <a:rPr lang="en-US" altLang="zh-CN" sz="1600" dirty="0"/>
              <a:t> bit/s= 8 </a:t>
            </a:r>
            <a:r>
              <a:rPr lang="en-US" altLang="zh-CN" sz="1600" dirty="0">
                <a:sym typeface="Symbol" panose="05050102010706020507" pitchFamily="18" charset="2"/>
              </a:rPr>
              <a:t></a:t>
            </a:r>
            <a:r>
              <a:rPr lang="en-US" altLang="zh-CN" sz="1600" dirty="0"/>
              <a:t> 10</a:t>
            </a:r>
            <a:r>
              <a:rPr lang="en-US" altLang="zh-CN" sz="1600" baseline="30000" dirty="0"/>
              <a:t>–6</a:t>
            </a:r>
            <a:r>
              <a:rPr lang="en-US" altLang="zh-CN" sz="1600" dirty="0"/>
              <a:t> s = 8 </a:t>
            </a:r>
            <a:r>
              <a:rPr lang="en-US" altLang="zh-CN" sz="1600" dirty="0">
                <a:sym typeface="Symbol" panose="05050102010706020507" pitchFamily="18" charset="2"/>
              </a:rPr>
              <a:t></a:t>
            </a:r>
            <a:r>
              <a:rPr lang="en-US" altLang="zh-CN" sz="1600" dirty="0"/>
              <a:t>s</a:t>
            </a:r>
          </a:p>
          <a:p>
            <a:pPr>
              <a:spcAft>
                <a:spcPts val="600"/>
              </a:spcAft>
            </a:pPr>
            <a:r>
              <a:rPr lang="en-US" altLang="zh-CN" sz="1600" dirty="0"/>
              <a:t>        </a:t>
            </a:r>
            <a:r>
              <a:rPr lang="zh-CN" altLang="en-US" sz="1600" dirty="0"/>
              <a:t>总时延 </a:t>
            </a:r>
            <a:r>
              <a:rPr lang="en-US" altLang="zh-CN" sz="1600" dirty="0"/>
              <a:t>= 0.008 </a:t>
            </a:r>
            <a:r>
              <a:rPr lang="en-US" altLang="zh-CN" sz="1600" dirty="0" err="1"/>
              <a:t>ms</a:t>
            </a:r>
            <a:r>
              <a:rPr lang="en-US" altLang="zh-CN" sz="1600" dirty="0"/>
              <a:t>+ 5 </a:t>
            </a:r>
            <a:r>
              <a:rPr lang="en-US" altLang="zh-CN" sz="1600" dirty="0" err="1"/>
              <a:t>ms</a:t>
            </a:r>
            <a:r>
              <a:rPr lang="en-US" altLang="zh-CN" sz="1600" dirty="0"/>
              <a:t>= 5.008 </a:t>
            </a:r>
            <a:r>
              <a:rPr lang="en-US" altLang="zh-CN" sz="1600" dirty="0" err="1"/>
              <a:t>ms</a:t>
            </a:r>
            <a:endParaRPr lang="en-US" altLang="zh-CN" sz="1600" dirty="0"/>
          </a:p>
          <a:p>
            <a:pPr>
              <a:spcAft>
                <a:spcPts val="600"/>
              </a:spcAft>
            </a:pPr>
            <a:r>
              <a:rPr lang="zh-CN" altLang="en-US" sz="1600" dirty="0"/>
              <a:t>（</a:t>
            </a:r>
            <a:r>
              <a:rPr lang="en-US" altLang="zh-CN" sz="1600" dirty="0"/>
              <a:t>4</a:t>
            </a:r>
            <a:r>
              <a:rPr lang="zh-CN" altLang="en-US" sz="1600" dirty="0"/>
              <a:t>）</a:t>
            </a:r>
            <a:r>
              <a:rPr lang="zh-CN" altLang="zh-CN" sz="1600" dirty="0"/>
              <a:t>发送时延</a:t>
            </a:r>
            <a:r>
              <a:rPr lang="en-US" altLang="zh-CN" sz="1600" dirty="0"/>
              <a:t> = 1 </a:t>
            </a:r>
            <a:r>
              <a:rPr lang="en-US" altLang="zh-CN" sz="1600" dirty="0">
                <a:sym typeface="Symbol" panose="05050102010706020507" pitchFamily="18" charset="2"/>
              </a:rPr>
              <a:t></a:t>
            </a:r>
            <a:r>
              <a:rPr lang="en-US" altLang="zh-CN" sz="1600" dirty="0"/>
              <a:t> 8 bit</a:t>
            </a:r>
            <a:r>
              <a:rPr lang="en-US" altLang="zh-CN" sz="1600" dirty="0">
                <a:sym typeface="Symbol" panose="05050102010706020507" pitchFamily="18" charset="2"/>
              </a:rPr>
              <a:t></a:t>
            </a:r>
            <a:r>
              <a:rPr lang="en-US" altLang="zh-CN" sz="1600" dirty="0"/>
              <a:t> 10</a:t>
            </a:r>
            <a:r>
              <a:rPr lang="en-US" altLang="zh-CN" sz="1600" baseline="30000" dirty="0"/>
              <a:t>9</a:t>
            </a:r>
            <a:r>
              <a:rPr lang="en-US" altLang="zh-CN" sz="1600" dirty="0"/>
              <a:t> bit/s= 8 </a:t>
            </a:r>
            <a:r>
              <a:rPr lang="en-US" altLang="zh-CN" sz="1600" dirty="0">
                <a:sym typeface="Symbol" panose="05050102010706020507" pitchFamily="18" charset="2"/>
              </a:rPr>
              <a:t></a:t>
            </a:r>
            <a:r>
              <a:rPr lang="en-US" altLang="zh-CN" sz="1600" dirty="0"/>
              <a:t> 10</a:t>
            </a:r>
            <a:r>
              <a:rPr lang="en-US" altLang="zh-CN" sz="1600" baseline="30000" dirty="0"/>
              <a:t>–9</a:t>
            </a:r>
            <a:r>
              <a:rPr lang="en-US" altLang="zh-CN" sz="1600" dirty="0"/>
              <a:t> s = 0.008 </a:t>
            </a:r>
            <a:r>
              <a:rPr lang="en-US" altLang="zh-CN" sz="1600" dirty="0">
                <a:sym typeface="Symbol" panose="05050102010706020507" pitchFamily="18" charset="2"/>
              </a:rPr>
              <a:t></a:t>
            </a:r>
            <a:r>
              <a:rPr lang="en-US" altLang="zh-CN" sz="1600" dirty="0"/>
              <a:t>s</a:t>
            </a:r>
            <a:endParaRPr lang="zh-CN" altLang="zh-CN" sz="1600" dirty="0"/>
          </a:p>
          <a:p>
            <a:pPr>
              <a:spcAft>
                <a:spcPts val="600"/>
              </a:spcAft>
            </a:pPr>
            <a:r>
              <a:rPr lang="en-US" altLang="zh-CN" sz="1600" dirty="0"/>
              <a:t>        </a:t>
            </a:r>
            <a:r>
              <a:rPr lang="zh-CN" altLang="en-US" sz="1600" dirty="0"/>
              <a:t>总时延 </a:t>
            </a:r>
            <a:r>
              <a:rPr lang="en-US" altLang="zh-CN" sz="1600" dirty="0"/>
              <a:t>= 0.000008 </a:t>
            </a:r>
            <a:r>
              <a:rPr lang="en-US" altLang="zh-CN" sz="1600" dirty="0" err="1"/>
              <a:t>ms</a:t>
            </a:r>
            <a:r>
              <a:rPr lang="en-US" altLang="zh-CN" sz="1600" dirty="0"/>
              <a:t>+ 5 </a:t>
            </a:r>
            <a:r>
              <a:rPr lang="en-US" altLang="zh-CN" sz="1600" dirty="0" err="1"/>
              <a:t>ms</a:t>
            </a:r>
            <a:r>
              <a:rPr lang="en-US" altLang="zh-CN" sz="1600" dirty="0"/>
              <a:t>= 5.000008 </a:t>
            </a:r>
            <a:r>
              <a:rPr lang="en-US" altLang="zh-CN" sz="1600" dirty="0" err="1"/>
              <a:t>ms</a:t>
            </a:r>
            <a:r>
              <a:rPr lang="zh-CN" altLang="en-US" sz="1600" dirty="0"/>
              <a:t>。与（</a:t>
            </a:r>
            <a:r>
              <a:rPr lang="en-US" altLang="zh-CN" sz="1600" dirty="0"/>
              <a:t>3</a:t>
            </a:r>
            <a:r>
              <a:rPr lang="zh-CN" altLang="en-US" sz="1600" dirty="0"/>
              <a:t>）相比没有明显减小</a:t>
            </a:r>
          </a:p>
        </p:txBody>
      </p:sp>
    </p:spTree>
    <p:extLst>
      <p:ext uri="{BB962C8B-B14F-4D97-AF65-F5344CB8AC3E}">
        <p14:creationId xmlns:p14="http://schemas.microsoft.com/office/powerpoint/2010/main" val="14645426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93B4FD1F-52B4-4419-7666-28934CDFD8E0}"/>
              </a:ext>
            </a:extLst>
          </p:cNvPr>
          <p:cNvSpPr>
            <a:spLocks noGrp="1"/>
          </p:cNvSpPr>
          <p:nvPr>
            <p:ph type="title"/>
          </p:nvPr>
        </p:nvSpPr>
        <p:spPr>
          <a:xfrm>
            <a:off x="612000" y="144000"/>
            <a:ext cx="7920000" cy="341632"/>
          </a:xfrm>
        </p:spPr>
        <p:txBody>
          <a:bodyPr/>
          <a:lstStyle/>
          <a:p>
            <a:r>
              <a:rPr lang="en-US" altLang="zh-CN"/>
              <a:t>5. </a:t>
            </a:r>
            <a:r>
              <a:rPr lang="zh-CN" altLang="en-US"/>
              <a:t>时延带宽积</a:t>
            </a:r>
            <a:endParaRPr lang="zh-CN" altLang="en-US" dirty="0"/>
          </a:p>
        </p:txBody>
      </p:sp>
      <p:sp>
        <p:nvSpPr>
          <p:cNvPr id="3" name="内容占位符 2">
            <a:extLst>
              <a:ext uri="{FF2B5EF4-FFF2-40B4-BE49-F238E27FC236}">
                <a16:creationId xmlns:a16="http://schemas.microsoft.com/office/drawing/2014/main" id="{FB2836D1-6DBE-910D-2CF9-780CBCCC5377}"/>
              </a:ext>
            </a:extLst>
          </p:cNvPr>
          <p:cNvSpPr>
            <a:spLocks noGrp="1"/>
          </p:cNvSpPr>
          <p:nvPr>
            <p:ph sz="quarter" idx="10"/>
          </p:nvPr>
        </p:nvSpPr>
        <p:spPr>
          <a:xfrm>
            <a:off x="612000" y="899999"/>
            <a:ext cx="7920000" cy="3780000"/>
          </a:xfrm>
        </p:spPr>
        <p:txBody>
          <a:bodyPr/>
          <a:lstStyle/>
          <a:p>
            <a:r>
              <a:rPr lang="zh-CN" altLang="en-US" dirty="0"/>
              <a:t>又称以比特为单位的链路长度</a:t>
            </a:r>
            <a:endParaRPr lang="en-US" altLang="zh-CN" dirty="0"/>
          </a:p>
          <a:p>
            <a:r>
              <a:rPr lang="zh-CN" altLang="en-US" dirty="0"/>
              <a:t>管道中的比特数表示：从发送端发出但尚未到达接收端的比特数</a:t>
            </a:r>
            <a:endParaRPr lang="en-US" altLang="zh-CN" dirty="0"/>
          </a:p>
          <a:p>
            <a:r>
              <a:rPr lang="zh-CN" altLang="zh-CN" dirty="0"/>
              <a:t>只有管道都充满比特时，链路才得到</a:t>
            </a:r>
            <a:r>
              <a:rPr lang="zh-CN" altLang="en-US" dirty="0"/>
              <a:t>了</a:t>
            </a:r>
            <a:r>
              <a:rPr lang="zh-CN" altLang="zh-CN" dirty="0"/>
              <a:t>充分利用</a:t>
            </a:r>
            <a:endParaRPr lang="en-US" altLang="zh-CN" dirty="0"/>
          </a:p>
          <a:p>
            <a:endParaRPr lang="zh-CN" altLang="en-US" dirty="0"/>
          </a:p>
        </p:txBody>
      </p:sp>
      <p:sp>
        <p:nvSpPr>
          <p:cNvPr id="5" name="AutoShape 37"/>
          <p:cNvSpPr>
            <a:spLocks noChangeArrowheads="1"/>
          </p:cNvSpPr>
          <p:nvPr/>
        </p:nvSpPr>
        <p:spPr bwMode="auto">
          <a:xfrm rot="-5400000">
            <a:off x="4289947" y="1331761"/>
            <a:ext cx="564106" cy="45720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1956B9"/>
              </a:solidFill>
              <a:latin typeface="微软雅黑" pitchFamily="34" charset="-122"/>
              <a:ea typeface="微软雅黑" pitchFamily="34" charset="-122"/>
            </a:endParaRPr>
          </a:p>
        </p:txBody>
      </p:sp>
      <p:sp>
        <p:nvSpPr>
          <p:cNvPr id="6" name="Line 38"/>
          <p:cNvSpPr>
            <a:spLocks noChangeShapeType="1"/>
          </p:cNvSpPr>
          <p:nvPr/>
        </p:nvSpPr>
        <p:spPr bwMode="auto">
          <a:xfrm>
            <a:off x="2435225" y="3183307"/>
            <a:ext cx="427355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7" name="Text Box 39"/>
          <p:cNvSpPr txBox="1">
            <a:spLocks noChangeArrowheads="1"/>
          </p:cNvSpPr>
          <p:nvPr/>
        </p:nvSpPr>
        <p:spPr bwMode="auto">
          <a:xfrm>
            <a:off x="3402449" y="2838819"/>
            <a:ext cx="2339102" cy="307777"/>
          </a:xfrm>
          <a:prstGeom prst="rect">
            <a:avLst/>
          </a:prstGeom>
          <a:noFill/>
        </p:spPr>
        <p:txBody>
          <a:bodyPr wrap="none" rtlCol="0">
            <a:spAutoFit/>
          </a:bodyPr>
          <a:lstStyle>
            <a:defPPr>
              <a:defRPr lang="zh-CN"/>
            </a:defPPr>
            <a:lvl1pPr algn="ctr">
              <a:defRPr sz="1400">
                <a:latin typeface="+mj-ea"/>
                <a:ea typeface="+mj-ea"/>
              </a:defRPr>
            </a:lvl1pPr>
          </a:lstStyle>
          <a:p>
            <a:r>
              <a:rPr lang="zh-CN" altLang="en-US" dirty="0"/>
              <a:t>（传播）时延（管道长度）</a:t>
            </a:r>
          </a:p>
        </p:txBody>
      </p:sp>
      <p:sp>
        <p:nvSpPr>
          <p:cNvPr id="8" name="Text Box 40"/>
          <p:cNvSpPr txBox="1">
            <a:spLocks noChangeArrowheads="1"/>
          </p:cNvSpPr>
          <p:nvPr/>
        </p:nvSpPr>
        <p:spPr bwMode="auto">
          <a:xfrm>
            <a:off x="4433026" y="3491282"/>
            <a:ext cx="65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600" b="1">
                <a:solidFill>
                  <a:schemeClr val="bg1"/>
                </a:solidFill>
                <a:latin typeface="微软雅黑" pitchFamily="34" charset="-122"/>
                <a:ea typeface="微软雅黑" pitchFamily="34" charset="-122"/>
              </a:rPr>
              <a:t>链 路</a:t>
            </a:r>
          </a:p>
        </p:txBody>
      </p:sp>
      <p:sp>
        <p:nvSpPr>
          <p:cNvPr id="10" name="Line 42"/>
          <p:cNvSpPr>
            <a:spLocks noChangeShapeType="1"/>
          </p:cNvSpPr>
          <p:nvPr/>
        </p:nvSpPr>
        <p:spPr bwMode="auto">
          <a:xfrm>
            <a:off x="2038012" y="3381125"/>
            <a:ext cx="365307" cy="213052"/>
          </a:xfrm>
          <a:prstGeom prst="line">
            <a:avLst/>
          </a:prstGeom>
          <a:noFill/>
          <a:ln w="254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11" name="Text Box 43"/>
          <p:cNvSpPr txBox="1">
            <a:spLocks noChangeArrowheads="1"/>
          </p:cNvSpPr>
          <p:nvPr/>
        </p:nvSpPr>
        <p:spPr bwMode="auto">
          <a:xfrm>
            <a:off x="2920747" y="2346742"/>
            <a:ext cx="3302507" cy="369332"/>
          </a:xfrm>
          <a:prstGeom prst="rect">
            <a:avLst/>
          </a:prstGeom>
          <a:solidFill>
            <a:srgbClr val="FFCC66"/>
          </a:solidFill>
          <a:ln>
            <a:noFill/>
          </a:ln>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b="1" dirty="0">
                <a:solidFill>
                  <a:srgbClr val="000099"/>
                </a:solidFill>
                <a:latin typeface="+mj-lt"/>
                <a:ea typeface="+mj-ea"/>
              </a:rPr>
              <a:t>时延带宽积 </a:t>
            </a:r>
            <a:r>
              <a:rPr lang="en-US" altLang="zh-CN" b="1">
                <a:solidFill>
                  <a:srgbClr val="000099"/>
                </a:solidFill>
                <a:latin typeface="+mj-lt"/>
                <a:ea typeface="+mj-ea"/>
              </a:rPr>
              <a:t>= </a:t>
            </a:r>
            <a:r>
              <a:rPr lang="zh-CN" altLang="en-US" b="1">
                <a:solidFill>
                  <a:srgbClr val="000099"/>
                </a:solidFill>
                <a:latin typeface="+mj-lt"/>
                <a:ea typeface="+mj-ea"/>
              </a:rPr>
              <a:t>传</a:t>
            </a:r>
            <a:r>
              <a:rPr lang="zh-CN" altLang="en-US" b="1" dirty="0">
                <a:solidFill>
                  <a:srgbClr val="000099"/>
                </a:solidFill>
                <a:latin typeface="+mj-lt"/>
                <a:ea typeface="+mj-ea"/>
              </a:rPr>
              <a:t>播时延 </a:t>
            </a:r>
            <a:r>
              <a:rPr lang="zh-CN" altLang="en-US" b="1" dirty="0">
                <a:solidFill>
                  <a:srgbClr val="000099"/>
                </a:solidFill>
                <a:latin typeface="+mj-lt"/>
                <a:ea typeface="+mj-ea"/>
                <a:sym typeface="Symbol" pitchFamily="18" charset="2"/>
              </a:rPr>
              <a:t> 带宽</a:t>
            </a:r>
          </a:p>
        </p:txBody>
      </p:sp>
      <p:sp>
        <p:nvSpPr>
          <p:cNvPr id="13" name="矩形 13"/>
          <p:cNvSpPr>
            <a:spLocks noChangeArrowheads="1"/>
          </p:cNvSpPr>
          <p:nvPr/>
        </p:nvSpPr>
        <p:spPr bwMode="auto">
          <a:xfrm>
            <a:off x="3671754" y="3990662"/>
            <a:ext cx="1800493" cy="307777"/>
          </a:xfrm>
          <a:prstGeom prst="rect">
            <a:avLst/>
          </a:prstGeom>
          <a:noFill/>
        </p:spPr>
        <p:txBody>
          <a:bodyPr wrap="none" rtlCol="0">
            <a:spAutoFit/>
          </a:bodyPr>
          <a:lstStyle/>
          <a:p>
            <a:pPr algn="ctr"/>
            <a:r>
              <a:rPr lang="zh-CN" altLang="zh-CN" sz="1400" dirty="0">
                <a:latin typeface="+mj-ea"/>
                <a:ea typeface="+mj-ea"/>
              </a:rPr>
              <a:t>链路像一条空心管道</a:t>
            </a:r>
            <a:endParaRPr lang="zh-CN" altLang="en-US" sz="1400" dirty="0">
              <a:latin typeface="+mj-ea"/>
              <a:ea typeface="+mj-ea"/>
            </a:endParaRPr>
          </a:p>
        </p:txBody>
      </p:sp>
      <p:sp>
        <p:nvSpPr>
          <p:cNvPr id="18" name="文本框 17">
            <a:extLst>
              <a:ext uri="{FF2B5EF4-FFF2-40B4-BE49-F238E27FC236}">
                <a16:creationId xmlns:a16="http://schemas.microsoft.com/office/drawing/2014/main" id="{1103AA70-B3E9-CF01-23AA-0A29568D269C}"/>
              </a:ext>
            </a:extLst>
          </p:cNvPr>
          <p:cNvSpPr txBox="1"/>
          <p:nvPr/>
        </p:nvSpPr>
        <p:spPr>
          <a:xfrm>
            <a:off x="740345" y="2940251"/>
            <a:ext cx="1441420" cy="523220"/>
          </a:xfrm>
          <a:prstGeom prst="rect">
            <a:avLst/>
          </a:prstGeom>
          <a:noFill/>
        </p:spPr>
        <p:txBody>
          <a:bodyPr wrap="none" rtlCol="0">
            <a:spAutoFit/>
          </a:bodyPr>
          <a:lstStyle/>
          <a:p>
            <a:pPr algn="ctr"/>
            <a:r>
              <a:rPr lang="zh-CN" altLang="en-US" sz="1400" dirty="0">
                <a:latin typeface="+mj-ea"/>
                <a:ea typeface="+mj-ea"/>
              </a:rPr>
              <a:t>带宽</a:t>
            </a:r>
          </a:p>
          <a:p>
            <a:pPr algn="ctr"/>
            <a:r>
              <a:rPr lang="zh-CN" altLang="en-US" sz="1400" dirty="0">
                <a:latin typeface="+mj-ea"/>
                <a:ea typeface="+mj-ea"/>
              </a:rPr>
              <a:t>（管道截面积）</a:t>
            </a:r>
          </a:p>
        </p:txBody>
      </p:sp>
    </p:spTree>
    <p:extLst>
      <p:ext uri="{BB962C8B-B14F-4D97-AF65-F5344CB8AC3E}">
        <p14:creationId xmlns:p14="http://schemas.microsoft.com/office/powerpoint/2010/main" val="17168711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1829EBCF-626A-ACC7-ECFA-9A051E2EDC22}"/>
              </a:ext>
            </a:extLst>
          </p:cNvPr>
          <p:cNvSpPr>
            <a:spLocks noGrp="1"/>
          </p:cNvSpPr>
          <p:nvPr>
            <p:ph type="title"/>
          </p:nvPr>
        </p:nvSpPr>
        <p:spPr>
          <a:xfrm>
            <a:off x="612000" y="144000"/>
            <a:ext cx="7920000" cy="341632"/>
          </a:xfrm>
        </p:spPr>
        <p:txBody>
          <a:bodyPr/>
          <a:lstStyle/>
          <a:p>
            <a:r>
              <a:rPr lang="en-US" altLang="zh-CN" dirty="0"/>
              <a:t>6. </a:t>
            </a:r>
            <a:r>
              <a:rPr lang="zh-CN" altLang="en-US" dirty="0"/>
              <a:t>往返时间 </a:t>
            </a:r>
            <a:r>
              <a:rPr lang="en-US" altLang="zh-CN" dirty="0"/>
              <a:t>RTT</a:t>
            </a:r>
            <a:endParaRPr lang="zh-CN" altLang="en-US" dirty="0"/>
          </a:p>
        </p:txBody>
      </p:sp>
      <p:sp>
        <p:nvSpPr>
          <p:cNvPr id="3" name="内容占位符 2"/>
          <p:cNvSpPr>
            <a:spLocks noGrp="1"/>
          </p:cNvSpPr>
          <p:nvPr>
            <p:ph sz="quarter" idx="10"/>
          </p:nvPr>
        </p:nvSpPr>
        <p:spPr>
          <a:xfrm>
            <a:off x="612775" y="900113"/>
            <a:ext cx="7918450" cy="3779837"/>
          </a:xfrm>
        </p:spPr>
        <p:txBody>
          <a:bodyPr/>
          <a:lstStyle/>
          <a:p>
            <a:r>
              <a:rPr lang="en-US" altLang="zh-CN" dirty="0"/>
              <a:t>Round-Trip Time</a:t>
            </a:r>
          </a:p>
          <a:p>
            <a:r>
              <a:rPr lang="zh-CN" altLang="en-US" dirty="0"/>
              <a:t>表示从发送方</a:t>
            </a:r>
            <a:r>
              <a:rPr lang="en-US" altLang="zh-CN" dirty="0"/>
              <a:t>A</a:t>
            </a:r>
            <a:r>
              <a:rPr lang="zh-CN" altLang="en-US" dirty="0"/>
              <a:t>发送</a:t>
            </a:r>
            <a:r>
              <a:rPr lang="zh-CN" altLang="en-US" dirty="0">
                <a:solidFill>
                  <a:srgbClr val="D4237A"/>
                </a:solidFill>
              </a:rPr>
              <a:t>完</a:t>
            </a:r>
            <a:r>
              <a:rPr lang="zh-CN" altLang="en-US" dirty="0"/>
              <a:t>数据，到发送方</a:t>
            </a:r>
            <a:r>
              <a:rPr lang="en-US" altLang="zh-CN" dirty="0"/>
              <a:t>A</a:t>
            </a:r>
            <a:r>
              <a:rPr lang="zh-CN" altLang="en-US" dirty="0"/>
              <a:t>收到来自接收方</a:t>
            </a:r>
            <a:r>
              <a:rPr lang="en-US" altLang="zh-CN" dirty="0"/>
              <a:t>B</a:t>
            </a:r>
            <a:r>
              <a:rPr lang="zh-CN" altLang="en-US" dirty="0"/>
              <a:t>的确认总共经历的时间</a:t>
            </a:r>
            <a:endParaRPr lang="en-US" altLang="zh-CN" dirty="0"/>
          </a:p>
          <a:p>
            <a:r>
              <a:rPr lang="zh-CN" altLang="en-US" dirty="0"/>
              <a:t>不包括发送方节点</a:t>
            </a:r>
            <a:r>
              <a:rPr lang="en-US" altLang="zh-CN" dirty="0"/>
              <a:t>A</a:t>
            </a:r>
            <a:r>
              <a:rPr lang="zh-CN" altLang="en-US" dirty="0"/>
              <a:t>的发送时延</a:t>
            </a:r>
            <a:endParaRPr lang="en-US" altLang="zh-CN" dirty="0"/>
          </a:p>
          <a:p>
            <a:endParaRPr lang="zh-CN" altLang="en-US" dirty="0"/>
          </a:p>
        </p:txBody>
      </p:sp>
      <p:sp>
        <p:nvSpPr>
          <p:cNvPr id="50" name="矩形 49"/>
          <p:cNvSpPr/>
          <p:nvPr/>
        </p:nvSpPr>
        <p:spPr>
          <a:xfrm>
            <a:off x="612775" y="2466074"/>
            <a:ext cx="3031599" cy="2213876"/>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a:spAutoFit/>
          </a:bodyPr>
          <a:lstStyle/>
          <a:p>
            <a:pPr>
              <a:lnSpc>
                <a:spcPts val="2400"/>
              </a:lnSpc>
            </a:pPr>
            <a:r>
              <a:rPr lang="en-US" altLang="zh-CN" sz="1400" dirty="0">
                <a:latin typeface="+mj-lt"/>
                <a:ea typeface="+mj-ea"/>
              </a:rPr>
              <a:t>RTT = </a:t>
            </a:r>
            <a:r>
              <a:rPr lang="zh-CN" altLang="en-US" sz="1400" dirty="0">
                <a:latin typeface="+mj-lt"/>
                <a:ea typeface="+mj-ea"/>
              </a:rPr>
              <a:t>结点 </a:t>
            </a:r>
            <a:r>
              <a:rPr lang="en-US" altLang="zh-CN" sz="1400" dirty="0">
                <a:latin typeface="+mj-lt"/>
                <a:ea typeface="+mj-ea"/>
              </a:rPr>
              <a:t>A </a:t>
            </a:r>
            <a:r>
              <a:rPr lang="zh-CN" altLang="en-US" sz="1400" dirty="0">
                <a:latin typeface="+mj-lt"/>
                <a:ea typeface="+mj-ea"/>
              </a:rPr>
              <a:t>到 </a:t>
            </a:r>
            <a:r>
              <a:rPr lang="en-US" altLang="zh-CN" sz="1400" dirty="0">
                <a:latin typeface="+mj-lt"/>
                <a:ea typeface="+mj-ea"/>
              </a:rPr>
              <a:t>B </a:t>
            </a:r>
            <a:r>
              <a:rPr lang="zh-CN" altLang="en-US" sz="1400" dirty="0">
                <a:latin typeface="+mj-lt"/>
                <a:ea typeface="+mj-ea"/>
              </a:rPr>
              <a:t>的传播时延 </a:t>
            </a:r>
            <a:r>
              <a:rPr lang="en-US" altLang="zh-CN" sz="1400" dirty="0" err="1">
                <a:latin typeface="+mj-lt"/>
                <a:ea typeface="+mj-ea"/>
              </a:rPr>
              <a:t>t</a:t>
            </a:r>
            <a:r>
              <a:rPr lang="en-US" altLang="zh-CN" sz="1400" baseline="-25000" dirty="0" err="1">
                <a:latin typeface="+mj-lt"/>
                <a:ea typeface="+mj-ea"/>
              </a:rPr>
              <a:t>P</a:t>
            </a:r>
            <a:r>
              <a:rPr lang="en-US" altLang="zh-CN" sz="1400" dirty="0">
                <a:latin typeface="+mj-lt"/>
                <a:ea typeface="+mj-ea"/>
              </a:rPr>
              <a:t> </a:t>
            </a:r>
          </a:p>
          <a:p>
            <a:pPr>
              <a:lnSpc>
                <a:spcPts val="2400"/>
              </a:lnSpc>
            </a:pPr>
            <a:r>
              <a:rPr lang="en-US" altLang="zh-CN" sz="1400" dirty="0">
                <a:latin typeface="+mj-lt"/>
                <a:ea typeface="+mj-ea"/>
              </a:rPr>
              <a:t>        + </a:t>
            </a:r>
            <a:r>
              <a:rPr lang="zh-CN" altLang="en-US" sz="1400" dirty="0">
                <a:latin typeface="+mj-lt"/>
                <a:ea typeface="+mj-ea"/>
              </a:rPr>
              <a:t>结点 </a:t>
            </a:r>
            <a:r>
              <a:rPr lang="en-US" altLang="zh-CN" sz="1400" dirty="0">
                <a:latin typeface="+mj-lt"/>
                <a:ea typeface="+mj-ea"/>
              </a:rPr>
              <a:t>B </a:t>
            </a:r>
            <a:r>
              <a:rPr lang="zh-CN" altLang="en-US" sz="1400" dirty="0">
                <a:latin typeface="+mj-lt"/>
                <a:ea typeface="+mj-ea"/>
              </a:rPr>
              <a:t>处理和排队时延 </a:t>
            </a:r>
            <a:r>
              <a:rPr lang="en-US" altLang="zh-CN" sz="1400" dirty="0" err="1">
                <a:latin typeface="+mj-lt"/>
                <a:ea typeface="+mj-ea"/>
              </a:rPr>
              <a:t>t</a:t>
            </a:r>
            <a:r>
              <a:rPr lang="en-US" altLang="zh-CN" sz="1400" baseline="-25000" dirty="0" err="1">
                <a:latin typeface="+mj-lt"/>
                <a:ea typeface="+mj-ea"/>
              </a:rPr>
              <a:t>PQB</a:t>
            </a:r>
            <a:r>
              <a:rPr lang="en-US" altLang="zh-CN" sz="1400" dirty="0">
                <a:latin typeface="+mj-lt"/>
                <a:ea typeface="+mj-ea"/>
              </a:rPr>
              <a:t> </a:t>
            </a:r>
          </a:p>
          <a:p>
            <a:pPr>
              <a:lnSpc>
                <a:spcPts val="2400"/>
              </a:lnSpc>
            </a:pPr>
            <a:r>
              <a:rPr lang="en-US" altLang="zh-CN" sz="1400" dirty="0">
                <a:latin typeface="+mj-lt"/>
                <a:ea typeface="+mj-ea"/>
              </a:rPr>
              <a:t>        + </a:t>
            </a:r>
            <a:r>
              <a:rPr lang="zh-CN" altLang="en-US" sz="1400" dirty="0">
                <a:latin typeface="+mj-lt"/>
                <a:ea typeface="+mj-ea"/>
              </a:rPr>
              <a:t>结点 </a:t>
            </a:r>
            <a:r>
              <a:rPr lang="en-US" altLang="zh-CN" sz="1400" dirty="0">
                <a:latin typeface="+mj-lt"/>
                <a:ea typeface="+mj-ea"/>
              </a:rPr>
              <a:t>B </a:t>
            </a:r>
            <a:r>
              <a:rPr lang="zh-CN" altLang="en-US" sz="1400" dirty="0">
                <a:latin typeface="+mj-lt"/>
                <a:ea typeface="+mj-ea"/>
              </a:rPr>
              <a:t>发送时延 </a:t>
            </a:r>
            <a:r>
              <a:rPr lang="en-US" altLang="zh-CN" sz="1400" dirty="0" err="1">
                <a:latin typeface="+mj-lt"/>
                <a:ea typeface="+mj-ea"/>
              </a:rPr>
              <a:t>t</a:t>
            </a:r>
            <a:r>
              <a:rPr lang="en-US" altLang="zh-CN" sz="1400" baseline="-25000" dirty="0" err="1">
                <a:latin typeface="+mj-lt"/>
                <a:ea typeface="+mj-ea"/>
              </a:rPr>
              <a:t>TB</a:t>
            </a:r>
            <a:r>
              <a:rPr lang="en-US" altLang="zh-CN" sz="1400" dirty="0">
                <a:latin typeface="+mj-lt"/>
                <a:ea typeface="+mj-ea"/>
              </a:rPr>
              <a:t> </a:t>
            </a:r>
          </a:p>
          <a:p>
            <a:pPr>
              <a:lnSpc>
                <a:spcPts val="2400"/>
              </a:lnSpc>
            </a:pPr>
            <a:r>
              <a:rPr lang="en-US" altLang="zh-CN" sz="1400" dirty="0">
                <a:latin typeface="+mj-lt"/>
                <a:ea typeface="+mj-ea"/>
              </a:rPr>
              <a:t>        + </a:t>
            </a:r>
            <a:r>
              <a:rPr lang="zh-CN" altLang="en-US" sz="1400" dirty="0">
                <a:latin typeface="+mj-lt"/>
                <a:ea typeface="+mj-ea"/>
              </a:rPr>
              <a:t>结点 </a:t>
            </a:r>
            <a:r>
              <a:rPr lang="en-US" altLang="zh-CN" sz="1400" dirty="0">
                <a:latin typeface="+mj-lt"/>
                <a:ea typeface="+mj-ea"/>
              </a:rPr>
              <a:t>B </a:t>
            </a:r>
            <a:r>
              <a:rPr lang="zh-CN" altLang="en-US" sz="1400" dirty="0">
                <a:latin typeface="+mj-lt"/>
                <a:ea typeface="+mj-ea"/>
              </a:rPr>
              <a:t>到 </a:t>
            </a:r>
            <a:r>
              <a:rPr lang="en-US" altLang="zh-CN" sz="1400" dirty="0">
                <a:latin typeface="+mj-lt"/>
                <a:ea typeface="+mj-ea"/>
              </a:rPr>
              <a:t>A </a:t>
            </a:r>
            <a:r>
              <a:rPr lang="zh-CN" altLang="en-US" sz="1400" dirty="0">
                <a:latin typeface="+mj-lt"/>
                <a:ea typeface="+mj-ea"/>
              </a:rPr>
              <a:t>的传播时延 </a:t>
            </a:r>
            <a:r>
              <a:rPr lang="en-US" altLang="zh-CN" sz="1400" dirty="0" err="1">
                <a:latin typeface="+mj-lt"/>
                <a:ea typeface="+mj-ea"/>
              </a:rPr>
              <a:t>t</a:t>
            </a:r>
            <a:r>
              <a:rPr lang="en-US" altLang="zh-CN" sz="1400" baseline="-25000" dirty="0" err="1">
                <a:latin typeface="+mj-lt"/>
                <a:ea typeface="+mj-ea"/>
              </a:rPr>
              <a:t>P</a:t>
            </a:r>
            <a:r>
              <a:rPr lang="en-US" altLang="zh-CN" sz="1400" dirty="0">
                <a:latin typeface="+mj-lt"/>
                <a:ea typeface="+mj-ea"/>
              </a:rPr>
              <a:t> </a:t>
            </a:r>
          </a:p>
          <a:p>
            <a:pPr>
              <a:lnSpc>
                <a:spcPts val="2400"/>
              </a:lnSpc>
            </a:pPr>
            <a:r>
              <a:rPr lang="en-US" altLang="zh-CN" sz="1400" dirty="0">
                <a:latin typeface="+mj-lt"/>
                <a:ea typeface="+mj-ea"/>
              </a:rPr>
              <a:t>        = 2 x </a:t>
            </a:r>
            <a:r>
              <a:rPr lang="zh-CN" altLang="en-US" sz="1400" dirty="0">
                <a:latin typeface="+mj-lt"/>
                <a:ea typeface="+mj-ea"/>
              </a:rPr>
              <a:t>传播时延 </a:t>
            </a:r>
            <a:r>
              <a:rPr lang="en-US" altLang="zh-CN" sz="1400" dirty="0" err="1">
                <a:latin typeface="+mj-lt"/>
                <a:ea typeface="+mj-ea"/>
              </a:rPr>
              <a:t>t</a:t>
            </a:r>
            <a:r>
              <a:rPr lang="en-US" altLang="zh-CN" sz="1400" baseline="-25000" dirty="0" err="1">
                <a:latin typeface="+mj-lt"/>
                <a:ea typeface="+mj-ea"/>
              </a:rPr>
              <a:t>P</a:t>
            </a:r>
            <a:r>
              <a:rPr lang="en-US" altLang="zh-CN" sz="1400" dirty="0">
                <a:latin typeface="+mj-lt"/>
                <a:ea typeface="+mj-ea"/>
              </a:rPr>
              <a:t> </a:t>
            </a:r>
          </a:p>
          <a:p>
            <a:pPr>
              <a:lnSpc>
                <a:spcPts val="2400"/>
              </a:lnSpc>
            </a:pPr>
            <a:r>
              <a:rPr lang="en-US" altLang="zh-CN" sz="1400" dirty="0">
                <a:latin typeface="+mj-lt"/>
                <a:ea typeface="+mj-ea"/>
              </a:rPr>
              <a:t>        + </a:t>
            </a:r>
            <a:r>
              <a:rPr lang="zh-CN" altLang="en-US" sz="1400" dirty="0">
                <a:latin typeface="+mj-lt"/>
                <a:ea typeface="+mj-ea"/>
              </a:rPr>
              <a:t>结点 </a:t>
            </a:r>
            <a:r>
              <a:rPr lang="en-US" altLang="zh-CN" sz="1400" dirty="0">
                <a:latin typeface="+mj-lt"/>
                <a:ea typeface="+mj-ea"/>
              </a:rPr>
              <a:t>B </a:t>
            </a:r>
            <a:r>
              <a:rPr lang="zh-CN" altLang="en-US" sz="1400" dirty="0">
                <a:latin typeface="+mj-lt"/>
                <a:ea typeface="+mj-ea"/>
              </a:rPr>
              <a:t>处理和排队时延 </a:t>
            </a:r>
            <a:r>
              <a:rPr lang="en-US" altLang="zh-CN" sz="1400" dirty="0" err="1">
                <a:latin typeface="+mj-lt"/>
                <a:ea typeface="+mj-ea"/>
              </a:rPr>
              <a:t>t</a:t>
            </a:r>
            <a:r>
              <a:rPr lang="en-US" altLang="zh-CN" sz="1400" baseline="-25000" dirty="0" err="1">
                <a:latin typeface="+mj-lt"/>
                <a:ea typeface="+mj-ea"/>
              </a:rPr>
              <a:t>PQB</a:t>
            </a:r>
            <a:r>
              <a:rPr lang="en-US" altLang="zh-CN" sz="1400" dirty="0">
                <a:latin typeface="+mj-lt"/>
                <a:ea typeface="+mj-ea"/>
              </a:rPr>
              <a:t> </a:t>
            </a:r>
          </a:p>
          <a:p>
            <a:pPr>
              <a:lnSpc>
                <a:spcPts val="2400"/>
              </a:lnSpc>
            </a:pPr>
            <a:r>
              <a:rPr lang="en-US" altLang="zh-CN" sz="1400" dirty="0">
                <a:latin typeface="+mj-lt"/>
                <a:ea typeface="+mj-ea"/>
              </a:rPr>
              <a:t>        + </a:t>
            </a:r>
            <a:r>
              <a:rPr lang="zh-CN" altLang="en-US" sz="1400" dirty="0">
                <a:latin typeface="+mj-lt"/>
                <a:ea typeface="+mj-ea"/>
              </a:rPr>
              <a:t>结点 </a:t>
            </a:r>
            <a:r>
              <a:rPr lang="en-US" altLang="zh-CN" sz="1400" dirty="0">
                <a:latin typeface="+mj-lt"/>
                <a:ea typeface="+mj-ea"/>
              </a:rPr>
              <a:t>B </a:t>
            </a:r>
            <a:r>
              <a:rPr lang="zh-CN" altLang="en-US" sz="1400" dirty="0">
                <a:latin typeface="+mj-lt"/>
                <a:ea typeface="+mj-ea"/>
              </a:rPr>
              <a:t>发送时延 </a:t>
            </a:r>
            <a:r>
              <a:rPr lang="en-US" altLang="zh-CN" sz="1400" dirty="0" err="1">
                <a:latin typeface="+mj-lt"/>
                <a:ea typeface="+mj-ea"/>
              </a:rPr>
              <a:t>t</a:t>
            </a:r>
            <a:r>
              <a:rPr lang="en-US" altLang="zh-CN" sz="1400" baseline="-25000" dirty="0" err="1">
                <a:latin typeface="+mj-lt"/>
                <a:ea typeface="+mj-ea"/>
              </a:rPr>
              <a:t>TB</a:t>
            </a:r>
            <a:r>
              <a:rPr lang="en-US" altLang="zh-CN" sz="1400" dirty="0">
                <a:latin typeface="+mj-lt"/>
                <a:ea typeface="+mj-ea"/>
              </a:rPr>
              <a:t> </a:t>
            </a:r>
          </a:p>
        </p:txBody>
      </p:sp>
      <p:cxnSp>
        <p:nvCxnSpPr>
          <p:cNvPr id="13" name="直接连接符 12"/>
          <p:cNvCxnSpPr/>
          <p:nvPr/>
        </p:nvCxnSpPr>
        <p:spPr>
          <a:xfrm flipH="1">
            <a:off x="6063401" y="3416734"/>
            <a:ext cx="249065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6507537" y="3636933"/>
            <a:ext cx="204651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151178" y="4252437"/>
            <a:ext cx="3402878"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109916" y="3826299"/>
            <a:ext cx="44413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151178" y="2520013"/>
            <a:ext cx="295874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5749897" y="2981567"/>
            <a:ext cx="757636"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051640" y="1898023"/>
            <a:ext cx="841897" cy="307777"/>
          </a:xfrm>
          <a:prstGeom prst="rect">
            <a:avLst/>
          </a:prstGeom>
          <a:noFill/>
        </p:spPr>
        <p:txBody>
          <a:bodyPr wrap="none" rtlCol="0">
            <a:spAutoFit/>
          </a:bodyPr>
          <a:lstStyle/>
          <a:p>
            <a:pPr algn="ctr"/>
            <a:r>
              <a:rPr lang="en-US" altLang="zh-CN" sz="1400" dirty="0">
                <a:latin typeface="+mj-ea"/>
                <a:ea typeface="+mj-ea"/>
              </a:rPr>
              <a:t>Node</a:t>
            </a:r>
            <a:r>
              <a:rPr lang="zh-CN" altLang="en-US" sz="1400" dirty="0">
                <a:latin typeface="+mj-ea"/>
                <a:ea typeface="+mj-ea"/>
              </a:rPr>
              <a:t> </a:t>
            </a:r>
            <a:r>
              <a:rPr lang="en-US" altLang="zh-CN" sz="1400" dirty="0">
                <a:latin typeface="+mj-ea"/>
                <a:ea typeface="+mj-ea"/>
              </a:rPr>
              <a:t>A</a:t>
            </a:r>
          </a:p>
        </p:txBody>
      </p:sp>
      <p:sp>
        <p:nvSpPr>
          <p:cNvPr id="24" name="矩形 23"/>
          <p:cNvSpPr/>
          <p:nvPr/>
        </p:nvSpPr>
        <p:spPr>
          <a:xfrm>
            <a:off x="7690571" y="1898023"/>
            <a:ext cx="827471" cy="307777"/>
          </a:xfrm>
          <a:prstGeom prst="rect">
            <a:avLst/>
          </a:prstGeom>
          <a:noFill/>
        </p:spPr>
        <p:txBody>
          <a:bodyPr wrap="none" rtlCol="0">
            <a:spAutoFit/>
          </a:bodyPr>
          <a:lstStyle/>
          <a:p>
            <a:pPr algn="ctr"/>
            <a:r>
              <a:rPr lang="en-US" altLang="zh-CN" sz="1400" dirty="0">
                <a:latin typeface="+mj-ea"/>
                <a:ea typeface="+mj-ea"/>
              </a:rPr>
              <a:t>Node</a:t>
            </a:r>
            <a:r>
              <a:rPr lang="zh-CN" altLang="en-US" sz="1400" dirty="0">
                <a:latin typeface="+mj-ea"/>
                <a:ea typeface="+mj-ea"/>
              </a:rPr>
              <a:t> </a:t>
            </a:r>
            <a:r>
              <a:rPr lang="en-US" altLang="zh-CN" sz="1400" dirty="0">
                <a:latin typeface="+mj-ea"/>
                <a:ea typeface="+mj-ea"/>
              </a:rPr>
              <a:t>B</a:t>
            </a:r>
          </a:p>
        </p:txBody>
      </p:sp>
      <p:grpSp>
        <p:nvGrpSpPr>
          <p:cNvPr id="65" name="组合 64"/>
          <p:cNvGrpSpPr/>
          <p:nvPr/>
        </p:nvGrpSpPr>
        <p:grpSpPr>
          <a:xfrm>
            <a:off x="6421983" y="2285093"/>
            <a:ext cx="1774282" cy="2394857"/>
            <a:chOff x="6698428" y="1628504"/>
            <a:chExt cx="1774282" cy="2394857"/>
          </a:xfrm>
        </p:grpSpPr>
        <p:sp>
          <p:nvSpPr>
            <p:cNvPr id="7" name="平行四边形 6"/>
            <p:cNvSpPr/>
            <p:nvPr/>
          </p:nvSpPr>
          <p:spPr>
            <a:xfrm rot="900000" flipV="1">
              <a:off x="6698428" y="2085467"/>
              <a:ext cx="1774282" cy="444137"/>
            </a:xfrm>
            <a:prstGeom prst="parallelogram">
              <a:avLst>
                <a:gd name="adj" fmla="val 26894"/>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783978"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386357"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平行四边形 7"/>
            <p:cNvSpPr/>
            <p:nvPr/>
          </p:nvSpPr>
          <p:spPr>
            <a:xfrm rot="20700000" flipH="1" flipV="1">
              <a:off x="6731852" y="3197906"/>
              <a:ext cx="1704669" cy="178367"/>
            </a:xfrm>
            <a:prstGeom prst="parallelogram">
              <a:avLst>
                <a:gd name="adj" fmla="val 26894"/>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911734">
              <a:off x="7239031" y="2153091"/>
              <a:ext cx="609462" cy="307777"/>
            </a:xfrm>
            <a:prstGeom prst="rect">
              <a:avLst/>
            </a:prstGeom>
          </p:spPr>
          <p:txBody>
            <a:bodyPr wrap="none">
              <a:spAutoFit/>
            </a:bodyPr>
            <a:lstStyle/>
            <a:p>
              <a:r>
                <a:rPr kumimoji="1" lang="en-US" altLang="zh-CN" sz="1400" b="1" dirty="0">
                  <a:latin typeface="微软雅黑" pitchFamily="34" charset="-122"/>
                  <a:ea typeface="微软雅黑" pitchFamily="34" charset="-122"/>
                </a:rPr>
                <a:t>Data</a:t>
              </a:r>
            </a:p>
          </p:txBody>
        </p:sp>
        <p:sp>
          <p:nvSpPr>
            <p:cNvPr id="27" name="矩形 26"/>
            <p:cNvSpPr/>
            <p:nvPr/>
          </p:nvSpPr>
          <p:spPr>
            <a:xfrm rot="20641677">
              <a:off x="7307069" y="3156193"/>
              <a:ext cx="509178" cy="276999"/>
            </a:xfrm>
            <a:prstGeom prst="rect">
              <a:avLst/>
            </a:prstGeom>
          </p:spPr>
          <p:txBody>
            <a:bodyPr wrap="none">
              <a:spAutoFit/>
            </a:bodyPr>
            <a:lstStyle/>
            <a:p>
              <a:r>
                <a:rPr kumimoji="1" lang="en-US" altLang="zh-CN" sz="1200" b="1" dirty="0">
                  <a:latin typeface="微软雅黑" pitchFamily="34" charset="-122"/>
                  <a:ea typeface="微软雅黑" pitchFamily="34" charset="-122"/>
                </a:rPr>
                <a:t>ACK</a:t>
              </a:r>
            </a:p>
          </p:txBody>
        </p:sp>
      </p:grpSp>
      <p:cxnSp>
        <p:nvCxnSpPr>
          <p:cNvPr id="29" name="直接箭头连接符 28"/>
          <p:cNvCxnSpPr/>
          <p:nvPr/>
        </p:nvCxnSpPr>
        <p:spPr>
          <a:xfrm>
            <a:off x="6285468" y="2520013"/>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6285468" y="2964681"/>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6285468" y="3428248"/>
            <a:ext cx="0" cy="82217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5937128" y="2981567"/>
            <a:ext cx="0" cy="1268857"/>
          </a:xfrm>
          <a:prstGeom prst="straightConnector1">
            <a:avLst/>
          </a:prstGeom>
          <a:ln w="19050">
            <a:solidFill>
              <a:srgbClr val="C0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p:nvPr/>
        </p:nvCxnSpPr>
        <p:spPr>
          <a:xfrm>
            <a:off x="8345047" y="3826299"/>
            <a:ext cx="0" cy="4241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a:off x="8345047" y="3416734"/>
            <a:ext cx="0" cy="22019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a:xfrm>
            <a:off x="8345047" y="3636933"/>
            <a:ext cx="0" cy="1893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5823828" y="2555079"/>
            <a:ext cx="461554" cy="338554"/>
          </a:xfrm>
          <a:prstGeom prst="rect">
            <a:avLst/>
          </a:prstGeom>
          <a:noFill/>
        </p:spPr>
        <p:txBody>
          <a:bodyPr wrap="square" rtlCol="0">
            <a:spAutoFit/>
          </a:bodyPr>
          <a:lstStyle/>
          <a:p>
            <a:pPr algn="r"/>
            <a:r>
              <a:rPr lang="en-US" altLang="zh-CN" sz="1600" dirty="0" err="1">
                <a:latin typeface="Times New Roman" panose="02020603050405020304" pitchFamily="18" charset="0"/>
                <a:ea typeface="微软雅黑 Light" panose="020B0502040204020203" pitchFamily="34" charset="-122"/>
              </a:rPr>
              <a:t>t</a:t>
            </a:r>
            <a:r>
              <a:rPr lang="en-US" altLang="zh-CN" sz="1400" b="1" baseline="-25000" dirty="0" err="1">
                <a:latin typeface="Times New Roman" panose="02020603050405020304" pitchFamily="18" charset="0"/>
                <a:ea typeface="微软雅黑 Light" panose="020B0502040204020203" pitchFamily="34" charset="-122"/>
              </a:rPr>
              <a:t>TA</a:t>
            </a:r>
            <a:endParaRPr lang="zh-CN" altLang="en-US" sz="1400" b="1" baseline="-25000" dirty="0">
              <a:latin typeface="Times New Roman" panose="02020603050405020304" pitchFamily="18" charset="0"/>
              <a:ea typeface="微软雅黑 Light" panose="020B0502040204020203" pitchFamily="34" charset="-122"/>
            </a:endParaRPr>
          </a:p>
        </p:txBody>
      </p:sp>
      <p:sp>
        <p:nvSpPr>
          <p:cNvPr id="44" name="文本框 43"/>
          <p:cNvSpPr txBox="1"/>
          <p:nvPr/>
        </p:nvSpPr>
        <p:spPr>
          <a:xfrm>
            <a:off x="5823828" y="3017162"/>
            <a:ext cx="461554" cy="338554"/>
          </a:xfrm>
          <a:prstGeom prst="rect">
            <a:avLst/>
          </a:prstGeom>
          <a:noFill/>
        </p:spPr>
        <p:txBody>
          <a:bodyPr wrap="square" rtlCol="0">
            <a:spAutoFit/>
          </a:bodyPr>
          <a:lstStyle/>
          <a:p>
            <a:pPr algn="r"/>
            <a:r>
              <a:rPr lang="en-US" altLang="zh-CN" sz="1600" dirty="0" err="1">
                <a:latin typeface="Times New Roman" panose="02020603050405020304" pitchFamily="18" charset="0"/>
                <a:ea typeface="微软雅黑 Light" panose="020B0502040204020203" pitchFamily="34" charset="-122"/>
              </a:rPr>
              <a:t>t</a:t>
            </a:r>
            <a:r>
              <a:rPr lang="en-US" altLang="zh-CN" sz="1400" b="1" baseline="-25000" dirty="0" err="1">
                <a:latin typeface="Times New Roman" panose="02020603050405020304" pitchFamily="18" charset="0"/>
                <a:ea typeface="微软雅黑 Light" panose="020B0502040204020203" pitchFamily="34" charset="-122"/>
              </a:rPr>
              <a:t>P</a:t>
            </a:r>
            <a:endParaRPr lang="zh-CN" altLang="en-US" sz="1400" b="1" baseline="-25000" dirty="0">
              <a:latin typeface="Times New Roman" panose="02020603050405020304" pitchFamily="18" charset="0"/>
              <a:ea typeface="微软雅黑 Light" panose="020B0502040204020203" pitchFamily="34" charset="-122"/>
            </a:endParaRPr>
          </a:p>
        </p:txBody>
      </p:sp>
      <p:sp>
        <p:nvSpPr>
          <p:cNvPr id="45" name="文本框 44"/>
          <p:cNvSpPr txBox="1"/>
          <p:nvPr/>
        </p:nvSpPr>
        <p:spPr>
          <a:xfrm>
            <a:off x="8350061" y="3860375"/>
            <a:ext cx="461554" cy="338554"/>
          </a:xfrm>
          <a:prstGeom prst="rect">
            <a:avLst/>
          </a:prstGeom>
          <a:noFill/>
        </p:spPr>
        <p:txBody>
          <a:bodyPr wrap="square" rtlCol="0">
            <a:spAutoFit/>
          </a:bodyPr>
          <a:lstStyle/>
          <a:p>
            <a:r>
              <a:rPr lang="en-US" altLang="zh-CN" sz="1600" dirty="0" err="1">
                <a:latin typeface="Times New Roman" panose="02020603050405020304" pitchFamily="18" charset="0"/>
                <a:ea typeface="微软雅黑 Light" panose="020B0502040204020203" pitchFamily="34" charset="-122"/>
              </a:rPr>
              <a:t>t</a:t>
            </a:r>
            <a:r>
              <a:rPr lang="en-US" altLang="zh-CN" sz="1400" b="1" baseline="-25000" dirty="0" err="1">
                <a:latin typeface="Times New Roman" panose="02020603050405020304" pitchFamily="18" charset="0"/>
                <a:ea typeface="微软雅黑 Light" panose="020B0502040204020203" pitchFamily="34" charset="-122"/>
              </a:rPr>
              <a:t>P</a:t>
            </a:r>
            <a:endParaRPr lang="zh-CN" altLang="en-US" sz="1400" b="1" baseline="-25000" dirty="0">
              <a:latin typeface="Times New Roman" panose="02020603050405020304" pitchFamily="18" charset="0"/>
              <a:ea typeface="微软雅黑 Light" panose="020B0502040204020203" pitchFamily="34" charset="-122"/>
            </a:endParaRPr>
          </a:p>
        </p:txBody>
      </p:sp>
      <p:sp>
        <p:nvSpPr>
          <p:cNvPr id="46" name="文本框 45"/>
          <p:cNvSpPr txBox="1"/>
          <p:nvPr/>
        </p:nvSpPr>
        <p:spPr>
          <a:xfrm>
            <a:off x="8350061" y="3344216"/>
            <a:ext cx="540000" cy="338554"/>
          </a:xfrm>
          <a:prstGeom prst="rect">
            <a:avLst/>
          </a:prstGeom>
          <a:noFill/>
        </p:spPr>
        <p:txBody>
          <a:bodyPr wrap="square" rtlCol="0">
            <a:spAutoFit/>
          </a:bodyPr>
          <a:lstStyle/>
          <a:p>
            <a:r>
              <a:rPr lang="en-US" altLang="zh-CN" sz="1600" dirty="0" err="1">
                <a:latin typeface="Times New Roman" panose="02020603050405020304" pitchFamily="18" charset="0"/>
                <a:ea typeface="微软雅黑 Light" panose="020B0502040204020203" pitchFamily="34" charset="-122"/>
              </a:rPr>
              <a:t>t</a:t>
            </a:r>
            <a:r>
              <a:rPr lang="en-US" altLang="zh-CN" sz="1600" baseline="-25000" dirty="0" err="1">
                <a:latin typeface="Times New Roman" panose="02020603050405020304" pitchFamily="18" charset="0"/>
                <a:ea typeface="微软雅黑 Light" panose="020B0502040204020203" pitchFamily="34" charset="-122"/>
              </a:rPr>
              <a:t>P</a:t>
            </a:r>
            <a:r>
              <a:rPr lang="en-US" altLang="zh-CN" sz="1400" b="1" baseline="-25000" dirty="0" err="1">
                <a:latin typeface="Times New Roman" panose="02020603050405020304" pitchFamily="18" charset="0"/>
                <a:ea typeface="微软雅黑 Light" panose="020B0502040204020203" pitchFamily="34" charset="-122"/>
              </a:rPr>
              <a:t>QB</a:t>
            </a:r>
            <a:endParaRPr lang="zh-CN" altLang="en-US" sz="1400" b="1" baseline="-25000" dirty="0">
              <a:latin typeface="Times New Roman" panose="02020603050405020304" pitchFamily="18" charset="0"/>
              <a:ea typeface="微软雅黑 Light" panose="020B0502040204020203" pitchFamily="34" charset="-122"/>
            </a:endParaRPr>
          </a:p>
        </p:txBody>
      </p:sp>
      <p:sp>
        <p:nvSpPr>
          <p:cNvPr id="47" name="矩形 46"/>
          <p:cNvSpPr/>
          <p:nvPr/>
        </p:nvSpPr>
        <p:spPr>
          <a:xfrm>
            <a:off x="5470893" y="3248841"/>
            <a:ext cx="533929" cy="307777"/>
          </a:xfrm>
          <a:prstGeom prst="rect">
            <a:avLst/>
          </a:prstGeom>
        </p:spPr>
        <p:txBody>
          <a:bodyPr wrap="none">
            <a:spAutoFit/>
          </a:bodyPr>
          <a:lstStyle/>
          <a:p>
            <a:r>
              <a:rPr kumimoji="1" lang="en-US" altLang="zh-CN" sz="1400" b="1" dirty="0">
                <a:latin typeface="微软雅黑" pitchFamily="34" charset="-122"/>
                <a:ea typeface="微软雅黑" pitchFamily="34" charset="-122"/>
              </a:rPr>
              <a:t>RTT</a:t>
            </a:r>
          </a:p>
        </p:txBody>
      </p:sp>
      <p:sp>
        <p:nvSpPr>
          <p:cNvPr id="49" name="文本框 48"/>
          <p:cNvSpPr txBox="1"/>
          <p:nvPr/>
        </p:nvSpPr>
        <p:spPr>
          <a:xfrm>
            <a:off x="8350059" y="3538213"/>
            <a:ext cx="461554" cy="338554"/>
          </a:xfrm>
          <a:prstGeom prst="rect">
            <a:avLst/>
          </a:prstGeom>
          <a:noFill/>
        </p:spPr>
        <p:txBody>
          <a:bodyPr wrap="square" rtlCol="0">
            <a:spAutoFit/>
          </a:bodyPr>
          <a:lstStyle/>
          <a:p>
            <a:r>
              <a:rPr lang="en-US" altLang="zh-CN" sz="1600" dirty="0" err="1">
                <a:latin typeface="Times New Roman" panose="02020603050405020304" pitchFamily="18" charset="0"/>
                <a:ea typeface="微软雅黑 Light" panose="020B0502040204020203" pitchFamily="34" charset="-122"/>
              </a:rPr>
              <a:t>t</a:t>
            </a:r>
            <a:r>
              <a:rPr lang="en-US" altLang="zh-CN" sz="1400" b="1" baseline="-25000" dirty="0" err="1">
                <a:latin typeface="Times New Roman" panose="02020603050405020304" pitchFamily="18" charset="0"/>
                <a:ea typeface="微软雅黑 Light" panose="020B0502040204020203" pitchFamily="34" charset="-122"/>
              </a:rPr>
              <a:t>TB</a:t>
            </a:r>
            <a:endParaRPr lang="zh-CN" altLang="en-US" sz="1400" b="1" baseline="-25000" dirty="0">
              <a:latin typeface="Times New Roman" panose="02020603050405020304" pitchFamily="18" charset="0"/>
              <a:ea typeface="微软雅黑 Light" panose="020B0502040204020203" pitchFamily="34" charset="-122"/>
            </a:endParaRPr>
          </a:p>
        </p:txBody>
      </p:sp>
      <p:cxnSp>
        <p:nvCxnSpPr>
          <p:cNvPr id="59" name="直接箭头连接符 58"/>
          <p:cNvCxnSpPr/>
          <p:nvPr/>
        </p:nvCxnSpPr>
        <p:spPr>
          <a:xfrm>
            <a:off x="5411183" y="2520013"/>
            <a:ext cx="0" cy="1730411"/>
          </a:xfrm>
          <a:prstGeom prst="straightConnector1">
            <a:avLst/>
          </a:prstGeom>
          <a:ln w="19050">
            <a:solidFill>
              <a:srgbClr val="0000CC"/>
            </a:solidFill>
            <a:headEnd type="triangle"/>
            <a:tailEnd type="triangle"/>
          </a:ln>
        </p:spPr>
        <p:style>
          <a:lnRef idx="1">
            <a:schemeClr val="dk1"/>
          </a:lnRef>
          <a:fillRef idx="0">
            <a:schemeClr val="dk1"/>
          </a:fillRef>
          <a:effectRef idx="0">
            <a:schemeClr val="dk1"/>
          </a:effectRef>
          <a:fontRef idx="minor">
            <a:schemeClr val="tx1"/>
          </a:fontRef>
        </p:style>
      </p:cxnSp>
      <p:sp>
        <p:nvSpPr>
          <p:cNvPr id="60" name="矩形 59"/>
          <p:cNvSpPr/>
          <p:nvPr/>
        </p:nvSpPr>
        <p:spPr>
          <a:xfrm>
            <a:off x="4940687" y="2929586"/>
            <a:ext cx="560425" cy="954107"/>
          </a:xfrm>
          <a:prstGeom prst="rect">
            <a:avLst/>
          </a:prstGeom>
        </p:spPr>
        <p:txBody>
          <a:bodyPr wrap="square">
            <a:spAutoFit/>
          </a:bodyPr>
          <a:lstStyle/>
          <a:p>
            <a:r>
              <a:rPr kumimoji="1" lang="zh-CN" altLang="en-US" sz="1400" b="1" dirty="0">
                <a:latin typeface="微软雅黑" pitchFamily="34" charset="-122"/>
                <a:ea typeface="微软雅黑" pitchFamily="34" charset="-122"/>
              </a:rPr>
              <a:t>成功发送的总时延</a:t>
            </a:r>
            <a:endParaRPr kumimoji="1" lang="en-US" altLang="zh-CN" sz="1400" b="1" dirty="0">
              <a:latin typeface="微软雅黑" pitchFamily="34" charset="-122"/>
              <a:ea typeface="微软雅黑" pitchFamily="34" charset="-122"/>
            </a:endParaRPr>
          </a:p>
        </p:txBody>
      </p:sp>
    </p:spTree>
    <p:extLst>
      <p:ext uri="{BB962C8B-B14F-4D97-AF65-F5344CB8AC3E}">
        <p14:creationId xmlns:p14="http://schemas.microsoft.com/office/powerpoint/2010/main" val="8580189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41F5F5F-5439-1D72-EA57-753FDB4840DB}"/>
              </a:ext>
            </a:extLst>
          </p:cNvPr>
          <p:cNvSpPr>
            <a:spLocks noGrp="1"/>
          </p:cNvSpPr>
          <p:nvPr>
            <p:ph type="title"/>
          </p:nvPr>
        </p:nvSpPr>
        <p:spPr>
          <a:xfrm>
            <a:off x="612000" y="144000"/>
            <a:ext cx="7920000" cy="341632"/>
          </a:xfrm>
        </p:spPr>
        <p:txBody>
          <a:bodyPr/>
          <a:lstStyle/>
          <a:p>
            <a:r>
              <a:rPr lang="en-US" altLang="zh-CN" dirty="0"/>
              <a:t>[</a:t>
            </a:r>
            <a:r>
              <a:rPr lang="zh-CN" altLang="en-US" dirty="0"/>
              <a:t>练习</a:t>
            </a:r>
            <a:r>
              <a:rPr lang="en-US" altLang="zh-CN" dirty="0"/>
              <a:t>]</a:t>
            </a:r>
            <a:endParaRPr lang="zh-CN" altLang="en-US" dirty="0"/>
          </a:p>
        </p:txBody>
      </p:sp>
      <p:sp>
        <p:nvSpPr>
          <p:cNvPr id="7" name="椭圆 6">
            <a:extLst>
              <a:ext uri="{FF2B5EF4-FFF2-40B4-BE49-F238E27FC236}">
                <a16:creationId xmlns:a16="http://schemas.microsoft.com/office/drawing/2014/main" id="{2E5DA0D2-A032-3C83-29B3-374FE6537D32}"/>
              </a:ext>
            </a:extLst>
          </p:cNvPr>
          <p:cNvSpPr/>
          <p:nvPr/>
        </p:nvSpPr>
        <p:spPr>
          <a:xfrm>
            <a:off x="2394997" y="1216646"/>
            <a:ext cx="418008" cy="418009"/>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endParaRPr lang="zh-CN" altLang="en-US" sz="1200" b="1">
              <a:solidFill>
                <a:schemeClr val="tx1"/>
              </a:solidFill>
              <a:ea typeface="微软雅黑 Light" panose="020B0502040204020203" pitchFamily="34" charset="-122"/>
            </a:endParaRPr>
          </a:p>
        </p:txBody>
      </p:sp>
      <p:sp>
        <p:nvSpPr>
          <p:cNvPr id="8" name="椭圆 7">
            <a:extLst>
              <a:ext uri="{FF2B5EF4-FFF2-40B4-BE49-F238E27FC236}">
                <a16:creationId xmlns:a16="http://schemas.microsoft.com/office/drawing/2014/main" id="{55452624-1B6E-40A2-A23B-C55FD2B358F2}"/>
              </a:ext>
            </a:extLst>
          </p:cNvPr>
          <p:cNvSpPr/>
          <p:nvPr/>
        </p:nvSpPr>
        <p:spPr>
          <a:xfrm>
            <a:off x="6322563" y="1216646"/>
            <a:ext cx="418008" cy="418009"/>
          </a:xfrm>
          <a:prstGeom prst="ellipse">
            <a:avLst/>
          </a:prstGeom>
          <a:gradFill rotWithShape="1">
            <a:gsLst>
              <a:gs pos="0">
                <a:srgbClr val="85D1F7"/>
              </a:gs>
              <a:gs pos="100000">
                <a:srgbClr val="0070C0"/>
              </a:gs>
            </a:gsLst>
            <a:path path="shape">
              <a:fillToRect l="50000" t="50000" r="50000" b="50000"/>
            </a:path>
          </a:gradFill>
          <a:ln w="9525">
            <a:noFill/>
            <a:round/>
            <a:headEnd/>
            <a:tailEnd/>
          </a:ln>
        </p:spPr>
        <p:txBody>
          <a:bodyPr wrap="none" anchor="ctr"/>
          <a:lstStyle/>
          <a:p>
            <a:endParaRPr lang="zh-CN" altLang="en-US" sz="1200" b="1">
              <a:solidFill>
                <a:schemeClr val="tx1"/>
              </a:solidFill>
              <a:latin typeface="Times New Roman" panose="02020603050405020304" pitchFamily="18" charset="0"/>
              <a:ea typeface="微软雅黑 Light" panose="020B0502040204020203" pitchFamily="34" charset="-122"/>
            </a:endParaRPr>
          </a:p>
        </p:txBody>
      </p:sp>
      <p:cxnSp>
        <p:nvCxnSpPr>
          <p:cNvPr id="9" name="直接连接符 8">
            <a:extLst>
              <a:ext uri="{FF2B5EF4-FFF2-40B4-BE49-F238E27FC236}">
                <a16:creationId xmlns:a16="http://schemas.microsoft.com/office/drawing/2014/main" id="{4F9547C1-1FB6-CD57-7304-5BF4E5C6B52B}"/>
              </a:ext>
            </a:extLst>
          </p:cNvPr>
          <p:cNvCxnSpPr>
            <a:stCxn id="7" idx="6"/>
            <a:endCxn id="8" idx="2"/>
          </p:cNvCxnSpPr>
          <p:nvPr/>
        </p:nvCxnSpPr>
        <p:spPr>
          <a:xfrm>
            <a:off x="2813005" y="1425651"/>
            <a:ext cx="35095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2D729AC-9EF4-5B8F-A7F0-420B109CA0FC}"/>
              </a:ext>
            </a:extLst>
          </p:cNvPr>
          <p:cNvSpPr txBox="1"/>
          <p:nvPr/>
        </p:nvSpPr>
        <p:spPr>
          <a:xfrm>
            <a:off x="4020196" y="1115449"/>
            <a:ext cx="1095172" cy="307777"/>
          </a:xfrm>
          <a:prstGeom prst="rect">
            <a:avLst/>
          </a:prstGeom>
          <a:noFill/>
        </p:spPr>
        <p:txBody>
          <a:bodyPr wrap="none" rtlCol="0">
            <a:spAutoFit/>
          </a:bodyPr>
          <a:lstStyle/>
          <a:p>
            <a:pPr algn="ctr"/>
            <a:r>
              <a:rPr lang="en-US" altLang="zh-CN" sz="1400" dirty="0"/>
              <a:t>100 Mbit/s</a:t>
            </a:r>
            <a:endParaRPr lang="zh-CN" altLang="en-US" sz="1400" dirty="0"/>
          </a:p>
        </p:txBody>
      </p:sp>
      <p:sp>
        <p:nvSpPr>
          <p:cNvPr id="11" name="Text Box 37">
            <a:extLst>
              <a:ext uri="{FF2B5EF4-FFF2-40B4-BE49-F238E27FC236}">
                <a16:creationId xmlns:a16="http://schemas.microsoft.com/office/drawing/2014/main" id="{DF50A865-AFF6-0D61-1148-963635329EBE}"/>
              </a:ext>
            </a:extLst>
          </p:cNvPr>
          <p:cNvSpPr txBox="1">
            <a:spLocks noChangeArrowheads="1"/>
          </p:cNvSpPr>
          <p:nvPr/>
        </p:nvSpPr>
        <p:spPr bwMode="auto">
          <a:xfrm>
            <a:off x="6184699" y="1644425"/>
            <a:ext cx="724878"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B</a:t>
            </a:r>
          </a:p>
        </p:txBody>
      </p:sp>
      <p:sp>
        <p:nvSpPr>
          <p:cNvPr id="12" name="Text Box 38">
            <a:extLst>
              <a:ext uri="{FF2B5EF4-FFF2-40B4-BE49-F238E27FC236}">
                <a16:creationId xmlns:a16="http://schemas.microsoft.com/office/drawing/2014/main" id="{C9CACF52-A838-DAA7-F23C-46CF14EF2346}"/>
              </a:ext>
            </a:extLst>
          </p:cNvPr>
          <p:cNvSpPr txBox="1">
            <a:spLocks noChangeArrowheads="1"/>
          </p:cNvSpPr>
          <p:nvPr/>
        </p:nvSpPr>
        <p:spPr bwMode="auto">
          <a:xfrm>
            <a:off x="2244771" y="1644425"/>
            <a:ext cx="718466"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A</a:t>
            </a:r>
          </a:p>
        </p:txBody>
      </p:sp>
      <p:sp>
        <p:nvSpPr>
          <p:cNvPr id="14" name="文本框 13">
            <a:extLst>
              <a:ext uri="{FF2B5EF4-FFF2-40B4-BE49-F238E27FC236}">
                <a16:creationId xmlns:a16="http://schemas.microsoft.com/office/drawing/2014/main" id="{83FF852A-8EBA-4403-45EB-7FB6925DF3D2}"/>
              </a:ext>
            </a:extLst>
          </p:cNvPr>
          <p:cNvSpPr txBox="1"/>
          <p:nvPr/>
        </p:nvSpPr>
        <p:spPr>
          <a:xfrm>
            <a:off x="4118993" y="1430884"/>
            <a:ext cx="906018" cy="307777"/>
          </a:xfrm>
          <a:prstGeom prst="rect">
            <a:avLst/>
          </a:prstGeom>
          <a:noFill/>
        </p:spPr>
        <p:txBody>
          <a:bodyPr wrap="none" rtlCol="0">
            <a:spAutoFit/>
          </a:bodyPr>
          <a:lstStyle/>
          <a:p>
            <a:pPr algn="ctr"/>
            <a:r>
              <a:rPr lang="en-US" altLang="zh-CN" sz="1400" dirty="0"/>
              <a:t>RTT = 2s</a:t>
            </a:r>
            <a:endParaRPr lang="zh-CN" altLang="en-US" sz="1400" dirty="0"/>
          </a:p>
        </p:txBody>
      </p:sp>
      <p:sp>
        <p:nvSpPr>
          <p:cNvPr id="16" name="文本框 15">
            <a:extLst>
              <a:ext uri="{FF2B5EF4-FFF2-40B4-BE49-F238E27FC236}">
                <a16:creationId xmlns:a16="http://schemas.microsoft.com/office/drawing/2014/main" id="{1AD0EC37-2F5A-12AA-EDCB-088D66E9D7B5}"/>
              </a:ext>
            </a:extLst>
          </p:cNvPr>
          <p:cNvSpPr txBox="1"/>
          <p:nvPr/>
        </p:nvSpPr>
        <p:spPr>
          <a:xfrm>
            <a:off x="612776" y="2283359"/>
            <a:ext cx="7918449" cy="830997"/>
          </a:xfrm>
          <a:prstGeom prst="rect">
            <a:avLst/>
          </a:prstGeom>
          <a:noFill/>
        </p:spPr>
        <p:txBody>
          <a:bodyPr wrap="square" rtlCol="0">
            <a:spAutoFit/>
          </a:bodyPr>
          <a:lstStyle/>
          <a:p>
            <a:pPr>
              <a:spcAft>
                <a:spcPts val="600"/>
              </a:spcAft>
            </a:pPr>
            <a:r>
              <a:rPr lang="zh-CN" altLang="en-US" sz="1600" dirty="0"/>
              <a:t>结点 </a:t>
            </a:r>
            <a:r>
              <a:rPr lang="en-US" altLang="zh-CN" sz="1600" dirty="0"/>
              <a:t>A </a:t>
            </a:r>
            <a:r>
              <a:rPr lang="zh-CN" altLang="en-US" sz="1600" dirty="0"/>
              <a:t>要将一个 </a:t>
            </a:r>
            <a:r>
              <a:rPr lang="en-US" altLang="zh-CN" sz="1600" dirty="0"/>
              <a:t>100 MB </a:t>
            </a:r>
            <a:r>
              <a:rPr lang="zh-CN" altLang="en-US" sz="1600" dirty="0"/>
              <a:t>数据以 </a:t>
            </a:r>
            <a:r>
              <a:rPr lang="en-US" altLang="zh-CN" sz="1600" dirty="0"/>
              <a:t>100 Mbit/s </a:t>
            </a:r>
            <a:r>
              <a:rPr lang="zh-CN" altLang="en-US" sz="1600" dirty="0"/>
              <a:t>的速率发送给结点 </a:t>
            </a:r>
            <a:r>
              <a:rPr lang="en-US" altLang="zh-CN" sz="1600" dirty="0"/>
              <a:t>B</a:t>
            </a:r>
            <a:r>
              <a:rPr lang="zh-CN" altLang="en-US" sz="1600" dirty="0"/>
              <a:t>。</a:t>
            </a:r>
            <a:r>
              <a:rPr lang="en-US" altLang="zh-CN" sz="1600" dirty="0"/>
              <a:t>B </a:t>
            </a:r>
            <a:r>
              <a:rPr lang="zh-CN" altLang="en-US" sz="1600" dirty="0"/>
              <a:t>正确收完该数据后，就立即向 </a:t>
            </a:r>
            <a:r>
              <a:rPr lang="en-US" altLang="zh-CN" sz="1600" dirty="0"/>
              <a:t>A </a:t>
            </a:r>
            <a:r>
              <a:rPr lang="zh-CN" altLang="en-US" sz="1600" dirty="0"/>
              <a:t>发送确认。假定 </a:t>
            </a:r>
            <a:r>
              <a:rPr lang="en-US" altLang="zh-CN" sz="1600" dirty="0"/>
              <a:t>A </a:t>
            </a:r>
            <a:r>
              <a:rPr lang="zh-CN" altLang="en-US" sz="1600" dirty="0"/>
              <a:t>只有在收到 </a:t>
            </a:r>
            <a:r>
              <a:rPr lang="en-US" altLang="zh-CN" sz="1600" dirty="0"/>
              <a:t>B </a:t>
            </a:r>
            <a:r>
              <a:rPr lang="zh-CN" altLang="en-US" sz="1600" dirty="0"/>
              <a:t>的确认信息后，才能继续向 </a:t>
            </a:r>
            <a:r>
              <a:rPr lang="en-US" altLang="zh-CN" sz="1600" dirty="0"/>
              <a:t>B </a:t>
            </a:r>
            <a:r>
              <a:rPr lang="zh-CN" altLang="en-US" sz="1600" dirty="0"/>
              <a:t>发送数据，且确认信息很短。计算 </a:t>
            </a:r>
            <a:r>
              <a:rPr lang="en-US" altLang="zh-CN" sz="1600" dirty="0"/>
              <a:t>A </a:t>
            </a:r>
            <a:r>
              <a:rPr lang="zh-CN" altLang="en-US" sz="1600" dirty="0"/>
              <a:t>向 </a:t>
            </a:r>
            <a:r>
              <a:rPr lang="en-US" altLang="zh-CN" sz="1600" dirty="0"/>
              <a:t>B </a:t>
            </a:r>
            <a:r>
              <a:rPr lang="zh-CN" altLang="en-US" sz="1600" dirty="0"/>
              <a:t>发送数据的有效数据率。</a:t>
            </a:r>
            <a:endParaRPr lang="en-US" altLang="zh-CN" sz="1600" dirty="0"/>
          </a:p>
        </p:txBody>
      </p:sp>
    </p:spTree>
    <p:extLst>
      <p:ext uri="{BB962C8B-B14F-4D97-AF65-F5344CB8AC3E}">
        <p14:creationId xmlns:p14="http://schemas.microsoft.com/office/powerpoint/2010/main" val="15541581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9F32125-16EA-0607-A0F3-5C61CF57BD8C}"/>
              </a:ext>
            </a:extLst>
          </p:cNvPr>
          <p:cNvSpPr>
            <a:spLocks noGrp="1"/>
          </p:cNvSpPr>
          <p:nvPr>
            <p:ph type="title"/>
          </p:nvPr>
        </p:nvSpPr>
        <p:spPr>
          <a:xfrm>
            <a:off x="612000" y="144000"/>
            <a:ext cx="7920000" cy="341632"/>
          </a:xfrm>
        </p:spPr>
        <p:txBody>
          <a:bodyPr/>
          <a:lstStyle/>
          <a:p>
            <a:r>
              <a:rPr lang="en-US" altLang="zh-CN" dirty="0"/>
              <a:t>[</a:t>
            </a:r>
            <a:r>
              <a:rPr lang="zh-CN" altLang="en-US" dirty="0"/>
              <a:t>练习</a:t>
            </a:r>
            <a:r>
              <a:rPr lang="en-US" altLang="zh-CN" dirty="0"/>
              <a:t>]</a:t>
            </a:r>
            <a:endParaRPr lang="zh-CN" altLang="en-US" dirty="0"/>
          </a:p>
        </p:txBody>
      </p:sp>
      <p:grpSp>
        <p:nvGrpSpPr>
          <p:cNvPr id="9" name="组合 8"/>
          <p:cNvGrpSpPr/>
          <p:nvPr/>
        </p:nvGrpSpPr>
        <p:grpSpPr>
          <a:xfrm>
            <a:off x="809892" y="2773121"/>
            <a:ext cx="5359807" cy="707886"/>
            <a:chOff x="940526" y="2682598"/>
            <a:chExt cx="5359807" cy="707886"/>
          </a:xfrm>
        </p:grpSpPr>
        <p:sp>
          <p:nvSpPr>
            <p:cNvPr id="4" name="文本框 3"/>
            <p:cNvSpPr txBox="1"/>
            <p:nvPr/>
          </p:nvSpPr>
          <p:spPr>
            <a:xfrm>
              <a:off x="940526" y="2867264"/>
              <a:ext cx="1233030" cy="338554"/>
            </a:xfrm>
            <a:prstGeom prst="rect">
              <a:avLst/>
            </a:prstGeom>
            <a:noFill/>
          </p:spPr>
          <p:txBody>
            <a:bodyPr wrap="none" rtlCol="0">
              <a:spAutoFit/>
            </a:bodyPr>
            <a:lstStyle/>
            <a:p>
              <a:r>
                <a:rPr lang="zh-CN" altLang="en-US" sz="1600" dirty="0">
                  <a:latin typeface="+mj-lt"/>
                  <a:ea typeface="+mj-ea"/>
                </a:rPr>
                <a:t>发送时延 </a:t>
              </a:r>
              <a:r>
                <a:rPr lang="en-US" altLang="zh-CN" sz="1600" dirty="0">
                  <a:latin typeface="+mj-lt"/>
                  <a:ea typeface="+mj-ea"/>
                </a:rPr>
                <a:t>= </a:t>
              </a:r>
              <a:endParaRPr lang="zh-CN" altLang="en-US" sz="1600" dirty="0">
                <a:latin typeface="+mj-lt"/>
                <a:ea typeface="+mj-ea"/>
              </a:endParaRPr>
            </a:p>
          </p:txBody>
        </p:sp>
        <p:sp>
          <p:nvSpPr>
            <p:cNvPr id="13" name="文本框 12"/>
            <p:cNvSpPr txBox="1"/>
            <p:nvPr/>
          </p:nvSpPr>
          <p:spPr>
            <a:xfrm>
              <a:off x="2360014" y="2682598"/>
              <a:ext cx="1005403" cy="338554"/>
            </a:xfrm>
            <a:prstGeom prst="rect">
              <a:avLst/>
            </a:prstGeom>
            <a:noFill/>
          </p:spPr>
          <p:txBody>
            <a:bodyPr wrap="none" rtlCol="0">
              <a:spAutoFit/>
            </a:bodyPr>
            <a:lstStyle/>
            <a:p>
              <a:r>
                <a:rPr lang="zh-CN" altLang="en-US" sz="1600" dirty="0">
                  <a:latin typeface="+mj-lt"/>
                  <a:ea typeface="+mj-ea"/>
                </a:rPr>
                <a:t>数据长度</a:t>
              </a:r>
            </a:p>
          </p:txBody>
        </p:sp>
        <p:sp>
          <p:nvSpPr>
            <p:cNvPr id="14" name="文本框 13"/>
            <p:cNvSpPr txBox="1"/>
            <p:nvPr/>
          </p:nvSpPr>
          <p:spPr>
            <a:xfrm>
              <a:off x="2360014" y="3051930"/>
              <a:ext cx="1005403" cy="338554"/>
            </a:xfrm>
            <a:prstGeom prst="rect">
              <a:avLst/>
            </a:prstGeom>
            <a:noFill/>
          </p:spPr>
          <p:txBody>
            <a:bodyPr wrap="none" rtlCol="0">
              <a:spAutoFit/>
            </a:bodyPr>
            <a:lstStyle/>
            <a:p>
              <a:r>
                <a:rPr lang="zh-CN" altLang="en-US" sz="1600" dirty="0">
                  <a:latin typeface="+mj-lt"/>
                  <a:ea typeface="+mj-ea"/>
                </a:rPr>
                <a:t>发送速率</a:t>
              </a:r>
            </a:p>
          </p:txBody>
        </p:sp>
        <p:cxnSp>
          <p:nvCxnSpPr>
            <p:cNvPr id="6" name="直接连接符 5"/>
            <p:cNvCxnSpPr/>
            <p:nvPr/>
          </p:nvCxnSpPr>
          <p:spPr>
            <a:xfrm>
              <a:off x="2266911" y="3051930"/>
              <a:ext cx="1233930"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3468010" y="2867264"/>
              <a:ext cx="303288" cy="338554"/>
            </a:xfrm>
            <a:prstGeom prst="rect">
              <a:avLst/>
            </a:prstGeom>
            <a:noFill/>
          </p:spPr>
          <p:txBody>
            <a:bodyPr wrap="none" rtlCol="0">
              <a:spAutoFit/>
            </a:bodyPr>
            <a:lstStyle/>
            <a:p>
              <a:r>
                <a:rPr lang="en-US" altLang="zh-CN" sz="1600" dirty="0">
                  <a:latin typeface="+mj-lt"/>
                  <a:ea typeface="+mj-ea"/>
                </a:rPr>
                <a:t>=</a:t>
              </a:r>
              <a:endParaRPr lang="zh-CN" altLang="en-US" sz="1600" dirty="0">
                <a:latin typeface="+mj-lt"/>
                <a:ea typeface="+mj-ea"/>
              </a:endParaRPr>
            </a:p>
          </p:txBody>
        </p:sp>
        <p:sp>
          <p:nvSpPr>
            <p:cNvPr id="24" name="文本框 23"/>
            <p:cNvSpPr txBox="1"/>
            <p:nvPr/>
          </p:nvSpPr>
          <p:spPr>
            <a:xfrm>
              <a:off x="3838954" y="2682598"/>
              <a:ext cx="1522726" cy="338554"/>
            </a:xfrm>
            <a:prstGeom prst="rect">
              <a:avLst/>
            </a:prstGeom>
            <a:noFill/>
          </p:spPr>
          <p:txBody>
            <a:bodyPr wrap="square" rtlCol="0">
              <a:spAutoFit/>
            </a:bodyPr>
            <a:lstStyle/>
            <a:p>
              <a:pPr algn="ctr"/>
              <a:r>
                <a:rPr lang="en-US" altLang="zh-CN" sz="1600" dirty="0">
                  <a:latin typeface="+mj-lt"/>
                  <a:ea typeface="+mj-ea"/>
                </a:rPr>
                <a:t>100×2</a:t>
              </a:r>
              <a:r>
                <a:rPr lang="en-US" altLang="zh-CN" sz="1600" baseline="30000" dirty="0">
                  <a:latin typeface="+mj-lt"/>
                  <a:ea typeface="+mj-ea"/>
                </a:rPr>
                <a:t>20</a:t>
              </a:r>
              <a:r>
                <a:rPr lang="en-US" altLang="zh-CN" sz="1600" dirty="0">
                  <a:latin typeface="+mj-lt"/>
                  <a:ea typeface="+mj-ea"/>
                </a:rPr>
                <a:t>×8</a:t>
              </a:r>
              <a:endParaRPr lang="zh-CN" altLang="en-US" sz="1600" dirty="0">
                <a:latin typeface="+mj-lt"/>
                <a:ea typeface="+mj-ea"/>
              </a:endParaRPr>
            </a:p>
          </p:txBody>
        </p:sp>
        <p:sp>
          <p:nvSpPr>
            <p:cNvPr id="25" name="文本框 24"/>
            <p:cNvSpPr txBox="1"/>
            <p:nvPr/>
          </p:nvSpPr>
          <p:spPr>
            <a:xfrm>
              <a:off x="3871785" y="3051930"/>
              <a:ext cx="1489895" cy="338554"/>
            </a:xfrm>
            <a:prstGeom prst="rect">
              <a:avLst/>
            </a:prstGeom>
            <a:noFill/>
          </p:spPr>
          <p:txBody>
            <a:bodyPr wrap="square" rtlCol="0">
              <a:spAutoFit/>
            </a:bodyPr>
            <a:lstStyle/>
            <a:p>
              <a:pPr algn="ctr"/>
              <a:r>
                <a:rPr lang="en-US" altLang="zh-CN" sz="1600" dirty="0">
                  <a:latin typeface="+mj-lt"/>
                  <a:ea typeface="+mj-ea"/>
                </a:rPr>
                <a:t>100×10</a:t>
              </a:r>
              <a:r>
                <a:rPr lang="en-US" altLang="zh-CN" sz="1600" baseline="30000" dirty="0">
                  <a:latin typeface="+mj-lt"/>
                  <a:ea typeface="+mj-ea"/>
                </a:rPr>
                <a:t>6</a:t>
              </a:r>
              <a:endParaRPr lang="zh-CN" altLang="en-US" sz="1600" baseline="30000" dirty="0">
                <a:latin typeface="+mj-lt"/>
                <a:ea typeface="+mj-ea"/>
              </a:endParaRPr>
            </a:p>
          </p:txBody>
        </p:sp>
        <p:cxnSp>
          <p:nvCxnSpPr>
            <p:cNvPr id="26" name="直接连接符 25"/>
            <p:cNvCxnSpPr/>
            <p:nvPr/>
          </p:nvCxnSpPr>
          <p:spPr>
            <a:xfrm>
              <a:off x="3838953" y="3051930"/>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5371874" y="2867264"/>
              <a:ext cx="928459" cy="338554"/>
            </a:xfrm>
            <a:prstGeom prst="rect">
              <a:avLst/>
            </a:prstGeom>
            <a:noFill/>
          </p:spPr>
          <p:txBody>
            <a:bodyPr wrap="none" rtlCol="0">
              <a:spAutoFit/>
            </a:bodyPr>
            <a:lstStyle/>
            <a:p>
              <a:r>
                <a:rPr lang="en-US" altLang="zh-CN" sz="1600" dirty="0">
                  <a:latin typeface="+mj-lt"/>
                  <a:ea typeface="+mj-ea"/>
                </a:rPr>
                <a:t>≈ 8.39 s</a:t>
              </a:r>
              <a:endParaRPr lang="zh-CN" altLang="en-US" sz="1600" dirty="0">
                <a:latin typeface="+mj-lt"/>
                <a:ea typeface="+mj-ea"/>
              </a:endParaRPr>
            </a:p>
          </p:txBody>
        </p:sp>
      </p:grpSp>
      <p:grpSp>
        <p:nvGrpSpPr>
          <p:cNvPr id="11" name="组合 10"/>
          <p:cNvGrpSpPr/>
          <p:nvPr/>
        </p:nvGrpSpPr>
        <p:grpSpPr>
          <a:xfrm>
            <a:off x="809892" y="3532535"/>
            <a:ext cx="6997524" cy="707886"/>
            <a:chOff x="940526" y="3549953"/>
            <a:chExt cx="6997524" cy="707886"/>
          </a:xfrm>
        </p:grpSpPr>
        <p:sp>
          <p:nvSpPr>
            <p:cNvPr id="31" name="文本框 30"/>
            <p:cNvSpPr txBox="1"/>
            <p:nvPr/>
          </p:nvSpPr>
          <p:spPr>
            <a:xfrm>
              <a:off x="940526" y="3734619"/>
              <a:ext cx="1438214" cy="338554"/>
            </a:xfrm>
            <a:prstGeom prst="rect">
              <a:avLst/>
            </a:prstGeom>
            <a:noFill/>
          </p:spPr>
          <p:txBody>
            <a:bodyPr wrap="none" rtlCol="0">
              <a:spAutoFit/>
            </a:bodyPr>
            <a:lstStyle/>
            <a:p>
              <a:r>
                <a:rPr lang="zh-CN" altLang="en-US" sz="1600" dirty="0">
                  <a:latin typeface="+mj-lt"/>
                  <a:ea typeface="+mj-ea"/>
                </a:rPr>
                <a:t>有效数据率 </a:t>
              </a:r>
              <a:r>
                <a:rPr lang="en-US" altLang="zh-CN" sz="1600" dirty="0">
                  <a:latin typeface="+mj-lt"/>
                  <a:ea typeface="+mj-ea"/>
                </a:rPr>
                <a:t>= </a:t>
              </a:r>
              <a:endParaRPr lang="zh-CN" altLang="en-US" sz="1600" dirty="0">
                <a:latin typeface="+mj-lt"/>
                <a:ea typeface="+mj-ea"/>
              </a:endParaRPr>
            </a:p>
          </p:txBody>
        </p:sp>
        <p:sp>
          <p:nvSpPr>
            <p:cNvPr id="32" name="文本框 31"/>
            <p:cNvSpPr txBox="1"/>
            <p:nvPr/>
          </p:nvSpPr>
          <p:spPr>
            <a:xfrm>
              <a:off x="2560318" y="3549953"/>
              <a:ext cx="1811385" cy="338554"/>
            </a:xfrm>
            <a:prstGeom prst="rect">
              <a:avLst/>
            </a:prstGeom>
            <a:noFill/>
          </p:spPr>
          <p:txBody>
            <a:bodyPr wrap="square" rtlCol="0">
              <a:spAutoFit/>
            </a:bodyPr>
            <a:lstStyle/>
            <a:p>
              <a:pPr algn="ctr"/>
              <a:r>
                <a:rPr lang="zh-CN" altLang="en-US" sz="1600" dirty="0">
                  <a:latin typeface="+mj-lt"/>
                  <a:ea typeface="+mj-ea"/>
                </a:rPr>
                <a:t>数据长度</a:t>
              </a:r>
            </a:p>
          </p:txBody>
        </p:sp>
        <p:sp>
          <p:nvSpPr>
            <p:cNvPr id="33" name="文本框 32"/>
            <p:cNvSpPr txBox="1"/>
            <p:nvPr/>
          </p:nvSpPr>
          <p:spPr>
            <a:xfrm>
              <a:off x="2560319" y="3919285"/>
              <a:ext cx="1616148" cy="338554"/>
            </a:xfrm>
            <a:prstGeom prst="rect">
              <a:avLst/>
            </a:prstGeom>
            <a:noFill/>
          </p:spPr>
          <p:txBody>
            <a:bodyPr wrap="none" rtlCol="0">
              <a:spAutoFit/>
            </a:bodyPr>
            <a:lstStyle/>
            <a:p>
              <a:r>
                <a:rPr lang="zh-CN" altLang="en-US" sz="1600" dirty="0">
                  <a:latin typeface="+mj-lt"/>
                  <a:ea typeface="+mj-ea"/>
                </a:rPr>
                <a:t>发送时间 </a:t>
              </a:r>
              <a:r>
                <a:rPr lang="en-US" altLang="zh-CN" sz="1600" dirty="0">
                  <a:latin typeface="+mj-lt"/>
                  <a:ea typeface="+mj-ea"/>
                </a:rPr>
                <a:t>+ RTT</a:t>
              </a:r>
              <a:endParaRPr lang="zh-CN" altLang="en-US" sz="1600" dirty="0">
                <a:latin typeface="+mj-lt"/>
                <a:ea typeface="+mj-ea"/>
              </a:endParaRPr>
            </a:p>
          </p:txBody>
        </p:sp>
        <p:cxnSp>
          <p:nvCxnSpPr>
            <p:cNvPr id="34" name="直接连接符 33"/>
            <p:cNvCxnSpPr/>
            <p:nvPr/>
          </p:nvCxnSpPr>
          <p:spPr>
            <a:xfrm>
              <a:off x="2467216" y="3919285"/>
              <a:ext cx="1965539" cy="0"/>
            </a:xfrm>
            <a:prstGeom prst="line">
              <a:avLst/>
            </a:prstGeom>
            <a:ln w="19050"/>
          </p:spPr>
          <p:style>
            <a:lnRef idx="1">
              <a:schemeClr val="dk1"/>
            </a:lnRef>
            <a:fillRef idx="0">
              <a:schemeClr val="dk1"/>
            </a:fillRef>
            <a:effectRef idx="0">
              <a:schemeClr val="dk1"/>
            </a:effectRef>
            <a:fontRef idx="minor">
              <a:schemeClr val="tx1"/>
            </a:fontRef>
          </p:style>
        </p:cxnSp>
        <p:sp>
          <p:nvSpPr>
            <p:cNvPr id="35" name="文本框 34"/>
            <p:cNvSpPr txBox="1"/>
            <p:nvPr/>
          </p:nvSpPr>
          <p:spPr>
            <a:xfrm>
              <a:off x="4547882" y="3734619"/>
              <a:ext cx="303288" cy="338554"/>
            </a:xfrm>
            <a:prstGeom prst="rect">
              <a:avLst/>
            </a:prstGeom>
            <a:noFill/>
          </p:spPr>
          <p:txBody>
            <a:bodyPr wrap="none" rtlCol="0">
              <a:spAutoFit/>
            </a:bodyPr>
            <a:lstStyle/>
            <a:p>
              <a:r>
                <a:rPr lang="en-US" altLang="zh-CN" sz="1600" dirty="0">
                  <a:latin typeface="+mj-lt"/>
                  <a:ea typeface="+mj-ea"/>
                </a:rPr>
                <a:t>=</a:t>
              </a:r>
              <a:endParaRPr lang="zh-CN" altLang="en-US" sz="1600" dirty="0">
                <a:latin typeface="+mj-lt"/>
                <a:ea typeface="+mj-ea"/>
              </a:endParaRPr>
            </a:p>
          </p:txBody>
        </p:sp>
        <p:sp>
          <p:nvSpPr>
            <p:cNvPr id="36" name="文本框 35"/>
            <p:cNvSpPr txBox="1"/>
            <p:nvPr/>
          </p:nvSpPr>
          <p:spPr>
            <a:xfrm>
              <a:off x="4918826" y="3549953"/>
              <a:ext cx="1522726" cy="338554"/>
            </a:xfrm>
            <a:prstGeom prst="rect">
              <a:avLst/>
            </a:prstGeom>
            <a:noFill/>
          </p:spPr>
          <p:txBody>
            <a:bodyPr wrap="square" rtlCol="0">
              <a:spAutoFit/>
            </a:bodyPr>
            <a:lstStyle/>
            <a:p>
              <a:pPr algn="ctr"/>
              <a:r>
                <a:rPr lang="en-US" altLang="zh-CN" sz="1600" dirty="0">
                  <a:latin typeface="+mj-lt"/>
                  <a:ea typeface="+mj-ea"/>
                </a:rPr>
                <a:t>100×2</a:t>
              </a:r>
              <a:r>
                <a:rPr lang="en-US" altLang="zh-CN" sz="1600" baseline="30000" dirty="0">
                  <a:latin typeface="+mj-lt"/>
                  <a:ea typeface="+mj-ea"/>
                </a:rPr>
                <a:t>20</a:t>
              </a:r>
              <a:r>
                <a:rPr lang="en-US" altLang="zh-CN" sz="1600" dirty="0">
                  <a:latin typeface="+mj-lt"/>
                  <a:ea typeface="+mj-ea"/>
                </a:rPr>
                <a:t>×8</a:t>
              </a:r>
              <a:endParaRPr lang="zh-CN" altLang="en-US" sz="1600" dirty="0">
                <a:latin typeface="+mj-lt"/>
                <a:ea typeface="+mj-ea"/>
              </a:endParaRPr>
            </a:p>
          </p:txBody>
        </p:sp>
        <p:sp>
          <p:nvSpPr>
            <p:cNvPr id="37" name="文本框 36"/>
            <p:cNvSpPr txBox="1"/>
            <p:nvPr/>
          </p:nvSpPr>
          <p:spPr>
            <a:xfrm>
              <a:off x="4951657" y="3919285"/>
              <a:ext cx="1489895" cy="338554"/>
            </a:xfrm>
            <a:prstGeom prst="rect">
              <a:avLst/>
            </a:prstGeom>
            <a:noFill/>
          </p:spPr>
          <p:txBody>
            <a:bodyPr wrap="square" rtlCol="0">
              <a:spAutoFit/>
            </a:bodyPr>
            <a:lstStyle/>
            <a:p>
              <a:pPr algn="ctr"/>
              <a:r>
                <a:rPr lang="en-US" altLang="zh-CN" sz="1600" dirty="0">
                  <a:latin typeface="+mj-lt"/>
                  <a:ea typeface="+mj-ea"/>
                </a:rPr>
                <a:t>8.39 + 2</a:t>
              </a:r>
              <a:endParaRPr lang="zh-CN" altLang="en-US" sz="1600" baseline="30000" dirty="0">
                <a:latin typeface="+mj-lt"/>
                <a:ea typeface="+mj-ea"/>
              </a:endParaRPr>
            </a:p>
          </p:txBody>
        </p:sp>
        <p:cxnSp>
          <p:nvCxnSpPr>
            <p:cNvPr id="38" name="直接连接符 37"/>
            <p:cNvCxnSpPr/>
            <p:nvPr/>
          </p:nvCxnSpPr>
          <p:spPr>
            <a:xfrm>
              <a:off x="4918825" y="3919285"/>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39" name="文本框 38"/>
            <p:cNvSpPr txBox="1"/>
            <p:nvPr/>
          </p:nvSpPr>
          <p:spPr>
            <a:xfrm>
              <a:off x="6451746" y="3734619"/>
              <a:ext cx="1486304" cy="338554"/>
            </a:xfrm>
            <a:prstGeom prst="rect">
              <a:avLst/>
            </a:prstGeom>
            <a:noFill/>
          </p:spPr>
          <p:txBody>
            <a:bodyPr wrap="none" rtlCol="0">
              <a:spAutoFit/>
            </a:bodyPr>
            <a:lstStyle/>
            <a:p>
              <a:r>
                <a:rPr lang="en-US" altLang="zh-CN" sz="1600" dirty="0">
                  <a:latin typeface="+mj-lt"/>
                  <a:ea typeface="+mj-ea"/>
                </a:rPr>
                <a:t>≈ 80.7 Mbit/s</a:t>
              </a:r>
              <a:endParaRPr lang="zh-CN" altLang="en-US" sz="1600" dirty="0">
                <a:latin typeface="+mj-lt"/>
                <a:ea typeface="+mj-ea"/>
              </a:endParaRPr>
            </a:p>
          </p:txBody>
        </p:sp>
      </p:grpSp>
      <p:sp>
        <p:nvSpPr>
          <p:cNvPr id="5" name="椭圆 4">
            <a:extLst>
              <a:ext uri="{FF2B5EF4-FFF2-40B4-BE49-F238E27FC236}">
                <a16:creationId xmlns:a16="http://schemas.microsoft.com/office/drawing/2014/main" id="{FDA9386C-1AAA-9EF9-DC6C-3CE11E754275}"/>
              </a:ext>
            </a:extLst>
          </p:cNvPr>
          <p:cNvSpPr/>
          <p:nvPr/>
        </p:nvSpPr>
        <p:spPr>
          <a:xfrm>
            <a:off x="2394997" y="1216646"/>
            <a:ext cx="418008" cy="418009"/>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endParaRPr lang="zh-CN" altLang="en-US" sz="1200" b="1">
              <a:solidFill>
                <a:schemeClr val="tx1"/>
              </a:solidFill>
              <a:ea typeface="微软雅黑 Light" panose="020B0502040204020203" pitchFamily="34" charset="-122"/>
            </a:endParaRPr>
          </a:p>
        </p:txBody>
      </p:sp>
      <p:sp>
        <p:nvSpPr>
          <p:cNvPr id="8" name="椭圆 7">
            <a:extLst>
              <a:ext uri="{FF2B5EF4-FFF2-40B4-BE49-F238E27FC236}">
                <a16:creationId xmlns:a16="http://schemas.microsoft.com/office/drawing/2014/main" id="{C54C1B5F-319D-5210-6212-2DF5BE74CBFB}"/>
              </a:ext>
            </a:extLst>
          </p:cNvPr>
          <p:cNvSpPr/>
          <p:nvPr/>
        </p:nvSpPr>
        <p:spPr>
          <a:xfrm>
            <a:off x="6322563" y="1216646"/>
            <a:ext cx="418008" cy="418009"/>
          </a:xfrm>
          <a:prstGeom prst="ellipse">
            <a:avLst/>
          </a:prstGeom>
          <a:gradFill rotWithShape="1">
            <a:gsLst>
              <a:gs pos="0">
                <a:srgbClr val="85D1F7"/>
              </a:gs>
              <a:gs pos="100000">
                <a:srgbClr val="0070C0"/>
              </a:gs>
            </a:gsLst>
            <a:path path="shape">
              <a:fillToRect l="50000" t="50000" r="50000" b="50000"/>
            </a:path>
          </a:gradFill>
          <a:ln w="9525">
            <a:noFill/>
            <a:round/>
            <a:headEnd/>
            <a:tailEnd/>
          </a:ln>
        </p:spPr>
        <p:txBody>
          <a:bodyPr wrap="none" anchor="ctr"/>
          <a:lstStyle/>
          <a:p>
            <a:endParaRPr lang="zh-CN" altLang="en-US" sz="1200" b="1">
              <a:solidFill>
                <a:schemeClr val="tx1"/>
              </a:solidFill>
              <a:latin typeface="Times New Roman" panose="02020603050405020304" pitchFamily="18" charset="0"/>
              <a:ea typeface="微软雅黑 Light" panose="020B0502040204020203" pitchFamily="34" charset="-122"/>
            </a:endParaRPr>
          </a:p>
        </p:txBody>
      </p:sp>
      <p:cxnSp>
        <p:nvCxnSpPr>
          <p:cNvPr id="10" name="直接连接符 9">
            <a:extLst>
              <a:ext uri="{FF2B5EF4-FFF2-40B4-BE49-F238E27FC236}">
                <a16:creationId xmlns:a16="http://schemas.microsoft.com/office/drawing/2014/main" id="{939E7D49-D810-C96E-0CD8-63B1C50563D9}"/>
              </a:ext>
            </a:extLst>
          </p:cNvPr>
          <p:cNvCxnSpPr>
            <a:stCxn id="5" idx="6"/>
            <a:endCxn id="8" idx="2"/>
          </p:cNvCxnSpPr>
          <p:nvPr/>
        </p:nvCxnSpPr>
        <p:spPr>
          <a:xfrm>
            <a:off x="2813005" y="1425651"/>
            <a:ext cx="35095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5D0B97A0-A899-1D58-5373-7C7CA4629152}"/>
              </a:ext>
            </a:extLst>
          </p:cNvPr>
          <p:cNvSpPr txBox="1"/>
          <p:nvPr/>
        </p:nvSpPr>
        <p:spPr>
          <a:xfrm>
            <a:off x="4020196" y="1115449"/>
            <a:ext cx="1095172" cy="307777"/>
          </a:xfrm>
          <a:prstGeom prst="rect">
            <a:avLst/>
          </a:prstGeom>
          <a:noFill/>
        </p:spPr>
        <p:txBody>
          <a:bodyPr wrap="none" rtlCol="0">
            <a:spAutoFit/>
          </a:bodyPr>
          <a:lstStyle/>
          <a:p>
            <a:pPr algn="ctr"/>
            <a:r>
              <a:rPr lang="en-US" altLang="zh-CN" sz="1400" dirty="0"/>
              <a:t>100 Mbit/s</a:t>
            </a:r>
            <a:endParaRPr lang="zh-CN" altLang="en-US" sz="1400" dirty="0"/>
          </a:p>
        </p:txBody>
      </p:sp>
      <p:sp>
        <p:nvSpPr>
          <p:cNvPr id="15" name="Text Box 37">
            <a:extLst>
              <a:ext uri="{FF2B5EF4-FFF2-40B4-BE49-F238E27FC236}">
                <a16:creationId xmlns:a16="http://schemas.microsoft.com/office/drawing/2014/main" id="{BE01632F-2722-AFAD-1FD4-A2493CEBBB94}"/>
              </a:ext>
            </a:extLst>
          </p:cNvPr>
          <p:cNvSpPr txBox="1">
            <a:spLocks noChangeArrowheads="1"/>
          </p:cNvSpPr>
          <p:nvPr/>
        </p:nvSpPr>
        <p:spPr bwMode="auto">
          <a:xfrm>
            <a:off x="6184699" y="1644425"/>
            <a:ext cx="724878"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B</a:t>
            </a:r>
          </a:p>
        </p:txBody>
      </p:sp>
      <p:sp>
        <p:nvSpPr>
          <p:cNvPr id="16" name="Text Box 38">
            <a:extLst>
              <a:ext uri="{FF2B5EF4-FFF2-40B4-BE49-F238E27FC236}">
                <a16:creationId xmlns:a16="http://schemas.microsoft.com/office/drawing/2014/main" id="{C4AB53D7-50A7-2321-178D-8842B173A857}"/>
              </a:ext>
            </a:extLst>
          </p:cNvPr>
          <p:cNvSpPr txBox="1">
            <a:spLocks noChangeArrowheads="1"/>
          </p:cNvSpPr>
          <p:nvPr/>
        </p:nvSpPr>
        <p:spPr bwMode="auto">
          <a:xfrm>
            <a:off x="2244771" y="1644425"/>
            <a:ext cx="718466"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A</a:t>
            </a:r>
          </a:p>
        </p:txBody>
      </p:sp>
      <p:sp>
        <p:nvSpPr>
          <p:cNvPr id="17" name="文本框 16">
            <a:extLst>
              <a:ext uri="{FF2B5EF4-FFF2-40B4-BE49-F238E27FC236}">
                <a16:creationId xmlns:a16="http://schemas.microsoft.com/office/drawing/2014/main" id="{AE56C7F7-4624-00E2-54EA-14A2037A792D}"/>
              </a:ext>
            </a:extLst>
          </p:cNvPr>
          <p:cNvSpPr txBox="1"/>
          <p:nvPr/>
        </p:nvSpPr>
        <p:spPr>
          <a:xfrm>
            <a:off x="4118993" y="1430884"/>
            <a:ext cx="906018" cy="307777"/>
          </a:xfrm>
          <a:prstGeom prst="rect">
            <a:avLst/>
          </a:prstGeom>
          <a:noFill/>
        </p:spPr>
        <p:txBody>
          <a:bodyPr wrap="none" rtlCol="0">
            <a:spAutoFit/>
          </a:bodyPr>
          <a:lstStyle/>
          <a:p>
            <a:pPr algn="ctr"/>
            <a:r>
              <a:rPr lang="en-US" altLang="zh-CN" sz="1400" dirty="0"/>
              <a:t>RTT = 2s</a:t>
            </a:r>
            <a:endParaRPr lang="zh-CN" altLang="en-US" sz="1400" dirty="0"/>
          </a:p>
        </p:txBody>
      </p:sp>
      <p:sp>
        <p:nvSpPr>
          <p:cNvPr id="19" name="文本框 18">
            <a:extLst>
              <a:ext uri="{FF2B5EF4-FFF2-40B4-BE49-F238E27FC236}">
                <a16:creationId xmlns:a16="http://schemas.microsoft.com/office/drawing/2014/main" id="{47B275F2-E2D4-4840-639F-6A662CB85F89}"/>
              </a:ext>
            </a:extLst>
          </p:cNvPr>
          <p:cNvSpPr txBox="1"/>
          <p:nvPr/>
        </p:nvSpPr>
        <p:spPr>
          <a:xfrm>
            <a:off x="809892" y="2436801"/>
            <a:ext cx="5929828" cy="338554"/>
          </a:xfrm>
          <a:prstGeom prst="rect">
            <a:avLst/>
          </a:prstGeom>
          <a:noFill/>
        </p:spPr>
        <p:txBody>
          <a:bodyPr wrap="none" rtlCol="0">
            <a:spAutoFit/>
          </a:bodyPr>
          <a:lstStyle/>
          <a:p>
            <a:r>
              <a:rPr lang="zh-CN" altLang="en-US" sz="1600" dirty="0">
                <a:latin typeface="+mj-lt"/>
                <a:ea typeface="+mj-ea"/>
              </a:rPr>
              <a:t>答：有效速率消耗的时间包括实际的发送时间和等待发送的时间</a:t>
            </a:r>
          </a:p>
        </p:txBody>
      </p:sp>
    </p:spTree>
    <p:extLst>
      <p:ext uri="{BB962C8B-B14F-4D97-AF65-F5344CB8AC3E}">
        <p14:creationId xmlns:p14="http://schemas.microsoft.com/office/powerpoint/2010/main" val="16990323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D3D6FCA-E0CD-CE4D-2993-B6B1DD38772F}"/>
              </a:ext>
            </a:extLst>
          </p:cNvPr>
          <p:cNvSpPr>
            <a:spLocks noGrp="1"/>
          </p:cNvSpPr>
          <p:nvPr>
            <p:ph type="title"/>
          </p:nvPr>
        </p:nvSpPr>
        <p:spPr>
          <a:xfrm>
            <a:off x="612000" y="144000"/>
            <a:ext cx="7920000" cy="341632"/>
          </a:xfrm>
        </p:spPr>
        <p:txBody>
          <a:bodyPr/>
          <a:lstStyle/>
          <a:p>
            <a:r>
              <a:rPr lang="en-US" altLang="zh-CN" dirty="0"/>
              <a:t>6. </a:t>
            </a:r>
            <a:r>
              <a:rPr lang="zh-CN" altLang="en-US" dirty="0"/>
              <a:t>往返时间 </a:t>
            </a:r>
            <a:r>
              <a:rPr lang="en-US" altLang="zh-CN" dirty="0"/>
              <a:t>RTT</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r>
              <a:rPr lang="zh-CN" altLang="en-US" dirty="0"/>
              <a:t>补充说明</a:t>
            </a:r>
            <a:endParaRPr lang="en-US" altLang="zh-CN" dirty="0"/>
          </a:p>
          <a:p>
            <a:pPr lvl="1"/>
            <a:r>
              <a:rPr lang="zh-CN" altLang="en-US" dirty="0"/>
              <a:t>在互联网中，往返时间还包括</a:t>
            </a:r>
            <a:r>
              <a:rPr lang="zh-CN" altLang="en-US" dirty="0">
                <a:solidFill>
                  <a:srgbClr val="D4237A"/>
                </a:solidFill>
              </a:rPr>
              <a:t>各中间结点</a:t>
            </a:r>
            <a:r>
              <a:rPr lang="zh-CN" altLang="en-US" dirty="0"/>
              <a:t>的处理时延、排队时延以及转发数据时的发送时延</a:t>
            </a:r>
          </a:p>
          <a:p>
            <a:pPr lvl="1"/>
            <a:r>
              <a:rPr lang="zh-CN" altLang="en-US" dirty="0"/>
              <a:t>当使用卫星通信时，往返时间 </a:t>
            </a:r>
            <a:r>
              <a:rPr lang="en-US" altLang="zh-CN" dirty="0"/>
              <a:t>RTT </a:t>
            </a:r>
            <a:r>
              <a:rPr lang="zh-CN" altLang="en-US" dirty="0"/>
              <a:t>相对较长，此时，</a:t>
            </a:r>
            <a:r>
              <a:rPr lang="en-US" altLang="zh-CN" dirty="0"/>
              <a:t>RTT </a:t>
            </a:r>
            <a:r>
              <a:rPr lang="zh-CN" altLang="en-US" dirty="0"/>
              <a:t>是很重要的一个性能指标</a:t>
            </a:r>
          </a:p>
        </p:txBody>
      </p:sp>
      <p:sp>
        <p:nvSpPr>
          <p:cNvPr id="21" name="椭圆 20">
            <a:extLst>
              <a:ext uri="{FF2B5EF4-FFF2-40B4-BE49-F238E27FC236}">
                <a16:creationId xmlns:a16="http://schemas.microsoft.com/office/drawing/2014/main" id="{477EC9DD-B095-0D76-5E3C-8EAE4904546C}"/>
              </a:ext>
            </a:extLst>
          </p:cNvPr>
          <p:cNvSpPr/>
          <p:nvPr/>
        </p:nvSpPr>
        <p:spPr>
          <a:xfrm>
            <a:off x="2394997" y="2357870"/>
            <a:ext cx="418008" cy="418009"/>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endParaRPr lang="zh-CN" altLang="en-US" sz="1200" b="1">
              <a:solidFill>
                <a:schemeClr val="tx1"/>
              </a:solidFill>
              <a:ea typeface="微软雅黑 Light" panose="020B0502040204020203" pitchFamily="34" charset="-122"/>
            </a:endParaRPr>
          </a:p>
        </p:txBody>
      </p:sp>
      <p:sp>
        <p:nvSpPr>
          <p:cNvPr id="22" name="椭圆 21">
            <a:extLst>
              <a:ext uri="{FF2B5EF4-FFF2-40B4-BE49-F238E27FC236}">
                <a16:creationId xmlns:a16="http://schemas.microsoft.com/office/drawing/2014/main" id="{81C1583F-7671-79A3-046F-486DD0DBC7A3}"/>
              </a:ext>
            </a:extLst>
          </p:cNvPr>
          <p:cNvSpPr/>
          <p:nvPr/>
        </p:nvSpPr>
        <p:spPr>
          <a:xfrm>
            <a:off x="6322563" y="2357870"/>
            <a:ext cx="418008" cy="418009"/>
          </a:xfrm>
          <a:prstGeom prst="ellipse">
            <a:avLst/>
          </a:prstGeom>
          <a:gradFill rotWithShape="1">
            <a:gsLst>
              <a:gs pos="0">
                <a:srgbClr val="85D1F7"/>
              </a:gs>
              <a:gs pos="100000">
                <a:srgbClr val="0070C0"/>
              </a:gs>
            </a:gsLst>
            <a:path path="shape">
              <a:fillToRect l="50000" t="50000" r="50000" b="50000"/>
            </a:path>
          </a:gradFill>
          <a:ln w="9525">
            <a:noFill/>
            <a:round/>
            <a:headEnd/>
            <a:tailEnd/>
          </a:ln>
        </p:spPr>
        <p:txBody>
          <a:bodyPr wrap="none" anchor="ctr"/>
          <a:lstStyle/>
          <a:p>
            <a:endParaRPr lang="zh-CN" altLang="en-US" sz="1200" b="1">
              <a:solidFill>
                <a:schemeClr val="tx1"/>
              </a:solidFill>
              <a:latin typeface="Times New Roman" panose="02020603050405020304" pitchFamily="18" charset="0"/>
              <a:ea typeface="微软雅黑 Light" panose="020B0502040204020203" pitchFamily="34" charset="-122"/>
            </a:endParaRPr>
          </a:p>
        </p:txBody>
      </p:sp>
      <p:cxnSp>
        <p:nvCxnSpPr>
          <p:cNvPr id="23" name="直接连接符 22">
            <a:extLst>
              <a:ext uri="{FF2B5EF4-FFF2-40B4-BE49-F238E27FC236}">
                <a16:creationId xmlns:a16="http://schemas.microsoft.com/office/drawing/2014/main" id="{DB0BF581-A9E2-9A4B-FC85-9E7105B5B5BF}"/>
              </a:ext>
            </a:extLst>
          </p:cNvPr>
          <p:cNvCxnSpPr>
            <a:stCxn id="21" idx="6"/>
            <a:endCxn id="22" idx="2"/>
          </p:cNvCxnSpPr>
          <p:nvPr/>
        </p:nvCxnSpPr>
        <p:spPr>
          <a:xfrm>
            <a:off x="2813005" y="2566875"/>
            <a:ext cx="35095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 Box 37">
            <a:extLst>
              <a:ext uri="{FF2B5EF4-FFF2-40B4-BE49-F238E27FC236}">
                <a16:creationId xmlns:a16="http://schemas.microsoft.com/office/drawing/2014/main" id="{0AC53718-E5F1-1D07-1A4C-A858E76D5747}"/>
              </a:ext>
            </a:extLst>
          </p:cNvPr>
          <p:cNvSpPr txBox="1">
            <a:spLocks noChangeArrowheads="1"/>
          </p:cNvSpPr>
          <p:nvPr/>
        </p:nvSpPr>
        <p:spPr bwMode="auto">
          <a:xfrm>
            <a:off x="6184699" y="2785649"/>
            <a:ext cx="724878"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B</a:t>
            </a:r>
          </a:p>
        </p:txBody>
      </p:sp>
      <p:sp>
        <p:nvSpPr>
          <p:cNvPr id="26" name="Text Box 38">
            <a:extLst>
              <a:ext uri="{FF2B5EF4-FFF2-40B4-BE49-F238E27FC236}">
                <a16:creationId xmlns:a16="http://schemas.microsoft.com/office/drawing/2014/main" id="{E0C9FD90-54CD-880C-4FE2-2112BB585A4A}"/>
              </a:ext>
            </a:extLst>
          </p:cNvPr>
          <p:cNvSpPr txBox="1">
            <a:spLocks noChangeArrowheads="1"/>
          </p:cNvSpPr>
          <p:nvPr/>
        </p:nvSpPr>
        <p:spPr bwMode="auto">
          <a:xfrm>
            <a:off x="2244771" y="2785649"/>
            <a:ext cx="718466" cy="307777"/>
          </a:xfrm>
          <a:prstGeom prst="rect">
            <a:avLst/>
          </a:prstGeom>
          <a:noFill/>
        </p:spPr>
        <p:txBody>
          <a:bodyPr wrap="none" rtlCol="0">
            <a:spAutoFit/>
          </a:bodyPr>
          <a:lstStyle>
            <a:defPPr>
              <a:defRPr lang="zh-CN"/>
            </a:defPPr>
            <a:lvl1pPr algn="ctr">
              <a:defRPr sz="1400"/>
            </a:lvl1pPr>
          </a:lstStyle>
          <a:p>
            <a:r>
              <a:rPr lang="zh-CN" altLang="en-US" dirty="0"/>
              <a:t>结点 </a:t>
            </a:r>
            <a:r>
              <a:rPr lang="en-US" altLang="zh-CN" dirty="0"/>
              <a:t>A</a:t>
            </a:r>
          </a:p>
        </p:txBody>
      </p:sp>
      <p:sp>
        <p:nvSpPr>
          <p:cNvPr id="29" name="椭圆 28">
            <a:extLst>
              <a:ext uri="{FF2B5EF4-FFF2-40B4-BE49-F238E27FC236}">
                <a16:creationId xmlns:a16="http://schemas.microsoft.com/office/drawing/2014/main" id="{047C6B55-9AFE-F471-8CE5-D5815DA3161E}"/>
              </a:ext>
            </a:extLst>
          </p:cNvPr>
          <p:cNvSpPr/>
          <p:nvPr/>
        </p:nvSpPr>
        <p:spPr>
          <a:xfrm>
            <a:off x="3461785" y="2424218"/>
            <a:ext cx="304813" cy="304814"/>
          </a:xfrm>
          <a:prstGeom prst="ellipse">
            <a:avLst/>
          </a:prstGeom>
          <a:solidFill>
            <a:srgbClr val="F2F2F2"/>
          </a:solidFill>
          <a:ln>
            <a:solidFill>
              <a:schemeClr val="tx1">
                <a:lumMod val="50000"/>
                <a:lumOff val="50000"/>
              </a:schemeClr>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153A662E-8A3C-6D0C-227E-2D6F09545692}"/>
              </a:ext>
            </a:extLst>
          </p:cNvPr>
          <p:cNvSpPr/>
          <p:nvPr/>
        </p:nvSpPr>
        <p:spPr>
          <a:xfrm>
            <a:off x="4415378" y="2424218"/>
            <a:ext cx="304813" cy="304814"/>
          </a:xfrm>
          <a:prstGeom prst="ellipse">
            <a:avLst/>
          </a:prstGeom>
          <a:solidFill>
            <a:srgbClr val="F2F2F2"/>
          </a:solidFill>
          <a:ln>
            <a:solidFill>
              <a:schemeClr val="tx1">
                <a:lumMod val="50000"/>
                <a:lumOff val="50000"/>
              </a:schemeClr>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872C7122-EBB1-7843-ECCB-0098CCBCFBF4}"/>
              </a:ext>
            </a:extLst>
          </p:cNvPr>
          <p:cNvSpPr/>
          <p:nvPr/>
        </p:nvSpPr>
        <p:spPr>
          <a:xfrm>
            <a:off x="5368971" y="2424218"/>
            <a:ext cx="304813" cy="304814"/>
          </a:xfrm>
          <a:prstGeom prst="ellipse">
            <a:avLst/>
          </a:prstGeom>
          <a:solidFill>
            <a:srgbClr val="F2F2F2"/>
          </a:solidFill>
          <a:ln>
            <a:solidFill>
              <a:schemeClr val="tx1">
                <a:lumMod val="50000"/>
                <a:lumOff val="50000"/>
              </a:schemeClr>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740659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403566" y="4359001"/>
            <a:ext cx="4336869" cy="338554"/>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zh-CN" altLang="en-US" sz="1600" dirty="0">
                <a:solidFill>
                  <a:sysClr val="windowText" lastClr="000000"/>
                </a:solidFill>
              </a:rPr>
              <a:t>思考：信道利用率越高越好吗？</a:t>
            </a:r>
          </a:p>
        </p:txBody>
      </p:sp>
      <p:sp>
        <p:nvSpPr>
          <p:cNvPr id="3" name="标题 2">
            <a:extLst>
              <a:ext uri="{FF2B5EF4-FFF2-40B4-BE49-F238E27FC236}">
                <a16:creationId xmlns:a16="http://schemas.microsoft.com/office/drawing/2014/main" id="{21A2084D-5A2A-D00D-C3A5-69C1CAC7E984}"/>
              </a:ext>
            </a:extLst>
          </p:cNvPr>
          <p:cNvSpPr>
            <a:spLocks noGrp="1"/>
          </p:cNvSpPr>
          <p:nvPr>
            <p:ph type="title"/>
          </p:nvPr>
        </p:nvSpPr>
        <p:spPr>
          <a:xfrm>
            <a:off x="612000" y="144000"/>
            <a:ext cx="7920000" cy="341632"/>
          </a:xfrm>
        </p:spPr>
        <p:txBody>
          <a:bodyPr/>
          <a:lstStyle/>
          <a:p>
            <a:r>
              <a:rPr lang="en-US" altLang="zh-CN" dirty="0"/>
              <a:t>7. </a:t>
            </a:r>
            <a:r>
              <a:rPr lang="zh-CN" altLang="en-US" dirty="0"/>
              <a:t>利用率 </a:t>
            </a:r>
            <a:r>
              <a:rPr lang="en-US" altLang="zh-CN" dirty="0"/>
              <a:t>Utilization</a:t>
            </a:r>
            <a:endParaRPr lang="zh-CN" altLang="en-US" dirty="0"/>
          </a:p>
        </p:txBody>
      </p:sp>
      <p:cxnSp>
        <p:nvCxnSpPr>
          <p:cNvPr id="8" name="直接连接符 7">
            <a:extLst>
              <a:ext uri="{FF2B5EF4-FFF2-40B4-BE49-F238E27FC236}">
                <a16:creationId xmlns:a16="http://schemas.microsoft.com/office/drawing/2014/main" id="{81003230-3E3D-21B9-8516-6E66D26F0112}"/>
              </a:ext>
            </a:extLst>
          </p:cNvPr>
          <p:cNvCxnSpPr>
            <a:cxnSpLocks/>
          </p:cNvCxnSpPr>
          <p:nvPr/>
        </p:nvCxnSpPr>
        <p:spPr>
          <a:xfrm>
            <a:off x="612775" y="1131750"/>
            <a:ext cx="0" cy="2880000"/>
          </a:xfrm>
          <a:prstGeom prst="line">
            <a:avLst/>
          </a:prstGeom>
          <a:ln w="12700">
            <a:gradFill>
              <a:gsLst>
                <a:gs pos="0">
                  <a:schemeClr val="bg1"/>
                </a:gs>
                <a:gs pos="50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5CF152B-F0B2-E433-E7DA-981EA22E2DB7}"/>
              </a:ext>
            </a:extLst>
          </p:cNvPr>
          <p:cNvCxnSpPr>
            <a:cxnSpLocks/>
          </p:cNvCxnSpPr>
          <p:nvPr/>
        </p:nvCxnSpPr>
        <p:spPr>
          <a:xfrm>
            <a:off x="4571999" y="1131750"/>
            <a:ext cx="0" cy="2880000"/>
          </a:xfrm>
          <a:prstGeom prst="line">
            <a:avLst/>
          </a:prstGeom>
          <a:ln w="12700">
            <a:gradFill>
              <a:gsLst>
                <a:gs pos="0">
                  <a:schemeClr val="bg1"/>
                </a:gs>
                <a:gs pos="50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8E20F60-0526-D198-2CB8-D9B00B8563BF}"/>
              </a:ext>
            </a:extLst>
          </p:cNvPr>
          <p:cNvCxnSpPr>
            <a:cxnSpLocks/>
          </p:cNvCxnSpPr>
          <p:nvPr/>
        </p:nvCxnSpPr>
        <p:spPr>
          <a:xfrm>
            <a:off x="8531225" y="1131750"/>
            <a:ext cx="0" cy="2880000"/>
          </a:xfrm>
          <a:prstGeom prst="line">
            <a:avLst/>
          </a:prstGeom>
          <a:ln w="12700">
            <a:gradFill>
              <a:gsLst>
                <a:gs pos="0">
                  <a:schemeClr val="bg1"/>
                </a:gs>
                <a:gs pos="50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AE33D8CA-7BE2-F894-8516-2332C898FADC}"/>
              </a:ext>
            </a:extLst>
          </p:cNvPr>
          <p:cNvSpPr txBox="1"/>
          <p:nvPr/>
        </p:nvSpPr>
        <p:spPr>
          <a:xfrm>
            <a:off x="1167625" y="2523460"/>
            <a:ext cx="2849524" cy="830997"/>
          </a:xfrm>
          <a:prstGeom prst="rect">
            <a:avLst/>
          </a:prstGeom>
          <a:noFill/>
        </p:spPr>
        <p:txBody>
          <a:bodyPr wrap="square" rtlCol="0">
            <a:spAutoFit/>
          </a:bodyPr>
          <a:lstStyle/>
          <a:p>
            <a:pPr algn="l"/>
            <a:r>
              <a:rPr lang="zh-CN" altLang="en-US" sz="1600" dirty="0"/>
              <a:t>某信道有百分之几的时间是被利用的（即有数据通过）</a:t>
            </a:r>
          </a:p>
          <a:p>
            <a:pPr algn="l"/>
            <a:r>
              <a:rPr lang="zh-CN" altLang="en-US" sz="1600" dirty="0"/>
              <a:t>完全空闲的信道的利用率是零</a:t>
            </a:r>
          </a:p>
        </p:txBody>
      </p:sp>
      <p:sp>
        <p:nvSpPr>
          <p:cNvPr id="13" name="文本框 12">
            <a:extLst>
              <a:ext uri="{FF2B5EF4-FFF2-40B4-BE49-F238E27FC236}">
                <a16:creationId xmlns:a16="http://schemas.microsoft.com/office/drawing/2014/main" id="{8516C016-6F79-BA08-F29C-463553A9B1D5}"/>
              </a:ext>
            </a:extLst>
          </p:cNvPr>
          <p:cNvSpPr txBox="1"/>
          <p:nvPr/>
        </p:nvSpPr>
        <p:spPr>
          <a:xfrm>
            <a:off x="1167625" y="1788923"/>
            <a:ext cx="2106667" cy="584775"/>
          </a:xfrm>
          <a:prstGeom prst="rect">
            <a:avLst/>
          </a:prstGeom>
          <a:noFill/>
        </p:spPr>
        <p:txBody>
          <a:bodyPr wrap="none" rtlCol="0">
            <a:spAutoFit/>
          </a:bodyPr>
          <a:lstStyle/>
          <a:p>
            <a:pPr algn="l"/>
            <a:r>
              <a:rPr lang="zh-CN" altLang="en-US" sz="1600" dirty="0">
                <a:solidFill>
                  <a:srgbClr val="D4237A"/>
                </a:solidFill>
                <a:latin typeface="+mj-ea"/>
                <a:ea typeface="+mj-ea"/>
              </a:rPr>
              <a:t>信道利用率</a:t>
            </a:r>
            <a:endParaRPr lang="en-US" altLang="zh-CN" sz="1600" dirty="0">
              <a:solidFill>
                <a:srgbClr val="D4237A"/>
              </a:solidFill>
              <a:latin typeface="+mj-ea"/>
              <a:ea typeface="+mj-ea"/>
            </a:endParaRPr>
          </a:p>
          <a:p>
            <a:pPr algn="l"/>
            <a:r>
              <a:rPr lang="en-US" altLang="zh-CN" sz="1600" dirty="0">
                <a:solidFill>
                  <a:srgbClr val="D4237A"/>
                </a:solidFill>
                <a:latin typeface="+mj-ea"/>
                <a:ea typeface="+mj-ea"/>
              </a:rPr>
              <a:t>Channel Utilization</a:t>
            </a:r>
            <a:endParaRPr lang="zh-CN" altLang="en-US" sz="1600" dirty="0">
              <a:solidFill>
                <a:srgbClr val="D4237A"/>
              </a:solidFill>
              <a:latin typeface="+mj-ea"/>
              <a:ea typeface="+mj-ea"/>
            </a:endParaRPr>
          </a:p>
        </p:txBody>
      </p:sp>
      <p:sp>
        <p:nvSpPr>
          <p:cNvPr id="15" name="文本框 14">
            <a:extLst>
              <a:ext uri="{FF2B5EF4-FFF2-40B4-BE49-F238E27FC236}">
                <a16:creationId xmlns:a16="http://schemas.microsoft.com/office/drawing/2014/main" id="{AF3CE396-8694-AA11-870B-D9E7F82E7032}"/>
              </a:ext>
            </a:extLst>
          </p:cNvPr>
          <p:cNvSpPr txBox="1"/>
          <p:nvPr/>
        </p:nvSpPr>
        <p:spPr>
          <a:xfrm>
            <a:off x="5126850" y="2523460"/>
            <a:ext cx="2849524" cy="584775"/>
          </a:xfrm>
          <a:prstGeom prst="rect">
            <a:avLst/>
          </a:prstGeom>
          <a:noFill/>
        </p:spPr>
        <p:txBody>
          <a:bodyPr wrap="square" rtlCol="0">
            <a:spAutoFit/>
          </a:bodyPr>
          <a:lstStyle/>
          <a:p>
            <a:pPr algn="l"/>
            <a:r>
              <a:rPr lang="zh-CN" altLang="en-US" sz="1600" dirty="0"/>
              <a:t>全网络的信道利用率的加权平均值</a:t>
            </a:r>
          </a:p>
        </p:txBody>
      </p:sp>
      <p:sp>
        <p:nvSpPr>
          <p:cNvPr id="17" name="文本框 16">
            <a:extLst>
              <a:ext uri="{FF2B5EF4-FFF2-40B4-BE49-F238E27FC236}">
                <a16:creationId xmlns:a16="http://schemas.microsoft.com/office/drawing/2014/main" id="{6C6D6A22-6504-805B-71C2-B410509E72FE}"/>
              </a:ext>
            </a:extLst>
          </p:cNvPr>
          <p:cNvSpPr txBox="1"/>
          <p:nvPr/>
        </p:nvSpPr>
        <p:spPr>
          <a:xfrm>
            <a:off x="5126850" y="1788923"/>
            <a:ext cx="2085251" cy="584775"/>
          </a:xfrm>
          <a:prstGeom prst="rect">
            <a:avLst/>
          </a:prstGeom>
          <a:noFill/>
        </p:spPr>
        <p:txBody>
          <a:bodyPr wrap="none" rtlCol="0">
            <a:spAutoFit/>
          </a:bodyPr>
          <a:lstStyle/>
          <a:p>
            <a:pPr algn="l"/>
            <a:r>
              <a:rPr lang="zh-CN" altLang="en-US" sz="1600" dirty="0">
                <a:solidFill>
                  <a:srgbClr val="D4237A"/>
                </a:solidFill>
                <a:latin typeface="+mj-ea"/>
                <a:ea typeface="+mj-ea"/>
              </a:rPr>
              <a:t>网络利用率</a:t>
            </a:r>
            <a:endParaRPr lang="en-US" altLang="zh-CN" sz="1600" dirty="0">
              <a:solidFill>
                <a:srgbClr val="D4237A"/>
              </a:solidFill>
              <a:latin typeface="+mj-ea"/>
              <a:ea typeface="+mj-ea"/>
            </a:endParaRPr>
          </a:p>
          <a:p>
            <a:pPr algn="l"/>
            <a:r>
              <a:rPr lang="en-US" altLang="zh-CN" sz="1600" dirty="0">
                <a:solidFill>
                  <a:srgbClr val="D4237A"/>
                </a:solidFill>
                <a:latin typeface="+mj-ea"/>
                <a:ea typeface="+mj-ea"/>
              </a:rPr>
              <a:t>Network Utilization</a:t>
            </a:r>
            <a:endParaRPr lang="zh-CN" altLang="en-US" sz="1600" dirty="0">
              <a:solidFill>
                <a:srgbClr val="D4237A"/>
              </a:solidFill>
              <a:latin typeface="+mj-ea"/>
              <a:ea typeface="+mj-ea"/>
            </a:endParaRPr>
          </a:p>
        </p:txBody>
      </p:sp>
    </p:spTree>
    <p:extLst>
      <p:ext uri="{BB962C8B-B14F-4D97-AF65-F5344CB8AC3E}">
        <p14:creationId xmlns:p14="http://schemas.microsoft.com/office/powerpoint/2010/main" val="25312172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615B62A7-0543-4330-1197-B4B7BF9846D9}"/>
              </a:ext>
            </a:extLst>
          </p:cNvPr>
          <p:cNvSpPr>
            <a:spLocks noGrp="1"/>
          </p:cNvSpPr>
          <p:nvPr>
            <p:ph type="title"/>
          </p:nvPr>
        </p:nvSpPr>
        <p:spPr>
          <a:xfrm>
            <a:off x="612000" y="144000"/>
            <a:ext cx="7920000" cy="341632"/>
          </a:xfrm>
        </p:spPr>
        <p:txBody>
          <a:bodyPr/>
          <a:lstStyle/>
          <a:p>
            <a:r>
              <a:rPr lang="en-US" altLang="zh-CN" dirty="0"/>
              <a:t>7. </a:t>
            </a:r>
            <a:r>
              <a:rPr lang="zh-CN" altLang="en-US" dirty="0"/>
              <a:t>利用率 </a:t>
            </a:r>
            <a:r>
              <a:rPr lang="en-US" altLang="zh-CN" dirty="0"/>
              <a:t>Utilization</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r>
              <a:rPr lang="zh-CN" altLang="en-US" dirty="0"/>
              <a:t>时延与网络利用率的关系</a:t>
            </a:r>
            <a:endParaRPr lang="en-US" altLang="zh-CN" dirty="0"/>
          </a:p>
          <a:p>
            <a:pPr lvl="1"/>
            <a:r>
              <a:rPr lang="zh-CN" altLang="en-US" dirty="0"/>
              <a:t>根据排队论，当某信道的利用率增大时，引起的时延会迅速增加</a:t>
            </a:r>
          </a:p>
        </p:txBody>
      </p:sp>
      <p:sp>
        <p:nvSpPr>
          <p:cNvPr id="5" name="矩形 5"/>
          <p:cNvSpPr>
            <a:spLocks noChangeArrowheads="1"/>
          </p:cNvSpPr>
          <p:nvPr/>
        </p:nvSpPr>
        <p:spPr bwMode="auto">
          <a:xfrm>
            <a:off x="612775" y="3133489"/>
            <a:ext cx="3556860" cy="738664"/>
          </a:xfrm>
          <a:prstGeom prst="rect">
            <a:avLst/>
          </a:prstGeom>
          <a:noFill/>
        </p:spPr>
        <p:txBody>
          <a:bodyPr wrap="square" rtlCol="0">
            <a:spAutoFit/>
          </a:bodyPr>
          <a:lstStyle/>
          <a:p>
            <a:r>
              <a:rPr lang="en-US" altLang="zh-CN" sz="1400" dirty="0"/>
              <a:t>D</a:t>
            </a:r>
            <a:r>
              <a:rPr lang="en-US" altLang="zh-CN" sz="1400" baseline="-25000" dirty="0"/>
              <a:t>0</a:t>
            </a:r>
            <a:r>
              <a:rPr lang="zh-CN" altLang="en-US" sz="1400" dirty="0"/>
              <a:t>：网络空闲时的时延</a:t>
            </a:r>
            <a:endParaRPr lang="en-US" altLang="zh-CN" sz="1400" dirty="0"/>
          </a:p>
          <a:p>
            <a:r>
              <a:rPr lang="en-US" altLang="zh-CN" sz="1400" dirty="0"/>
              <a:t>D</a:t>
            </a:r>
            <a:r>
              <a:rPr lang="zh-CN" altLang="en-US" sz="1400" dirty="0"/>
              <a:t>：网络在当前的时延</a:t>
            </a:r>
            <a:endParaRPr lang="en-US" altLang="zh-CN" sz="1400" dirty="0"/>
          </a:p>
          <a:p>
            <a:r>
              <a:rPr lang="en-US" altLang="zh-CN" sz="1400" dirty="0"/>
              <a:t>U</a:t>
            </a:r>
            <a:r>
              <a:rPr lang="zh-CN" altLang="en-US" sz="1400" dirty="0"/>
              <a:t>：网络当前的利用率，数值在 </a:t>
            </a:r>
            <a:r>
              <a:rPr lang="en-US" altLang="zh-CN" sz="1400" dirty="0"/>
              <a:t>0 </a:t>
            </a:r>
            <a:r>
              <a:rPr lang="zh-CN" altLang="en-US" sz="1400" dirty="0"/>
              <a:t>到 </a:t>
            </a:r>
            <a:r>
              <a:rPr lang="en-US" altLang="zh-CN" sz="1400" dirty="0"/>
              <a:t>1 </a:t>
            </a:r>
            <a:r>
              <a:rPr lang="zh-CN" altLang="en-US" sz="1400" dirty="0"/>
              <a:t>之间</a:t>
            </a:r>
            <a:endParaRPr lang="en-US" altLang="zh-CN" sz="1400" dirty="0"/>
          </a:p>
        </p:txBody>
      </p:sp>
      <p:grpSp>
        <p:nvGrpSpPr>
          <p:cNvPr id="20" name="组合 19"/>
          <p:cNvGrpSpPr/>
          <p:nvPr/>
        </p:nvGrpSpPr>
        <p:grpSpPr>
          <a:xfrm>
            <a:off x="612775" y="2046158"/>
            <a:ext cx="1611086" cy="894481"/>
            <a:chOff x="2760617" y="1739421"/>
            <a:chExt cx="1611086" cy="894481"/>
          </a:xfrm>
          <a:noFill/>
        </p:grpSpPr>
        <p:sp>
          <p:nvSpPr>
            <p:cNvPr id="19" name="圆角矩形 18"/>
            <p:cNvSpPr/>
            <p:nvPr/>
          </p:nvSpPr>
          <p:spPr>
            <a:xfrm>
              <a:off x="2760617" y="1739421"/>
              <a:ext cx="1611086" cy="894481"/>
            </a:xfrm>
            <a:prstGeom prst="roundRect">
              <a:avLst/>
            </a:prstGeom>
            <a:grp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latin typeface="+mj-lt"/>
                <a:ea typeface="+mj-ea"/>
              </a:endParaRPr>
            </a:p>
          </p:txBody>
        </p:sp>
        <p:grpSp>
          <p:nvGrpSpPr>
            <p:cNvPr id="18" name="组合 17"/>
            <p:cNvGrpSpPr/>
            <p:nvPr/>
          </p:nvGrpSpPr>
          <p:grpSpPr>
            <a:xfrm>
              <a:off x="2787752" y="1827192"/>
              <a:ext cx="1462033" cy="738664"/>
              <a:chOff x="758653" y="1895238"/>
              <a:chExt cx="1462033" cy="738664"/>
            </a:xfrm>
            <a:grpFill/>
          </p:grpSpPr>
          <p:sp>
            <p:nvSpPr>
              <p:cNvPr id="8" name="文本框 7"/>
              <p:cNvSpPr txBox="1"/>
              <p:nvPr/>
            </p:nvSpPr>
            <p:spPr>
              <a:xfrm>
                <a:off x="758653" y="2051552"/>
                <a:ext cx="630301" cy="369332"/>
              </a:xfrm>
              <a:prstGeom prst="rect">
                <a:avLst/>
              </a:prstGeom>
              <a:grpFill/>
              <a:ln>
                <a:noFill/>
              </a:ln>
            </p:spPr>
            <p:txBody>
              <a:bodyPr wrap="none" rtlCol="0">
                <a:spAutoFit/>
              </a:bodyPr>
              <a:lstStyle/>
              <a:p>
                <a:r>
                  <a:rPr lang="en-US" altLang="zh-CN" dirty="0">
                    <a:latin typeface="+mj-lt"/>
                    <a:ea typeface="+mj-ea"/>
                  </a:rPr>
                  <a:t>D = </a:t>
                </a:r>
                <a:endParaRPr lang="zh-CN" altLang="en-US" dirty="0">
                  <a:latin typeface="+mj-lt"/>
                  <a:ea typeface="+mj-ea"/>
                </a:endParaRPr>
              </a:p>
            </p:txBody>
          </p:sp>
          <p:sp>
            <p:nvSpPr>
              <p:cNvPr id="9" name="文本框 8"/>
              <p:cNvSpPr txBox="1"/>
              <p:nvPr/>
            </p:nvSpPr>
            <p:spPr>
              <a:xfrm>
                <a:off x="1489152" y="1895238"/>
                <a:ext cx="618323" cy="369332"/>
              </a:xfrm>
              <a:prstGeom prst="rect">
                <a:avLst/>
              </a:prstGeom>
              <a:grpFill/>
              <a:ln>
                <a:noFill/>
              </a:ln>
            </p:spPr>
            <p:txBody>
              <a:bodyPr wrap="square" rtlCol="0">
                <a:spAutoFit/>
              </a:bodyPr>
              <a:lstStyle/>
              <a:p>
                <a:r>
                  <a:rPr lang="en-US" altLang="zh-CN" dirty="0">
                    <a:latin typeface="+mj-lt"/>
                    <a:ea typeface="+mj-ea"/>
                  </a:rPr>
                  <a:t>D</a:t>
                </a:r>
                <a:r>
                  <a:rPr lang="en-US" altLang="zh-CN" baseline="-25000" dirty="0">
                    <a:latin typeface="+mj-lt"/>
                    <a:ea typeface="+mj-ea"/>
                  </a:rPr>
                  <a:t>0</a:t>
                </a:r>
                <a:r>
                  <a:rPr lang="en-US" altLang="zh-CN" dirty="0">
                    <a:latin typeface="+mj-lt"/>
                    <a:ea typeface="+mj-ea"/>
                  </a:rPr>
                  <a:t> </a:t>
                </a:r>
                <a:endParaRPr lang="zh-CN" altLang="en-US" dirty="0">
                  <a:latin typeface="+mj-lt"/>
                  <a:ea typeface="+mj-ea"/>
                </a:endParaRPr>
              </a:p>
            </p:txBody>
          </p:sp>
          <p:sp>
            <p:nvSpPr>
              <p:cNvPr id="10" name="文本框 9"/>
              <p:cNvSpPr txBox="1"/>
              <p:nvPr/>
            </p:nvSpPr>
            <p:spPr>
              <a:xfrm>
                <a:off x="1361216" y="2264570"/>
                <a:ext cx="859470" cy="369332"/>
              </a:xfrm>
              <a:prstGeom prst="rect">
                <a:avLst/>
              </a:prstGeom>
              <a:grpFill/>
              <a:ln>
                <a:noFill/>
              </a:ln>
            </p:spPr>
            <p:txBody>
              <a:bodyPr wrap="square" rtlCol="0">
                <a:spAutoFit/>
              </a:bodyPr>
              <a:lstStyle/>
              <a:p>
                <a:r>
                  <a:rPr lang="en-US" altLang="zh-CN" dirty="0">
                    <a:latin typeface="+mj-lt"/>
                    <a:ea typeface="+mj-ea"/>
                  </a:rPr>
                  <a:t>1 - U</a:t>
                </a:r>
                <a:endParaRPr lang="zh-CN" altLang="en-US" dirty="0">
                  <a:latin typeface="+mj-lt"/>
                  <a:ea typeface="+mj-ea"/>
                </a:endParaRPr>
              </a:p>
            </p:txBody>
          </p:sp>
          <p:cxnSp>
            <p:nvCxnSpPr>
              <p:cNvPr id="11" name="直接连接符 10"/>
              <p:cNvCxnSpPr/>
              <p:nvPr/>
            </p:nvCxnSpPr>
            <p:spPr>
              <a:xfrm>
                <a:off x="1361215" y="2264570"/>
                <a:ext cx="859471" cy="0"/>
              </a:xfrm>
              <a:prstGeom prst="line">
                <a:avLst/>
              </a:prstGeom>
              <a:grpFill/>
              <a:ln w="19050">
                <a:solidFill>
                  <a:schemeClr val="tx1"/>
                </a:solidFill>
              </a:ln>
            </p:spPr>
            <p:style>
              <a:lnRef idx="1">
                <a:schemeClr val="dk1"/>
              </a:lnRef>
              <a:fillRef idx="0">
                <a:schemeClr val="dk1"/>
              </a:fillRef>
              <a:effectRef idx="0">
                <a:schemeClr val="dk1"/>
              </a:effectRef>
              <a:fontRef idx="minor">
                <a:schemeClr val="tx1"/>
              </a:fontRef>
            </p:style>
          </p:cxnSp>
        </p:grpSp>
      </p:grpSp>
      <p:sp>
        <p:nvSpPr>
          <p:cNvPr id="21" name="圆角矩形 20"/>
          <p:cNvSpPr/>
          <p:nvPr/>
        </p:nvSpPr>
        <p:spPr>
          <a:xfrm>
            <a:off x="4342338" y="1984944"/>
            <a:ext cx="3986073" cy="2297090"/>
          </a:xfrm>
          <a:prstGeom prst="rect">
            <a:avLst/>
          </a:prstGeom>
          <a:solidFill>
            <a:srgbClr val="F2F2F2"/>
          </a:solidFill>
          <a:ln>
            <a:noFill/>
          </a:ln>
          <a:effectLst/>
          <a:scene3d>
            <a:camera prst="orthographicFront">
              <a:rot lat="0" lon="0" rev="0"/>
            </a:camera>
            <a:lightRig rig="contrasting" dir="t">
              <a:rot lat="0" lon="0" rev="7800000"/>
            </a:lightRig>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23" name="Rectangle 4"/>
          <p:cNvSpPr>
            <a:spLocks noChangeArrowheads="1"/>
          </p:cNvSpPr>
          <p:nvPr/>
        </p:nvSpPr>
        <p:spPr bwMode="auto">
          <a:xfrm>
            <a:off x="6322444" y="2261588"/>
            <a:ext cx="685530" cy="162915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050" b="1">
              <a:solidFill>
                <a:srgbClr val="1956B9"/>
              </a:solidFill>
              <a:latin typeface="微软雅黑" pitchFamily="34" charset="-122"/>
              <a:ea typeface="微软雅黑" pitchFamily="34" charset="-122"/>
            </a:endParaRPr>
          </a:p>
        </p:txBody>
      </p:sp>
      <p:sp>
        <p:nvSpPr>
          <p:cNvPr id="24" name="Text Box 5"/>
          <p:cNvSpPr txBox="1">
            <a:spLocks noChangeArrowheads="1"/>
          </p:cNvSpPr>
          <p:nvPr/>
        </p:nvSpPr>
        <p:spPr bwMode="auto">
          <a:xfrm>
            <a:off x="4465709" y="2109608"/>
            <a:ext cx="6607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rgbClr val="000066"/>
                </a:solidFill>
                <a:latin typeface="+mj-lt"/>
                <a:ea typeface="+mj-ea"/>
              </a:rPr>
              <a:t>时延 </a:t>
            </a:r>
            <a:r>
              <a:rPr lang="en-US" altLang="zh-CN" sz="1200" b="1" dirty="0">
                <a:solidFill>
                  <a:srgbClr val="000066"/>
                </a:solidFill>
                <a:latin typeface="+mj-lt"/>
                <a:ea typeface="+mj-ea"/>
              </a:rPr>
              <a:t>D</a:t>
            </a:r>
          </a:p>
        </p:txBody>
      </p:sp>
      <p:sp>
        <p:nvSpPr>
          <p:cNvPr id="25" name="Line 6"/>
          <p:cNvSpPr>
            <a:spLocks noChangeShapeType="1"/>
          </p:cNvSpPr>
          <p:nvPr/>
        </p:nvSpPr>
        <p:spPr bwMode="auto">
          <a:xfrm flipV="1">
            <a:off x="5130858" y="2185518"/>
            <a:ext cx="0" cy="1705221"/>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dirty="0">
              <a:latin typeface="Times New Roman" panose="02020603050405020304" pitchFamily="18" charset="0"/>
              <a:ea typeface="微软雅黑 Light" panose="020B0502040204020203" pitchFamily="34" charset="-122"/>
            </a:endParaRPr>
          </a:p>
        </p:txBody>
      </p:sp>
      <p:sp>
        <p:nvSpPr>
          <p:cNvPr id="26" name="Line 7"/>
          <p:cNvSpPr>
            <a:spLocks noChangeShapeType="1"/>
          </p:cNvSpPr>
          <p:nvPr/>
        </p:nvSpPr>
        <p:spPr bwMode="auto">
          <a:xfrm rot="5400000" flipV="1">
            <a:off x="6474957" y="2546641"/>
            <a:ext cx="0" cy="2688197"/>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dirty="0">
              <a:latin typeface="Times New Roman" panose="02020603050405020304" pitchFamily="18" charset="0"/>
              <a:ea typeface="微软雅黑 Light" panose="020B0502040204020203" pitchFamily="34" charset="-122"/>
            </a:endParaRPr>
          </a:p>
        </p:txBody>
      </p:sp>
      <p:sp>
        <p:nvSpPr>
          <p:cNvPr id="27" name="Line 8"/>
          <p:cNvSpPr>
            <a:spLocks noChangeShapeType="1"/>
          </p:cNvSpPr>
          <p:nvPr/>
        </p:nvSpPr>
        <p:spPr bwMode="auto">
          <a:xfrm>
            <a:off x="7007973" y="2204751"/>
            <a:ext cx="0" cy="1685989"/>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dirty="0">
              <a:latin typeface="Times New Roman" panose="02020603050405020304" pitchFamily="18" charset="0"/>
              <a:ea typeface="微软雅黑 Light" panose="020B0502040204020203" pitchFamily="34" charset="-122"/>
            </a:endParaRPr>
          </a:p>
        </p:txBody>
      </p:sp>
      <p:sp>
        <p:nvSpPr>
          <p:cNvPr id="28" name="Arc 9"/>
          <p:cNvSpPr>
            <a:spLocks/>
          </p:cNvSpPr>
          <p:nvPr/>
        </p:nvSpPr>
        <p:spPr bwMode="auto">
          <a:xfrm flipV="1">
            <a:off x="5130857" y="2261588"/>
            <a:ext cx="1868229" cy="1517328"/>
          </a:xfrm>
          <a:custGeom>
            <a:avLst/>
            <a:gdLst>
              <a:gd name="T0" fmla="*/ 0 w 21600"/>
              <a:gd name="T1" fmla="*/ 0 h 21612"/>
              <a:gd name="T2" fmla="*/ 2510540 w 21600"/>
              <a:gd name="T3" fmla="*/ 1942842 h 21612"/>
              <a:gd name="T4" fmla="*/ 0 w 21600"/>
              <a:gd name="T5" fmla="*/ 1941763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381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dirty="0">
              <a:latin typeface="Times New Roman" panose="02020603050405020304" pitchFamily="18" charset="0"/>
              <a:ea typeface="微软雅黑 Light" panose="020B0502040204020203" pitchFamily="34" charset="-122"/>
            </a:endParaRPr>
          </a:p>
        </p:txBody>
      </p:sp>
      <p:sp>
        <p:nvSpPr>
          <p:cNvPr id="29" name="Text Box 10"/>
          <p:cNvSpPr txBox="1">
            <a:spLocks noChangeArrowheads="1"/>
          </p:cNvSpPr>
          <p:nvPr/>
        </p:nvSpPr>
        <p:spPr bwMode="auto">
          <a:xfrm>
            <a:off x="7292142" y="3918978"/>
            <a:ext cx="8130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a:solidFill>
                  <a:srgbClr val="000066"/>
                </a:solidFill>
                <a:latin typeface="+mj-lt"/>
                <a:ea typeface="+mj-ea"/>
              </a:rPr>
              <a:t>利用率 </a:t>
            </a:r>
            <a:r>
              <a:rPr lang="en-US" altLang="zh-CN" sz="1200" b="1">
                <a:solidFill>
                  <a:srgbClr val="000066"/>
                </a:solidFill>
                <a:latin typeface="+mj-lt"/>
                <a:ea typeface="+mj-ea"/>
              </a:rPr>
              <a:t>U</a:t>
            </a:r>
          </a:p>
        </p:txBody>
      </p:sp>
      <p:sp>
        <p:nvSpPr>
          <p:cNvPr id="30" name="Text Box 11"/>
          <p:cNvSpPr txBox="1">
            <a:spLocks noChangeArrowheads="1"/>
          </p:cNvSpPr>
          <p:nvPr/>
        </p:nvSpPr>
        <p:spPr bwMode="auto">
          <a:xfrm>
            <a:off x="6895185" y="3885179"/>
            <a:ext cx="24077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mj-lt"/>
                <a:ea typeface="+mj-ea"/>
              </a:rPr>
              <a:t>1</a:t>
            </a:r>
          </a:p>
        </p:txBody>
      </p:sp>
      <p:sp>
        <p:nvSpPr>
          <p:cNvPr id="31" name="Text Box 12"/>
          <p:cNvSpPr txBox="1">
            <a:spLocks noChangeArrowheads="1"/>
          </p:cNvSpPr>
          <p:nvPr/>
        </p:nvSpPr>
        <p:spPr bwMode="auto">
          <a:xfrm>
            <a:off x="4980717" y="3857996"/>
            <a:ext cx="2872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mj-lt"/>
                <a:ea typeface="+mj-ea"/>
              </a:rPr>
              <a:t>0</a:t>
            </a:r>
          </a:p>
        </p:txBody>
      </p:sp>
      <p:sp>
        <p:nvSpPr>
          <p:cNvPr id="32" name="Text Box 13"/>
          <p:cNvSpPr txBox="1">
            <a:spLocks noChangeArrowheads="1"/>
          </p:cNvSpPr>
          <p:nvPr/>
        </p:nvSpPr>
        <p:spPr bwMode="auto">
          <a:xfrm>
            <a:off x="4800043" y="3623847"/>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mj-lt"/>
                <a:ea typeface="+mj-ea"/>
              </a:rPr>
              <a:t>D</a:t>
            </a:r>
            <a:r>
              <a:rPr lang="en-US" altLang="zh-CN" sz="1200" b="1" baseline="-25000">
                <a:solidFill>
                  <a:srgbClr val="000066"/>
                </a:solidFill>
                <a:latin typeface="+mj-lt"/>
                <a:ea typeface="+mj-ea"/>
              </a:rPr>
              <a:t>0</a:t>
            </a:r>
          </a:p>
        </p:txBody>
      </p:sp>
      <p:sp>
        <p:nvSpPr>
          <p:cNvPr id="33" name="Text Box 14"/>
          <p:cNvSpPr txBox="1">
            <a:spLocks noChangeArrowheads="1"/>
          </p:cNvSpPr>
          <p:nvPr/>
        </p:nvSpPr>
        <p:spPr bwMode="auto">
          <a:xfrm>
            <a:off x="6341086" y="2266232"/>
            <a:ext cx="52439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chemeClr val="bg1"/>
                </a:solidFill>
                <a:latin typeface="+mj-lt"/>
                <a:ea typeface="+mj-ea"/>
              </a:rPr>
              <a:t>时延急剧增大</a:t>
            </a:r>
          </a:p>
        </p:txBody>
      </p:sp>
    </p:spTree>
    <p:extLst>
      <p:ext uri="{BB962C8B-B14F-4D97-AF65-F5344CB8AC3E}">
        <p14:creationId xmlns:p14="http://schemas.microsoft.com/office/powerpoint/2010/main" val="15950974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E1DBC-1123-76D8-032B-9DCF46DB1D78}"/>
              </a:ext>
            </a:extLst>
          </p:cNvPr>
          <p:cNvSpPr>
            <a:spLocks noGrp="1"/>
          </p:cNvSpPr>
          <p:nvPr>
            <p:ph type="title"/>
          </p:nvPr>
        </p:nvSpPr>
        <p:spPr>
          <a:xfrm>
            <a:off x="612000" y="144000"/>
            <a:ext cx="7920000" cy="341632"/>
          </a:xfrm>
        </p:spPr>
        <p:txBody>
          <a:bodyPr/>
          <a:lstStyle/>
          <a:p>
            <a:r>
              <a:rPr lang="en-US" altLang="zh-CN" dirty="0"/>
              <a:t>1.6.2  </a:t>
            </a:r>
            <a:r>
              <a:rPr lang="zh-CN" altLang="en-US" dirty="0"/>
              <a:t>非性能特征</a:t>
            </a:r>
          </a:p>
        </p:txBody>
      </p:sp>
      <p:graphicFrame>
        <p:nvGraphicFramePr>
          <p:cNvPr id="5" name="图示 4"/>
          <p:cNvGraphicFramePr/>
          <p:nvPr>
            <p:extLst>
              <p:ext uri="{D42A27DB-BD31-4B8C-83A1-F6EECF244321}">
                <p14:modId xmlns:p14="http://schemas.microsoft.com/office/powerpoint/2010/main" val="1511222142"/>
              </p:ext>
            </p:extLst>
          </p:nvPr>
        </p:nvGraphicFramePr>
        <p:xfrm>
          <a:off x="141512" y="1184365"/>
          <a:ext cx="6792688" cy="31176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2626242" y="4302475"/>
            <a:ext cx="3891516" cy="373436"/>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vert="horz" wrap="square" anchor="ctr" anchorCtr="0">
            <a:spAutoFit/>
          </a:bodyPr>
          <a:lstStyle/>
          <a:p>
            <a:pPr algn="ctr">
              <a:lnSpc>
                <a:spcPts val="2400"/>
              </a:lnSpc>
            </a:pPr>
            <a:r>
              <a:rPr lang="zh-CN" altLang="en-US" sz="1600" dirty="0">
                <a:solidFill>
                  <a:schemeClr val="tx1"/>
                </a:solidFill>
                <a:latin typeface="+mn-ea"/>
              </a:rPr>
              <a:t>这些非性能特征与性能指标有很大的关系</a:t>
            </a:r>
          </a:p>
        </p:txBody>
      </p:sp>
    </p:spTree>
    <p:extLst>
      <p:ext uri="{BB962C8B-B14F-4D97-AF65-F5344CB8AC3E}">
        <p14:creationId xmlns:p14="http://schemas.microsoft.com/office/powerpoint/2010/main" val="25184075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257146E-4A73-AA27-DA9C-17A846496B8A}"/>
              </a:ext>
            </a:extLst>
          </p:cNvPr>
          <p:cNvSpPr>
            <a:spLocks noGrp="1"/>
          </p:cNvSpPr>
          <p:nvPr>
            <p:ph type="title"/>
          </p:nvPr>
        </p:nvSpPr>
        <p:spPr>
          <a:xfrm>
            <a:off x="3873500" y="1290318"/>
            <a:ext cx="4320000" cy="341632"/>
          </a:xfrm>
        </p:spPr>
        <p:txBody>
          <a:bodyPr/>
          <a:lstStyle/>
          <a:p>
            <a:r>
              <a:rPr lang="fr-FR" altLang="zh-CN" dirty="0"/>
              <a:t>1.7 </a:t>
            </a:r>
            <a:r>
              <a:rPr lang="zh-CN" altLang="zh-CN" dirty="0"/>
              <a:t>计算机网络体系结构</a:t>
            </a:r>
            <a:endParaRPr lang="zh-CN" altLang="en-US" dirty="0"/>
          </a:p>
        </p:txBody>
      </p:sp>
      <p:sp>
        <p:nvSpPr>
          <p:cNvPr id="6" name="文本占位符 5">
            <a:extLst>
              <a:ext uri="{FF2B5EF4-FFF2-40B4-BE49-F238E27FC236}">
                <a16:creationId xmlns:a16="http://schemas.microsoft.com/office/drawing/2014/main" id="{3DE150B7-D697-E300-28D8-F58B3EFFACC4}"/>
              </a:ext>
            </a:extLst>
          </p:cNvPr>
          <p:cNvSpPr>
            <a:spLocks noGrp="1"/>
          </p:cNvSpPr>
          <p:nvPr>
            <p:ph type="body" sz="quarter" idx="10"/>
          </p:nvPr>
        </p:nvSpPr>
        <p:spPr>
          <a:xfrm>
            <a:off x="3873500" y="1631950"/>
            <a:ext cx="4320000" cy="1803400"/>
          </a:xfrm>
        </p:spPr>
        <p:txBody>
          <a:bodyPr/>
          <a:lstStyle/>
          <a:p>
            <a:r>
              <a:rPr lang="en-US" altLang="zh-CN" dirty="0"/>
              <a:t>1.7.1 </a:t>
            </a:r>
            <a:r>
              <a:rPr lang="zh-CN" altLang="zh-CN" dirty="0"/>
              <a:t>计算机网络体系结构的形成</a:t>
            </a:r>
          </a:p>
          <a:p>
            <a:r>
              <a:rPr lang="en-US" altLang="zh-CN" dirty="0"/>
              <a:t>1.7.2 </a:t>
            </a:r>
            <a:r>
              <a:rPr lang="zh-CN" altLang="zh-CN" dirty="0"/>
              <a:t>协议与划分层次</a:t>
            </a:r>
            <a:endParaRPr lang="en-US" altLang="zh-CN" dirty="0"/>
          </a:p>
          <a:p>
            <a:r>
              <a:rPr lang="en-US" altLang="zh-CN" dirty="0"/>
              <a:t>1.7.3 </a:t>
            </a:r>
            <a:r>
              <a:rPr lang="zh-CN" altLang="zh-CN" dirty="0"/>
              <a:t>具有五层协议的体系结构</a:t>
            </a:r>
            <a:endParaRPr lang="en-US" altLang="zh-CN" dirty="0"/>
          </a:p>
          <a:p>
            <a:r>
              <a:rPr lang="en-US" altLang="zh-CN" dirty="0"/>
              <a:t>1.7.4 </a:t>
            </a:r>
            <a:r>
              <a:rPr lang="zh-CN" altLang="zh-CN" dirty="0"/>
              <a:t>实体、协议、服务和服务访问点</a:t>
            </a:r>
            <a:endParaRPr lang="en-US" altLang="zh-CN" dirty="0"/>
          </a:p>
          <a:p>
            <a:r>
              <a:rPr lang="en-US" altLang="zh-CN" dirty="0"/>
              <a:t>1.7.5 TCP/IP </a:t>
            </a:r>
            <a:r>
              <a:rPr lang="zh-CN" altLang="zh-CN" dirty="0"/>
              <a:t>的体系结构</a:t>
            </a:r>
          </a:p>
          <a:p>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7835A-3920-F754-75CA-C60EC0C06716}"/>
              </a:ext>
            </a:extLst>
          </p:cNvPr>
          <p:cNvSpPr>
            <a:spLocks noGrp="1"/>
          </p:cNvSpPr>
          <p:nvPr>
            <p:ph type="title"/>
          </p:nvPr>
        </p:nvSpPr>
        <p:spPr>
          <a:xfrm>
            <a:off x="612000" y="144000"/>
            <a:ext cx="7920000" cy="341632"/>
          </a:xfrm>
        </p:spPr>
        <p:txBody>
          <a:bodyPr/>
          <a:lstStyle/>
          <a:p>
            <a:r>
              <a:rPr lang="en-US" altLang="zh-CN" dirty="0"/>
              <a:t>1.7.1  </a:t>
            </a:r>
            <a:r>
              <a:rPr lang="zh-CN" altLang="zh-CN" dirty="0"/>
              <a:t>计算机网络体系结构的形成</a:t>
            </a:r>
            <a:endParaRPr lang="zh-CN" altLang="en-US" dirty="0"/>
          </a:p>
        </p:txBody>
      </p:sp>
      <p:sp>
        <p:nvSpPr>
          <p:cNvPr id="6" name="Line 1453"/>
          <p:cNvSpPr>
            <a:spLocks noChangeShapeType="1"/>
          </p:cNvSpPr>
          <p:nvPr/>
        </p:nvSpPr>
        <p:spPr bwMode="auto">
          <a:xfrm flipH="1">
            <a:off x="1069517" y="2980716"/>
            <a:ext cx="1381272"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5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658"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Line 1453"/>
          <p:cNvSpPr>
            <a:spLocks noChangeShapeType="1"/>
          </p:cNvSpPr>
          <p:nvPr/>
        </p:nvSpPr>
        <p:spPr bwMode="auto">
          <a:xfrm flipH="1">
            <a:off x="7257944" y="2980716"/>
            <a:ext cx="907434"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7394"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任意多边形: 形状 12">
            <a:extLst>
              <a:ext uri="{FF2B5EF4-FFF2-40B4-BE49-F238E27FC236}">
                <a16:creationId xmlns:a16="http://schemas.microsoft.com/office/drawing/2014/main" id="{99BB141A-F229-30C1-E219-2893A7079C09}"/>
              </a:ext>
            </a:extLst>
          </p:cNvPr>
          <p:cNvSpPr>
            <a:spLocks noChangeArrowheads="1"/>
          </p:cNvSpPr>
          <p:nvPr/>
        </p:nvSpPr>
        <p:spPr bwMode="auto">
          <a:xfrm>
            <a:off x="1860814" y="1533803"/>
            <a:ext cx="5919624" cy="3189266"/>
          </a:xfrm>
          <a:custGeom>
            <a:avLst/>
            <a:gdLst>
              <a:gd name="csX0" fmla="*/ 3338766 w 5919624"/>
              <a:gd name="csY0" fmla="*/ 43428 h 3189266"/>
              <a:gd name="csX1" fmla="*/ 4158807 w 5919624"/>
              <a:gd name="csY1" fmla="*/ 382445 h 3189266"/>
              <a:gd name="csX2" fmla="*/ 4160864 w 5919624"/>
              <a:gd name="csY2" fmla="*/ 385062 h 3189266"/>
              <a:gd name="csX3" fmla="*/ 4181026 w 5919624"/>
              <a:gd name="csY3" fmla="*/ 376717 h 3189266"/>
              <a:gd name="csX4" fmla="*/ 4627770 w 5919624"/>
              <a:gd name="csY4" fmla="*/ 307942 h 3189266"/>
              <a:gd name="csX5" fmla="*/ 4745117 w 5919624"/>
              <a:gd name="csY5" fmla="*/ 312461 h 3189266"/>
              <a:gd name="csX6" fmla="*/ 5775489 w 5919624"/>
              <a:gd name="csY6" fmla="*/ 1183107 h 3189266"/>
              <a:gd name="csX7" fmla="*/ 5685295 w 5919624"/>
              <a:gd name="csY7" fmla="*/ 1523763 h 3189266"/>
              <a:gd name="csX8" fmla="*/ 5614097 w 5919624"/>
              <a:gd name="csY8" fmla="*/ 1623783 h 3189266"/>
              <a:gd name="csX9" fmla="*/ 5643268 w 5919624"/>
              <a:gd name="csY9" fmla="*/ 1645627 h 3189266"/>
              <a:gd name="csX10" fmla="*/ 5919624 w 5919624"/>
              <a:gd name="csY10" fmla="*/ 2227946 h 3189266"/>
              <a:gd name="csX11" fmla="*/ 4855826 w 5919624"/>
              <a:gd name="csY11" fmla="*/ 3094008 h 3189266"/>
              <a:gd name="csX12" fmla="*/ 4348757 w 5919624"/>
              <a:gd name="csY12" fmla="*/ 2989477 h 3189266"/>
              <a:gd name="csX13" fmla="*/ 4286232 w 5919624"/>
              <a:gd name="csY13" fmla="*/ 2958555 h 3189266"/>
              <a:gd name="csX14" fmla="*/ 4119420 w 5919624"/>
              <a:gd name="csY14" fmla="*/ 3053660 h 3189266"/>
              <a:gd name="csX15" fmla="*/ 3476986 w 5919624"/>
              <a:gd name="csY15" fmla="*/ 3189266 h 3189266"/>
              <a:gd name="csX16" fmla="*/ 2418249 w 5919624"/>
              <a:gd name="csY16" fmla="*/ 2704324 h 3189266"/>
              <a:gd name="csX17" fmla="*/ 2394707 w 5919624"/>
              <a:gd name="csY17" fmla="*/ 2651909 h 3189266"/>
              <a:gd name="csX18" fmla="*/ 2311037 w 5919624"/>
              <a:gd name="csY18" fmla="*/ 2718415 h 3189266"/>
              <a:gd name="csX19" fmla="*/ 1499477 w 5919624"/>
              <a:gd name="csY19" fmla="*/ 2938878 h 3189266"/>
              <a:gd name="csX20" fmla="*/ 351758 w 5919624"/>
              <a:gd name="csY20" fmla="*/ 2186170 h 3189266"/>
              <a:gd name="csX21" fmla="*/ 366010 w 5919624"/>
              <a:gd name="csY21" fmla="*/ 2093450 h 3189266"/>
              <a:gd name="csX22" fmla="*/ 288082 w 5919624"/>
              <a:gd name="csY22" fmla="*/ 2042465 h 3189266"/>
              <a:gd name="csX23" fmla="*/ 0 w 5919624"/>
              <a:gd name="csY23" fmla="*/ 1490973 h 3189266"/>
              <a:gd name="csX24" fmla="*/ 433650 w 5919624"/>
              <a:gd name="csY24" fmla="*/ 844246 h 3189266"/>
              <a:gd name="csX25" fmla="*/ 435208 w 5919624"/>
              <a:gd name="csY25" fmla="*/ 843574 h 3189266"/>
              <a:gd name="csX26" fmla="*/ 421002 w 5919624"/>
              <a:gd name="csY26" fmla="*/ 749893 h 3189266"/>
              <a:gd name="csX27" fmla="*/ 1549024 w 5919624"/>
              <a:gd name="csY27" fmla="*/ 0 h 3189266"/>
              <a:gd name="csX28" fmla="*/ 2346655 w 5919624"/>
              <a:gd name="csY28" fmla="*/ 219639 h 3189266"/>
              <a:gd name="csX29" fmla="*/ 2415986 w 5919624"/>
              <a:gd name="csY29" fmla="*/ 275501 h 3189266"/>
              <a:gd name="csX30" fmla="*/ 2425801 w 5919624"/>
              <a:gd name="csY30" fmla="*/ 267296 h 3189266"/>
              <a:gd name="csX31" fmla="*/ 3223432 w 5919624"/>
              <a:gd name="csY31" fmla="*/ 39411 h 3189266"/>
              <a:gd name="csX32" fmla="*/ 3338766 w 5919624"/>
              <a:gd name="csY32" fmla="*/ 43428 h 31892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919624" h="3189266">
                <a:moveTo>
                  <a:pt x="3338766" y="43428"/>
                </a:moveTo>
                <a:cubicBezTo>
                  <a:pt x="3680053" y="67334"/>
                  <a:pt x="3976363" y="196179"/>
                  <a:pt x="4158807" y="382445"/>
                </a:cubicBezTo>
                <a:lnTo>
                  <a:pt x="4160864" y="385062"/>
                </a:lnTo>
                <a:lnTo>
                  <a:pt x="4181026" y="376717"/>
                </a:lnTo>
                <a:cubicBezTo>
                  <a:pt x="4318337" y="332431"/>
                  <a:pt x="4469305" y="307942"/>
                  <a:pt x="4627770" y="307942"/>
                </a:cubicBezTo>
                <a:cubicBezTo>
                  <a:pt x="4667386" y="307942"/>
                  <a:pt x="4706536" y="309474"/>
                  <a:pt x="4745117" y="312461"/>
                </a:cubicBezTo>
                <a:cubicBezTo>
                  <a:pt x="5323862" y="357280"/>
                  <a:pt x="5775491" y="729977"/>
                  <a:pt x="5775489" y="1183107"/>
                </a:cubicBezTo>
                <a:cubicBezTo>
                  <a:pt x="5775488" y="1303942"/>
                  <a:pt x="5743375" y="1419058"/>
                  <a:pt x="5685295" y="1523763"/>
                </a:cubicBezTo>
                <a:lnTo>
                  <a:pt x="5614097" y="1623783"/>
                </a:lnTo>
                <a:lnTo>
                  <a:pt x="5643268" y="1645627"/>
                </a:lnTo>
                <a:cubicBezTo>
                  <a:pt x="5814973" y="1799430"/>
                  <a:pt x="5919624" y="2003737"/>
                  <a:pt x="5919624" y="2227946"/>
                </a:cubicBezTo>
                <a:cubicBezTo>
                  <a:pt x="5919624" y="2706258"/>
                  <a:pt x="5443347" y="3094006"/>
                  <a:pt x="4855826" y="3094008"/>
                </a:cubicBezTo>
                <a:cubicBezTo>
                  <a:pt x="4672228" y="3094007"/>
                  <a:pt x="4499490" y="3056140"/>
                  <a:pt x="4348757" y="2989477"/>
                </a:cubicBezTo>
                <a:lnTo>
                  <a:pt x="4286232" y="2958555"/>
                </a:lnTo>
                <a:lnTo>
                  <a:pt x="4119420" y="3053660"/>
                </a:lnTo>
                <a:cubicBezTo>
                  <a:pt x="3936033" y="3139275"/>
                  <a:pt x="3714959" y="3189266"/>
                  <a:pt x="3476986" y="3189266"/>
                </a:cubicBezTo>
                <a:cubicBezTo>
                  <a:pt x="3001040" y="3189264"/>
                  <a:pt x="2592682" y="2989302"/>
                  <a:pt x="2418249" y="2704324"/>
                </a:cubicBezTo>
                <a:lnTo>
                  <a:pt x="2394707" y="2651909"/>
                </a:lnTo>
                <a:lnTo>
                  <a:pt x="2311037" y="2718415"/>
                </a:lnTo>
                <a:cubicBezTo>
                  <a:pt x="2103342" y="2854628"/>
                  <a:pt x="1816413" y="2938878"/>
                  <a:pt x="1499477" y="2938878"/>
                </a:cubicBezTo>
                <a:cubicBezTo>
                  <a:pt x="865609" y="2938880"/>
                  <a:pt x="351758" y="2601879"/>
                  <a:pt x="351758" y="2186170"/>
                </a:cubicBezTo>
                <a:lnTo>
                  <a:pt x="366010" y="2093450"/>
                </a:lnTo>
                <a:lnTo>
                  <a:pt x="288082" y="2042465"/>
                </a:lnTo>
                <a:cubicBezTo>
                  <a:pt x="110091" y="1901326"/>
                  <a:pt x="0" y="1706344"/>
                  <a:pt x="0" y="1490973"/>
                </a:cubicBezTo>
                <a:cubicBezTo>
                  <a:pt x="0" y="1221760"/>
                  <a:pt x="172016" y="984404"/>
                  <a:pt x="433650" y="844246"/>
                </a:cubicBezTo>
                <a:lnTo>
                  <a:pt x="435208" y="843574"/>
                </a:lnTo>
                <a:lnTo>
                  <a:pt x="421002" y="749893"/>
                </a:lnTo>
                <a:cubicBezTo>
                  <a:pt x="421002" y="335739"/>
                  <a:pt x="926034" y="0"/>
                  <a:pt x="1549024" y="0"/>
                </a:cubicBezTo>
                <a:cubicBezTo>
                  <a:pt x="1860518" y="1"/>
                  <a:pt x="2142523" y="83935"/>
                  <a:pt x="2346655" y="219639"/>
                </a:cubicBezTo>
                <a:lnTo>
                  <a:pt x="2415986" y="275501"/>
                </a:lnTo>
                <a:lnTo>
                  <a:pt x="2425801" y="267296"/>
                </a:lnTo>
                <a:cubicBezTo>
                  <a:pt x="2629932" y="126497"/>
                  <a:pt x="2911938" y="39411"/>
                  <a:pt x="3223432" y="39411"/>
                </a:cubicBezTo>
                <a:cubicBezTo>
                  <a:pt x="3262369" y="39411"/>
                  <a:pt x="3300845" y="40771"/>
                  <a:pt x="3338766" y="43428"/>
                </a:cubicBezTo>
                <a:close/>
              </a:path>
            </a:pathLst>
          </a:custGeom>
          <a:solidFill>
            <a:srgbClr val="F2F2F2"/>
          </a:solidFill>
          <a:ln w="19050">
            <a:noFill/>
            <a:prstDash val="solid"/>
            <a:round/>
            <a:headEnd/>
            <a:tailEnd/>
          </a:ln>
          <a:effectLst/>
        </p:spPr>
        <p:txBody>
          <a:bodyPr wrap="square">
            <a:noAutofit/>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63" name="文本框 162"/>
          <p:cNvSpPr txBox="1"/>
          <p:nvPr/>
        </p:nvSpPr>
        <p:spPr>
          <a:xfrm>
            <a:off x="2421801" y="1956472"/>
            <a:ext cx="5035719" cy="2062103"/>
          </a:xfrm>
          <a:prstGeom prst="rect">
            <a:avLst/>
          </a:prstGeom>
          <a:noFill/>
        </p:spPr>
        <p:txBody>
          <a:bodyPr wrap="square" rtlCol="0">
            <a:spAutoFit/>
          </a:bodyPr>
          <a:lstStyle>
            <a:defPPr>
              <a:defRPr lang="zh-CN"/>
            </a:defPPr>
            <a:lvl1pPr algn="ctr">
              <a:defRPr sz="1400"/>
            </a:lvl1pPr>
          </a:lstStyle>
          <a:p>
            <a:pPr marL="180000" indent="-180000" algn="l">
              <a:spcAft>
                <a:spcPts val="600"/>
              </a:spcAft>
              <a:buFont typeface="+mj-lt"/>
              <a:buAutoNum type="arabicPeriod"/>
            </a:pPr>
            <a:r>
              <a:rPr lang="zh-CN" altLang="en-US" dirty="0"/>
              <a:t>必须有一条传送数据的链路</a:t>
            </a:r>
            <a:endParaRPr lang="en-US" altLang="zh-CN" dirty="0"/>
          </a:p>
          <a:p>
            <a:pPr marL="180000" indent="-180000" algn="l">
              <a:spcAft>
                <a:spcPts val="600"/>
              </a:spcAft>
              <a:buFont typeface="+mj-lt"/>
              <a:buAutoNum type="arabicPeriod"/>
            </a:pPr>
            <a:r>
              <a:rPr lang="zh-CN" altLang="en-US" dirty="0"/>
              <a:t>发起方必须激活链路</a:t>
            </a:r>
          </a:p>
          <a:p>
            <a:pPr marL="180000" indent="-180000" algn="l">
              <a:spcAft>
                <a:spcPts val="600"/>
              </a:spcAft>
              <a:buFont typeface="+mj-lt"/>
              <a:buAutoNum type="arabicPeriod"/>
            </a:pPr>
            <a:r>
              <a:rPr lang="zh-CN" altLang="en-US" dirty="0"/>
              <a:t>要告诉网络如何识别接收方</a:t>
            </a:r>
          </a:p>
          <a:p>
            <a:pPr marL="180000" indent="-180000" algn="l">
              <a:spcAft>
                <a:spcPts val="600"/>
              </a:spcAft>
              <a:buFont typeface="+mj-lt"/>
              <a:buAutoNum type="arabicPeriod"/>
            </a:pPr>
            <a:r>
              <a:rPr lang="zh-CN" altLang="en-US" dirty="0"/>
              <a:t>发起方要清楚对方是否已开机，且与网络连接正常</a:t>
            </a:r>
          </a:p>
          <a:p>
            <a:pPr marL="180000" indent="-180000" algn="l">
              <a:spcAft>
                <a:spcPts val="600"/>
              </a:spcAft>
              <a:buFont typeface="+mj-lt"/>
              <a:buAutoNum type="arabicPeriod"/>
            </a:pPr>
            <a:r>
              <a:rPr lang="zh-CN" altLang="en-US" dirty="0"/>
              <a:t>发起方要清楚对方是否准备好接收和存储文件</a:t>
            </a:r>
          </a:p>
          <a:p>
            <a:pPr marL="180000" indent="-180000" algn="l">
              <a:spcAft>
                <a:spcPts val="600"/>
              </a:spcAft>
              <a:buFont typeface="+mj-lt"/>
              <a:buAutoNum type="arabicPeriod"/>
            </a:pPr>
            <a:r>
              <a:rPr lang="zh-CN" altLang="en-US" dirty="0"/>
              <a:t>若文件格式不兼容，要完成格式的转换</a:t>
            </a:r>
          </a:p>
          <a:p>
            <a:pPr marL="180000" indent="-180000" algn="l">
              <a:spcAft>
                <a:spcPts val="600"/>
              </a:spcAft>
              <a:buFont typeface="+mj-lt"/>
              <a:buAutoNum type="arabicPeriod"/>
            </a:pPr>
            <a:r>
              <a:rPr lang="zh-CN" altLang="en-US" dirty="0"/>
              <a:t>要处理各种差错和意外事故，保证收到正确的文件</a:t>
            </a:r>
          </a:p>
        </p:txBody>
      </p:sp>
      <p:sp>
        <p:nvSpPr>
          <p:cNvPr id="3" name="矩形 2"/>
          <p:cNvSpPr/>
          <p:nvPr/>
        </p:nvSpPr>
        <p:spPr>
          <a:xfrm>
            <a:off x="2774072" y="1200719"/>
            <a:ext cx="3595856" cy="307777"/>
          </a:xfrm>
          <a:prstGeom prst="rect">
            <a:avLst/>
          </a:prstGeom>
          <a:noFill/>
        </p:spPr>
        <p:txBody>
          <a:bodyPr wrap="square" rtlCol="0">
            <a:spAutoFit/>
          </a:bodyPr>
          <a:lstStyle/>
          <a:p>
            <a:pPr algn="ctr"/>
            <a:r>
              <a:rPr lang="zh-CN" altLang="en-US" sz="1400" dirty="0">
                <a:solidFill>
                  <a:srgbClr val="D4237A"/>
                </a:solidFill>
                <a:ea typeface="+mj-ea"/>
              </a:rPr>
              <a:t>两台计算机要互相传送文件需解决很多问题</a:t>
            </a:r>
          </a:p>
        </p:txBody>
      </p:sp>
      <p:sp>
        <p:nvSpPr>
          <p:cNvPr id="19" name="Text Box 38"/>
          <p:cNvSpPr txBox="1">
            <a:spLocks noChangeArrowheads="1"/>
          </p:cNvSpPr>
          <p:nvPr/>
        </p:nvSpPr>
        <p:spPr bwMode="auto">
          <a:xfrm>
            <a:off x="714176" y="3341650"/>
            <a:ext cx="898003" cy="307777"/>
          </a:xfrm>
          <a:prstGeom prst="rect">
            <a:avLst/>
          </a:prstGeom>
          <a:noFill/>
        </p:spPr>
        <p:txBody>
          <a:bodyPr wrap="square" rtlCol="0">
            <a:spAutoFit/>
          </a:bodyPr>
          <a:lstStyle>
            <a:defPPr>
              <a:defRPr lang="zh-CN"/>
            </a:defPPr>
            <a:lvl1pPr>
              <a:defRPr sz="1400"/>
            </a:lvl1pPr>
          </a:lstStyle>
          <a:p>
            <a:pPr algn="ctr"/>
            <a:r>
              <a:rPr lang="zh-CN" altLang="en-US" dirty="0"/>
              <a:t>计算机 </a:t>
            </a:r>
            <a:r>
              <a:rPr lang="en-US" altLang="zh-CN" dirty="0"/>
              <a:t>A</a:t>
            </a:r>
          </a:p>
        </p:txBody>
      </p:sp>
      <p:sp>
        <p:nvSpPr>
          <p:cNvPr id="20" name="Text Box 38"/>
          <p:cNvSpPr txBox="1">
            <a:spLocks noChangeArrowheads="1"/>
          </p:cNvSpPr>
          <p:nvPr/>
        </p:nvSpPr>
        <p:spPr bwMode="auto">
          <a:xfrm>
            <a:off x="7835706" y="3341650"/>
            <a:ext cx="904415" cy="307777"/>
          </a:xfrm>
          <a:prstGeom prst="rect">
            <a:avLst/>
          </a:prstGeom>
          <a:noFill/>
        </p:spPr>
        <p:txBody>
          <a:bodyPr wrap="square" rtlCol="0">
            <a:spAutoFit/>
          </a:bodyPr>
          <a:lstStyle>
            <a:defPPr>
              <a:defRPr lang="zh-CN"/>
            </a:defPPr>
            <a:lvl1pPr algn="ctr">
              <a:defRPr sz="1400"/>
            </a:lvl1pPr>
          </a:lstStyle>
          <a:p>
            <a:r>
              <a:rPr lang="zh-CN" altLang="en-US" dirty="0"/>
              <a:t>计算机 </a:t>
            </a:r>
            <a:r>
              <a:rPr lang="en-US" altLang="zh-CN" dirty="0"/>
              <a:t>B</a:t>
            </a:r>
          </a:p>
        </p:txBody>
      </p:sp>
    </p:spTree>
    <p:extLst>
      <p:ext uri="{BB962C8B-B14F-4D97-AF65-F5344CB8AC3E}">
        <p14:creationId xmlns:p14="http://schemas.microsoft.com/office/powerpoint/2010/main" val="17051181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2F22A0E-22B0-DC74-74DE-589257AB9106}"/>
              </a:ext>
            </a:extLst>
          </p:cNvPr>
          <p:cNvSpPr>
            <a:spLocks noGrp="1"/>
          </p:cNvSpPr>
          <p:nvPr>
            <p:ph type="title"/>
          </p:nvPr>
        </p:nvSpPr>
        <p:spPr>
          <a:xfrm>
            <a:off x="612000" y="144000"/>
            <a:ext cx="7920000" cy="341632"/>
          </a:xfrm>
        </p:spPr>
        <p:txBody>
          <a:bodyPr/>
          <a:lstStyle/>
          <a:p>
            <a:r>
              <a:rPr lang="en-US" altLang="zh-CN" dirty="0"/>
              <a:t>1.7.1  </a:t>
            </a:r>
            <a:r>
              <a:rPr lang="zh-CN" altLang="zh-CN" dirty="0"/>
              <a:t>计算机网络体系结构的形成</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r>
              <a:rPr lang="zh-CN" altLang="en-US" dirty="0"/>
              <a:t>最初的 </a:t>
            </a:r>
            <a:r>
              <a:rPr lang="en-US" altLang="zh-CN" dirty="0"/>
              <a:t>ARPANET </a:t>
            </a:r>
            <a:r>
              <a:rPr lang="zh-CN" altLang="en-US" dirty="0"/>
              <a:t>设计时提出了分层的设计方法</a:t>
            </a:r>
          </a:p>
          <a:p>
            <a:r>
              <a:rPr lang="zh-CN" altLang="en-US" dirty="0"/>
              <a:t>分层：将庞大而复杂的问题，转化为若干较小的局部问题</a:t>
            </a:r>
            <a:endParaRPr lang="en-US" altLang="zh-CN" dirty="0"/>
          </a:p>
          <a:p>
            <a:r>
              <a:rPr lang="en-US" altLang="zh-CN" dirty="0"/>
              <a:t>1974 </a:t>
            </a:r>
            <a:r>
              <a:rPr lang="zh-CN" altLang="en-US" dirty="0"/>
              <a:t>年，</a:t>
            </a:r>
            <a:r>
              <a:rPr lang="en-US" altLang="zh-CN" dirty="0"/>
              <a:t>IBM </a:t>
            </a:r>
            <a:r>
              <a:rPr lang="zh-CN" altLang="en-US" dirty="0"/>
              <a:t>按照分层的方法制定并提出了系统网络体系结构 </a:t>
            </a:r>
            <a:r>
              <a:rPr lang="en-US" altLang="zh-CN" dirty="0"/>
              <a:t>SNA (System Network Architecture)</a:t>
            </a:r>
            <a:r>
              <a:rPr lang="zh-CN" altLang="en-US" dirty="0"/>
              <a:t> </a:t>
            </a:r>
          </a:p>
          <a:p>
            <a:r>
              <a:rPr lang="zh-CN" altLang="en-US" dirty="0"/>
              <a:t>此后，其他一些公司也相继推出了具有不同名称的体系结构</a:t>
            </a:r>
          </a:p>
          <a:p>
            <a:endParaRPr lang="en-US" altLang="zh-CN" dirty="0"/>
          </a:p>
        </p:txBody>
      </p:sp>
      <p:sp>
        <p:nvSpPr>
          <p:cNvPr id="4" name="矩形 3"/>
          <p:cNvSpPr/>
          <p:nvPr/>
        </p:nvSpPr>
        <p:spPr>
          <a:xfrm>
            <a:off x="773103" y="3240000"/>
            <a:ext cx="7515497" cy="307777"/>
          </a:xfrm>
          <a:prstGeom prst="rect">
            <a:avLst/>
          </a:prstGeom>
          <a:noFill/>
        </p:spPr>
        <p:txBody>
          <a:bodyPr wrap="square" rtlCol="0">
            <a:spAutoFit/>
          </a:bodyPr>
          <a:lstStyle/>
          <a:p>
            <a:pPr algn="ctr"/>
            <a:r>
              <a:rPr lang="zh-CN" altLang="en-US" sz="1400" dirty="0">
                <a:solidFill>
                  <a:srgbClr val="D4237A"/>
                </a:solidFill>
                <a:ea typeface="+mj-ea"/>
              </a:rPr>
              <a:t>但由于网络体系结构的不同，不同公司的设备很难互相连通</a:t>
            </a:r>
          </a:p>
        </p:txBody>
      </p:sp>
    </p:spTree>
    <p:extLst>
      <p:ext uri="{BB962C8B-B14F-4D97-AF65-F5344CB8AC3E}">
        <p14:creationId xmlns:p14="http://schemas.microsoft.com/office/powerpoint/2010/main" val="12660672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B03EA107-D69E-352B-3382-105E67550304}"/>
              </a:ext>
            </a:extLst>
          </p:cNvPr>
          <p:cNvSpPr>
            <a:spLocks noGrp="1"/>
          </p:cNvSpPr>
          <p:nvPr>
            <p:ph type="title"/>
          </p:nvPr>
        </p:nvSpPr>
        <p:spPr>
          <a:xfrm>
            <a:off x="612000" y="144000"/>
            <a:ext cx="7920000" cy="341632"/>
          </a:xfrm>
        </p:spPr>
        <p:txBody>
          <a:bodyPr/>
          <a:lstStyle/>
          <a:p>
            <a:r>
              <a:rPr lang="zh-CN" altLang="en-US" dirty="0"/>
              <a:t>开放系统互连参考模型 </a:t>
            </a:r>
            <a:r>
              <a:rPr lang="en-US" altLang="zh-CN" dirty="0"/>
              <a:t>OSI/RM</a:t>
            </a:r>
          </a:p>
        </p:txBody>
      </p:sp>
      <p:sp>
        <p:nvSpPr>
          <p:cNvPr id="2" name="内容占位符 1"/>
          <p:cNvSpPr>
            <a:spLocks noGrp="1"/>
          </p:cNvSpPr>
          <p:nvPr>
            <p:ph sz="quarter" idx="10"/>
          </p:nvPr>
        </p:nvSpPr>
        <p:spPr>
          <a:xfrm>
            <a:off x="612000" y="899999"/>
            <a:ext cx="7920000" cy="3780000"/>
          </a:xfrm>
        </p:spPr>
        <p:txBody>
          <a:bodyPr/>
          <a:lstStyle/>
          <a:p>
            <a:r>
              <a:rPr lang="zh-CN" altLang="en-US" dirty="0"/>
              <a:t>国际标准化组织 </a:t>
            </a:r>
            <a:r>
              <a:rPr lang="en-US" altLang="zh-CN" dirty="0"/>
              <a:t>ISO </a:t>
            </a:r>
            <a:r>
              <a:rPr lang="zh-CN" altLang="en-US" dirty="0"/>
              <a:t>提出 </a:t>
            </a:r>
            <a:r>
              <a:rPr lang="en-US" altLang="zh-CN" dirty="0"/>
              <a:t>OSI/RM</a:t>
            </a:r>
          </a:p>
          <a:p>
            <a:r>
              <a:rPr lang="en-US" altLang="zh-CN" dirty="0"/>
              <a:t>Open Systems Interconnection Reference Model</a:t>
            </a:r>
          </a:p>
          <a:p>
            <a:r>
              <a:rPr lang="zh-CN" altLang="en-US" dirty="0"/>
              <a:t>使各种计算机在世界范围内互连成网的标准框架</a:t>
            </a:r>
            <a:endParaRPr lang="en-US" altLang="zh-CN" dirty="0"/>
          </a:p>
          <a:p>
            <a:r>
              <a:rPr lang="en-US" altLang="zh-CN" dirty="0"/>
              <a:t>OSI/RM </a:t>
            </a:r>
            <a:r>
              <a:rPr lang="zh-CN" altLang="en-US" dirty="0"/>
              <a:t>是个</a:t>
            </a:r>
            <a:r>
              <a:rPr lang="zh-CN" altLang="en-US" dirty="0">
                <a:solidFill>
                  <a:srgbClr val="D4237A"/>
                </a:solidFill>
              </a:rPr>
              <a:t>抽象</a:t>
            </a:r>
            <a:r>
              <a:rPr lang="zh-CN" altLang="en-US" dirty="0"/>
              <a:t>概念</a:t>
            </a:r>
            <a:endParaRPr lang="en-US" altLang="zh-CN" dirty="0"/>
          </a:p>
          <a:p>
            <a:r>
              <a:rPr lang="en-US" altLang="zh-CN" dirty="0"/>
              <a:t>OSI /RM </a:t>
            </a:r>
            <a:r>
              <a:rPr lang="zh-CN" altLang="en-US" dirty="0"/>
              <a:t>试图达到一种</a:t>
            </a:r>
            <a:r>
              <a:rPr lang="zh-CN" altLang="en-US" dirty="0">
                <a:solidFill>
                  <a:srgbClr val="D4237A"/>
                </a:solidFill>
              </a:rPr>
              <a:t>理想</a:t>
            </a:r>
            <a:r>
              <a:rPr lang="zh-CN" altLang="en-US" dirty="0"/>
              <a:t>境界：全球计算机网络</a:t>
            </a:r>
            <a:r>
              <a:rPr lang="zh-CN" altLang="en-US" dirty="0">
                <a:solidFill>
                  <a:srgbClr val="D4237A"/>
                </a:solidFill>
              </a:rPr>
              <a:t>都</a:t>
            </a:r>
            <a:r>
              <a:rPr lang="zh-CN" altLang="en-US" dirty="0"/>
              <a:t>遵循这个统一标准，因而全球的计算机将能够很方便地进行互连和交换数据</a:t>
            </a:r>
            <a:endParaRPr lang="en-US" altLang="zh-CN" dirty="0"/>
          </a:p>
          <a:p>
            <a:r>
              <a:rPr lang="en-US" altLang="zh-CN" dirty="0"/>
              <a:t>1983</a:t>
            </a:r>
            <a:r>
              <a:rPr lang="zh-CN" altLang="en-US" dirty="0"/>
              <a:t>年，形成了著名的 </a:t>
            </a:r>
            <a:r>
              <a:rPr lang="en-US" altLang="zh-CN" dirty="0"/>
              <a:t>ISO 7498 </a:t>
            </a:r>
            <a:r>
              <a:rPr lang="zh-CN" altLang="en-US" dirty="0"/>
              <a:t>国际标准，即七层协议的体系结构</a:t>
            </a:r>
          </a:p>
        </p:txBody>
      </p:sp>
    </p:spTree>
    <p:extLst>
      <p:ext uri="{BB962C8B-B14F-4D97-AF65-F5344CB8AC3E}">
        <p14:creationId xmlns:p14="http://schemas.microsoft.com/office/powerpoint/2010/main" val="27115834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BA4FCAC-DEE0-26E5-4C93-CB5A0CA931D6}"/>
              </a:ext>
            </a:extLst>
          </p:cNvPr>
          <p:cNvSpPr>
            <a:spLocks noGrp="1"/>
          </p:cNvSpPr>
          <p:nvPr>
            <p:ph type="title"/>
          </p:nvPr>
        </p:nvSpPr>
        <p:spPr>
          <a:xfrm>
            <a:off x="612000" y="144000"/>
            <a:ext cx="7920000" cy="341632"/>
          </a:xfrm>
        </p:spPr>
        <p:txBody>
          <a:bodyPr/>
          <a:lstStyle/>
          <a:p>
            <a:r>
              <a:rPr lang="zh-CN" altLang="en-US" dirty="0"/>
              <a:t>开放系统互连参考模型 </a:t>
            </a:r>
            <a:r>
              <a:rPr lang="en-US" altLang="zh-CN" dirty="0"/>
              <a:t>OSI/RM</a:t>
            </a:r>
          </a:p>
        </p:txBody>
      </p:sp>
      <p:sp>
        <p:nvSpPr>
          <p:cNvPr id="2" name="内容占位符 1"/>
          <p:cNvSpPr>
            <a:spLocks noGrp="1"/>
          </p:cNvSpPr>
          <p:nvPr>
            <p:ph sz="quarter" idx="10"/>
          </p:nvPr>
        </p:nvSpPr>
        <p:spPr>
          <a:xfrm>
            <a:off x="612000" y="899999"/>
            <a:ext cx="7920000" cy="3780000"/>
          </a:xfrm>
        </p:spPr>
        <p:txBody>
          <a:bodyPr/>
          <a:lstStyle/>
          <a:p>
            <a:r>
              <a:rPr lang="en-US" altLang="zh-CN" dirty="0"/>
              <a:t>OSI </a:t>
            </a:r>
            <a:r>
              <a:rPr lang="zh-CN" altLang="en-US" dirty="0"/>
              <a:t>的专家们在完成 </a:t>
            </a:r>
            <a:r>
              <a:rPr lang="en-US" altLang="zh-CN" dirty="0"/>
              <a:t>OSI </a:t>
            </a:r>
            <a:r>
              <a:rPr lang="zh-CN" altLang="en-US" dirty="0"/>
              <a:t>标准时没有商业驱动力</a:t>
            </a:r>
          </a:p>
          <a:p>
            <a:r>
              <a:rPr lang="en-US" altLang="zh-CN" dirty="0"/>
              <a:t>OSI </a:t>
            </a:r>
            <a:r>
              <a:rPr lang="zh-CN" altLang="en-US" dirty="0"/>
              <a:t>的协议实现起来过分复杂，且运行效率很低</a:t>
            </a:r>
          </a:p>
          <a:p>
            <a:r>
              <a:rPr lang="en-US" altLang="zh-CN" dirty="0"/>
              <a:t>OSI </a:t>
            </a:r>
            <a:r>
              <a:rPr lang="zh-CN" altLang="en-US" dirty="0"/>
              <a:t>标准的制定周期太长，使得按 </a:t>
            </a:r>
            <a:r>
              <a:rPr lang="en-US" altLang="zh-CN" dirty="0"/>
              <a:t>OSI </a:t>
            </a:r>
            <a:r>
              <a:rPr lang="zh-CN" altLang="en-US" dirty="0"/>
              <a:t>标准生产的设备无法及时进入市场</a:t>
            </a:r>
          </a:p>
          <a:p>
            <a:r>
              <a:rPr lang="en-US" altLang="zh-CN" dirty="0"/>
              <a:t>OSI </a:t>
            </a:r>
            <a:r>
              <a:rPr lang="zh-CN" altLang="en-US" dirty="0"/>
              <a:t>的层次划分也不太合理，有些功能在多个层次中重复出现</a:t>
            </a:r>
            <a:endParaRPr lang="en-US" altLang="zh-CN" dirty="0"/>
          </a:p>
          <a:p>
            <a:r>
              <a:rPr lang="zh-CN" altLang="en-US" dirty="0"/>
              <a:t>基于 </a:t>
            </a:r>
            <a:r>
              <a:rPr lang="en-US" altLang="zh-CN" dirty="0"/>
              <a:t>TCP/IP </a:t>
            </a:r>
            <a:r>
              <a:rPr lang="zh-CN" altLang="en-US" dirty="0"/>
              <a:t>的互联网已抢先在全球相当大的范围成功地运行了</a:t>
            </a:r>
          </a:p>
        </p:txBody>
      </p:sp>
      <p:sp>
        <p:nvSpPr>
          <p:cNvPr id="8" name="文本框 7">
            <a:extLst>
              <a:ext uri="{FF2B5EF4-FFF2-40B4-BE49-F238E27FC236}">
                <a16:creationId xmlns:a16="http://schemas.microsoft.com/office/drawing/2014/main" id="{FE3B9A1F-4DA0-B41B-FDB3-1A8BD16B7AF5}"/>
              </a:ext>
            </a:extLst>
          </p:cNvPr>
          <p:cNvSpPr txBox="1"/>
          <p:nvPr/>
        </p:nvSpPr>
        <p:spPr>
          <a:xfrm>
            <a:off x="3727859" y="3240000"/>
            <a:ext cx="1688283" cy="307777"/>
          </a:xfrm>
          <a:prstGeom prst="rect">
            <a:avLst/>
          </a:prstGeom>
          <a:noFill/>
        </p:spPr>
        <p:txBody>
          <a:bodyPr wrap="square" rtlCol="0">
            <a:spAutoFit/>
          </a:bodyPr>
          <a:lstStyle>
            <a:defPPr>
              <a:defRPr lang="zh-CN"/>
            </a:defPPr>
            <a:lvl1pPr algn="ctr">
              <a:defRPr sz="1400">
                <a:solidFill>
                  <a:srgbClr val="D4237A"/>
                </a:solidFill>
                <a:ea typeface="+mj-ea"/>
              </a:defRPr>
            </a:lvl1pPr>
          </a:lstStyle>
          <a:p>
            <a:r>
              <a:rPr lang="zh-CN" altLang="en-US" dirty="0"/>
              <a:t>但 </a:t>
            </a:r>
            <a:r>
              <a:rPr lang="en-US" altLang="zh-CN" dirty="0"/>
              <a:t>ISO/OSI </a:t>
            </a:r>
            <a:r>
              <a:rPr lang="zh-CN" altLang="en-US" dirty="0"/>
              <a:t>失败了</a:t>
            </a:r>
          </a:p>
        </p:txBody>
      </p:sp>
    </p:spTree>
    <p:extLst>
      <p:ext uri="{BB962C8B-B14F-4D97-AF65-F5344CB8AC3E}">
        <p14:creationId xmlns:p14="http://schemas.microsoft.com/office/powerpoint/2010/main" val="36232572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3299922951"/>
              </p:ext>
            </p:extLst>
          </p:nvPr>
        </p:nvGraphicFramePr>
        <p:xfrm>
          <a:off x="2090058" y="1229690"/>
          <a:ext cx="4963885" cy="2699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a:extLst>
              <a:ext uri="{FF2B5EF4-FFF2-40B4-BE49-F238E27FC236}">
                <a16:creationId xmlns:a16="http://schemas.microsoft.com/office/drawing/2014/main" id="{990D91D5-DC9B-944A-3E94-38CEEFCBFB74}"/>
              </a:ext>
            </a:extLst>
          </p:cNvPr>
          <p:cNvSpPr>
            <a:spLocks noGrp="1"/>
          </p:cNvSpPr>
          <p:nvPr>
            <p:ph type="title"/>
          </p:nvPr>
        </p:nvSpPr>
        <p:spPr>
          <a:xfrm>
            <a:off x="612000" y="144000"/>
            <a:ext cx="7920000" cy="341632"/>
          </a:xfrm>
        </p:spPr>
        <p:txBody>
          <a:bodyPr/>
          <a:lstStyle/>
          <a:p>
            <a:r>
              <a:rPr lang="zh-CN" altLang="en-US" dirty="0"/>
              <a:t>两种国际标准 </a:t>
            </a:r>
            <a:r>
              <a:rPr lang="en-US" altLang="zh-CN" dirty="0"/>
              <a:t>Standards</a:t>
            </a:r>
            <a:endParaRPr lang="zh-CN" altLang="en-US" dirty="0"/>
          </a:p>
        </p:txBody>
      </p:sp>
    </p:spTree>
    <p:extLst>
      <p:ext uri="{BB962C8B-B14F-4D97-AF65-F5344CB8AC3E}">
        <p14:creationId xmlns:p14="http://schemas.microsoft.com/office/powerpoint/2010/main" val="30216062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57EFB65-D368-4EC2-CA0C-95F53810E811}"/>
              </a:ext>
            </a:extLst>
          </p:cNvPr>
          <p:cNvSpPr>
            <a:spLocks noGrp="1"/>
          </p:cNvSpPr>
          <p:nvPr>
            <p:ph type="title"/>
          </p:nvPr>
        </p:nvSpPr>
        <p:spPr>
          <a:xfrm>
            <a:off x="612000" y="144000"/>
            <a:ext cx="7920000" cy="341632"/>
          </a:xfrm>
        </p:spPr>
        <p:txBody>
          <a:bodyPr/>
          <a:lstStyle/>
          <a:p>
            <a:r>
              <a:rPr lang="en-US" altLang="zh-CN" dirty="0"/>
              <a:t>1.7.2  </a:t>
            </a:r>
            <a:r>
              <a:rPr lang="zh-CN" altLang="zh-CN" dirty="0"/>
              <a:t>协议与划分层次</a:t>
            </a:r>
            <a:endParaRPr lang="zh-CN" altLang="en-US" dirty="0"/>
          </a:p>
        </p:txBody>
      </p:sp>
      <p:sp>
        <p:nvSpPr>
          <p:cNvPr id="4" name="内容占位符 3"/>
          <p:cNvSpPr>
            <a:spLocks noGrp="1"/>
          </p:cNvSpPr>
          <p:nvPr>
            <p:ph sz="quarter" idx="10"/>
          </p:nvPr>
        </p:nvSpPr>
        <p:spPr>
          <a:xfrm>
            <a:off x="612000" y="899999"/>
            <a:ext cx="7920000" cy="3780000"/>
          </a:xfrm>
        </p:spPr>
        <p:txBody>
          <a:bodyPr/>
          <a:lstStyle/>
          <a:p>
            <a:r>
              <a:rPr lang="zh-CN" altLang="en-US" dirty="0"/>
              <a:t>网络协议 </a:t>
            </a:r>
            <a:r>
              <a:rPr lang="en-US" altLang="zh-CN" dirty="0"/>
              <a:t>(network protocol)</a:t>
            </a:r>
            <a:r>
              <a:rPr lang="zh-CN" altLang="en-US" dirty="0"/>
              <a:t>，简称为协议，是为进行网络中的数据交换而建立的规则、标准或约定</a:t>
            </a:r>
            <a:endParaRPr lang="en-US" altLang="zh-CN" dirty="0"/>
          </a:p>
          <a:p>
            <a:r>
              <a:rPr lang="zh-CN" altLang="zh-CN" dirty="0"/>
              <a:t>网络协议是计算机网络的不可缺少的组成部分</a:t>
            </a:r>
            <a:endParaRPr lang="zh-CN" altLang="en-US" dirty="0"/>
          </a:p>
          <a:p>
            <a:r>
              <a:rPr lang="zh-CN" altLang="en-US" dirty="0"/>
              <a:t>三个组成要素：</a:t>
            </a:r>
            <a:endParaRPr lang="en-US" altLang="zh-CN" dirty="0"/>
          </a:p>
          <a:p>
            <a:pPr lvl="1"/>
            <a:r>
              <a:rPr lang="zh-CN" altLang="en-US" dirty="0"/>
              <a:t>语法：数据与控制信息的结构或格式</a:t>
            </a:r>
          </a:p>
          <a:p>
            <a:pPr lvl="1"/>
            <a:r>
              <a:rPr lang="zh-CN" altLang="en-US" dirty="0"/>
              <a:t>语义：需要发出何种控制信息，完成何种动作以及做出何种响应</a:t>
            </a:r>
          </a:p>
          <a:p>
            <a:pPr lvl="1"/>
            <a:r>
              <a:rPr lang="zh-CN" altLang="en-US" dirty="0"/>
              <a:t>同步：事件实现顺序的详细说明</a:t>
            </a:r>
          </a:p>
          <a:p>
            <a:endParaRPr lang="zh-CN" altLang="en-US" dirty="0"/>
          </a:p>
        </p:txBody>
      </p:sp>
      <p:grpSp>
        <p:nvGrpSpPr>
          <p:cNvPr id="55" name="组合 54"/>
          <p:cNvGrpSpPr/>
          <p:nvPr/>
        </p:nvGrpSpPr>
        <p:grpSpPr>
          <a:xfrm>
            <a:off x="6599456" y="1667602"/>
            <a:ext cx="2073387" cy="2870623"/>
            <a:chOff x="6246699" y="1147924"/>
            <a:chExt cx="2195405" cy="2870623"/>
          </a:xfrm>
        </p:grpSpPr>
        <p:sp>
          <p:nvSpPr>
            <p:cNvPr id="32" name="Text Box 29"/>
            <p:cNvSpPr txBox="1">
              <a:spLocks noChangeArrowheads="1"/>
            </p:cNvSpPr>
            <p:nvPr/>
          </p:nvSpPr>
          <p:spPr bwMode="auto">
            <a:xfrm rot="540000">
              <a:off x="6540332" y="1717379"/>
              <a:ext cx="178022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0" hangingPunct="0"/>
              <a:r>
                <a:rPr lang="en-US" altLang="zh-CN" sz="1000" dirty="0">
                  <a:latin typeface="+mn-lt"/>
                </a:rPr>
                <a:t>TCP connection req</a:t>
              </a:r>
            </a:p>
          </p:txBody>
        </p:sp>
        <p:sp>
          <p:nvSpPr>
            <p:cNvPr id="33" name="Line 30"/>
            <p:cNvSpPr>
              <a:spLocks noChangeShapeType="1"/>
            </p:cNvSpPr>
            <p:nvPr/>
          </p:nvSpPr>
          <p:spPr bwMode="auto">
            <a:xfrm flipV="1">
              <a:off x="6460287" y="3327225"/>
              <a:ext cx="1773324" cy="574742"/>
            </a:xfrm>
            <a:prstGeom prst="line">
              <a:avLst/>
            </a:prstGeom>
            <a:noFill/>
            <a:ln w="28575">
              <a:solidFill>
                <a:srgbClr val="D4237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6460287" y="1807064"/>
              <a:ext cx="1773324" cy="281951"/>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6460287" y="2283803"/>
              <a:ext cx="1773324" cy="428980"/>
            </a:xfrm>
            <a:prstGeom prst="line">
              <a:avLst/>
            </a:prstGeom>
            <a:noFill/>
            <a:ln w="28575">
              <a:solidFill>
                <a:srgbClr val="D4237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8" name="Text Box 35"/>
            <p:cNvSpPr txBox="1">
              <a:spLocks noChangeArrowheads="1"/>
            </p:cNvSpPr>
            <p:nvPr/>
          </p:nvSpPr>
          <p:spPr bwMode="auto">
            <a:xfrm rot="20700000">
              <a:off x="6421820" y="2242925"/>
              <a:ext cx="186720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pPr algn="ctr"/>
              <a:r>
                <a:rPr lang="en-US" altLang="zh-CN" sz="1000" b="0" dirty="0">
                  <a:latin typeface="+mn-lt"/>
                  <a:ea typeface="+mn-ea"/>
                </a:rPr>
                <a:t>TCP connection reply</a:t>
              </a:r>
            </a:p>
          </p:txBody>
        </p:sp>
        <p:sp>
          <p:nvSpPr>
            <p:cNvPr id="39" name="Line 36"/>
            <p:cNvSpPr>
              <a:spLocks noChangeShapeType="1"/>
            </p:cNvSpPr>
            <p:nvPr/>
          </p:nvSpPr>
          <p:spPr bwMode="auto">
            <a:xfrm>
              <a:off x="6460288" y="2859821"/>
              <a:ext cx="1773324" cy="3931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rot="720000">
              <a:off x="6714568" y="2811044"/>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pPr algn="ctr"/>
              <a:r>
                <a:rPr lang="en-US" altLang="zh-CN" sz="1000" b="0" dirty="0">
                  <a:latin typeface="+mn-lt"/>
                  <a:ea typeface="+mn-ea"/>
                </a:rPr>
                <a:t>get plan.pdf</a:t>
              </a:r>
            </a:p>
          </p:txBody>
        </p:sp>
        <p:pic>
          <p:nvPicPr>
            <p:cNvPr id="4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699" y="1203201"/>
              <a:ext cx="435820" cy="4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8885" y="1147924"/>
              <a:ext cx="343219" cy="50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6" idx="2"/>
            </p:cNvCxnSpPr>
            <p:nvPr/>
          </p:nvCxnSpPr>
          <p:spPr>
            <a:xfrm flipH="1">
              <a:off x="6430765" y="1618286"/>
              <a:ext cx="33844" cy="2400261"/>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a:stCxn id="47" idx="2"/>
            </p:cNvCxnSpPr>
            <p:nvPr/>
          </p:nvCxnSpPr>
          <p:spPr>
            <a:xfrm flipH="1">
              <a:off x="8262001" y="1650319"/>
              <a:ext cx="8494" cy="2368228"/>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sp>
          <p:nvSpPr>
            <p:cNvPr id="52" name="Text Box 39"/>
            <p:cNvSpPr txBox="1">
              <a:spLocks noChangeArrowheads="1"/>
            </p:cNvSpPr>
            <p:nvPr/>
          </p:nvSpPr>
          <p:spPr bwMode="auto">
            <a:xfrm rot="20501025">
              <a:off x="6706154" y="3339318"/>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pPr algn="ctr"/>
              <a:r>
                <a:rPr lang="en-US" altLang="zh-CN" sz="1000" b="0" dirty="0">
                  <a:latin typeface="+mn-lt"/>
                  <a:ea typeface="+mn-ea"/>
                </a:rPr>
                <a:t>&lt; plan.pdf &gt;</a:t>
              </a:r>
            </a:p>
          </p:txBody>
        </p:sp>
      </p:grpSp>
      <p:sp>
        <p:nvSpPr>
          <p:cNvPr id="57" name="矩形 5"/>
          <p:cNvSpPr>
            <a:spLocks noChangeArrowheads="1"/>
          </p:cNvSpPr>
          <p:nvPr/>
        </p:nvSpPr>
        <p:spPr bwMode="auto">
          <a:xfrm>
            <a:off x="813763" y="4061631"/>
            <a:ext cx="5309938" cy="4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700"/>
              </a:lnSpc>
            </a:pP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506023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a:extLst>
              <a:ext uri="{FF2B5EF4-FFF2-40B4-BE49-F238E27FC236}">
                <a16:creationId xmlns:a16="http://schemas.microsoft.com/office/drawing/2014/main" id="{8B7DAAEA-C5FD-E215-4309-1D4E6F7C090D}"/>
              </a:ext>
            </a:extLst>
          </p:cNvPr>
          <p:cNvSpPr>
            <a:spLocks noGrp="1"/>
          </p:cNvSpPr>
          <p:nvPr>
            <p:ph type="title"/>
          </p:nvPr>
        </p:nvSpPr>
        <p:spPr>
          <a:xfrm>
            <a:off x="612000" y="144000"/>
            <a:ext cx="7920000" cy="341632"/>
          </a:xfrm>
        </p:spPr>
        <p:txBody>
          <a:bodyPr/>
          <a:lstStyle/>
          <a:p>
            <a:r>
              <a:rPr lang="en-US" altLang="zh-CN"/>
              <a:t>1.7.2  </a:t>
            </a:r>
            <a:r>
              <a:rPr lang="zh-CN" altLang="zh-CN"/>
              <a:t>协议与划分层次</a:t>
            </a:r>
            <a:endParaRPr lang="zh-CN" altLang="en-US" dirty="0"/>
          </a:p>
        </p:txBody>
      </p:sp>
      <p:sp>
        <p:nvSpPr>
          <p:cNvPr id="14" name="内容占位符 13">
            <a:extLst>
              <a:ext uri="{FF2B5EF4-FFF2-40B4-BE49-F238E27FC236}">
                <a16:creationId xmlns:a16="http://schemas.microsoft.com/office/drawing/2014/main" id="{F2EE8733-4D19-FCC5-B3DA-53289BDDE473}"/>
              </a:ext>
            </a:extLst>
          </p:cNvPr>
          <p:cNvSpPr>
            <a:spLocks noGrp="1"/>
          </p:cNvSpPr>
          <p:nvPr>
            <p:ph sz="quarter" idx="10"/>
          </p:nvPr>
        </p:nvSpPr>
        <p:spPr>
          <a:xfrm>
            <a:off x="612000" y="899999"/>
            <a:ext cx="7920000" cy="3780000"/>
          </a:xfrm>
        </p:spPr>
        <p:txBody>
          <a:bodyPr/>
          <a:lstStyle/>
          <a:p>
            <a:r>
              <a:rPr lang="zh-CN" altLang="zh-CN" dirty="0"/>
              <a:t>协议</a:t>
            </a:r>
            <a:r>
              <a:rPr lang="zh-CN" altLang="en-US" dirty="0"/>
              <a:t>的两种形式 </a:t>
            </a:r>
            <a:r>
              <a:rPr lang="en-US" altLang="zh-CN" dirty="0"/>
              <a:t>Format</a:t>
            </a:r>
          </a:p>
          <a:p>
            <a:pPr lvl="1"/>
            <a:r>
              <a:rPr lang="zh-CN" altLang="en-US" dirty="0"/>
              <a:t>文字描述：便于人来阅读和理解</a:t>
            </a:r>
          </a:p>
          <a:p>
            <a:pPr lvl="1"/>
            <a:r>
              <a:rPr lang="zh-CN" altLang="en-US" dirty="0"/>
              <a:t>程序代码：让计算机能够理解</a:t>
            </a:r>
          </a:p>
          <a:p>
            <a:pPr lvl="1"/>
            <a:r>
              <a:rPr lang="zh-CN" altLang="en-US" dirty="0"/>
              <a:t>不论什么形式，都必须能够对网络上信息交换过程做出精确的解释</a:t>
            </a:r>
          </a:p>
          <a:p>
            <a:r>
              <a:rPr lang="zh-CN" altLang="en-US" dirty="0"/>
              <a:t>协议的层次式结构 </a:t>
            </a:r>
            <a:r>
              <a:rPr lang="en-US" altLang="zh-CN" dirty="0"/>
              <a:t>Hierarchy</a:t>
            </a:r>
          </a:p>
          <a:p>
            <a:pPr lvl="1"/>
            <a:r>
              <a:rPr lang="en-US" altLang="zh-CN" dirty="0"/>
              <a:t>ARPANET </a:t>
            </a:r>
            <a:r>
              <a:rPr lang="zh-CN" altLang="en-US" dirty="0"/>
              <a:t>的研制经验表明：对于非常复杂的计算机网络协议，其结构应该是层次式的</a:t>
            </a:r>
          </a:p>
        </p:txBody>
      </p:sp>
    </p:spTree>
    <p:extLst>
      <p:ext uri="{BB962C8B-B14F-4D97-AF65-F5344CB8AC3E}">
        <p14:creationId xmlns:p14="http://schemas.microsoft.com/office/powerpoint/2010/main" val="24847947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803489"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dirty="0">
                <a:solidFill>
                  <a:schemeClr val="bg1"/>
                </a:solidFill>
                <a:latin typeface="+mj-lt"/>
                <a:ea typeface="+mj-ea"/>
              </a:rPr>
              <a:t>文件传送模块</a:t>
            </a:r>
          </a:p>
        </p:txBody>
      </p:sp>
      <p:sp>
        <p:nvSpPr>
          <p:cNvPr id="128014" name="Text Box 6"/>
          <p:cNvSpPr txBox="1">
            <a:spLocks noChangeArrowheads="1"/>
          </p:cNvSpPr>
          <p:nvPr/>
        </p:nvSpPr>
        <p:spPr bwMode="auto">
          <a:xfrm>
            <a:off x="2062163" y="1773242"/>
            <a:ext cx="6543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1400">
                <a:latin typeface="+mj-lt"/>
                <a:ea typeface="+mj-ea"/>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主机 </a:t>
            </a:r>
            <a:r>
              <a:rPr lang="en-US" altLang="zh-CN" dirty="0"/>
              <a:t>1</a:t>
            </a:r>
          </a:p>
        </p:txBody>
      </p:sp>
      <p:sp>
        <p:nvSpPr>
          <p:cNvPr id="45" name="Line 11"/>
          <p:cNvSpPr>
            <a:spLocks noChangeShapeType="1"/>
          </p:cNvSpPr>
          <p:nvPr/>
        </p:nvSpPr>
        <p:spPr bwMode="auto">
          <a:xfrm>
            <a:off x="3125788" y="2408242"/>
            <a:ext cx="2883814"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6" name="Text Box 12"/>
          <p:cNvSpPr txBox="1">
            <a:spLocks noChangeArrowheads="1"/>
          </p:cNvSpPr>
          <p:nvPr/>
        </p:nvSpPr>
        <p:spPr bwMode="auto">
          <a:xfrm>
            <a:off x="3133147"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128019" name="Line 17"/>
          <p:cNvSpPr>
            <a:spLocks noChangeShapeType="1"/>
          </p:cNvSpPr>
          <p:nvPr/>
        </p:nvSpPr>
        <p:spPr bwMode="auto">
          <a:xfrm>
            <a:off x="1371600" y="2701929"/>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50" name="Text Box 20"/>
          <p:cNvSpPr txBox="1">
            <a:spLocks noChangeArrowheads="1"/>
          </p:cNvSpPr>
          <p:nvPr/>
        </p:nvSpPr>
        <p:spPr bwMode="auto">
          <a:xfrm>
            <a:off x="1551238" y="2888336"/>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51" name="Text Box 21"/>
          <p:cNvSpPr txBox="1">
            <a:spLocks noChangeArrowheads="1"/>
          </p:cNvSpPr>
          <p:nvPr/>
        </p:nvSpPr>
        <p:spPr bwMode="auto">
          <a:xfrm>
            <a:off x="5924681" y="2888336"/>
            <a:ext cx="16208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dirty="0">
                <a:solidFill>
                  <a:srgbClr val="0000FF"/>
                </a:solidFill>
                <a:latin typeface="微软雅黑" panose="020B0503020204020204" pitchFamily="34" charset="-122"/>
                <a:ea typeface="微软雅黑" panose="020B0503020204020204" pitchFamily="34" charset="-122"/>
              </a:rPr>
              <a:t>上层模块</a:t>
            </a:r>
          </a:p>
        </p:txBody>
      </p:sp>
      <p:sp>
        <p:nvSpPr>
          <p:cNvPr id="4" name="矩形 3"/>
          <p:cNvSpPr/>
          <p:nvPr/>
        </p:nvSpPr>
        <p:spPr>
          <a:xfrm>
            <a:off x="2410327" y="1253372"/>
            <a:ext cx="4323347"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600" dirty="0"/>
              <a:t>1. </a:t>
            </a:r>
            <a:r>
              <a:rPr lang="zh-CN" altLang="en-US" sz="1600" dirty="0"/>
              <a:t>将文件传送模块作为最高的一层</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0" name="标题 9">
            <a:extLst>
              <a:ext uri="{FF2B5EF4-FFF2-40B4-BE49-F238E27FC236}">
                <a16:creationId xmlns:a16="http://schemas.microsoft.com/office/drawing/2014/main" id="{C2A158FB-579E-155C-5D45-86FDD2BE5C81}"/>
              </a:ext>
            </a:extLst>
          </p:cNvPr>
          <p:cNvSpPr>
            <a:spLocks noGrp="1"/>
          </p:cNvSpPr>
          <p:nvPr>
            <p:ph type="title"/>
          </p:nvPr>
        </p:nvSpPr>
        <p:spPr>
          <a:xfrm>
            <a:off x="612000" y="144000"/>
            <a:ext cx="7920000" cy="341632"/>
          </a:xfrm>
        </p:spPr>
        <p:txBody>
          <a:bodyPr/>
          <a:lstStyle/>
          <a:p>
            <a:r>
              <a:rPr lang="en-US" altLang="zh-CN"/>
              <a:t>[</a:t>
            </a:r>
            <a:r>
              <a:rPr lang="zh-CN" altLang="en-US"/>
              <a:t>例</a:t>
            </a:r>
            <a:r>
              <a:rPr lang="en-US" altLang="zh-CN"/>
              <a:t>] </a:t>
            </a:r>
            <a:r>
              <a:rPr lang="zh-CN" altLang="en-US"/>
              <a:t>两台主机通过网络传送文件</a:t>
            </a:r>
            <a:endParaRPr lang="zh-CN" altLang="en-US" dirty="0"/>
          </a:p>
        </p:txBody>
      </p:sp>
      <p:sp>
        <p:nvSpPr>
          <p:cNvPr id="3" name="Rectangle 16">
            <a:extLst>
              <a:ext uri="{FF2B5EF4-FFF2-40B4-BE49-F238E27FC236}">
                <a16:creationId xmlns:a16="http://schemas.microsoft.com/office/drawing/2014/main" id="{40DE9653-EBE7-3AA7-31F1-E9AB7EC419F2}"/>
              </a:ext>
            </a:extLst>
          </p:cNvPr>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 name="Text Box 10">
            <a:extLst>
              <a:ext uri="{FF2B5EF4-FFF2-40B4-BE49-F238E27FC236}">
                <a16:creationId xmlns:a16="http://schemas.microsoft.com/office/drawing/2014/main" id="{60F4FA1E-0991-14E1-1239-3C979FDD50D1}"/>
              </a:ext>
            </a:extLst>
          </p:cNvPr>
          <p:cNvSpPr txBox="1">
            <a:spLocks noChangeArrowheads="1"/>
          </p:cNvSpPr>
          <p:nvPr/>
        </p:nvSpPr>
        <p:spPr bwMode="auto">
          <a:xfrm>
            <a:off x="6087188"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文件传送模块</a:t>
            </a:r>
          </a:p>
        </p:txBody>
      </p:sp>
      <p:sp>
        <p:nvSpPr>
          <p:cNvPr id="9" name="Text Box 9">
            <a:extLst>
              <a:ext uri="{FF2B5EF4-FFF2-40B4-BE49-F238E27FC236}">
                <a16:creationId xmlns:a16="http://schemas.microsoft.com/office/drawing/2014/main" id="{6B71ED3B-1117-434B-D863-B771A51956AD}"/>
              </a:ext>
            </a:extLst>
          </p:cNvPr>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1400">
                <a:latin typeface="+mj-lt"/>
                <a:ea typeface="+mj-ea"/>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主机 </a:t>
            </a:r>
            <a:r>
              <a:rPr lang="en-US" altLang="zh-CN" dirty="0"/>
              <a:t>2</a:t>
            </a:r>
          </a:p>
        </p:txBody>
      </p:sp>
      <p:sp>
        <p:nvSpPr>
          <p:cNvPr id="22" name="上下箭头 21"/>
          <p:cNvSpPr/>
          <p:nvPr/>
        </p:nvSpPr>
        <p:spPr>
          <a:xfrm>
            <a:off x="6641685"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up)">
                                      <p:cBhvr>
                                        <p:cTn id="16" dur="500"/>
                                        <p:tgtEl>
                                          <p:spTgt spid="46"/>
                                        </p:tgtEl>
                                      </p:cBhvr>
                                    </p:animEffect>
                                  </p:childTnLst>
                                </p:cTn>
                              </p:par>
                            </p:childTnLst>
                          </p:cTn>
                        </p:par>
                        <p:par>
                          <p:cTn id="17" fill="hold">
                            <p:stCondLst>
                              <p:cond delay="500"/>
                            </p:stCondLst>
                            <p:childTnLst>
                              <p:par>
                                <p:cTn id="18" presetID="22" presetClass="entr" presetSubtype="8" fill="hold" grpId="0" nodeType="afterEffect">
                                  <p:stCondLst>
                                    <p:cond delay="50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50" grpId="0"/>
      <p:bldP spid="5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803489"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dirty="0">
                <a:solidFill>
                  <a:schemeClr val="bg1"/>
                </a:solidFill>
                <a:latin typeface="+mj-lt"/>
                <a:ea typeface="+mj-ea"/>
              </a:rPr>
              <a:t>文件传送模块</a:t>
            </a:r>
          </a:p>
        </p:txBody>
      </p:sp>
      <p:sp>
        <p:nvSpPr>
          <p:cNvPr id="128014" name="Text Box 6"/>
          <p:cNvSpPr txBox="1">
            <a:spLocks noChangeArrowheads="1"/>
          </p:cNvSpPr>
          <p:nvPr/>
        </p:nvSpPr>
        <p:spPr bwMode="auto">
          <a:xfrm>
            <a:off x="2062163" y="1773242"/>
            <a:ext cx="6543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1400">
                <a:latin typeface="+mj-lt"/>
                <a:ea typeface="+mj-ea"/>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主机 </a:t>
            </a:r>
            <a:r>
              <a:rPr lang="en-US" altLang="zh-CN" dirty="0"/>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1400">
                <a:latin typeface="+mj-lt"/>
                <a:ea typeface="+mj-ea"/>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主机 </a:t>
            </a:r>
            <a:r>
              <a:rPr lang="en-US" altLang="zh-CN" dirty="0"/>
              <a:t>2</a:t>
            </a:r>
          </a:p>
        </p:txBody>
      </p:sp>
      <p:sp>
        <p:nvSpPr>
          <p:cNvPr id="128016" name="Text Box 10"/>
          <p:cNvSpPr txBox="1">
            <a:spLocks noChangeArrowheads="1"/>
          </p:cNvSpPr>
          <p:nvPr/>
        </p:nvSpPr>
        <p:spPr bwMode="auto">
          <a:xfrm>
            <a:off x="6087188"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文件传送模块</a:t>
            </a:r>
          </a:p>
        </p:txBody>
      </p:sp>
      <p:sp>
        <p:nvSpPr>
          <p:cNvPr id="4" name="矩形 3"/>
          <p:cNvSpPr/>
          <p:nvPr/>
        </p:nvSpPr>
        <p:spPr>
          <a:xfrm>
            <a:off x="2410327" y="1253372"/>
            <a:ext cx="4323347"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600" dirty="0"/>
              <a:t>2. </a:t>
            </a:r>
            <a:r>
              <a:rPr lang="zh-CN" altLang="en-US" sz="1600" dirty="0"/>
              <a:t>再设计一个通信服务模块层</a:t>
            </a:r>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1384885" y="3367004"/>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4" name="Text Box 20"/>
          <p:cNvSpPr txBox="1">
            <a:spLocks noChangeArrowheads="1"/>
          </p:cNvSpPr>
          <p:nvPr/>
        </p:nvSpPr>
        <p:spPr bwMode="auto">
          <a:xfrm>
            <a:off x="1548481" y="3564941"/>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25" name="Text Box 21"/>
          <p:cNvSpPr txBox="1">
            <a:spLocks noChangeArrowheads="1"/>
          </p:cNvSpPr>
          <p:nvPr/>
        </p:nvSpPr>
        <p:spPr bwMode="auto">
          <a:xfrm>
            <a:off x="5921706" y="3564941"/>
            <a:ext cx="16208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a:solidFill>
                  <a:srgbClr val="0000FF"/>
                </a:solidFill>
                <a:latin typeface="微软雅黑" panose="020B0503020204020204" pitchFamily="34" charset="-122"/>
                <a:ea typeface="微软雅黑" panose="020B0503020204020204" pitchFamily="34" charset="-122"/>
              </a:rPr>
              <a:t>上层模块</a:t>
            </a:r>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817568" y="2863014"/>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通信服务模块</a:t>
            </a:r>
          </a:p>
        </p:txBody>
      </p:sp>
      <p:sp>
        <p:nvSpPr>
          <p:cNvPr id="30" name="Text Box 10"/>
          <p:cNvSpPr txBox="1">
            <a:spLocks noChangeArrowheads="1"/>
          </p:cNvSpPr>
          <p:nvPr/>
        </p:nvSpPr>
        <p:spPr bwMode="auto">
          <a:xfrm>
            <a:off x="6100473" y="2863014"/>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4"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9" name="标题 8">
            <a:extLst>
              <a:ext uri="{FF2B5EF4-FFF2-40B4-BE49-F238E27FC236}">
                <a16:creationId xmlns:a16="http://schemas.microsoft.com/office/drawing/2014/main" id="{A6035D62-4F74-36E0-CD09-C4B14A894A3A}"/>
              </a:ext>
            </a:extLst>
          </p:cNvPr>
          <p:cNvSpPr>
            <a:spLocks noGrp="1"/>
          </p:cNvSpPr>
          <p:nvPr>
            <p:ph type="title"/>
          </p:nvPr>
        </p:nvSpPr>
        <p:spPr>
          <a:xfrm>
            <a:off x="612000" y="144000"/>
            <a:ext cx="7920000" cy="341632"/>
          </a:xfrm>
        </p:spPr>
        <p:txBody>
          <a:bodyPr/>
          <a:lstStyle/>
          <a:p>
            <a:r>
              <a:rPr lang="en-US" altLang="zh-CN"/>
              <a:t>[</a:t>
            </a:r>
            <a:r>
              <a:rPr lang="zh-CN" altLang="en-US"/>
              <a:t>例</a:t>
            </a:r>
            <a:r>
              <a:rPr lang="en-US" altLang="zh-CN"/>
              <a:t>] </a:t>
            </a:r>
            <a:r>
              <a:rPr lang="zh-CN" altLang="en-US"/>
              <a:t>两台主机通过网络传送文件</a:t>
            </a:r>
            <a:endParaRPr lang="zh-CN" altLang="en-US" dirty="0"/>
          </a:p>
        </p:txBody>
      </p:sp>
      <p:sp>
        <p:nvSpPr>
          <p:cNvPr id="3" name="Line 11">
            <a:extLst>
              <a:ext uri="{FF2B5EF4-FFF2-40B4-BE49-F238E27FC236}">
                <a16:creationId xmlns:a16="http://schemas.microsoft.com/office/drawing/2014/main" id="{22392352-0076-B3E6-E53F-9ABE08D2C8A6}"/>
              </a:ext>
            </a:extLst>
          </p:cNvPr>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Tree>
    <p:extLst>
      <p:ext uri="{BB962C8B-B14F-4D97-AF65-F5344CB8AC3E}">
        <p14:creationId xmlns:p14="http://schemas.microsoft.com/office/powerpoint/2010/main" val="39214054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250"/>
                                        <p:tgtEl>
                                          <p:spTgt spid="24"/>
                                        </p:tgtEl>
                                      </p:cBhvr>
                                    </p:animEffect>
                                  </p:childTnLst>
                                </p:cTn>
                              </p:par>
                            </p:childTnLst>
                          </p:cTn>
                        </p:par>
                        <p:par>
                          <p:cTn id="8" fill="hold">
                            <p:stCondLst>
                              <p:cond delay="250"/>
                            </p:stCondLst>
                            <p:childTnLst>
                              <p:par>
                                <p:cTn id="9" presetID="22" presetClass="entr" presetSubtype="8" fill="hold" grpId="0" nodeType="afterEffect">
                                  <p:stCondLst>
                                    <p:cond delay="25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P spid="2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128013" name="Text Box 5"/>
          <p:cNvSpPr txBox="1">
            <a:spLocks noChangeArrowheads="1"/>
          </p:cNvSpPr>
          <p:nvPr/>
        </p:nvSpPr>
        <p:spPr bwMode="auto">
          <a:xfrm>
            <a:off x="1803489"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文件传送模块</a:t>
            </a:r>
          </a:p>
        </p:txBody>
      </p:sp>
      <p:sp>
        <p:nvSpPr>
          <p:cNvPr id="128014" name="Text Box 6"/>
          <p:cNvSpPr txBox="1">
            <a:spLocks noChangeArrowheads="1"/>
          </p:cNvSpPr>
          <p:nvPr/>
        </p:nvSpPr>
        <p:spPr bwMode="auto">
          <a:xfrm>
            <a:off x="2062163" y="1773242"/>
            <a:ext cx="6543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dirty="0">
                <a:latin typeface="+mj-lt"/>
                <a:ea typeface="+mj-ea"/>
              </a:rPr>
              <a:t>主机 </a:t>
            </a:r>
            <a:r>
              <a:rPr lang="en-US" altLang="zh-CN" sz="1400" dirty="0">
                <a:latin typeface="+mj-lt"/>
                <a:ea typeface="+mj-ea"/>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a:latin typeface="+mj-lt"/>
                <a:ea typeface="+mj-ea"/>
              </a:rPr>
              <a:t>主机 </a:t>
            </a:r>
            <a:r>
              <a:rPr lang="en-US" altLang="zh-CN" sz="1400">
                <a:latin typeface="+mj-lt"/>
                <a:ea typeface="+mj-ea"/>
              </a:rPr>
              <a:t>2</a:t>
            </a:r>
          </a:p>
        </p:txBody>
      </p:sp>
      <p:sp>
        <p:nvSpPr>
          <p:cNvPr id="128016" name="Text Box 10"/>
          <p:cNvSpPr txBox="1">
            <a:spLocks noChangeArrowheads="1"/>
          </p:cNvSpPr>
          <p:nvPr/>
        </p:nvSpPr>
        <p:spPr bwMode="auto">
          <a:xfrm>
            <a:off x="6087188" y="2208217"/>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文件传送模块</a:t>
            </a:r>
          </a:p>
        </p:txBody>
      </p:sp>
      <p:sp>
        <p:nvSpPr>
          <p:cNvPr id="4" name="矩形 3"/>
          <p:cNvSpPr/>
          <p:nvPr/>
        </p:nvSpPr>
        <p:spPr>
          <a:xfrm>
            <a:off x="2410327" y="1253372"/>
            <a:ext cx="4323347"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600" dirty="0"/>
              <a:t>3. </a:t>
            </a:r>
            <a:r>
              <a:rPr lang="zh-CN" altLang="en-US" sz="1600" dirty="0"/>
              <a:t>再设计一个网络接入模块层</a:t>
            </a:r>
          </a:p>
        </p:txBody>
      </p:sp>
      <p:sp>
        <p:nvSpPr>
          <p:cNvPr id="18" name="Line 11"/>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2638926" y="3735970"/>
            <a:ext cx="424313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29" name="Text Box 5"/>
          <p:cNvSpPr txBox="1">
            <a:spLocks noChangeArrowheads="1"/>
          </p:cNvSpPr>
          <p:nvPr/>
        </p:nvSpPr>
        <p:spPr bwMode="auto">
          <a:xfrm>
            <a:off x="1817568" y="2863014"/>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通信服务模块</a:t>
            </a:r>
          </a:p>
        </p:txBody>
      </p:sp>
      <p:sp>
        <p:nvSpPr>
          <p:cNvPr id="30" name="Text Box 10"/>
          <p:cNvSpPr txBox="1">
            <a:spLocks noChangeArrowheads="1"/>
          </p:cNvSpPr>
          <p:nvPr/>
        </p:nvSpPr>
        <p:spPr bwMode="auto">
          <a:xfrm>
            <a:off x="6100473" y="2863014"/>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6048215"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33" name="Rectangle 15"/>
          <p:cNvSpPr>
            <a:spLocks noChangeArrowheads="1"/>
          </p:cNvSpPr>
          <p:nvPr/>
        </p:nvSpPr>
        <p:spPr bwMode="auto">
          <a:xfrm>
            <a:off x="1765298"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a:solidFill>
                <a:srgbClr val="1956B9"/>
              </a:solidFill>
              <a:latin typeface="+mj-lt"/>
              <a:ea typeface="+mj-ea"/>
            </a:endParaRPr>
          </a:p>
        </p:txBody>
      </p:sp>
      <p:sp>
        <p:nvSpPr>
          <p:cNvPr id="34" name="Text Box 5"/>
          <p:cNvSpPr txBox="1">
            <a:spLocks noChangeArrowheads="1"/>
          </p:cNvSpPr>
          <p:nvPr/>
        </p:nvSpPr>
        <p:spPr bwMode="auto">
          <a:xfrm>
            <a:off x="1825589" y="3568196"/>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dirty="0">
                <a:solidFill>
                  <a:schemeClr val="bg1"/>
                </a:solidFill>
                <a:latin typeface="+mj-lt"/>
                <a:ea typeface="+mj-ea"/>
              </a:rPr>
              <a:t>网络接入模块</a:t>
            </a:r>
          </a:p>
        </p:txBody>
      </p:sp>
      <p:sp>
        <p:nvSpPr>
          <p:cNvPr id="35" name="Text Box 10"/>
          <p:cNvSpPr txBox="1">
            <a:spLocks noChangeArrowheads="1"/>
          </p:cNvSpPr>
          <p:nvPr/>
        </p:nvSpPr>
        <p:spPr bwMode="auto">
          <a:xfrm>
            <a:off x="6108494" y="3568196"/>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a:solidFill>
                  <a:schemeClr val="bg1"/>
                </a:solidFill>
                <a:latin typeface="+mj-lt"/>
                <a:ea typeface="+mj-ea"/>
              </a:rPr>
              <a:t>网络接入模块</a:t>
            </a:r>
          </a:p>
        </p:txBody>
      </p:sp>
      <p:sp>
        <p:nvSpPr>
          <p:cNvPr id="36" name="Text Box 6"/>
          <p:cNvSpPr txBox="1">
            <a:spLocks noChangeArrowheads="1"/>
          </p:cNvSpPr>
          <p:nvPr/>
        </p:nvSpPr>
        <p:spPr bwMode="auto">
          <a:xfrm>
            <a:off x="3129714"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网络</a:t>
            </a:r>
            <a:endParaRPr lang="en-US" altLang="zh-CN" sz="1200" b="1" dirty="0">
              <a:solidFill>
                <a:srgbClr val="0000FF"/>
              </a:solidFill>
              <a:latin typeface="微软雅黑" panose="020B0503020204020204" pitchFamily="34" charset="-122"/>
              <a:ea typeface="微软雅黑" panose="020B0503020204020204" pitchFamily="34" charset="-122"/>
            </a:endParaRPr>
          </a:p>
          <a:p>
            <a:r>
              <a:rPr lang="zh-CN" altLang="en-US" sz="1200" b="1" dirty="0">
                <a:solidFill>
                  <a:srgbClr val="0000FF"/>
                </a:solidFill>
                <a:latin typeface="微软雅黑" panose="020B0503020204020204" pitchFamily="34" charset="-122"/>
                <a:ea typeface="微软雅黑" panose="020B0503020204020204" pitchFamily="34" charset="-122"/>
              </a:rPr>
              <a:t>接口</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1" name="Text Box 6"/>
          <p:cNvSpPr txBox="1">
            <a:spLocks noChangeArrowheads="1"/>
          </p:cNvSpPr>
          <p:nvPr/>
        </p:nvSpPr>
        <p:spPr bwMode="auto">
          <a:xfrm>
            <a:off x="5577469"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网络</a:t>
            </a:r>
            <a:endParaRPr lang="en-US" altLang="zh-CN" sz="1200" b="1">
              <a:solidFill>
                <a:srgbClr val="0000FF"/>
              </a:solidFill>
              <a:latin typeface="微软雅黑" panose="020B0503020204020204" pitchFamily="34" charset="-122"/>
              <a:ea typeface="微软雅黑" panose="020B0503020204020204" pitchFamily="34" charset="-122"/>
            </a:endParaRPr>
          </a:p>
          <a:p>
            <a:r>
              <a:rPr lang="zh-CN" altLang="en-US" sz="1200" b="1">
                <a:solidFill>
                  <a:srgbClr val="0000FF"/>
                </a:solidFill>
                <a:latin typeface="微软雅黑" panose="020B0503020204020204" pitchFamily="34" charset="-122"/>
                <a:ea typeface="微软雅黑" panose="020B0503020204020204" pitchFamily="34" charset="-122"/>
              </a:rPr>
              <a:t>接口</a:t>
            </a:r>
            <a:endParaRPr lang="en-US" altLang="zh-CN" sz="1200" b="1">
              <a:solidFill>
                <a:srgbClr val="0000FF"/>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2"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43"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grpSp>
        <p:nvGrpSpPr>
          <p:cNvPr id="44" name="Group 6"/>
          <p:cNvGrpSpPr/>
          <p:nvPr/>
        </p:nvGrpSpPr>
        <p:grpSpPr bwMode="auto">
          <a:xfrm>
            <a:off x="3819512" y="3373343"/>
            <a:ext cx="1501300" cy="646662"/>
            <a:chOff x="1680" y="240"/>
            <a:chExt cx="2529" cy="1270"/>
          </a:xfrm>
          <a:solidFill>
            <a:srgbClr val="F2F2F2"/>
          </a:solidFill>
        </p:grpSpPr>
        <p:sp>
          <p:nvSpPr>
            <p:cNvPr id="45" name="Oval 7"/>
            <p:cNvSpPr>
              <a:spLocks noChangeArrowheads="1"/>
            </p:cNvSpPr>
            <p:nvPr/>
          </p:nvSpPr>
          <p:spPr bwMode="auto">
            <a:xfrm>
              <a:off x="2554" y="240"/>
              <a:ext cx="1088" cy="513"/>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Oval 8"/>
            <p:cNvSpPr>
              <a:spLocks noChangeArrowheads="1"/>
            </p:cNvSpPr>
            <p:nvPr/>
          </p:nvSpPr>
          <p:spPr bwMode="auto">
            <a:xfrm>
              <a:off x="1941" y="381"/>
              <a:ext cx="827" cy="513"/>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7" name="Oval 9"/>
            <p:cNvSpPr>
              <a:spLocks noChangeArrowheads="1"/>
            </p:cNvSpPr>
            <p:nvPr/>
          </p:nvSpPr>
          <p:spPr bwMode="auto">
            <a:xfrm>
              <a:off x="1680" y="702"/>
              <a:ext cx="552" cy="411"/>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8" name="Oval 10"/>
            <p:cNvSpPr>
              <a:spLocks noChangeArrowheads="1"/>
            </p:cNvSpPr>
            <p:nvPr/>
          </p:nvSpPr>
          <p:spPr bwMode="auto">
            <a:xfrm>
              <a:off x="1849" y="894"/>
              <a:ext cx="842" cy="450"/>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Oval 11"/>
            <p:cNvSpPr>
              <a:spLocks noChangeArrowheads="1"/>
            </p:cNvSpPr>
            <p:nvPr/>
          </p:nvSpPr>
          <p:spPr bwMode="auto">
            <a:xfrm>
              <a:off x="2462" y="971"/>
              <a:ext cx="1272" cy="539"/>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Oval 12"/>
            <p:cNvSpPr>
              <a:spLocks noChangeArrowheads="1"/>
            </p:cNvSpPr>
            <p:nvPr/>
          </p:nvSpPr>
          <p:spPr bwMode="auto">
            <a:xfrm>
              <a:off x="3289" y="394"/>
              <a:ext cx="797" cy="398"/>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Oval 13"/>
            <p:cNvSpPr>
              <a:spLocks noChangeArrowheads="1"/>
            </p:cNvSpPr>
            <p:nvPr/>
          </p:nvSpPr>
          <p:spPr bwMode="auto">
            <a:xfrm>
              <a:off x="3412" y="663"/>
              <a:ext cx="797" cy="398"/>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Oval 14"/>
            <p:cNvSpPr>
              <a:spLocks noChangeArrowheads="1"/>
            </p:cNvSpPr>
            <p:nvPr/>
          </p:nvSpPr>
          <p:spPr bwMode="auto">
            <a:xfrm>
              <a:off x="3335" y="753"/>
              <a:ext cx="797" cy="668"/>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3" name="Oval 15"/>
            <p:cNvSpPr>
              <a:spLocks noChangeArrowheads="1"/>
            </p:cNvSpPr>
            <p:nvPr/>
          </p:nvSpPr>
          <p:spPr bwMode="auto">
            <a:xfrm>
              <a:off x="2102" y="432"/>
              <a:ext cx="1821" cy="821"/>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8" name="Text Box 31"/>
          <p:cNvSpPr txBox="1">
            <a:spLocks noChangeArrowheads="1"/>
          </p:cNvSpPr>
          <p:nvPr/>
        </p:nvSpPr>
        <p:spPr bwMode="auto">
          <a:xfrm>
            <a:off x="4166350" y="3547570"/>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1400">
                <a:latin typeface="+mj-lt"/>
                <a:ea typeface="+mj-ea"/>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通信网络</a:t>
            </a:r>
          </a:p>
        </p:txBody>
      </p:sp>
      <p:sp>
        <p:nvSpPr>
          <p:cNvPr id="54" name="矩形 53"/>
          <p:cNvSpPr/>
          <p:nvPr/>
        </p:nvSpPr>
        <p:spPr>
          <a:xfrm>
            <a:off x="1256271" y="4384118"/>
            <a:ext cx="6631459" cy="307777"/>
          </a:xfrm>
          <a:prstGeom prst="rect">
            <a:avLst/>
          </a:prstGeom>
        </p:spPr>
        <p:txBody>
          <a:bodyPr wrap="square">
            <a:spAutoFit/>
          </a:bodyPr>
          <a:lstStyle/>
          <a:p>
            <a:pPr lvl="0" algn="ctr"/>
            <a:r>
              <a:rPr lang="zh-CN" altLang="en-US" sz="1400" b="1" dirty="0">
                <a:solidFill>
                  <a:srgbClr val="0000FF"/>
                </a:solidFill>
                <a:latin typeface="微软雅黑" panose="020B0503020204020204" pitchFamily="34" charset="-122"/>
                <a:ea typeface="微软雅黑" panose="020B0503020204020204" pitchFamily="34" charset="-122"/>
              </a:rPr>
              <a:t>网络接入模块</a:t>
            </a:r>
            <a:r>
              <a:rPr lang="zh-CN" altLang="en-US" sz="1400" b="1" dirty="0">
                <a:solidFill>
                  <a:prstClr val="black"/>
                </a:solidFill>
                <a:latin typeface="微软雅黑" panose="020B0503020204020204" pitchFamily="34" charset="-122"/>
                <a:ea typeface="微软雅黑" panose="020B0503020204020204" pitchFamily="34" charset="-122"/>
              </a:rPr>
              <a:t>负责做与网络接口细节有关的工作，并向上层提供接入和通信服务</a:t>
            </a:r>
          </a:p>
        </p:txBody>
      </p:sp>
      <p:sp>
        <p:nvSpPr>
          <p:cNvPr id="3" name="标题 2">
            <a:extLst>
              <a:ext uri="{FF2B5EF4-FFF2-40B4-BE49-F238E27FC236}">
                <a16:creationId xmlns:a16="http://schemas.microsoft.com/office/drawing/2014/main" id="{251FED40-C153-6E5A-A079-3AB625542731}"/>
              </a:ext>
            </a:extLst>
          </p:cNvPr>
          <p:cNvSpPr>
            <a:spLocks noGrp="1"/>
          </p:cNvSpPr>
          <p:nvPr>
            <p:ph type="title"/>
          </p:nvPr>
        </p:nvSpPr>
        <p:spPr>
          <a:xfrm>
            <a:off x="612000" y="144000"/>
            <a:ext cx="7920000" cy="341632"/>
          </a:xfrm>
        </p:spPr>
        <p:txBody>
          <a:bodyPr/>
          <a:lstStyle/>
          <a:p>
            <a:r>
              <a:rPr lang="en-US" altLang="zh-CN"/>
              <a:t>[</a:t>
            </a:r>
            <a:r>
              <a:rPr lang="zh-CN" altLang="en-US"/>
              <a:t>例</a:t>
            </a:r>
            <a:r>
              <a:rPr lang="en-US" altLang="zh-CN"/>
              <a:t>] </a:t>
            </a:r>
            <a:r>
              <a:rPr lang="zh-CN" altLang="en-US"/>
              <a:t>两台主机通过网络传送文件</a:t>
            </a:r>
            <a:endParaRPr lang="zh-CN" altLang="en-US" dirty="0"/>
          </a:p>
        </p:txBody>
      </p:sp>
    </p:spTree>
    <p:extLst>
      <p:ext uri="{BB962C8B-B14F-4D97-AF65-F5344CB8AC3E}">
        <p14:creationId xmlns:p14="http://schemas.microsoft.com/office/powerpoint/2010/main" val="10256114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FBEEE69-6994-202F-74BA-4A443F587CA6}"/>
              </a:ext>
            </a:extLst>
          </p:cNvPr>
          <p:cNvSpPr>
            <a:spLocks noGrp="1"/>
          </p:cNvSpPr>
          <p:nvPr>
            <p:ph type="title"/>
          </p:nvPr>
        </p:nvSpPr>
        <p:spPr>
          <a:xfrm>
            <a:off x="612000" y="144000"/>
            <a:ext cx="7920000" cy="341632"/>
          </a:xfrm>
        </p:spPr>
        <p:txBody>
          <a:bodyPr/>
          <a:lstStyle/>
          <a:p>
            <a:r>
              <a:rPr lang="zh-CN" altLang="en-US" dirty="0"/>
              <a:t>分层的优点与缺点 </a:t>
            </a:r>
            <a:r>
              <a:rPr lang="en-US" altLang="zh-CN" dirty="0"/>
              <a:t>Features</a:t>
            </a:r>
            <a:endParaRPr lang="zh-CN" altLang="en-US" dirty="0"/>
          </a:p>
        </p:txBody>
      </p:sp>
      <p:sp>
        <p:nvSpPr>
          <p:cNvPr id="2" name="内容占位符 1">
            <a:extLst>
              <a:ext uri="{FF2B5EF4-FFF2-40B4-BE49-F238E27FC236}">
                <a16:creationId xmlns:a16="http://schemas.microsoft.com/office/drawing/2014/main" id="{12CB8B0A-F536-8AFF-3051-2CB270A2D968}"/>
              </a:ext>
            </a:extLst>
          </p:cNvPr>
          <p:cNvSpPr>
            <a:spLocks noGrp="1"/>
          </p:cNvSpPr>
          <p:nvPr>
            <p:ph sz="quarter" idx="10"/>
          </p:nvPr>
        </p:nvSpPr>
        <p:spPr>
          <a:xfrm>
            <a:off x="612000" y="899999"/>
            <a:ext cx="7920000" cy="3780000"/>
          </a:xfrm>
        </p:spPr>
        <p:txBody>
          <a:bodyPr>
            <a:normAutofit/>
          </a:bodyPr>
          <a:lstStyle/>
          <a:p>
            <a:pPr lvl="0"/>
            <a:r>
              <a:rPr lang="zh-CN" altLang="en-US" dirty="0"/>
              <a:t>优点</a:t>
            </a:r>
            <a:endParaRPr lang="en-US" altLang="zh-CN" dirty="0"/>
          </a:p>
          <a:p>
            <a:pPr lvl="1"/>
            <a:r>
              <a:rPr lang="zh-CN" altLang="en-US" dirty="0"/>
              <a:t>各层之间是独立的</a:t>
            </a:r>
          </a:p>
          <a:p>
            <a:pPr lvl="1"/>
            <a:r>
              <a:rPr lang="zh-CN" altLang="en-US" dirty="0"/>
              <a:t>灵活性好</a:t>
            </a:r>
          </a:p>
          <a:p>
            <a:pPr lvl="1"/>
            <a:r>
              <a:rPr lang="zh-CN" altLang="en-US" dirty="0"/>
              <a:t>结构上可分割开</a:t>
            </a:r>
          </a:p>
          <a:p>
            <a:pPr lvl="1"/>
            <a:r>
              <a:rPr lang="zh-CN" altLang="en-US" dirty="0"/>
              <a:t>易于实现和维护</a:t>
            </a:r>
          </a:p>
          <a:p>
            <a:pPr lvl="1"/>
            <a:r>
              <a:rPr lang="zh-CN" altLang="en-US" dirty="0"/>
              <a:t>能促进标准化工作</a:t>
            </a:r>
            <a:endParaRPr lang="en-US" altLang="zh-CN" dirty="0"/>
          </a:p>
          <a:p>
            <a:pPr lvl="0"/>
            <a:r>
              <a:rPr lang="zh-CN" altLang="en-US" dirty="0"/>
              <a:t>缺点</a:t>
            </a:r>
            <a:endParaRPr lang="en-US" altLang="zh-CN" dirty="0"/>
          </a:p>
          <a:p>
            <a:pPr lvl="1"/>
            <a:r>
              <a:rPr lang="zh-CN" altLang="en-US" dirty="0"/>
              <a:t>有些功能会重复出现，因而产生了额外开销</a:t>
            </a:r>
          </a:p>
          <a:p>
            <a:r>
              <a:rPr lang="zh-CN" altLang="en-US" dirty="0"/>
              <a:t>注意</a:t>
            </a:r>
            <a:endParaRPr lang="en-US" altLang="zh-CN" dirty="0"/>
          </a:p>
          <a:p>
            <a:pPr lvl="1"/>
            <a:r>
              <a:rPr lang="zh-CN" altLang="en-US" dirty="0"/>
              <a:t>每一层的功能应非常明确</a:t>
            </a:r>
            <a:endParaRPr lang="en-US" altLang="zh-CN" dirty="0"/>
          </a:p>
          <a:p>
            <a:pPr lvl="1"/>
            <a:r>
              <a:rPr lang="zh-CN" altLang="en-US" dirty="0"/>
              <a:t>层数太少，就会使每一层的协议太复杂</a:t>
            </a:r>
            <a:endParaRPr lang="en-US" altLang="zh-CN" dirty="0"/>
          </a:p>
          <a:p>
            <a:pPr lvl="1"/>
            <a:r>
              <a:rPr lang="zh-CN" altLang="en-US" dirty="0"/>
              <a:t>层数太多，又会在描述和综合各层功能的系统工程任务时遇到较多的困难</a:t>
            </a:r>
          </a:p>
        </p:txBody>
      </p:sp>
    </p:spTree>
    <p:extLst>
      <p:ext uri="{BB962C8B-B14F-4D97-AF65-F5344CB8AC3E}">
        <p14:creationId xmlns:p14="http://schemas.microsoft.com/office/powerpoint/2010/main" val="15722900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B3ED287-17CE-9780-672E-71B44F34158E}"/>
              </a:ext>
            </a:extLst>
          </p:cNvPr>
          <p:cNvSpPr>
            <a:spLocks noGrp="1"/>
          </p:cNvSpPr>
          <p:nvPr>
            <p:ph type="title"/>
          </p:nvPr>
        </p:nvSpPr>
        <p:spPr>
          <a:xfrm>
            <a:off x="612000" y="144000"/>
            <a:ext cx="7920000" cy="341632"/>
          </a:xfrm>
        </p:spPr>
        <p:txBody>
          <a:bodyPr/>
          <a:lstStyle/>
          <a:p>
            <a:r>
              <a:rPr lang="zh-CN" altLang="zh-CN" dirty="0"/>
              <a:t>各层主要功能</a:t>
            </a:r>
            <a:r>
              <a:rPr lang="en-US" altLang="zh-CN" dirty="0"/>
              <a:t> Functions</a:t>
            </a:r>
            <a:endParaRPr lang="zh-CN" altLang="en-US" dirty="0"/>
          </a:p>
        </p:txBody>
      </p:sp>
      <p:sp>
        <p:nvSpPr>
          <p:cNvPr id="3" name="内容占位符 2"/>
          <p:cNvSpPr>
            <a:spLocks noGrp="1"/>
          </p:cNvSpPr>
          <p:nvPr>
            <p:ph sz="quarter" idx="10"/>
          </p:nvPr>
        </p:nvSpPr>
        <p:spPr>
          <a:xfrm>
            <a:off x="612000" y="899999"/>
            <a:ext cx="7920000" cy="3780000"/>
          </a:xfrm>
        </p:spPr>
        <p:txBody>
          <a:bodyPr/>
          <a:lstStyle/>
          <a:p>
            <a:r>
              <a:rPr lang="zh-CN" altLang="en-US" dirty="0"/>
              <a:t>差错控制：使相应层次对等方的通信更加可靠</a:t>
            </a:r>
          </a:p>
          <a:p>
            <a:r>
              <a:rPr lang="zh-CN" altLang="en-US" dirty="0"/>
              <a:t>流量控制：发送端的发送速率必须使接收端来得及接收，不要太快</a:t>
            </a:r>
          </a:p>
          <a:p>
            <a:r>
              <a:rPr lang="zh-CN" altLang="en-US" dirty="0"/>
              <a:t>分段和重装：发送端将要发送的数据块划分为更小的单位，在接收端将其还原</a:t>
            </a:r>
          </a:p>
          <a:p>
            <a:r>
              <a:rPr lang="zh-CN" altLang="en-US" dirty="0"/>
              <a:t>复用和分用：发送端几个高层会话复用一条低层的连接，在接收端再进行分用</a:t>
            </a:r>
          </a:p>
          <a:p>
            <a:r>
              <a:rPr lang="zh-CN" altLang="en-US" dirty="0"/>
              <a:t>连接建立和释放：交换数据前先建立一条逻辑连接，数据传送结束后释放连接</a:t>
            </a:r>
          </a:p>
        </p:txBody>
      </p:sp>
    </p:spTree>
    <p:extLst>
      <p:ext uri="{BB962C8B-B14F-4D97-AF65-F5344CB8AC3E}">
        <p14:creationId xmlns:p14="http://schemas.microsoft.com/office/powerpoint/2010/main" val="838503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1CE1DC42-80E2-653B-6861-A5B5F859FB41}"/>
              </a:ext>
            </a:extLst>
          </p:cNvPr>
          <p:cNvSpPr>
            <a:spLocks noGrp="1"/>
          </p:cNvSpPr>
          <p:nvPr>
            <p:ph type="title"/>
          </p:nvPr>
        </p:nvSpPr>
        <p:spPr>
          <a:xfrm>
            <a:off x="612000" y="144000"/>
            <a:ext cx="7920000" cy="341632"/>
          </a:xfrm>
        </p:spPr>
        <p:txBody>
          <a:bodyPr/>
          <a:lstStyle/>
          <a:p>
            <a:r>
              <a:rPr lang="zh-CN" altLang="en-US" dirty="0"/>
              <a:t>体系结构 </a:t>
            </a:r>
            <a:r>
              <a:rPr lang="en-US" altLang="zh-CN" dirty="0"/>
              <a:t>Architecture</a:t>
            </a:r>
            <a:endParaRPr lang="zh-CN" altLang="en-US" dirty="0"/>
          </a:p>
        </p:txBody>
      </p:sp>
      <p:sp>
        <p:nvSpPr>
          <p:cNvPr id="2" name="内容占位符 1"/>
          <p:cNvSpPr>
            <a:spLocks noGrp="1"/>
          </p:cNvSpPr>
          <p:nvPr>
            <p:ph sz="quarter" idx="10"/>
          </p:nvPr>
        </p:nvSpPr>
        <p:spPr>
          <a:xfrm>
            <a:off x="612000" y="899999"/>
            <a:ext cx="7920000" cy="3780000"/>
          </a:xfrm>
        </p:spPr>
        <p:txBody>
          <a:bodyPr/>
          <a:lstStyle/>
          <a:p>
            <a:r>
              <a:rPr lang="zh-CN" altLang="en-US" dirty="0"/>
              <a:t>网络的体系结构 </a:t>
            </a:r>
            <a:r>
              <a:rPr lang="en-US" altLang="zh-CN" dirty="0"/>
              <a:t>(Network Architecture) </a:t>
            </a:r>
            <a:r>
              <a:rPr lang="zh-CN" altLang="en-US" dirty="0"/>
              <a:t>是计算机网络的各层及其协议的集合，就是这个计算机网络及其构件所应完成的功能的精确定义（不涉及实现）</a:t>
            </a:r>
          </a:p>
          <a:p>
            <a:r>
              <a:rPr lang="zh-CN" altLang="en-US" dirty="0"/>
              <a:t>实现 </a:t>
            </a:r>
            <a:r>
              <a:rPr lang="en-US" altLang="zh-CN" dirty="0"/>
              <a:t>(implementation) </a:t>
            </a:r>
            <a:r>
              <a:rPr lang="zh-CN" altLang="en-US" dirty="0"/>
              <a:t>是遵循这种体系结构的前提下，用何种硬件或软件完成这些功能的问题</a:t>
            </a:r>
          </a:p>
        </p:txBody>
      </p:sp>
      <p:sp>
        <p:nvSpPr>
          <p:cNvPr id="11" name="文本框 10">
            <a:extLst>
              <a:ext uri="{FF2B5EF4-FFF2-40B4-BE49-F238E27FC236}">
                <a16:creationId xmlns:a16="http://schemas.microsoft.com/office/drawing/2014/main" id="{9ADCFACD-4554-897C-BC80-D2A0B52D355B}"/>
              </a:ext>
            </a:extLst>
          </p:cNvPr>
          <p:cNvSpPr txBox="1"/>
          <p:nvPr/>
        </p:nvSpPr>
        <p:spPr>
          <a:xfrm>
            <a:off x="1427550" y="3240000"/>
            <a:ext cx="6288901" cy="307777"/>
          </a:xfrm>
          <a:prstGeom prst="rect">
            <a:avLst/>
          </a:prstGeom>
          <a:noFill/>
        </p:spPr>
        <p:txBody>
          <a:bodyPr wrap="square" rtlCol="0">
            <a:spAutoFit/>
          </a:bodyPr>
          <a:lstStyle>
            <a:defPPr>
              <a:defRPr lang="zh-CN"/>
            </a:defPPr>
            <a:lvl1pPr algn="ctr">
              <a:defRPr sz="1400">
                <a:solidFill>
                  <a:srgbClr val="D4237A"/>
                </a:solidFill>
                <a:ea typeface="+mj-ea"/>
              </a:defRPr>
            </a:lvl1pPr>
          </a:lstStyle>
          <a:p>
            <a:r>
              <a:rPr lang="zh-CN" altLang="en-US" dirty="0"/>
              <a:t>体系结构是抽象的，而实现则是具体的，是真正在运行的计算机硬件和软件</a:t>
            </a:r>
          </a:p>
        </p:txBody>
      </p:sp>
    </p:spTree>
    <p:extLst>
      <p:ext uri="{BB962C8B-B14F-4D97-AF65-F5344CB8AC3E}">
        <p14:creationId xmlns:p14="http://schemas.microsoft.com/office/powerpoint/2010/main" val="29807249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F648EC-0B6C-0EF3-EF72-C08FEE313716}"/>
              </a:ext>
            </a:extLst>
          </p:cNvPr>
          <p:cNvSpPr>
            <a:spLocks noGrp="1"/>
          </p:cNvSpPr>
          <p:nvPr>
            <p:ph type="title"/>
          </p:nvPr>
        </p:nvSpPr>
        <p:spPr>
          <a:xfrm>
            <a:off x="612000" y="144000"/>
            <a:ext cx="7920000" cy="341632"/>
          </a:xfrm>
        </p:spPr>
        <p:txBody>
          <a:bodyPr/>
          <a:lstStyle/>
          <a:p>
            <a:r>
              <a:rPr lang="en-US" altLang="zh-CN" dirty="0"/>
              <a:t>1.7.3  </a:t>
            </a:r>
            <a:r>
              <a:rPr lang="zh-CN" altLang="en-US" dirty="0"/>
              <a:t>具有五层协议的体系结构</a:t>
            </a:r>
          </a:p>
        </p:txBody>
      </p:sp>
      <p:sp>
        <p:nvSpPr>
          <p:cNvPr id="22" name="Text Box 13"/>
          <p:cNvSpPr txBox="1">
            <a:spLocks noChangeArrowheads="1"/>
          </p:cNvSpPr>
          <p:nvPr/>
        </p:nvSpPr>
        <p:spPr bwMode="auto">
          <a:xfrm>
            <a:off x="1156623" y="1279024"/>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400" b="1" dirty="0">
                <a:solidFill>
                  <a:srgbClr val="85D1F7"/>
                </a:solidFill>
                <a:latin typeface="+mj-lt"/>
                <a:ea typeface="+mj-ea"/>
              </a:rPr>
              <a:t>OSI </a:t>
            </a:r>
            <a:r>
              <a:rPr kumimoji="1" lang="zh-CN" altLang="en-US" sz="1400" b="1" dirty="0">
                <a:solidFill>
                  <a:srgbClr val="85D1F7"/>
                </a:solidFill>
                <a:latin typeface="+mj-lt"/>
                <a:ea typeface="+mj-ea"/>
              </a:rPr>
              <a:t>的七层协议体系结构</a:t>
            </a:r>
          </a:p>
        </p:txBody>
      </p:sp>
      <p:sp>
        <p:nvSpPr>
          <p:cNvPr id="32" name="Text Box 12"/>
          <p:cNvSpPr txBox="1">
            <a:spLocks noChangeArrowheads="1"/>
          </p:cNvSpPr>
          <p:nvPr/>
        </p:nvSpPr>
        <p:spPr bwMode="auto">
          <a:xfrm>
            <a:off x="3405104" y="1279024"/>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400" b="1" dirty="0">
                <a:solidFill>
                  <a:srgbClr val="7CE07C"/>
                </a:solidFill>
                <a:latin typeface="+mj-lt"/>
                <a:ea typeface="+mj-ea"/>
              </a:rPr>
              <a:t>TCP/IP </a:t>
            </a:r>
            <a:r>
              <a:rPr kumimoji="1" lang="zh-CN" altLang="en-US" sz="1400" b="1" dirty="0">
                <a:solidFill>
                  <a:srgbClr val="7CE07C"/>
                </a:solidFill>
                <a:latin typeface="+mj-lt"/>
                <a:ea typeface="+mj-ea"/>
              </a:rPr>
              <a:t>的四层协议体系结构</a:t>
            </a:r>
          </a:p>
        </p:txBody>
      </p:sp>
      <p:sp>
        <p:nvSpPr>
          <p:cNvPr id="33" name="Text Box 95"/>
          <p:cNvSpPr txBox="1">
            <a:spLocks noChangeArrowheads="1"/>
          </p:cNvSpPr>
          <p:nvPr/>
        </p:nvSpPr>
        <p:spPr bwMode="auto">
          <a:xfrm>
            <a:off x="2054305" y="4382588"/>
            <a:ext cx="3738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mj-lt"/>
                <a:ea typeface="+mj-ea"/>
              </a:rPr>
              <a:t>(a)</a:t>
            </a:r>
          </a:p>
        </p:txBody>
      </p:sp>
      <p:sp>
        <p:nvSpPr>
          <p:cNvPr id="34" name="Text Box 96"/>
          <p:cNvSpPr txBox="1">
            <a:spLocks noChangeArrowheads="1"/>
          </p:cNvSpPr>
          <p:nvPr/>
        </p:nvSpPr>
        <p:spPr bwMode="auto">
          <a:xfrm>
            <a:off x="4442760" y="4382588"/>
            <a:ext cx="3866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mj-lt"/>
                <a:ea typeface="+mj-ea"/>
              </a:rPr>
              <a:t>(b)</a:t>
            </a:r>
          </a:p>
        </p:txBody>
      </p:sp>
      <p:sp>
        <p:nvSpPr>
          <p:cNvPr id="35" name="Text Box 97"/>
          <p:cNvSpPr txBox="1">
            <a:spLocks noChangeArrowheads="1"/>
          </p:cNvSpPr>
          <p:nvPr/>
        </p:nvSpPr>
        <p:spPr bwMode="auto">
          <a:xfrm>
            <a:off x="6661963" y="4390609"/>
            <a:ext cx="3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mj-lt"/>
                <a:ea typeface="+mj-ea"/>
              </a:rPr>
              <a:t>(c)</a:t>
            </a:r>
          </a:p>
        </p:txBody>
      </p:sp>
      <p:sp>
        <p:nvSpPr>
          <p:cNvPr id="47" name="Text Box 113"/>
          <p:cNvSpPr txBox="1">
            <a:spLocks noChangeArrowheads="1"/>
          </p:cNvSpPr>
          <p:nvPr/>
        </p:nvSpPr>
        <p:spPr bwMode="auto">
          <a:xfrm>
            <a:off x="5946357" y="1278925"/>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1400" b="1" dirty="0">
                <a:solidFill>
                  <a:srgbClr val="C00000"/>
                </a:solidFill>
                <a:latin typeface="+mj-lt"/>
                <a:ea typeface="+mj-ea"/>
              </a:rPr>
              <a:t>五层协议的体系结构</a:t>
            </a:r>
          </a:p>
        </p:txBody>
      </p:sp>
      <p:cxnSp>
        <p:nvCxnSpPr>
          <p:cNvPr id="3" name="直接连接符 2"/>
          <p:cNvCxnSpPr>
            <a:cxnSpLocks/>
            <a:stCxn id="71" idx="5"/>
            <a:endCxn id="55" idx="2"/>
          </p:cNvCxnSpPr>
          <p:nvPr/>
        </p:nvCxnSpPr>
        <p:spPr>
          <a:xfrm flipV="1">
            <a:off x="5356082" y="3499202"/>
            <a:ext cx="770387" cy="21600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51" name="直接连接符 50"/>
          <p:cNvCxnSpPr>
            <a:cxnSpLocks/>
            <a:stCxn id="70" idx="5"/>
            <a:endCxn id="49" idx="2"/>
          </p:cNvCxnSpPr>
          <p:nvPr/>
        </p:nvCxnSpPr>
        <p:spPr>
          <a:xfrm>
            <a:off x="5356082" y="4039202"/>
            <a:ext cx="770387" cy="10800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58" name="组合 57">
            <a:extLst>
              <a:ext uri="{FF2B5EF4-FFF2-40B4-BE49-F238E27FC236}">
                <a16:creationId xmlns:a16="http://schemas.microsoft.com/office/drawing/2014/main" id="{BC86FE06-9646-EAF4-9B36-BA9B16F9073B}"/>
              </a:ext>
            </a:extLst>
          </p:cNvPr>
          <p:cNvGrpSpPr/>
          <p:nvPr/>
        </p:nvGrpSpPr>
        <p:grpSpPr>
          <a:xfrm>
            <a:off x="6126469" y="2581202"/>
            <a:ext cx="1440000" cy="1728000"/>
            <a:chOff x="6301911" y="2124000"/>
            <a:chExt cx="1440000" cy="1728000"/>
          </a:xfrm>
        </p:grpSpPr>
        <p:sp>
          <p:nvSpPr>
            <p:cNvPr id="49" name="立方体 48">
              <a:extLst>
                <a:ext uri="{FF2B5EF4-FFF2-40B4-BE49-F238E27FC236}">
                  <a16:creationId xmlns:a16="http://schemas.microsoft.com/office/drawing/2014/main" id="{59DC3CC2-62B6-5FAA-A431-4390F2D5881B}"/>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50" name="立方体 49">
              <a:extLst>
                <a:ext uri="{FF2B5EF4-FFF2-40B4-BE49-F238E27FC236}">
                  <a16:creationId xmlns:a16="http://schemas.microsoft.com/office/drawing/2014/main" id="{87A99BB4-DE79-1BFE-58CF-994D9DE1B91A}"/>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55" name="立方体 54">
              <a:extLst>
                <a:ext uri="{FF2B5EF4-FFF2-40B4-BE49-F238E27FC236}">
                  <a16:creationId xmlns:a16="http://schemas.microsoft.com/office/drawing/2014/main" id="{C92BBDDF-7C00-F7A7-0440-DCFDF1B6612B}"/>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56" name="立方体 55">
              <a:extLst>
                <a:ext uri="{FF2B5EF4-FFF2-40B4-BE49-F238E27FC236}">
                  <a16:creationId xmlns:a16="http://schemas.microsoft.com/office/drawing/2014/main" id="{594DEA9F-0002-315B-CA79-A3C8B765228D}"/>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57" name="立方体 56">
              <a:extLst>
                <a:ext uri="{FF2B5EF4-FFF2-40B4-BE49-F238E27FC236}">
                  <a16:creationId xmlns:a16="http://schemas.microsoft.com/office/drawing/2014/main" id="{BF6403B9-DA4D-104F-5F4E-BC410BF78047}"/>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
        <p:nvSpPr>
          <p:cNvPr id="60" name="立方体 59">
            <a:extLst>
              <a:ext uri="{FF2B5EF4-FFF2-40B4-BE49-F238E27FC236}">
                <a16:creationId xmlns:a16="http://schemas.microsoft.com/office/drawing/2014/main" id="{7D5805BB-488C-0A77-D090-083D16027013}"/>
              </a:ext>
            </a:extLst>
          </p:cNvPr>
          <p:cNvSpPr/>
          <p:nvPr/>
        </p:nvSpPr>
        <p:spPr>
          <a:xfrm>
            <a:off x="1521215" y="3877202"/>
            <a:ext cx="1440000" cy="432000"/>
          </a:xfrm>
          <a:prstGeom prst="cube">
            <a:avLst/>
          </a:prstGeom>
          <a:solidFill>
            <a:srgbClr val="85D1F7"/>
          </a:solidFill>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tx1"/>
                </a:solidFill>
              </a:rPr>
              <a:t>1 </a:t>
            </a:r>
            <a:r>
              <a:rPr lang="zh-CN" altLang="en-US" sz="1200" dirty="0">
                <a:solidFill>
                  <a:schemeClr val="tx1"/>
                </a:solidFill>
              </a:rPr>
              <a:t>物理层</a:t>
            </a:r>
          </a:p>
        </p:txBody>
      </p:sp>
      <p:sp>
        <p:nvSpPr>
          <p:cNvPr id="61" name="立方体 60">
            <a:extLst>
              <a:ext uri="{FF2B5EF4-FFF2-40B4-BE49-F238E27FC236}">
                <a16:creationId xmlns:a16="http://schemas.microsoft.com/office/drawing/2014/main" id="{183DBE49-549A-503A-753D-A72CAF5AFC80}"/>
              </a:ext>
            </a:extLst>
          </p:cNvPr>
          <p:cNvSpPr/>
          <p:nvPr/>
        </p:nvSpPr>
        <p:spPr>
          <a:xfrm>
            <a:off x="1521215" y="3553202"/>
            <a:ext cx="1440000" cy="432000"/>
          </a:xfrm>
          <a:prstGeom prst="cube">
            <a:avLst/>
          </a:prstGeom>
          <a:solidFill>
            <a:srgbClr val="85D1F7"/>
          </a:solidFill>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tx1"/>
                </a:solidFill>
              </a:rPr>
              <a:t>2 </a:t>
            </a:r>
            <a:r>
              <a:rPr lang="zh-CN" altLang="en-US" sz="1200" dirty="0">
                <a:solidFill>
                  <a:schemeClr val="tx1"/>
                </a:solidFill>
              </a:rPr>
              <a:t>数据链路层</a:t>
            </a:r>
          </a:p>
        </p:txBody>
      </p:sp>
      <p:sp>
        <p:nvSpPr>
          <p:cNvPr id="62" name="立方体 61">
            <a:extLst>
              <a:ext uri="{FF2B5EF4-FFF2-40B4-BE49-F238E27FC236}">
                <a16:creationId xmlns:a16="http://schemas.microsoft.com/office/drawing/2014/main" id="{C9ADC102-4717-13C6-2AE7-1D8FB1794EA8}"/>
              </a:ext>
            </a:extLst>
          </p:cNvPr>
          <p:cNvSpPr/>
          <p:nvPr/>
        </p:nvSpPr>
        <p:spPr>
          <a:xfrm>
            <a:off x="1521215" y="3229202"/>
            <a:ext cx="1440000" cy="432000"/>
          </a:xfrm>
          <a:prstGeom prst="cube">
            <a:avLst/>
          </a:prstGeom>
          <a:solidFill>
            <a:srgbClr val="85D1F7"/>
          </a:solidFill>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tx1"/>
                </a:solidFill>
              </a:rPr>
              <a:t>3 </a:t>
            </a:r>
            <a:r>
              <a:rPr lang="zh-CN" altLang="en-US" sz="1200" dirty="0">
                <a:solidFill>
                  <a:schemeClr val="tx1"/>
                </a:solidFill>
              </a:rPr>
              <a:t>网络层</a:t>
            </a:r>
          </a:p>
        </p:txBody>
      </p:sp>
      <p:sp>
        <p:nvSpPr>
          <p:cNvPr id="63" name="立方体 62">
            <a:extLst>
              <a:ext uri="{FF2B5EF4-FFF2-40B4-BE49-F238E27FC236}">
                <a16:creationId xmlns:a16="http://schemas.microsoft.com/office/drawing/2014/main" id="{C2137125-7111-B58A-256C-ED4397BCAE4F}"/>
              </a:ext>
            </a:extLst>
          </p:cNvPr>
          <p:cNvSpPr/>
          <p:nvPr/>
        </p:nvSpPr>
        <p:spPr>
          <a:xfrm>
            <a:off x="1521215" y="2905202"/>
            <a:ext cx="1440000" cy="432000"/>
          </a:xfrm>
          <a:prstGeom prst="cube">
            <a:avLst/>
          </a:prstGeom>
          <a:solidFill>
            <a:srgbClr val="85D1F7"/>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tx1"/>
                </a:solidFill>
              </a:rPr>
              <a:t>4 </a:t>
            </a:r>
            <a:r>
              <a:rPr lang="zh-CN" altLang="en-US" sz="1200" dirty="0">
                <a:solidFill>
                  <a:schemeClr val="tx1"/>
                </a:solidFill>
              </a:rPr>
              <a:t>运输层</a:t>
            </a:r>
          </a:p>
        </p:txBody>
      </p:sp>
      <p:sp>
        <p:nvSpPr>
          <p:cNvPr id="64" name="立方体 63">
            <a:extLst>
              <a:ext uri="{FF2B5EF4-FFF2-40B4-BE49-F238E27FC236}">
                <a16:creationId xmlns:a16="http://schemas.microsoft.com/office/drawing/2014/main" id="{FFCFD61A-8C10-498E-9068-AFAD5D1741FA}"/>
              </a:ext>
            </a:extLst>
          </p:cNvPr>
          <p:cNvSpPr/>
          <p:nvPr/>
        </p:nvSpPr>
        <p:spPr>
          <a:xfrm>
            <a:off x="1521215" y="2581202"/>
            <a:ext cx="1440000" cy="432000"/>
          </a:xfrm>
          <a:prstGeom prst="cube">
            <a:avLst/>
          </a:prstGeom>
          <a:solidFill>
            <a:srgbClr val="85D1F7"/>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tx1"/>
                </a:solidFill>
              </a:rPr>
              <a:t>5 </a:t>
            </a:r>
            <a:r>
              <a:rPr lang="zh-CN" altLang="en-US" sz="1200" dirty="0">
                <a:solidFill>
                  <a:schemeClr val="tx1"/>
                </a:solidFill>
              </a:rPr>
              <a:t>会话层</a:t>
            </a:r>
          </a:p>
        </p:txBody>
      </p:sp>
      <p:sp>
        <p:nvSpPr>
          <p:cNvPr id="66" name="立方体 65">
            <a:extLst>
              <a:ext uri="{FF2B5EF4-FFF2-40B4-BE49-F238E27FC236}">
                <a16:creationId xmlns:a16="http://schemas.microsoft.com/office/drawing/2014/main" id="{CA9A1BEB-272F-8ECC-8517-8652A8666D86}"/>
              </a:ext>
            </a:extLst>
          </p:cNvPr>
          <p:cNvSpPr/>
          <p:nvPr/>
        </p:nvSpPr>
        <p:spPr>
          <a:xfrm>
            <a:off x="1521215" y="2257202"/>
            <a:ext cx="1440000" cy="432000"/>
          </a:xfrm>
          <a:prstGeom prst="cube">
            <a:avLst/>
          </a:prstGeom>
          <a:solidFill>
            <a:srgbClr val="85D1F7"/>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tx1"/>
                </a:solidFill>
              </a:rPr>
              <a:t>6 </a:t>
            </a:r>
            <a:r>
              <a:rPr lang="zh-CN" altLang="en-US" sz="1200" dirty="0">
                <a:solidFill>
                  <a:schemeClr val="tx1"/>
                </a:solidFill>
              </a:rPr>
              <a:t>表示层</a:t>
            </a:r>
          </a:p>
        </p:txBody>
      </p:sp>
      <p:sp>
        <p:nvSpPr>
          <p:cNvPr id="68" name="立方体 67">
            <a:extLst>
              <a:ext uri="{FF2B5EF4-FFF2-40B4-BE49-F238E27FC236}">
                <a16:creationId xmlns:a16="http://schemas.microsoft.com/office/drawing/2014/main" id="{A1900D56-89DE-40CA-0853-84C80F665505}"/>
              </a:ext>
            </a:extLst>
          </p:cNvPr>
          <p:cNvSpPr/>
          <p:nvPr/>
        </p:nvSpPr>
        <p:spPr>
          <a:xfrm>
            <a:off x="1521215" y="1933202"/>
            <a:ext cx="1440000" cy="432000"/>
          </a:xfrm>
          <a:prstGeom prst="cube">
            <a:avLst/>
          </a:prstGeom>
          <a:solidFill>
            <a:srgbClr val="85D1F7"/>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tx1"/>
                </a:solidFill>
              </a:rPr>
              <a:t>7 </a:t>
            </a:r>
            <a:r>
              <a:rPr lang="zh-CN" altLang="en-US" sz="1200" dirty="0">
                <a:solidFill>
                  <a:schemeClr val="tx1"/>
                </a:solidFill>
              </a:rPr>
              <a:t>应用层</a:t>
            </a:r>
          </a:p>
        </p:txBody>
      </p:sp>
      <p:grpSp>
        <p:nvGrpSpPr>
          <p:cNvPr id="69" name="组合 68">
            <a:extLst>
              <a:ext uri="{FF2B5EF4-FFF2-40B4-BE49-F238E27FC236}">
                <a16:creationId xmlns:a16="http://schemas.microsoft.com/office/drawing/2014/main" id="{6198445F-6922-7845-2B01-F74D7EF6973D}"/>
              </a:ext>
            </a:extLst>
          </p:cNvPr>
          <p:cNvGrpSpPr/>
          <p:nvPr/>
        </p:nvGrpSpPr>
        <p:grpSpPr>
          <a:xfrm>
            <a:off x="3916082" y="2905202"/>
            <a:ext cx="1440000" cy="1404000"/>
            <a:chOff x="6301911" y="2448000"/>
            <a:chExt cx="1440000" cy="1404000"/>
          </a:xfrm>
          <a:solidFill>
            <a:srgbClr val="7CE07C"/>
          </a:solidFill>
        </p:grpSpPr>
        <p:sp>
          <p:nvSpPr>
            <p:cNvPr id="70" name="立方体 69">
              <a:extLst>
                <a:ext uri="{FF2B5EF4-FFF2-40B4-BE49-F238E27FC236}">
                  <a16:creationId xmlns:a16="http://schemas.microsoft.com/office/drawing/2014/main" id="{30ECAEA8-08AC-FCFB-B1DB-9BD34875C41A}"/>
                </a:ext>
              </a:extLst>
            </p:cNvPr>
            <p:cNvSpPr/>
            <p:nvPr/>
          </p:nvSpPr>
          <p:spPr>
            <a:xfrm>
              <a:off x="6301911" y="3420000"/>
              <a:ext cx="1440000" cy="432000"/>
            </a:xfrm>
            <a:prstGeom prst="cube">
              <a:avLst/>
            </a:prstGeom>
            <a:grpFill/>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ysClr val="windowText" lastClr="000000"/>
                  </a:solidFill>
                </a:rPr>
                <a:t>1 </a:t>
              </a:r>
              <a:r>
                <a:rPr lang="zh-CN" altLang="en-US" sz="1200" dirty="0">
                  <a:solidFill>
                    <a:sysClr val="windowText" lastClr="000000"/>
                  </a:solidFill>
                </a:rPr>
                <a:t>网络接口层</a:t>
              </a:r>
            </a:p>
          </p:txBody>
        </p:sp>
        <p:sp>
          <p:nvSpPr>
            <p:cNvPr id="71" name="立方体 70">
              <a:extLst>
                <a:ext uri="{FF2B5EF4-FFF2-40B4-BE49-F238E27FC236}">
                  <a16:creationId xmlns:a16="http://schemas.microsoft.com/office/drawing/2014/main" id="{A92A4C55-25F4-B332-CF0C-F146FF7F8109}"/>
                </a:ext>
              </a:extLst>
            </p:cNvPr>
            <p:cNvSpPr/>
            <p:nvPr/>
          </p:nvSpPr>
          <p:spPr>
            <a:xfrm>
              <a:off x="6301911" y="3096000"/>
              <a:ext cx="1440000" cy="432000"/>
            </a:xfrm>
            <a:prstGeom prst="cube">
              <a:avLst/>
            </a:prstGeom>
            <a:grpFill/>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ysClr val="windowText" lastClr="000000"/>
                  </a:solidFill>
                </a:rPr>
                <a:t>2 </a:t>
              </a:r>
              <a:r>
                <a:rPr lang="zh-CN" altLang="en-US" sz="1200" dirty="0">
                  <a:solidFill>
                    <a:sysClr val="windowText" lastClr="000000"/>
                  </a:solidFill>
                </a:rPr>
                <a:t>网际层</a:t>
              </a:r>
            </a:p>
          </p:txBody>
        </p:sp>
        <p:sp>
          <p:nvSpPr>
            <p:cNvPr id="72" name="立方体 71">
              <a:extLst>
                <a:ext uri="{FF2B5EF4-FFF2-40B4-BE49-F238E27FC236}">
                  <a16:creationId xmlns:a16="http://schemas.microsoft.com/office/drawing/2014/main" id="{2047D5C2-3AAD-52D4-5D71-391DE0D4F894}"/>
                </a:ext>
              </a:extLst>
            </p:cNvPr>
            <p:cNvSpPr/>
            <p:nvPr/>
          </p:nvSpPr>
          <p:spPr>
            <a:xfrm>
              <a:off x="6301911" y="2772000"/>
              <a:ext cx="1440000" cy="432000"/>
            </a:xfrm>
            <a:prstGeom prst="cube">
              <a:avLst/>
            </a:prstGeom>
            <a:grpFill/>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ysClr val="windowText" lastClr="000000"/>
                  </a:solidFill>
                </a:rPr>
                <a:t>3 </a:t>
              </a:r>
              <a:r>
                <a:rPr lang="zh-CN" altLang="en-US" sz="1200" dirty="0">
                  <a:solidFill>
                    <a:sysClr val="windowText" lastClr="000000"/>
                  </a:solidFill>
                </a:rPr>
                <a:t>运输层</a:t>
              </a:r>
            </a:p>
          </p:txBody>
        </p:sp>
        <p:sp>
          <p:nvSpPr>
            <p:cNvPr id="73" name="立方体 72">
              <a:extLst>
                <a:ext uri="{FF2B5EF4-FFF2-40B4-BE49-F238E27FC236}">
                  <a16:creationId xmlns:a16="http://schemas.microsoft.com/office/drawing/2014/main" id="{8515AD8E-23EA-A522-E6D2-E90E0C6AF123}"/>
                </a:ext>
              </a:extLst>
            </p:cNvPr>
            <p:cNvSpPr/>
            <p:nvPr/>
          </p:nvSpPr>
          <p:spPr>
            <a:xfrm>
              <a:off x="6301911" y="2448000"/>
              <a:ext cx="1440000" cy="432000"/>
            </a:xfrm>
            <a:prstGeom prst="cube">
              <a:avLst/>
            </a:prstGeom>
            <a:grp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ysClr val="windowText" lastClr="000000"/>
                  </a:solidFill>
                </a:rPr>
                <a:t>4 </a:t>
              </a:r>
              <a:r>
                <a:rPr lang="zh-CN" altLang="en-US" sz="1200" dirty="0">
                  <a:solidFill>
                    <a:sysClr val="windowText" lastClr="000000"/>
                  </a:solidFill>
                </a:rPr>
                <a:t>应用层</a:t>
              </a:r>
            </a:p>
          </p:txBody>
        </p:sp>
      </p:grpSp>
    </p:spTree>
    <p:extLst>
      <p:ext uri="{BB962C8B-B14F-4D97-AF65-F5344CB8AC3E}">
        <p14:creationId xmlns:p14="http://schemas.microsoft.com/office/powerpoint/2010/main" val="41903863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线形标注 1 9"/>
          <p:cNvSpPr/>
          <p:nvPr/>
        </p:nvSpPr>
        <p:spPr>
          <a:xfrm>
            <a:off x="3238418" y="1435161"/>
            <a:ext cx="5079413" cy="2677123"/>
          </a:xfrm>
          <a:prstGeom prst="borderCallout1">
            <a:avLst>
              <a:gd name="adj1" fmla="val 48825"/>
              <a:gd name="adj2" fmla="val -498"/>
              <a:gd name="adj3" fmla="val 33940"/>
              <a:gd name="adj4" fmla="val -21809"/>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a:spcAft>
                <a:spcPts val="600"/>
              </a:spcAft>
            </a:pPr>
            <a:r>
              <a:rPr lang="en-US" altLang="zh-CN" sz="1600" dirty="0"/>
              <a:t>Application Layer</a:t>
            </a:r>
          </a:p>
          <a:p>
            <a:pPr>
              <a:spcAft>
                <a:spcPts val="600"/>
              </a:spcAft>
            </a:pPr>
            <a:r>
              <a:rPr lang="zh-CN" altLang="en-US" sz="1600" dirty="0"/>
              <a:t>任务：通过应用进程间的交互来完成特定网络应用</a:t>
            </a:r>
          </a:p>
          <a:p>
            <a:pPr>
              <a:spcAft>
                <a:spcPts val="600"/>
              </a:spcAft>
            </a:pPr>
            <a:r>
              <a:rPr lang="zh-CN" altLang="en-US" sz="1600" dirty="0"/>
              <a:t>协议：定义的是应用进程间通信和交互的规则</a:t>
            </a:r>
          </a:p>
          <a:p>
            <a:pPr>
              <a:spcAft>
                <a:spcPts val="600"/>
              </a:spcAft>
            </a:pPr>
            <a:r>
              <a:rPr lang="zh-CN" altLang="en-US" sz="1600" dirty="0"/>
              <a:t>数据：数据单元称为报文</a:t>
            </a:r>
            <a:r>
              <a:rPr lang="en-US" altLang="zh-CN" sz="1600" dirty="0"/>
              <a:t> message</a:t>
            </a:r>
          </a:p>
          <a:p>
            <a:pPr>
              <a:spcAft>
                <a:spcPts val="600"/>
              </a:spcAft>
            </a:pPr>
            <a:r>
              <a:rPr lang="zh-CN" altLang="en-US" sz="1600" dirty="0"/>
              <a:t>示例：</a:t>
            </a:r>
            <a:r>
              <a:rPr lang="en-US" altLang="zh-CN" sz="1600" dirty="0"/>
              <a:t>DNS</a:t>
            </a:r>
            <a:r>
              <a:rPr lang="zh-CN" altLang="en-US" sz="1600" dirty="0"/>
              <a:t>，</a:t>
            </a:r>
            <a:r>
              <a:rPr lang="en-US" altLang="zh-CN" sz="1600" dirty="0"/>
              <a:t>HTTP</a:t>
            </a:r>
            <a:r>
              <a:rPr lang="zh-CN" altLang="en-US" sz="1600" dirty="0"/>
              <a:t>，</a:t>
            </a:r>
            <a:r>
              <a:rPr lang="en-US" altLang="zh-CN" sz="1600" dirty="0"/>
              <a:t>SMTP</a:t>
            </a:r>
          </a:p>
          <a:p>
            <a:pPr>
              <a:spcAft>
                <a:spcPts val="600"/>
              </a:spcAft>
            </a:pPr>
            <a:endParaRPr lang="zh-CN" altLang="en-US" sz="1600" dirty="0"/>
          </a:p>
        </p:txBody>
      </p:sp>
      <p:sp>
        <p:nvSpPr>
          <p:cNvPr id="7" name="标题 6">
            <a:extLst>
              <a:ext uri="{FF2B5EF4-FFF2-40B4-BE49-F238E27FC236}">
                <a16:creationId xmlns:a16="http://schemas.microsoft.com/office/drawing/2014/main" id="{8D957980-DEB5-28BE-26AE-CE8344427D07}"/>
              </a:ext>
            </a:extLst>
          </p:cNvPr>
          <p:cNvSpPr>
            <a:spLocks noGrp="1"/>
          </p:cNvSpPr>
          <p:nvPr>
            <p:ph type="title"/>
          </p:nvPr>
        </p:nvSpPr>
        <p:spPr>
          <a:xfrm>
            <a:off x="612000" y="144000"/>
            <a:ext cx="7920000" cy="341632"/>
          </a:xfrm>
        </p:spPr>
        <p:txBody>
          <a:bodyPr/>
          <a:lstStyle/>
          <a:p>
            <a:r>
              <a:rPr lang="zh-CN" altLang="en-US" dirty="0"/>
              <a:t>各层的主要功能</a:t>
            </a:r>
          </a:p>
        </p:txBody>
      </p:sp>
      <p:grpSp>
        <p:nvGrpSpPr>
          <p:cNvPr id="16" name="组合 15">
            <a:extLst>
              <a:ext uri="{FF2B5EF4-FFF2-40B4-BE49-F238E27FC236}">
                <a16:creationId xmlns:a16="http://schemas.microsoft.com/office/drawing/2014/main" id="{AB489CEE-09FF-C6A0-E71E-E716C1264458}"/>
              </a:ext>
            </a:extLst>
          </p:cNvPr>
          <p:cNvGrpSpPr/>
          <p:nvPr/>
        </p:nvGrpSpPr>
        <p:grpSpPr>
          <a:xfrm>
            <a:off x="701211" y="2160000"/>
            <a:ext cx="1440000" cy="1728000"/>
            <a:chOff x="6301911" y="2124000"/>
            <a:chExt cx="1440000" cy="1728000"/>
          </a:xfrm>
        </p:grpSpPr>
        <p:sp>
          <p:nvSpPr>
            <p:cNvPr id="17" name="立方体 16">
              <a:extLst>
                <a:ext uri="{FF2B5EF4-FFF2-40B4-BE49-F238E27FC236}">
                  <a16:creationId xmlns:a16="http://schemas.microsoft.com/office/drawing/2014/main" id="{CB8D9093-84EF-09F5-37DB-C9AF6A9C85B3}"/>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18" name="立方体 17">
              <a:extLst>
                <a:ext uri="{FF2B5EF4-FFF2-40B4-BE49-F238E27FC236}">
                  <a16:creationId xmlns:a16="http://schemas.microsoft.com/office/drawing/2014/main" id="{9812778D-676B-0A4A-66B9-DA9FB0CAC940}"/>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19" name="立方体 18">
              <a:extLst>
                <a:ext uri="{FF2B5EF4-FFF2-40B4-BE49-F238E27FC236}">
                  <a16:creationId xmlns:a16="http://schemas.microsoft.com/office/drawing/2014/main" id="{9A3852AA-E7E2-5604-81E0-8850B62A4981}"/>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20" name="立方体 19">
              <a:extLst>
                <a:ext uri="{FF2B5EF4-FFF2-40B4-BE49-F238E27FC236}">
                  <a16:creationId xmlns:a16="http://schemas.microsoft.com/office/drawing/2014/main" id="{4D4BD085-008F-E37C-5AE2-01292206F2BE}"/>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21" name="立方体 20">
              <a:extLst>
                <a:ext uri="{FF2B5EF4-FFF2-40B4-BE49-F238E27FC236}">
                  <a16:creationId xmlns:a16="http://schemas.microsoft.com/office/drawing/2014/main" id="{E5F62502-CACB-A9E8-8176-AC5E75B63D9A}"/>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Tree>
    <p:extLst>
      <p:ext uri="{BB962C8B-B14F-4D97-AF65-F5344CB8AC3E}">
        <p14:creationId xmlns:p14="http://schemas.microsoft.com/office/powerpoint/2010/main" val="10344065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线形标注 1 9"/>
          <p:cNvSpPr/>
          <p:nvPr/>
        </p:nvSpPr>
        <p:spPr>
          <a:xfrm>
            <a:off x="3238418" y="1435161"/>
            <a:ext cx="5079413" cy="2677123"/>
          </a:xfrm>
          <a:prstGeom prst="borderCallout1">
            <a:avLst>
              <a:gd name="adj1" fmla="val 47820"/>
              <a:gd name="adj2" fmla="val -498"/>
              <a:gd name="adj3" fmla="val 45616"/>
              <a:gd name="adj4" fmla="val -21677"/>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a:spcAft>
                <a:spcPts val="600"/>
              </a:spcAft>
            </a:pPr>
            <a:r>
              <a:rPr lang="en-US" altLang="zh-CN" sz="1600" dirty="0"/>
              <a:t>Transportation Layer</a:t>
            </a:r>
          </a:p>
          <a:p>
            <a:pPr>
              <a:spcAft>
                <a:spcPts val="600"/>
              </a:spcAft>
            </a:pPr>
            <a:r>
              <a:rPr lang="zh-CN" altLang="en-US" sz="1600" dirty="0"/>
              <a:t>任务：负责向两台主机中进程之间的通信提供通用的数据传输服务；具有复用和分用的功能</a:t>
            </a:r>
          </a:p>
          <a:p>
            <a:pPr>
              <a:spcAft>
                <a:spcPts val="600"/>
              </a:spcAft>
            </a:pPr>
            <a:r>
              <a:rPr lang="zh-CN" altLang="en-US" sz="1600" dirty="0"/>
              <a:t>主要使用两种协议： </a:t>
            </a:r>
          </a:p>
          <a:p>
            <a:pPr marL="360000" lvl="1" indent="-180000">
              <a:spcAft>
                <a:spcPts val="600"/>
              </a:spcAft>
              <a:buFont typeface="Arial" panose="020B0604020202020204" pitchFamily="34" charset="0"/>
              <a:buChar char="•"/>
            </a:pPr>
            <a:r>
              <a:rPr lang="zh-CN" altLang="en-US" sz="1400" dirty="0"/>
              <a:t>传输控制协议 </a:t>
            </a:r>
            <a:r>
              <a:rPr lang="en-US" altLang="zh-CN" sz="1400" dirty="0"/>
              <a:t>TCP(Transmission Control Protocol</a:t>
            </a:r>
            <a:r>
              <a:rPr lang="zh-CN" altLang="en-US" sz="1400" dirty="0"/>
              <a:t>，提供面向连接的、可靠的数据传输服务；数据单元称为报文段  </a:t>
            </a:r>
            <a:r>
              <a:rPr lang="en-US" altLang="zh-CN" sz="1400" dirty="0"/>
              <a:t>segment</a:t>
            </a:r>
          </a:p>
          <a:p>
            <a:pPr marL="360000" lvl="1" indent="-180000">
              <a:spcAft>
                <a:spcPts val="600"/>
              </a:spcAft>
              <a:buFont typeface="Arial" panose="020B0604020202020204" pitchFamily="34" charset="0"/>
              <a:buChar char="•"/>
            </a:pPr>
            <a:r>
              <a:rPr lang="zh-CN" altLang="en-US" sz="1400" dirty="0"/>
              <a:t>用户数据报协议 </a:t>
            </a:r>
            <a:r>
              <a:rPr lang="en-US" altLang="zh-CN" sz="1400" dirty="0"/>
              <a:t>UDP (User Datagram Protocol)</a:t>
            </a:r>
            <a:r>
              <a:rPr lang="zh-CN" altLang="en-US" sz="1400" dirty="0"/>
              <a:t>：提供无连接的尽最大努力 </a:t>
            </a:r>
            <a:r>
              <a:rPr lang="en-US" altLang="zh-CN" sz="1400" dirty="0"/>
              <a:t>(best-effort) </a:t>
            </a:r>
            <a:r>
              <a:rPr lang="zh-CN" altLang="en-US" sz="1400" dirty="0"/>
              <a:t>的数据传输服务；不保证数据传输的可靠性；数据单元称为用户数据报</a:t>
            </a:r>
          </a:p>
          <a:p>
            <a:pPr marL="360000" lvl="1" indent="-180000">
              <a:spcAft>
                <a:spcPts val="600"/>
              </a:spcAft>
              <a:buFont typeface="Arial" panose="020B0604020202020204" pitchFamily="34" charset="0"/>
              <a:buChar char="•"/>
            </a:pPr>
            <a:endParaRPr lang="zh-CN" altLang="en-US" sz="1400" dirty="0"/>
          </a:p>
          <a:p>
            <a:pPr>
              <a:spcAft>
                <a:spcPts val="600"/>
              </a:spcAft>
            </a:pPr>
            <a:endParaRPr lang="en-US" altLang="zh-CN" sz="1600" dirty="0"/>
          </a:p>
          <a:p>
            <a:pPr>
              <a:spcAft>
                <a:spcPts val="600"/>
              </a:spcAft>
            </a:pPr>
            <a:endParaRPr lang="zh-CN" altLang="en-US" sz="1600" dirty="0"/>
          </a:p>
        </p:txBody>
      </p:sp>
      <p:sp>
        <p:nvSpPr>
          <p:cNvPr id="3" name="标题 2">
            <a:extLst>
              <a:ext uri="{FF2B5EF4-FFF2-40B4-BE49-F238E27FC236}">
                <a16:creationId xmlns:a16="http://schemas.microsoft.com/office/drawing/2014/main" id="{BAA59E39-1737-70C6-9E06-D3CB97F457DD}"/>
              </a:ext>
            </a:extLst>
          </p:cNvPr>
          <p:cNvSpPr>
            <a:spLocks noGrp="1"/>
          </p:cNvSpPr>
          <p:nvPr>
            <p:ph type="title"/>
          </p:nvPr>
        </p:nvSpPr>
        <p:spPr>
          <a:xfrm>
            <a:off x="612000" y="144000"/>
            <a:ext cx="7920000" cy="341632"/>
          </a:xfrm>
        </p:spPr>
        <p:txBody>
          <a:bodyPr/>
          <a:lstStyle/>
          <a:p>
            <a:r>
              <a:rPr lang="zh-CN" altLang="en-US" dirty="0"/>
              <a:t>各层的主要功能</a:t>
            </a:r>
          </a:p>
        </p:txBody>
      </p:sp>
      <p:grpSp>
        <p:nvGrpSpPr>
          <p:cNvPr id="15" name="组合 14">
            <a:extLst>
              <a:ext uri="{FF2B5EF4-FFF2-40B4-BE49-F238E27FC236}">
                <a16:creationId xmlns:a16="http://schemas.microsoft.com/office/drawing/2014/main" id="{625F216E-B933-8BAD-C87F-F48A448C05F0}"/>
              </a:ext>
            </a:extLst>
          </p:cNvPr>
          <p:cNvGrpSpPr/>
          <p:nvPr/>
        </p:nvGrpSpPr>
        <p:grpSpPr>
          <a:xfrm>
            <a:off x="701211" y="2160000"/>
            <a:ext cx="1440000" cy="1728000"/>
            <a:chOff x="6301911" y="2124000"/>
            <a:chExt cx="1440000" cy="1728000"/>
          </a:xfrm>
        </p:grpSpPr>
        <p:sp>
          <p:nvSpPr>
            <p:cNvPr id="16" name="立方体 15">
              <a:extLst>
                <a:ext uri="{FF2B5EF4-FFF2-40B4-BE49-F238E27FC236}">
                  <a16:creationId xmlns:a16="http://schemas.microsoft.com/office/drawing/2014/main" id="{0C91B90A-B2D5-ED6A-DE72-F1B7005A3AD0}"/>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17" name="立方体 16">
              <a:extLst>
                <a:ext uri="{FF2B5EF4-FFF2-40B4-BE49-F238E27FC236}">
                  <a16:creationId xmlns:a16="http://schemas.microsoft.com/office/drawing/2014/main" id="{87D1E3EB-F680-5DEB-2F81-01BBCEDB061F}"/>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18" name="立方体 17">
              <a:extLst>
                <a:ext uri="{FF2B5EF4-FFF2-40B4-BE49-F238E27FC236}">
                  <a16:creationId xmlns:a16="http://schemas.microsoft.com/office/drawing/2014/main" id="{77C6C904-74B2-02BD-D3DD-ED3409B13D7C}"/>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19" name="立方体 18">
              <a:extLst>
                <a:ext uri="{FF2B5EF4-FFF2-40B4-BE49-F238E27FC236}">
                  <a16:creationId xmlns:a16="http://schemas.microsoft.com/office/drawing/2014/main" id="{1DA32AF8-8FEC-DC21-6A46-A09827DFB518}"/>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20" name="立方体 19">
              <a:extLst>
                <a:ext uri="{FF2B5EF4-FFF2-40B4-BE49-F238E27FC236}">
                  <a16:creationId xmlns:a16="http://schemas.microsoft.com/office/drawing/2014/main" id="{DE55B745-C2BA-FD91-1E2D-5BE67D300942}"/>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Tree>
    <p:extLst>
      <p:ext uri="{BB962C8B-B14F-4D97-AF65-F5344CB8AC3E}">
        <p14:creationId xmlns:p14="http://schemas.microsoft.com/office/powerpoint/2010/main" val="28359761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线形标注 1 9"/>
          <p:cNvSpPr/>
          <p:nvPr/>
        </p:nvSpPr>
        <p:spPr>
          <a:xfrm>
            <a:off x="3238418" y="1435161"/>
            <a:ext cx="5079413" cy="2677123"/>
          </a:xfrm>
          <a:prstGeom prst="borderCallout1">
            <a:avLst>
              <a:gd name="adj1" fmla="val 48217"/>
              <a:gd name="adj2" fmla="val 189"/>
              <a:gd name="adj3" fmla="val 57438"/>
              <a:gd name="adj4" fmla="val -21279"/>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a:spcAft>
                <a:spcPts val="600"/>
              </a:spcAft>
            </a:pPr>
            <a:r>
              <a:rPr lang="en-US" altLang="zh-CN" sz="1600" dirty="0"/>
              <a:t>Network Layer</a:t>
            </a:r>
            <a:r>
              <a:rPr lang="zh-CN" altLang="en-US" sz="1600" dirty="0"/>
              <a:t>；也叫网际层</a:t>
            </a:r>
            <a:endParaRPr lang="en-US" altLang="zh-CN" sz="1600" dirty="0"/>
          </a:p>
          <a:p>
            <a:pPr>
              <a:spcAft>
                <a:spcPts val="600"/>
              </a:spcAft>
            </a:pPr>
            <a:r>
              <a:rPr lang="zh-CN" altLang="en-US" sz="1600" dirty="0"/>
              <a:t>使用</a:t>
            </a:r>
            <a:r>
              <a:rPr lang="en-US" altLang="zh-CN" sz="1600" dirty="0"/>
              <a:t>IP </a:t>
            </a:r>
            <a:r>
              <a:rPr lang="zh-CN" altLang="en-US" sz="1600" dirty="0"/>
              <a:t>协议</a:t>
            </a:r>
            <a:r>
              <a:rPr lang="en-US" altLang="zh-CN" sz="1600" dirty="0"/>
              <a:t>(Internet Protocol)</a:t>
            </a:r>
            <a:r>
              <a:rPr lang="zh-CN" altLang="en-US" sz="1600" dirty="0"/>
              <a:t>和其它协议为分组交换网上的不同主机提供通信服务</a:t>
            </a:r>
            <a:endParaRPr lang="en-US" altLang="zh-CN" sz="1600" dirty="0"/>
          </a:p>
          <a:p>
            <a:pPr>
              <a:spcAft>
                <a:spcPts val="600"/>
              </a:spcAft>
            </a:pPr>
            <a:r>
              <a:rPr lang="en-US" altLang="zh-CN" sz="1600" dirty="0"/>
              <a:t>IP </a:t>
            </a:r>
            <a:r>
              <a:rPr lang="zh-CN" altLang="en-US" sz="1600" dirty="0"/>
              <a:t>协议分组也叫做 </a:t>
            </a:r>
            <a:r>
              <a:rPr lang="en-US" altLang="zh-CN" sz="1600" dirty="0"/>
              <a:t>IP </a:t>
            </a:r>
            <a:r>
              <a:rPr lang="zh-CN" altLang="en-US" sz="1600" dirty="0"/>
              <a:t>数据报，或简称为数据报</a:t>
            </a:r>
          </a:p>
          <a:p>
            <a:pPr>
              <a:spcAft>
                <a:spcPts val="600"/>
              </a:spcAft>
            </a:pPr>
            <a:r>
              <a:rPr lang="zh-CN" altLang="en-US" sz="1600" dirty="0"/>
              <a:t>两个具体任务：</a:t>
            </a:r>
            <a:endParaRPr lang="en-US" altLang="zh-CN" sz="1600" dirty="0"/>
          </a:p>
          <a:p>
            <a:pPr marL="360000" lvl="1" indent="-180000">
              <a:spcAft>
                <a:spcPts val="600"/>
              </a:spcAft>
              <a:buFont typeface="Arial" panose="020B0604020202020204" pitchFamily="34" charset="0"/>
              <a:buChar char="•"/>
            </a:pPr>
            <a:r>
              <a:rPr lang="zh-CN" altLang="en-US" sz="1400" dirty="0"/>
              <a:t>路由选择：通过一定的算法，在互联网中的每一个路由器上，生成一个用来转发分组的转发表</a:t>
            </a:r>
            <a:endParaRPr lang="en-US" altLang="zh-CN" sz="1400" dirty="0"/>
          </a:p>
          <a:p>
            <a:pPr marL="360000" lvl="1" indent="-180000">
              <a:spcAft>
                <a:spcPts val="600"/>
              </a:spcAft>
              <a:buFont typeface="Arial" panose="020B0604020202020204" pitchFamily="34" charset="0"/>
              <a:buChar char="•"/>
            </a:pPr>
            <a:r>
              <a:rPr lang="zh-CN" altLang="en-US" sz="1400" dirty="0"/>
              <a:t>转发：每一个路由器在接收到一个分组时，要依据转发表中指明的路径把分组转发到下一个路由器</a:t>
            </a:r>
            <a:endParaRPr lang="en-US" altLang="zh-CN" sz="1400" dirty="0"/>
          </a:p>
          <a:p>
            <a:pPr indent="-277200">
              <a:spcAft>
                <a:spcPts val="600"/>
              </a:spcAft>
              <a:buFont typeface="Arial" panose="020B0604020202020204" pitchFamily="34" charset="0"/>
              <a:buChar char="•"/>
            </a:pPr>
            <a:endParaRPr lang="en-US" altLang="zh-CN" sz="1600" dirty="0"/>
          </a:p>
        </p:txBody>
      </p:sp>
      <p:sp>
        <p:nvSpPr>
          <p:cNvPr id="3" name="标题 2">
            <a:extLst>
              <a:ext uri="{FF2B5EF4-FFF2-40B4-BE49-F238E27FC236}">
                <a16:creationId xmlns:a16="http://schemas.microsoft.com/office/drawing/2014/main" id="{E6DF5E1C-6667-8EE7-0D57-488A13A37F3F}"/>
              </a:ext>
            </a:extLst>
          </p:cNvPr>
          <p:cNvSpPr>
            <a:spLocks noGrp="1"/>
          </p:cNvSpPr>
          <p:nvPr>
            <p:ph type="title"/>
          </p:nvPr>
        </p:nvSpPr>
        <p:spPr>
          <a:xfrm>
            <a:off x="612000" y="144000"/>
            <a:ext cx="7920000" cy="341632"/>
          </a:xfrm>
        </p:spPr>
        <p:txBody>
          <a:bodyPr/>
          <a:lstStyle/>
          <a:p>
            <a:r>
              <a:rPr lang="zh-CN" altLang="en-US" dirty="0"/>
              <a:t>各层的主要功能</a:t>
            </a:r>
          </a:p>
        </p:txBody>
      </p:sp>
      <p:grpSp>
        <p:nvGrpSpPr>
          <p:cNvPr id="27" name="组合 26">
            <a:extLst>
              <a:ext uri="{FF2B5EF4-FFF2-40B4-BE49-F238E27FC236}">
                <a16:creationId xmlns:a16="http://schemas.microsoft.com/office/drawing/2014/main" id="{5DAA2CCA-91A2-F988-A276-F3A9A75D3FD4}"/>
              </a:ext>
            </a:extLst>
          </p:cNvPr>
          <p:cNvGrpSpPr/>
          <p:nvPr/>
        </p:nvGrpSpPr>
        <p:grpSpPr>
          <a:xfrm>
            <a:off x="701211" y="2160000"/>
            <a:ext cx="1440000" cy="1728000"/>
            <a:chOff x="6301911" y="2124000"/>
            <a:chExt cx="1440000" cy="1728000"/>
          </a:xfrm>
        </p:grpSpPr>
        <p:sp>
          <p:nvSpPr>
            <p:cNvPr id="28" name="立方体 27">
              <a:extLst>
                <a:ext uri="{FF2B5EF4-FFF2-40B4-BE49-F238E27FC236}">
                  <a16:creationId xmlns:a16="http://schemas.microsoft.com/office/drawing/2014/main" id="{13301005-8F62-5268-BF49-50F831CEB19D}"/>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29" name="立方体 28">
              <a:extLst>
                <a:ext uri="{FF2B5EF4-FFF2-40B4-BE49-F238E27FC236}">
                  <a16:creationId xmlns:a16="http://schemas.microsoft.com/office/drawing/2014/main" id="{41DF93BC-8871-8228-E6B6-AF0CC89DE5AA}"/>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30" name="立方体 29">
              <a:extLst>
                <a:ext uri="{FF2B5EF4-FFF2-40B4-BE49-F238E27FC236}">
                  <a16:creationId xmlns:a16="http://schemas.microsoft.com/office/drawing/2014/main" id="{4EE84FC4-FCC4-47C9-E426-CF951F6F730B}"/>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31" name="立方体 30">
              <a:extLst>
                <a:ext uri="{FF2B5EF4-FFF2-40B4-BE49-F238E27FC236}">
                  <a16:creationId xmlns:a16="http://schemas.microsoft.com/office/drawing/2014/main" id="{824AC565-FF25-7EC6-5599-497A76203FF6}"/>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32" name="立方体 31">
              <a:extLst>
                <a:ext uri="{FF2B5EF4-FFF2-40B4-BE49-F238E27FC236}">
                  <a16:creationId xmlns:a16="http://schemas.microsoft.com/office/drawing/2014/main" id="{F64CDD28-3468-56AB-9C03-E8B8E0A7BF99}"/>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Tree>
    <p:extLst>
      <p:ext uri="{BB962C8B-B14F-4D97-AF65-F5344CB8AC3E}">
        <p14:creationId xmlns:p14="http://schemas.microsoft.com/office/powerpoint/2010/main" val="11700718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线形标注 1 9"/>
          <p:cNvSpPr/>
          <p:nvPr/>
        </p:nvSpPr>
        <p:spPr>
          <a:xfrm>
            <a:off x="3238418" y="1435161"/>
            <a:ext cx="5079413" cy="2677123"/>
          </a:xfrm>
          <a:prstGeom prst="borderCallout1">
            <a:avLst>
              <a:gd name="adj1" fmla="val 48217"/>
              <a:gd name="adj2" fmla="val 189"/>
              <a:gd name="adj3" fmla="val 70572"/>
              <a:gd name="adj4" fmla="val -21567"/>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a:spcAft>
                <a:spcPts val="600"/>
              </a:spcAft>
            </a:pPr>
            <a:r>
              <a:rPr lang="en-US" altLang="zh-CN" sz="1600" dirty="0"/>
              <a:t>Data Link Layer</a:t>
            </a:r>
            <a:r>
              <a:rPr lang="zh-CN" altLang="en-US" sz="1600" dirty="0"/>
              <a:t>；简称为链路层</a:t>
            </a:r>
            <a:endParaRPr lang="en-US" altLang="zh-CN" sz="1600" dirty="0"/>
          </a:p>
          <a:p>
            <a:pPr>
              <a:spcAft>
                <a:spcPts val="600"/>
              </a:spcAft>
            </a:pPr>
            <a:r>
              <a:rPr lang="zh-CN" altLang="en-US" sz="1600" dirty="0"/>
              <a:t>任务：实现两个相邻节点之间的可靠通信</a:t>
            </a:r>
            <a:endParaRPr lang="en-US" altLang="zh-CN" sz="1600" dirty="0"/>
          </a:p>
          <a:p>
            <a:pPr>
              <a:spcAft>
                <a:spcPts val="600"/>
              </a:spcAft>
            </a:pPr>
            <a:r>
              <a:rPr lang="zh-CN" altLang="en-US" sz="1600" dirty="0"/>
              <a:t>在两个相邻节点间的链路上传送帧 </a:t>
            </a:r>
            <a:r>
              <a:rPr lang="en-US" altLang="zh-CN" sz="1600" dirty="0"/>
              <a:t>frame</a:t>
            </a:r>
          </a:p>
          <a:p>
            <a:pPr>
              <a:spcAft>
                <a:spcPts val="600"/>
              </a:spcAft>
            </a:pPr>
            <a:r>
              <a:rPr lang="zh-CN" altLang="en-US" sz="1600" dirty="0"/>
              <a:t>如发现有差错，就简单地丢弃出错帧</a:t>
            </a:r>
            <a:endParaRPr lang="en-US" altLang="zh-CN" sz="1600" dirty="0"/>
          </a:p>
          <a:p>
            <a:pPr>
              <a:spcAft>
                <a:spcPts val="600"/>
              </a:spcAft>
            </a:pPr>
            <a:r>
              <a:rPr lang="zh-CN" altLang="en-US" sz="1600" dirty="0"/>
              <a:t>如果需要改正出现的差错，就要采用可靠传输协议来纠正出现的差错。这种方法会使数据链路层协议复杂</a:t>
            </a:r>
            <a:endParaRPr lang="en-US" altLang="zh-CN" sz="1600" dirty="0"/>
          </a:p>
          <a:p>
            <a:pPr>
              <a:spcAft>
                <a:spcPts val="600"/>
              </a:spcAft>
            </a:pPr>
            <a:endParaRPr lang="zh-CN" altLang="en-US" sz="1600" dirty="0"/>
          </a:p>
        </p:txBody>
      </p:sp>
      <p:sp>
        <p:nvSpPr>
          <p:cNvPr id="3" name="标题 2">
            <a:extLst>
              <a:ext uri="{FF2B5EF4-FFF2-40B4-BE49-F238E27FC236}">
                <a16:creationId xmlns:a16="http://schemas.microsoft.com/office/drawing/2014/main" id="{228325AE-42C8-89A8-2CF7-4104F6C526A9}"/>
              </a:ext>
            </a:extLst>
          </p:cNvPr>
          <p:cNvSpPr>
            <a:spLocks noGrp="1"/>
          </p:cNvSpPr>
          <p:nvPr>
            <p:ph type="title"/>
          </p:nvPr>
        </p:nvSpPr>
        <p:spPr>
          <a:xfrm>
            <a:off x="612000" y="144000"/>
            <a:ext cx="7920000" cy="341632"/>
          </a:xfrm>
        </p:spPr>
        <p:txBody>
          <a:bodyPr/>
          <a:lstStyle/>
          <a:p>
            <a:r>
              <a:rPr lang="zh-CN" altLang="en-US" dirty="0"/>
              <a:t>各层的主要功能</a:t>
            </a:r>
          </a:p>
        </p:txBody>
      </p:sp>
      <p:grpSp>
        <p:nvGrpSpPr>
          <p:cNvPr id="15" name="组合 14">
            <a:extLst>
              <a:ext uri="{FF2B5EF4-FFF2-40B4-BE49-F238E27FC236}">
                <a16:creationId xmlns:a16="http://schemas.microsoft.com/office/drawing/2014/main" id="{CDAE727E-77F8-23E3-A474-DF77871C1ADF}"/>
              </a:ext>
            </a:extLst>
          </p:cNvPr>
          <p:cNvGrpSpPr/>
          <p:nvPr/>
        </p:nvGrpSpPr>
        <p:grpSpPr>
          <a:xfrm>
            <a:off x="701211" y="2160000"/>
            <a:ext cx="1440000" cy="1728000"/>
            <a:chOff x="6301911" y="2124000"/>
            <a:chExt cx="1440000" cy="1728000"/>
          </a:xfrm>
        </p:grpSpPr>
        <p:sp>
          <p:nvSpPr>
            <p:cNvPr id="16" name="立方体 15">
              <a:extLst>
                <a:ext uri="{FF2B5EF4-FFF2-40B4-BE49-F238E27FC236}">
                  <a16:creationId xmlns:a16="http://schemas.microsoft.com/office/drawing/2014/main" id="{696BF9C3-F24B-C8B5-7528-D385E3E12E0F}"/>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17" name="立方体 16">
              <a:extLst>
                <a:ext uri="{FF2B5EF4-FFF2-40B4-BE49-F238E27FC236}">
                  <a16:creationId xmlns:a16="http://schemas.microsoft.com/office/drawing/2014/main" id="{9770E6B9-6275-AD58-9AFB-85C38296A392}"/>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18" name="立方体 17">
              <a:extLst>
                <a:ext uri="{FF2B5EF4-FFF2-40B4-BE49-F238E27FC236}">
                  <a16:creationId xmlns:a16="http://schemas.microsoft.com/office/drawing/2014/main" id="{709FC36E-27F5-BD5D-03D4-D5A43B8BE5CA}"/>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19" name="立方体 18">
              <a:extLst>
                <a:ext uri="{FF2B5EF4-FFF2-40B4-BE49-F238E27FC236}">
                  <a16:creationId xmlns:a16="http://schemas.microsoft.com/office/drawing/2014/main" id="{68780D69-A377-329D-D0BE-E55C9B9404DA}"/>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20" name="立方体 19">
              <a:extLst>
                <a:ext uri="{FF2B5EF4-FFF2-40B4-BE49-F238E27FC236}">
                  <a16:creationId xmlns:a16="http://schemas.microsoft.com/office/drawing/2014/main" id="{CA5FC4FC-8C09-FBD8-FED0-AC6447D2231D}"/>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Tree>
    <p:extLst>
      <p:ext uri="{BB962C8B-B14F-4D97-AF65-F5344CB8AC3E}">
        <p14:creationId xmlns:p14="http://schemas.microsoft.com/office/powerpoint/2010/main" val="28263363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线形标注 1 9"/>
          <p:cNvSpPr/>
          <p:nvPr/>
        </p:nvSpPr>
        <p:spPr>
          <a:xfrm>
            <a:off x="3238418" y="1435161"/>
            <a:ext cx="5079413" cy="2677123"/>
          </a:xfrm>
          <a:prstGeom prst="borderCallout1">
            <a:avLst>
              <a:gd name="adj1" fmla="val 48217"/>
              <a:gd name="adj2" fmla="val 189"/>
              <a:gd name="adj3" fmla="val 83204"/>
              <a:gd name="adj4" fmla="val -21386"/>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a:spcAft>
                <a:spcPts val="600"/>
              </a:spcAft>
            </a:pPr>
            <a:r>
              <a:rPr lang="en-US" altLang="zh-CN" sz="1600" dirty="0"/>
              <a:t>Physical Layer</a:t>
            </a:r>
          </a:p>
          <a:p>
            <a:pPr>
              <a:spcAft>
                <a:spcPts val="600"/>
              </a:spcAft>
            </a:pPr>
            <a:r>
              <a:rPr lang="zh-CN" altLang="en-US" sz="1600" dirty="0"/>
              <a:t>任务：实现比特 </a:t>
            </a:r>
            <a:r>
              <a:rPr lang="en-US" altLang="zh-CN" sz="1600" dirty="0"/>
              <a:t>0</a:t>
            </a:r>
            <a:r>
              <a:rPr lang="zh-CN" altLang="en-US" sz="1600" dirty="0"/>
              <a:t>、</a:t>
            </a:r>
            <a:r>
              <a:rPr lang="en-US" altLang="zh-CN" sz="1600" dirty="0"/>
              <a:t>1</a:t>
            </a:r>
            <a:r>
              <a:rPr lang="zh-CN" altLang="en-US" sz="1600" dirty="0"/>
              <a:t>的传输</a:t>
            </a:r>
            <a:endParaRPr lang="en-US" altLang="zh-CN" sz="1600" dirty="0"/>
          </a:p>
          <a:p>
            <a:pPr>
              <a:spcAft>
                <a:spcPts val="600"/>
              </a:spcAft>
            </a:pPr>
            <a:r>
              <a:rPr lang="zh-CN" altLang="en-US" sz="1600" dirty="0"/>
              <a:t>确定连接电缆的插头应当有多少根引脚，以及各引脚应如何连接</a:t>
            </a:r>
            <a:endParaRPr lang="en-US" altLang="zh-CN" sz="1600" dirty="0"/>
          </a:p>
          <a:p>
            <a:pPr>
              <a:spcAft>
                <a:spcPts val="600"/>
              </a:spcAft>
            </a:pPr>
            <a:r>
              <a:rPr lang="zh-CN" altLang="en-US" sz="1600" dirty="0"/>
              <a:t>注意：传递信息所利用的一些物理媒体，如双绞线、同轴电缆、光缆、无线信道等，并不在物理层协议之内，而是在物理层协议的下面</a:t>
            </a:r>
          </a:p>
        </p:txBody>
      </p:sp>
      <p:sp>
        <p:nvSpPr>
          <p:cNvPr id="3" name="标题 2">
            <a:extLst>
              <a:ext uri="{FF2B5EF4-FFF2-40B4-BE49-F238E27FC236}">
                <a16:creationId xmlns:a16="http://schemas.microsoft.com/office/drawing/2014/main" id="{4C8FA3DB-1839-F4BA-5B01-6A9D9E4D90AF}"/>
              </a:ext>
            </a:extLst>
          </p:cNvPr>
          <p:cNvSpPr>
            <a:spLocks noGrp="1"/>
          </p:cNvSpPr>
          <p:nvPr>
            <p:ph type="title"/>
          </p:nvPr>
        </p:nvSpPr>
        <p:spPr>
          <a:xfrm>
            <a:off x="612000" y="144000"/>
            <a:ext cx="7920000" cy="341632"/>
          </a:xfrm>
        </p:spPr>
        <p:txBody>
          <a:bodyPr/>
          <a:lstStyle/>
          <a:p>
            <a:r>
              <a:rPr lang="zh-CN" altLang="en-US" dirty="0"/>
              <a:t>各层的主要功能</a:t>
            </a:r>
          </a:p>
        </p:txBody>
      </p:sp>
      <p:grpSp>
        <p:nvGrpSpPr>
          <p:cNvPr id="16" name="组合 15">
            <a:extLst>
              <a:ext uri="{FF2B5EF4-FFF2-40B4-BE49-F238E27FC236}">
                <a16:creationId xmlns:a16="http://schemas.microsoft.com/office/drawing/2014/main" id="{B5513945-7FE5-8F98-CDF6-1F40290A9EE0}"/>
              </a:ext>
            </a:extLst>
          </p:cNvPr>
          <p:cNvGrpSpPr/>
          <p:nvPr/>
        </p:nvGrpSpPr>
        <p:grpSpPr>
          <a:xfrm>
            <a:off x="701211" y="2160000"/>
            <a:ext cx="1440000" cy="1728000"/>
            <a:chOff x="6301911" y="2124000"/>
            <a:chExt cx="1440000" cy="1728000"/>
          </a:xfrm>
        </p:grpSpPr>
        <p:sp>
          <p:nvSpPr>
            <p:cNvPr id="17" name="立方体 16">
              <a:extLst>
                <a:ext uri="{FF2B5EF4-FFF2-40B4-BE49-F238E27FC236}">
                  <a16:creationId xmlns:a16="http://schemas.microsoft.com/office/drawing/2014/main" id="{8CD29117-5E7C-4D5A-FF3A-6D8364BACEF9}"/>
                </a:ext>
              </a:extLst>
            </p:cNvPr>
            <p:cNvSpPr/>
            <p:nvPr/>
          </p:nvSpPr>
          <p:spPr>
            <a:xfrm>
              <a:off x="6301911" y="3420000"/>
              <a:ext cx="144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chemeClr val="bg1"/>
                  </a:solidFill>
                </a:rPr>
                <a:t>1 </a:t>
              </a:r>
              <a:r>
                <a:rPr lang="zh-CN" altLang="en-US" sz="1200" dirty="0">
                  <a:solidFill>
                    <a:schemeClr val="bg1"/>
                  </a:solidFill>
                </a:rPr>
                <a:t>物理层</a:t>
              </a:r>
            </a:p>
          </p:txBody>
        </p:sp>
        <p:sp>
          <p:nvSpPr>
            <p:cNvPr id="18" name="立方体 17">
              <a:extLst>
                <a:ext uri="{FF2B5EF4-FFF2-40B4-BE49-F238E27FC236}">
                  <a16:creationId xmlns:a16="http://schemas.microsoft.com/office/drawing/2014/main" id="{6EB3D805-A946-CC54-4BF0-F31D04DFAB9D}"/>
                </a:ext>
              </a:extLst>
            </p:cNvPr>
            <p:cNvSpPr/>
            <p:nvPr/>
          </p:nvSpPr>
          <p:spPr>
            <a:xfrm>
              <a:off x="6301911" y="3096000"/>
              <a:ext cx="144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chemeClr val="bg1"/>
                  </a:solidFill>
                </a:rPr>
                <a:t>2 </a:t>
              </a:r>
              <a:r>
                <a:rPr lang="zh-CN" altLang="en-US" sz="1200" dirty="0">
                  <a:solidFill>
                    <a:schemeClr val="bg1"/>
                  </a:solidFill>
                </a:rPr>
                <a:t>数据链路层</a:t>
              </a:r>
            </a:p>
          </p:txBody>
        </p:sp>
        <p:sp>
          <p:nvSpPr>
            <p:cNvPr id="19" name="立方体 18">
              <a:extLst>
                <a:ext uri="{FF2B5EF4-FFF2-40B4-BE49-F238E27FC236}">
                  <a16:creationId xmlns:a16="http://schemas.microsoft.com/office/drawing/2014/main" id="{AAF4DF67-CA03-9982-43B7-D90E6F65C61A}"/>
                </a:ext>
              </a:extLst>
            </p:cNvPr>
            <p:cNvSpPr/>
            <p:nvPr/>
          </p:nvSpPr>
          <p:spPr>
            <a:xfrm>
              <a:off x="6301911" y="2772000"/>
              <a:ext cx="144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chemeClr val="bg1"/>
                  </a:solidFill>
                </a:rPr>
                <a:t>3 </a:t>
              </a:r>
              <a:r>
                <a:rPr lang="zh-CN" altLang="en-US" sz="1200" dirty="0">
                  <a:solidFill>
                    <a:schemeClr val="bg1"/>
                  </a:solidFill>
                </a:rPr>
                <a:t>网络层</a:t>
              </a:r>
            </a:p>
          </p:txBody>
        </p:sp>
        <p:sp>
          <p:nvSpPr>
            <p:cNvPr id="20" name="立方体 19">
              <a:extLst>
                <a:ext uri="{FF2B5EF4-FFF2-40B4-BE49-F238E27FC236}">
                  <a16:creationId xmlns:a16="http://schemas.microsoft.com/office/drawing/2014/main" id="{1CE3EEC3-FAC6-4225-CD84-05D27326A045}"/>
                </a:ext>
              </a:extLst>
            </p:cNvPr>
            <p:cNvSpPr/>
            <p:nvPr/>
          </p:nvSpPr>
          <p:spPr>
            <a:xfrm>
              <a:off x="6301911" y="2448000"/>
              <a:ext cx="144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chemeClr val="bg1"/>
                  </a:solidFill>
                </a:rPr>
                <a:t>4 </a:t>
              </a:r>
              <a:r>
                <a:rPr lang="zh-CN" altLang="en-US" sz="1200" dirty="0">
                  <a:solidFill>
                    <a:schemeClr val="bg1"/>
                  </a:solidFill>
                </a:rPr>
                <a:t>运输层</a:t>
              </a:r>
            </a:p>
          </p:txBody>
        </p:sp>
        <p:sp>
          <p:nvSpPr>
            <p:cNvPr id="21" name="立方体 20">
              <a:extLst>
                <a:ext uri="{FF2B5EF4-FFF2-40B4-BE49-F238E27FC236}">
                  <a16:creationId xmlns:a16="http://schemas.microsoft.com/office/drawing/2014/main" id="{45370053-C1D7-65C0-130F-A8910FE76F7D}"/>
                </a:ext>
              </a:extLst>
            </p:cNvPr>
            <p:cNvSpPr/>
            <p:nvPr/>
          </p:nvSpPr>
          <p:spPr>
            <a:xfrm>
              <a:off x="6301911" y="2124000"/>
              <a:ext cx="144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200" dirty="0">
                  <a:solidFill>
                    <a:schemeClr val="bg1"/>
                  </a:solidFill>
                </a:rPr>
                <a:t>5 </a:t>
              </a:r>
              <a:r>
                <a:rPr lang="zh-CN" altLang="en-US" sz="1200" dirty="0">
                  <a:solidFill>
                    <a:schemeClr val="bg1"/>
                  </a:solidFill>
                </a:rPr>
                <a:t>应用层</a:t>
              </a:r>
            </a:p>
          </p:txBody>
        </p:sp>
      </p:grpSp>
    </p:spTree>
    <p:extLst>
      <p:ext uri="{BB962C8B-B14F-4D97-AF65-F5344CB8AC3E}">
        <p14:creationId xmlns:p14="http://schemas.microsoft.com/office/powerpoint/2010/main" val="36853780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组合 101">
            <a:extLst>
              <a:ext uri="{FF2B5EF4-FFF2-40B4-BE49-F238E27FC236}">
                <a16:creationId xmlns:a16="http://schemas.microsoft.com/office/drawing/2014/main" id="{42C8A6AD-BF46-EBBB-1281-327F4732AE9B}"/>
              </a:ext>
            </a:extLst>
          </p:cNvPr>
          <p:cNvGrpSpPr/>
          <p:nvPr/>
        </p:nvGrpSpPr>
        <p:grpSpPr>
          <a:xfrm>
            <a:off x="7395732" y="1800000"/>
            <a:ext cx="1080000" cy="2088000"/>
            <a:chOff x="701211" y="1800000"/>
            <a:chExt cx="1080000" cy="2088000"/>
          </a:xfrm>
        </p:grpSpPr>
        <p:sp>
          <p:nvSpPr>
            <p:cNvPr id="103" name="立方体 102">
              <a:extLst>
                <a:ext uri="{FF2B5EF4-FFF2-40B4-BE49-F238E27FC236}">
                  <a16:creationId xmlns:a16="http://schemas.microsoft.com/office/drawing/2014/main" id="{71BD3DE4-04C5-4059-07E2-DB80324CE5BC}"/>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04" name="立方体 103">
              <a:extLst>
                <a:ext uri="{FF2B5EF4-FFF2-40B4-BE49-F238E27FC236}">
                  <a16:creationId xmlns:a16="http://schemas.microsoft.com/office/drawing/2014/main" id="{AAC77429-CE85-3439-A5C5-859AF26E6794}"/>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05" name="立方体 104">
              <a:extLst>
                <a:ext uri="{FF2B5EF4-FFF2-40B4-BE49-F238E27FC236}">
                  <a16:creationId xmlns:a16="http://schemas.microsoft.com/office/drawing/2014/main" id="{7DCCFDC1-01EE-09BC-B3B9-50C63225605F}"/>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6" name="立方体 105">
              <a:extLst>
                <a:ext uri="{FF2B5EF4-FFF2-40B4-BE49-F238E27FC236}">
                  <a16:creationId xmlns:a16="http://schemas.microsoft.com/office/drawing/2014/main" id="{3CBC5995-CCD4-3A6E-6A68-CB836C4E7C5D}"/>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07" name="立方体 106">
              <a:extLst>
                <a:ext uri="{FF2B5EF4-FFF2-40B4-BE49-F238E27FC236}">
                  <a16:creationId xmlns:a16="http://schemas.microsoft.com/office/drawing/2014/main" id="{7AE2C44A-2C6A-E8A1-E467-25D5E6E3AEE1}"/>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08" name="圆柱体 107">
              <a:extLst>
                <a:ext uri="{FF2B5EF4-FFF2-40B4-BE49-F238E27FC236}">
                  <a16:creationId xmlns:a16="http://schemas.microsoft.com/office/drawing/2014/main" id="{FC6D6B26-CADF-CCF8-AE2E-BEC936379174}"/>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09" name="组合 108">
            <a:extLst>
              <a:ext uri="{FF2B5EF4-FFF2-40B4-BE49-F238E27FC236}">
                <a16:creationId xmlns:a16="http://schemas.microsoft.com/office/drawing/2014/main" id="{F961D078-677D-4DED-92E0-D5813E6AEA22}"/>
              </a:ext>
            </a:extLst>
          </p:cNvPr>
          <p:cNvGrpSpPr/>
          <p:nvPr/>
        </p:nvGrpSpPr>
        <p:grpSpPr>
          <a:xfrm>
            <a:off x="701211" y="1800000"/>
            <a:ext cx="1080000" cy="2088000"/>
            <a:chOff x="701211" y="1800000"/>
            <a:chExt cx="1080000" cy="2088000"/>
          </a:xfrm>
        </p:grpSpPr>
        <p:sp>
          <p:nvSpPr>
            <p:cNvPr id="110" name="立方体 109">
              <a:extLst>
                <a:ext uri="{FF2B5EF4-FFF2-40B4-BE49-F238E27FC236}">
                  <a16:creationId xmlns:a16="http://schemas.microsoft.com/office/drawing/2014/main" id="{20103CCA-13C2-98C0-822B-B759F4AA0FE4}"/>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11" name="立方体 110">
              <a:extLst>
                <a:ext uri="{FF2B5EF4-FFF2-40B4-BE49-F238E27FC236}">
                  <a16:creationId xmlns:a16="http://schemas.microsoft.com/office/drawing/2014/main" id="{345C5F4F-F3A1-B0E6-5FF9-E5F98ECE6742}"/>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12" name="立方体 111">
              <a:extLst>
                <a:ext uri="{FF2B5EF4-FFF2-40B4-BE49-F238E27FC236}">
                  <a16:creationId xmlns:a16="http://schemas.microsoft.com/office/drawing/2014/main" id="{31C3783C-7315-722B-43D9-CFC78B53DF51}"/>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13" name="立方体 112">
              <a:extLst>
                <a:ext uri="{FF2B5EF4-FFF2-40B4-BE49-F238E27FC236}">
                  <a16:creationId xmlns:a16="http://schemas.microsoft.com/office/drawing/2014/main" id="{57394058-6504-5460-39B2-3E41D6B97F79}"/>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4" name="立方体 113">
              <a:extLst>
                <a:ext uri="{FF2B5EF4-FFF2-40B4-BE49-F238E27FC236}">
                  <a16:creationId xmlns:a16="http://schemas.microsoft.com/office/drawing/2014/main" id="{486F22B9-BD26-DCBE-5F86-C2C5A8576611}"/>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5" name="圆柱体 114">
              <a:extLst>
                <a:ext uri="{FF2B5EF4-FFF2-40B4-BE49-F238E27FC236}">
                  <a16:creationId xmlns:a16="http://schemas.microsoft.com/office/drawing/2014/main" id="{7563E10F-CF6D-8C45-7314-AA290CDDF654}"/>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8" name="直接箭头连接符 247"/>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 name="标题 1">
            <a:extLst>
              <a:ext uri="{FF2B5EF4-FFF2-40B4-BE49-F238E27FC236}">
                <a16:creationId xmlns:a16="http://schemas.microsoft.com/office/drawing/2014/main" id="{3BA383E4-527F-96FB-D1CB-03AFAD3ED3AA}"/>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17" name="Rectangle 37">
            <a:extLst>
              <a:ext uri="{FF2B5EF4-FFF2-40B4-BE49-F238E27FC236}">
                <a16:creationId xmlns:a16="http://schemas.microsoft.com/office/drawing/2014/main" id="{456DBA23-A829-F305-A4B5-81A51A61D892}"/>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grpSp>
        <p:nvGrpSpPr>
          <p:cNvPr id="72" name="Group 50"/>
          <p:cNvGrpSpPr/>
          <p:nvPr/>
        </p:nvGrpSpPr>
        <p:grpSpPr bwMode="auto">
          <a:xfrm>
            <a:off x="1237477" y="2076244"/>
            <a:ext cx="2052947" cy="205414"/>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228" name="组合 227">
            <a:extLst>
              <a:ext uri="{FF2B5EF4-FFF2-40B4-BE49-F238E27FC236}">
                <a16:creationId xmlns:a16="http://schemas.microsoft.com/office/drawing/2014/main" id="{57F0A498-E4FF-004A-098E-38C5E36FE17E}"/>
              </a:ext>
            </a:extLst>
          </p:cNvPr>
          <p:cNvGrpSpPr/>
          <p:nvPr/>
        </p:nvGrpSpPr>
        <p:grpSpPr>
          <a:xfrm>
            <a:off x="3960000" y="2808000"/>
            <a:ext cx="1080000" cy="1080000"/>
            <a:chOff x="2807995" y="2745746"/>
            <a:chExt cx="1080000" cy="1080000"/>
          </a:xfrm>
        </p:grpSpPr>
        <p:sp>
          <p:nvSpPr>
            <p:cNvPr id="229" name="立方体 228">
              <a:extLst>
                <a:ext uri="{FF2B5EF4-FFF2-40B4-BE49-F238E27FC236}">
                  <a16:creationId xmlns:a16="http://schemas.microsoft.com/office/drawing/2014/main" id="{FE4397DE-F197-8DB5-99FA-7A0826CAE97D}"/>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30" name="立方体 229">
              <a:extLst>
                <a:ext uri="{FF2B5EF4-FFF2-40B4-BE49-F238E27FC236}">
                  <a16:creationId xmlns:a16="http://schemas.microsoft.com/office/drawing/2014/main" id="{DABD5042-06B0-DE2E-8829-EEB27E2782E4}"/>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31" name="立方体 230">
              <a:extLst>
                <a:ext uri="{FF2B5EF4-FFF2-40B4-BE49-F238E27FC236}">
                  <a16:creationId xmlns:a16="http://schemas.microsoft.com/office/drawing/2014/main" id="{39026ADE-7611-3A2A-0F35-D849ACAE84D6}"/>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32" name="立方体 231">
              <a:extLst>
                <a:ext uri="{FF2B5EF4-FFF2-40B4-BE49-F238E27FC236}">
                  <a16:creationId xmlns:a16="http://schemas.microsoft.com/office/drawing/2014/main" id="{321E5E88-81DE-03AF-2E2C-A9C62881BB93}"/>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33" name="立方体 232">
              <a:extLst>
                <a:ext uri="{FF2B5EF4-FFF2-40B4-BE49-F238E27FC236}">
                  <a16:creationId xmlns:a16="http://schemas.microsoft.com/office/drawing/2014/main" id="{097C9991-19BB-757A-D848-B9097220B358}"/>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235" name="AutoShape 4">
            <a:extLst>
              <a:ext uri="{FF2B5EF4-FFF2-40B4-BE49-F238E27FC236}">
                <a16:creationId xmlns:a16="http://schemas.microsoft.com/office/drawing/2014/main" id="{7D17B497-ED3E-95E6-9F6A-CE0B4CE5DFBE}"/>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37" name="AutoShape 4">
            <a:extLst>
              <a:ext uri="{FF2B5EF4-FFF2-40B4-BE49-F238E27FC236}">
                <a16:creationId xmlns:a16="http://schemas.microsoft.com/office/drawing/2014/main" id="{18D53D47-BE27-00B0-B3F2-5280EB09F38E}"/>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39" name="Text Box 26">
            <a:extLst>
              <a:ext uri="{FF2B5EF4-FFF2-40B4-BE49-F238E27FC236}">
                <a16:creationId xmlns:a16="http://schemas.microsoft.com/office/drawing/2014/main" id="{22484784-3297-C805-DEBF-C703E8D4D58D}"/>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41" name="Text Box 26">
            <a:extLst>
              <a:ext uri="{FF2B5EF4-FFF2-40B4-BE49-F238E27FC236}">
                <a16:creationId xmlns:a16="http://schemas.microsoft.com/office/drawing/2014/main" id="{F70B48B8-C789-A02A-D99F-C7420C52A153}"/>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40894707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119">
            <a:extLst>
              <a:ext uri="{FF2B5EF4-FFF2-40B4-BE49-F238E27FC236}">
                <a16:creationId xmlns:a16="http://schemas.microsoft.com/office/drawing/2014/main" id="{D57856EC-5E08-27E3-69CE-A343103A5996}"/>
              </a:ext>
            </a:extLst>
          </p:cNvPr>
          <p:cNvGrpSpPr/>
          <p:nvPr/>
        </p:nvGrpSpPr>
        <p:grpSpPr>
          <a:xfrm>
            <a:off x="7395732" y="1800000"/>
            <a:ext cx="1080000" cy="2088000"/>
            <a:chOff x="701211" y="1800000"/>
            <a:chExt cx="1080000" cy="2088000"/>
          </a:xfrm>
        </p:grpSpPr>
        <p:sp>
          <p:nvSpPr>
            <p:cNvPr id="121" name="立方体 120">
              <a:extLst>
                <a:ext uri="{FF2B5EF4-FFF2-40B4-BE49-F238E27FC236}">
                  <a16:creationId xmlns:a16="http://schemas.microsoft.com/office/drawing/2014/main" id="{954A093E-7176-2140-5108-5EADEE9BAE8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22" name="立方体 121">
              <a:extLst>
                <a:ext uri="{FF2B5EF4-FFF2-40B4-BE49-F238E27FC236}">
                  <a16:creationId xmlns:a16="http://schemas.microsoft.com/office/drawing/2014/main" id="{06E64CF6-55BD-B33E-03A5-49642AC22C40}"/>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23" name="立方体 122">
              <a:extLst>
                <a:ext uri="{FF2B5EF4-FFF2-40B4-BE49-F238E27FC236}">
                  <a16:creationId xmlns:a16="http://schemas.microsoft.com/office/drawing/2014/main" id="{9F0E2DB0-FF12-5A10-A163-5FA000F255E6}"/>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24" name="立方体 123">
              <a:extLst>
                <a:ext uri="{FF2B5EF4-FFF2-40B4-BE49-F238E27FC236}">
                  <a16:creationId xmlns:a16="http://schemas.microsoft.com/office/drawing/2014/main" id="{BD2BCAB3-AC3C-0105-19DE-D73172742265}"/>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25" name="立方体 124">
              <a:extLst>
                <a:ext uri="{FF2B5EF4-FFF2-40B4-BE49-F238E27FC236}">
                  <a16:creationId xmlns:a16="http://schemas.microsoft.com/office/drawing/2014/main" id="{78958456-C97D-8156-D8D4-C41FC0B213CC}"/>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26" name="圆柱体 125">
              <a:extLst>
                <a:ext uri="{FF2B5EF4-FFF2-40B4-BE49-F238E27FC236}">
                  <a16:creationId xmlns:a16="http://schemas.microsoft.com/office/drawing/2014/main" id="{F183EA7F-F91F-E260-FAB0-E39B8BE7476E}"/>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27" name="组合 126">
            <a:extLst>
              <a:ext uri="{FF2B5EF4-FFF2-40B4-BE49-F238E27FC236}">
                <a16:creationId xmlns:a16="http://schemas.microsoft.com/office/drawing/2014/main" id="{3B6D12B2-C16C-281C-4CBF-269FB82E5384}"/>
              </a:ext>
            </a:extLst>
          </p:cNvPr>
          <p:cNvGrpSpPr/>
          <p:nvPr/>
        </p:nvGrpSpPr>
        <p:grpSpPr>
          <a:xfrm>
            <a:off x="701211" y="1800000"/>
            <a:ext cx="1080000" cy="2088000"/>
            <a:chOff x="701211" y="1800000"/>
            <a:chExt cx="1080000" cy="2088000"/>
          </a:xfrm>
        </p:grpSpPr>
        <p:sp>
          <p:nvSpPr>
            <p:cNvPr id="128" name="立方体 127">
              <a:extLst>
                <a:ext uri="{FF2B5EF4-FFF2-40B4-BE49-F238E27FC236}">
                  <a16:creationId xmlns:a16="http://schemas.microsoft.com/office/drawing/2014/main" id="{63E5E867-8C88-F295-CCE4-1CC5EB005884}"/>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29" name="立方体 128">
              <a:extLst>
                <a:ext uri="{FF2B5EF4-FFF2-40B4-BE49-F238E27FC236}">
                  <a16:creationId xmlns:a16="http://schemas.microsoft.com/office/drawing/2014/main" id="{3DAD75B1-C95E-E1B4-A47C-4AC4C81A76D0}"/>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0" name="立方体 129">
              <a:extLst>
                <a:ext uri="{FF2B5EF4-FFF2-40B4-BE49-F238E27FC236}">
                  <a16:creationId xmlns:a16="http://schemas.microsoft.com/office/drawing/2014/main" id="{FBD986A3-E7E0-3483-690A-61CAED1527AA}"/>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1" name="立方体 130">
              <a:extLst>
                <a:ext uri="{FF2B5EF4-FFF2-40B4-BE49-F238E27FC236}">
                  <a16:creationId xmlns:a16="http://schemas.microsoft.com/office/drawing/2014/main" id="{4B760B6C-C538-0159-FC01-F03B0FCB3F26}"/>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2" name="立方体 131">
              <a:extLst>
                <a:ext uri="{FF2B5EF4-FFF2-40B4-BE49-F238E27FC236}">
                  <a16:creationId xmlns:a16="http://schemas.microsoft.com/office/drawing/2014/main" id="{E8AFD42A-565F-FA07-CDB4-7C691DFBA74B}"/>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3" name="圆柱体 132">
              <a:extLst>
                <a:ext uri="{FF2B5EF4-FFF2-40B4-BE49-F238E27FC236}">
                  <a16:creationId xmlns:a16="http://schemas.microsoft.com/office/drawing/2014/main" id="{BFB56638-6BBB-D70E-7D00-FAAEBB4FC931}"/>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 Box 32"/>
          <p:cNvSpPr txBox="1">
            <a:spLocks noChangeArrowheads="1"/>
          </p:cNvSpPr>
          <p:nvPr/>
        </p:nvSpPr>
        <p:spPr bwMode="auto">
          <a:xfrm>
            <a:off x="2434484" y="1539928"/>
            <a:ext cx="60785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应用层</a:t>
            </a:r>
            <a:endParaRPr kumimoji="1" lang="en-US" altLang="zh-CN" sz="1100" b="1" dirty="0">
              <a:latin typeface="微软雅黑" panose="020B0503020204020204" pitchFamily="34" charset="-122"/>
              <a:ea typeface="微软雅黑" panose="020B0503020204020204" pitchFamily="34" charset="-122"/>
            </a:endParaRPr>
          </a:p>
          <a:p>
            <a:pPr algn="ctr" eaLnBrk="0" hangingPunct="0"/>
            <a:r>
              <a:rPr kumimoji="1" lang="zh-CN" altLang="en-US" sz="1100" b="1" dirty="0">
                <a:latin typeface="微软雅黑" panose="020B0503020204020204" pitchFamily="34" charset="-122"/>
                <a:ea typeface="微软雅黑" panose="020B0503020204020204" pitchFamily="34" charset="-122"/>
              </a:rPr>
              <a:t>首部</a:t>
            </a:r>
          </a:p>
        </p:txBody>
      </p:sp>
      <p:sp>
        <p:nvSpPr>
          <p:cNvPr id="77" name="Line 33"/>
          <p:cNvSpPr>
            <a:spLocks noChangeShapeType="1"/>
          </p:cNvSpPr>
          <p:nvPr/>
        </p:nvSpPr>
        <p:spPr bwMode="auto">
          <a:xfrm>
            <a:off x="2752925" y="1947477"/>
            <a:ext cx="116622" cy="260959"/>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cxnSp>
        <p:nvCxnSpPr>
          <p:cNvPr id="61" name="直接箭头连接符 60"/>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 name="标题 1">
            <a:extLst>
              <a:ext uri="{FF2B5EF4-FFF2-40B4-BE49-F238E27FC236}">
                <a16:creationId xmlns:a16="http://schemas.microsoft.com/office/drawing/2014/main" id="{1CF881F2-5629-D24E-6F97-0AB68692C84B}"/>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35" name="Rectangle 37">
            <a:extLst>
              <a:ext uri="{FF2B5EF4-FFF2-40B4-BE49-F238E27FC236}">
                <a16:creationId xmlns:a16="http://schemas.microsoft.com/office/drawing/2014/main" id="{6C45D2E6-CBBC-ACDF-8BC7-11AEF9233820}"/>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37" name="Rectangle 34">
            <a:extLst>
              <a:ext uri="{FF2B5EF4-FFF2-40B4-BE49-F238E27FC236}">
                <a16:creationId xmlns:a16="http://schemas.microsoft.com/office/drawing/2014/main" id="{B6AEC770-81B1-0C6C-F2C1-50FF7AA42EC1}"/>
              </a:ext>
            </a:extLst>
          </p:cNvPr>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39" name="Rectangle 37">
            <a:extLst>
              <a:ext uri="{FF2B5EF4-FFF2-40B4-BE49-F238E27FC236}">
                <a16:creationId xmlns:a16="http://schemas.microsoft.com/office/drawing/2014/main" id="{0801D0FF-879D-DFAD-909C-BA9DBDCF9995}"/>
              </a:ext>
            </a:extLst>
          </p:cNvPr>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69" name="矩形 168">
            <a:extLst>
              <a:ext uri="{FF2B5EF4-FFF2-40B4-BE49-F238E27FC236}">
                <a16:creationId xmlns:a16="http://schemas.microsoft.com/office/drawing/2014/main" id="{DB413739-0503-2639-D79C-CBF6B7727BF2}"/>
              </a:ext>
            </a:extLst>
          </p:cNvPr>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76" name="组合 175">
            <a:extLst>
              <a:ext uri="{FF2B5EF4-FFF2-40B4-BE49-F238E27FC236}">
                <a16:creationId xmlns:a16="http://schemas.microsoft.com/office/drawing/2014/main" id="{75E6494F-22CB-4F49-0676-5B2065920264}"/>
              </a:ext>
            </a:extLst>
          </p:cNvPr>
          <p:cNvGrpSpPr/>
          <p:nvPr/>
        </p:nvGrpSpPr>
        <p:grpSpPr>
          <a:xfrm>
            <a:off x="3960000" y="2808000"/>
            <a:ext cx="1080000" cy="1080000"/>
            <a:chOff x="2807995" y="2745746"/>
            <a:chExt cx="1080000" cy="1080000"/>
          </a:xfrm>
        </p:grpSpPr>
        <p:sp>
          <p:nvSpPr>
            <p:cNvPr id="177" name="立方体 176">
              <a:extLst>
                <a:ext uri="{FF2B5EF4-FFF2-40B4-BE49-F238E27FC236}">
                  <a16:creationId xmlns:a16="http://schemas.microsoft.com/office/drawing/2014/main" id="{6DED51BC-EA44-233F-CEEE-620ECD92A8AD}"/>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8" name="立方体 177">
              <a:extLst>
                <a:ext uri="{FF2B5EF4-FFF2-40B4-BE49-F238E27FC236}">
                  <a16:creationId xmlns:a16="http://schemas.microsoft.com/office/drawing/2014/main" id="{9E9ED076-633D-D473-6F1D-4046855B2504}"/>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9" name="立方体 178">
              <a:extLst>
                <a:ext uri="{FF2B5EF4-FFF2-40B4-BE49-F238E27FC236}">
                  <a16:creationId xmlns:a16="http://schemas.microsoft.com/office/drawing/2014/main" id="{D508D27C-3792-989F-9BCC-82F81D9D704B}"/>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80" name="立方体 179">
              <a:extLst>
                <a:ext uri="{FF2B5EF4-FFF2-40B4-BE49-F238E27FC236}">
                  <a16:creationId xmlns:a16="http://schemas.microsoft.com/office/drawing/2014/main" id="{E65329D8-862E-BAE4-A017-B618C4C8F8B8}"/>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1" name="立方体 180">
              <a:extLst>
                <a:ext uri="{FF2B5EF4-FFF2-40B4-BE49-F238E27FC236}">
                  <a16:creationId xmlns:a16="http://schemas.microsoft.com/office/drawing/2014/main" id="{948934CD-464C-B9C6-592F-9FFE6C493830}"/>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183" name="AutoShape 4">
            <a:extLst>
              <a:ext uri="{FF2B5EF4-FFF2-40B4-BE49-F238E27FC236}">
                <a16:creationId xmlns:a16="http://schemas.microsoft.com/office/drawing/2014/main" id="{AF5DE1EF-B788-09FC-EF98-29283CF7B564}"/>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5" name="AutoShape 4">
            <a:extLst>
              <a:ext uri="{FF2B5EF4-FFF2-40B4-BE49-F238E27FC236}">
                <a16:creationId xmlns:a16="http://schemas.microsoft.com/office/drawing/2014/main" id="{4CE73F7F-8BFA-B813-EA31-74F82EF14ACC}"/>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7" name="Text Box 26">
            <a:extLst>
              <a:ext uri="{FF2B5EF4-FFF2-40B4-BE49-F238E27FC236}">
                <a16:creationId xmlns:a16="http://schemas.microsoft.com/office/drawing/2014/main" id="{98D20D2E-5D08-DF06-35FB-1171C92A57BF}"/>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89" name="Text Box 26">
            <a:extLst>
              <a:ext uri="{FF2B5EF4-FFF2-40B4-BE49-F238E27FC236}">
                <a16:creationId xmlns:a16="http://schemas.microsoft.com/office/drawing/2014/main" id="{92E80C1E-C671-7350-70B7-37A3EA32DF95}"/>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22419849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 name="组合 124">
            <a:extLst>
              <a:ext uri="{FF2B5EF4-FFF2-40B4-BE49-F238E27FC236}">
                <a16:creationId xmlns:a16="http://schemas.microsoft.com/office/drawing/2014/main" id="{96BFBE02-829B-B4E1-2DB5-29F85E73726A}"/>
              </a:ext>
            </a:extLst>
          </p:cNvPr>
          <p:cNvGrpSpPr/>
          <p:nvPr/>
        </p:nvGrpSpPr>
        <p:grpSpPr>
          <a:xfrm>
            <a:off x="7395732" y="1800000"/>
            <a:ext cx="1080000" cy="2088000"/>
            <a:chOff x="701211" y="1800000"/>
            <a:chExt cx="1080000" cy="2088000"/>
          </a:xfrm>
        </p:grpSpPr>
        <p:sp>
          <p:nvSpPr>
            <p:cNvPr id="126" name="立方体 125">
              <a:extLst>
                <a:ext uri="{FF2B5EF4-FFF2-40B4-BE49-F238E27FC236}">
                  <a16:creationId xmlns:a16="http://schemas.microsoft.com/office/drawing/2014/main" id="{1B45AAB1-2CFF-0F9A-E910-3F837FCAF4F6}"/>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27" name="立方体 126">
              <a:extLst>
                <a:ext uri="{FF2B5EF4-FFF2-40B4-BE49-F238E27FC236}">
                  <a16:creationId xmlns:a16="http://schemas.microsoft.com/office/drawing/2014/main" id="{A99F9309-D7C4-FA9E-C64E-C5F19CCECF66}"/>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28" name="立方体 127">
              <a:extLst>
                <a:ext uri="{FF2B5EF4-FFF2-40B4-BE49-F238E27FC236}">
                  <a16:creationId xmlns:a16="http://schemas.microsoft.com/office/drawing/2014/main" id="{259EACD4-0225-25C5-D809-1FDD087BD8CF}"/>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29" name="立方体 128">
              <a:extLst>
                <a:ext uri="{FF2B5EF4-FFF2-40B4-BE49-F238E27FC236}">
                  <a16:creationId xmlns:a16="http://schemas.microsoft.com/office/drawing/2014/main" id="{CDA8259C-F0F5-D21B-3535-EE912360D004}"/>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0" name="立方体 129">
              <a:extLst>
                <a:ext uri="{FF2B5EF4-FFF2-40B4-BE49-F238E27FC236}">
                  <a16:creationId xmlns:a16="http://schemas.microsoft.com/office/drawing/2014/main" id="{4CC100BE-69A9-2EA9-8253-1CBB85643E96}"/>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1" name="圆柱体 130">
              <a:extLst>
                <a:ext uri="{FF2B5EF4-FFF2-40B4-BE49-F238E27FC236}">
                  <a16:creationId xmlns:a16="http://schemas.microsoft.com/office/drawing/2014/main" id="{3630DC40-383C-F1E0-65A8-F6E6C27A9AAC}"/>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32" name="组合 131">
            <a:extLst>
              <a:ext uri="{FF2B5EF4-FFF2-40B4-BE49-F238E27FC236}">
                <a16:creationId xmlns:a16="http://schemas.microsoft.com/office/drawing/2014/main" id="{3B9D47B3-CC15-1B55-04CB-8111EC15EB77}"/>
              </a:ext>
            </a:extLst>
          </p:cNvPr>
          <p:cNvGrpSpPr/>
          <p:nvPr/>
        </p:nvGrpSpPr>
        <p:grpSpPr>
          <a:xfrm>
            <a:off x="701211" y="1800000"/>
            <a:ext cx="1080000" cy="2088000"/>
            <a:chOff x="701211" y="1800000"/>
            <a:chExt cx="1080000" cy="2088000"/>
          </a:xfrm>
        </p:grpSpPr>
        <p:sp>
          <p:nvSpPr>
            <p:cNvPr id="133" name="立方体 132">
              <a:extLst>
                <a:ext uri="{FF2B5EF4-FFF2-40B4-BE49-F238E27FC236}">
                  <a16:creationId xmlns:a16="http://schemas.microsoft.com/office/drawing/2014/main" id="{37E369C4-7D86-EF61-B0DC-2AAD3D3395C4}"/>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4" name="立方体 133">
              <a:extLst>
                <a:ext uri="{FF2B5EF4-FFF2-40B4-BE49-F238E27FC236}">
                  <a16:creationId xmlns:a16="http://schemas.microsoft.com/office/drawing/2014/main" id="{7B123E5B-CE7B-99F7-55E4-69516727E8AE}"/>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5" name="立方体 134">
              <a:extLst>
                <a:ext uri="{FF2B5EF4-FFF2-40B4-BE49-F238E27FC236}">
                  <a16:creationId xmlns:a16="http://schemas.microsoft.com/office/drawing/2014/main" id="{8194646C-2000-B3CD-3FBC-A67574C7D44C}"/>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6" name="立方体 135">
              <a:extLst>
                <a:ext uri="{FF2B5EF4-FFF2-40B4-BE49-F238E27FC236}">
                  <a16:creationId xmlns:a16="http://schemas.microsoft.com/office/drawing/2014/main" id="{8CE56FF4-748C-4AD2-EE15-EF46277D645D}"/>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7" name="立方体 136">
              <a:extLst>
                <a:ext uri="{FF2B5EF4-FFF2-40B4-BE49-F238E27FC236}">
                  <a16:creationId xmlns:a16="http://schemas.microsoft.com/office/drawing/2014/main" id="{BD5F04E0-E727-51EE-6EC7-C98CCD2936A0}"/>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8" name="圆柱体 137">
              <a:extLst>
                <a:ext uri="{FF2B5EF4-FFF2-40B4-BE49-F238E27FC236}">
                  <a16:creationId xmlns:a16="http://schemas.microsoft.com/office/drawing/2014/main" id="{FE23456E-0B26-B1E1-2EED-D465CA274825}"/>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Text Box 67"/>
          <p:cNvSpPr txBox="1">
            <a:spLocks noChangeArrowheads="1"/>
          </p:cNvSpPr>
          <p:nvPr/>
        </p:nvSpPr>
        <p:spPr bwMode="auto">
          <a:xfrm>
            <a:off x="2201435" y="1848434"/>
            <a:ext cx="60785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运输层</a:t>
            </a:r>
            <a:endParaRPr kumimoji="1" lang="en-US" altLang="zh-CN" sz="1100" b="1" dirty="0">
              <a:latin typeface="微软雅黑" panose="020B0503020204020204" pitchFamily="34" charset="-122"/>
              <a:ea typeface="微软雅黑" panose="020B0503020204020204" pitchFamily="34" charset="-122"/>
            </a:endParaRPr>
          </a:p>
          <a:p>
            <a:pPr algn="ctr" eaLnBrk="0" hangingPunct="0"/>
            <a:r>
              <a:rPr kumimoji="1" lang="zh-CN" altLang="en-US" sz="1100" b="1" dirty="0">
                <a:latin typeface="微软雅黑" panose="020B0503020204020204" pitchFamily="34" charset="-122"/>
                <a:ea typeface="微软雅黑" panose="020B0503020204020204" pitchFamily="34" charset="-122"/>
              </a:rPr>
              <a:t>首部</a:t>
            </a:r>
          </a:p>
        </p:txBody>
      </p:sp>
      <p:sp>
        <p:nvSpPr>
          <p:cNvPr id="86" name="Line 68"/>
          <p:cNvSpPr>
            <a:spLocks noChangeShapeType="1"/>
          </p:cNvSpPr>
          <p:nvPr/>
        </p:nvSpPr>
        <p:spPr bwMode="auto">
          <a:xfrm>
            <a:off x="2520440" y="2253691"/>
            <a:ext cx="110656" cy="27136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 name="标题 1">
            <a:extLst>
              <a:ext uri="{FF2B5EF4-FFF2-40B4-BE49-F238E27FC236}">
                <a16:creationId xmlns:a16="http://schemas.microsoft.com/office/drawing/2014/main" id="{A7A704F5-B8F4-13F9-172D-1B2E41CD0D77}"/>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41" name="Rectangle 37">
            <a:extLst>
              <a:ext uri="{FF2B5EF4-FFF2-40B4-BE49-F238E27FC236}">
                <a16:creationId xmlns:a16="http://schemas.microsoft.com/office/drawing/2014/main" id="{0E679D0C-C995-9EFE-6D99-B84F86C0AF13}"/>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45" name="Rectangle 34">
            <a:extLst>
              <a:ext uri="{FF2B5EF4-FFF2-40B4-BE49-F238E27FC236}">
                <a16:creationId xmlns:a16="http://schemas.microsoft.com/office/drawing/2014/main" id="{C5F2FF6D-7633-8E2A-C984-69EC0CD40AC1}"/>
              </a:ext>
            </a:extLst>
          </p:cNvPr>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47" name="Rectangle 37">
            <a:extLst>
              <a:ext uri="{FF2B5EF4-FFF2-40B4-BE49-F238E27FC236}">
                <a16:creationId xmlns:a16="http://schemas.microsoft.com/office/drawing/2014/main" id="{86EDDCFD-43FC-0A1A-0882-245A3ABAF395}"/>
              </a:ext>
            </a:extLst>
          </p:cNvPr>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49" name="Rectangle 39">
            <a:extLst>
              <a:ext uri="{FF2B5EF4-FFF2-40B4-BE49-F238E27FC236}">
                <a16:creationId xmlns:a16="http://schemas.microsoft.com/office/drawing/2014/main" id="{BB84DC93-BA8D-2635-BE2E-03FBE269FC8B}"/>
              </a:ext>
            </a:extLst>
          </p:cNvPr>
          <p:cNvSpPr>
            <a:spLocks noChangeArrowheads="1"/>
          </p:cNvSpPr>
          <p:nvPr/>
        </p:nvSpPr>
        <p:spPr bwMode="auto">
          <a:xfrm>
            <a:off x="2738414" y="255453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51" name="Rectangle 40">
            <a:extLst>
              <a:ext uri="{FF2B5EF4-FFF2-40B4-BE49-F238E27FC236}">
                <a16:creationId xmlns:a16="http://schemas.microsoft.com/office/drawing/2014/main" id="{9E35611B-6E10-9816-96A3-D1F3FD14D2CA}"/>
              </a:ext>
            </a:extLst>
          </p:cNvPr>
          <p:cNvSpPr>
            <a:spLocks noChangeArrowheads="1"/>
          </p:cNvSpPr>
          <p:nvPr/>
        </p:nvSpPr>
        <p:spPr bwMode="auto">
          <a:xfrm>
            <a:off x="2961614" y="2554531"/>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3" name="Rectangle 66">
            <a:extLst>
              <a:ext uri="{FF2B5EF4-FFF2-40B4-BE49-F238E27FC236}">
                <a16:creationId xmlns:a16="http://schemas.microsoft.com/office/drawing/2014/main" id="{6AE1DA30-8C06-2F53-431B-6C316251367A}"/>
              </a:ext>
            </a:extLst>
          </p:cNvPr>
          <p:cNvSpPr>
            <a:spLocks noChangeArrowheads="1"/>
          </p:cNvSpPr>
          <p:nvPr/>
        </p:nvSpPr>
        <p:spPr bwMode="auto">
          <a:xfrm>
            <a:off x="2515214" y="2554531"/>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7" name="矩形 176">
            <a:extLst>
              <a:ext uri="{FF2B5EF4-FFF2-40B4-BE49-F238E27FC236}">
                <a16:creationId xmlns:a16="http://schemas.microsoft.com/office/drawing/2014/main" id="{8AEAE7CD-54BC-5147-D2A1-3E4501647C9A}"/>
              </a:ext>
            </a:extLst>
          </p:cNvPr>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84" name="组合 183">
            <a:extLst>
              <a:ext uri="{FF2B5EF4-FFF2-40B4-BE49-F238E27FC236}">
                <a16:creationId xmlns:a16="http://schemas.microsoft.com/office/drawing/2014/main" id="{6A7AE7D0-FF21-5749-307E-3A9EC39E2B4A}"/>
              </a:ext>
            </a:extLst>
          </p:cNvPr>
          <p:cNvGrpSpPr/>
          <p:nvPr/>
        </p:nvGrpSpPr>
        <p:grpSpPr>
          <a:xfrm>
            <a:off x="3960000" y="2808000"/>
            <a:ext cx="1080000" cy="1080000"/>
            <a:chOff x="2807995" y="2745746"/>
            <a:chExt cx="1080000" cy="1080000"/>
          </a:xfrm>
        </p:grpSpPr>
        <p:sp>
          <p:nvSpPr>
            <p:cNvPr id="185" name="立方体 184">
              <a:extLst>
                <a:ext uri="{FF2B5EF4-FFF2-40B4-BE49-F238E27FC236}">
                  <a16:creationId xmlns:a16="http://schemas.microsoft.com/office/drawing/2014/main" id="{2A0BED06-DB3B-1D76-8FAA-9CF2F93E8DCB}"/>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86" name="立方体 185">
              <a:extLst>
                <a:ext uri="{FF2B5EF4-FFF2-40B4-BE49-F238E27FC236}">
                  <a16:creationId xmlns:a16="http://schemas.microsoft.com/office/drawing/2014/main" id="{C32B33A5-EA38-3F66-6882-86EE4FDDD656}"/>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7" name="立方体 186">
              <a:extLst>
                <a:ext uri="{FF2B5EF4-FFF2-40B4-BE49-F238E27FC236}">
                  <a16:creationId xmlns:a16="http://schemas.microsoft.com/office/drawing/2014/main" id="{722B551F-28DA-ED89-9AD9-A4E53DE03271}"/>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88" name="立方体 187">
              <a:extLst>
                <a:ext uri="{FF2B5EF4-FFF2-40B4-BE49-F238E27FC236}">
                  <a16:creationId xmlns:a16="http://schemas.microsoft.com/office/drawing/2014/main" id="{64311D4B-D1EF-DA1F-167A-B61EE57F49AC}"/>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9" name="立方体 188">
              <a:extLst>
                <a:ext uri="{FF2B5EF4-FFF2-40B4-BE49-F238E27FC236}">
                  <a16:creationId xmlns:a16="http://schemas.microsoft.com/office/drawing/2014/main" id="{8CDE4D70-0F95-C32F-B2E5-8E044B33E35F}"/>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191" name="AutoShape 4">
            <a:extLst>
              <a:ext uri="{FF2B5EF4-FFF2-40B4-BE49-F238E27FC236}">
                <a16:creationId xmlns:a16="http://schemas.microsoft.com/office/drawing/2014/main" id="{25E43E7B-2277-154C-6BF1-AD431482F3AA}"/>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93" name="AutoShape 4">
            <a:extLst>
              <a:ext uri="{FF2B5EF4-FFF2-40B4-BE49-F238E27FC236}">
                <a16:creationId xmlns:a16="http://schemas.microsoft.com/office/drawing/2014/main" id="{B47511FA-E088-1964-542F-1B16CAC17AB5}"/>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95" name="Text Box 26">
            <a:extLst>
              <a:ext uri="{FF2B5EF4-FFF2-40B4-BE49-F238E27FC236}">
                <a16:creationId xmlns:a16="http://schemas.microsoft.com/office/drawing/2014/main" id="{D905AEC1-368E-B824-41DC-6314605F569B}"/>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97" name="Text Box 26">
            <a:extLst>
              <a:ext uri="{FF2B5EF4-FFF2-40B4-BE49-F238E27FC236}">
                <a16:creationId xmlns:a16="http://schemas.microsoft.com/office/drawing/2014/main" id="{947495E3-E4D4-EADB-6103-AF1736CBCA74}"/>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20778860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组合 131">
            <a:extLst>
              <a:ext uri="{FF2B5EF4-FFF2-40B4-BE49-F238E27FC236}">
                <a16:creationId xmlns:a16="http://schemas.microsoft.com/office/drawing/2014/main" id="{983F071F-F518-50CE-795D-2EECABEC8D33}"/>
              </a:ext>
            </a:extLst>
          </p:cNvPr>
          <p:cNvGrpSpPr/>
          <p:nvPr/>
        </p:nvGrpSpPr>
        <p:grpSpPr>
          <a:xfrm>
            <a:off x="7395732" y="1800000"/>
            <a:ext cx="1080000" cy="2088000"/>
            <a:chOff x="701211" y="1800000"/>
            <a:chExt cx="1080000" cy="2088000"/>
          </a:xfrm>
        </p:grpSpPr>
        <p:sp>
          <p:nvSpPr>
            <p:cNvPr id="133" name="立方体 132">
              <a:extLst>
                <a:ext uri="{FF2B5EF4-FFF2-40B4-BE49-F238E27FC236}">
                  <a16:creationId xmlns:a16="http://schemas.microsoft.com/office/drawing/2014/main" id="{4E090801-1628-81FC-EDD3-0F63AC16C6C5}"/>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4" name="立方体 133">
              <a:extLst>
                <a:ext uri="{FF2B5EF4-FFF2-40B4-BE49-F238E27FC236}">
                  <a16:creationId xmlns:a16="http://schemas.microsoft.com/office/drawing/2014/main" id="{D0BA5B9F-6698-24A6-FA39-73B61826E91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5" name="立方体 134">
              <a:extLst>
                <a:ext uri="{FF2B5EF4-FFF2-40B4-BE49-F238E27FC236}">
                  <a16:creationId xmlns:a16="http://schemas.microsoft.com/office/drawing/2014/main" id="{F3123DC2-8904-2B39-DE7B-E5CA288A18C7}"/>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6" name="立方体 135">
              <a:extLst>
                <a:ext uri="{FF2B5EF4-FFF2-40B4-BE49-F238E27FC236}">
                  <a16:creationId xmlns:a16="http://schemas.microsoft.com/office/drawing/2014/main" id="{93D1D686-D2D8-28F7-8B01-9501C3DE2378}"/>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7" name="立方体 136">
              <a:extLst>
                <a:ext uri="{FF2B5EF4-FFF2-40B4-BE49-F238E27FC236}">
                  <a16:creationId xmlns:a16="http://schemas.microsoft.com/office/drawing/2014/main" id="{1F803720-1039-C851-149E-6717C675B68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8" name="圆柱体 137">
              <a:extLst>
                <a:ext uri="{FF2B5EF4-FFF2-40B4-BE49-F238E27FC236}">
                  <a16:creationId xmlns:a16="http://schemas.microsoft.com/office/drawing/2014/main" id="{A5C444B9-5A93-455B-CDCE-288BD70E287C}"/>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39" name="组合 138">
            <a:extLst>
              <a:ext uri="{FF2B5EF4-FFF2-40B4-BE49-F238E27FC236}">
                <a16:creationId xmlns:a16="http://schemas.microsoft.com/office/drawing/2014/main" id="{362D7AE2-3C84-C70E-E776-4E78DA94535A}"/>
              </a:ext>
            </a:extLst>
          </p:cNvPr>
          <p:cNvGrpSpPr/>
          <p:nvPr/>
        </p:nvGrpSpPr>
        <p:grpSpPr>
          <a:xfrm>
            <a:off x="701211" y="1800000"/>
            <a:ext cx="1080000" cy="2088000"/>
            <a:chOff x="701211" y="1800000"/>
            <a:chExt cx="1080000" cy="2088000"/>
          </a:xfrm>
        </p:grpSpPr>
        <p:sp>
          <p:nvSpPr>
            <p:cNvPr id="145" name="立方体 144">
              <a:extLst>
                <a:ext uri="{FF2B5EF4-FFF2-40B4-BE49-F238E27FC236}">
                  <a16:creationId xmlns:a16="http://schemas.microsoft.com/office/drawing/2014/main" id="{4C23668F-DCBE-871D-986F-E22D880A6F88}"/>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46" name="立方体 145">
              <a:extLst>
                <a:ext uri="{FF2B5EF4-FFF2-40B4-BE49-F238E27FC236}">
                  <a16:creationId xmlns:a16="http://schemas.microsoft.com/office/drawing/2014/main" id="{1AAA2AC2-93C7-0185-4850-89CF967B1B6E}"/>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47" name="立方体 146">
              <a:extLst>
                <a:ext uri="{FF2B5EF4-FFF2-40B4-BE49-F238E27FC236}">
                  <a16:creationId xmlns:a16="http://schemas.microsoft.com/office/drawing/2014/main" id="{75E4401B-3CD5-C578-F272-9FF907A043BB}"/>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48" name="立方体 147">
              <a:extLst>
                <a:ext uri="{FF2B5EF4-FFF2-40B4-BE49-F238E27FC236}">
                  <a16:creationId xmlns:a16="http://schemas.microsoft.com/office/drawing/2014/main" id="{CAC95C01-E9AB-516D-2CB3-A67EB11B68AA}"/>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49" name="立方体 148">
              <a:extLst>
                <a:ext uri="{FF2B5EF4-FFF2-40B4-BE49-F238E27FC236}">
                  <a16:creationId xmlns:a16="http://schemas.microsoft.com/office/drawing/2014/main" id="{6AF8B668-B796-8A07-A720-11B3FA3B611A}"/>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50" name="圆柱体 149">
              <a:extLst>
                <a:ext uri="{FF2B5EF4-FFF2-40B4-BE49-F238E27FC236}">
                  <a16:creationId xmlns:a16="http://schemas.microsoft.com/office/drawing/2014/main" id="{EBF3115E-2B73-5353-A2CC-89DB640B0890}"/>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9" name="Text Box 71"/>
          <p:cNvSpPr txBox="1">
            <a:spLocks noChangeArrowheads="1"/>
          </p:cNvSpPr>
          <p:nvPr/>
        </p:nvSpPr>
        <p:spPr bwMode="auto">
          <a:xfrm>
            <a:off x="1962841" y="2160000"/>
            <a:ext cx="60785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网络层</a:t>
            </a:r>
            <a:endParaRPr kumimoji="1" lang="en-US" altLang="zh-CN" sz="1100" b="1" dirty="0">
              <a:latin typeface="微软雅黑" panose="020B0503020204020204" pitchFamily="34" charset="-122"/>
              <a:ea typeface="微软雅黑" panose="020B0503020204020204" pitchFamily="34" charset="-122"/>
            </a:endParaRPr>
          </a:p>
          <a:p>
            <a:pPr algn="ctr" eaLnBrk="0" hangingPunct="0"/>
            <a:r>
              <a:rPr kumimoji="1" lang="zh-CN" altLang="en-US" sz="1100" b="1" dirty="0">
                <a:latin typeface="微软雅黑" panose="020B0503020204020204" pitchFamily="34" charset="-122"/>
                <a:ea typeface="微软雅黑" panose="020B0503020204020204" pitchFamily="34" charset="-122"/>
              </a:rPr>
              <a:t>首部</a:t>
            </a:r>
          </a:p>
        </p:txBody>
      </p:sp>
      <p:sp>
        <p:nvSpPr>
          <p:cNvPr id="100" name="Line 72"/>
          <p:cNvSpPr>
            <a:spLocks noChangeShapeType="1"/>
          </p:cNvSpPr>
          <p:nvPr/>
        </p:nvSpPr>
        <p:spPr bwMode="auto">
          <a:xfrm>
            <a:off x="2295725" y="2607973"/>
            <a:ext cx="143586" cy="304321"/>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 name="标题 1">
            <a:extLst>
              <a:ext uri="{FF2B5EF4-FFF2-40B4-BE49-F238E27FC236}">
                <a16:creationId xmlns:a16="http://schemas.microsoft.com/office/drawing/2014/main" id="{2395C742-F3C1-F433-17B3-C4320A8A97F1}"/>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53" name="Rectangle 37">
            <a:extLst>
              <a:ext uri="{FF2B5EF4-FFF2-40B4-BE49-F238E27FC236}">
                <a16:creationId xmlns:a16="http://schemas.microsoft.com/office/drawing/2014/main" id="{298E40CA-3FF8-0264-A2EF-8F19AC711E2D}"/>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55" name="Rectangle 34">
            <a:extLst>
              <a:ext uri="{FF2B5EF4-FFF2-40B4-BE49-F238E27FC236}">
                <a16:creationId xmlns:a16="http://schemas.microsoft.com/office/drawing/2014/main" id="{9D790903-498C-C174-8AF7-04CF3FB3D98B}"/>
              </a:ext>
            </a:extLst>
          </p:cNvPr>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57" name="Rectangle 37">
            <a:extLst>
              <a:ext uri="{FF2B5EF4-FFF2-40B4-BE49-F238E27FC236}">
                <a16:creationId xmlns:a16="http://schemas.microsoft.com/office/drawing/2014/main" id="{9C35D2B5-FA76-A9BA-9730-98A07D314503}"/>
              </a:ext>
            </a:extLst>
          </p:cNvPr>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59" name="Rectangle 39">
            <a:extLst>
              <a:ext uri="{FF2B5EF4-FFF2-40B4-BE49-F238E27FC236}">
                <a16:creationId xmlns:a16="http://schemas.microsoft.com/office/drawing/2014/main" id="{A1436935-471B-1EEE-35F9-36C6E134A42E}"/>
              </a:ext>
            </a:extLst>
          </p:cNvPr>
          <p:cNvSpPr>
            <a:spLocks noChangeArrowheads="1"/>
          </p:cNvSpPr>
          <p:nvPr/>
        </p:nvSpPr>
        <p:spPr bwMode="auto">
          <a:xfrm>
            <a:off x="2738414" y="255453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61" name="Rectangle 40">
            <a:extLst>
              <a:ext uri="{FF2B5EF4-FFF2-40B4-BE49-F238E27FC236}">
                <a16:creationId xmlns:a16="http://schemas.microsoft.com/office/drawing/2014/main" id="{39D9C27A-C358-7B43-0CC7-BEA227A32E32}"/>
              </a:ext>
            </a:extLst>
          </p:cNvPr>
          <p:cNvSpPr>
            <a:spLocks noChangeArrowheads="1"/>
          </p:cNvSpPr>
          <p:nvPr/>
        </p:nvSpPr>
        <p:spPr bwMode="auto">
          <a:xfrm>
            <a:off x="2961614" y="2554531"/>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3" name="Rectangle 66">
            <a:extLst>
              <a:ext uri="{FF2B5EF4-FFF2-40B4-BE49-F238E27FC236}">
                <a16:creationId xmlns:a16="http://schemas.microsoft.com/office/drawing/2014/main" id="{943C118B-09CE-08C2-FDAD-46F4D7DA5F24}"/>
              </a:ext>
            </a:extLst>
          </p:cNvPr>
          <p:cNvSpPr>
            <a:spLocks noChangeArrowheads="1"/>
          </p:cNvSpPr>
          <p:nvPr/>
        </p:nvSpPr>
        <p:spPr bwMode="auto">
          <a:xfrm>
            <a:off x="2515214" y="2554531"/>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65" name="Rectangle 42">
            <a:extLst>
              <a:ext uri="{FF2B5EF4-FFF2-40B4-BE49-F238E27FC236}">
                <a16:creationId xmlns:a16="http://schemas.microsoft.com/office/drawing/2014/main" id="{733D4A05-D2B7-9087-3CC4-CC77D439D3B5}"/>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67" name="Rectangle 43">
            <a:extLst>
              <a:ext uri="{FF2B5EF4-FFF2-40B4-BE49-F238E27FC236}">
                <a16:creationId xmlns:a16="http://schemas.microsoft.com/office/drawing/2014/main" id="{401432D3-F176-FFCE-52B6-F969F636303C}"/>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9" name="Rectangle 44">
            <a:extLst>
              <a:ext uri="{FF2B5EF4-FFF2-40B4-BE49-F238E27FC236}">
                <a16:creationId xmlns:a16="http://schemas.microsoft.com/office/drawing/2014/main" id="{FC0A39EC-D088-A285-346C-2E84C5515DEE}"/>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1" name="Rectangle 70">
            <a:extLst>
              <a:ext uri="{FF2B5EF4-FFF2-40B4-BE49-F238E27FC236}">
                <a16:creationId xmlns:a16="http://schemas.microsoft.com/office/drawing/2014/main" id="{6AFCF469-529E-5F8D-33F1-4C5854703B7D}"/>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87" name="矩形 186">
            <a:extLst>
              <a:ext uri="{FF2B5EF4-FFF2-40B4-BE49-F238E27FC236}">
                <a16:creationId xmlns:a16="http://schemas.microsoft.com/office/drawing/2014/main" id="{85FA2FCB-B2EA-B358-C412-0C7A48530D4C}"/>
              </a:ext>
            </a:extLst>
          </p:cNvPr>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nvGrpSpPr>
          <p:cNvPr id="94" name="Group 56"/>
          <p:cNvGrpSpPr/>
          <p:nvPr/>
        </p:nvGrpSpPr>
        <p:grpSpPr bwMode="auto">
          <a:xfrm>
            <a:off x="1235121" y="2777819"/>
            <a:ext cx="2054125" cy="271275"/>
            <a:chOff x="434" y="2411"/>
            <a:chExt cx="1745" cy="274"/>
          </a:xfrm>
          <a:solidFill>
            <a:srgbClr val="CC00CC"/>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94" name="组合 193">
            <a:extLst>
              <a:ext uri="{FF2B5EF4-FFF2-40B4-BE49-F238E27FC236}">
                <a16:creationId xmlns:a16="http://schemas.microsoft.com/office/drawing/2014/main" id="{5930F9C1-DB24-6A2B-864D-95C781CD02FE}"/>
              </a:ext>
            </a:extLst>
          </p:cNvPr>
          <p:cNvGrpSpPr/>
          <p:nvPr/>
        </p:nvGrpSpPr>
        <p:grpSpPr>
          <a:xfrm>
            <a:off x="3960000" y="2808000"/>
            <a:ext cx="1080000" cy="1080000"/>
            <a:chOff x="2807995" y="2745746"/>
            <a:chExt cx="1080000" cy="1080000"/>
          </a:xfrm>
        </p:grpSpPr>
        <p:sp>
          <p:nvSpPr>
            <p:cNvPr id="195" name="立方体 194">
              <a:extLst>
                <a:ext uri="{FF2B5EF4-FFF2-40B4-BE49-F238E27FC236}">
                  <a16:creationId xmlns:a16="http://schemas.microsoft.com/office/drawing/2014/main" id="{7E973236-B4DD-3EF4-3D67-99D6DD56B7BB}"/>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96" name="立方体 195">
              <a:extLst>
                <a:ext uri="{FF2B5EF4-FFF2-40B4-BE49-F238E27FC236}">
                  <a16:creationId xmlns:a16="http://schemas.microsoft.com/office/drawing/2014/main" id="{B5C94B27-CC96-CD3A-87C6-7DC5756CCD82}"/>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97" name="立方体 196">
              <a:extLst>
                <a:ext uri="{FF2B5EF4-FFF2-40B4-BE49-F238E27FC236}">
                  <a16:creationId xmlns:a16="http://schemas.microsoft.com/office/drawing/2014/main" id="{BF671E2C-5B1B-F411-FF23-AB765885841F}"/>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98" name="立方体 197">
              <a:extLst>
                <a:ext uri="{FF2B5EF4-FFF2-40B4-BE49-F238E27FC236}">
                  <a16:creationId xmlns:a16="http://schemas.microsoft.com/office/drawing/2014/main" id="{8395D172-1AF1-6AEB-CCF5-080ECCCD6462}"/>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99" name="立方体 198">
              <a:extLst>
                <a:ext uri="{FF2B5EF4-FFF2-40B4-BE49-F238E27FC236}">
                  <a16:creationId xmlns:a16="http://schemas.microsoft.com/office/drawing/2014/main" id="{92480EC7-EA26-7D61-015B-EF3A5FD365B8}"/>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201" name="AutoShape 4">
            <a:extLst>
              <a:ext uri="{FF2B5EF4-FFF2-40B4-BE49-F238E27FC236}">
                <a16:creationId xmlns:a16="http://schemas.microsoft.com/office/drawing/2014/main" id="{92530A91-786C-EA27-F71A-0C247D604F1F}"/>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03" name="AutoShape 4">
            <a:extLst>
              <a:ext uri="{FF2B5EF4-FFF2-40B4-BE49-F238E27FC236}">
                <a16:creationId xmlns:a16="http://schemas.microsoft.com/office/drawing/2014/main" id="{D5B7BC5D-B1AD-5964-B1B3-46256E134A77}"/>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05" name="Text Box 26">
            <a:extLst>
              <a:ext uri="{FF2B5EF4-FFF2-40B4-BE49-F238E27FC236}">
                <a16:creationId xmlns:a16="http://schemas.microsoft.com/office/drawing/2014/main" id="{EBF2ADD7-309F-AA5F-5EA4-A7F562F0C039}"/>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07" name="Text Box 26">
            <a:extLst>
              <a:ext uri="{FF2B5EF4-FFF2-40B4-BE49-F238E27FC236}">
                <a16:creationId xmlns:a16="http://schemas.microsoft.com/office/drawing/2014/main" id="{7EAA14A6-B115-A129-E866-279A32A2B17C}"/>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23265387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 name="组合 158">
            <a:extLst>
              <a:ext uri="{FF2B5EF4-FFF2-40B4-BE49-F238E27FC236}">
                <a16:creationId xmlns:a16="http://schemas.microsoft.com/office/drawing/2014/main" id="{CAB97BF8-CB1A-7A4D-9280-9777811CB59C}"/>
              </a:ext>
            </a:extLst>
          </p:cNvPr>
          <p:cNvGrpSpPr/>
          <p:nvPr/>
        </p:nvGrpSpPr>
        <p:grpSpPr>
          <a:xfrm>
            <a:off x="7395732" y="1800000"/>
            <a:ext cx="1080000" cy="2088000"/>
            <a:chOff x="701211" y="1800000"/>
            <a:chExt cx="1080000" cy="2088000"/>
          </a:xfrm>
        </p:grpSpPr>
        <p:sp>
          <p:nvSpPr>
            <p:cNvPr id="160" name="立方体 159">
              <a:extLst>
                <a:ext uri="{FF2B5EF4-FFF2-40B4-BE49-F238E27FC236}">
                  <a16:creationId xmlns:a16="http://schemas.microsoft.com/office/drawing/2014/main" id="{D0745696-9F12-85EB-1E6D-0EFBB9224CDB}"/>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61" name="立方体 160">
              <a:extLst>
                <a:ext uri="{FF2B5EF4-FFF2-40B4-BE49-F238E27FC236}">
                  <a16:creationId xmlns:a16="http://schemas.microsoft.com/office/drawing/2014/main" id="{65C1A767-738B-9523-FFCC-63AAAFBFEF52}"/>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62" name="立方体 161">
              <a:extLst>
                <a:ext uri="{FF2B5EF4-FFF2-40B4-BE49-F238E27FC236}">
                  <a16:creationId xmlns:a16="http://schemas.microsoft.com/office/drawing/2014/main" id="{D9CFD0E0-C208-7574-CA87-9D6C22E07706}"/>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63" name="立方体 162">
              <a:extLst>
                <a:ext uri="{FF2B5EF4-FFF2-40B4-BE49-F238E27FC236}">
                  <a16:creationId xmlns:a16="http://schemas.microsoft.com/office/drawing/2014/main" id="{CE3644D1-4181-F2DA-1919-BBC93B29A670}"/>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64" name="立方体 163">
              <a:extLst>
                <a:ext uri="{FF2B5EF4-FFF2-40B4-BE49-F238E27FC236}">
                  <a16:creationId xmlns:a16="http://schemas.microsoft.com/office/drawing/2014/main" id="{7C29078C-C72B-F275-B0B5-115DD08A76E3}"/>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65" name="圆柱体 164">
              <a:extLst>
                <a:ext uri="{FF2B5EF4-FFF2-40B4-BE49-F238E27FC236}">
                  <a16:creationId xmlns:a16="http://schemas.microsoft.com/office/drawing/2014/main" id="{B1CBBC70-EA4C-BF21-68A8-33712257D49D}"/>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66" name="组合 165">
            <a:extLst>
              <a:ext uri="{FF2B5EF4-FFF2-40B4-BE49-F238E27FC236}">
                <a16:creationId xmlns:a16="http://schemas.microsoft.com/office/drawing/2014/main" id="{992480B1-FD01-C4B6-6B87-CB608E70F3F0}"/>
              </a:ext>
            </a:extLst>
          </p:cNvPr>
          <p:cNvGrpSpPr/>
          <p:nvPr/>
        </p:nvGrpSpPr>
        <p:grpSpPr>
          <a:xfrm>
            <a:off x="701211" y="1800000"/>
            <a:ext cx="1080000" cy="2088000"/>
            <a:chOff x="701211" y="1800000"/>
            <a:chExt cx="1080000" cy="2088000"/>
          </a:xfrm>
        </p:grpSpPr>
        <p:sp>
          <p:nvSpPr>
            <p:cNvPr id="167" name="立方体 166">
              <a:extLst>
                <a:ext uri="{FF2B5EF4-FFF2-40B4-BE49-F238E27FC236}">
                  <a16:creationId xmlns:a16="http://schemas.microsoft.com/office/drawing/2014/main" id="{CC668458-7336-407B-29F0-BE1EB5D2AB3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68" name="立方体 167">
              <a:extLst>
                <a:ext uri="{FF2B5EF4-FFF2-40B4-BE49-F238E27FC236}">
                  <a16:creationId xmlns:a16="http://schemas.microsoft.com/office/drawing/2014/main" id="{4607A48D-C7EA-D088-B874-DA2A86AF0EDA}"/>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69" name="立方体 168">
              <a:extLst>
                <a:ext uri="{FF2B5EF4-FFF2-40B4-BE49-F238E27FC236}">
                  <a16:creationId xmlns:a16="http://schemas.microsoft.com/office/drawing/2014/main" id="{0275791C-28F7-C432-290A-E2ABC35F6B90}"/>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70" name="立方体 169">
              <a:extLst>
                <a:ext uri="{FF2B5EF4-FFF2-40B4-BE49-F238E27FC236}">
                  <a16:creationId xmlns:a16="http://schemas.microsoft.com/office/drawing/2014/main" id="{DAD61620-9016-E764-4141-B6372753A379}"/>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71" name="立方体 170">
              <a:extLst>
                <a:ext uri="{FF2B5EF4-FFF2-40B4-BE49-F238E27FC236}">
                  <a16:creationId xmlns:a16="http://schemas.microsoft.com/office/drawing/2014/main" id="{6356B059-4ADC-82E4-9683-84985B21E62D}"/>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72" name="圆柱体 171">
              <a:extLst>
                <a:ext uri="{FF2B5EF4-FFF2-40B4-BE49-F238E27FC236}">
                  <a16:creationId xmlns:a16="http://schemas.microsoft.com/office/drawing/2014/main" id="{0A624DEC-50DB-87DE-A98B-A76B08583F49}"/>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11" name="Text Box 75"/>
          <p:cNvSpPr txBox="1">
            <a:spLocks noChangeArrowheads="1"/>
          </p:cNvSpPr>
          <p:nvPr/>
        </p:nvSpPr>
        <p:spPr bwMode="auto">
          <a:xfrm>
            <a:off x="1748924" y="2627675"/>
            <a:ext cx="607498" cy="39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首部</a:t>
            </a:r>
          </a:p>
        </p:txBody>
      </p:sp>
      <p:sp>
        <p:nvSpPr>
          <p:cNvPr id="112" name="Line 76"/>
          <p:cNvSpPr>
            <a:spLocks noChangeShapeType="1"/>
          </p:cNvSpPr>
          <p:nvPr/>
        </p:nvSpPr>
        <p:spPr bwMode="auto">
          <a:xfrm>
            <a:off x="2120958" y="3015889"/>
            <a:ext cx="100072" cy="220749"/>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5" name="Line 79"/>
          <p:cNvSpPr>
            <a:spLocks noChangeShapeType="1"/>
          </p:cNvSpPr>
          <p:nvPr/>
        </p:nvSpPr>
        <p:spPr bwMode="auto">
          <a:xfrm flipH="1">
            <a:off x="3596883" y="3015640"/>
            <a:ext cx="109361" cy="20406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6" name="Text Box 80"/>
          <p:cNvSpPr txBox="1">
            <a:spLocks noChangeArrowheads="1"/>
          </p:cNvSpPr>
          <p:nvPr/>
        </p:nvSpPr>
        <p:spPr bwMode="auto">
          <a:xfrm>
            <a:off x="3444013" y="2618371"/>
            <a:ext cx="607954" cy="397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尾部</a:t>
            </a:r>
          </a:p>
        </p:txBody>
      </p:sp>
      <p:sp>
        <p:nvSpPr>
          <p:cNvPr id="2" name="标题 1">
            <a:extLst>
              <a:ext uri="{FF2B5EF4-FFF2-40B4-BE49-F238E27FC236}">
                <a16:creationId xmlns:a16="http://schemas.microsoft.com/office/drawing/2014/main" id="{BB3EDA3A-F5A2-DFC8-D8A3-BEE24CAE3CBB}"/>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75" name="Rectangle 37">
            <a:extLst>
              <a:ext uri="{FF2B5EF4-FFF2-40B4-BE49-F238E27FC236}">
                <a16:creationId xmlns:a16="http://schemas.microsoft.com/office/drawing/2014/main" id="{1C75A4D7-0E84-8C59-9CFD-EBF224C1CC68}"/>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77" name="Rectangle 34">
            <a:extLst>
              <a:ext uri="{FF2B5EF4-FFF2-40B4-BE49-F238E27FC236}">
                <a16:creationId xmlns:a16="http://schemas.microsoft.com/office/drawing/2014/main" id="{BF4B3F2E-C4BE-5BCA-926B-1B9A479401FE}"/>
              </a:ext>
            </a:extLst>
          </p:cNvPr>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79" name="Rectangle 37">
            <a:extLst>
              <a:ext uri="{FF2B5EF4-FFF2-40B4-BE49-F238E27FC236}">
                <a16:creationId xmlns:a16="http://schemas.microsoft.com/office/drawing/2014/main" id="{7CAB36AD-4D02-BA8D-EE81-E33A785D03C7}"/>
              </a:ext>
            </a:extLst>
          </p:cNvPr>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81" name="Rectangle 39">
            <a:extLst>
              <a:ext uri="{FF2B5EF4-FFF2-40B4-BE49-F238E27FC236}">
                <a16:creationId xmlns:a16="http://schemas.microsoft.com/office/drawing/2014/main" id="{37F6C106-8FA6-E51D-A5D4-1766FCFB2A80}"/>
              </a:ext>
            </a:extLst>
          </p:cNvPr>
          <p:cNvSpPr>
            <a:spLocks noChangeArrowheads="1"/>
          </p:cNvSpPr>
          <p:nvPr/>
        </p:nvSpPr>
        <p:spPr bwMode="auto">
          <a:xfrm>
            <a:off x="2738414" y="255453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83" name="Rectangle 40">
            <a:extLst>
              <a:ext uri="{FF2B5EF4-FFF2-40B4-BE49-F238E27FC236}">
                <a16:creationId xmlns:a16="http://schemas.microsoft.com/office/drawing/2014/main" id="{72BFD89A-DDD6-FDFA-B625-EEA57DDAAC58}"/>
              </a:ext>
            </a:extLst>
          </p:cNvPr>
          <p:cNvSpPr>
            <a:spLocks noChangeArrowheads="1"/>
          </p:cNvSpPr>
          <p:nvPr/>
        </p:nvSpPr>
        <p:spPr bwMode="auto">
          <a:xfrm>
            <a:off x="2961614" y="2554531"/>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85" name="Rectangle 66">
            <a:extLst>
              <a:ext uri="{FF2B5EF4-FFF2-40B4-BE49-F238E27FC236}">
                <a16:creationId xmlns:a16="http://schemas.microsoft.com/office/drawing/2014/main" id="{3E6091D7-0EF4-5B0F-E105-F00A8EE31F72}"/>
              </a:ext>
            </a:extLst>
          </p:cNvPr>
          <p:cNvSpPr>
            <a:spLocks noChangeArrowheads="1"/>
          </p:cNvSpPr>
          <p:nvPr/>
        </p:nvSpPr>
        <p:spPr bwMode="auto">
          <a:xfrm>
            <a:off x="2515214" y="2554531"/>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87" name="Rectangle 42">
            <a:extLst>
              <a:ext uri="{FF2B5EF4-FFF2-40B4-BE49-F238E27FC236}">
                <a16:creationId xmlns:a16="http://schemas.microsoft.com/office/drawing/2014/main" id="{F3D88BF5-A3C1-FBC0-26A5-FD18DC710C80}"/>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89" name="Rectangle 43">
            <a:extLst>
              <a:ext uri="{FF2B5EF4-FFF2-40B4-BE49-F238E27FC236}">
                <a16:creationId xmlns:a16="http://schemas.microsoft.com/office/drawing/2014/main" id="{5D50A6D8-0BA4-FC57-1982-DF1C5B150ED2}"/>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91" name="Rectangle 44">
            <a:extLst>
              <a:ext uri="{FF2B5EF4-FFF2-40B4-BE49-F238E27FC236}">
                <a16:creationId xmlns:a16="http://schemas.microsoft.com/office/drawing/2014/main" id="{63BF1CBF-234E-1B58-27B0-5E598A521669}"/>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93" name="Rectangle 70">
            <a:extLst>
              <a:ext uri="{FF2B5EF4-FFF2-40B4-BE49-F238E27FC236}">
                <a16:creationId xmlns:a16="http://schemas.microsoft.com/office/drawing/2014/main" id="{FB3536E7-F823-290C-77D4-27EA7896DAFD}"/>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95" name="Rectangle 46">
            <a:extLst>
              <a:ext uri="{FF2B5EF4-FFF2-40B4-BE49-F238E27FC236}">
                <a16:creationId xmlns:a16="http://schemas.microsoft.com/office/drawing/2014/main" id="{FE113834-392B-1F11-1F18-3CE14944220F}"/>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97" name="Rectangle 47">
            <a:extLst>
              <a:ext uri="{FF2B5EF4-FFF2-40B4-BE49-F238E27FC236}">
                <a16:creationId xmlns:a16="http://schemas.microsoft.com/office/drawing/2014/main" id="{5DBA62B7-88B7-2815-8B8C-410C0D9021D8}"/>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99" name="Rectangle 48">
            <a:extLst>
              <a:ext uri="{FF2B5EF4-FFF2-40B4-BE49-F238E27FC236}">
                <a16:creationId xmlns:a16="http://schemas.microsoft.com/office/drawing/2014/main" id="{77996226-EF56-CB81-AE73-57B07A25CE10}"/>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01" name="Rectangle 49">
            <a:extLst>
              <a:ext uri="{FF2B5EF4-FFF2-40B4-BE49-F238E27FC236}">
                <a16:creationId xmlns:a16="http://schemas.microsoft.com/office/drawing/2014/main" id="{42BBF0FE-C1BC-A64B-BB1F-00D6E587B4F2}"/>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03" name="Rectangle 74">
            <a:extLst>
              <a:ext uri="{FF2B5EF4-FFF2-40B4-BE49-F238E27FC236}">
                <a16:creationId xmlns:a16="http://schemas.microsoft.com/office/drawing/2014/main" id="{653ED3F7-EC0A-9FEC-CA74-DD0CED492BCA}"/>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205" name="Rectangle 78">
            <a:extLst>
              <a:ext uri="{FF2B5EF4-FFF2-40B4-BE49-F238E27FC236}">
                <a16:creationId xmlns:a16="http://schemas.microsoft.com/office/drawing/2014/main" id="{416019A9-6A3E-A48C-BD65-DDD2D5E54E47}"/>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209" name="矩形 208">
            <a:extLst>
              <a:ext uri="{FF2B5EF4-FFF2-40B4-BE49-F238E27FC236}">
                <a16:creationId xmlns:a16="http://schemas.microsoft.com/office/drawing/2014/main" id="{3E6D5A2D-205D-F56F-D50D-36CCBFE2CC00}"/>
              </a:ext>
            </a:extLst>
          </p:cNvPr>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216" name="组合 215">
            <a:extLst>
              <a:ext uri="{FF2B5EF4-FFF2-40B4-BE49-F238E27FC236}">
                <a16:creationId xmlns:a16="http://schemas.microsoft.com/office/drawing/2014/main" id="{3B6731B0-536E-37CD-4001-73A754D071AD}"/>
              </a:ext>
            </a:extLst>
          </p:cNvPr>
          <p:cNvGrpSpPr/>
          <p:nvPr/>
        </p:nvGrpSpPr>
        <p:grpSpPr>
          <a:xfrm>
            <a:off x="3960000" y="2808000"/>
            <a:ext cx="1080000" cy="1080000"/>
            <a:chOff x="2807995" y="2745746"/>
            <a:chExt cx="1080000" cy="1080000"/>
          </a:xfrm>
        </p:grpSpPr>
        <p:sp>
          <p:nvSpPr>
            <p:cNvPr id="217" name="立方体 216">
              <a:extLst>
                <a:ext uri="{FF2B5EF4-FFF2-40B4-BE49-F238E27FC236}">
                  <a16:creationId xmlns:a16="http://schemas.microsoft.com/office/drawing/2014/main" id="{D9916454-1C67-CC53-2B0A-C6565DC8159A}"/>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18" name="立方体 217">
              <a:extLst>
                <a:ext uri="{FF2B5EF4-FFF2-40B4-BE49-F238E27FC236}">
                  <a16:creationId xmlns:a16="http://schemas.microsoft.com/office/drawing/2014/main" id="{A85BDE88-C8D9-0DB9-25DE-D10EDAA80F0C}"/>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19" name="立方体 218">
              <a:extLst>
                <a:ext uri="{FF2B5EF4-FFF2-40B4-BE49-F238E27FC236}">
                  <a16:creationId xmlns:a16="http://schemas.microsoft.com/office/drawing/2014/main" id="{5EF46CFF-6CC1-145B-B162-256940E1A7B4}"/>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20" name="立方体 219">
              <a:extLst>
                <a:ext uri="{FF2B5EF4-FFF2-40B4-BE49-F238E27FC236}">
                  <a16:creationId xmlns:a16="http://schemas.microsoft.com/office/drawing/2014/main" id="{4C15BA5D-3D53-3FF5-7B04-304EDA7DB80A}"/>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21" name="立方体 220">
              <a:extLst>
                <a:ext uri="{FF2B5EF4-FFF2-40B4-BE49-F238E27FC236}">
                  <a16:creationId xmlns:a16="http://schemas.microsoft.com/office/drawing/2014/main" id="{91405F53-FB4D-9275-EA31-BD41B17CE38F}"/>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223" name="AutoShape 4">
            <a:extLst>
              <a:ext uri="{FF2B5EF4-FFF2-40B4-BE49-F238E27FC236}">
                <a16:creationId xmlns:a16="http://schemas.microsoft.com/office/drawing/2014/main" id="{B56B2D6C-C063-B6BF-4F79-9104B4653518}"/>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5" name="AutoShape 4">
            <a:extLst>
              <a:ext uri="{FF2B5EF4-FFF2-40B4-BE49-F238E27FC236}">
                <a16:creationId xmlns:a16="http://schemas.microsoft.com/office/drawing/2014/main" id="{3ECC1FAD-65C7-F35C-EC97-497FF033AAC5}"/>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7" name="Text Box 26">
            <a:extLst>
              <a:ext uri="{FF2B5EF4-FFF2-40B4-BE49-F238E27FC236}">
                <a16:creationId xmlns:a16="http://schemas.microsoft.com/office/drawing/2014/main" id="{6115F459-B80D-07B8-AD08-7E4006B85BFC}"/>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29" name="Text Box 26">
            <a:extLst>
              <a:ext uri="{FF2B5EF4-FFF2-40B4-BE49-F238E27FC236}">
                <a16:creationId xmlns:a16="http://schemas.microsoft.com/office/drawing/2014/main" id="{7EA23287-9CEA-B558-E561-FA9CF62133EF}"/>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14116530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 name="组合 147">
            <a:extLst>
              <a:ext uri="{FF2B5EF4-FFF2-40B4-BE49-F238E27FC236}">
                <a16:creationId xmlns:a16="http://schemas.microsoft.com/office/drawing/2014/main" id="{12791F2E-B929-D82D-937E-CE6EB1EA2496}"/>
              </a:ext>
            </a:extLst>
          </p:cNvPr>
          <p:cNvGrpSpPr/>
          <p:nvPr/>
        </p:nvGrpSpPr>
        <p:grpSpPr>
          <a:xfrm>
            <a:off x="7395732" y="1800000"/>
            <a:ext cx="1080000" cy="2088000"/>
            <a:chOff x="701211" y="1800000"/>
            <a:chExt cx="1080000" cy="2088000"/>
          </a:xfrm>
        </p:grpSpPr>
        <p:sp>
          <p:nvSpPr>
            <p:cNvPr id="149" name="立方体 148">
              <a:extLst>
                <a:ext uri="{FF2B5EF4-FFF2-40B4-BE49-F238E27FC236}">
                  <a16:creationId xmlns:a16="http://schemas.microsoft.com/office/drawing/2014/main" id="{FF035564-2A4A-A4AD-11CE-305096A5298E}"/>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50" name="立方体 149">
              <a:extLst>
                <a:ext uri="{FF2B5EF4-FFF2-40B4-BE49-F238E27FC236}">
                  <a16:creationId xmlns:a16="http://schemas.microsoft.com/office/drawing/2014/main" id="{3B934C37-CD2F-1A53-59B7-63E6BCF22EC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51" name="立方体 150">
              <a:extLst>
                <a:ext uri="{FF2B5EF4-FFF2-40B4-BE49-F238E27FC236}">
                  <a16:creationId xmlns:a16="http://schemas.microsoft.com/office/drawing/2014/main" id="{A28823B2-1E7A-4A56-6E9D-A1DF7D8A834B}"/>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52" name="立方体 151">
              <a:extLst>
                <a:ext uri="{FF2B5EF4-FFF2-40B4-BE49-F238E27FC236}">
                  <a16:creationId xmlns:a16="http://schemas.microsoft.com/office/drawing/2014/main" id="{4C2C9698-7E45-7EE1-4552-544AC5EBD46A}"/>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53" name="立方体 152">
              <a:extLst>
                <a:ext uri="{FF2B5EF4-FFF2-40B4-BE49-F238E27FC236}">
                  <a16:creationId xmlns:a16="http://schemas.microsoft.com/office/drawing/2014/main" id="{C63E48FB-C178-9B4F-2605-DBFA25EAE05A}"/>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54" name="圆柱体 153">
              <a:extLst>
                <a:ext uri="{FF2B5EF4-FFF2-40B4-BE49-F238E27FC236}">
                  <a16:creationId xmlns:a16="http://schemas.microsoft.com/office/drawing/2014/main" id="{BB4FEB71-0E40-CCAF-BBB8-C38EA40A70A0}"/>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55" name="组合 154">
            <a:extLst>
              <a:ext uri="{FF2B5EF4-FFF2-40B4-BE49-F238E27FC236}">
                <a16:creationId xmlns:a16="http://schemas.microsoft.com/office/drawing/2014/main" id="{201913DD-E7B9-2997-D324-5AFCFC3FC065}"/>
              </a:ext>
            </a:extLst>
          </p:cNvPr>
          <p:cNvGrpSpPr/>
          <p:nvPr/>
        </p:nvGrpSpPr>
        <p:grpSpPr>
          <a:xfrm>
            <a:off x="701211" y="1800000"/>
            <a:ext cx="1080000" cy="2088000"/>
            <a:chOff x="701211" y="1800000"/>
            <a:chExt cx="1080000" cy="2088000"/>
          </a:xfrm>
        </p:grpSpPr>
        <p:sp>
          <p:nvSpPr>
            <p:cNvPr id="156" name="立方体 155">
              <a:extLst>
                <a:ext uri="{FF2B5EF4-FFF2-40B4-BE49-F238E27FC236}">
                  <a16:creationId xmlns:a16="http://schemas.microsoft.com/office/drawing/2014/main" id="{D9781AAB-8C8C-0576-A030-A9ABF6A85D8F}"/>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57" name="立方体 156">
              <a:extLst>
                <a:ext uri="{FF2B5EF4-FFF2-40B4-BE49-F238E27FC236}">
                  <a16:creationId xmlns:a16="http://schemas.microsoft.com/office/drawing/2014/main" id="{57F328AA-1A7F-DFA6-D708-C9BCB497571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58" name="立方体 157">
              <a:extLst>
                <a:ext uri="{FF2B5EF4-FFF2-40B4-BE49-F238E27FC236}">
                  <a16:creationId xmlns:a16="http://schemas.microsoft.com/office/drawing/2014/main" id="{4CC85244-297C-3CCE-B08C-5655DBA903F1}"/>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59" name="立方体 158">
              <a:extLst>
                <a:ext uri="{FF2B5EF4-FFF2-40B4-BE49-F238E27FC236}">
                  <a16:creationId xmlns:a16="http://schemas.microsoft.com/office/drawing/2014/main" id="{C4E7F66E-19BA-9D51-68C0-85F57226D16F}"/>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60" name="立方体 159">
              <a:extLst>
                <a:ext uri="{FF2B5EF4-FFF2-40B4-BE49-F238E27FC236}">
                  <a16:creationId xmlns:a16="http://schemas.microsoft.com/office/drawing/2014/main" id="{8431B35C-71A7-0EA0-6E9C-0683CD2C635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61" name="圆柱体 160">
              <a:extLst>
                <a:ext uri="{FF2B5EF4-FFF2-40B4-BE49-F238E27FC236}">
                  <a16:creationId xmlns:a16="http://schemas.microsoft.com/office/drawing/2014/main" id="{7742C8A5-EA7A-0A5F-A5CF-59FFF0E45C96}"/>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 name="标题 1">
            <a:extLst>
              <a:ext uri="{FF2B5EF4-FFF2-40B4-BE49-F238E27FC236}">
                <a16:creationId xmlns:a16="http://schemas.microsoft.com/office/drawing/2014/main" id="{CB2CD250-FE46-AFE9-7169-A795B877A764}"/>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useBgFill="1">
        <p:nvSpPr>
          <p:cNvPr id="164" name="Rectangle 37">
            <a:extLst>
              <a:ext uri="{FF2B5EF4-FFF2-40B4-BE49-F238E27FC236}">
                <a16:creationId xmlns:a16="http://schemas.microsoft.com/office/drawing/2014/main" id="{7152AED5-02E8-63D9-6ACE-8173C2A37B79}"/>
              </a:ext>
            </a:extLst>
          </p:cNvPr>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66" name="Rectangle 34">
            <a:extLst>
              <a:ext uri="{FF2B5EF4-FFF2-40B4-BE49-F238E27FC236}">
                <a16:creationId xmlns:a16="http://schemas.microsoft.com/office/drawing/2014/main" id="{33C10B0B-03A2-E50E-96B8-204A3AD0BF65}"/>
              </a:ext>
            </a:extLst>
          </p:cNvPr>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68" name="Rectangle 37">
            <a:extLst>
              <a:ext uri="{FF2B5EF4-FFF2-40B4-BE49-F238E27FC236}">
                <a16:creationId xmlns:a16="http://schemas.microsoft.com/office/drawing/2014/main" id="{F3AB9C91-9B8D-6560-1279-5C29F011FFB7}"/>
              </a:ext>
            </a:extLst>
          </p:cNvPr>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70" name="Rectangle 39">
            <a:extLst>
              <a:ext uri="{FF2B5EF4-FFF2-40B4-BE49-F238E27FC236}">
                <a16:creationId xmlns:a16="http://schemas.microsoft.com/office/drawing/2014/main" id="{DC1BF727-D6A2-5AD7-8B15-DE099FC56751}"/>
              </a:ext>
            </a:extLst>
          </p:cNvPr>
          <p:cNvSpPr>
            <a:spLocks noChangeArrowheads="1"/>
          </p:cNvSpPr>
          <p:nvPr/>
        </p:nvSpPr>
        <p:spPr bwMode="auto">
          <a:xfrm>
            <a:off x="2738414" y="255453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72" name="Rectangle 40">
            <a:extLst>
              <a:ext uri="{FF2B5EF4-FFF2-40B4-BE49-F238E27FC236}">
                <a16:creationId xmlns:a16="http://schemas.microsoft.com/office/drawing/2014/main" id="{6E77507D-BBA7-37D0-6FAF-CA605C284304}"/>
              </a:ext>
            </a:extLst>
          </p:cNvPr>
          <p:cNvSpPr>
            <a:spLocks noChangeArrowheads="1"/>
          </p:cNvSpPr>
          <p:nvPr/>
        </p:nvSpPr>
        <p:spPr bwMode="auto">
          <a:xfrm>
            <a:off x="2961614" y="2554531"/>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4" name="Rectangle 66">
            <a:extLst>
              <a:ext uri="{FF2B5EF4-FFF2-40B4-BE49-F238E27FC236}">
                <a16:creationId xmlns:a16="http://schemas.microsoft.com/office/drawing/2014/main" id="{92B3E8AB-936F-F954-8672-71D0010A195F}"/>
              </a:ext>
            </a:extLst>
          </p:cNvPr>
          <p:cNvSpPr>
            <a:spLocks noChangeArrowheads="1"/>
          </p:cNvSpPr>
          <p:nvPr/>
        </p:nvSpPr>
        <p:spPr bwMode="auto">
          <a:xfrm>
            <a:off x="2515214" y="2554531"/>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6" name="Rectangle 42">
            <a:extLst>
              <a:ext uri="{FF2B5EF4-FFF2-40B4-BE49-F238E27FC236}">
                <a16:creationId xmlns:a16="http://schemas.microsoft.com/office/drawing/2014/main" id="{336A28EE-0DF3-B15F-E4C7-EF48DE20E228}"/>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8" name="Rectangle 43">
            <a:extLst>
              <a:ext uri="{FF2B5EF4-FFF2-40B4-BE49-F238E27FC236}">
                <a16:creationId xmlns:a16="http://schemas.microsoft.com/office/drawing/2014/main" id="{8C65986C-A70C-D841-58C3-95A89CFD1097}"/>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80" name="Rectangle 44">
            <a:extLst>
              <a:ext uri="{FF2B5EF4-FFF2-40B4-BE49-F238E27FC236}">
                <a16:creationId xmlns:a16="http://schemas.microsoft.com/office/drawing/2014/main" id="{2613DB17-85B5-B39F-9E5E-AC3A834B4E0D}"/>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82" name="Rectangle 70">
            <a:extLst>
              <a:ext uri="{FF2B5EF4-FFF2-40B4-BE49-F238E27FC236}">
                <a16:creationId xmlns:a16="http://schemas.microsoft.com/office/drawing/2014/main" id="{CE0C6FC5-3D83-52F8-5620-9DFDE0F1AB12}"/>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84" name="Rectangle 46">
            <a:extLst>
              <a:ext uri="{FF2B5EF4-FFF2-40B4-BE49-F238E27FC236}">
                <a16:creationId xmlns:a16="http://schemas.microsoft.com/office/drawing/2014/main" id="{004826AA-8BE2-1868-5DD3-8BC67859EB54}"/>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86" name="Rectangle 47">
            <a:extLst>
              <a:ext uri="{FF2B5EF4-FFF2-40B4-BE49-F238E27FC236}">
                <a16:creationId xmlns:a16="http://schemas.microsoft.com/office/drawing/2014/main" id="{A1632A01-1343-C33C-E726-04866DDFB9CF}"/>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88" name="Rectangle 48">
            <a:extLst>
              <a:ext uri="{FF2B5EF4-FFF2-40B4-BE49-F238E27FC236}">
                <a16:creationId xmlns:a16="http://schemas.microsoft.com/office/drawing/2014/main" id="{86A67566-67C0-F1C0-3E64-482DCFDD1989}"/>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90" name="Rectangle 49">
            <a:extLst>
              <a:ext uri="{FF2B5EF4-FFF2-40B4-BE49-F238E27FC236}">
                <a16:creationId xmlns:a16="http://schemas.microsoft.com/office/drawing/2014/main" id="{4BF53313-5495-9229-DCF1-88CE99E28E7A}"/>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92" name="Rectangle 74">
            <a:extLst>
              <a:ext uri="{FF2B5EF4-FFF2-40B4-BE49-F238E27FC236}">
                <a16:creationId xmlns:a16="http://schemas.microsoft.com/office/drawing/2014/main" id="{2551B574-1778-9ADD-3E14-FDBACC5C221B}"/>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194" name="Rectangle 78">
            <a:extLst>
              <a:ext uri="{FF2B5EF4-FFF2-40B4-BE49-F238E27FC236}">
                <a16:creationId xmlns:a16="http://schemas.microsoft.com/office/drawing/2014/main" id="{2E4F6E04-C42F-22C0-CD7D-2F3150C69B12}"/>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196" name="Rectangle 35">
            <a:extLst>
              <a:ext uri="{FF2B5EF4-FFF2-40B4-BE49-F238E27FC236}">
                <a16:creationId xmlns:a16="http://schemas.microsoft.com/office/drawing/2014/main" id="{08264DC0-5BB9-7F70-37F4-9352618478FE}"/>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
        <p:nvSpPr>
          <p:cNvPr id="198" name="矩形 197">
            <a:extLst>
              <a:ext uri="{FF2B5EF4-FFF2-40B4-BE49-F238E27FC236}">
                <a16:creationId xmlns:a16="http://schemas.microsoft.com/office/drawing/2014/main" id="{230AA5A2-72FF-170C-81A7-DA3517412153}"/>
              </a:ext>
            </a:extLst>
          </p:cNvPr>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nvGrpSpPr>
          <p:cNvPr id="72" name="Group 50"/>
          <p:cNvGrpSpPr/>
          <p:nvPr/>
        </p:nvGrpSpPr>
        <p:grpSpPr bwMode="auto">
          <a:xfrm>
            <a:off x="1237477" y="2076244"/>
            <a:ext cx="2052947" cy="205414"/>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205" name="组合 204">
            <a:extLst>
              <a:ext uri="{FF2B5EF4-FFF2-40B4-BE49-F238E27FC236}">
                <a16:creationId xmlns:a16="http://schemas.microsoft.com/office/drawing/2014/main" id="{24D73C33-AA18-909D-28CD-CC87F4DF89EE}"/>
              </a:ext>
            </a:extLst>
          </p:cNvPr>
          <p:cNvGrpSpPr/>
          <p:nvPr/>
        </p:nvGrpSpPr>
        <p:grpSpPr>
          <a:xfrm>
            <a:off x="3960000" y="2808000"/>
            <a:ext cx="1080000" cy="1080000"/>
            <a:chOff x="2807995" y="2745746"/>
            <a:chExt cx="1080000" cy="1080000"/>
          </a:xfrm>
        </p:grpSpPr>
        <p:sp>
          <p:nvSpPr>
            <p:cNvPr id="206" name="立方体 205">
              <a:extLst>
                <a:ext uri="{FF2B5EF4-FFF2-40B4-BE49-F238E27FC236}">
                  <a16:creationId xmlns:a16="http://schemas.microsoft.com/office/drawing/2014/main" id="{3A0B48E3-2954-14DC-6F4F-A7B602A01FFB}"/>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07" name="立方体 206">
              <a:extLst>
                <a:ext uri="{FF2B5EF4-FFF2-40B4-BE49-F238E27FC236}">
                  <a16:creationId xmlns:a16="http://schemas.microsoft.com/office/drawing/2014/main" id="{B0AC3F5D-8B2C-75FA-ABD1-D1D803FC9D72}"/>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08" name="立方体 207">
              <a:extLst>
                <a:ext uri="{FF2B5EF4-FFF2-40B4-BE49-F238E27FC236}">
                  <a16:creationId xmlns:a16="http://schemas.microsoft.com/office/drawing/2014/main" id="{FFC23198-B17A-42B7-8FFE-3E84E2CFFA04}"/>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09" name="立方体 208">
              <a:extLst>
                <a:ext uri="{FF2B5EF4-FFF2-40B4-BE49-F238E27FC236}">
                  <a16:creationId xmlns:a16="http://schemas.microsoft.com/office/drawing/2014/main" id="{406A764E-A8D7-BB08-198C-20315BA9475D}"/>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10" name="立方体 209">
              <a:extLst>
                <a:ext uri="{FF2B5EF4-FFF2-40B4-BE49-F238E27FC236}">
                  <a16:creationId xmlns:a16="http://schemas.microsoft.com/office/drawing/2014/main" id="{4BDDF274-6A51-2D27-3FA8-CC009DC79A85}"/>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
        <p:nvSpPr>
          <p:cNvPr id="212" name="AutoShape 4">
            <a:extLst>
              <a:ext uri="{FF2B5EF4-FFF2-40B4-BE49-F238E27FC236}">
                <a16:creationId xmlns:a16="http://schemas.microsoft.com/office/drawing/2014/main" id="{8158F994-3345-F7F9-FAF6-D00F0FEB9811}"/>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14" name="AutoShape 4">
            <a:extLst>
              <a:ext uri="{FF2B5EF4-FFF2-40B4-BE49-F238E27FC236}">
                <a16:creationId xmlns:a16="http://schemas.microsoft.com/office/drawing/2014/main" id="{A58EAB20-10CA-EB7E-D2C5-D2542A74620F}"/>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16" name="Text Box 26">
            <a:extLst>
              <a:ext uri="{FF2B5EF4-FFF2-40B4-BE49-F238E27FC236}">
                <a16:creationId xmlns:a16="http://schemas.microsoft.com/office/drawing/2014/main" id="{C47325AF-CF76-7FFE-E90C-24F9A2435394}"/>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18" name="Text Box 26">
            <a:extLst>
              <a:ext uri="{FF2B5EF4-FFF2-40B4-BE49-F238E27FC236}">
                <a16:creationId xmlns:a16="http://schemas.microsoft.com/office/drawing/2014/main" id="{9BCB0706-39A6-3685-F433-CA6F42379D32}"/>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Tree>
    <p:extLst>
      <p:ext uri="{BB962C8B-B14F-4D97-AF65-F5344CB8AC3E}">
        <p14:creationId xmlns:p14="http://schemas.microsoft.com/office/powerpoint/2010/main" val="595645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AutoShape 4">
            <a:extLst>
              <a:ext uri="{FF2B5EF4-FFF2-40B4-BE49-F238E27FC236}">
                <a16:creationId xmlns:a16="http://schemas.microsoft.com/office/drawing/2014/main" id="{E18FA0CF-E4E1-CD72-4504-6A0154EC428C}"/>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23" name="AutoShape 4">
            <a:extLst>
              <a:ext uri="{FF2B5EF4-FFF2-40B4-BE49-F238E27FC236}">
                <a16:creationId xmlns:a16="http://schemas.microsoft.com/office/drawing/2014/main" id="{AFEB8230-501A-63EC-A813-F209E6BA3541}"/>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30" name="Text Box 26">
            <a:extLst>
              <a:ext uri="{FF2B5EF4-FFF2-40B4-BE49-F238E27FC236}">
                <a16:creationId xmlns:a16="http://schemas.microsoft.com/office/drawing/2014/main" id="{51BA213B-7EE0-1A8B-4DEB-4C989DD8C4ED}"/>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32" name="Text Box 26">
            <a:extLst>
              <a:ext uri="{FF2B5EF4-FFF2-40B4-BE49-F238E27FC236}">
                <a16:creationId xmlns:a16="http://schemas.microsoft.com/office/drawing/2014/main" id="{BC1BFF9A-D50A-8BD9-AC6C-B03AF258BF6F}"/>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94" name="组合 93">
            <a:extLst>
              <a:ext uri="{FF2B5EF4-FFF2-40B4-BE49-F238E27FC236}">
                <a16:creationId xmlns:a16="http://schemas.microsoft.com/office/drawing/2014/main" id="{D59294A2-92CB-2679-87B6-F6F7D61799BC}"/>
              </a:ext>
            </a:extLst>
          </p:cNvPr>
          <p:cNvGrpSpPr/>
          <p:nvPr/>
        </p:nvGrpSpPr>
        <p:grpSpPr>
          <a:xfrm>
            <a:off x="7395732" y="1800000"/>
            <a:ext cx="1080000" cy="2088000"/>
            <a:chOff x="701211" y="1800000"/>
            <a:chExt cx="1080000" cy="2088000"/>
          </a:xfrm>
        </p:grpSpPr>
        <p:sp>
          <p:nvSpPr>
            <p:cNvPr id="96" name="立方体 95">
              <a:extLst>
                <a:ext uri="{FF2B5EF4-FFF2-40B4-BE49-F238E27FC236}">
                  <a16:creationId xmlns:a16="http://schemas.microsoft.com/office/drawing/2014/main" id="{8EE23840-E493-7CD0-4E69-02968BE7148A}"/>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97" name="立方体 96">
              <a:extLst>
                <a:ext uri="{FF2B5EF4-FFF2-40B4-BE49-F238E27FC236}">
                  <a16:creationId xmlns:a16="http://schemas.microsoft.com/office/drawing/2014/main" id="{D781551C-2BE5-EA3D-1A59-BD5E4382C4C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8" name="立方体 97">
              <a:extLst>
                <a:ext uri="{FF2B5EF4-FFF2-40B4-BE49-F238E27FC236}">
                  <a16:creationId xmlns:a16="http://schemas.microsoft.com/office/drawing/2014/main" id="{8BCC5A60-675A-306B-DB40-81C339C41E9E}"/>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1" name="立方体 100">
              <a:extLst>
                <a:ext uri="{FF2B5EF4-FFF2-40B4-BE49-F238E27FC236}">
                  <a16:creationId xmlns:a16="http://schemas.microsoft.com/office/drawing/2014/main" id="{62F84A7E-9332-A112-1809-CC6956866F3C}"/>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02" name="立方体 101">
              <a:extLst>
                <a:ext uri="{FF2B5EF4-FFF2-40B4-BE49-F238E27FC236}">
                  <a16:creationId xmlns:a16="http://schemas.microsoft.com/office/drawing/2014/main" id="{82857230-82E6-B50D-E86D-7645A10B8B51}"/>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03" name="圆柱体 102">
              <a:extLst>
                <a:ext uri="{FF2B5EF4-FFF2-40B4-BE49-F238E27FC236}">
                  <a16:creationId xmlns:a16="http://schemas.microsoft.com/office/drawing/2014/main" id="{9260F218-7ED6-2E1C-802B-67E7B24526ED}"/>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04" name="组合 103">
            <a:extLst>
              <a:ext uri="{FF2B5EF4-FFF2-40B4-BE49-F238E27FC236}">
                <a16:creationId xmlns:a16="http://schemas.microsoft.com/office/drawing/2014/main" id="{353E13B6-9752-94E3-8EC9-2388841D4427}"/>
              </a:ext>
            </a:extLst>
          </p:cNvPr>
          <p:cNvGrpSpPr/>
          <p:nvPr/>
        </p:nvGrpSpPr>
        <p:grpSpPr>
          <a:xfrm>
            <a:off x="701211" y="1800000"/>
            <a:ext cx="1080000" cy="2088000"/>
            <a:chOff x="701211" y="1800000"/>
            <a:chExt cx="1080000" cy="2088000"/>
          </a:xfrm>
        </p:grpSpPr>
        <p:sp>
          <p:nvSpPr>
            <p:cNvPr id="105" name="立方体 104">
              <a:extLst>
                <a:ext uri="{FF2B5EF4-FFF2-40B4-BE49-F238E27FC236}">
                  <a16:creationId xmlns:a16="http://schemas.microsoft.com/office/drawing/2014/main" id="{2F632906-3653-F791-454D-77BB80A228B1}"/>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06" name="立方体 105">
              <a:extLst>
                <a:ext uri="{FF2B5EF4-FFF2-40B4-BE49-F238E27FC236}">
                  <a16:creationId xmlns:a16="http://schemas.microsoft.com/office/drawing/2014/main" id="{959B1B51-B578-03E4-0ACD-E2EEB34AF0EA}"/>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07" name="立方体 106">
              <a:extLst>
                <a:ext uri="{FF2B5EF4-FFF2-40B4-BE49-F238E27FC236}">
                  <a16:creationId xmlns:a16="http://schemas.microsoft.com/office/drawing/2014/main" id="{B543FBE8-D0FC-AE17-FCAD-5D99A68BAD03}"/>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8" name="立方体 107">
              <a:extLst>
                <a:ext uri="{FF2B5EF4-FFF2-40B4-BE49-F238E27FC236}">
                  <a16:creationId xmlns:a16="http://schemas.microsoft.com/office/drawing/2014/main" id="{D74927F5-4822-2DF5-8385-8DE0F311200E}"/>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0" name="立方体 109">
              <a:extLst>
                <a:ext uri="{FF2B5EF4-FFF2-40B4-BE49-F238E27FC236}">
                  <a16:creationId xmlns:a16="http://schemas.microsoft.com/office/drawing/2014/main" id="{4AAB45A9-7B44-8868-D75A-EF26FF096A8E}"/>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2" name="圆柱体 111">
              <a:extLst>
                <a:ext uri="{FF2B5EF4-FFF2-40B4-BE49-F238E27FC236}">
                  <a16:creationId xmlns:a16="http://schemas.microsoft.com/office/drawing/2014/main" id="{EA7AAF3C-D3AE-D6F3-8107-72183C415490}"/>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 name="标题 1">
            <a:extLst>
              <a:ext uri="{FF2B5EF4-FFF2-40B4-BE49-F238E27FC236}">
                <a16:creationId xmlns:a16="http://schemas.microsoft.com/office/drawing/2014/main" id="{744D87AC-D75B-20E7-1E3F-6982E36509AD}"/>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grpSp>
        <p:nvGrpSpPr>
          <p:cNvPr id="113" name="组合 112">
            <a:extLst>
              <a:ext uri="{FF2B5EF4-FFF2-40B4-BE49-F238E27FC236}">
                <a16:creationId xmlns:a16="http://schemas.microsoft.com/office/drawing/2014/main" id="{85439FD1-C978-B9A7-3A51-1EE1D05BF1BA}"/>
              </a:ext>
            </a:extLst>
          </p:cNvPr>
          <p:cNvGrpSpPr/>
          <p:nvPr/>
        </p:nvGrpSpPr>
        <p:grpSpPr>
          <a:xfrm>
            <a:off x="3960000" y="2808000"/>
            <a:ext cx="1080000" cy="1080000"/>
            <a:chOff x="2807995" y="2745746"/>
            <a:chExt cx="1080000" cy="1080000"/>
          </a:xfrm>
        </p:grpSpPr>
        <p:sp>
          <p:nvSpPr>
            <p:cNvPr id="114" name="立方体 113">
              <a:extLst>
                <a:ext uri="{FF2B5EF4-FFF2-40B4-BE49-F238E27FC236}">
                  <a16:creationId xmlns:a16="http://schemas.microsoft.com/office/drawing/2014/main" id="{6B88DE2D-D09F-275E-02B1-D3563CBDE4A7}"/>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15" name="立方体 114">
              <a:extLst>
                <a:ext uri="{FF2B5EF4-FFF2-40B4-BE49-F238E27FC236}">
                  <a16:creationId xmlns:a16="http://schemas.microsoft.com/office/drawing/2014/main" id="{8880A67F-299B-645C-7B38-D7E43C6C544E}"/>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16" name="立方体 115">
              <a:extLst>
                <a:ext uri="{FF2B5EF4-FFF2-40B4-BE49-F238E27FC236}">
                  <a16:creationId xmlns:a16="http://schemas.microsoft.com/office/drawing/2014/main" id="{BBBDEE8C-C4FF-CBAA-04D8-86EC8FCCBCEC}"/>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17" name="立方体 116">
              <a:extLst>
                <a:ext uri="{FF2B5EF4-FFF2-40B4-BE49-F238E27FC236}">
                  <a16:creationId xmlns:a16="http://schemas.microsoft.com/office/drawing/2014/main" id="{A8E41C9A-7DF7-639E-AAB2-5D487DC6D35D}"/>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18" name="立方体 117">
              <a:extLst>
                <a:ext uri="{FF2B5EF4-FFF2-40B4-BE49-F238E27FC236}">
                  <a16:creationId xmlns:a16="http://schemas.microsoft.com/office/drawing/2014/main" id="{6E377401-053C-6930-D588-FCF7A9EE5CC5}"/>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Tree>
    <p:extLst>
      <p:ext uri="{BB962C8B-B14F-4D97-AF65-F5344CB8AC3E}">
        <p14:creationId xmlns:p14="http://schemas.microsoft.com/office/powerpoint/2010/main" val="14888509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750"/>
                                        <p:tgtEl>
                                          <p:spTgt spid="100"/>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wipe(left)">
                                      <p:cBhvr>
                                        <p:cTn id="11" dur="750"/>
                                        <p:tgtEl>
                                          <p:spTgt spid="12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down)">
                                      <p:cBhvr>
                                        <p:cTn id="15"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1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AutoShape 4">
            <a:extLst>
              <a:ext uri="{FF2B5EF4-FFF2-40B4-BE49-F238E27FC236}">
                <a16:creationId xmlns:a16="http://schemas.microsoft.com/office/drawing/2014/main" id="{52B46D5E-131C-E439-7C22-F27CF6C65A19}"/>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59" name="AutoShape 4">
            <a:extLst>
              <a:ext uri="{FF2B5EF4-FFF2-40B4-BE49-F238E27FC236}">
                <a16:creationId xmlns:a16="http://schemas.microsoft.com/office/drawing/2014/main" id="{563A62D4-B123-7582-3B93-E7B52EDB372A}"/>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1" name="Text Box 26">
            <a:extLst>
              <a:ext uri="{FF2B5EF4-FFF2-40B4-BE49-F238E27FC236}">
                <a16:creationId xmlns:a16="http://schemas.microsoft.com/office/drawing/2014/main" id="{264D5338-BCA2-6B39-3D19-E65670A8B8BA}"/>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63" name="Text Box 26">
            <a:extLst>
              <a:ext uri="{FF2B5EF4-FFF2-40B4-BE49-F238E27FC236}">
                <a16:creationId xmlns:a16="http://schemas.microsoft.com/office/drawing/2014/main" id="{F7502E05-52E7-6E50-7BD3-C78FD2369C0E}"/>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85" name="组合 84">
            <a:extLst>
              <a:ext uri="{FF2B5EF4-FFF2-40B4-BE49-F238E27FC236}">
                <a16:creationId xmlns:a16="http://schemas.microsoft.com/office/drawing/2014/main" id="{D8D4EECB-9124-6B88-1F6A-195A77D77256}"/>
              </a:ext>
            </a:extLst>
          </p:cNvPr>
          <p:cNvGrpSpPr/>
          <p:nvPr/>
        </p:nvGrpSpPr>
        <p:grpSpPr>
          <a:xfrm>
            <a:off x="7395732" y="1800000"/>
            <a:ext cx="1080000" cy="2088000"/>
            <a:chOff x="701211" y="1800000"/>
            <a:chExt cx="1080000" cy="2088000"/>
          </a:xfrm>
        </p:grpSpPr>
        <p:sp>
          <p:nvSpPr>
            <p:cNvPr id="86" name="立方体 85">
              <a:extLst>
                <a:ext uri="{FF2B5EF4-FFF2-40B4-BE49-F238E27FC236}">
                  <a16:creationId xmlns:a16="http://schemas.microsoft.com/office/drawing/2014/main" id="{458A2B0B-9506-82A6-0E1D-2DC410D9786D}"/>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7" name="立方体 86">
              <a:extLst>
                <a:ext uri="{FF2B5EF4-FFF2-40B4-BE49-F238E27FC236}">
                  <a16:creationId xmlns:a16="http://schemas.microsoft.com/office/drawing/2014/main" id="{8F9626E8-9735-C0AF-D767-06BA50A44176}"/>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9" name="立方体 88">
              <a:extLst>
                <a:ext uri="{FF2B5EF4-FFF2-40B4-BE49-F238E27FC236}">
                  <a16:creationId xmlns:a16="http://schemas.microsoft.com/office/drawing/2014/main" id="{C01AFE67-8318-5C38-75EB-E0827BB89BF7}"/>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90" name="立方体 89">
              <a:extLst>
                <a:ext uri="{FF2B5EF4-FFF2-40B4-BE49-F238E27FC236}">
                  <a16:creationId xmlns:a16="http://schemas.microsoft.com/office/drawing/2014/main" id="{1AC80D0A-3D36-DD77-B4DA-0ABF00A0407E}"/>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91" name="立方体 90">
              <a:extLst>
                <a:ext uri="{FF2B5EF4-FFF2-40B4-BE49-F238E27FC236}">
                  <a16:creationId xmlns:a16="http://schemas.microsoft.com/office/drawing/2014/main" id="{79DBF8C0-DDE2-3210-C64E-386DDD03B1FA}"/>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92" name="圆柱体 91">
              <a:extLst>
                <a:ext uri="{FF2B5EF4-FFF2-40B4-BE49-F238E27FC236}">
                  <a16:creationId xmlns:a16="http://schemas.microsoft.com/office/drawing/2014/main" id="{621798BD-D8CE-8ADA-405E-B1CDA0516ABB}"/>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93" name="组合 92">
            <a:extLst>
              <a:ext uri="{FF2B5EF4-FFF2-40B4-BE49-F238E27FC236}">
                <a16:creationId xmlns:a16="http://schemas.microsoft.com/office/drawing/2014/main" id="{86260840-4489-9650-E614-D0924E8E645F}"/>
              </a:ext>
            </a:extLst>
          </p:cNvPr>
          <p:cNvGrpSpPr/>
          <p:nvPr/>
        </p:nvGrpSpPr>
        <p:grpSpPr>
          <a:xfrm>
            <a:off x="701211" y="1800000"/>
            <a:ext cx="1080000" cy="2088000"/>
            <a:chOff x="701211" y="1800000"/>
            <a:chExt cx="1080000" cy="2088000"/>
          </a:xfrm>
        </p:grpSpPr>
        <p:sp>
          <p:nvSpPr>
            <p:cNvPr id="94" name="立方体 93">
              <a:extLst>
                <a:ext uri="{FF2B5EF4-FFF2-40B4-BE49-F238E27FC236}">
                  <a16:creationId xmlns:a16="http://schemas.microsoft.com/office/drawing/2014/main" id="{3B0C2350-F409-42F8-11B4-C84E443BDC6B}"/>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96" name="立方体 95">
              <a:extLst>
                <a:ext uri="{FF2B5EF4-FFF2-40B4-BE49-F238E27FC236}">
                  <a16:creationId xmlns:a16="http://schemas.microsoft.com/office/drawing/2014/main" id="{78F49941-CE25-9706-2541-8920FB30A39D}"/>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8" name="立方体 97">
              <a:extLst>
                <a:ext uri="{FF2B5EF4-FFF2-40B4-BE49-F238E27FC236}">
                  <a16:creationId xmlns:a16="http://schemas.microsoft.com/office/drawing/2014/main" id="{AC18455D-022C-B5BF-B185-87C0B4AFF50F}"/>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1" name="立方体 100">
              <a:extLst>
                <a:ext uri="{FF2B5EF4-FFF2-40B4-BE49-F238E27FC236}">
                  <a16:creationId xmlns:a16="http://schemas.microsoft.com/office/drawing/2014/main" id="{F7166259-E87F-91F9-2FCC-65B69D4CA7C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02" name="立方体 101">
              <a:extLst>
                <a:ext uri="{FF2B5EF4-FFF2-40B4-BE49-F238E27FC236}">
                  <a16:creationId xmlns:a16="http://schemas.microsoft.com/office/drawing/2014/main" id="{1C6A6C58-61C8-6D52-F003-F2D944187C49}"/>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03" name="圆柱体 102">
              <a:extLst>
                <a:ext uri="{FF2B5EF4-FFF2-40B4-BE49-F238E27FC236}">
                  <a16:creationId xmlns:a16="http://schemas.microsoft.com/office/drawing/2014/main" id="{700A8558-B558-202C-552D-63E8ED4E9B1C}"/>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 name="标题 1">
            <a:extLst>
              <a:ext uri="{FF2B5EF4-FFF2-40B4-BE49-F238E27FC236}">
                <a16:creationId xmlns:a16="http://schemas.microsoft.com/office/drawing/2014/main" id="{F572C8F7-60CD-4A41-2F55-D73CCF10521B}"/>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47" name="Rectangle 35">
            <a:extLst>
              <a:ext uri="{FF2B5EF4-FFF2-40B4-BE49-F238E27FC236}">
                <a16:creationId xmlns:a16="http://schemas.microsoft.com/office/drawing/2014/main" id="{3147EA92-4B15-2D52-795E-10B3DBB5C210}"/>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grpSp>
        <p:nvGrpSpPr>
          <p:cNvPr id="150" name="组合 149">
            <a:extLst>
              <a:ext uri="{FF2B5EF4-FFF2-40B4-BE49-F238E27FC236}">
                <a16:creationId xmlns:a16="http://schemas.microsoft.com/office/drawing/2014/main" id="{CDAF3B00-D1E9-9D31-C939-F131EB497D51}"/>
              </a:ext>
            </a:extLst>
          </p:cNvPr>
          <p:cNvGrpSpPr/>
          <p:nvPr/>
        </p:nvGrpSpPr>
        <p:grpSpPr>
          <a:xfrm>
            <a:off x="3960000" y="2808000"/>
            <a:ext cx="1080000" cy="1080000"/>
            <a:chOff x="2807995" y="2745746"/>
            <a:chExt cx="1080000" cy="1080000"/>
          </a:xfrm>
        </p:grpSpPr>
        <p:sp>
          <p:nvSpPr>
            <p:cNvPr id="151" name="立方体 150">
              <a:extLst>
                <a:ext uri="{FF2B5EF4-FFF2-40B4-BE49-F238E27FC236}">
                  <a16:creationId xmlns:a16="http://schemas.microsoft.com/office/drawing/2014/main" id="{8493F15E-624E-BF9F-82AC-EC9302DD355A}"/>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2" name="立方体 151">
              <a:extLst>
                <a:ext uri="{FF2B5EF4-FFF2-40B4-BE49-F238E27FC236}">
                  <a16:creationId xmlns:a16="http://schemas.microsoft.com/office/drawing/2014/main" id="{D7EFA08A-A24B-B222-9D1C-DE3472740EFF}"/>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3" name="立方体 152">
              <a:extLst>
                <a:ext uri="{FF2B5EF4-FFF2-40B4-BE49-F238E27FC236}">
                  <a16:creationId xmlns:a16="http://schemas.microsoft.com/office/drawing/2014/main" id="{7A07D37F-6653-0D9E-2E23-95EA16FA648B}"/>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4" name="立方体 153">
              <a:extLst>
                <a:ext uri="{FF2B5EF4-FFF2-40B4-BE49-F238E27FC236}">
                  <a16:creationId xmlns:a16="http://schemas.microsoft.com/office/drawing/2014/main" id="{A55B1BD9-3DFC-2A4A-93C0-7F12EF7BD1D2}"/>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5" name="立方体 154">
              <a:extLst>
                <a:ext uri="{FF2B5EF4-FFF2-40B4-BE49-F238E27FC236}">
                  <a16:creationId xmlns:a16="http://schemas.microsoft.com/office/drawing/2014/main" id="{8020E199-FAA2-D739-8F9D-E7580C1071D6}"/>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spTree>
    <p:extLst>
      <p:ext uri="{BB962C8B-B14F-4D97-AF65-F5344CB8AC3E}">
        <p14:creationId xmlns:p14="http://schemas.microsoft.com/office/powerpoint/2010/main" val="47017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AutoShape 4">
            <a:extLst>
              <a:ext uri="{FF2B5EF4-FFF2-40B4-BE49-F238E27FC236}">
                <a16:creationId xmlns:a16="http://schemas.microsoft.com/office/drawing/2014/main" id="{741F9640-5B7B-8471-4AAF-D4BACB7C3323}"/>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1" name="AutoShape 4">
            <a:extLst>
              <a:ext uri="{FF2B5EF4-FFF2-40B4-BE49-F238E27FC236}">
                <a16:creationId xmlns:a16="http://schemas.microsoft.com/office/drawing/2014/main" id="{242BDC35-9C3A-2172-6F61-CA87ACA744B3}"/>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3" name="Text Box 26">
            <a:extLst>
              <a:ext uri="{FF2B5EF4-FFF2-40B4-BE49-F238E27FC236}">
                <a16:creationId xmlns:a16="http://schemas.microsoft.com/office/drawing/2014/main" id="{D7C01418-2DAB-28CA-3B07-DC0B86DD9BC0}"/>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65" name="Text Box 26">
            <a:extLst>
              <a:ext uri="{FF2B5EF4-FFF2-40B4-BE49-F238E27FC236}">
                <a16:creationId xmlns:a16="http://schemas.microsoft.com/office/drawing/2014/main" id="{BDED7DAE-2D5E-CA08-5CE0-4A71E3CA9FFF}"/>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52" name="组合 151">
            <a:extLst>
              <a:ext uri="{FF2B5EF4-FFF2-40B4-BE49-F238E27FC236}">
                <a16:creationId xmlns:a16="http://schemas.microsoft.com/office/drawing/2014/main" id="{2B3CD523-93E9-DD27-1652-C2CC2B9DAF33}"/>
              </a:ext>
            </a:extLst>
          </p:cNvPr>
          <p:cNvGrpSpPr/>
          <p:nvPr/>
        </p:nvGrpSpPr>
        <p:grpSpPr>
          <a:xfrm>
            <a:off x="3960000" y="2808000"/>
            <a:ext cx="1080000" cy="1080000"/>
            <a:chOff x="2807995" y="2745746"/>
            <a:chExt cx="1080000" cy="1080000"/>
          </a:xfrm>
        </p:grpSpPr>
        <p:sp>
          <p:nvSpPr>
            <p:cNvPr id="153" name="立方体 152">
              <a:extLst>
                <a:ext uri="{FF2B5EF4-FFF2-40B4-BE49-F238E27FC236}">
                  <a16:creationId xmlns:a16="http://schemas.microsoft.com/office/drawing/2014/main" id="{14E3DF62-A3A1-87AE-194E-E105B065B763}"/>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4" name="立方体 153">
              <a:extLst>
                <a:ext uri="{FF2B5EF4-FFF2-40B4-BE49-F238E27FC236}">
                  <a16:creationId xmlns:a16="http://schemas.microsoft.com/office/drawing/2014/main" id="{E7AC19C8-3056-CEFE-714A-BF4AA1B6682E}"/>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5" name="立方体 154">
              <a:extLst>
                <a:ext uri="{FF2B5EF4-FFF2-40B4-BE49-F238E27FC236}">
                  <a16:creationId xmlns:a16="http://schemas.microsoft.com/office/drawing/2014/main" id="{C0D721D8-E508-5C4E-92F7-72577FE48745}"/>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6" name="立方体 155">
              <a:extLst>
                <a:ext uri="{FF2B5EF4-FFF2-40B4-BE49-F238E27FC236}">
                  <a16:creationId xmlns:a16="http://schemas.microsoft.com/office/drawing/2014/main" id="{EF282E04-6A31-E14A-2EE2-FA3D8364001A}"/>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7" name="立方体 156">
              <a:extLst>
                <a:ext uri="{FF2B5EF4-FFF2-40B4-BE49-F238E27FC236}">
                  <a16:creationId xmlns:a16="http://schemas.microsoft.com/office/drawing/2014/main" id="{5F33640D-B069-B772-42C1-E5EE6C818B07}"/>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8" name="组合 77">
            <a:extLst>
              <a:ext uri="{FF2B5EF4-FFF2-40B4-BE49-F238E27FC236}">
                <a16:creationId xmlns:a16="http://schemas.microsoft.com/office/drawing/2014/main" id="{A5F991CD-43D6-6512-EBD7-22EF7FF0673C}"/>
              </a:ext>
            </a:extLst>
          </p:cNvPr>
          <p:cNvGrpSpPr/>
          <p:nvPr/>
        </p:nvGrpSpPr>
        <p:grpSpPr>
          <a:xfrm>
            <a:off x="7395732" y="1800000"/>
            <a:ext cx="1080000" cy="2088000"/>
            <a:chOff x="701211" y="1800000"/>
            <a:chExt cx="1080000" cy="2088000"/>
          </a:xfrm>
        </p:grpSpPr>
        <p:sp>
          <p:nvSpPr>
            <p:cNvPr id="79" name="立方体 78">
              <a:extLst>
                <a:ext uri="{FF2B5EF4-FFF2-40B4-BE49-F238E27FC236}">
                  <a16:creationId xmlns:a16="http://schemas.microsoft.com/office/drawing/2014/main" id="{69148091-CD7F-EA71-C142-529036F2540E}"/>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0" name="立方体 79">
              <a:extLst>
                <a:ext uri="{FF2B5EF4-FFF2-40B4-BE49-F238E27FC236}">
                  <a16:creationId xmlns:a16="http://schemas.microsoft.com/office/drawing/2014/main" id="{B9F4C9DD-A691-9B6E-C0A4-AF6E13D58F3D}"/>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1" name="立方体 80">
              <a:extLst>
                <a:ext uri="{FF2B5EF4-FFF2-40B4-BE49-F238E27FC236}">
                  <a16:creationId xmlns:a16="http://schemas.microsoft.com/office/drawing/2014/main" id="{5FD7E300-D65A-5E82-3AFE-F8A0B3CF4790}"/>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2" name="立方体 81">
              <a:extLst>
                <a:ext uri="{FF2B5EF4-FFF2-40B4-BE49-F238E27FC236}">
                  <a16:creationId xmlns:a16="http://schemas.microsoft.com/office/drawing/2014/main" id="{0736C190-006A-D560-2A52-0FF62443E120}"/>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3" name="立方体 82">
              <a:extLst>
                <a:ext uri="{FF2B5EF4-FFF2-40B4-BE49-F238E27FC236}">
                  <a16:creationId xmlns:a16="http://schemas.microsoft.com/office/drawing/2014/main" id="{C128B9B7-F82E-154E-CFE9-1B65A916B93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84" name="圆柱体 83">
              <a:extLst>
                <a:ext uri="{FF2B5EF4-FFF2-40B4-BE49-F238E27FC236}">
                  <a16:creationId xmlns:a16="http://schemas.microsoft.com/office/drawing/2014/main" id="{F9D22141-94F6-87A8-7840-E2D78A9C1F5F}"/>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85" name="组合 84">
            <a:extLst>
              <a:ext uri="{FF2B5EF4-FFF2-40B4-BE49-F238E27FC236}">
                <a16:creationId xmlns:a16="http://schemas.microsoft.com/office/drawing/2014/main" id="{1918E0D6-5060-2D87-0BBD-E5A646896718}"/>
              </a:ext>
            </a:extLst>
          </p:cNvPr>
          <p:cNvGrpSpPr/>
          <p:nvPr/>
        </p:nvGrpSpPr>
        <p:grpSpPr>
          <a:xfrm>
            <a:off x="701211" y="1800000"/>
            <a:ext cx="1080000" cy="2088000"/>
            <a:chOff x="701211" y="1800000"/>
            <a:chExt cx="1080000" cy="2088000"/>
          </a:xfrm>
        </p:grpSpPr>
        <p:sp>
          <p:nvSpPr>
            <p:cNvPr id="86" name="立方体 85">
              <a:extLst>
                <a:ext uri="{FF2B5EF4-FFF2-40B4-BE49-F238E27FC236}">
                  <a16:creationId xmlns:a16="http://schemas.microsoft.com/office/drawing/2014/main" id="{BAC7C465-5D86-3C4F-04AF-9241A6BC8AA4}"/>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9" name="立方体 88">
              <a:extLst>
                <a:ext uri="{FF2B5EF4-FFF2-40B4-BE49-F238E27FC236}">
                  <a16:creationId xmlns:a16="http://schemas.microsoft.com/office/drawing/2014/main" id="{D4047B67-B68C-176F-3635-33299AE925DF}"/>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0" name="立方体 89">
              <a:extLst>
                <a:ext uri="{FF2B5EF4-FFF2-40B4-BE49-F238E27FC236}">
                  <a16:creationId xmlns:a16="http://schemas.microsoft.com/office/drawing/2014/main" id="{439B8FCD-5D9E-DFFE-883F-246B09A8BA1E}"/>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91" name="立方体 90">
              <a:extLst>
                <a:ext uri="{FF2B5EF4-FFF2-40B4-BE49-F238E27FC236}">
                  <a16:creationId xmlns:a16="http://schemas.microsoft.com/office/drawing/2014/main" id="{B77C45A4-A972-FD7A-916C-3A0A03683AC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92" name="立方体 91">
              <a:extLst>
                <a:ext uri="{FF2B5EF4-FFF2-40B4-BE49-F238E27FC236}">
                  <a16:creationId xmlns:a16="http://schemas.microsoft.com/office/drawing/2014/main" id="{BA9893EA-1B08-B2B2-6B21-D907A49C591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93" name="圆柱体 92">
              <a:extLst>
                <a:ext uri="{FF2B5EF4-FFF2-40B4-BE49-F238E27FC236}">
                  <a16:creationId xmlns:a16="http://schemas.microsoft.com/office/drawing/2014/main" id="{400A958F-7565-F19F-7576-6251BD9C043E}"/>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3A058CE-C321-0FFC-4BB0-424455316390}"/>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35" name="Rectangle 46">
            <a:extLst>
              <a:ext uri="{FF2B5EF4-FFF2-40B4-BE49-F238E27FC236}">
                <a16:creationId xmlns:a16="http://schemas.microsoft.com/office/drawing/2014/main" id="{F4F26065-47B9-19CD-87EC-CC40E14C28B6}"/>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37" name="Rectangle 47">
            <a:extLst>
              <a:ext uri="{FF2B5EF4-FFF2-40B4-BE49-F238E27FC236}">
                <a16:creationId xmlns:a16="http://schemas.microsoft.com/office/drawing/2014/main" id="{CA69CE12-7498-145E-A25B-3CECFD60A189}"/>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39" name="Rectangle 48">
            <a:extLst>
              <a:ext uri="{FF2B5EF4-FFF2-40B4-BE49-F238E27FC236}">
                <a16:creationId xmlns:a16="http://schemas.microsoft.com/office/drawing/2014/main" id="{2A40A79F-521A-7842-2ED8-5D9C0FD2D378}"/>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43" name="Rectangle 49">
            <a:extLst>
              <a:ext uri="{FF2B5EF4-FFF2-40B4-BE49-F238E27FC236}">
                <a16:creationId xmlns:a16="http://schemas.microsoft.com/office/drawing/2014/main" id="{98FC8B22-819B-BB29-D490-F003F5FA454E}"/>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45" name="Rectangle 74">
            <a:extLst>
              <a:ext uri="{FF2B5EF4-FFF2-40B4-BE49-F238E27FC236}">
                <a16:creationId xmlns:a16="http://schemas.microsoft.com/office/drawing/2014/main" id="{61F14528-079E-FA38-14A1-ED6EC8C8ED47}"/>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147" name="Rectangle 78">
            <a:extLst>
              <a:ext uri="{FF2B5EF4-FFF2-40B4-BE49-F238E27FC236}">
                <a16:creationId xmlns:a16="http://schemas.microsoft.com/office/drawing/2014/main" id="{CD49674C-3AE0-7DB7-52F9-8965B835E8B9}"/>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149" name="Rectangle 35">
            <a:extLst>
              <a:ext uri="{FF2B5EF4-FFF2-40B4-BE49-F238E27FC236}">
                <a16:creationId xmlns:a16="http://schemas.microsoft.com/office/drawing/2014/main" id="{1A86C306-44BB-5D87-0DD7-FE0BF4FF1BF5}"/>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Tree>
    <p:extLst>
      <p:ext uri="{BB962C8B-B14F-4D97-AF65-F5344CB8AC3E}">
        <p14:creationId xmlns:p14="http://schemas.microsoft.com/office/powerpoint/2010/main" val="13501594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AutoShape 4">
            <a:extLst>
              <a:ext uri="{FF2B5EF4-FFF2-40B4-BE49-F238E27FC236}">
                <a16:creationId xmlns:a16="http://schemas.microsoft.com/office/drawing/2014/main" id="{272EB0BC-5C42-D4BF-774B-DB10B8865196}"/>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8" name="AutoShape 4">
            <a:extLst>
              <a:ext uri="{FF2B5EF4-FFF2-40B4-BE49-F238E27FC236}">
                <a16:creationId xmlns:a16="http://schemas.microsoft.com/office/drawing/2014/main" id="{81FEFA27-C175-FC94-C79E-EA8E0B72CA0F}"/>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70" name="Text Box 26">
            <a:extLst>
              <a:ext uri="{FF2B5EF4-FFF2-40B4-BE49-F238E27FC236}">
                <a16:creationId xmlns:a16="http://schemas.microsoft.com/office/drawing/2014/main" id="{74FF1AE3-2D50-E8F7-D476-A9814F68AE0B}"/>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72" name="Text Box 26">
            <a:extLst>
              <a:ext uri="{FF2B5EF4-FFF2-40B4-BE49-F238E27FC236}">
                <a16:creationId xmlns:a16="http://schemas.microsoft.com/office/drawing/2014/main" id="{4CA71CD9-702C-82B0-DB8C-192FCE07DAC6}"/>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59" name="组合 158">
            <a:extLst>
              <a:ext uri="{FF2B5EF4-FFF2-40B4-BE49-F238E27FC236}">
                <a16:creationId xmlns:a16="http://schemas.microsoft.com/office/drawing/2014/main" id="{25CCFFBE-E40D-5AD5-491A-99FA799EBF4F}"/>
              </a:ext>
            </a:extLst>
          </p:cNvPr>
          <p:cNvGrpSpPr/>
          <p:nvPr/>
        </p:nvGrpSpPr>
        <p:grpSpPr>
          <a:xfrm>
            <a:off x="3960000" y="2808000"/>
            <a:ext cx="1080000" cy="1080000"/>
            <a:chOff x="2807995" y="2745746"/>
            <a:chExt cx="1080000" cy="1080000"/>
          </a:xfrm>
        </p:grpSpPr>
        <p:sp>
          <p:nvSpPr>
            <p:cNvPr id="160" name="立方体 159">
              <a:extLst>
                <a:ext uri="{FF2B5EF4-FFF2-40B4-BE49-F238E27FC236}">
                  <a16:creationId xmlns:a16="http://schemas.microsoft.com/office/drawing/2014/main" id="{452EC51E-9DA7-074E-EE72-664073841BF8}"/>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61" name="立方体 160">
              <a:extLst>
                <a:ext uri="{FF2B5EF4-FFF2-40B4-BE49-F238E27FC236}">
                  <a16:creationId xmlns:a16="http://schemas.microsoft.com/office/drawing/2014/main" id="{87BE2375-B63A-5074-9FDC-63329B2C75C9}"/>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62" name="立方体 161">
              <a:extLst>
                <a:ext uri="{FF2B5EF4-FFF2-40B4-BE49-F238E27FC236}">
                  <a16:creationId xmlns:a16="http://schemas.microsoft.com/office/drawing/2014/main" id="{BD231BF3-0A01-CD42-DA9F-C8147DC4CE7E}"/>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63" name="立方体 162">
              <a:extLst>
                <a:ext uri="{FF2B5EF4-FFF2-40B4-BE49-F238E27FC236}">
                  <a16:creationId xmlns:a16="http://schemas.microsoft.com/office/drawing/2014/main" id="{1854DAD1-CE4A-0FF4-DA0C-EEC94F4663DC}"/>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64" name="立方体 163">
              <a:extLst>
                <a:ext uri="{FF2B5EF4-FFF2-40B4-BE49-F238E27FC236}">
                  <a16:creationId xmlns:a16="http://schemas.microsoft.com/office/drawing/2014/main" id="{D4F90754-BE62-247F-C9BA-2B072B3CF684}"/>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85" name="组合 84">
            <a:extLst>
              <a:ext uri="{FF2B5EF4-FFF2-40B4-BE49-F238E27FC236}">
                <a16:creationId xmlns:a16="http://schemas.microsoft.com/office/drawing/2014/main" id="{D1416939-520C-98DC-B227-3BED275D68F5}"/>
              </a:ext>
            </a:extLst>
          </p:cNvPr>
          <p:cNvGrpSpPr/>
          <p:nvPr/>
        </p:nvGrpSpPr>
        <p:grpSpPr>
          <a:xfrm>
            <a:off x="7395732" y="1800000"/>
            <a:ext cx="1080000" cy="2088000"/>
            <a:chOff x="701211" y="1800000"/>
            <a:chExt cx="1080000" cy="2088000"/>
          </a:xfrm>
        </p:grpSpPr>
        <p:sp>
          <p:nvSpPr>
            <p:cNvPr id="86" name="立方体 85">
              <a:extLst>
                <a:ext uri="{FF2B5EF4-FFF2-40B4-BE49-F238E27FC236}">
                  <a16:creationId xmlns:a16="http://schemas.microsoft.com/office/drawing/2014/main" id="{B4C9387B-F4FB-CD95-4F87-473F74195D89}"/>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9" name="立方体 88">
              <a:extLst>
                <a:ext uri="{FF2B5EF4-FFF2-40B4-BE49-F238E27FC236}">
                  <a16:creationId xmlns:a16="http://schemas.microsoft.com/office/drawing/2014/main" id="{3D58B4E3-61DC-2DB0-5C54-1E994FD2A46C}"/>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0" name="立方体 89">
              <a:extLst>
                <a:ext uri="{FF2B5EF4-FFF2-40B4-BE49-F238E27FC236}">
                  <a16:creationId xmlns:a16="http://schemas.microsoft.com/office/drawing/2014/main" id="{BD153B01-9AAB-B15C-0CD4-17FD2B520347}"/>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91" name="立方体 90">
              <a:extLst>
                <a:ext uri="{FF2B5EF4-FFF2-40B4-BE49-F238E27FC236}">
                  <a16:creationId xmlns:a16="http://schemas.microsoft.com/office/drawing/2014/main" id="{A755436A-6174-8FEF-5D24-7D2927095CDA}"/>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92" name="立方体 91">
              <a:extLst>
                <a:ext uri="{FF2B5EF4-FFF2-40B4-BE49-F238E27FC236}">
                  <a16:creationId xmlns:a16="http://schemas.microsoft.com/office/drawing/2014/main" id="{877E337B-AA1D-84FD-8B67-DE90661E6F7D}"/>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93" name="圆柱体 92">
              <a:extLst>
                <a:ext uri="{FF2B5EF4-FFF2-40B4-BE49-F238E27FC236}">
                  <a16:creationId xmlns:a16="http://schemas.microsoft.com/office/drawing/2014/main" id="{66F93B29-1193-EB5B-5719-1AE42168A856}"/>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94" name="组合 93">
            <a:extLst>
              <a:ext uri="{FF2B5EF4-FFF2-40B4-BE49-F238E27FC236}">
                <a16:creationId xmlns:a16="http://schemas.microsoft.com/office/drawing/2014/main" id="{42965F2E-D95E-F039-E5B3-1A4B4293E147}"/>
              </a:ext>
            </a:extLst>
          </p:cNvPr>
          <p:cNvGrpSpPr/>
          <p:nvPr/>
        </p:nvGrpSpPr>
        <p:grpSpPr>
          <a:xfrm>
            <a:off x="701211" y="1800000"/>
            <a:ext cx="1080000" cy="2088000"/>
            <a:chOff x="701211" y="1800000"/>
            <a:chExt cx="1080000" cy="2088000"/>
          </a:xfrm>
        </p:grpSpPr>
        <p:sp>
          <p:nvSpPr>
            <p:cNvPr id="96" name="立方体 95">
              <a:extLst>
                <a:ext uri="{FF2B5EF4-FFF2-40B4-BE49-F238E27FC236}">
                  <a16:creationId xmlns:a16="http://schemas.microsoft.com/office/drawing/2014/main" id="{40EDC8F4-6B1A-CFE1-950B-29CB3FEBAA31}"/>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98" name="立方体 97">
              <a:extLst>
                <a:ext uri="{FF2B5EF4-FFF2-40B4-BE49-F238E27FC236}">
                  <a16:creationId xmlns:a16="http://schemas.microsoft.com/office/drawing/2014/main" id="{8EDAEFAC-D399-7DD2-4224-A4A924FF8D3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06" name="立方体 105">
              <a:extLst>
                <a:ext uri="{FF2B5EF4-FFF2-40B4-BE49-F238E27FC236}">
                  <a16:creationId xmlns:a16="http://schemas.microsoft.com/office/drawing/2014/main" id="{A66C553F-A9AA-2B6E-EF39-1CE53071F4C7}"/>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8" name="立方体 107">
              <a:extLst>
                <a:ext uri="{FF2B5EF4-FFF2-40B4-BE49-F238E27FC236}">
                  <a16:creationId xmlns:a16="http://schemas.microsoft.com/office/drawing/2014/main" id="{17E85A2F-A5E6-99DD-4452-0C27B6A0561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2" name="立方体 111">
              <a:extLst>
                <a:ext uri="{FF2B5EF4-FFF2-40B4-BE49-F238E27FC236}">
                  <a16:creationId xmlns:a16="http://schemas.microsoft.com/office/drawing/2014/main" id="{8F0A252A-9E37-CCD0-BD46-9379E2929767}"/>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3" name="圆柱体 112">
              <a:extLst>
                <a:ext uri="{FF2B5EF4-FFF2-40B4-BE49-F238E27FC236}">
                  <a16:creationId xmlns:a16="http://schemas.microsoft.com/office/drawing/2014/main" id="{9A348302-DA4E-E4F2-BF01-CB0F14D83B63}"/>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5F30907-012C-D6A3-19FF-9ECE1430E04E}"/>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34" name="Rectangle 42">
            <a:extLst>
              <a:ext uri="{FF2B5EF4-FFF2-40B4-BE49-F238E27FC236}">
                <a16:creationId xmlns:a16="http://schemas.microsoft.com/office/drawing/2014/main" id="{2A291D52-452A-7C72-C7F8-AEEB3700B1A0}"/>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36" name="Rectangle 43">
            <a:extLst>
              <a:ext uri="{FF2B5EF4-FFF2-40B4-BE49-F238E27FC236}">
                <a16:creationId xmlns:a16="http://schemas.microsoft.com/office/drawing/2014/main" id="{56AE5671-3CE0-5AC4-0314-3810E730A892}"/>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38" name="Rectangle 44">
            <a:extLst>
              <a:ext uri="{FF2B5EF4-FFF2-40B4-BE49-F238E27FC236}">
                <a16:creationId xmlns:a16="http://schemas.microsoft.com/office/drawing/2014/main" id="{1C70CC52-6CC5-DC9E-5EC4-FB63D1D34790}"/>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42" name="Rectangle 70">
            <a:extLst>
              <a:ext uri="{FF2B5EF4-FFF2-40B4-BE49-F238E27FC236}">
                <a16:creationId xmlns:a16="http://schemas.microsoft.com/office/drawing/2014/main" id="{76C4B809-7149-DE70-176F-94F4DA85BD48}"/>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44" name="Rectangle 46">
            <a:extLst>
              <a:ext uri="{FF2B5EF4-FFF2-40B4-BE49-F238E27FC236}">
                <a16:creationId xmlns:a16="http://schemas.microsoft.com/office/drawing/2014/main" id="{DF20DBBA-DFD0-BE99-E892-B2B4EDF83691}"/>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46" name="Rectangle 47">
            <a:extLst>
              <a:ext uri="{FF2B5EF4-FFF2-40B4-BE49-F238E27FC236}">
                <a16:creationId xmlns:a16="http://schemas.microsoft.com/office/drawing/2014/main" id="{CA5CC642-860C-DF6C-8AD0-87559005D291}"/>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48" name="Rectangle 48">
            <a:extLst>
              <a:ext uri="{FF2B5EF4-FFF2-40B4-BE49-F238E27FC236}">
                <a16:creationId xmlns:a16="http://schemas.microsoft.com/office/drawing/2014/main" id="{F5591D8F-0E49-D403-79C9-03BEB2CB85D8}"/>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0" name="Rectangle 49">
            <a:extLst>
              <a:ext uri="{FF2B5EF4-FFF2-40B4-BE49-F238E27FC236}">
                <a16:creationId xmlns:a16="http://schemas.microsoft.com/office/drawing/2014/main" id="{F6366AB8-C3D0-0A9E-FBFA-C6EC0F1E66F6}"/>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2" name="Rectangle 74">
            <a:extLst>
              <a:ext uri="{FF2B5EF4-FFF2-40B4-BE49-F238E27FC236}">
                <a16:creationId xmlns:a16="http://schemas.microsoft.com/office/drawing/2014/main" id="{DC39A943-38A5-E16C-8064-FA07D08E1561}"/>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154" name="Rectangle 78">
            <a:extLst>
              <a:ext uri="{FF2B5EF4-FFF2-40B4-BE49-F238E27FC236}">
                <a16:creationId xmlns:a16="http://schemas.microsoft.com/office/drawing/2014/main" id="{B9B8F57F-12C1-D2CF-4EC9-5004C298EE57}"/>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156" name="Rectangle 35">
            <a:extLst>
              <a:ext uri="{FF2B5EF4-FFF2-40B4-BE49-F238E27FC236}">
                <a16:creationId xmlns:a16="http://schemas.microsoft.com/office/drawing/2014/main" id="{294AA80D-3AD7-809D-A5D2-2701D1618C1A}"/>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Tree>
    <p:extLst>
      <p:ext uri="{BB962C8B-B14F-4D97-AF65-F5344CB8AC3E}">
        <p14:creationId xmlns:p14="http://schemas.microsoft.com/office/powerpoint/2010/main" val="1061375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down)">
                                      <p:cBhvr>
                                        <p:cTn id="7"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AutoShape 4">
            <a:extLst>
              <a:ext uri="{FF2B5EF4-FFF2-40B4-BE49-F238E27FC236}">
                <a16:creationId xmlns:a16="http://schemas.microsoft.com/office/drawing/2014/main" id="{D77CA521-97B1-607D-2831-72D77A51FA0B}"/>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05" name="AutoShape 4">
            <a:extLst>
              <a:ext uri="{FF2B5EF4-FFF2-40B4-BE49-F238E27FC236}">
                <a16:creationId xmlns:a16="http://schemas.microsoft.com/office/drawing/2014/main" id="{761957D7-D637-79FB-3DDD-A45D728D5B1E}"/>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07" name="Text Box 26">
            <a:extLst>
              <a:ext uri="{FF2B5EF4-FFF2-40B4-BE49-F238E27FC236}">
                <a16:creationId xmlns:a16="http://schemas.microsoft.com/office/drawing/2014/main" id="{129EBD98-467A-E92C-3D0C-F98422109101}"/>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09" name="Text Box 26">
            <a:extLst>
              <a:ext uri="{FF2B5EF4-FFF2-40B4-BE49-F238E27FC236}">
                <a16:creationId xmlns:a16="http://schemas.microsoft.com/office/drawing/2014/main" id="{CD83C868-EABF-0548-8BA5-8C943F5EA151}"/>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96" name="组合 195">
            <a:extLst>
              <a:ext uri="{FF2B5EF4-FFF2-40B4-BE49-F238E27FC236}">
                <a16:creationId xmlns:a16="http://schemas.microsoft.com/office/drawing/2014/main" id="{A7499C7A-13F1-9FAE-43A0-9398D41FB657}"/>
              </a:ext>
            </a:extLst>
          </p:cNvPr>
          <p:cNvGrpSpPr/>
          <p:nvPr/>
        </p:nvGrpSpPr>
        <p:grpSpPr>
          <a:xfrm>
            <a:off x="3960000" y="2808000"/>
            <a:ext cx="1080000" cy="1080000"/>
            <a:chOff x="2807995" y="2745746"/>
            <a:chExt cx="1080000" cy="1080000"/>
          </a:xfrm>
        </p:grpSpPr>
        <p:sp>
          <p:nvSpPr>
            <p:cNvPr id="197" name="立方体 196">
              <a:extLst>
                <a:ext uri="{FF2B5EF4-FFF2-40B4-BE49-F238E27FC236}">
                  <a16:creationId xmlns:a16="http://schemas.microsoft.com/office/drawing/2014/main" id="{44B59238-4DFB-44FF-C420-83AC52F734AF}"/>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98" name="立方体 197">
              <a:extLst>
                <a:ext uri="{FF2B5EF4-FFF2-40B4-BE49-F238E27FC236}">
                  <a16:creationId xmlns:a16="http://schemas.microsoft.com/office/drawing/2014/main" id="{40BE0910-9B30-18A8-3E29-2CF95BC7781E}"/>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99" name="立方体 198">
              <a:extLst>
                <a:ext uri="{FF2B5EF4-FFF2-40B4-BE49-F238E27FC236}">
                  <a16:creationId xmlns:a16="http://schemas.microsoft.com/office/drawing/2014/main" id="{3B8AD6D6-0F41-A23E-2325-1902C356EF37}"/>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00" name="立方体 199">
              <a:extLst>
                <a:ext uri="{FF2B5EF4-FFF2-40B4-BE49-F238E27FC236}">
                  <a16:creationId xmlns:a16="http://schemas.microsoft.com/office/drawing/2014/main" id="{46B008D1-7CEE-70FF-9F6A-7A480E7E5F06}"/>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01" name="立方体 200">
              <a:extLst>
                <a:ext uri="{FF2B5EF4-FFF2-40B4-BE49-F238E27FC236}">
                  <a16:creationId xmlns:a16="http://schemas.microsoft.com/office/drawing/2014/main" id="{39F50891-6C2D-053F-0F79-D7476D0D4D46}"/>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94" name="组合 93">
            <a:extLst>
              <a:ext uri="{FF2B5EF4-FFF2-40B4-BE49-F238E27FC236}">
                <a16:creationId xmlns:a16="http://schemas.microsoft.com/office/drawing/2014/main" id="{22B027A2-25CE-EC5A-7B58-8FD461875174}"/>
              </a:ext>
            </a:extLst>
          </p:cNvPr>
          <p:cNvGrpSpPr/>
          <p:nvPr/>
        </p:nvGrpSpPr>
        <p:grpSpPr>
          <a:xfrm>
            <a:off x="7395732" y="1800000"/>
            <a:ext cx="1080000" cy="2088000"/>
            <a:chOff x="701211" y="1800000"/>
            <a:chExt cx="1080000" cy="2088000"/>
          </a:xfrm>
        </p:grpSpPr>
        <p:sp>
          <p:nvSpPr>
            <p:cNvPr id="96" name="立方体 95">
              <a:extLst>
                <a:ext uri="{FF2B5EF4-FFF2-40B4-BE49-F238E27FC236}">
                  <a16:creationId xmlns:a16="http://schemas.microsoft.com/office/drawing/2014/main" id="{173038C5-2844-3E51-4A49-A77DE3C464D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98" name="立方体 97">
              <a:extLst>
                <a:ext uri="{FF2B5EF4-FFF2-40B4-BE49-F238E27FC236}">
                  <a16:creationId xmlns:a16="http://schemas.microsoft.com/office/drawing/2014/main" id="{9A5E65EB-C594-F9F2-6029-957A7F4882C5}"/>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06" name="立方体 105">
              <a:extLst>
                <a:ext uri="{FF2B5EF4-FFF2-40B4-BE49-F238E27FC236}">
                  <a16:creationId xmlns:a16="http://schemas.microsoft.com/office/drawing/2014/main" id="{C22AD3A0-F47E-F7BD-0194-CE3820243330}"/>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8" name="立方体 107">
              <a:extLst>
                <a:ext uri="{FF2B5EF4-FFF2-40B4-BE49-F238E27FC236}">
                  <a16:creationId xmlns:a16="http://schemas.microsoft.com/office/drawing/2014/main" id="{A5F3D930-29E1-EACB-BDB3-3FA2719783E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2" name="立方体 111">
              <a:extLst>
                <a:ext uri="{FF2B5EF4-FFF2-40B4-BE49-F238E27FC236}">
                  <a16:creationId xmlns:a16="http://schemas.microsoft.com/office/drawing/2014/main" id="{944EC8F3-648E-85DF-DB0A-F15517D9E1A1}"/>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3" name="圆柱体 112">
              <a:extLst>
                <a:ext uri="{FF2B5EF4-FFF2-40B4-BE49-F238E27FC236}">
                  <a16:creationId xmlns:a16="http://schemas.microsoft.com/office/drawing/2014/main" id="{41BC7199-D3F2-C062-5D8B-F3B46AB28E92}"/>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15" name="组合 114">
            <a:extLst>
              <a:ext uri="{FF2B5EF4-FFF2-40B4-BE49-F238E27FC236}">
                <a16:creationId xmlns:a16="http://schemas.microsoft.com/office/drawing/2014/main" id="{D1500DDC-2D5C-E77A-E4A7-7A94FE968472}"/>
              </a:ext>
            </a:extLst>
          </p:cNvPr>
          <p:cNvGrpSpPr/>
          <p:nvPr/>
        </p:nvGrpSpPr>
        <p:grpSpPr>
          <a:xfrm>
            <a:off x="701211" y="1800000"/>
            <a:ext cx="1080000" cy="2088000"/>
            <a:chOff x="701211" y="1800000"/>
            <a:chExt cx="1080000" cy="2088000"/>
          </a:xfrm>
        </p:grpSpPr>
        <p:sp>
          <p:nvSpPr>
            <p:cNvPr id="116" name="立方体 115">
              <a:extLst>
                <a:ext uri="{FF2B5EF4-FFF2-40B4-BE49-F238E27FC236}">
                  <a16:creationId xmlns:a16="http://schemas.microsoft.com/office/drawing/2014/main" id="{33886596-F80A-A47B-8D69-B0014D3668E1}"/>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17" name="立方体 116">
              <a:extLst>
                <a:ext uri="{FF2B5EF4-FFF2-40B4-BE49-F238E27FC236}">
                  <a16:creationId xmlns:a16="http://schemas.microsoft.com/office/drawing/2014/main" id="{F0B97EF6-A6CC-58BF-7B40-49CCDA82B4A0}"/>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18" name="立方体 117">
              <a:extLst>
                <a:ext uri="{FF2B5EF4-FFF2-40B4-BE49-F238E27FC236}">
                  <a16:creationId xmlns:a16="http://schemas.microsoft.com/office/drawing/2014/main" id="{CA3DD0FD-0789-D0D4-5C64-59F528FC7CEC}"/>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20" name="立方体 119">
              <a:extLst>
                <a:ext uri="{FF2B5EF4-FFF2-40B4-BE49-F238E27FC236}">
                  <a16:creationId xmlns:a16="http://schemas.microsoft.com/office/drawing/2014/main" id="{AB7B65DE-4A76-E3CF-D1B6-FCC020C591A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21" name="立方体 120">
              <a:extLst>
                <a:ext uri="{FF2B5EF4-FFF2-40B4-BE49-F238E27FC236}">
                  <a16:creationId xmlns:a16="http://schemas.microsoft.com/office/drawing/2014/main" id="{00C71CD8-6B94-22D2-EFAF-DC60B66E76C8}"/>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22" name="圆柱体 121">
              <a:extLst>
                <a:ext uri="{FF2B5EF4-FFF2-40B4-BE49-F238E27FC236}">
                  <a16:creationId xmlns:a16="http://schemas.microsoft.com/office/drawing/2014/main" id="{9314BCF0-F434-660E-543E-7AF90F76F888}"/>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FAEDC3D-7EC2-D6A7-C529-F863821F6A2D}"/>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53" name="Rectangle 42">
            <a:extLst>
              <a:ext uri="{FF2B5EF4-FFF2-40B4-BE49-F238E27FC236}">
                <a16:creationId xmlns:a16="http://schemas.microsoft.com/office/drawing/2014/main" id="{2CBDDF4C-CC8B-37BC-757B-4004A2B171ED}"/>
              </a:ext>
            </a:extLst>
          </p:cNvPr>
          <p:cNvSpPr>
            <a:spLocks noChangeArrowheads="1"/>
          </p:cNvSpPr>
          <p:nvPr/>
        </p:nvSpPr>
        <p:spPr bwMode="auto">
          <a:xfrm>
            <a:off x="594614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55" name="Rectangle 43">
            <a:extLst>
              <a:ext uri="{FF2B5EF4-FFF2-40B4-BE49-F238E27FC236}">
                <a16:creationId xmlns:a16="http://schemas.microsoft.com/office/drawing/2014/main" id="{160D797C-52EE-54B5-44E0-4A42C9D69329}"/>
              </a:ext>
            </a:extLst>
          </p:cNvPr>
          <p:cNvSpPr>
            <a:spLocks noChangeArrowheads="1"/>
          </p:cNvSpPr>
          <p:nvPr/>
        </p:nvSpPr>
        <p:spPr bwMode="auto">
          <a:xfrm>
            <a:off x="616934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7" name="Rectangle 44">
            <a:extLst>
              <a:ext uri="{FF2B5EF4-FFF2-40B4-BE49-F238E27FC236}">
                <a16:creationId xmlns:a16="http://schemas.microsoft.com/office/drawing/2014/main" id="{C2A14DC4-D888-47FB-FF1F-3FC019DF0B60}"/>
              </a:ext>
            </a:extLst>
          </p:cNvPr>
          <p:cNvSpPr>
            <a:spLocks noChangeArrowheads="1"/>
          </p:cNvSpPr>
          <p:nvPr/>
        </p:nvSpPr>
        <p:spPr bwMode="auto">
          <a:xfrm>
            <a:off x="6392544" y="2932543"/>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9" name="Rectangle 70">
            <a:extLst>
              <a:ext uri="{FF2B5EF4-FFF2-40B4-BE49-F238E27FC236}">
                <a16:creationId xmlns:a16="http://schemas.microsoft.com/office/drawing/2014/main" id="{8531F916-C3CD-7E3E-16E6-C4002C8BB5C6}"/>
              </a:ext>
            </a:extLst>
          </p:cNvPr>
          <p:cNvSpPr>
            <a:spLocks noChangeArrowheads="1"/>
          </p:cNvSpPr>
          <p:nvPr/>
        </p:nvSpPr>
        <p:spPr bwMode="auto">
          <a:xfrm>
            <a:off x="572294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73" name="Rectangle 42">
            <a:extLst>
              <a:ext uri="{FF2B5EF4-FFF2-40B4-BE49-F238E27FC236}">
                <a16:creationId xmlns:a16="http://schemas.microsoft.com/office/drawing/2014/main" id="{EF1429A5-75CD-7C99-73AE-1DA2339AC6BD}"/>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5" name="Rectangle 43">
            <a:extLst>
              <a:ext uri="{FF2B5EF4-FFF2-40B4-BE49-F238E27FC236}">
                <a16:creationId xmlns:a16="http://schemas.microsoft.com/office/drawing/2014/main" id="{6C700EF5-3A57-56CA-4A3F-7A4CF9A4F41B}"/>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77" name="Rectangle 44">
            <a:extLst>
              <a:ext uri="{FF2B5EF4-FFF2-40B4-BE49-F238E27FC236}">
                <a16:creationId xmlns:a16="http://schemas.microsoft.com/office/drawing/2014/main" id="{DC086960-5573-8B1F-48EC-AE88B314DC61}"/>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9" name="Rectangle 70">
            <a:extLst>
              <a:ext uri="{FF2B5EF4-FFF2-40B4-BE49-F238E27FC236}">
                <a16:creationId xmlns:a16="http://schemas.microsoft.com/office/drawing/2014/main" id="{93D5285A-AED3-7ECC-92BE-E5F869161EF4}"/>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81" name="Rectangle 46">
            <a:extLst>
              <a:ext uri="{FF2B5EF4-FFF2-40B4-BE49-F238E27FC236}">
                <a16:creationId xmlns:a16="http://schemas.microsoft.com/office/drawing/2014/main" id="{3E07543B-3414-4944-C417-CA22A835D4CF}"/>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83" name="Rectangle 47">
            <a:extLst>
              <a:ext uri="{FF2B5EF4-FFF2-40B4-BE49-F238E27FC236}">
                <a16:creationId xmlns:a16="http://schemas.microsoft.com/office/drawing/2014/main" id="{C29F1097-7651-B1FD-3559-B1A339DA9F61}"/>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85" name="Rectangle 48">
            <a:extLst>
              <a:ext uri="{FF2B5EF4-FFF2-40B4-BE49-F238E27FC236}">
                <a16:creationId xmlns:a16="http://schemas.microsoft.com/office/drawing/2014/main" id="{6EFEC5EE-0A6F-8E59-2358-CCACA1A8222B}"/>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87" name="Rectangle 49">
            <a:extLst>
              <a:ext uri="{FF2B5EF4-FFF2-40B4-BE49-F238E27FC236}">
                <a16:creationId xmlns:a16="http://schemas.microsoft.com/office/drawing/2014/main" id="{E34C5510-DFA4-4B5D-8067-985EE1B326D8}"/>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89" name="Rectangle 74">
            <a:extLst>
              <a:ext uri="{FF2B5EF4-FFF2-40B4-BE49-F238E27FC236}">
                <a16:creationId xmlns:a16="http://schemas.microsoft.com/office/drawing/2014/main" id="{8AC7E2D9-BD45-466B-918E-A08A17BAEB6E}"/>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191" name="Rectangle 78">
            <a:extLst>
              <a:ext uri="{FF2B5EF4-FFF2-40B4-BE49-F238E27FC236}">
                <a16:creationId xmlns:a16="http://schemas.microsoft.com/office/drawing/2014/main" id="{BAE127E5-9895-ABD6-FF47-1CC93381E87F}"/>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193" name="Rectangle 35">
            <a:extLst>
              <a:ext uri="{FF2B5EF4-FFF2-40B4-BE49-F238E27FC236}">
                <a16:creationId xmlns:a16="http://schemas.microsoft.com/office/drawing/2014/main" id="{C6193400-AF7B-34C6-F9D8-58D9656CE33B}"/>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Tree>
    <p:extLst>
      <p:ext uri="{BB962C8B-B14F-4D97-AF65-F5344CB8AC3E}">
        <p14:creationId xmlns:p14="http://schemas.microsoft.com/office/powerpoint/2010/main" val="316394638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AutoShape 4">
            <a:extLst>
              <a:ext uri="{FF2B5EF4-FFF2-40B4-BE49-F238E27FC236}">
                <a16:creationId xmlns:a16="http://schemas.microsoft.com/office/drawing/2014/main" id="{3E7DB186-94E9-FB5A-C890-CD14723373E2}"/>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2" name="AutoShape 4">
            <a:extLst>
              <a:ext uri="{FF2B5EF4-FFF2-40B4-BE49-F238E27FC236}">
                <a16:creationId xmlns:a16="http://schemas.microsoft.com/office/drawing/2014/main" id="{126D2CFB-BD33-A5F1-EAD2-DF349B26A9B9}"/>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4" name="Text Box 26">
            <a:extLst>
              <a:ext uri="{FF2B5EF4-FFF2-40B4-BE49-F238E27FC236}">
                <a16:creationId xmlns:a16="http://schemas.microsoft.com/office/drawing/2014/main" id="{196202C7-ACA4-5203-5196-1CA883E415CE}"/>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26" name="Text Box 26">
            <a:extLst>
              <a:ext uri="{FF2B5EF4-FFF2-40B4-BE49-F238E27FC236}">
                <a16:creationId xmlns:a16="http://schemas.microsoft.com/office/drawing/2014/main" id="{329011FC-E523-AC9E-DCA2-2DBDB70097F4}"/>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213" name="组合 212">
            <a:extLst>
              <a:ext uri="{FF2B5EF4-FFF2-40B4-BE49-F238E27FC236}">
                <a16:creationId xmlns:a16="http://schemas.microsoft.com/office/drawing/2014/main" id="{F8BB72FD-D3D0-FE0E-732E-DA199C63D7F5}"/>
              </a:ext>
            </a:extLst>
          </p:cNvPr>
          <p:cNvGrpSpPr/>
          <p:nvPr/>
        </p:nvGrpSpPr>
        <p:grpSpPr>
          <a:xfrm>
            <a:off x="3960000" y="2808000"/>
            <a:ext cx="1080000" cy="1080000"/>
            <a:chOff x="2807995" y="2745746"/>
            <a:chExt cx="1080000" cy="1080000"/>
          </a:xfrm>
        </p:grpSpPr>
        <p:sp>
          <p:nvSpPr>
            <p:cNvPr id="214" name="立方体 213">
              <a:extLst>
                <a:ext uri="{FF2B5EF4-FFF2-40B4-BE49-F238E27FC236}">
                  <a16:creationId xmlns:a16="http://schemas.microsoft.com/office/drawing/2014/main" id="{A2A19A40-63F8-BD3B-E80D-7FCE75C08E66}"/>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15" name="立方体 214">
              <a:extLst>
                <a:ext uri="{FF2B5EF4-FFF2-40B4-BE49-F238E27FC236}">
                  <a16:creationId xmlns:a16="http://schemas.microsoft.com/office/drawing/2014/main" id="{3F28867C-004B-9AEF-4884-4B1D9D1CBE04}"/>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16" name="立方体 215">
              <a:extLst>
                <a:ext uri="{FF2B5EF4-FFF2-40B4-BE49-F238E27FC236}">
                  <a16:creationId xmlns:a16="http://schemas.microsoft.com/office/drawing/2014/main" id="{00488457-8BE0-1EE3-8D90-2BFD55BA9EA9}"/>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17" name="立方体 216">
              <a:extLst>
                <a:ext uri="{FF2B5EF4-FFF2-40B4-BE49-F238E27FC236}">
                  <a16:creationId xmlns:a16="http://schemas.microsoft.com/office/drawing/2014/main" id="{D023FCDE-21A0-0FF0-C658-761778413766}"/>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18" name="立方体 217">
              <a:extLst>
                <a:ext uri="{FF2B5EF4-FFF2-40B4-BE49-F238E27FC236}">
                  <a16:creationId xmlns:a16="http://schemas.microsoft.com/office/drawing/2014/main" id="{2062CD02-27FE-65F2-3C08-79DB371021E3}"/>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130" name="组合 129">
            <a:extLst>
              <a:ext uri="{FF2B5EF4-FFF2-40B4-BE49-F238E27FC236}">
                <a16:creationId xmlns:a16="http://schemas.microsoft.com/office/drawing/2014/main" id="{17D2A08B-0CF2-B219-7E02-35316C78060B}"/>
              </a:ext>
            </a:extLst>
          </p:cNvPr>
          <p:cNvGrpSpPr/>
          <p:nvPr/>
        </p:nvGrpSpPr>
        <p:grpSpPr>
          <a:xfrm>
            <a:off x="7395732" y="1800000"/>
            <a:ext cx="1080000" cy="2088000"/>
            <a:chOff x="701211" y="1800000"/>
            <a:chExt cx="1080000" cy="2088000"/>
          </a:xfrm>
        </p:grpSpPr>
        <p:sp>
          <p:nvSpPr>
            <p:cNvPr id="131" name="立方体 130">
              <a:extLst>
                <a:ext uri="{FF2B5EF4-FFF2-40B4-BE49-F238E27FC236}">
                  <a16:creationId xmlns:a16="http://schemas.microsoft.com/office/drawing/2014/main" id="{CC087A5E-EEA5-DE8C-E9F6-DBD02D795398}"/>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2" name="立方体 131">
              <a:extLst>
                <a:ext uri="{FF2B5EF4-FFF2-40B4-BE49-F238E27FC236}">
                  <a16:creationId xmlns:a16="http://schemas.microsoft.com/office/drawing/2014/main" id="{C77F3961-9F9E-EFB7-F8B5-AEC598D079C5}"/>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3" name="立方体 132">
              <a:extLst>
                <a:ext uri="{FF2B5EF4-FFF2-40B4-BE49-F238E27FC236}">
                  <a16:creationId xmlns:a16="http://schemas.microsoft.com/office/drawing/2014/main" id="{501742B0-A688-AB5E-6CB2-9E19864D2080}"/>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4" name="立方体 133">
              <a:extLst>
                <a:ext uri="{FF2B5EF4-FFF2-40B4-BE49-F238E27FC236}">
                  <a16:creationId xmlns:a16="http://schemas.microsoft.com/office/drawing/2014/main" id="{0A9574D3-F288-C163-E2FE-9F7A4D99B340}"/>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5" name="立方体 134">
              <a:extLst>
                <a:ext uri="{FF2B5EF4-FFF2-40B4-BE49-F238E27FC236}">
                  <a16:creationId xmlns:a16="http://schemas.microsoft.com/office/drawing/2014/main" id="{21B146E5-D8EC-6E26-5D00-6C272EF24802}"/>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6" name="圆柱体 135">
              <a:extLst>
                <a:ext uri="{FF2B5EF4-FFF2-40B4-BE49-F238E27FC236}">
                  <a16:creationId xmlns:a16="http://schemas.microsoft.com/office/drawing/2014/main" id="{57CFF458-004F-9085-2442-94CFF4816C30}"/>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37" name="组合 136">
            <a:extLst>
              <a:ext uri="{FF2B5EF4-FFF2-40B4-BE49-F238E27FC236}">
                <a16:creationId xmlns:a16="http://schemas.microsoft.com/office/drawing/2014/main" id="{6A68821F-2D96-1F5E-DFDA-ABA8A7DA29D1}"/>
              </a:ext>
            </a:extLst>
          </p:cNvPr>
          <p:cNvGrpSpPr/>
          <p:nvPr/>
        </p:nvGrpSpPr>
        <p:grpSpPr>
          <a:xfrm>
            <a:off x="701211" y="1800000"/>
            <a:ext cx="1080000" cy="2088000"/>
            <a:chOff x="701211" y="1800000"/>
            <a:chExt cx="1080000" cy="2088000"/>
          </a:xfrm>
        </p:grpSpPr>
        <p:sp>
          <p:nvSpPr>
            <p:cNvPr id="138" name="立方体 137">
              <a:extLst>
                <a:ext uri="{FF2B5EF4-FFF2-40B4-BE49-F238E27FC236}">
                  <a16:creationId xmlns:a16="http://schemas.microsoft.com/office/drawing/2014/main" id="{FE6EF13A-0DD9-87AC-3602-D18CE98FF25E}"/>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9" name="立方体 138">
              <a:extLst>
                <a:ext uri="{FF2B5EF4-FFF2-40B4-BE49-F238E27FC236}">
                  <a16:creationId xmlns:a16="http://schemas.microsoft.com/office/drawing/2014/main" id="{CFEE4785-DBDD-8CD0-0FF6-86CD76765CE5}"/>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42" name="立方体 141">
              <a:extLst>
                <a:ext uri="{FF2B5EF4-FFF2-40B4-BE49-F238E27FC236}">
                  <a16:creationId xmlns:a16="http://schemas.microsoft.com/office/drawing/2014/main" id="{3BA6D816-2DCB-BEA9-5C60-FA4FE5C8613A}"/>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43" name="立方体 142">
              <a:extLst>
                <a:ext uri="{FF2B5EF4-FFF2-40B4-BE49-F238E27FC236}">
                  <a16:creationId xmlns:a16="http://schemas.microsoft.com/office/drawing/2014/main" id="{CCEC3B53-6A6D-BAED-D7B3-FFAB7D254435}"/>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44" name="立方体 143">
              <a:extLst>
                <a:ext uri="{FF2B5EF4-FFF2-40B4-BE49-F238E27FC236}">
                  <a16:creationId xmlns:a16="http://schemas.microsoft.com/office/drawing/2014/main" id="{9B3ACB2C-1D45-7DC2-BD76-AD57C63E7637}"/>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45" name="圆柱体 144">
              <a:extLst>
                <a:ext uri="{FF2B5EF4-FFF2-40B4-BE49-F238E27FC236}">
                  <a16:creationId xmlns:a16="http://schemas.microsoft.com/office/drawing/2014/main" id="{846D4017-19C6-AC5A-3D27-6040A0FBB787}"/>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E93948A-C01E-4262-66CC-783C412752A9}"/>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47" name="Text Box 75">
            <a:extLst>
              <a:ext uri="{FF2B5EF4-FFF2-40B4-BE49-F238E27FC236}">
                <a16:creationId xmlns:a16="http://schemas.microsoft.com/office/drawing/2014/main" id="{7DCDE634-96B7-A360-6D97-CFF64D7598BD}"/>
              </a:ext>
            </a:extLst>
          </p:cNvPr>
          <p:cNvSpPr txBox="1">
            <a:spLocks noChangeArrowheads="1"/>
          </p:cNvSpPr>
          <p:nvPr/>
        </p:nvSpPr>
        <p:spPr bwMode="auto">
          <a:xfrm>
            <a:off x="5117297" y="2845005"/>
            <a:ext cx="621626" cy="244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49" name="Line 76">
            <a:extLst>
              <a:ext uri="{FF2B5EF4-FFF2-40B4-BE49-F238E27FC236}">
                <a16:creationId xmlns:a16="http://schemas.microsoft.com/office/drawing/2014/main" id="{3607CC1C-EE64-0125-0023-0A08CB50EAEA}"/>
              </a:ext>
            </a:extLst>
          </p:cNvPr>
          <p:cNvSpPr>
            <a:spLocks noChangeShapeType="1"/>
          </p:cNvSpPr>
          <p:nvPr/>
        </p:nvSpPr>
        <p:spPr bwMode="auto">
          <a:xfrm>
            <a:off x="5477558" y="3059230"/>
            <a:ext cx="107136" cy="2120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51" name="Line 79">
            <a:extLst>
              <a:ext uri="{FF2B5EF4-FFF2-40B4-BE49-F238E27FC236}">
                <a16:creationId xmlns:a16="http://schemas.microsoft.com/office/drawing/2014/main" id="{38D155C1-E933-53B2-B746-4B4607EDEFB4}"/>
              </a:ext>
            </a:extLst>
          </p:cNvPr>
          <p:cNvSpPr>
            <a:spLocks noChangeShapeType="1"/>
          </p:cNvSpPr>
          <p:nvPr/>
        </p:nvSpPr>
        <p:spPr bwMode="auto">
          <a:xfrm flipH="1">
            <a:off x="6960545" y="3050282"/>
            <a:ext cx="109361" cy="20406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53" name="Text Box 80">
            <a:extLst>
              <a:ext uri="{FF2B5EF4-FFF2-40B4-BE49-F238E27FC236}">
                <a16:creationId xmlns:a16="http://schemas.microsoft.com/office/drawing/2014/main" id="{8BE34742-6D99-39ED-3AE3-CB89A9D73E15}"/>
              </a:ext>
            </a:extLst>
          </p:cNvPr>
          <p:cNvSpPr txBox="1">
            <a:spLocks noChangeArrowheads="1"/>
          </p:cNvSpPr>
          <p:nvPr/>
        </p:nvSpPr>
        <p:spPr bwMode="auto">
          <a:xfrm>
            <a:off x="6824138" y="2842964"/>
            <a:ext cx="607954" cy="244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sp>
        <p:nvSpPr>
          <p:cNvPr id="155" name="Rectangle 74">
            <a:extLst>
              <a:ext uri="{FF2B5EF4-FFF2-40B4-BE49-F238E27FC236}">
                <a16:creationId xmlns:a16="http://schemas.microsoft.com/office/drawing/2014/main" id="{CB2651F5-6AD5-D16F-806A-A4B30E6ABC30}"/>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57" name="Rectangle 78">
            <a:extLst>
              <a:ext uri="{FF2B5EF4-FFF2-40B4-BE49-F238E27FC236}">
                <a16:creationId xmlns:a16="http://schemas.microsoft.com/office/drawing/2014/main" id="{31DFF878-9873-F1E8-D9DB-9412EAE03B7A}"/>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59" name="Rectangle 46">
            <a:extLst>
              <a:ext uri="{FF2B5EF4-FFF2-40B4-BE49-F238E27FC236}">
                <a16:creationId xmlns:a16="http://schemas.microsoft.com/office/drawing/2014/main" id="{061B640C-4A0D-BC07-CF4C-B27C97AC2732}"/>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61" name="Rectangle 47">
            <a:extLst>
              <a:ext uri="{FF2B5EF4-FFF2-40B4-BE49-F238E27FC236}">
                <a16:creationId xmlns:a16="http://schemas.microsoft.com/office/drawing/2014/main" id="{3088F486-BA25-3630-944F-B1CA6A1C31FA}"/>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63" name="Rectangle 48">
            <a:extLst>
              <a:ext uri="{FF2B5EF4-FFF2-40B4-BE49-F238E27FC236}">
                <a16:creationId xmlns:a16="http://schemas.microsoft.com/office/drawing/2014/main" id="{21343C7E-CE09-654A-11C0-AA30B5832F74}"/>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5" name="Rectangle 49">
            <a:extLst>
              <a:ext uri="{FF2B5EF4-FFF2-40B4-BE49-F238E27FC236}">
                <a16:creationId xmlns:a16="http://schemas.microsoft.com/office/drawing/2014/main" id="{C5EC0F22-94C4-8099-9153-3EB9CD9ACA0B}"/>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9" name="Rectangle 42">
            <a:extLst>
              <a:ext uri="{FF2B5EF4-FFF2-40B4-BE49-F238E27FC236}">
                <a16:creationId xmlns:a16="http://schemas.microsoft.com/office/drawing/2014/main" id="{02C75F4B-6A33-FA8E-277E-9C31A8C04B77}"/>
              </a:ext>
            </a:extLst>
          </p:cNvPr>
          <p:cNvSpPr>
            <a:spLocks noChangeArrowheads="1"/>
          </p:cNvSpPr>
          <p:nvPr/>
        </p:nvSpPr>
        <p:spPr bwMode="auto">
          <a:xfrm>
            <a:off x="594614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1" name="Rectangle 43">
            <a:extLst>
              <a:ext uri="{FF2B5EF4-FFF2-40B4-BE49-F238E27FC236}">
                <a16:creationId xmlns:a16="http://schemas.microsoft.com/office/drawing/2014/main" id="{B28DFE2C-2562-9490-7028-0BD40F40DB4C}"/>
              </a:ext>
            </a:extLst>
          </p:cNvPr>
          <p:cNvSpPr>
            <a:spLocks noChangeArrowheads="1"/>
          </p:cNvSpPr>
          <p:nvPr/>
        </p:nvSpPr>
        <p:spPr bwMode="auto">
          <a:xfrm>
            <a:off x="616934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73" name="Rectangle 44">
            <a:extLst>
              <a:ext uri="{FF2B5EF4-FFF2-40B4-BE49-F238E27FC236}">
                <a16:creationId xmlns:a16="http://schemas.microsoft.com/office/drawing/2014/main" id="{CDE8D043-793D-754C-8BEF-0FE0A39401ED}"/>
              </a:ext>
            </a:extLst>
          </p:cNvPr>
          <p:cNvSpPr>
            <a:spLocks noChangeArrowheads="1"/>
          </p:cNvSpPr>
          <p:nvPr/>
        </p:nvSpPr>
        <p:spPr bwMode="auto">
          <a:xfrm>
            <a:off x="6392544" y="2932543"/>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5" name="Rectangle 70">
            <a:extLst>
              <a:ext uri="{FF2B5EF4-FFF2-40B4-BE49-F238E27FC236}">
                <a16:creationId xmlns:a16="http://schemas.microsoft.com/office/drawing/2014/main" id="{A6AAF2D8-132F-2D5F-C83D-9A67E349F829}"/>
              </a:ext>
            </a:extLst>
          </p:cNvPr>
          <p:cNvSpPr>
            <a:spLocks noChangeArrowheads="1"/>
          </p:cNvSpPr>
          <p:nvPr/>
        </p:nvSpPr>
        <p:spPr bwMode="auto">
          <a:xfrm>
            <a:off x="572294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90" name="Rectangle 42">
            <a:extLst>
              <a:ext uri="{FF2B5EF4-FFF2-40B4-BE49-F238E27FC236}">
                <a16:creationId xmlns:a16="http://schemas.microsoft.com/office/drawing/2014/main" id="{584A99CF-1B4A-E793-C251-AD9020EF06CD}"/>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92" name="Rectangle 43">
            <a:extLst>
              <a:ext uri="{FF2B5EF4-FFF2-40B4-BE49-F238E27FC236}">
                <a16:creationId xmlns:a16="http://schemas.microsoft.com/office/drawing/2014/main" id="{D169C026-2035-33C8-6010-BD14DE8870C5}"/>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94" name="Rectangle 44">
            <a:extLst>
              <a:ext uri="{FF2B5EF4-FFF2-40B4-BE49-F238E27FC236}">
                <a16:creationId xmlns:a16="http://schemas.microsoft.com/office/drawing/2014/main" id="{3AA3A8B4-A3DF-D409-A693-B6EC4F45ACC5}"/>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96" name="Rectangle 70">
            <a:extLst>
              <a:ext uri="{FF2B5EF4-FFF2-40B4-BE49-F238E27FC236}">
                <a16:creationId xmlns:a16="http://schemas.microsoft.com/office/drawing/2014/main" id="{0EC9D47E-2DD8-B08F-BAC6-B6AE71755446}"/>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98" name="Rectangle 46">
            <a:extLst>
              <a:ext uri="{FF2B5EF4-FFF2-40B4-BE49-F238E27FC236}">
                <a16:creationId xmlns:a16="http://schemas.microsoft.com/office/drawing/2014/main" id="{BB11A2A9-FCDB-F960-1517-4E48C748D080}"/>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200" name="Rectangle 47">
            <a:extLst>
              <a:ext uri="{FF2B5EF4-FFF2-40B4-BE49-F238E27FC236}">
                <a16:creationId xmlns:a16="http://schemas.microsoft.com/office/drawing/2014/main" id="{D02A3D3D-B300-0D67-2A70-E9905E6A4CD3}"/>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202" name="Rectangle 48">
            <a:extLst>
              <a:ext uri="{FF2B5EF4-FFF2-40B4-BE49-F238E27FC236}">
                <a16:creationId xmlns:a16="http://schemas.microsoft.com/office/drawing/2014/main" id="{9CA24757-5CE4-EA25-C2FB-FA297BE3A34C}"/>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04" name="Rectangle 49">
            <a:extLst>
              <a:ext uri="{FF2B5EF4-FFF2-40B4-BE49-F238E27FC236}">
                <a16:creationId xmlns:a16="http://schemas.microsoft.com/office/drawing/2014/main" id="{B61B0697-5B1B-2AAE-743D-01815DEA3D66}"/>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06" name="Rectangle 74">
            <a:extLst>
              <a:ext uri="{FF2B5EF4-FFF2-40B4-BE49-F238E27FC236}">
                <a16:creationId xmlns:a16="http://schemas.microsoft.com/office/drawing/2014/main" id="{FBDBFA4F-6B97-675F-D75B-8C665AA1ABAE}"/>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208" name="Rectangle 78">
            <a:extLst>
              <a:ext uri="{FF2B5EF4-FFF2-40B4-BE49-F238E27FC236}">
                <a16:creationId xmlns:a16="http://schemas.microsoft.com/office/drawing/2014/main" id="{08E22CC5-9FB9-E82F-47A9-D37DB66CE792}"/>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p:nvSpPr>
          <p:cNvPr id="210" name="Rectangle 35">
            <a:extLst>
              <a:ext uri="{FF2B5EF4-FFF2-40B4-BE49-F238E27FC236}">
                <a16:creationId xmlns:a16="http://schemas.microsoft.com/office/drawing/2014/main" id="{66A45675-34B1-A491-A5FD-15841658E9D0}"/>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Tree>
    <p:extLst>
      <p:ext uri="{BB962C8B-B14F-4D97-AF65-F5344CB8AC3E}">
        <p14:creationId xmlns:p14="http://schemas.microsoft.com/office/powerpoint/2010/main" val="31751284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AutoShape 4">
            <a:extLst>
              <a:ext uri="{FF2B5EF4-FFF2-40B4-BE49-F238E27FC236}">
                <a16:creationId xmlns:a16="http://schemas.microsoft.com/office/drawing/2014/main" id="{90A27E32-22B2-4B3A-651F-F2ED02CB00FF}"/>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9" name="AutoShape 4">
            <a:extLst>
              <a:ext uri="{FF2B5EF4-FFF2-40B4-BE49-F238E27FC236}">
                <a16:creationId xmlns:a16="http://schemas.microsoft.com/office/drawing/2014/main" id="{CCE93603-B145-638A-A8CC-D5CBF30FC086}"/>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31" name="Text Box 26">
            <a:extLst>
              <a:ext uri="{FF2B5EF4-FFF2-40B4-BE49-F238E27FC236}">
                <a16:creationId xmlns:a16="http://schemas.microsoft.com/office/drawing/2014/main" id="{C0453C2C-BB9A-3776-3F35-9375D5673424}"/>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33" name="Text Box 26">
            <a:extLst>
              <a:ext uri="{FF2B5EF4-FFF2-40B4-BE49-F238E27FC236}">
                <a16:creationId xmlns:a16="http://schemas.microsoft.com/office/drawing/2014/main" id="{F05CDF1D-5AF9-F4BC-EE87-2D3982C41D13}"/>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220" name="组合 219">
            <a:extLst>
              <a:ext uri="{FF2B5EF4-FFF2-40B4-BE49-F238E27FC236}">
                <a16:creationId xmlns:a16="http://schemas.microsoft.com/office/drawing/2014/main" id="{286C989A-0B58-036D-5740-C41E239BAA16}"/>
              </a:ext>
            </a:extLst>
          </p:cNvPr>
          <p:cNvGrpSpPr/>
          <p:nvPr/>
        </p:nvGrpSpPr>
        <p:grpSpPr>
          <a:xfrm>
            <a:off x="3960000" y="2808000"/>
            <a:ext cx="1080000" cy="1080000"/>
            <a:chOff x="2807995" y="2745746"/>
            <a:chExt cx="1080000" cy="1080000"/>
          </a:xfrm>
        </p:grpSpPr>
        <p:sp>
          <p:nvSpPr>
            <p:cNvPr id="221" name="立方体 220">
              <a:extLst>
                <a:ext uri="{FF2B5EF4-FFF2-40B4-BE49-F238E27FC236}">
                  <a16:creationId xmlns:a16="http://schemas.microsoft.com/office/drawing/2014/main" id="{9FBEF3A5-3D65-A2D3-5848-BB2B38226C4A}"/>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22" name="立方体 221">
              <a:extLst>
                <a:ext uri="{FF2B5EF4-FFF2-40B4-BE49-F238E27FC236}">
                  <a16:creationId xmlns:a16="http://schemas.microsoft.com/office/drawing/2014/main" id="{98820D2A-6353-224D-71C9-3BC8CD7BF2EC}"/>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23" name="立方体 222">
              <a:extLst>
                <a:ext uri="{FF2B5EF4-FFF2-40B4-BE49-F238E27FC236}">
                  <a16:creationId xmlns:a16="http://schemas.microsoft.com/office/drawing/2014/main" id="{D72F0DAC-06CC-1989-EAE3-430135849A3E}"/>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24" name="立方体 223">
              <a:extLst>
                <a:ext uri="{FF2B5EF4-FFF2-40B4-BE49-F238E27FC236}">
                  <a16:creationId xmlns:a16="http://schemas.microsoft.com/office/drawing/2014/main" id="{24485E46-729D-F98E-41BA-BD7F66199D4E}"/>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25" name="立方体 224">
              <a:extLst>
                <a:ext uri="{FF2B5EF4-FFF2-40B4-BE49-F238E27FC236}">
                  <a16:creationId xmlns:a16="http://schemas.microsoft.com/office/drawing/2014/main" id="{3B6FCE51-86FA-15E9-96DC-8F4EFCA39B72}"/>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132" name="组合 131">
            <a:extLst>
              <a:ext uri="{FF2B5EF4-FFF2-40B4-BE49-F238E27FC236}">
                <a16:creationId xmlns:a16="http://schemas.microsoft.com/office/drawing/2014/main" id="{7BE121A3-341E-0E54-ADD1-57450425F8AE}"/>
              </a:ext>
            </a:extLst>
          </p:cNvPr>
          <p:cNvGrpSpPr/>
          <p:nvPr/>
        </p:nvGrpSpPr>
        <p:grpSpPr>
          <a:xfrm>
            <a:off x="7395732" y="1800000"/>
            <a:ext cx="1080000" cy="2088000"/>
            <a:chOff x="701211" y="1800000"/>
            <a:chExt cx="1080000" cy="2088000"/>
          </a:xfrm>
        </p:grpSpPr>
        <p:sp>
          <p:nvSpPr>
            <p:cNvPr id="133" name="立方体 132">
              <a:extLst>
                <a:ext uri="{FF2B5EF4-FFF2-40B4-BE49-F238E27FC236}">
                  <a16:creationId xmlns:a16="http://schemas.microsoft.com/office/drawing/2014/main" id="{AF0315BB-54C9-D371-C823-F291F095F61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4" name="立方体 133">
              <a:extLst>
                <a:ext uri="{FF2B5EF4-FFF2-40B4-BE49-F238E27FC236}">
                  <a16:creationId xmlns:a16="http://schemas.microsoft.com/office/drawing/2014/main" id="{E0E0111B-DB5E-F028-AE96-BD09FE2F5C32}"/>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5" name="立方体 134">
              <a:extLst>
                <a:ext uri="{FF2B5EF4-FFF2-40B4-BE49-F238E27FC236}">
                  <a16:creationId xmlns:a16="http://schemas.microsoft.com/office/drawing/2014/main" id="{F1E7FE01-4783-918A-0FFD-897558C33358}"/>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6" name="立方体 135">
              <a:extLst>
                <a:ext uri="{FF2B5EF4-FFF2-40B4-BE49-F238E27FC236}">
                  <a16:creationId xmlns:a16="http://schemas.microsoft.com/office/drawing/2014/main" id="{70607EFD-3D65-9F02-28BD-4F98955DDF6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7" name="立方体 136">
              <a:extLst>
                <a:ext uri="{FF2B5EF4-FFF2-40B4-BE49-F238E27FC236}">
                  <a16:creationId xmlns:a16="http://schemas.microsoft.com/office/drawing/2014/main" id="{BED5C0A9-50C2-24C0-5E11-AAD9313797B7}"/>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8" name="圆柱体 137">
              <a:extLst>
                <a:ext uri="{FF2B5EF4-FFF2-40B4-BE49-F238E27FC236}">
                  <a16:creationId xmlns:a16="http://schemas.microsoft.com/office/drawing/2014/main" id="{41600DAC-D158-0E03-AF93-E6F5BFEF8267}"/>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39" name="组合 138">
            <a:extLst>
              <a:ext uri="{FF2B5EF4-FFF2-40B4-BE49-F238E27FC236}">
                <a16:creationId xmlns:a16="http://schemas.microsoft.com/office/drawing/2014/main" id="{BFD024BF-51FC-FC28-3279-5AF913FC08E2}"/>
              </a:ext>
            </a:extLst>
          </p:cNvPr>
          <p:cNvGrpSpPr/>
          <p:nvPr/>
        </p:nvGrpSpPr>
        <p:grpSpPr>
          <a:xfrm>
            <a:off x="701211" y="1800000"/>
            <a:ext cx="1080000" cy="2088000"/>
            <a:chOff x="701211" y="1800000"/>
            <a:chExt cx="1080000" cy="2088000"/>
          </a:xfrm>
        </p:grpSpPr>
        <p:sp>
          <p:nvSpPr>
            <p:cNvPr id="142" name="立方体 141">
              <a:extLst>
                <a:ext uri="{FF2B5EF4-FFF2-40B4-BE49-F238E27FC236}">
                  <a16:creationId xmlns:a16="http://schemas.microsoft.com/office/drawing/2014/main" id="{3341EFE7-3779-7B14-7B0A-F5A6586B00F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43" name="立方体 142">
              <a:extLst>
                <a:ext uri="{FF2B5EF4-FFF2-40B4-BE49-F238E27FC236}">
                  <a16:creationId xmlns:a16="http://schemas.microsoft.com/office/drawing/2014/main" id="{41E2D9D8-F4AC-486C-F698-9B1C1ABC0676}"/>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44" name="立方体 143">
              <a:extLst>
                <a:ext uri="{FF2B5EF4-FFF2-40B4-BE49-F238E27FC236}">
                  <a16:creationId xmlns:a16="http://schemas.microsoft.com/office/drawing/2014/main" id="{B6EA473D-E179-8E0D-5036-7DB88ED7BB3B}"/>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45" name="立方体 144">
              <a:extLst>
                <a:ext uri="{FF2B5EF4-FFF2-40B4-BE49-F238E27FC236}">
                  <a16:creationId xmlns:a16="http://schemas.microsoft.com/office/drawing/2014/main" id="{A6BD6AEE-5D14-8EF0-2805-939E9F118FA9}"/>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46" name="立方体 145">
              <a:extLst>
                <a:ext uri="{FF2B5EF4-FFF2-40B4-BE49-F238E27FC236}">
                  <a16:creationId xmlns:a16="http://schemas.microsoft.com/office/drawing/2014/main" id="{3E0DDB1E-2F0D-1CD2-BE66-815EE3FF77F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47" name="圆柱体 146">
              <a:extLst>
                <a:ext uri="{FF2B5EF4-FFF2-40B4-BE49-F238E27FC236}">
                  <a16:creationId xmlns:a16="http://schemas.microsoft.com/office/drawing/2014/main" id="{39D19EFA-0603-3DD6-0CB1-54C275089ACA}"/>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Text Box 75"/>
          <p:cNvSpPr txBox="1">
            <a:spLocks noChangeArrowheads="1"/>
          </p:cNvSpPr>
          <p:nvPr/>
        </p:nvSpPr>
        <p:spPr bwMode="auto">
          <a:xfrm>
            <a:off x="5117297" y="2845005"/>
            <a:ext cx="621626" cy="244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5477558" y="3059230"/>
            <a:ext cx="107136" cy="2120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8" name="Line 79"/>
          <p:cNvSpPr>
            <a:spLocks noChangeShapeType="1"/>
          </p:cNvSpPr>
          <p:nvPr/>
        </p:nvSpPr>
        <p:spPr bwMode="auto">
          <a:xfrm flipH="1">
            <a:off x="6960545" y="3050282"/>
            <a:ext cx="109361" cy="20406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20" name="Text Box 80"/>
          <p:cNvSpPr txBox="1">
            <a:spLocks noChangeArrowheads="1"/>
          </p:cNvSpPr>
          <p:nvPr/>
        </p:nvSpPr>
        <p:spPr bwMode="auto">
          <a:xfrm>
            <a:off x="6824138" y="2842964"/>
            <a:ext cx="607954" cy="244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028C4CA-1E60-59B3-6953-5403E0F7982F}"/>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50" name="Rectangle 74">
            <a:extLst>
              <a:ext uri="{FF2B5EF4-FFF2-40B4-BE49-F238E27FC236}">
                <a16:creationId xmlns:a16="http://schemas.microsoft.com/office/drawing/2014/main" id="{FA728565-5319-F81E-3925-B45727BCF673}"/>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52" name="Rectangle 78">
            <a:extLst>
              <a:ext uri="{FF2B5EF4-FFF2-40B4-BE49-F238E27FC236}">
                <a16:creationId xmlns:a16="http://schemas.microsoft.com/office/drawing/2014/main" id="{6D12DDA4-2729-6DC0-C8B4-42671BDDACEB}"/>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54" name="Rectangle 46">
            <a:extLst>
              <a:ext uri="{FF2B5EF4-FFF2-40B4-BE49-F238E27FC236}">
                <a16:creationId xmlns:a16="http://schemas.microsoft.com/office/drawing/2014/main" id="{63D984D4-27ED-2926-1DCC-B6DA6B73F59E}"/>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56" name="Rectangle 47">
            <a:extLst>
              <a:ext uri="{FF2B5EF4-FFF2-40B4-BE49-F238E27FC236}">
                <a16:creationId xmlns:a16="http://schemas.microsoft.com/office/drawing/2014/main" id="{9D4BDAF9-36A9-1ED5-63C6-737D8F12CCC2}"/>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58" name="Rectangle 48">
            <a:extLst>
              <a:ext uri="{FF2B5EF4-FFF2-40B4-BE49-F238E27FC236}">
                <a16:creationId xmlns:a16="http://schemas.microsoft.com/office/drawing/2014/main" id="{72746093-992A-6041-93AE-DA0C943908C8}"/>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0" name="Rectangle 49">
            <a:extLst>
              <a:ext uri="{FF2B5EF4-FFF2-40B4-BE49-F238E27FC236}">
                <a16:creationId xmlns:a16="http://schemas.microsoft.com/office/drawing/2014/main" id="{4DB4883A-B864-8D7E-09CD-7CFC5B2D0493}"/>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2" name="Rectangle 35">
            <a:extLst>
              <a:ext uri="{FF2B5EF4-FFF2-40B4-BE49-F238E27FC236}">
                <a16:creationId xmlns:a16="http://schemas.microsoft.com/office/drawing/2014/main" id="{DC4276F8-5E0B-66D9-23C7-652CEA99671E}"/>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64" name="Rectangle 42">
            <a:extLst>
              <a:ext uri="{FF2B5EF4-FFF2-40B4-BE49-F238E27FC236}">
                <a16:creationId xmlns:a16="http://schemas.microsoft.com/office/drawing/2014/main" id="{D632D218-F716-FF8A-B622-348E6B1F7D9B}"/>
              </a:ext>
            </a:extLst>
          </p:cNvPr>
          <p:cNvSpPr>
            <a:spLocks noChangeArrowheads="1"/>
          </p:cNvSpPr>
          <p:nvPr/>
        </p:nvSpPr>
        <p:spPr bwMode="auto">
          <a:xfrm>
            <a:off x="594614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66" name="Rectangle 43">
            <a:extLst>
              <a:ext uri="{FF2B5EF4-FFF2-40B4-BE49-F238E27FC236}">
                <a16:creationId xmlns:a16="http://schemas.microsoft.com/office/drawing/2014/main" id="{668F20E1-0A5C-296F-1F10-60730DCF8821}"/>
              </a:ext>
            </a:extLst>
          </p:cNvPr>
          <p:cNvSpPr>
            <a:spLocks noChangeArrowheads="1"/>
          </p:cNvSpPr>
          <p:nvPr/>
        </p:nvSpPr>
        <p:spPr bwMode="auto">
          <a:xfrm>
            <a:off x="616934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8" name="Rectangle 44">
            <a:extLst>
              <a:ext uri="{FF2B5EF4-FFF2-40B4-BE49-F238E27FC236}">
                <a16:creationId xmlns:a16="http://schemas.microsoft.com/office/drawing/2014/main" id="{067F1984-4DCE-9579-329E-D30A5D901001}"/>
              </a:ext>
            </a:extLst>
          </p:cNvPr>
          <p:cNvSpPr>
            <a:spLocks noChangeArrowheads="1"/>
          </p:cNvSpPr>
          <p:nvPr/>
        </p:nvSpPr>
        <p:spPr bwMode="auto">
          <a:xfrm>
            <a:off x="6392544" y="2932543"/>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0" name="Rectangle 70">
            <a:extLst>
              <a:ext uri="{FF2B5EF4-FFF2-40B4-BE49-F238E27FC236}">
                <a16:creationId xmlns:a16="http://schemas.microsoft.com/office/drawing/2014/main" id="{5A2BF8DB-3993-FDB8-C016-85905E8D07AC}"/>
              </a:ext>
            </a:extLst>
          </p:cNvPr>
          <p:cNvSpPr>
            <a:spLocks noChangeArrowheads="1"/>
          </p:cNvSpPr>
          <p:nvPr/>
        </p:nvSpPr>
        <p:spPr bwMode="auto">
          <a:xfrm>
            <a:off x="572294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97" name="Rectangle 42">
            <a:extLst>
              <a:ext uri="{FF2B5EF4-FFF2-40B4-BE49-F238E27FC236}">
                <a16:creationId xmlns:a16="http://schemas.microsoft.com/office/drawing/2014/main" id="{3771D601-9169-668A-9F70-98E7185559F7}"/>
              </a:ext>
            </a:extLst>
          </p:cNvPr>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99" name="Rectangle 43">
            <a:extLst>
              <a:ext uri="{FF2B5EF4-FFF2-40B4-BE49-F238E27FC236}">
                <a16:creationId xmlns:a16="http://schemas.microsoft.com/office/drawing/2014/main" id="{1072F5ED-15D1-3778-0629-B3771ED2E553}"/>
              </a:ext>
            </a:extLst>
          </p:cNvPr>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01" name="Rectangle 44">
            <a:extLst>
              <a:ext uri="{FF2B5EF4-FFF2-40B4-BE49-F238E27FC236}">
                <a16:creationId xmlns:a16="http://schemas.microsoft.com/office/drawing/2014/main" id="{AFE43001-F0DE-FBD4-C9AB-F3BA98F559C6}"/>
              </a:ext>
            </a:extLst>
          </p:cNvPr>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03" name="Rectangle 70">
            <a:extLst>
              <a:ext uri="{FF2B5EF4-FFF2-40B4-BE49-F238E27FC236}">
                <a16:creationId xmlns:a16="http://schemas.microsoft.com/office/drawing/2014/main" id="{8FAD6074-E591-9993-B185-172B13FCC703}"/>
              </a:ext>
            </a:extLst>
          </p:cNvPr>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205" name="Rectangle 46">
            <a:extLst>
              <a:ext uri="{FF2B5EF4-FFF2-40B4-BE49-F238E27FC236}">
                <a16:creationId xmlns:a16="http://schemas.microsoft.com/office/drawing/2014/main" id="{3B683876-E3C6-3FE8-01C4-EEE8FCCBA0D5}"/>
              </a:ext>
            </a:extLst>
          </p:cNvPr>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207" name="Rectangle 47">
            <a:extLst>
              <a:ext uri="{FF2B5EF4-FFF2-40B4-BE49-F238E27FC236}">
                <a16:creationId xmlns:a16="http://schemas.microsoft.com/office/drawing/2014/main" id="{6F42C237-79F3-95CD-C8E7-CEE04E2A6B8E}"/>
              </a:ext>
            </a:extLst>
          </p:cNvPr>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209" name="Rectangle 48">
            <a:extLst>
              <a:ext uri="{FF2B5EF4-FFF2-40B4-BE49-F238E27FC236}">
                <a16:creationId xmlns:a16="http://schemas.microsoft.com/office/drawing/2014/main" id="{93E83EE3-0B87-E36F-7114-6BEF106C92E2}"/>
              </a:ext>
            </a:extLst>
          </p:cNvPr>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11" name="Rectangle 49">
            <a:extLst>
              <a:ext uri="{FF2B5EF4-FFF2-40B4-BE49-F238E27FC236}">
                <a16:creationId xmlns:a16="http://schemas.microsoft.com/office/drawing/2014/main" id="{563EA0F5-8C8E-AB63-BEBA-55A0B58A8112}"/>
              </a:ext>
            </a:extLst>
          </p:cNvPr>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13" name="Rectangle 74">
            <a:extLst>
              <a:ext uri="{FF2B5EF4-FFF2-40B4-BE49-F238E27FC236}">
                <a16:creationId xmlns:a16="http://schemas.microsoft.com/office/drawing/2014/main" id="{EB13DCF1-8A4A-4615-772E-927AE75BF42D}"/>
              </a:ext>
            </a:extLst>
          </p:cNvPr>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215" name="Rectangle 78">
            <a:extLst>
              <a:ext uri="{FF2B5EF4-FFF2-40B4-BE49-F238E27FC236}">
                <a16:creationId xmlns:a16="http://schemas.microsoft.com/office/drawing/2014/main" id="{7E98E2B4-DE51-CBC6-72E5-3554C8DEFE90}"/>
              </a:ext>
            </a:extLst>
          </p:cNvPr>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T2</a:t>
            </a:r>
          </a:p>
        </p:txBody>
      </p:sp>
      <p:sp>
        <p:nvSpPr>
          <p:cNvPr id="217" name="Rectangle 35">
            <a:extLst>
              <a:ext uri="{FF2B5EF4-FFF2-40B4-BE49-F238E27FC236}">
                <a16:creationId xmlns:a16="http://schemas.microsoft.com/office/drawing/2014/main" id="{8429FA4F-1919-4052-51A7-892FEF60D461}"/>
              </a:ext>
            </a:extLst>
          </p:cNvPr>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Tree>
    <p:extLst>
      <p:ext uri="{BB962C8B-B14F-4D97-AF65-F5344CB8AC3E}">
        <p14:creationId xmlns:p14="http://schemas.microsoft.com/office/powerpoint/2010/main" val="37874805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up)">
                                      <p:cBhvr>
                                        <p:cTn id="7" dur="10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AutoShape 4">
            <a:extLst>
              <a:ext uri="{FF2B5EF4-FFF2-40B4-BE49-F238E27FC236}">
                <a16:creationId xmlns:a16="http://schemas.microsoft.com/office/drawing/2014/main" id="{24BE8F10-C364-AF57-A092-3299E0535F87}"/>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8" name="AutoShape 4">
            <a:extLst>
              <a:ext uri="{FF2B5EF4-FFF2-40B4-BE49-F238E27FC236}">
                <a16:creationId xmlns:a16="http://schemas.microsoft.com/office/drawing/2014/main" id="{D611378C-0B91-E5B0-9BF6-D8F8796B4980}"/>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96" name="组合 95">
            <a:extLst>
              <a:ext uri="{FF2B5EF4-FFF2-40B4-BE49-F238E27FC236}">
                <a16:creationId xmlns:a16="http://schemas.microsoft.com/office/drawing/2014/main" id="{F6732983-C083-3B9F-F605-5B24704D17C1}"/>
              </a:ext>
            </a:extLst>
          </p:cNvPr>
          <p:cNvGrpSpPr/>
          <p:nvPr/>
        </p:nvGrpSpPr>
        <p:grpSpPr>
          <a:xfrm>
            <a:off x="3960000" y="2808000"/>
            <a:ext cx="1080000" cy="1080000"/>
            <a:chOff x="2807995" y="2745746"/>
            <a:chExt cx="1080000" cy="1080000"/>
          </a:xfrm>
        </p:grpSpPr>
        <p:sp>
          <p:nvSpPr>
            <p:cNvPr id="97" name="立方体 96">
              <a:extLst>
                <a:ext uri="{FF2B5EF4-FFF2-40B4-BE49-F238E27FC236}">
                  <a16:creationId xmlns:a16="http://schemas.microsoft.com/office/drawing/2014/main" id="{6CA0A899-3775-69B6-8998-114130178F78}"/>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98" name="立方体 97">
              <a:extLst>
                <a:ext uri="{FF2B5EF4-FFF2-40B4-BE49-F238E27FC236}">
                  <a16:creationId xmlns:a16="http://schemas.microsoft.com/office/drawing/2014/main" id="{FE6BA7B6-D0A8-6638-6444-2F404F9021BB}"/>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01" name="立方体 100">
              <a:extLst>
                <a:ext uri="{FF2B5EF4-FFF2-40B4-BE49-F238E27FC236}">
                  <a16:creationId xmlns:a16="http://schemas.microsoft.com/office/drawing/2014/main" id="{0C42617E-51FC-9D19-41DA-D39D12D1A5EF}"/>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02" name="立方体 101">
              <a:extLst>
                <a:ext uri="{FF2B5EF4-FFF2-40B4-BE49-F238E27FC236}">
                  <a16:creationId xmlns:a16="http://schemas.microsoft.com/office/drawing/2014/main" id="{C2502B08-F62F-390B-C7A8-7FC11A7E8AB6}"/>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03" name="立方体 102">
              <a:extLst>
                <a:ext uri="{FF2B5EF4-FFF2-40B4-BE49-F238E27FC236}">
                  <a16:creationId xmlns:a16="http://schemas.microsoft.com/office/drawing/2014/main" id="{28A1E7CD-CB1E-6E0B-88CC-632FA7C94E45}"/>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7" name="组合 76">
            <a:extLst>
              <a:ext uri="{FF2B5EF4-FFF2-40B4-BE49-F238E27FC236}">
                <a16:creationId xmlns:a16="http://schemas.microsoft.com/office/drawing/2014/main" id="{FA2E37A1-96F4-42CF-7849-BF3E34533040}"/>
              </a:ext>
            </a:extLst>
          </p:cNvPr>
          <p:cNvGrpSpPr/>
          <p:nvPr/>
        </p:nvGrpSpPr>
        <p:grpSpPr>
          <a:xfrm>
            <a:off x="7395732" y="1800000"/>
            <a:ext cx="1080000" cy="2088000"/>
            <a:chOff x="701211" y="1800000"/>
            <a:chExt cx="1080000" cy="2088000"/>
          </a:xfrm>
        </p:grpSpPr>
        <p:sp>
          <p:nvSpPr>
            <p:cNvPr id="78" name="立方体 77">
              <a:extLst>
                <a:ext uri="{FF2B5EF4-FFF2-40B4-BE49-F238E27FC236}">
                  <a16:creationId xmlns:a16="http://schemas.microsoft.com/office/drawing/2014/main" id="{61C79352-7457-5E7B-8D7A-1C25A9B6F0D4}"/>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79" name="立方体 78">
              <a:extLst>
                <a:ext uri="{FF2B5EF4-FFF2-40B4-BE49-F238E27FC236}">
                  <a16:creationId xmlns:a16="http://schemas.microsoft.com/office/drawing/2014/main" id="{192D6CAE-5F44-FF80-0E32-B34A6FABE605}"/>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0" name="立方体 79">
              <a:extLst>
                <a:ext uri="{FF2B5EF4-FFF2-40B4-BE49-F238E27FC236}">
                  <a16:creationId xmlns:a16="http://schemas.microsoft.com/office/drawing/2014/main" id="{7807AE27-B413-3988-EC11-7704E4E5252B}"/>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1" name="立方体 80">
              <a:extLst>
                <a:ext uri="{FF2B5EF4-FFF2-40B4-BE49-F238E27FC236}">
                  <a16:creationId xmlns:a16="http://schemas.microsoft.com/office/drawing/2014/main" id="{600ABF15-DB43-C86F-A7F9-67C3D73D892D}"/>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3" name="立方体 82">
              <a:extLst>
                <a:ext uri="{FF2B5EF4-FFF2-40B4-BE49-F238E27FC236}">
                  <a16:creationId xmlns:a16="http://schemas.microsoft.com/office/drawing/2014/main" id="{BECE5F6D-F3E9-CAAC-98FD-48EB72AEF60E}"/>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84" name="圆柱体 83">
              <a:extLst>
                <a:ext uri="{FF2B5EF4-FFF2-40B4-BE49-F238E27FC236}">
                  <a16:creationId xmlns:a16="http://schemas.microsoft.com/office/drawing/2014/main" id="{3BC29728-17F5-2413-A840-2ABAE0E14F05}"/>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85" name="组合 84">
            <a:extLst>
              <a:ext uri="{FF2B5EF4-FFF2-40B4-BE49-F238E27FC236}">
                <a16:creationId xmlns:a16="http://schemas.microsoft.com/office/drawing/2014/main" id="{2C5C4B55-0E08-DD3F-9D5E-233306F9B7AE}"/>
              </a:ext>
            </a:extLst>
          </p:cNvPr>
          <p:cNvGrpSpPr/>
          <p:nvPr/>
        </p:nvGrpSpPr>
        <p:grpSpPr>
          <a:xfrm>
            <a:off x="701211" y="1800000"/>
            <a:ext cx="1080000" cy="2088000"/>
            <a:chOff x="701211" y="1800000"/>
            <a:chExt cx="1080000" cy="2088000"/>
          </a:xfrm>
        </p:grpSpPr>
        <p:sp>
          <p:nvSpPr>
            <p:cNvPr id="86" name="立方体 85">
              <a:extLst>
                <a:ext uri="{FF2B5EF4-FFF2-40B4-BE49-F238E27FC236}">
                  <a16:creationId xmlns:a16="http://schemas.microsoft.com/office/drawing/2014/main" id="{07A4B46F-62F1-BD57-7D9A-ABDE81CE69CE}"/>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9" name="立方体 88">
              <a:extLst>
                <a:ext uri="{FF2B5EF4-FFF2-40B4-BE49-F238E27FC236}">
                  <a16:creationId xmlns:a16="http://schemas.microsoft.com/office/drawing/2014/main" id="{9F8CF17F-6627-8B47-A87C-22D09335D780}"/>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0" name="立方体 89">
              <a:extLst>
                <a:ext uri="{FF2B5EF4-FFF2-40B4-BE49-F238E27FC236}">
                  <a16:creationId xmlns:a16="http://schemas.microsoft.com/office/drawing/2014/main" id="{F9FDD6E2-94C0-A848-8703-4937593E0622}"/>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91" name="立方体 90">
              <a:extLst>
                <a:ext uri="{FF2B5EF4-FFF2-40B4-BE49-F238E27FC236}">
                  <a16:creationId xmlns:a16="http://schemas.microsoft.com/office/drawing/2014/main" id="{BF6F3E5D-A6CF-1E6E-E9A7-B138BC3856E0}"/>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93" name="立方体 92">
              <a:extLst>
                <a:ext uri="{FF2B5EF4-FFF2-40B4-BE49-F238E27FC236}">
                  <a16:creationId xmlns:a16="http://schemas.microsoft.com/office/drawing/2014/main" id="{ECB9DDD9-9C4A-D92D-4EF5-C6E5B52E3FCF}"/>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94" name="圆柱体 93">
              <a:extLst>
                <a:ext uri="{FF2B5EF4-FFF2-40B4-BE49-F238E27FC236}">
                  <a16:creationId xmlns:a16="http://schemas.microsoft.com/office/drawing/2014/main" id="{3507277D-6A5D-4C77-2E66-1EFFA73DEFC7}"/>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09" name="Text Box 26"/>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 name="标题 1">
            <a:extLst>
              <a:ext uri="{FF2B5EF4-FFF2-40B4-BE49-F238E27FC236}">
                <a16:creationId xmlns:a16="http://schemas.microsoft.com/office/drawing/2014/main" id="{48902D8B-BD8E-D7B4-6D4B-E6D4210ABE95}"/>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Tree>
    <p:extLst>
      <p:ext uri="{BB962C8B-B14F-4D97-AF65-F5344CB8AC3E}">
        <p14:creationId xmlns:p14="http://schemas.microsoft.com/office/powerpoint/2010/main" val="4029474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wipe(left)">
                                      <p:cBhvr>
                                        <p:cTn id="7" dur="1000"/>
                                        <p:tgtEl>
                                          <p:spTgt spid="1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4"/>
                                        </p:tgtEl>
                                        <p:attrNameLst>
                                          <p:attrName>style.visibility</p:attrName>
                                        </p:attrNameLst>
                                      </p:cBhvr>
                                      <p:to>
                                        <p:strVal val="visible"/>
                                      </p:to>
                                    </p:set>
                                    <p:animEffect transition="in" filter="wipe(left)">
                                      <p:cBhvr>
                                        <p:cTn id="11" dur="1000"/>
                                        <p:tgtEl>
                                          <p:spTgt spid="1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3"/>
                                        </p:tgtEl>
                                        <p:attrNameLst>
                                          <p:attrName>style.visibility</p:attrName>
                                        </p:attrNameLst>
                                      </p:cBhvr>
                                      <p:to>
                                        <p:strVal val="visible"/>
                                      </p:to>
                                    </p:set>
                                    <p:animEffect transition="in" filter="wipe(left)">
                                      <p:cBhvr>
                                        <p:cTn id="15"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AutoShape 4">
            <a:extLst>
              <a:ext uri="{FF2B5EF4-FFF2-40B4-BE49-F238E27FC236}">
                <a16:creationId xmlns:a16="http://schemas.microsoft.com/office/drawing/2014/main" id="{BA99B678-4610-2514-C2FD-E0B06FCB0624}"/>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58" name="AutoShape 4">
            <a:extLst>
              <a:ext uri="{FF2B5EF4-FFF2-40B4-BE49-F238E27FC236}">
                <a16:creationId xmlns:a16="http://schemas.microsoft.com/office/drawing/2014/main" id="{4A235936-0962-716D-4203-C08B35CA078E}"/>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0" name="Text Box 26">
            <a:extLst>
              <a:ext uri="{FF2B5EF4-FFF2-40B4-BE49-F238E27FC236}">
                <a16:creationId xmlns:a16="http://schemas.microsoft.com/office/drawing/2014/main" id="{8E084F96-F4A0-F49D-4A64-040AB51564C2}"/>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62" name="Text Box 26">
            <a:extLst>
              <a:ext uri="{FF2B5EF4-FFF2-40B4-BE49-F238E27FC236}">
                <a16:creationId xmlns:a16="http://schemas.microsoft.com/office/drawing/2014/main" id="{C2BD6D71-E74E-CBA2-8EAF-E957AD7BEA93}"/>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49" name="组合 148">
            <a:extLst>
              <a:ext uri="{FF2B5EF4-FFF2-40B4-BE49-F238E27FC236}">
                <a16:creationId xmlns:a16="http://schemas.microsoft.com/office/drawing/2014/main" id="{012EC147-0B2F-991F-DC31-9FAA2423A234}"/>
              </a:ext>
            </a:extLst>
          </p:cNvPr>
          <p:cNvGrpSpPr/>
          <p:nvPr/>
        </p:nvGrpSpPr>
        <p:grpSpPr>
          <a:xfrm>
            <a:off x="3960000" y="2808000"/>
            <a:ext cx="1080000" cy="1080000"/>
            <a:chOff x="2807995" y="2745746"/>
            <a:chExt cx="1080000" cy="1080000"/>
          </a:xfrm>
        </p:grpSpPr>
        <p:sp>
          <p:nvSpPr>
            <p:cNvPr id="150" name="立方体 149">
              <a:extLst>
                <a:ext uri="{FF2B5EF4-FFF2-40B4-BE49-F238E27FC236}">
                  <a16:creationId xmlns:a16="http://schemas.microsoft.com/office/drawing/2014/main" id="{90AB7F39-9449-D4E4-6DD8-E9DDD472B8E1}"/>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1" name="立方体 150">
              <a:extLst>
                <a:ext uri="{FF2B5EF4-FFF2-40B4-BE49-F238E27FC236}">
                  <a16:creationId xmlns:a16="http://schemas.microsoft.com/office/drawing/2014/main" id="{38D3C803-1048-1C8E-3811-BB34F56B9DE8}"/>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2" name="立方体 151">
              <a:extLst>
                <a:ext uri="{FF2B5EF4-FFF2-40B4-BE49-F238E27FC236}">
                  <a16:creationId xmlns:a16="http://schemas.microsoft.com/office/drawing/2014/main" id="{E3193FAB-CAB2-C9FD-F694-67EA0E2AF6AD}"/>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53" name="立方体 152">
              <a:extLst>
                <a:ext uri="{FF2B5EF4-FFF2-40B4-BE49-F238E27FC236}">
                  <a16:creationId xmlns:a16="http://schemas.microsoft.com/office/drawing/2014/main" id="{44916DA4-7993-FE99-EA8B-F94A85888338}"/>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54" name="立方体 153">
              <a:extLst>
                <a:ext uri="{FF2B5EF4-FFF2-40B4-BE49-F238E27FC236}">
                  <a16:creationId xmlns:a16="http://schemas.microsoft.com/office/drawing/2014/main" id="{48590A5F-B0E4-EA21-ABCE-4208A3E97B4C}"/>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7" name="组合 76">
            <a:extLst>
              <a:ext uri="{FF2B5EF4-FFF2-40B4-BE49-F238E27FC236}">
                <a16:creationId xmlns:a16="http://schemas.microsoft.com/office/drawing/2014/main" id="{849C4BE5-129C-BCE9-7BB2-E4A8D9C2B119}"/>
              </a:ext>
            </a:extLst>
          </p:cNvPr>
          <p:cNvGrpSpPr/>
          <p:nvPr/>
        </p:nvGrpSpPr>
        <p:grpSpPr>
          <a:xfrm>
            <a:off x="7395732" y="1800000"/>
            <a:ext cx="1080000" cy="2088000"/>
            <a:chOff x="701211" y="1800000"/>
            <a:chExt cx="1080000" cy="2088000"/>
          </a:xfrm>
        </p:grpSpPr>
        <p:sp>
          <p:nvSpPr>
            <p:cNvPr id="78" name="立方体 77">
              <a:extLst>
                <a:ext uri="{FF2B5EF4-FFF2-40B4-BE49-F238E27FC236}">
                  <a16:creationId xmlns:a16="http://schemas.microsoft.com/office/drawing/2014/main" id="{17B4B0E4-D8D2-1DA7-96C8-983E46FB6F0C}"/>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79" name="立方体 78">
              <a:extLst>
                <a:ext uri="{FF2B5EF4-FFF2-40B4-BE49-F238E27FC236}">
                  <a16:creationId xmlns:a16="http://schemas.microsoft.com/office/drawing/2014/main" id="{5B9518D6-45C7-32F5-2F30-F113C9061586}"/>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0" name="立方体 79">
              <a:extLst>
                <a:ext uri="{FF2B5EF4-FFF2-40B4-BE49-F238E27FC236}">
                  <a16:creationId xmlns:a16="http://schemas.microsoft.com/office/drawing/2014/main" id="{57BCEE08-E861-2BFD-F0B8-580A26D2F3B6}"/>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1" name="立方体 80">
              <a:extLst>
                <a:ext uri="{FF2B5EF4-FFF2-40B4-BE49-F238E27FC236}">
                  <a16:creationId xmlns:a16="http://schemas.microsoft.com/office/drawing/2014/main" id="{BCE67DFD-7E86-A1D1-FC62-C72A89319C8B}"/>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3" name="立方体 82">
              <a:extLst>
                <a:ext uri="{FF2B5EF4-FFF2-40B4-BE49-F238E27FC236}">
                  <a16:creationId xmlns:a16="http://schemas.microsoft.com/office/drawing/2014/main" id="{34B3D482-FB24-DFC5-AB12-F9C1FEA00618}"/>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84" name="圆柱体 83">
              <a:extLst>
                <a:ext uri="{FF2B5EF4-FFF2-40B4-BE49-F238E27FC236}">
                  <a16:creationId xmlns:a16="http://schemas.microsoft.com/office/drawing/2014/main" id="{D99BC6CA-0797-1651-915F-45D24C212EF1}"/>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85" name="组合 84">
            <a:extLst>
              <a:ext uri="{FF2B5EF4-FFF2-40B4-BE49-F238E27FC236}">
                <a16:creationId xmlns:a16="http://schemas.microsoft.com/office/drawing/2014/main" id="{8F92644C-0D7B-9087-428B-BAC93BD0A201}"/>
              </a:ext>
            </a:extLst>
          </p:cNvPr>
          <p:cNvGrpSpPr/>
          <p:nvPr/>
        </p:nvGrpSpPr>
        <p:grpSpPr>
          <a:xfrm>
            <a:off x="701211" y="1800000"/>
            <a:ext cx="1080000" cy="2088000"/>
            <a:chOff x="701211" y="1800000"/>
            <a:chExt cx="1080000" cy="2088000"/>
          </a:xfrm>
        </p:grpSpPr>
        <p:sp>
          <p:nvSpPr>
            <p:cNvPr id="86" name="立方体 85">
              <a:extLst>
                <a:ext uri="{FF2B5EF4-FFF2-40B4-BE49-F238E27FC236}">
                  <a16:creationId xmlns:a16="http://schemas.microsoft.com/office/drawing/2014/main" id="{64CF0BA0-49BD-DE8D-72E5-6E0EB3D4230D}"/>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9" name="立方体 88">
              <a:extLst>
                <a:ext uri="{FF2B5EF4-FFF2-40B4-BE49-F238E27FC236}">
                  <a16:creationId xmlns:a16="http://schemas.microsoft.com/office/drawing/2014/main" id="{C372EB7F-AEA5-9386-85C5-D7F9D572ECA3}"/>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90" name="立方体 89">
              <a:extLst>
                <a:ext uri="{FF2B5EF4-FFF2-40B4-BE49-F238E27FC236}">
                  <a16:creationId xmlns:a16="http://schemas.microsoft.com/office/drawing/2014/main" id="{9A1C0024-AA17-E5C7-5F68-7E79CA87029A}"/>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91" name="立方体 90">
              <a:extLst>
                <a:ext uri="{FF2B5EF4-FFF2-40B4-BE49-F238E27FC236}">
                  <a16:creationId xmlns:a16="http://schemas.microsoft.com/office/drawing/2014/main" id="{17E1F645-0432-DBCC-0E45-DEA93F233786}"/>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93" name="立方体 92">
              <a:extLst>
                <a:ext uri="{FF2B5EF4-FFF2-40B4-BE49-F238E27FC236}">
                  <a16:creationId xmlns:a16="http://schemas.microsoft.com/office/drawing/2014/main" id="{58860F11-50DB-DE83-5289-D030F4805994}"/>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94" name="圆柱体 93">
              <a:extLst>
                <a:ext uri="{FF2B5EF4-FFF2-40B4-BE49-F238E27FC236}">
                  <a16:creationId xmlns:a16="http://schemas.microsoft.com/office/drawing/2014/main" id="{4DD52EF8-A11E-8114-ECA9-DBF4720F9E41}"/>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 name="标题 1">
            <a:extLst>
              <a:ext uri="{FF2B5EF4-FFF2-40B4-BE49-F238E27FC236}">
                <a16:creationId xmlns:a16="http://schemas.microsoft.com/office/drawing/2014/main" id="{7770F843-72CC-E95F-129E-A89009128F61}"/>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15" name="Rectangle 35">
            <a:extLst>
              <a:ext uri="{FF2B5EF4-FFF2-40B4-BE49-F238E27FC236}">
                <a16:creationId xmlns:a16="http://schemas.microsoft.com/office/drawing/2014/main" id="{1139F08C-647C-A257-9817-2EB484A40B79}"/>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Tree>
    <p:extLst>
      <p:ext uri="{BB962C8B-B14F-4D97-AF65-F5344CB8AC3E}">
        <p14:creationId xmlns:p14="http://schemas.microsoft.com/office/powerpoint/2010/main" val="35280576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AutoShape 4">
            <a:extLst>
              <a:ext uri="{FF2B5EF4-FFF2-40B4-BE49-F238E27FC236}">
                <a16:creationId xmlns:a16="http://schemas.microsoft.com/office/drawing/2014/main" id="{BCF322C6-399E-A3C9-C1A3-8B91F993BF89}"/>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69" name="AutoShape 4">
            <a:extLst>
              <a:ext uri="{FF2B5EF4-FFF2-40B4-BE49-F238E27FC236}">
                <a16:creationId xmlns:a16="http://schemas.microsoft.com/office/drawing/2014/main" id="{D6ACCAD6-EAE4-2EB8-9BA2-2CDCAA346FF9}"/>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71" name="Text Box 26">
            <a:extLst>
              <a:ext uri="{FF2B5EF4-FFF2-40B4-BE49-F238E27FC236}">
                <a16:creationId xmlns:a16="http://schemas.microsoft.com/office/drawing/2014/main" id="{29C52E90-2D15-9DB4-FBA0-A8787511314D}"/>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73" name="Text Box 26">
            <a:extLst>
              <a:ext uri="{FF2B5EF4-FFF2-40B4-BE49-F238E27FC236}">
                <a16:creationId xmlns:a16="http://schemas.microsoft.com/office/drawing/2014/main" id="{7D5103A3-A5E4-FF4A-F887-3D0AC14F0202}"/>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60" name="组合 159">
            <a:extLst>
              <a:ext uri="{FF2B5EF4-FFF2-40B4-BE49-F238E27FC236}">
                <a16:creationId xmlns:a16="http://schemas.microsoft.com/office/drawing/2014/main" id="{6F0FAEFB-9BCE-5D57-5FCA-55231DAD7091}"/>
              </a:ext>
            </a:extLst>
          </p:cNvPr>
          <p:cNvGrpSpPr/>
          <p:nvPr/>
        </p:nvGrpSpPr>
        <p:grpSpPr>
          <a:xfrm>
            <a:off x="3960000" y="2808000"/>
            <a:ext cx="1080000" cy="1080000"/>
            <a:chOff x="2807995" y="2745746"/>
            <a:chExt cx="1080000" cy="1080000"/>
          </a:xfrm>
        </p:grpSpPr>
        <p:sp>
          <p:nvSpPr>
            <p:cNvPr id="161" name="立方体 160">
              <a:extLst>
                <a:ext uri="{FF2B5EF4-FFF2-40B4-BE49-F238E27FC236}">
                  <a16:creationId xmlns:a16="http://schemas.microsoft.com/office/drawing/2014/main" id="{1A813FF4-5FC6-D772-8358-38D72A462931}"/>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62" name="立方体 161">
              <a:extLst>
                <a:ext uri="{FF2B5EF4-FFF2-40B4-BE49-F238E27FC236}">
                  <a16:creationId xmlns:a16="http://schemas.microsoft.com/office/drawing/2014/main" id="{CD8125D1-4E45-643C-ACC0-0133996A7B81}"/>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63" name="立方体 162">
              <a:extLst>
                <a:ext uri="{FF2B5EF4-FFF2-40B4-BE49-F238E27FC236}">
                  <a16:creationId xmlns:a16="http://schemas.microsoft.com/office/drawing/2014/main" id="{589E947A-9994-2AF6-87CE-69225B504BFA}"/>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64" name="立方体 163">
              <a:extLst>
                <a:ext uri="{FF2B5EF4-FFF2-40B4-BE49-F238E27FC236}">
                  <a16:creationId xmlns:a16="http://schemas.microsoft.com/office/drawing/2014/main" id="{408EE7A8-072B-E734-0086-7038AA1BD143}"/>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65" name="立方体 164">
              <a:extLst>
                <a:ext uri="{FF2B5EF4-FFF2-40B4-BE49-F238E27FC236}">
                  <a16:creationId xmlns:a16="http://schemas.microsoft.com/office/drawing/2014/main" id="{29FE277C-BA5D-33E0-0708-536CCBF7C3A9}"/>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8" name="组合 77">
            <a:extLst>
              <a:ext uri="{FF2B5EF4-FFF2-40B4-BE49-F238E27FC236}">
                <a16:creationId xmlns:a16="http://schemas.microsoft.com/office/drawing/2014/main" id="{68A3AEC5-F141-53CE-97BA-D0D825D15C83}"/>
              </a:ext>
            </a:extLst>
          </p:cNvPr>
          <p:cNvGrpSpPr/>
          <p:nvPr/>
        </p:nvGrpSpPr>
        <p:grpSpPr>
          <a:xfrm>
            <a:off x="7395732" y="1800000"/>
            <a:ext cx="1080000" cy="2088000"/>
            <a:chOff x="701211" y="1800000"/>
            <a:chExt cx="1080000" cy="2088000"/>
          </a:xfrm>
        </p:grpSpPr>
        <p:sp>
          <p:nvSpPr>
            <p:cNvPr id="79" name="立方体 78">
              <a:extLst>
                <a:ext uri="{FF2B5EF4-FFF2-40B4-BE49-F238E27FC236}">
                  <a16:creationId xmlns:a16="http://schemas.microsoft.com/office/drawing/2014/main" id="{56EBF489-1201-FB81-D0F1-7F73A0BE639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0" name="立方体 79">
              <a:extLst>
                <a:ext uri="{FF2B5EF4-FFF2-40B4-BE49-F238E27FC236}">
                  <a16:creationId xmlns:a16="http://schemas.microsoft.com/office/drawing/2014/main" id="{AFE816AB-DE03-03EB-760E-451B9EE15985}"/>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1" name="立方体 80">
              <a:extLst>
                <a:ext uri="{FF2B5EF4-FFF2-40B4-BE49-F238E27FC236}">
                  <a16:creationId xmlns:a16="http://schemas.microsoft.com/office/drawing/2014/main" id="{CAFFF839-FEE3-F9C8-B7B9-F0975DC781C5}"/>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4" name="立方体 83">
              <a:extLst>
                <a:ext uri="{FF2B5EF4-FFF2-40B4-BE49-F238E27FC236}">
                  <a16:creationId xmlns:a16="http://schemas.microsoft.com/office/drawing/2014/main" id="{13CBD5CA-E50B-DC9D-7A33-D3549FEC0A46}"/>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5" name="立方体 84">
              <a:extLst>
                <a:ext uri="{FF2B5EF4-FFF2-40B4-BE49-F238E27FC236}">
                  <a16:creationId xmlns:a16="http://schemas.microsoft.com/office/drawing/2014/main" id="{F1309C8C-1CEE-C67A-C572-C612F2D30D27}"/>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86" name="圆柱体 85">
              <a:extLst>
                <a:ext uri="{FF2B5EF4-FFF2-40B4-BE49-F238E27FC236}">
                  <a16:creationId xmlns:a16="http://schemas.microsoft.com/office/drawing/2014/main" id="{58F81113-8602-486D-977A-B3995B285B8F}"/>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90" name="组合 89">
            <a:extLst>
              <a:ext uri="{FF2B5EF4-FFF2-40B4-BE49-F238E27FC236}">
                <a16:creationId xmlns:a16="http://schemas.microsoft.com/office/drawing/2014/main" id="{E53FF9BF-90CA-6D5E-4CB9-C887A345619C}"/>
              </a:ext>
            </a:extLst>
          </p:cNvPr>
          <p:cNvGrpSpPr/>
          <p:nvPr/>
        </p:nvGrpSpPr>
        <p:grpSpPr>
          <a:xfrm>
            <a:off x="701211" y="1800000"/>
            <a:ext cx="1080000" cy="2088000"/>
            <a:chOff x="701211" y="1800000"/>
            <a:chExt cx="1080000" cy="2088000"/>
          </a:xfrm>
        </p:grpSpPr>
        <p:sp>
          <p:nvSpPr>
            <p:cNvPr id="91" name="立方体 90">
              <a:extLst>
                <a:ext uri="{FF2B5EF4-FFF2-40B4-BE49-F238E27FC236}">
                  <a16:creationId xmlns:a16="http://schemas.microsoft.com/office/drawing/2014/main" id="{2424115A-6333-DFC4-D5F7-04195E93355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05" name="立方体 104">
              <a:extLst>
                <a:ext uri="{FF2B5EF4-FFF2-40B4-BE49-F238E27FC236}">
                  <a16:creationId xmlns:a16="http://schemas.microsoft.com/office/drawing/2014/main" id="{82EFD950-2EB5-EB28-0166-0B0F15DB9E3F}"/>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06" name="立方体 105">
              <a:extLst>
                <a:ext uri="{FF2B5EF4-FFF2-40B4-BE49-F238E27FC236}">
                  <a16:creationId xmlns:a16="http://schemas.microsoft.com/office/drawing/2014/main" id="{F05B51EC-6C21-B99B-008C-D77BAE9AEFD5}"/>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08" name="立方体 107">
              <a:extLst>
                <a:ext uri="{FF2B5EF4-FFF2-40B4-BE49-F238E27FC236}">
                  <a16:creationId xmlns:a16="http://schemas.microsoft.com/office/drawing/2014/main" id="{B3581951-78D3-7299-B3DA-2E9B901F9684}"/>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0" name="立方体 109">
              <a:extLst>
                <a:ext uri="{FF2B5EF4-FFF2-40B4-BE49-F238E27FC236}">
                  <a16:creationId xmlns:a16="http://schemas.microsoft.com/office/drawing/2014/main" id="{E8292F11-6EA9-C151-89F6-073C56D2202E}"/>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2" name="圆柱体 111">
              <a:extLst>
                <a:ext uri="{FF2B5EF4-FFF2-40B4-BE49-F238E27FC236}">
                  <a16:creationId xmlns:a16="http://schemas.microsoft.com/office/drawing/2014/main" id="{A8466307-B97C-4875-937C-05A4AFBB33F9}"/>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85143DD-8FF2-F18E-DE37-E2DC371F0BBD}"/>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14" name="Rectangle 74">
            <a:extLst>
              <a:ext uri="{FF2B5EF4-FFF2-40B4-BE49-F238E27FC236}">
                <a16:creationId xmlns:a16="http://schemas.microsoft.com/office/drawing/2014/main" id="{678051BC-966E-3D22-F37A-9D6ACD0DE7CE}"/>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16" name="Rectangle 78">
            <a:extLst>
              <a:ext uri="{FF2B5EF4-FFF2-40B4-BE49-F238E27FC236}">
                <a16:creationId xmlns:a16="http://schemas.microsoft.com/office/drawing/2014/main" id="{35F75AC7-1132-EB78-9EC6-13B9ADFE0901}"/>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18" name="Rectangle 46">
            <a:extLst>
              <a:ext uri="{FF2B5EF4-FFF2-40B4-BE49-F238E27FC236}">
                <a16:creationId xmlns:a16="http://schemas.microsoft.com/office/drawing/2014/main" id="{C0ED3313-E3DD-E204-0CAD-6F59208C6545}"/>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21" name="Rectangle 47">
            <a:extLst>
              <a:ext uri="{FF2B5EF4-FFF2-40B4-BE49-F238E27FC236}">
                <a16:creationId xmlns:a16="http://schemas.microsoft.com/office/drawing/2014/main" id="{1445FDDC-176D-0D75-6B00-B0C308BAC3D9}"/>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23" name="Rectangle 48">
            <a:extLst>
              <a:ext uri="{FF2B5EF4-FFF2-40B4-BE49-F238E27FC236}">
                <a16:creationId xmlns:a16="http://schemas.microsoft.com/office/drawing/2014/main" id="{3D006125-ECF2-CEC1-D495-CC340A087B96}"/>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30" name="Rectangle 49">
            <a:extLst>
              <a:ext uri="{FF2B5EF4-FFF2-40B4-BE49-F238E27FC236}">
                <a16:creationId xmlns:a16="http://schemas.microsoft.com/office/drawing/2014/main" id="{BEECC7D7-9379-8B49-7FBF-808600F1CA0D}"/>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32" name="Rectangle 35">
            <a:extLst>
              <a:ext uri="{FF2B5EF4-FFF2-40B4-BE49-F238E27FC236}">
                <a16:creationId xmlns:a16="http://schemas.microsoft.com/office/drawing/2014/main" id="{FC79FE30-20E9-BAA3-C376-45C98BAA066D}"/>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Tree>
    <p:extLst>
      <p:ext uri="{BB962C8B-B14F-4D97-AF65-F5344CB8AC3E}">
        <p14:creationId xmlns:p14="http://schemas.microsoft.com/office/powerpoint/2010/main" val="27589159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AutoShape 4">
            <a:extLst>
              <a:ext uri="{FF2B5EF4-FFF2-40B4-BE49-F238E27FC236}">
                <a16:creationId xmlns:a16="http://schemas.microsoft.com/office/drawing/2014/main" id="{5F1CD450-CA45-BE1C-0E1F-ADFB679A4ED1}"/>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77" name="AutoShape 4">
            <a:extLst>
              <a:ext uri="{FF2B5EF4-FFF2-40B4-BE49-F238E27FC236}">
                <a16:creationId xmlns:a16="http://schemas.microsoft.com/office/drawing/2014/main" id="{E395EC5E-A952-0442-8548-CEAB56AF496F}"/>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79" name="Text Box 26">
            <a:extLst>
              <a:ext uri="{FF2B5EF4-FFF2-40B4-BE49-F238E27FC236}">
                <a16:creationId xmlns:a16="http://schemas.microsoft.com/office/drawing/2014/main" id="{6DF8B035-B252-18C1-3D2E-1DAE029996B1}"/>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81" name="Text Box 26">
            <a:extLst>
              <a:ext uri="{FF2B5EF4-FFF2-40B4-BE49-F238E27FC236}">
                <a16:creationId xmlns:a16="http://schemas.microsoft.com/office/drawing/2014/main" id="{0444089A-3407-8758-557F-F2336CCF705B}"/>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68" name="组合 167">
            <a:extLst>
              <a:ext uri="{FF2B5EF4-FFF2-40B4-BE49-F238E27FC236}">
                <a16:creationId xmlns:a16="http://schemas.microsoft.com/office/drawing/2014/main" id="{05B09915-8C8A-7B95-640F-8419B3758DD7}"/>
              </a:ext>
            </a:extLst>
          </p:cNvPr>
          <p:cNvGrpSpPr/>
          <p:nvPr/>
        </p:nvGrpSpPr>
        <p:grpSpPr>
          <a:xfrm>
            <a:off x="3960000" y="2808000"/>
            <a:ext cx="1080000" cy="1080000"/>
            <a:chOff x="2807995" y="2745746"/>
            <a:chExt cx="1080000" cy="1080000"/>
          </a:xfrm>
        </p:grpSpPr>
        <p:sp>
          <p:nvSpPr>
            <p:cNvPr id="169" name="立方体 168">
              <a:extLst>
                <a:ext uri="{FF2B5EF4-FFF2-40B4-BE49-F238E27FC236}">
                  <a16:creationId xmlns:a16="http://schemas.microsoft.com/office/drawing/2014/main" id="{3354BD02-897C-87DE-F65D-0FE6C5FDE0E4}"/>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0" name="立方体 169">
              <a:extLst>
                <a:ext uri="{FF2B5EF4-FFF2-40B4-BE49-F238E27FC236}">
                  <a16:creationId xmlns:a16="http://schemas.microsoft.com/office/drawing/2014/main" id="{45C4141A-C05F-7651-41A4-EA824C58E5BE}"/>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1" name="立方体 170">
              <a:extLst>
                <a:ext uri="{FF2B5EF4-FFF2-40B4-BE49-F238E27FC236}">
                  <a16:creationId xmlns:a16="http://schemas.microsoft.com/office/drawing/2014/main" id="{48E9F1AB-CD66-A70B-9C00-75FF2EE38467}"/>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2" name="立方体 171">
              <a:extLst>
                <a:ext uri="{FF2B5EF4-FFF2-40B4-BE49-F238E27FC236}">
                  <a16:creationId xmlns:a16="http://schemas.microsoft.com/office/drawing/2014/main" id="{2D88F73D-D015-CF78-9B23-369E0BA18925}"/>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3" name="立方体 172">
              <a:extLst>
                <a:ext uri="{FF2B5EF4-FFF2-40B4-BE49-F238E27FC236}">
                  <a16:creationId xmlns:a16="http://schemas.microsoft.com/office/drawing/2014/main" id="{D3ADC0E8-988B-6050-2277-BCE5563025F8}"/>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8" name="组合 77">
            <a:extLst>
              <a:ext uri="{FF2B5EF4-FFF2-40B4-BE49-F238E27FC236}">
                <a16:creationId xmlns:a16="http://schemas.microsoft.com/office/drawing/2014/main" id="{BDE65972-F586-14CA-0459-EC749E25AEAC}"/>
              </a:ext>
            </a:extLst>
          </p:cNvPr>
          <p:cNvGrpSpPr/>
          <p:nvPr/>
        </p:nvGrpSpPr>
        <p:grpSpPr>
          <a:xfrm>
            <a:off x="7395732" y="1800000"/>
            <a:ext cx="1080000" cy="2088000"/>
            <a:chOff x="701211" y="1800000"/>
            <a:chExt cx="1080000" cy="2088000"/>
          </a:xfrm>
        </p:grpSpPr>
        <p:sp>
          <p:nvSpPr>
            <p:cNvPr id="79" name="立方体 78">
              <a:extLst>
                <a:ext uri="{FF2B5EF4-FFF2-40B4-BE49-F238E27FC236}">
                  <a16:creationId xmlns:a16="http://schemas.microsoft.com/office/drawing/2014/main" id="{D91F6802-2F44-1E61-F357-B813B00A326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0" name="立方体 79">
              <a:extLst>
                <a:ext uri="{FF2B5EF4-FFF2-40B4-BE49-F238E27FC236}">
                  <a16:creationId xmlns:a16="http://schemas.microsoft.com/office/drawing/2014/main" id="{B6EFF3A4-F716-3485-D8BD-4142BE8C72E9}"/>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1" name="立方体 80">
              <a:extLst>
                <a:ext uri="{FF2B5EF4-FFF2-40B4-BE49-F238E27FC236}">
                  <a16:creationId xmlns:a16="http://schemas.microsoft.com/office/drawing/2014/main" id="{9D21F6DB-9B37-33A8-7B3C-026E67FD955D}"/>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4" name="立方体 83">
              <a:extLst>
                <a:ext uri="{FF2B5EF4-FFF2-40B4-BE49-F238E27FC236}">
                  <a16:creationId xmlns:a16="http://schemas.microsoft.com/office/drawing/2014/main" id="{ED37EFD6-A5C7-CDEB-5EB4-9A6D0DD54FE4}"/>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5" name="立方体 84">
              <a:extLst>
                <a:ext uri="{FF2B5EF4-FFF2-40B4-BE49-F238E27FC236}">
                  <a16:creationId xmlns:a16="http://schemas.microsoft.com/office/drawing/2014/main" id="{93952E3C-8178-5769-6AB5-E5C5045B165D}"/>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3" name="圆柱体 112">
              <a:extLst>
                <a:ext uri="{FF2B5EF4-FFF2-40B4-BE49-F238E27FC236}">
                  <a16:creationId xmlns:a16="http://schemas.microsoft.com/office/drawing/2014/main" id="{93FC0ABC-C8D5-AEED-EA03-AF840B34F097}"/>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14" name="组合 113">
            <a:extLst>
              <a:ext uri="{FF2B5EF4-FFF2-40B4-BE49-F238E27FC236}">
                <a16:creationId xmlns:a16="http://schemas.microsoft.com/office/drawing/2014/main" id="{D8BA1D2A-EFF3-A44E-F27B-4D05B34418B5}"/>
              </a:ext>
            </a:extLst>
          </p:cNvPr>
          <p:cNvGrpSpPr/>
          <p:nvPr/>
        </p:nvGrpSpPr>
        <p:grpSpPr>
          <a:xfrm>
            <a:off x="701211" y="1800000"/>
            <a:ext cx="1080000" cy="2088000"/>
            <a:chOff x="701211" y="1800000"/>
            <a:chExt cx="1080000" cy="2088000"/>
          </a:xfrm>
        </p:grpSpPr>
        <p:sp>
          <p:nvSpPr>
            <p:cNvPr id="115" name="立方体 114">
              <a:extLst>
                <a:ext uri="{FF2B5EF4-FFF2-40B4-BE49-F238E27FC236}">
                  <a16:creationId xmlns:a16="http://schemas.microsoft.com/office/drawing/2014/main" id="{F6E24218-4713-AB96-9DF8-B167EC8291ED}"/>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16" name="立方体 115">
              <a:extLst>
                <a:ext uri="{FF2B5EF4-FFF2-40B4-BE49-F238E27FC236}">
                  <a16:creationId xmlns:a16="http://schemas.microsoft.com/office/drawing/2014/main" id="{52BE2181-7A76-A1D7-AD58-A26419D3D5FC}"/>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17" name="立方体 116">
              <a:extLst>
                <a:ext uri="{FF2B5EF4-FFF2-40B4-BE49-F238E27FC236}">
                  <a16:creationId xmlns:a16="http://schemas.microsoft.com/office/drawing/2014/main" id="{2621BF37-BE1E-C9F8-02E5-F6A20B5660AF}"/>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18" name="立方体 117">
              <a:extLst>
                <a:ext uri="{FF2B5EF4-FFF2-40B4-BE49-F238E27FC236}">
                  <a16:creationId xmlns:a16="http://schemas.microsoft.com/office/drawing/2014/main" id="{72E80934-B788-FD3F-AB3F-E34B1B14131A}"/>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20" name="立方体 119">
              <a:extLst>
                <a:ext uri="{FF2B5EF4-FFF2-40B4-BE49-F238E27FC236}">
                  <a16:creationId xmlns:a16="http://schemas.microsoft.com/office/drawing/2014/main" id="{73BB674F-5FB0-4DED-8C42-2C87670FA8A3}"/>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21" name="圆柱体 120">
              <a:extLst>
                <a:ext uri="{FF2B5EF4-FFF2-40B4-BE49-F238E27FC236}">
                  <a16:creationId xmlns:a16="http://schemas.microsoft.com/office/drawing/2014/main" id="{9B9F93C9-431B-8922-E991-15B038B766DF}"/>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06AF01B-DDD5-019A-B68D-8DEB31EFDCC1}"/>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23" name="Rectangle 74">
            <a:extLst>
              <a:ext uri="{FF2B5EF4-FFF2-40B4-BE49-F238E27FC236}">
                <a16:creationId xmlns:a16="http://schemas.microsoft.com/office/drawing/2014/main" id="{D2D60F92-7E3C-A06C-47C1-078FE77935C2}"/>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30" name="Rectangle 78">
            <a:extLst>
              <a:ext uri="{FF2B5EF4-FFF2-40B4-BE49-F238E27FC236}">
                <a16:creationId xmlns:a16="http://schemas.microsoft.com/office/drawing/2014/main" id="{1E5E3E64-685E-78B8-5BFD-8CD7879E0B4B}"/>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32" name="Rectangle 46">
            <a:extLst>
              <a:ext uri="{FF2B5EF4-FFF2-40B4-BE49-F238E27FC236}">
                <a16:creationId xmlns:a16="http://schemas.microsoft.com/office/drawing/2014/main" id="{CD701DC4-23E5-ECD5-5D86-7F1B3C9AB72B}"/>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34" name="Rectangle 47">
            <a:extLst>
              <a:ext uri="{FF2B5EF4-FFF2-40B4-BE49-F238E27FC236}">
                <a16:creationId xmlns:a16="http://schemas.microsoft.com/office/drawing/2014/main" id="{A68A11A6-F784-7402-BB4B-3D1997DA16F5}"/>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36" name="Rectangle 48">
            <a:extLst>
              <a:ext uri="{FF2B5EF4-FFF2-40B4-BE49-F238E27FC236}">
                <a16:creationId xmlns:a16="http://schemas.microsoft.com/office/drawing/2014/main" id="{8A1BC430-73E2-9543-BB44-37F459748B54}"/>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38" name="Rectangle 49">
            <a:extLst>
              <a:ext uri="{FF2B5EF4-FFF2-40B4-BE49-F238E27FC236}">
                <a16:creationId xmlns:a16="http://schemas.microsoft.com/office/drawing/2014/main" id="{709F6DCC-8943-9407-AF14-538546D6494C}"/>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47" name="Rectangle 35">
            <a:extLst>
              <a:ext uri="{FF2B5EF4-FFF2-40B4-BE49-F238E27FC236}">
                <a16:creationId xmlns:a16="http://schemas.microsoft.com/office/drawing/2014/main" id="{B243C9D6-75E8-5FAE-BB74-D362B03260B3}"/>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49" name="Rectangle 42">
            <a:extLst>
              <a:ext uri="{FF2B5EF4-FFF2-40B4-BE49-F238E27FC236}">
                <a16:creationId xmlns:a16="http://schemas.microsoft.com/office/drawing/2014/main" id="{0309845A-86DE-90E3-F411-3222EE19364C}"/>
              </a:ext>
            </a:extLst>
          </p:cNvPr>
          <p:cNvSpPr>
            <a:spLocks noChangeArrowheads="1"/>
          </p:cNvSpPr>
          <p:nvPr/>
        </p:nvSpPr>
        <p:spPr bwMode="auto">
          <a:xfrm>
            <a:off x="5946144" y="293232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51" name="Rectangle 43">
            <a:extLst>
              <a:ext uri="{FF2B5EF4-FFF2-40B4-BE49-F238E27FC236}">
                <a16:creationId xmlns:a16="http://schemas.microsoft.com/office/drawing/2014/main" id="{8D2E26C5-C526-4A7E-062B-DACFB14D2D6D}"/>
              </a:ext>
            </a:extLst>
          </p:cNvPr>
          <p:cNvSpPr>
            <a:spLocks noChangeArrowheads="1"/>
          </p:cNvSpPr>
          <p:nvPr/>
        </p:nvSpPr>
        <p:spPr bwMode="auto">
          <a:xfrm>
            <a:off x="6169344" y="293232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3" name="Rectangle 44">
            <a:extLst>
              <a:ext uri="{FF2B5EF4-FFF2-40B4-BE49-F238E27FC236}">
                <a16:creationId xmlns:a16="http://schemas.microsoft.com/office/drawing/2014/main" id="{C1DE2D12-47BC-CF0F-EBDB-47E0888846E9}"/>
              </a:ext>
            </a:extLst>
          </p:cNvPr>
          <p:cNvSpPr>
            <a:spLocks noChangeArrowheads="1"/>
          </p:cNvSpPr>
          <p:nvPr/>
        </p:nvSpPr>
        <p:spPr bwMode="auto">
          <a:xfrm>
            <a:off x="6392544" y="2932328"/>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5" name="Rectangle 70">
            <a:extLst>
              <a:ext uri="{FF2B5EF4-FFF2-40B4-BE49-F238E27FC236}">
                <a16:creationId xmlns:a16="http://schemas.microsoft.com/office/drawing/2014/main" id="{7DFDED45-DC94-76C1-077F-EA441ED3D9AD}"/>
              </a:ext>
            </a:extLst>
          </p:cNvPr>
          <p:cNvSpPr>
            <a:spLocks noChangeArrowheads="1"/>
          </p:cNvSpPr>
          <p:nvPr/>
        </p:nvSpPr>
        <p:spPr bwMode="auto">
          <a:xfrm>
            <a:off x="5722944" y="293275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Tree>
    <p:extLst>
      <p:ext uri="{BB962C8B-B14F-4D97-AF65-F5344CB8AC3E}">
        <p14:creationId xmlns:p14="http://schemas.microsoft.com/office/powerpoint/2010/main" val="40430826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AutoShape 4">
            <a:extLst>
              <a:ext uri="{FF2B5EF4-FFF2-40B4-BE49-F238E27FC236}">
                <a16:creationId xmlns:a16="http://schemas.microsoft.com/office/drawing/2014/main" id="{64D048D5-DD14-D19F-3131-A056CD210615}"/>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4" name="AutoShape 4">
            <a:extLst>
              <a:ext uri="{FF2B5EF4-FFF2-40B4-BE49-F238E27FC236}">
                <a16:creationId xmlns:a16="http://schemas.microsoft.com/office/drawing/2014/main" id="{1F96383C-CC52-5EAE-5C7C-EE395D536276}"/>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6" name="Text Box 26">
            <a:extLst>
              <a:ext uri="{FF2B5EF4-FFF2-40B4-BE49-F238E27FC236}">
                <a16:creationId xmlns:a16="http://schemas.microsoft.com/office/drawing/2014/main" id="{D30048A4-FC29-FBB2-E0EF-DE6DCD5BBC45}"/>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88" name="Text Box 26">
            <a:extLst>
              <a:ext uri="{FF2B5EF4-FFF2-40B4-BE49-F238E27FC236}">
                <a16:creationId xmlns:a16="http://schemas.microsoft.com/office/drawing/2014/main" id="{7986D25C-BD2A-04D4-9790-DDB373668FF8}"/>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75" name="组合 174">
            <a:extLst>
              <a:ext uri="{FF2B5EF4-FFF2-40B4-BE49-F238E27FC236}">
                <a16:creationId xmlns:a16="http://schemas.microsoft.com/office/drawing/2014/main" id="{DDF2C2C1-A72E-27E8-CD90-9B0E8474ED0F}"/>
              </a:ext>
            </a:extLst>
          </p:cNvPr>
          <p:cNvGrpSpPr/>
          <p:nvPr/>
        </p:nvGrpSpPr>
        <p:grpSpPr>
          <a:xfrm>
            <a:off x="3960000" y="2808000"/>
            <a:ext cx="1080000" cy="1080000"/>
            <a:chOff x="2807995" y="2745746"/>
            <a:chExt cx="1080000" cy="1080000"/>
          </a:xfrm>
        </p:grpSpPr>
        <p:sp>
          <p:nvSpPr>
            <p:cNvPr id="176" name="立方体 175">
              <a:extLst>
                <a:ext uri="{FF2B5EF4-FFF2-40B4-BE49-F238E27FC236}">
                  <a16:creationId xmlns:a16="http://schemas.microsoft.com/office/drawing/2014/main" id="{C818F044-D829-1221-368A-7E35B49A5D43}"/>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7" name="立方体 176">
              <a:extLst>
                <a:ext uri="{FF2B5EF4-FFF2-40B4-BE49-F238E27FC236}">
                  <a16:creationId xmlns:a16="http://schemas.microsoft.com/office/drawing/2014/main" id="{90E0D195-5D5F-45E7-6E50-A9392D67AEF9}"/>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8" name="立方体 177">
              <a:extLst>
                <a:ext uri="{FF2B5EF4-FFF2-40B4-BE49-F238E27FC236}">
                  <a16:creationId xmlns:a16="http://schemas.microsoft.com/office/drawing/2014/main" id="{449307F6-6383-DF3E-7327-C8DC7B816E75}"/>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9" name="立方体 178">
              <a:extLst>
                <a:ext uri="{FF2B5EF4-FFF2-40B4-BE49-F238E27FC236}">
                  <a16:creationId xmlns:a16="http://schemas.microsoft.com/office/drawing/2014/main" id="{3F96534B-43C8-5092-B842-7A0EDF62E4DB}"/>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0" name="立方体 179">
              <a:extLst>
                <a:ext uri="{FF2B5EF4-FFF2-40B4-BE49-F238E27FC236}">
                  <a16:creationId xmlns:a16="http://schemas.microsoft.com/office/drawing/2014/main" id="{57B0BA3E-0B17-3F54-3CBE-6E720B96A4D0}"/>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9" name="组合 78">
            <a:extLst>
              <a:ext uri="{FF2B5EF4-FFF2-40B4-BE49-F238E27FC236}">
                <a16:creationId xmlns:a16="http://schemas.microsoft.com/office/drawing/2014/main" id="{5E23522D-FF66-24BD-AE06-B81AF4F434C7}"/>
              </a:ext>
            </a:extLst>
          </p:cNvPr>
          <p:cNvGrpSpPr/>
          <p:nvPr/>
        </p:nvGrpSpPr>
        <p:grpSpPr>
          <a:xfrm>
            <a:off x="7395732" y="1800000"/>
            <a:ext cx="1080000" cy="2088000"/>
            <a:chOff x="701211" y="1800000"/>
            <a:chExt cx="1080000" cy="2088000"/>
          </a:xfrm>
        </p:grpSpPr>
        <p:sp>
          <p:nvSpPr>
            <p:cNvPr id="80" name="立方体 79">
              <a:extLst>
                <a:ext uri="{FF2B5EF4-FFF2-40B4-BE49-F238E27FC236}">
                  <a16:creationId xmlns:a16="http://schemas.microsoft.com/office/drawing/2014/main" id="{D8FAE86C-7462-C4E0-57CD-979729D42852}"/>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1" name="立方体 80">
              <a:extLst>
                <a:ext uri="{FF2B5EF4-FFF2-40B4-BE49-F238E27FC236}">
                  <a16:creationId xmlns:a16="http://schemas.microsoft.com/office/drawing/2014/main" id="{3130ED95-C4A5-17DF-2F4D-8D06E1A9F6C9}"/>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4" name="立方体 83">
              <a:extLst>
                <a:ext uri="{FF2B5EF4-FFF2-40B4-BE49-F238E27FC236}">
                  <a16:creationId xmlns:a16="http://schemas.microsoft.com/office/drawing/2014/main" id="{1C74124B-082B-9303-DC3E-55C453B481D4}"/>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5" name="立方体 84">
              <a:extLst>
                <a:ext uri="{FF2B5EF4-FFF2-40B4-BE49-F238E27FC236}">
                  <a16:creationId xmlns:a16="http://schemas.microsoft.com/office/drawing/2014/main" id="{07F4730D-B90F-88B5-4615-BDF9D8AB31EA}"/>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3" name="立方体 112">
              <a:extLst>
                <a:ext uri="{FF2B5EF4-FFF2-40B4-BE49-F238E27FC236}">
                  <a16:creationId xmlns:a16="http://schemas.microsoft.com/office/drawing/2014/main" id="{32C9D62C-C074-410E-F18E-80255F5FBB48}"/>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4" name="圆柱体 113">
              <a:extLst>
                <a:ext uri="{FF2B5EF4-FFF2-40B4-BE49-F238E27FC236}">
                  <a16:creationId xmlns:a16="http://schemas.microsoft.com/office/drawing/2014/main" id="{0D011AB7-2C49-6577-DD0A-77C83951B700}"/>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15" name="组合 114">
            <a:extLst>
              <a:ext uri="{FF2B5EF4-FFF2-40B4-BE49-F238E27FC236}">
                <a16:creationId xmlns:a16="http://schemas.microsoft.com/office/drawing/2014/main" id="{730B72A8-AED1-225D-AD76-BE735A8602B2}"/>
              </a:ext>
            </a:extLst>
          </p:cNvPr>
          <p:cNvGrpSpPr/>
          <p:nvPr/>
        </p:nvGrpSpPr>
        <p:grpSpPr>
          <a:xfrm>
            <a:off x="701211" y="1800000"/>
            <a:ext cx="1080000" cy="2088000"/>
            <a:chOff x="701211" y="1800000"/>
            <a:chExt cx="1080000" cy="2088000"/>
          </a:xfrm>
        </p:grpSpPr>
        <p:sp>
          <p:nvSpPr>
            <p:cNvPr id="123" name="立方体 122">
              <a:extLst>
                <a:ext uri="{FF2B5EF4-FFF2-40B4-BE49-F238E27FC236}">
                  <a16:creationId xmlns:a16="http://schemas.microsoft.com/office/drawing/2014/main" id="{86BD6955-BA3B-8183-0BD7-C518E2D3197A}"/>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29" name="立方体 128">
              <a:extLst>
                <a:ext uri="{FF2B5EF4-FFF2-40B4-BE49-F238E27FC236}">
                  <a16:creationId xmlns:a16="http://schemas.microsoft.com/office/drawing/2014/main" id="{42DE3B1B-B484-84B4-D1BD-B7FF3AF0CF09}"/>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0" name="立方体 129">
              <a:extLst>
                <a:ext uri="{FF2B5EF4-FFF2-40B4-BE49-F238E27FC236}">
                  <a16:creationId xmlns:a16="http://schemas.microsoft.com/office/drawing/2014/main" id="{E43F8620-3C28-4C88-5355-F9ACC17900A6}"/>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1" name="立方体 130">
              <a:extLst>
                <a:ext uri="{FF2B5EF4-FFF2-40B4-BE49-F238E27FC236}">
                  <a16:creationId xmlns:a16="http://schemas.microsoft.com/office/drawing/2014/main" id="{D603A47A-6763-C272-5DC7-6C646E68C290}"/>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2" name="立方体 131">
              <a:extLst>
                <a:ext uri="{FF2B5EF4-FFF2-40B4-BE49-F238E27FC236}">
                  <a16:creationId xmlns:a16="http://schemas.microsoft.com/office/drawing/2014/main" id="{7342493E-960C-1F5C-F525-70DF4C4B058D}"/>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3" name="圆柱体 132">
              <a:extLst>
                <a:ext uri="{FF2B5EF4-FFF2-40B4-BE49-F238E27FC236}">
                  <a16:creationId xmlns:a16="http://schemas.microsoft.com/office/drawing/2014/main" id="{1E1ADEDB-3788-BECE-1F2C-62EC098B7E5C}"/>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6C192F12-42B2-8E52-0780-C68AFFEC10D8}"/>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35" name="Rectangle 74">
            <a:extLst>
              <a:ext uri="{FF2B5EF4-FFF2-40B4-BE49-F238E27FC236}">
                <a16:creationId xmlns:a16="http://schemas.microsoft.com/office/drawing/2014/main" id="{46AE7ED1-D60F-7CE2-6B97-87D62C3CD615}"/>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37" name="Rectangle 78">
            <a:extLst>
              <a:ext uri="{FF2B5EF4-FFF2-40B4-BE49-F238E27FC236}">
                <a16:creationId xmlns:a16="http://schemas.microsoft.com/office/drawing/2014/main" id="{11087ED8-FBD2-63CF-9942-C9A9B47F2808}"/>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41" name="Rectangle 46">
            <a:extLst>
              <a:ext uri="{FF2B5EF4-FFF2-40B4-BE49-F238E27FC236}">
                <a16:creationId xmlns:a16="http://schemas.microsoft.com/office/drawing/2014/main" id="{6189F201-13B7-8D8A-11A2-4ACBEE0CF485}"/>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48" name="Rectangle 47">
            <a:extLst>
              <a:ext uri="{FF2B5EF4-FFF2-40B4-BE49-F238E27FC236}">
                <a16:creationId xmlns:a16="http://schemas.microsoft.com/office/drawing/2014/main" id="{4B56853C-C1CA-0E6D-1459-E41370EB6EA7}"/>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50" name="Rectangle 48">
            <a:extLst>
              <a:ext uri="{FF2B5EF4-FFF2-40B4-BE49-F238E27FC236}">
                <a16:creationId xmlns:a16="http://schemas.microsoft.com/office/drawing/2014/main" id="{306F23A0-9142-5BAE-4D72-0FF9062A02E8}"/>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2" name="Rectangle 49">
            <a:extLst>
              <a:ext uri="{FF2B5EF4-FFF2-40B4-BE49-F238E27FC236}">
                <a16:creationId xmlns:a16="http://schemas.microsoft.com/office/drawing/2014/main" id="{D88E0498-901B-CA87-6CE2-44A7F4B151C0}"/>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4" name="Rectangle 35">
            <a:extLst>
              <a:ext uri="{FF2B5EF4-FFF2-40B4-BE49-F238E27FC236}">
                <a16:creationId xmlns:a16="http://schemas.microsoft.com/office/drawing/2014/main" id="{36CA5CD3-FBC8-D457-53E4-6E083B6B3231}"/>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56" name="Rectangle 42">
            <a:extLst>
              <a:ext uri="{FF2B5EF4-FFF2-40B4-BE49-F238E27FC236}">
                <a16:creationId xmlns:a16="http://schemas.microsoft.com/office/drawing/2014/main" id="{20E82373-FD44-1980-A2BD-05D37B7D169F}"/>
              </a:ext>
            </a:extLst>
          </p:cNvPr>
          <p:cNvSpPr>
            <a:spLocks noChangeArrowheads="1"/>
          </p:cNvSpPr>
          <p:nvPr/>
        </p:nvSpPr>
        <p:spPr bwMode="auto">
          <a:xfrm>
            <a:off x="5946144" y="293232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58" name="Rectangle 43">
            <a:extLst>
              <a:ext uri="{FF2B5EF4-FFF2-40B4-BE49-F238E27FC236}">
                <a16:creationId xmlns:a16="http://schemas.microsoft.com/office/drawing/2014/main" id="{98D78C88-99E8-B682-277E-C7A571BC7B43}"/>
              </a:ext>
            </a:extLst>
          </p:cNvPr>
          <p:cNvSpPr>
            <a:spLocks noChangeArrowheads="1"/>
          </p:cNvSpPr>
          <p:nvPr/>
        </p:nvSpPr>
        <p:spPr bwMode="auto">
          <a:xfrm>
            <a:off x="6169344" y="293232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0" name="Rectangle 44">
            <a:extLst>
              <a:ext uri="{FF2B5EF4-FFF2-40B4-BE49-F238E27FC236}">
                <a16:creationId xmlns:a16="http://schemas.microsoft.com/office/drawing/2014/main" id="{02994F62-20E0-B100-9C60-1BF038307192}"/>
              </a:ext>
            </a:extLst>
          </p:cNvPr>
          <p:cNvSpPr>
            <a:spLocks noChangeArrowheads="1"/>
          </p:cNvSpPr>
          <p:nvPr/>
        </p:nvSpPr>
        <p:spPr bwMode="auto">
          <a:xfrm>
            <a:off x="6392544" y="2932328"/>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2" name="Rectangle 70">
            <a:extLst>
              <a:ext uri="{FF2B5EF4-FFF2-40B4-BE49-F238E27FC236}">
                <a16:creationId xmlns:a16="http://schemas.microsoft.com/office/drawing/2014/main" id="{42BFBBCF-6269-0045-8AA3-BBD2BF61DE28}"/>
              </a:ext>
            </a:extLst>
          </p:cNvPr>
          <p:cNvSpPr>
            <a:spLocks noChangeArrowheads="1"/>
          </p:cNvSpPr>
          <p:nvPr/>
        </p:nvSpPr>
        <p:spPr bwMode="auto">
          <a:xfrm>
            <a:off x="5722944" y="293275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64" name="Rectangle 39">
            <a:extLst>
              <a:ext uri="{FF2B5EF4-FFF2-40B4-BE49-F238E27FC236}">
                <a16:creationId xmlns:a16="http://schemas.microsoft.com/office/drawing/2014/main" id="{DB903A59-71AD-1B10-AED3-44BED269EF74}"/>
              </a:ext>
            </a:extLst>
          </p:cNvPr>
          <p:cNvSpPr>
            <a:spLocks noChangeArrowheads="1"/>
          </p:cNvSpPr>
          <p:nvPr/>
        </p:nvSpPr>
        <p:spPr bwMode="auto">
          <a:xfrm>
            <a:off x="6169344" y="255480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66" name="Rectangle 40">
            <a:extLst>
              <a:ext uri="{FF2B5EF4-FFF2-40B4-BE49-F238E27FC236}">
                <a16:creationId xmlns:a16="http://schemas.microsoft.com/office/drawing/2014/main" id="{221394CD-9D3F-ACE1-EF6B-ED6B8B1F026A}"/>
              </a:ext>
            </a:extLst>
          </p:cNvPr>
          <p:cNvSpPr>
            <a:spLocks noChangeArrowheads="1"/>
          </p:cNvSpPr>
          <p:nvPr/>
        </p:nvSpPr>
        <p:spPr bwMode="auto">
          <a:xfrm>
            <a:off x="6392544" y="2554801"/>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8" name="Rectangle 66">
            <a:extLst>
              <a:ext uri="{FF2B5EF4-FFF2-40B4-BE49-F238E27FC236}">
                <a16:creationId xmlns:a16="http://schemas.microsoft.com/office/drawing/2014/main" id="{E7634E43-924A-CC93-0CD5-D4D9C8C53D05}"/>
              </a:ext>
            </a:extLst>
          </p:cNvPr>
          <p:cNvSpPr>
            <a:spLocks noChangeArrowheads="1"/>
          </p:cNvSpPr>
          <p:nvPr/>
        </p:nvSpPr>
        <p:spPr bwMode="auto">
          <a:xfrm>
            <a:off x="5946144" y="2554262"/>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Tree>
    <p:extLst>
      <p:ext uri="{BB962C8B-B14F-4D97-AF65-F5344CB8AC3E}">
        <p14:creationId xmlns:p14="http://schemas.microsoft.com/office/powerpoint/2010/main" val="31435840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down)">
                                      <p:cBhvr>
                                        <p:cTn id="7"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AutoShape 4">
            <a:extLst>
              <a:ext uri="{FF2B5EF4-FFF2-40B4-BE49-F238E27FC236}">
                <a16:creationId xmlns:a16="http://schemas.microsoft.com/office/drawing/2014/main" id="{117EADB0-1976-2B15-07DB-EE907C7B2A11}"/>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90" name="AutoShape 4">
            <a:extLst>
              <a:ext uri="{FF2B5EF4-FFF2-40B4-BE49-F238E27FC236}">
                <a16:creationId xmlns:a16="http://schemas.microsoft.com/office/drawing/2014/main" id="{456D85F4-2760-B814-8E76-5DFB54EA66CF}"/>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92" name="Text Box 26">
            <a:extLst>
              <a:ext uri="{FF2B5EF4-FFF2-40B4-BE49-F238E27FC236}">
                <a16:creationId xmlns:a16="http://schemas.microsoft.com/office/drawing/2014/main" id="{CF9EFF92-1015-4213-2F0C-836F9B757237}"/>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94" name="Text Box 26">
            <a:extLst>
              <a:ext uri="{FF2B5EF4-FFF2-40B4-BE49-F238E27FC236}">
                <a16:creationId xmlns:a16="http://schemas.microsoft.com/office/drawing/2014/main" id="{F586D6B1-B991-E59D-FB97-3164CF6F5044}"/>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81" name="组合 180">
            <a:extLst>
              <a:ext uri="{FF2B5EF4-FFF2-40B4-BE49-F238E27FC236}">
                <a16:creationId xmlns:a16="http://schemas.microsoft.com/office/drawing/2014/main" id="{25B0140C-2880-97AB-E56E-A4169F2B4616}"/>
              </a:ext>
            </a:extLst>
          </p:cNvPr>
          <p:cNvGrpSpPr/>
          <p:nvPr/>
        </p:nvGrpSpPr>
        <p:grpSpPr>
          <a:xfrm>
            <a:off x="3960000" y="2808000"/>
            <a:ext cx="1080000" cy="1080000"/>
            <a:chOff x="2807995" y="2745746"/>
            <a:chExt cx="1080000" cy="1080000"/>
          </a:xfrm>
        </p:grpSpPr>
        <p:sp>
          <p:nvSpPr>
            <p:cNvPr id="182" name="立方体 181">
              <a:extLst>
                <a:ext uri="{FF2B5EF4-FFF2-40B4-BE49-F238E27FC236}">
                  <a16:creationId xmlns:a16="http://schemas.microsoft.com/office/drawing/2014/main" id="{07BF8766-8A4D-52A3-A3B1-CC37BF8486E6}"/>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83" name="立方体 182">
              <a:extLst>
                <a:ext uri="{FF2B5EF4-FFF2-40B4-BE49-F238E27FC236}">
                  <a16:creationId xmlns:a16="http://schemas.microsoft.com/office/drawing/2014/main" id="{37C345F4-96BF-35CC-FB8E-0C183C644A51}"/>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4" name="立方体 183">
              <a:extLst>
                <a:ext uri="{FF2B5EF4-FFF2-40B4-BE49-F238E27FC236}">
                  <a16:creationId xmlns:a16="http://schemas.microsoft.com/office/drawing/2014/main" id="{266CC44A-7779-4189-F6B2-F76F8FAC07E7}"/>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85" name="立方体 184">
              <a:extLst>
                <a:ext uri="{FF2B5EF4-FFF2-40B4-BE49-F238E27FC236}">
                  <a16:creationId xmlns:a16="http://schemas.microsoft.com/office/drawing/2014/main" id="{AE18AF6C-726A-8183-A491-57606800E514}"/>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86" name="立方体 185">
              <a:extLst>
                <a:ext uri="{FF2B5EF4-FFF2-40B4-BE49-F238E27FC236}">
                  <a16:creationId xmlns:a16="http://schemas.microsoft.com/office/drawing/2014/main" id="{D818D2E1-D658-5383-31AC-4DC32D8591CE}"/>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80" name="组合 79">
            <a:extLst>
              <a:ext uri="{FF2B5EF4-FFF2-40B4-BE49-F238E27FC236}">
                <a16:creationId xmlns:a16="http://schemas.microsoft.com/office/drawing/2014/main" id="{C5F25BA9-F03F-5F3E-16C3-A1EEC36A5E16}"/>
              </a:ext>
            </a:extLst>
          </p:cNvPr>
          <p:cNvGrpSpPr/>
          <p:nvPr/>
        </p:nvGrpSpPr>
        <p:grpSpPr>
          <a:xfrm>
            <a:off x="7395732" y="1800000"/>
            <a:ext cx="1080000" cy="2088000"/>
            <a:chOff x="701211" y="1800000"/>
            <a:chExt cx="1080000" cy="2088000"/>
          </a:xfrm>
        </p:grpSpPr>
        <p:sp>
          <p:nvSpPr>
            <p:cNvPr id="81" name="立方体 80">
              <a:extLst>
                <a:ext uri="{FF2B5EF4-FFF2-40B4-BE49-F238E27FC236}">
                  <a16:creationId xmlns:a16="http://schemas.microsoft.com/office/drawing/2014/main" id="{AAEABF09-30B3-475A-55D7-22C932CB6819}"/>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4" name="立方体 83">
              <a:extLst>
                <a:ext uri="{FF2B5EF4-FFF2-40B4-BE49-F238E27FC236}">
                  <a16:creationId xmlns:a16="http://schemas.microsoft.com/office/drawing/2014/main" id="{4B3892A1-0D7C-04D8-525A-CB2CB204AA54}"/>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5" name="立方体 84">
              <a:extLst>
                <a:ext uri="{FF2B5EF4-FFF2-40B4-BE49-F238E27FC236}">
                  <a16:creationId xmlns:a16="http://schemas.microsoft.com/office/drawing/2014/main" id="{0AB284DF-2D34-4E40-0A74-A916F63D489A}"/>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0" name="立方体 129">
              <a:extLst>
                <a:ext uri="{FF2B5EF4-FFF2-40B4-BE49-F238E27FC236}">
                  <a16:creationId xmlns:a16="http://schemas.microsoft.com/office/drawing/2014/main" id="{A1001963-D2EB-8997-0F66-F49C25595FEC}"/>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1" name="立方体 130">
              <a:extLst>
                <a:ext uri="{FF2B5EF4-FFF2-40B4-BE49-F238E27FC236}">
                  <a16:creationId xmlns:a16="http://schemas.microsoft.com/office/drawing/2014/main" id="{7CBF135D-9022-3DFE-5898-A4F20293F36D}"/>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32" name="圆柱体 131">
              <a:extLst>
                <a:ext uri="{FF2B5EF4-FFF2-40B4-BE49-F238E27FC236}">
                  <a16:creationId xmlns:a16="http://schemas.microsoft.com/office/drawing/2014/main" id="{4A791266-7073-6B45-228D-98451F2C980A}"/>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33" name="组合 132">
            <a:extLst>
              <a:ext uri="{FF2B5EF4-FFF2-40B4-BE49-F238E27FC236}">
                <a16:creationId xmlns:a16="http://schemas.microsoft.com/office/drawing/2014/main" id="{80B5FBB1-8C3B-68CE-3A49-67171297A329}"/>
              </a:ext>
            </a:extLst>
          </p:cNvPr>
          <p:cNvGrpSpPr/>
          <p:nvPr/>
        </p:nvGrpSpPr>
        <p:grpSpPr>
          <a:xfrm>
            <a:off x="701211" y="1800000"/>
            <a:ext cx="1080000" cy="2088000"/>
            <a:chOff x="701211" y="1800000"/>
            <a:chExt cx="1080000" cy="2088000"/>
          </a:xfrm>
        </p:grpSpPr>
        <p:sp>
          <p:nvSpPr>
            <p:cNvPr id="134" name="立方体 133">
              <a:extLst>
                <a:ext uri="{FF2B5EF4-FFF2-40B4-BE49-F238E27FC236}">
                  <a16:creationId xmlns:a16="http://schemas.microsoft.com/office/drawing/2014/main" id="{447FF2C7-17E8-EB3B-A4A4-B4080145620A}"/>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5" name="立方体 134">
              <a:extLst>
                <a:ext uri="{FF2B5EF4-FFF2-40B4-BE49-F238E27FC236}">
                  <a16:creationId xmlns:a16="http://schemas.microsoft.com/office/drawing/2014/main" id="{8639BFF1-F448-5BF5-8144-65F267C9FA8B}"/>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6" name="立方体 135">
              <a:extLst>
                <a:ext uri="{FF2B5EF4-FFF2-40B4-BE49-F238E27FC236}">
                  <a16:creationId xmlns:a16="http://schemas.microsoft.com/office/drawing/2014/main" id="{6F1D38AA-BCA0-3CAE-330E-0CFB4802CE04}"/>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37" name="立方体 136">
              <a:extLst>
                <a:ext uri="{FF2B5EF4-FFF2-40B4-BE49-F238E27FC236}">
                  <a16:creationId xmlns:a16="http://schemas.microsoft.com/office/drawing/2014/main" id="{82330E41-A10E-4B0F-3B0E-6E7BFC1E626F}"/>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38" name="立方体 137">
              <a:extLst>
                <a:ext uri="{FF2B5EF4-FFF2-40B4-BE49-F238E27FC236}">
                  <a16:creationId xmlns:a16="http://schemas.microsoft.com/office/drawing/2014/main" id="{55E1BE6A-A057-1C9C-87A5-DF0302D37F7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41" name="圆柱体 140">
              <a:extLst>
                <a:ext uri="{FF2B5EF4-FFF2-40B4-BE49-F238E27FC236}">
                  <a16:creationId xmlns:a16="http://schemas.microsoft.com/office/drawing/2014/main" id="{DFE33634-C518-A6E0-39D1-091F50641DDB}"/>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77D4518-1443-61FD-ACA2-7F28694EACD2}"/>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48" name="Rectangle 74">
            <a:extLst>
              <a:ext uri="{FF2B5EF4-FFF2-40B4-BE49-F238E27FC236}">
                <a16:creationId xmlns:a16="http://schemas.microsoft.com/office/drawing/2014/main" id="{EA517FA4-BB80-7530-BFC2-28EC1DA1DBF8}"/>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50" name="Rectangle 78">
            <a:extLst>
              <a:ext uri="{FF2B5EF4-FFF2-40B4-BE49-F238E27FC236}">
                <a16:creationId xmlns:a16="http://schemas.microsoft.com/office/drawing/2014/main" id="{0B1A262A-5C07-974F-2D7F-D865E921BA26}"/>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52" name="Rectangle 46">
            <a:extLst>
              <a:ext uri="{FF2B5EF4-FFF2-40B4-BE49-F238E27FC236}">
                <a16:creationId xmlns:a16="http://schemas.microsoft.com/office/drawing/2014/main" id="{8AD17C8E-8E10-6225-6A74-66D206B10BAF}"/>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54" name="Rectangle 47">
            <a:extLst>
              <a:ext uri="{FF2B5EF4-FFF2-40B4-BE49-F238E27FC236}">
                <a16:creationId xmlns:a16="http://schemas.microsoft.com/office/drawing/2014/main" id="{DCFE67ED-DEE3-1C93-E840-DD4C8CBE94FE}"/>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56" name="Rectangle 48">
            <a:extLst>
              <a:ext uri="{FF2B5EF4-FFF2-40B4-BE49-F238E27FC236}">
                <a16:creationId xmlns:a16="http://schemas.microsoft.com/office/drawing/2014/main" id="{3732D99E-D2A1-6B7E-60F3-890B46FF888D}"/>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8" name="Rectangle 49">
            <a:extLst>
              <a:ext uri="{FF2B5EF4-FFF2-40B4-BE49-F238E27FC236}">
                <a16:creationId xmlns:a16="http://schemas.microsoft.com/office/drawing/2014/main" id="{D8317981-7805-77C0-F34C-AE545C9E9DCE}"/>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0" name="Rectangle 35">
            <a:extLst>
              <a:ext uri="{FF2B5EF4-FFF2-40B4-BE49-F238E27FC236}">
                <a16:creationId xmlns:a16="http://schemas.microsoft.com/office/drawing/2014/main" id="{AEA543E2-4278-30B6-8802-D9BDB628B37F}"/>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62" name="Rectangle 42">
            <a:extLst>
              <a:ext uri="{FF2B5EF4-FFF2-40B4-BE49-F238E27FC236}">
                <a16:creationId xmlns:a16="http://schemas.microsoft.com/office/drawing/2014/main" id="{6146F5C0-EA6E-8CB1-60A2-B34BFCE969AF}"/>
              </a:ext>
            </a:extLst>
          </p:cNvPr>
          <p:cNvSpPr>
            <a:spLocks noChangeArrowheads="1"/>
          </p:cNvSpPr>
          <p:nvPr/>
        </p:nvSpPr>
        <p:spPr bwMode="auto">
          <a:xfrm>
            <a:off x="5946144" y="293232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64" name="Rectangle 43">
            <a:extLst>
              <a:ext uri="{FF2B5EF4-FFF2-40B4-BE49-F238E27FC236}">
                <a16:creationId xmlns:a16="http://schemas.microsoft.com/office/drawing/2014/main" id="{F6CAA96D-35FB-8E76-DFE0-0C0C28DE53A1}"/>
              </a:ext>
            </a:extLst>
          </p:cNvPr>
          <p:cNvSpPr>
            <a:spLocks noChangeArrowheads="1"/>
          </p:cNvSpPr>
          <p:nvPr/>
        </p:nvSpPr>
        <p:spPr bwMode="auto">
          <a:xfrm>
            <a:off x="6169344" y="293232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66" name="Rectangle 44">
            <a:extLst>
              <a:ext uri="{FF2B5EF4-FFF2-40B4-BE49-F238E27FC236}">
                <a16:creationId xmlns:a16="http://schemas.microsoft.com/office/drawing/2014/main" id="{1C04A827-BFDA-C735-4532-15EF314E2EFA}"/>
              </a:ext>
            </a:extLst>
          </p:cNvPr>
          <p:cNvSpPr>
            <a:spLocks noChangeArrowheads="1"/>
          </p:cNvSpPr>
          <p:nvPr/>
        </p:nvSpPr>
        <p:spPr bwMode="auto">
          <a:xfrm>
            <a:off x="6392544" y="2932328"/>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68" name="Rectangle 70">
            <a:extLst>
              <a:ext uri="{FF2B5EF4-FFF2-40B4-BE49-F238E27FC236}">
                <a16:creationId xmlns:a16="http://schemas.microsoft.com/office/drawing/2014/main" id="{93642515-909D-8DF5-55FD-ACC95F6A3FF8}"/>
              </a:ext>
            </a:extLst>
          </p:cNvPr>
          <p:cNvSpPr>
            <a:spLocks noChangeArrowheads="1"/>
          </p:cNvSpPr>
          <p:nvPr/>
        </p:nvSpPr>
        <p:spPr bwMode="auto">
          <a:xfrm>
            <a:off x="5722944" y="293275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70" name="Rectangle 39">
            <a:extLst>
              <a:ext uri="{FF2B5EF4-FFF2-40B4-BE49-F238E27FC236}">
                <a16:creationId xmlns:a16="http://schemas.microsoft.com/office/drawing/2014/main" id="{C4E4CF27-A953-5F04-85A9-262C6B0239AC}"/>
              </a:ext>
            </a:extLst>
          </p:cNvPr>
          <p:cNvSpPr>
            <a:spLocks noChangeArrowheads="1"/>
          </p:cNvSpPr>
          <p:nvPr/>
        </p:nvSpPr>
        <p:spPr bwMode="auto">
          <a:xfrm>
            <a:off x="6169344" y="255480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72" name="Rectangle 40">
            <a:extLst>
              <a:ext uri="{FF2B5EF4-FFF2-40B4-BE49-F238E27FC236}">
                <a16:creationId xmlns:a16="http://schemas.microsoft.com/office/drawing/2014/main" id="{91579417-0A8D-84FE-0241-666319B25DC9}"/>
              </a:ext>
            </a:extLst>
          </p:cNvPr>
          <p:cNvSpPr>
            <a:spLocks noChangeArrowheads="1"/>
          </p:cNvSpPr>
          <p:nvPr/>
        </p:nvSpPr>
        <p:spPr bwMode="auto">
          <a:xfrm>
            <a:off x="6392544" y="2554801"/>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74" name="Rectangle 66">
            <a:extLst>
              <a:ext uri="{FF2B5EF4-FFF2-40B4-BE49-F238E27FC236}">
                <a16:creationId xmlns:a16="http://schemas.microsoft.com/office/drawing/2014/main" id="{5199EDF3-CA58-D141-58AE-3CAEB32E33B4}"/>
              </a:ext>
            </a:extLst>
          </p:cNvPr>
          <p:cNvSpPr>
            <a:spLocks noChangeArrowheads="1"/>
          </p:cNvSpPr>
          <p:nvPr/>
        </p:nvSpPr>
        <p:spPr bwMode="auto">
          <a:xfrm>
            <a:off x="5946144" y="2554262"/>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76" name="Rectangle 34">
            <a:extLst>
              <a:ext uri="{FF2B5EF4-FFF2-40B4-BE49-F238E27FC236}">
                <a16:creationId xmlns:a16="http://schemas.microsoft.com/office/drawing/2014/main" id="{26CF4EB2-5743-BE7A-2F2C-F42FB1D8B7D5}"/>
              </a:ext>
            </a:extLst>
          </p:cNvPr>
          <p:cNvSpPr>
            <a:spLocks noChangeArrowheads="1"/>
          </p:cNvSpPr>
          <p:nvPr/>
        </p:nvSpPr>
        <p:spPr bwMode="auto">
          <a:xfrm>
            <a:off x="6169344" y="2209527"/>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78" name="Rectangle 37">
            <a:extLst>
              <a:ext uri="{FF2B5EF4-FFF2-40B4-BE49-F238E27FC236}">
                <a16:creationId xmlns:a16="http://schemas.microsoft.com/office/drawing/2014/main" id="{913CDFFA-3B69-645E-2A53-FA334FD241BD}"/>
              </a:ext>
            </a:extLst>
          </p:cNvPr>
          <p:cNvSpPr>
            <a:spLocks noChangeArrowheads="1"/>
          </p:cNvSpPr>
          <p:nvPr/>
        </p:nvSpPr>
        <p:spPr bwMode="auto">
          <a:xfrm>
            <a:off x="6392544" y="2209195"/>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Tree>
    <p:extLst>
      <p:ext uri="{BB962C8B-B14F-4D97-AF65-F5344CB8AC3E}">
        <p14:creationId xmlns:p14="http://schemas.microsoft.com/office/powerpoint/2010/main" val="25593016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AutoShape 4">
            <a:extLst>
              <a:ext uri="{FF2B5EF4-FFF2-40B4-BE49-F238E27FC236}">
                <a16:creationId xmlns:a16="http://schemas.microsoft.com/office/drawing/2014/main" id="{0D366EA5-EBE0-21F9-3F1B-7499E33F17A1}"/>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7" name="AutoShape 4">
            <a:extLst>
              <a:ext uri="{FF2B5EF4-FFF2-40B4-BE49-F238E27FC236}">
                <a16:creationId xmlns:a16="http://schemas.microsoft.com/office/drawing/2014/main" id="{F9A9D1C7-E222-A64B-8CFB-A11C29D79D37}"/>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29" name="Text Box 26">
            <a:extLst>
              <a:ext uri="{FF2B5EF4-FFF2-40B4-BE49-F238E27FC236}">
                <a16:creationId xmlns:a16="http://schemas.microsoft.com/office/drawing/2014/main" id="{9DDC348B-8D43-80E7-FB4A-51C0815FE7B8}"/>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231" name="Text Box 26">
            <a:extLst>
              <a:ext uri="{FF2B5EF4-FFF2-40B4-BE49-F238E27FC236}">
                <a16:creationId xmlns:a16="http://schemas.microsoft.com/office/drawing/2014/main" id="{85BB280E-7B85-7808-4611-5FDBD74EAB3D}"/>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218" name="组合 217">
            <a:extLst>
              <a:ext uri="{FF2B5EF4-FFF2-40B4-BE49-F238E27FC236}">
                <a16:creationId xmlns:a16="http://schemas.microsoft.com/office/drawing/2014/main" id="{57339269-887A-D4CD-0CE3-4F1B885E6CEC}"/>
              </a:ext>
            </a:extLst>
          </p:cNvPr>
          <p:cNvGrpSpPr/>
          <p:nvPr/>
        </p:nvGrpSpPr>
        <p:grpSpPr>
          <a:xfrm>
            <a:off x="3960000" y="2808000"/>
            <a:ext cx="1080000" cy="1080000"/>
            <a:chOff x="2807995" y="2745746"/>
            <a:chExt cx="1080000" cy="1080000"/>
          </a:xfrm>
        </p:grpSpPr>
        <p:sp>
          <p:nvSpPr>
            <p:cNvPr id="219" name="立方体 218">
              <a:extLst>
                <a:ext uri="{FF2B5EF4-FFF2-40B4-BE49-F238E27FC236}">
                  <a16:creationId xmlns:a16="http://schemas.microsoft.com/office/drawing/2014/main" id="{8B59F5AA-14BF-26D7-E3D1-052FC9381EC0}"/>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20" name="立方体 219">
              <a:extLst>
                <a:ext uri="{FF2B5EF4-FFF2-40B4-BE49-F238E27FC236}">
                  <a16:creationId xmlns:a16="http://schemas.microsoft.com/office/drawing/2014/main" id="{E805A689-5135-B0AE-8A06-DCC70DF20539}"/>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21" name="立方体 220">
              <a:extLst>
                <a:ext uri="{FF2B5EF4-FFF2-40B4-BE49-F238E27FC236}">
                  <a16:creationId xmlns:a16="http://schemas.microsoft.com/office/drawing/2014/main" id="{C1119D20-DC28-32F1-8912-D801B5639931}"/>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222" name="立方体 221">
              <a:extLst>
                <a:ext uri="{FF2B5EF4-FFF2-40B4-BE49-F238E27FC236}">
                  <a16:creationId xmlns:a16="http://schemas.microsoft.com/office/drawing/2014/main" id="{1CEC2239-4208-8C60-3921-5B2D5677F22B}"/>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223" name="立方体 222">
              <a:extLst>
                <a:ext uri="{FF2B5EF4-FFF2-40B4-BE49-F238E27FC236}">
                  <a16:creationId xmlns:a16="http://schemas.microsoft.com/office/drawing/2014/main" id="{5888E8BD-0390-3F59-3D0A-17BB17C8B26A}"/>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79" name="组合 78">
            <a:extLst>
              <a:ext uri="{FF2B5EF4-FFF2-40B4-BE49-F238E27FC236}">
                <a16:creationId xmlns:a16="http://schemas.microsoft.com/office/drawing/2014/main" id="{8E1B7AAF-9C2A-D5D7-CD73-9EE5C8CC92DE}"/>
              </a:ext>
            </a:extLst>
          </p:cNvPr>
          <p:cNvGrpSpPr/>
          <p:nvPr/>
        </p:nvGrpSpPr>
        <p:grpSpPr>
          <a:xfrm>
            <a:off x="7395732" y="1800000"/>
            <a:ext cx="1080000" cy="2088000"/>
            <a:chOff x="701211" y="1800000"/>
            <a:chExt cx="1080000" cy="2088000"/>
          </a:xfrm>
        </p:grpSpPr>
        <p:sp>
          <p:nvSpPr>
            <p:cNvPr id="80" name="立方体 79">
              <a:extLst>
                <a:ext uri="{FF2B5EF4-FFF2-40B4-BE49-F238E27FC236}">
                  <a16:creationId xmlns:a16="http://schemas.microsoft.com/office/drawing/2014/main" id="{AF6C82CA-1EEA-4211-29C6-8CBB865055EC}"/>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81" name="立方体 80">
              <a:extLst>
                <a:ext uri="{FF2B5EF4-FFF2-40B4-BE49-F238E27FC236}">
                  <a16:creationId xmlns:a16="http://schemas.microsoft.com/office/drawing/2014/main" id="{CD0854C7-02C7-31F6-03F7-A1ED49DAC488}"/>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84" name="立方体 83">
              <a:extLst>
                <a:ext uri="{FF2B5EF4-FFF2-40B4-BE49-F238E27FC236}">
                  <a16:creationId xmlns:a16="http://schemas.microsoft.com/office/drawing/2014/main" id="{515C826A-6DD0-42A3-C386-7B74EBED47DA}"/>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85" name="立方体 84">
              <a:extLst>
                <a:ext uri="{FF2B5EF4-FFF2-40B4-BE49-F238E27FC236}">
                  <a16:creationId xmlns:a16="http://schemas.microsoft.com/office/drawing/2014/main" id="{CCFE6848-8846-5297-765A-3FBB22503A8D}"/>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13" name="立方体 112">
              <a:extLst>
                <a:ext uri="{FF2B5EF4-FFF2-40B4-BE49-F238E27FC236}">
                  <a16:creationId xmlns:a16="http://schemas.microsoft.com/office/drawing/2014/main" id="{301280DA-3AB6-2022-2199-E8B22266EC32}"/>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14" name="圆柱体 113">
              <a:extLst>
                <a:ext uri="{FF2B5EF4-FFF2-40B4-BE49-F238E27FC236}">
                  <a16:creationId xmlns:a16="http://schemas.microsoft.com/office/drawing/2014/main" id="{842484A2-DDBB-73E8-D2FD-19AC3E13329C}"/>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115" name="组合 114">
            <a:extLst>
              <a:ext uri="{FF2B5EF4-FFF2-40B4-BE49-F238E27FC236}">
                <a16:creationId xmlns:a16="http://schemas.microsoft.com/office/drawing/2014/main" id="{841E29CE-834C-7BAB-9C3A-A6F5390DD76C}"/>
              </a:ext>
            </a:extLst>
          </p:cNvPr>
          <p:cNvGrpSpPr/>
          <p:nvPr/>
        </p:nvGrpSpPr>
        <p:grpSpPr>
          <a:xfrm>
            <a:off x="701211" y="1800000"/>
            <a:ext cx="1080000" cy="2088000"/>
            <a:chOff x="701211" y="1800000"/>
            <a:chExt cx="1080000" cy="2088000"/>
          </a:xfrm>
        </p:grpSpPr>
        <p:sp>
          <p:nvSpPr>
            <p:cNvPr id="136" name="立方体 135">
              <a:extLst>
                <a:ext uri="{FF2B5EF4-FFF2-40B4-BE49-F238E27FC236}">
                  <a16:creationId xmlns:a16="http://schemas.microsoft.com/office/drawing/2014/main" id="{A6D0FF1C-2637-7C65-D7E3-CD0C87FC19FB}"/>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137" name="立方体 136">
              <a:extLst>
                <a:ext uri="{FF2B5EF4-FFF2-40B4-BE49-F238E27FC236}">
                  <a16:creationId xmlns:a16="http://schemas.microsoft.com/office/drawing/2014/main" id="{0928813B-A8AC-0829-7BDB-6E56FAFA7300}"/>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138" name="立方体 137">
              <a:extLst>
                <a:ext uri="{FF2B5EF4-FFF2-40B4-BE49-F238E27FC236}">
                  <a16:creationId xmlns:a16="http://schemas.microsoft.com/office/drawing/2014/main" id="{20ECB278-5A25-4627-D454-BBE8250FE835}"/>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141" name="立方体 140">
              <a:extLst>
                <a:ext uri="{FF2B5EF4-FFF2-40B4-BE49-F238E27FC236}">
                  <a16:creationId xmlns:a16="http://schemas.microsoft.com/office/drawing/2014/main" id="{7437E778-F364-0376-A62D-2DE02BC30A8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147" name="立方体 146">
              <a:extLst>
                <a:ext uri="{FF2B5EF4-FFF2-40B4-BE49-F238E27FC236}">
                  <a16:creationId xmlns:a16="http://schemas.microsoft.com/office/drawing/2014/main" id="{E5442E58-CFC3-5A1A-0A31-1AC5B3F429AA}"/>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148" name="圆柱体 147">
              <a:extLst>
                <a:ext uri="{FF2B5EF4-FFF2-40B4-BE49-F238E27FC236}">
                  <a16:creationId xmlns:a16="http://schemas.microsoft.com/office/drawing/2014/main" id="{6A29F7A1-770C-1375-2A0B-A8510F0CD092}"/>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BA8AB7F2-F80A-D061-E6FE-5876C33F4CA9}"/>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
        <p:nvSpPr>
          <p:cNvPr id="185" name="Rectangle 74">
            <a:extLst>
              <a:ext uri="{FF2B5EF4-FFF2-40B4-BE49-F238E27FC236}">
                <a16:creationId xmlns:a16="http://schemas.microsoft.com/office/drawing/2014/main" id="{F26B788F-0762-1388-878A-154E5EC0B50D}"/>
              </a:ext>
            </a:extLst>
          </p:cNvPr>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187" name="Rectangle 78">
            <a:extLst>
              <a:ext uri="{FF2B5EF4-FFF2-40B4-BE49-F238E27FC236}">
                <a16:creationId xmlns:a16="http://schemas.microsoft.com/office/drawing/2014/main" id="{E4C5F88B-C7AA-1870-37F8-237D3833D3B6}"/>
              </a:ext>
            </a:extLst>
          </p:cNvPr>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189" name="Rectangle 46">
            <a:extLst>
              <a:ext uri="{FF2B5EF4-FFF2-40B4-BE49-F238E27FC236}">
                <a16:creationId xmlns:a16="http://schemas.microsoft.com/office/drawing/2014/main" id="{BEA1B1B7-635E-9C68-B6E4-4985FDFF722D}"/>
              </a:ext>
            </a:extLst>
          </p:cNvPr>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91" name="Rectangle 47">
            <a:extLst>
              <a:ext uri="{FF2B5EF4-FFF2-40B4-BE49-F238E27FC236}">
                <a16:creationId xmlns:a16="http://schemas.microsoft.com/office/drawing/2014/main" id="{FD70AA52-F4F1-FCF7-B733-691399F64B02}"/>
              </a:ext>
            </a:extLst>
          </p:cNvPr>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93" name="Rectangle 48">
            <a:extLst>
              <a:ext uri="{FF2B5EF4-FFF2-40B4-BE49-F238E27FC236}">
                <a16:creationId xmlns:a16="http://schemas.microsoft.com/office/drawing/2014/main" id="{7557A742-2CDA-D940-3545-06793880A338}"/>
              </a:ext>
            </a:extLst>
          </p:cNvPr>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95" name="Rectangle 49">
            <a:extLst>
              <a:ext uri="{FF2B5EF4-FFF2-40B4-BE49-F238E27FC236}">
                <a16:creationId xmlns:a16="http://schemas.microsoft.com/office/drawing/2014/main" id="{7C8CC76E-8AA9-8472-FD5D-E64423F3FC75}"/>
              </a:ext>
            </a:extLst>
          </p:cNvPr>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97" name="Rectangle 35">
            <a:extLst>
              <a:ext uri="{FF2B5EF4-FFF2-40B4-BE49-F238E27FC236}">
                <a16:creationId xmlns:a16="http://schemas.microsoft.com/office/drawing/2014/main" id="{6A425D15-3CA9-A9B6-B5CA-D1A5175313B9}"/>
              </a:ext>
            </a:extLst>
          </p:cNvPr>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99" name="Rectangle 42">
            <a:extLst>
              <a:ext uri="{FF2B5EF4-FFF2-40B4-BE49-F238E27FC236}">
                <a16:creationId xmlns:a16="http://schemas.microsoft.com/office/drawing/2014/main" id="{1A3D5E2B-D9B6-7191-1016-93A86276E6C2}"/>
              </a:ext>
            </a:extLst>
          </p:cNvPr>
          <p:cNvSpPr>
            <a:spLocks noChangeArrowheads="1"/>
          </p:cNvSpPr>
          <p:nvPr/>
        </p:nvSpPr>
        <p:spPr bwMode="auto">
          <a:xfrm>
            <a:off x="5946144" y="293232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201" name="Rectangle 43">
            <a:extLst>
              <a:ext uri="{FF2B5EF4-FFF2-40B4-BE49-F238E27FC236}">
                <a16:creationId xmlns:a16="http://schemas.microsoft.com/office/drawing/2014/main" id="{C85D4848-B654-9D0F-82B6-68B7FB57E3A4}"/>
              </a:ext>
            </a:extLst>
          </p:cNvPr>
          <p:cNvSpPr>
            <a:spLocks noChangeArrowheads="1"/>
          </p:cNvSpPr>
          <p:nvPr/>
        </p:nvSpPr>
        <p:spPr bwMode="auto">
          <a:xfrm>
            <a:off x="6169344" y="293232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03" name="Rectangle 44">
            <a:extLst>
              <a:ext uri="{FF2B5EF4-FFF2-40B4-BE49-F238E27FC236}">
                <a16:creationId xmlns:a16="http://schemas.microsoft.com/office/drawing/2014/main" id="{C250010C-6F49-4B30-1AF1-3A25F8010A3A}"/>
              </a:ext>
            </a:extLst>
          </p:cNvPr>
          <p:cNvSpPr>
            <a:spLocks noChangeArrowheads="1"/>
          </p:cNvSpPr>
          <p:nvPr/>
        </p:nvSpPr>
        <p:spPr bwMode="auto">
          <a:xfrm>
            <a:off x="6392544" y="2932328"/>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05" name="Rectangle 70">
            <a:extLst>
              <a:ext uri="{FF2B5EF4-FFF2-40B4-BE49-F238E27FC236}">
                <a16:creationId xmlns:a16="http://schemas.microsoft.com/office/drawing/2014/main" id="{990FF4B9-3446-9544-B38F-77B0913ADBE7}"/>
              </a:ext>
            </a:extLst>
          </p:cNvPr>
          <p:cNvSpPr>
            <a:spLocks noChangeArrowheads="1"/>
          </p:cNvSpPr>
          <p:nvPr/>
        </p:nvSpPr>
        <p:spPr bwMode="auto">
          <a:xfrm>
            <a:off x="5722944" y="293275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207" name="Rectangle 39">
            <a:extLst>
              <a:ext uri="{FF2B5EF4-FFF2-40B4-BE49-F238E27FC236}">
                <a16:creationId xmlns:a16="http://schemas.microsoft.com/office/drawing/2014/main" id="{918F4ABF-CBB8-6323-4F4E-616561BC480E}"/>
              </a:ext>
            </a:extLst>
          </p:cNvPr>
          <p:cNvSpPr>
            <a:spLocks noChangeArrowheads="1"/>
          </p:cNvSpPr>
          <p:nvPr/>
        </p:nvSpPr>
        <p:spPr bwMode="auto">
          <a:xfrm>
            <a:off x="6169344" y="255480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209" name="Rectangle 40">
            <a:extLst>
              <a:ext uri="{FF2B5EF4-FFF2-40B4-BE49-F238E27FC236}">
                <a16:creationId xmlns:a16="http://schemas.microsoft.com/office/drawing/2014/main" id="{CBD2C813-51A1-B1B6-84F3-AA50D544A34D}"/>
              </a:ext>
            </a:extLst>
          </p:cNvPr>
          <p:cNvSpPr>
            <a:spLocks noChangeArrowheads="1"/>
          </p:cNvSpPr>
          <p:nvPr/>
        </p:nvSpPr>
        <p:spPr bwMode="auto">
          <a:xfrm>
            <a:off x="6392544" y="2554801"/>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211" name="Rectangle 66">
            <a:extLst>
              <a:ext uri="{FF2B5EF4-FFF2-40B4-BE49-F238E27FC236}">
                <a16:creationId xmlns:a16="http://schemas.microsoft.com/office/drawing/2014/main" id="{40EFCF6C-18D6-3A36-30E9-22E8B0B3CB7C}"/>
              </a:ext>
            </a:extLst>
          </p:cNvPr>
          <p:cNvSpPr>
            <a:spLocks noChangeArrowheads="1"/>
          </p:cNvSpPr>
          <p:nvPr/>
        </p:nvSpPr>
        <p:spPr bwMode="auto">
          <a:xfrm>
            <a:off x="5946144" y="2554262"/>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213" name="Rectangle 34">
            <a:extLst>
              <a:ext uri="{FF2B5EF4-FFF2-40B4-BE49-F238E27FC236}">
                <a16:creationId xmlns:a16="http://schemas.microsoft.com/office/drawing/2014/main" id="{3C12CA07-32C1-354C-A4A9-9088BCDE66DA}"/>
              </a:ext>
            </a:extLst>
          </p:cNvPr>
          <p:cNvSpPr>
            <a:spLocks noChangeArrowheads="1"/>
          </p:cNvSpPr>
          <p:nvPr/>
        </p:nvSpPr>
        <p:spPr bwMode="auto">
          <a:xfrm>
            <a:off x="6169344" y="2209527"/>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215" name="Rectangle 37">
            <a:extLst>
              <a:ext uri="{FF2B5EF4-FFF2-40B4-BE49-F238E27FC236}">
                <a16:creationId xmlns:a16="http://schemas.microsoft.com/office/drawing/2014/main" id="{CA2C67BE-C5CE-1D1A-D2C7-62BA61D5566A}"/>
              </a:ext>
            </a:extLst>
          </p:cNvPr>
          <p:cNvSpPr>
            <a:spLocks noChangeArrowheads="1"/>
          </p:cNvSpPr>
          <p:nvPr/>
        </p:nvSpPr>
        <p:spPr bwMode="auto">
          <a:xfrm>
            <a:off x="6392544" y="2209195"/>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useBgFill="1">
        <p:nvSpPr>
          <p:cNvPr id="217" name="Rectangle 37">
            <a:extLst>
              <a:ext uri="{FF2B5EF4-FFF2-40B4-BE49-F238E27FC236}">
                <a16:creationId xmlns:a16="http://schemas.microsoft.com/office/drawing/2014/main" id="{C1046A3A-F510-3E05-1A16-FB843E257E54}"/>
              </a:ext>
            </a:extLst>
          </p:cNvPr>
          <p:cNvSpPr>
            <a:spLocks noChangeArrowheads="1"/>
          </p:cNvSpPr>
          <p:nvPr/>
        </p:nvSpPr>
        <p:spPr bwMode="auto">
          <a:xfrm>
            <a:off x="6392544" y="1870804"/>
            <a:ext cx="446400" cy="244800"/>
          </a:xfrm>
          <a:prstGeom prst="rect">
            <a:avLst/>
          </a:prstGeom>
          <a:ln w="9525">
            <a:solidFill>
              <a:schemeClr val="tx1"/>
            </a:solidFill>
            <a:miter lim="800000"/>
          </a:ln>
        </p:spPr>
        <p:txBody>
          <a:bodyPr wrap="none" anchor="ctr"/>
          <a:lstStyle/>
          <a:p>
            <a:pPr algn="ctr"/>
            <a:r>
              <a:rPr lang="zh-CN" altLang="en-US" sz="1000" dirty="0"/>
              <a:t>数 据</a:t>
            </a:r>
          </a:p>
        </p:txBody>
      </p:sp>
    </p:spTree>
    <p:extLst>
      <p:ext uri="{BB962C8B-B14F-4D97-AF65-F5344CB8AC3E}">
        <p14:creationId xmlns:p14="http://schemas.microsoft.com/office/powerpoint/2010/main" val="5948842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down)">
                                      <p:cBhvr>
                                        <p:cTn id="7" dur="10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AutoShape 4">
            <a:extLst>
              <a:ext uri="{FF2B5EF4-FFF2-40B4-BE49-F238E27FC236}">
                <a16:creationId xmlns:a16="http://schemas.microsoft.com/office/drawing/2014/main" id="{E76CD34E-0DA4-6554-03E4-502F1D8ADF4A}"/>
              </a:ext>
            </a:extLst>
          </p:cNvPr>
          <p:cNvSpPr>
            <a:spLocks noChangeArrowheads="1"/>
          </p:cNvSpPr>
          <p:nvPr/>
        </p:nvSpPr>
        <p:spPr bwMode="auto">
          <a:xfrm rot="16200000">
            <a:off x="2567190"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1" name="AutoShape 4">
            <a:extLst>
              <a:ext uri="{FF2B5EF4-FFF2-40B4-BE49-F238E27FC236}">
                <a16:creationId xmlns:a16="http://schemas.microsoft.com/office/drawing/2014/main" id="{6495E3A9-456F-E8E4-611E-6209896CABCE}"/>
              </a:ext>
            </a:extLst>
          </p:cNvPr>
          <p:cNvSpPr>
            <a:spLocks noChangeArrowheads="1"/>
          </p:cNvSpPr>
          <p:nvPr/>
        </p:nvSpPr>
        <p:spPr bwMode="auto">
          <a:xfrm rot="16200000">
            <a:off x="6253847" y="2361728"/>
            <a:ext cx="271463" cy="3600000"/>
          </a:xfrm>
          <a:prstGeom prst="can">
            <a:avLst>
              <a:gd name="adj" fmla="val 48656"/>
            </a:avLst>
          </a:prstGeom>
          <a:gradFill rotWithShape="0">
            <a:gsLst>
              <a:gs pos="0">
                <a:srgbClr val="00CC00"/>
              </a:gs>
              <a:gs pos="50000">
                <a:schemeClr val="bg1"/>
              </a:gs>
              <a:gs pos="100000">
                <a:srgbClr val="00CC00"/>
              </a:gs>
            </a:gsLst>
            <a:lin ang="5400000" scaled="1"/>
          </a:gradFill>
          <a:ln w="6350">
            <a:solidFill>
              <a:srgbClr val="7CE07C"/>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83" name="Text Box 26">
            <a:extLst>
              <a:ext uri="{FF2B5EF4-FFF2-40B4-BE49-F238E27FC236}">
                <a16:creationId xmlns:a16="http://schemas.microsoft.com/office/drawing/2014/main" id="{D357DB42-1EEB-6EAC-FBC7-244484B2C4EC}"/>
              </a:ext>
            </a:extLst>
          </p:cNvPr>
          <p:cNvSpPr txBox="1">
            <a:spLocks noChangeArrowheads="1"/>
          </p:cNvSpPr>
          <p:nvPr/>
        </p:nvSpPr>
        <p:spPr bwMode="auto">
          <a:xfrm>
            <a:off x="2701348"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sp>
        <p:nvSpPr>
          <p:cNvPr id="185" name="Text Box 26">
            <a:extLst>
              <a:ext uri="{FF2B5EF4-FFF2-40B4-BE49-F238E27FC236}">
                <a16:creationId xmlns:a16="http://schemas.microsoft.com/office/drawing/2014/main" id="{F38322FB-73CE-DD98-6695-0A3EAAFDA547}"/>
              </a:ext>
            </a:extLst>
          </p:cNvPr>
          <p:cNvSpPr txBox="1">
            <a:spLocks noChangeArrowheads="1"/>
          </p:cNvSpPr>
          <p:nvPr/>
        </p:nvSpPr>
        <p:spPr bwMode="auto">
          <a:xfrm>
            <a:off x="6193730" y="4023229"/>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dirty="0">
                <a:latin typeface="+mj-lt"/>
                <a:ea typeface="+mj-ea"/>
              </a:rPr>
              <a:t>物理传输媒体</a:t>
            </a:r>
          </a:p>
        </p:txBody>
      </p:sp>
      <p:grpSp>
        <p:nvGrpSpPr>
          <p:cNvPr id="172" name="组合 171">
            <a:extLst>
              <a:ext uri="{FF2B5EF4-FFF2-40B4-BE49-F238E27FC236}">
                <a16:creationId xmlns:a16="http://schemas.microsoft.com/office/drawing/2014/main" id="{B33E8E93-BB9A-23AD-E1A9-0612262951DD}"/>
              </a:ext>
            </a:extLst>
          </p:cNvPr>
          <p:cNvGrpSpPr/>
          <p:nvPr/>
        </p:nvGrpSpPr>
        <p:grpSpPr>
          <a:xfrm>
            <a:off x="3960000" y="2808000"/>
            <a:ext cx="1080000" cy="1080000"/>
            <a:chOff x="2807995" y="2745746"/>
            <a:chExt cx="1080000" cy="1080000"/>
          </a:xfrm>
        </p:grpSpPr>
        <p:sp>
          <p:nvSpPr>
            <p:cNvPr id="173" name="立方体 172">
              <a:extLst>
                <a:ext uri="{FF2B5EF4-FFF2-40B4-BE49-F238E27FC236}">
                  <a16:creationId xmlns:a16="http://schemas.microsoft.com/office/drawing/2014/main" id="{E9A5C0FB-C7E8-29F4-B125-E8FA7809F824}"/>
                </a:ext>
              </a:extLst>
            </p:cNvPr>
            <p:cNvSpPr/>
            <p:nvPr/>
          </p:nvSpPr>
          <p:spPr>
            <a:xfrm>
              <a:off x="2807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4" name="立方体 173">
              <a:extLst>
                <a:ext uri="{FF2B5EF4-FFF2-40B4-BE49-F238E27FC236}">
                  <a16:creationId xmlns:a16="http://schemas.microsoft.com/office/drawing/2014/main" id="{2B53FCDE-97D8-178A-3A11-CB4F7A676061}"/>
                </a:ext>
              </a:extLst>
            </p:cNvPr>
            <p:cNvSpPr/>
            <p:nvPr/>
          </p:nvSpPr>
          <p:spPr>
            <a:xfrm>
              <a:off x="2807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5" name="立方体 174">
              <a:extLst>
                <a:ext uri="{FF2B5EF4-FFF2-40B4-BE49-F238E27FC236}">
                  <a16:creationId xmlns:a16="http://schemas.microsoft.com/office/drawing/2014/main" id="{7C272D90-0979-8D38-B723-E31B179C0843}"/>
                </a:ext>
              </a:extLst>
            </p:cNvPr>
            <p:cNvSpPr/>
            <p:nvPr/>
          </p:nvSpPr>
          <p:spPr>
            <a:xfrm>
              <a:off x="3293995" y="3393746"/>
              <a:ext cx="594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050" dirty="0">
                  <a:solidFill>
                    <a:schemeClr val="bg1"/>
                  </a:solidFill>
                </a:rPr>
                <a:t>1</a:t>
              </a:r>
              <a:endParaRPr lang="zh-CN" altLang="en-US" sz="1050" dirty="0">
                <a:solidFill>
                  <a:schemeClr val="bg1"/>
                </a:solidFill>
              </a:endParaRPr>
            </a:p>
          </p:txBody>
        </p:sp>
        <p:sp>
          <p:nvSpPr>
            <p:cNvPr id="176" name="立方体 175">
              <a:extLst>
                <a:ext uri="{FF2B5EF4-FFF2-40B4-BE49-F238E27FC236}">
                  <a16:creationId xmlns:a16="http://schemas.microsoft.com/office/drawing/2014/main" id="{ACDC2090-6406-82B1-A9AD-74704BC7E08A}"/>
                </a:ext>
              </a:extLst>
            </p:cNvPr>
            <p:cNvSpPr/>
            <p:nvPr/>
          </p:nvSpPr>
          <p:spPr>
            <a:xfrm>
              <a:off x="3293995" y="3069746"/>
              <a:ext cx="594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050" dirty="0">
                  <a:solidFill>
                    <a:schemeClr val="bg1"/>
                  </a:solidFill>
                </a:rPr>
                <a:t>2</a:t>
              </a:r>
              <a:endParaRPr lang="zh-CN" altLang="en-US" sz="1050" dirty="0">
                <a:solidFill>
                  <a:schemeClr val="bg1"/>
                </a:solidFill>
              </a:endParaRPr>
            </a:p>
          </p:txBody>
        </p:sp>
        <p:sp>
          <p:nvSpPr>
            <p:cNvPr id="177" name="立方体 176">
              <a:extLst>
                <a:ext uri="{FF2B5EF4-FFF2-40B4-BE49-F238E27FC236}">
                  <a16:creationId xmlns:a16="http://schemas.microsoft.com/office/drawing/2014/main" id="{BC2DA13D-4045-D9B6-B6EF-5EAEA39ECBDE}"/>
                </a:ext>
              </a:extLst>
            </p:cNvPr>
            <p:cNvSpPr/>
            <p:nvPr/>
          </p:nvSpPr>
          <p:spPr>
            <a:xfrm>
              <a:off x="2807995" y="2745746"/>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050" dirty="0">
                  <a:solidFill>
                    <a:schemeClr val="bg1"/>
                  </a:solidFill>
                </a:rPr>
                <a:t>3</a:t>
              </a:r>
              <a:endParaRPr lang="zh-CN" altLang="en-US" sz="1050" dirty="0">
                <a:solidFill>
                  <a:schemeClr val="bg1"/>
                </a:solidFill>
              </a:endParaRPr>
            </a:p>
          </p:txBody>
        </p:sp>
      </p:grpSp>
      <p:grpSp>
        <p:nvGrpSpPr>
          <p:cNvPr id="60" name="组合 59">
            <a:extLst>
              <a:ext uri="{FF2B5EF4-FFF2-40B4-BE49-F238E27FC236}">
                <a16:creationId xmlns:a16="http://schemas.microsoft.com/office/drawing/2014/main" id="{F4CE4CBF-BAD9-B881-B71E-31317A02BEEC}"/>
              </a:ext>
            </a:extLst>
          </p:cNvPr>
          <p:cNvGrpSpPr/>
          <p:nvPr/>
        </p:nvGrpSpPr>
        <p:grpSpPr>
          <a:xfrm>
            <a:off x="7395732" y="1800000"/>
            <a:ext cx="1080000" cy="2088000"/>
            <a:chOff x="701211" y="1800000"/>
            <a:chExt cx="1080000" cy="2088000"/>
          </a:xfrm>
        </p:grpSpPr>
        <p:sp>
          <p:nvSpPr>
            <p:cNvPr id="61" name="立方体 60">
              <a:extLst>
                <a:ext uri="{FF2B5EF4-FFF2-40B4-BE49-F238E27FC236}">
                  <a16:creationId xmlns:a16="http://schemas.microsoft.com/office/drawing/2014/main" id="{94B18358-0C6A-99DF-B0FB-ECEB1EE2EFD8}"/>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68" name="立方体 67">
              <a:extLst>
                <a:ext uri="{FF2B5EF4-FFF2-40B4-BE49-F238E27FC236}">
                  <a16:creationId xmlns:a16="http://schemas.microsoft.com/office/drawing/2014/main" id="{F9A157C2-C4BD-5A4E-C8FD-104664E25E7A}"/>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70" name="立方体 69">
              <a:extLst>
                <a:ext uri="{FF2B5EF4-FFF2-40B4-BE49-F238E27FC236}">
                  <a16:creationId xmlns:a16="http://schemas.microsoft.com/office/drawing/2014/main" id="{E20752A1-A541-D442-3A8F-F42B742BB4AE}"/>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71" name="立方体 70">
              <a:extLst>
                <a:ext uri="{FF2B5EF4-FFF2-40B4-BE49-F238E27FC236}">
                  <a16:creationId xmlns:a16="http://schemas.microsoft.com/office/drawing/2014/main" id="{E41DAF26-73C3-DB56-A12B-483CA4DF27DD}"/>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72" name="立方体 71">
              <a:extLst>
                <a:ext uri="{FF2B5EF4-FFF2-40B4-BE49-F238E27FC236}">
                  <a16:creationId xmlns:a16="http://schemas.microsoft.com/office/drawing/2014/main" id="{A3245D59-8813-7DC9-7684-0B096EE5A4F5}"/>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74" name="圆柱体 73">
              <a:extLst>
                <a:ext uri="{FF2B5EF4-FFF2-40B4-BE49-F238E27FC236}">
                  <a16:creationId xmlns:a16="http://schemas.microsoft.com/office/drawing/2014/main" id="{531CA77B-C7E1-C075-FE45-0089724ED799}"/>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grpSp>
        <p:nvGrpSpPr>
          <p:cNvPr id="75" name="组合 74">
            <a:extLst>
              <a:ext uri="{FF2B5EF4-FFF2-40B4-BE49-F238E27FC236}">
                <a16:creationId xmlns:a16="http://schemas.microsoft.com/office/drawing/2014/main" id="{6FD1C6E7-54EC-751C-40EC-B8D4E2BE4FF3}"/>
              </a:ext>
            </a:extLst>
          </p:cNvPr>
          <p:cNvGrpSpPr/>
          <p:nvPr/>
        </p:nvGrpSpPr>
        <p:grpSpPr>
          <a:xfrm>
            <a:off x="701211" y="1800000"/>
            <a:ext cx="1080000" cy="2088000"/>
            <a:chOff x="701211" y="1800000"/>
            <a:chExt cx="1080000" cy="2088000"/>
          </a:xfrm>
        </p:grpSpPr>
        <p:sp>
          <p:nvSpPr>
            <p:cNvPr id="76" name="立方体 75">
              <a:extLst>
                <a:ext uri="{FF2B5EF4-FFF2-40B4-BE49-F238E27FC236}">
                  <a16:creationId xmlns:a16="http://schemas.microsoft.com/office/drawing/2014/main" id="{1D8E2130-3AB5-8142-ECFB-83E0FC650926}"/>
                </a:ext>
              </a:extLst>
            </p:cNvPr>
            <p:cNvSpPr/>
            <p:nvPr/>
          </p:nvSpPr>
          <p:spPr>
            <a:xfrm>
              <a:off x="701211" y="3456000"/>
              <a:ext cx="1080000" cy="432000"/>
            </a:xfrm>
            <a:prstGeom prst="cube">
              <a:avLst/>
            </a:prstGeom>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050" dirty="0">
                  <a:solidFill>
                    <a:schemeClr val="bg1"/>
                  </a:solidFill>
                </a:rPr>
                <a:t>1 </a:t>
              </a:r>
              <a:r>
                <a:rPr lang="zh-CN" altLang="en-US" sz="1050" dirty="0">
                  <a:solidFill>
                    <a:schemeClr val="bg1"/>
                  </a:solidFill>
                </a:rPr>
                <a:t>物理层</a:t>
              </a:r>
            </a:p>
          </p:txBody>
        </p:sp>
        <p:sp>
          <p:nvSpPr>
            <p:cNvPr id="77" name="立方体 76">
              <a:extLst>
                <a:ext uri="{FF2B5EF4-FFF2-40B4-BE49-F238E27FC236}">
                  <a16:creationId xmlns:a16="http://schemas.microsoft.com/office/drawing/2014/main" id="{BD06D978-4CC5-1617-515A-57F5A9D0993E}"/>
                </a:ext>
              </a:extLst>
            </p:cNvPr>
            <p:cNvSpPr/>
            <p:nvPr/>
          </p:nvSpPr>
          <p:spPr>
            <a:xfrm>
              <a:off x="701211" y="3132000"/>
              <a:ext cx="1080000" cy="432000"/>
            </a:xfrm>
            <a:prstGeom prst="cube">
              <a:avLst/>
            </a:prstGeom>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050" dirty="0">
                  <a:solidFill>
                    <a:schemeClr val="bg1"/>
                  </a:solidFill>
                </a:rPr>
                <a:t>2 </a:t>
              </a:r>
              <a:r>
                <a:rPr lang="zh-CN" altLang="en-US" sz="1050" dirty="0">
                  <a:solidFill>
                    <a:schemeClr val="bg1"/>
                  </a:solidFill>
                </a:rPr>
                <a:t>数据链路层</a:t>
              </a:r>
            </a:p>
          </p:txBody>
        </p:sp>
        <p:sp>
          <p:nvSpPr>
            <p:cNvPr id="78" name="立方体 77">
              <a:extLst>
                <a:ext uri="{FF2B5EF4-FFF2-40B4-BE49-F238E27FC236}">
                  <a16:creationId xmlns:a16="http://schemas.microsoft.com/office/drawing/2014/main" id="{1EE41C20-7A30-4006-E322-D29DF550F961}"/>
                </a:ext>
              </a:extLst>
            </p:cNvPr>
            <p:cNvSpPr/>
            <p:nvPr/>
          </p:nvSpPr>
          <p:spPr>
            <a:xfrm>
              <a:off x="701211" y="2808000"/>
              <a:ext cx="1080000" cy="432000"/>
            </a:xfrm>
            <a:prstGeom prst="cube">
              <a:avLst/>
            </a:prstGeom>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050" dirty="0">
                  <a:solidFill>
                    <a:schemeClr val="bg1"/>
                  </a:solidFill>
                </a:rPr>
                <a:t>3 </a:t>
              </a:r>
              <a:r>
                <a:rPr lang="zh-CN" altLang="en-US" sz="1050" dirty="0">
                  <a:solidFill>
                    <a:schemeClr val="bg1"/>
                  </a:solidFill>
                </a:rPr>
                <a:t>网络层</a:t>
              </a:r>
            </a:p>
          </p:txBody>
        </p:sp>
        <p:sp>
          <p:nvSpPr>
            <p:cNvPr id="79" name="立方体 78">
              <a:extLst>
                <a:ext uri="{FF2B5EF4-FFF2-40B4-BE49-F238E27FC236}">
                  <a16:creationId xmlns:a16="http://schemas.microsoft.com/office/drawing/2014/main" id="{B1CE71F1-0768-BDCD-7232-4FA42EB684E3}"/>
                </a:ext>
              </a:extLst>
            </p:cNvPr>
            <p:cNvSpPr/>
            <p:nvPr/>
          </p:nvSpPr>
          <p:spPr>
            <a:xfrm>
              <a:off x="701211" y="2484000"/>
              <a:ext cx="1080000" cy="432000"/>
            </a:xfrm>
            <a:prstGeom prst="cube">
              <a:avLst/>
            </a:prstGeom>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050" dirty="0">
                  <a:solidFill>
                    <a:schemeClr val="bg1"/>
                  </a:solidFill>
                </a:rPr>
                <a:t>4 </a:t>
              </a:r>
              <a:r>
                <a:rPr lang="zh-CN" altLang="en-US" sz="1050" dirty="0">
                  <a:solidFill>
                    <a:schemeClr val="bg1"/>
                  </a:solidFill>
                </a:rPr>
                <a:t>运输层</a:t>
              </a:r>
            </a:p>
          </p:txBody>
        </p:sp>
        <p:sp>
          <p:nvSpPr>
            <p:cNvPr id="80" name="立方体 79">
              <a:extLst>
                <a:ext uri="{FF2B5EF4-FFF2-40B4-BE49-F238E27FC236}">
                  <a16:creationId xmlns:a16="http://schemas.microsoft.com/office/drawing/2014/main" id="{E26FABED-3E20-025F-A43A-93D7A23B5712}"/>
                </a:ext>
              </a:extLst>
            </p:cNvPr>
            <p:cNvSpPr/>
            <p:nvPr/>
          </p:nvSpPr>
          <p:spPr>
            <a:xfrm>
              <a:off x="701211" y="2160000"/>
              <a:ext cx="1080000" cy="432000"/>
            </a:xfrm>
            <a:prstGeom prst="cube">
              <a:avLst/>
            </a:prstGeom>
            <a:solidFill>
              <a:schemeClr val="accent2"/>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050" dirty="0">
                  <a:solidFill>
                    <a:schemeClr val="bg1"/>
                  </a:solidFill>
                </a:rPr>
                <a:t>5 </a:t>
              </a:r>
              <a:r>
                <a:rPr lang="zh-CN" altLang="en-US" sz="1050" dirty="0">
                  <a:solidFill>
                    <a:schemeClr val="bg1"/>
                  </a:solidFill>
                </a:rPr>
                <a:t>应用层</a:t>
              </a:r>
            </a:p>
          </p:txBody>
        </p:sp>
        <p:sp>
          <p:nvSpPr>
            <p:cNvPr id="81" name="圆柱体 80">
              <a:extLst>
                <a:ext uri="{FF2B5EF4-FFF2-40B4-BE49-F238E27FC236}">
                  <a16:creationId xmlns:a16="http://schemas.microsoft.com/office/drawing/2014/main" id="{E40B4C70-7AE9-B7FD-A70C-610D405E5805}"/>
                </a:ext>
              </a:extLst>
            </p:cNvPr>
            <p:cNvSpPr/>
            <p:nvPr/>
          </p:nvSpPr>
          <p:spPr>
            <a:xfrm>
              <a:off x="953211" y="1800000"/>
              <a:ext cx="576000" cy="360000"/>
            </a:xfrm>
            <a:prstGeom prst="can">
              <a:avLst/>
            </a:prstGeom>
            <a:solidFill>
              <a:srgbClr val="FFFF00"/>
            </a:solidFill>
            <a:ln w="63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000" dirty="0">
                  <a:solidFill>
                    <a:sysClr val="windowText" lastClr="000000"/>
                  </a:solidFill>
                </a:rPr>
                <a:t>AP1</a:t>
              </a:r>
              <a:endParaRPr lang="zh-CN" altLang="en-US" sz="1000" dirty="0">
                <a:solidFill>
                  <a:sysClr val="windowText" lastClr="000000"/>
                </a:solidFill>
              </a:endParaRPr>
            </a:p>
          </p:txBody>
        </p:sp>
      </p:gr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no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no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箭头连接符 160"/>
          <p:cNvCxnSpPr/>
          <p:nvPr/>
        </p:nvCxnSpPr>
        <p:spPr>
          <a:xfrm>
            <a:off x="1671704" y="1973300"/>
            <a:ext cx="5761554" cy="0"/>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a:off x="1754257" y="2321828"/>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1754257" y="2675694"/>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754257" y="3071247"/>
            <a:ext cx="2198623" cy="722788"/>
            <a:chOff x="1754257" y="3071247"/>
            <a:chExt cx="2198623" cy="722788"/>
          </a:xfrm>
        </p:grpSpPr>
        <p:cxnSp>
          <p:nvCxnSpPr>
            <p:cNvPr id="164" name="直接箭头连接符 163"/>
            <p:cNvCxnSpPr/>
            <p:nvPr/>
          </p:nvCxnSpPr>
          <p:spPr>
            <a:xfrm>
              <a:off x="1754257"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a:off x="1754257"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1754257"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067116" y="3071247"/>
            <a:ext cx="2291530" cy="722788"/>
            <a:chOff x="5067116" y="3071247"/>
            <a:chExt cx="2198623" cy="722788"/>
          </a:xfrm>
        </p:grpSpPr>
        <p:cxnSp>
          <p:nvCxnSpPr>
            <p:cNvPr id="167" name="直接箭头连接符 166"/>
            <p:cNvCxnSpPr/>
            <p:nvPr/>
          </p:nvCxnSpPr>
          <p:spPr>
            <a:xfrm>
              <a:off x="5067116"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5067116"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p:nvPr/>
          </p:nvCxnSpPr>
          <p:spPr>
            <a:xfrm>
              <a:off x="5067116"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useBgFill="1">
        <p:nvSpPr>
          <p:cNvPr id="131" name="Rectangle 37"/>
          <p:cNvSpPr>
            <a:spLocks noChangeArrowheads="1"/>
          </p:cNvSpPr>
          <p:nvPr/>
        </p:nvSpPr>
        <p:spPr bwMode="auto">
          <a:xfrm>
            <a:off x="2961614" y="1870804"/>
            <a:ext cx="482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32" name="Rectangle 34"/>
          <p:cNvSpPr>
            <a:spLocks noChangeArrowheads="1"/>
          </p:cNvSpPr>
          <p:nvPr/>
        </p:nvSpPr>
        <p:spPr bwMode="auto">
          <a:xfrm>
            <a:off x="2738414" y="2209361"/>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useBgFill="1">
        <p:nvSpPr>
          <p:cNvPr id="133" name="Rectangle 37"/>
          <p:cNvSpPr>
            <a:spLocks noChangeArrowheads="1"/>
          </p:cNvSpPr>
          <p:nvPr/>
        </p:nvSpPr>
        <p:spPr bwMode="auto">
          <a:xfrm>
            <a:off x="2961614" y="2209361"/>
            <a:ext cx="482400" cy="244800"/>
          </a:xfrm>
          <a:prstGeom prst="rect">
            <a:avLst/>
          </a:prstGeom>
          <a:ln w="9525">
            <a:solidFill>
              <a:schemeClr val="tx1"/>
            </a:solidFill>
            <a:miter lim="800000"/>
          </a:ln>
        </p:spPr>
        <p:txBody>
          <a:bodyPr wrap="none" anchor="ctr"/>
          <a:lstStyle/>
          <a:p>
            <a:pPr algn="ctr"/>
            <a:r>
              <a:rPr lang="zh-CN" altLang="en-US" sz="1000" dirty="0">
                <a:solidFill>
                  <a:sysClr val="windowText" lastClr="000000"/>
                </a:solidFill>
              </a:rPr>
              <a:t>数 据</a:t>
            </a:r>
          </a:p>
        </p:txBody>
      </p:sp>
      <p:sp>
        <p:nvSpPr>
          <p:cNvPr id="135" name="Rectangle 39"/>
          <p:cNvSpPr>
            <a:spLocks noChangeArrowheads="1"/>
          </p:cNvSpPr>
          <p:nvPr/>
        </p:nvSpPr>
        <p:spPr bwMode="auto">
          <a:xfrm>
            <a:off x="2738414" y="255453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36" name="Rectangle 40"/>
          <p:cNvSpPr>
            <a:spLocks noChangeArrowheads="1"/>
          </p:cNvSpPr>
          <p:nvPr/>
        </p:nvSpPr>
        <p:spPr bwMode="auto">
          <a:xfrm>
            <a:off x="2961614" y="2554531"/>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37" name="Rectangle 66"/>
          <p:cNvSpPr>
            <a:spLocks noChangeArrowheads="1"/>
          </p:cNvSpPr>
          <p:nvPr/>
        </p:nvSpPr>
        <p:spPr bwMode="auto">
          <a:xfrm>
            <a:off x="2515214" y="2554531"/>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41" name="Rectangle 42"/>
          <p:cNvSpPr>
            <a:spLocks noChangeArrowheads="1"/>
          </p:cNvSpPr>
          <p:nvPr/>
        </p:nvSpPr>
        <p:spPr bwMode="auto">
          <a:xfrm>
            <a:off x="2515214" y="2932543"/>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47" name="Rectangle 43"/>
          <p:cNvSpPr>
            <a:spLocks noChangeArrowheads="1"/>
          </p:cNvSpPr>
          <p:nvPr/>
        </p:nvSpPr>
        <p:spPr bwMode="auto">
          <a:xfrm>
            <a:off x="2738414" y="2932543"/>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48" name="Rectangle 44"/>
          <p:cNvSpPr>
            <a:spLocks noChangeArrowheads="1"/>
          </p:cNvSpPr>
          <p:nvPr/>
        </p:nvSpPr>
        <p:spPr bwMode="auto">
          <a:xfrm>
            <a:off x="2961614" y="2932543"/>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49" name="Rectangle 70"/>
          <p:cNvSpPr>
            <a:spLocks noChangeArrowheads="1"/>
          </p:cNvSpPr>
          <p:nvPr/>
        </p:nvSpPr>
        <p:spPr bwMode="auto">
          <a:xfrm>
            <a:off x="2292014" y="2932543"/>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51" name="Rectangle 46"/>
          <p:cNvSpPr>
            <a:spLocks noChangeArrowheads="1"/>
          </p:cNvSpPr>
          <p:nvPr/>
        </p:nvSpPr>
        <p:spPr bwMode="auto">
          <a:xfrm>
            <a:off x="2292014" y="3303460"/>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a:t>H</a:t>
            </a:r>
            <a:r>
              <a:rPr lang="en-US" altLang="zh-CN" sz="1000" baseline="-25000"/>
              <a:t>3</a:t>
            </a:r>
          </a:p>
        </p:txBody>
      </p:sp>
      <p:sp>
        <p:nvSpPr>
          <p:cNvPr id="152" name="Rectangle 47"/>
          <p:cNvSpPr>
            <a:spLocks noChangeArrowheads="1"/>
          </p:cNvSpPr>
          <p:nvPr/>
        </p:nvSpPr>
        <p:spPr bwMode="auto">
          <a:xfrm>
            <a:off x="2515214" y="3303460"/>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53" name="Rectangle 48"/>
          <p:cNvSpPr>
            <a:spLocks noChangeArrowheads="1"/>
          </p:cNvSpPr>
          <p:nvPr/>
        </p:nvSpPr>
        <p:spPr bwMode="auto">
          <a:xfrm>
            <a:off x="2738414" y="3303460"/>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54" name="Rectangle 49"/>
          <p:cNvSpPr>
            <a:spLocks noChangeArrowheads="1"/>
          </p:cNvSpPr>
          <p:nvPr/>
        </p:nvSpPr>
        <p:spPr bwMode="auto">
          <a:xfrm>
            <a:off x="2961614" y="3303460"/>
            <a:ext cx="482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55" name="Rectangle 74"/>
          <p:cNvSpPr>
            <a:spLocks noChangeArrowheads="1"/>
          </p:cNvSpPr>
          <p:nvPr/>
        </p:nvSpPr>
        <p:spPr bwMode="auto">
          <a:xfrm>
            <a:off x="2068814" y="3303460"/>
            <a:ext cx="223200" cy="244800"/>
          </a:xfrm>
          <a:prstGeom prst="rect">
            <a:avLst/>
          </a:prstGeom>
          <a:solidFill>
            <a:srgbClr val="00B050"/>
          </a:solidFill>
          <a:ln w="9525">
            <a:solidFill>
              <a:schemeClr val="tx1"/>
            </a:solidFill>
            <a:miter lim="800000"/>
          </a:ln>
          <a:effectLst/>
        </p:spPr>
        <p:txBody>
          <a:bodyPr wrap="none" anchor="ctr"/>
          <a:lstStyle/>
          <a:p>
            <a:pPr algn="ctr"/>
            <a:r>
              <a:rPr lang="en-US" altLang="zh-CN" sz="1000" dirty="0"/>
              <a:t>H</a:t>
            </a:r>
            <a:r>
              <a:rPr lang="en-US" altLang="zh-CN" sz="1000" baseline="-25000" dirty="0"/>
              <a:t>2</a:t>
            </a:r>
          </a:p>
        </p:txBody>
      </p:sp>
      <p:sp>
        <p:nvSpPr>
          <p:cNvPr id="156" name="Rectangle 78"/>
          <p:cNvSpPr>
            <a:spLocks noChangeArrowheads="1"/>
          </p:cNvSpPr>
          <p:nvPr/>
        </p:nvSpPr>
        <p:spPr bwMode="auto">
          <a:xfrm>
            <a:off x="3444013" y="3303206"/>
            <a:ext cx="223200" cy="245309"/>
          </a:xfrm>
          <a:prstGeom prst="rect">
            <a:avLst/>
          </a:prstGeom>
          <a:solidFill>
            <a:srgbClr val="00B050"/>
          </a:solidFill>
          <a:ln w="9525">
            <a:solidFill>
              <a:schemeClr val="tx1"/>
            </a:solidFill>
            <a:miter lim="800000"/>
          </a:ln>
          <a:effectLst/>
        </p:spPr>
        <p:txBody>
          <a:bodyPr wrap="none" anchor="ctr"/>
          <a:lstStyle/>
          <a:p>
            <a:pPr algn="ctr"/>
            <a:r>
              <a:rPr lang="en-US" altLang="zh-CN" sz="1000" dirty="0"/>
              <a:t>T</a:t>
            </a:r>
            <a:r>
              <a:rPr lang="en-US" altLang="zh-CN" sz="1000" baseline="-25000" dirty="0"/>
              <a:t>2</a:t>
            </a:r>
          </a:p>
        </p:txBody>
      </p:sp>
      <p:sp useBgFill="1">
        <p:nvSpPr>
          <p:cNvPr id="160" name="Rectangle 35"/>
          <p:cNvSpPr>
            <a:spLocks noChangeArrowheads="1"/>
          </p:cNvSpPr>
          <p:nvPr/>
        </p:nvSpPr>
        <p:spPr bwMode="auto">
          <a:xfrm>
            <a:off x="2068816"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10100 </a:t>
            </a:r>
            <a:r>
              <a:rPr lang="zh-CN" altLang="en-US" sz="1000" dirty="0">
                <a:solidFill>
                  <a:srgbClr val="FF0000"/>
                </a:solidFill>
                <a:latin typeface="+mj-lt"/>
                <a:ea typeface="+mj-ea"/>
              </a:rPr>
              <a:t>比特流 </a:t>
            </a:r>
            <a:r>
              <a:rPr lang="en-US" altLang="zh-CN" sz="1000" dirty="0">
                <a:solidFill>
                  <a:srgbClr val="FF0000"/>
                </a:solidFill>
                <a:latin typeface="+mj-lt"/>
                <a:ea typeface="+mj-ea"/>
              </a:rPr>
              <a:t>110100</a:t>
            </a:r>
          </a:p>
        </p:txBody>
      </p:sp>
      <p:sp>
        <p:nvSpPr>
          <p:cNvPr id="83" name="Rectangle 74"/>
          <p:cNvSpPr>
            <a:spLocks noChangeArrowheads="1"/>
          </p:cNvSpPr>
          <p:nvPr/>
        </p:nvSpPr>
        <p:spPr bwMode="auto">
          <a:xfrm>
            <a:off x="5499744" y="3302812"/>
            <a:ext cx="223200" cy="24480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solidFill>
                  <a:schemeClr val="bg1"/>
                </a:solidFill>
              </a:rPr>
              <a:t>H</a:t>
            </a:r>
            <a:r>
              <a:rPr lang="en-US" altLang="zh-CN" sz="1000" baseline="-25000" dirty="0">
                <a:solidFill>
                  <a:schemeClr val="bg1"/>
                </a:solidFill>
              </a:rPr>
              <a:t>2</a:t>
            </a:r>
          </a:p>
        </p:txBody>
      </p:sp>
      <p:sp>
        <p:nvSpPr>
          <p:cNvPr id="89" name="Rectangle 78"/>
          <p:cNvSpPr>
            <a:spLocks noChangeArrowheads="1"/>
          </p:cNvSpPr>
          <p:nvPr/>
        </p:nvSpPr>
        <p:spPr bwMode="auto">
          <a:xfrm>
            <a:off x="6838944" y="3303284"/>
            <a:ext cx="223200"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00" dirty="0"/>
              <a:t>T</a:t>
            </a:r>
            <a:r>
              <a:rPr lang="en-US" altLang="zh-CN" sz="1000" baseline="-25000" dirty="0"/>
              <a:t>2</a:t>
            </a:r>
          </a:p>
        </p:txBody>
      </p:sp>
      <p:sp>
        <p:nvSpPr>
          <p:cNvPr id="97" name="Rectangle 46"/>
          <p:cNvSpPr>
            <a:spLocks noChangeArrowheads="1"/>
          </p:cNvSpPr>
          <p:nvPr/>
        </p:nvSpPr>
        <p:spPr bwMode="auto">
          <a:xfrm>
            <a:off x="5722944" y="330410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98" name="Rectangle 47"/>
          <p:cNvSpPr>
            <a:spLocks noChangeArrowheads="1"/>
          </p:cNvSpPr>
          <p:nvPr/>
        </p:nvSpPr>
        <p:spPr bwMode="auto">
          <a:xfrm>
            <a:off x="5946144" y="330410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a:t>H</a:t>
            </a:r>
            <a:r>
              <a:rPr lang="en-US" altLang="zh-CN" sz="1000" baseline="-25000"/>
              <a:t>4</a:t>
            </a:r>
          </a:p>
        </p:txBody>
      </p:sp>
      <p:sp>
        <p:nvSpPr>
          <p:cNvPr id="101" name="Rectangle 48"/>
          <p:cNvSpPr>
            <a:spLocks noChangeArrowheads="1"/>
          </p:cNvSpPr>
          <p:nvPr/>
        </p:nvSpPr>
        <p:spPr bwMode="auto">
          <a:xfrm>
            <a:off x="6169344" y="330410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02" name="Rectangle 49"/>
          <p:cNvSpPr>
            <a:spLocks noChangeArrowheads="1"/>
          </p:cNvSpPr>
          <p:nvPr/>
        </p:nvSpPr>
        <p:spPr bwMode="auto">
          <a:xfrm>
            <a:off x="6392544" y="3304109"/>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useBgFill="1">
        <p:nvSpPr>
          <p:cNvPr id="103" name="Rectangle 35"/>
          <p:cNvSpPr>
            <a:spLocks noChangeArrowheads="1"/>
          </p:cNvSpPr>
          <p:nvPr/>
        </p:nvSpPr>
        <p:spPr bwMode="auto">
          <a:xfrm>
            <a:off x="5489148" y="3671598"/>
            <a:ext cx="1598222" cy="244475"/>
          </a:xfrm>
          <a:prstGeom prst="rect">
            <a:avLst/>
          </a:prstGeom>
          <a:ln w="9525">
            <a:solidFill>
              <a:schemeClr val="tx1"/>
            </a:solidFill>
            <a:miter lim="800000"/>
          </a:ln>
        </p:spPr>
        <p:txBody>
          <a:bodyPr wrap="none" anchor="ctr"/>
          <a:lstStyle/>
          <a:p>
            <a:pPr algn="ctr"/>
            <a:r>
              <a:rPr lang="en-US" altLang="zh-CN" sz="1000" dirty="0">
                <a:solidFill>
                  <a:srgbClr val="FF0000"/>
                </a:solidFill>
                <a:latin typeface="+mj-lt"/>
                <a:ea typeface="+mj-ea"/>
              </a:rPr>
              <a:t>10101 </a:t>
            </a:r>
            <a:r>
              <a:rPr lang="zh-CN" altLang="en-US" sz="1000" dirty="0">
                <a:solidFill>
                  <a:srgbClr val="FF0000"/>
                </a:solidFill>
                <a:latin typeface="+mj-lt"/>
                <a:ea typeface="+mj-ea"/>
              </a:rPr>
              <a:t>比特</a:t>
            </a:r>
            <a:r>
              <a:rPr lang="zh-CN" altLang="en-US" sz="1000">
                <a:solidFill>
                  <a:srgbClr val="FF0000"/>
                </a:solidFill>
                <a:latin typeface="+mj-lt"/>
                <a:ea typeface="+mj-ea"/>
              </a:rPr>
              <a:t>流 </a:t>
            </a:r>
            <a:r>
              <a:rPr lang="en-US" altLang="zh-CN" sz="1000" dirty="0">
                <a:solidFill>
                  <a:srgbClr val="FF0000"/>
                </a:solidFill>
                <a:latin typeface="+mj-lt"/>
                <a:ea typeface="+mj-ea"/>
              </a:rPr>
              <a:t>110111</a:t>
            </a:r>
          </a:p>
        </p:txBody>
      </p:sp>
      <p:sp>
        <p:nvSpPr>
          <p:cNvPr id="108" name="Rectangle 42"/>
          <p:cNvSpPr>
            <a:spLocks noChangeArrowheads="1"/>
          </p:cNvSpPr>
          <p:nvPr/>
        </p:nvSpPr>
        <p:spPr bwMode="auto">
          <a:xfrm>
            <a:off x="5946144" y="2932328"/>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10" name="Rectangle 43"/>
          <p:cNvSpPr>
            <a:spLocks noChangeArrowheads="1"/>
          </p:cNvSpPr>
          <p:nvPr/>
        </p:nvSpPr>
        <p:spPr bwMode="auto">
          <a:xfrm>
            <a:off x="6169344" y="2932328"/>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12" name="Rectangle 44"/>
          <p:cNvSpPr>
            <a:spLocks noChangeArrowheads="1"/>
          </p:cNvSpPr>
          <p:nvPr/>
        </p:nvSpPr>
        <p:spPr bwMode="auto">
          <a:xfrm>
            <a:off x="6392544" y="2932328"/>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05" name="Rectangle 70"/>
          <p:cNvSpPr>
            <a:spLocks noChangeArrowheads="1"/>
          </p:cNvSpPr>
          <p:nvPr/>
        </p:nvSpPr>
        <p:spPr bwMode="auto">
          <a:xfrm>
            <a:off x="5722944" y="2932758"/>
            <a:ext cx="223200" cy="244800"/>
          </a:xfrm>
          <a:prstGeom prst="rect">
            <a:avLst/>
          </a:prstGeom>
          <a:solidFill>
            <a:srgbClr val="00B0F0"/>
          </a:solidFill>
          <a:ln w="9525">
            <a:solidFill>
              <a:schemeClr val="tx1"/>
            </a:solidFill>
            <a:miter lim="800000"/>
          </a:ln>
          <a:effectLst/>
        </p:spPr>
        <p:txBody>
          <a:bodyPr wrap="none" anchor="ctr"/>
          <a:lstStyle/>
          <a:p>
            <a:pPr algn="ctr"/>
            <a:r>
              <a:rPr lang="en-US" altLang="zh-CN" sz="1000" dirty="0"/>
              <a:t>H</a:t>
            </a:r>
            <a:r>
              <a:rPr lang="en-US" altLang="zh-CN" sz="1000" baseline="-25000" dirty="0"/>
              <a:t>3</a:t>
            </a:r>
          </a:p>
        </p:txBody>
      </p:sp>
      <p:sp>
        <p:nvSpPr>
          <p:cNvPr id="117" name="Rectangle 39"/>
          <p:cNvSpPr>
            <a:spLocks noChangeArrowheads="1"/>
          </p:cNvSpPr>
          <p:nvPr/>
        </p:nvSpPr>
        <p:spPr bwMode="auto">
          <a:xfrm>
            <a:off x="6169344" y="2554801"/>
            <a:ext cx="223200" cy="244800"/>
          </a:xfrm>
          <a:prstGeom prst="rect">
            <a:avLst/>
          </a:prstGeom>
          <a:solidFill>
            <a:schemeClr val="accent2"/>
          </a:solidFill>
          <a:ln w="9525">
            <a:solidFill>
              <a:schemeClr val="tx1"/>
            </a:solidFill>
            <a:miter lim="800000"/>
          </a:ln>
          <a:effectLst/>
        </p:spPr>
        <p:txBody>
          <a:bodyPr wrap="none" anchor="ctr"/>
          <a:lstStyle/>
          <a:p>
            <a:pPr algn="ctr" fontAlgn="auto">
              <a:spcBef>
                <a:spcPts val="0"/>
              </a:spcBef>
              <a:spcAft>
                <a:spcPts val="0"/>
              </a:spcAft>
              <a:defRPr/>
            </a:pPr>
            <a:r>
              <a:rPr lang="en-US" altLang="zh-CN" sz="1000" dirty="0"/>
              <a:t>H</a:t>
            </a:r>
            <a:r>
              <a:rPr lang="en-US" altLang="zh-CN" sz="1000" baseline="-25000" dirty="0"/>
              <a:t>5</a:t>
            </a:r>
          </a:p>
        </p:txBody>
      </p:sp>
      <p:sp>
        <p:nvSpPr>
          <p:cNvPr id="118" name="Rectangle 40"/>
          <p:cNvSpPr>
            <a:spLocks noChangeArrowheads="1"/>
          </p:cNvSpPr>
          <p:nvPr/>
        </p:nvSpPr>
        <p:spPr bwMode="auto">
          <a:xfrm>
            <a:off x="6392544" y="2554801"/>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p:nvSpPr>
          <p:cNvPr id="120" name="Rectangle 66"/>
          <p:cNvSpPr>
            <a:spLocks noChangeArrowheads="1"/>
          </p:cNvSpPr>
          <p:nvPr/>
        </p:nvSpPr>
        <p:spPr bwMode="auto">
          <a:xfrm>
            <a:off x="5946144" y="2554262"/>
            <a:ext cx="223200" cy="244800"/>
          </a:xfrm>
          <a:prstGeom prst="rect">
            <a:avLst/>
          </a:prstGeom>
          <a:solidFill>
            <a:srgbClr val="FFC000"/>
          </a:solidFill>
          <a:ln w="9525">
            <a:solidFill>
              <a:schemeClr val="tx1"/>
            </a:solidFill>
            <a:miter lim="800000"/>
          </a:ln>
          <a:effectLst/>
        </p:spPr>
        <p:txBody>
          <a:bodyPr wrap="none" anchor="ctr"/>
          <a:lstStyle/>
          <a:p>
            <a:pPr algn="ctr"/>
            <a:r>
              <a:rPr lang="en-US" altLang="zh-CN" sz="1000" dirty="0"/>
              <a:t>H</a:t>
            </a:r>
            <a:r>
              <a:rPr lang="en-US" altLang="zh-CN" sz="1000" baseline="-25000" dirty="0"/>
              <a:t>4</a:t>
            </a:r>
          </a:p>
        </p:txBody>
      </p:sp>
      <p:sp>
        <p:nvSpPr>
          <p:cNvPr id="114" name="Rectangle 34"/>
          <p:cNvSpPr>
            <a:spLocks noChangeArrowheads="1"/>
          </p:cNvSpPr>
          <p:nvPr/>
        </p:nvSpPr>
        <p:spPr bwMode="auto">
          <a:xfrm>
            <a:off x="6169344" y="2209527"/>
            <a:ext cx="223200" cy="244800"/>
          </a:xfrm>
          <a:prstGeom prst="rect">
            <a:avLst/>
          </a:prstGeom>
          <a:solidFill>
            <a:schemeClr val="accent2"/>
          </a:solidFill>
          <a:ln w="9525">
            <a:solidFill>
              <a:schemeClr val="tx1"/>
            </a:solidFill>
            <a:miter lim="800000"/>
          </a:ln>
          <a:effectLst/>
        </p:spPr>
        <p:txBody>
          <a:bodyPr wrap="none" anchor="ctr"/>
          <a:lstStyle/>
          <a:p>
            <a:pPr algn="ctr"/>
            <a:r>
              <a:rPr lang="en-US" altLang="zh-CN" sz="1000" dirty="0"/>
              <a:t>H</a:t>
            </a:r>
            <a:r>
              <a:rPr lang="en-US" altLang="zh-CN" sz="1000" baseline="-25000" dirty="0"/>
              <a:t>5</a:t>
            </a:r>
          </a:p>
        </p:txBody>
      </p:sp>
      <p:sp>
        <p:nvSpPr>
          <p:cNvPr id="115" name="Rectangle 37"/>
          <p:cNvSpPr>
            <a:spLocks noChangeArrowheads="1"/>
          </p:cNvSpPr>
          <p:nvPr/>
        </p:nvSpPr>
        <p:spPr bwMode="auto">
          <a:xfrm>
            <a:off x="6392544" y="2209195"/>
            <a:ext cx="446400" cy="244800"/>
          </a:xfrm>
          <a:prstGeom prst="rect">
            <a:avLst/>
          </a:prstGeom>
          <a:solidFill>
            <a:schemeClr val="bg1"/>
          </a:solidFill>
          <a:ln w="9525">
            <a:solidFill>
              <a:schemeClr val="tx1"/>
            </a:solidFill>
            <a:miter lim="800000"/>
          </a:ln>
        </p:spPr>
        <p:txBody>
          <a:bodyPr wrap="none" anchor="ctr"/>
          <a:lstStyle/>
          <a:p>
            <a:pPr algn="ctr"/>
            <a:r>
              <a:rPr lang="zh-CN" altLang="en-US" sz="1000" dirty="0"/>
              <a:t>数 据</a:t>
            </a:r>
          </a:p>
        </p:txBody>
      </p:sp>
      <p:sp useBgFill="1">
        <p:nvSpPr>
          <p:cNvPr id="129" name="Rectangle 37"/>
          <p:cNvSpPr>
            <a:spLocks noChangeArrowheads="1"/>
          </p:cNvSpPr>
          <p:nvPr/>
        </p:nvSpPr>
        <p:spPr bwMode="auto">
          <a:xfrm>
            <a:off x="6392544" y="1870804"/>
            <a:ext cx="446400" cy="244800"/>
          </a:xfrm>
          <a:prstGeom prst="rect">
            <a:avLst/>
          </a:prstGeom>
          <a:ln w="9525">
            <a:solidFill>
              <a:schemeClr val="tx1"/>
            </a:solidFill>
            <a:miter lim="800000"/>
          </a:ln>
        </p:spPr>
        <p:txBody>
          <a:bodyPr wrap="none" anchor="ctr"/>
          <a:lstStyle/>
          <a:p>
            <a:pPr algn="ctr"/>
            <a:r>
              <a:rPr lang="zh-CN" altLang="en-US" sz="1000" dirty="0"/>
              <a:t>数 据</a:t>
            </a:r>
          </a:p>
        </p:txBody>
      </p:sp>
      <p:sp>
        <p:nvSpPr>
          <p:cNvPr id="170" name="矩形 169"/>
          <p:cNvSpPr/>
          <p:nvPr/>
        </p:nvSpPr>
        <p:spPr>
          <a:xfrm>
            <a:off x="2979490" y="2219763"/>
            <a:ext cx="464524" cy="22399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2" name="标题 1">
            <a:extLst>
              <a:ext uri="{FF2B5EF4-FFF2-40B4-BE49-F238E27FC236}">
                <a16:creationId xmlns:a16="http://schemas.microsoft.com/office/drawing/2014/main" id="{EF19D203-8B67-6E15-1737-30D24AF777A5}"/>
              </a:ext>
            </a:extLst>
          </p:cNvPr>
          <p:cNvSpPr>
            <a:spLocks noGrp="1"/>
          </p:cNvSpPr>
          <p:nvPr>
            <p:ph type="title"/>
          </p:nvPr>
        </p:nvSpPr>
        <p:spPr>
          <a:xfrm>
            <a:off x="612000" y="144000"/>
            <a:ext cx="7920000" cy="341632"/>
          </a:xfrm>
        </p:spPr>
        <p:txBody>
          <a:bodyPr/>
          <a:lstStyle/>
          <a:p>
            <a:r>
              <a:rPr lang="zh-CN" altLang="en-US" dirty="0"/>
              <a:t>数据在各层之间的传递过程</a:t>
            </a:r>
          </a:p>
        </p:txBody>
      </p:sp>
    </p:spTree>
    <p:extLst>
      <p:ext uri="{BB962C8B-B14F-4D97-AF65-F5344CB8AC3E}">
        <p14:creationId xmlns:p14="http://schemas.microsoft.com/office/powerpoint/2010/main" val="25166082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C3A8946-77D2-E54E-957D-B45FCD43C197}"/>
              </a:ext>
            </a:extLst>
          </p:cNvPr>
          <p:cNvSpPr>
            <a:spLocks noGrp="1"/>
          </p:cNvSpPr>
          <p:nvPr>
            <p:ph type="title"/>
          </p:nvPr>
        </p:nvSpPr>
        <p:spPr>
          <a:xfrm>
            <a:off x="612000" y="144000"/>
            <a:ext cx="7920000" cy="341632"/>
          </a:xfrm>
        </p:spPr>
        <p:txBody>
          <a:bodyPr/>
          <a:lstStyle/>
          <a:p>
            <a:r>
              <a:rPr lang="zh-CN" altLang="en-US" dirty="0"/>
              <a:t>对等层与协议数据单元</a:t>
            </a:r>
          </a:p>
        </p:txBody>
      </p:sp>
      <p:sp>
        <p:nvSpPr>
          <p:cNvPr id="3" name="内容占位符 2"/>
          <p:cNvSpPr>
            <a:spLocks noGrp="1"/>
          </p:cNvSpPr>
          <p:nvPr>
            <p:ph sz="quarter" idx="10"/>
          </p:nvPr>
        </p:nvSpPr>
        <p:spPr>
          <a:xfrm>
            <a:off x="612000" y="899999"/>
            <a:ext cx="7920000" cy="3780000"/>
          </a:xfrm>
        </p:spPr>
        <p:txBody>
          <a:bodyPr/>
          <a:lstStyle/>
          <a:p>
            <a:r>
              <a:rPr lang="zh-CN" altLang="en-US" dirty="0"/>
              <a:t>对等层通信</a:t>
            </a:r>
            <a:endParaRPr lang="en-US" altLang="zh-CN" dirty="0"/>
          </a:p>
          <a:p>
            <a:pPr lvl="1"/>
            <a:r>
              <a:rPr lang="zh-CN" altLang="en-US" dirty="0"/>
              <a:t>任何两个同样的层次数据单元加上控制信息通过水平虚线直接传递给对方</a:t>
            </a:r>
          </a:p>
          <a:p>
            <a:r>
              <a:rPr lang="zh-CN" altLang="en-US" dirty="0"/>
              <a:t>协议数据单元 </a:t>
            </a:r>
            <a:r>
              <a:rPr lang="en-US" altLang="zh-CN" dirty="0"/>
              <a:t>PDU (Protocol Data Unit)</a:t>
            </a:r>
          </a:p>
          <a:p>
            <a:pPr lvl="1"/>
            <a:r>
              <a:rPr lang="en-US" altLang="zh-CN" dirty="0"/>
              <a:t>OSI </a:t>
            </a:r>
            <a:r>
              <a:rPr lang="zh-CN" altLang="en-US" dirty="0"/>
              <a:t>参考模型把对等层次之间传送的数据单位</a:t>
            </a:r>
            <a:endParaRPr lang="en-US" altLang="zh-CN" dirty="0"/>
          </a:p>
        </p:txBody>
      </p:sp>
      <p:sp>
        <p:nvSpPr>
          <p:cNvPr id="7" name="矩形 5"/>
          <p:cNvSpPr>
            <a:spLocks noChangeArrowheads="1"/>
          </p:cNvSpPr>
          <p:nvPr/>
        </p:nvSpPr>
        <p:spPr bwMode="auto">
          <a:xfrm>
            <a:off x="943941" y="3709734"/>
            <a:ext cx="7345262" cy="307777"/>
          </a:xfrm>
          <a:prstGeom prst="rect">
            <a:avLst/>
          </a:prstGeom>
          <a:noFill/>
        </p:spPr>
        <p:txBody>
          <a:bodyPr wrap="square" rtlCol="0">
            <a:spAutoFit/>
          </a:bodyPr>
          <a:lstStyle/>
          <a:p>
            <a:pPr algn="ctr"/>
            <a:r>
              <a:rPr lang="zh-CN" altLang="en-US" sz="1400" dirty="0">
                <a:solidFill>
                  <a:srgbClr val="D4237A"/>
                </a:solidFill>
                <a:ea typeface="+mj-ea"/>
              </a:rPr>
              <a:t>各层协议实际上就是在各个对等层之间传递数据时的各项规定</a:t>
            </a:r>
          </a:p>
        </p:txBody>
      </p:sp>
    </p:spTree>
    <p:extLst>
      <p:ext uri="{BB962C8B-B14F-4D97-AF65-F5344CB8AC3E}">
        <p14:creationId xmlns:p14="http://schemas.microsoft.com/office/powerpoint/2010/main" val="5589178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B7B5B3B-5516-A4CA-46C9-0EACD95AD30C}"/>
              </a:ext>
            </a:extLst>
          </p:cNvPr>
          <p:cNvSpPr>
            <a:spLocks noGrp="1"/>
          </p:cNvSpPr>
          <p:nvPr>
            <p:ph type="title"/>
          </p:nvPr>
        </p:nvSpPr>
        <p:spPr>
          <a:xfrm>
            <a:off x="612000" y="144000"/>
            <a:ext cx="7920000" cy="341632"/>
          </a:xfrm>
        </p:spPr>
        <p:txBody>
          <a:bodyPr/>
          <a:lstStyle/>
          <a:p>
            <a:r>
              <a:rPr lang="en-US" altLang="zh-CN" dirty="0"/>
              <a:t>1.7.4  </a:t>
            </a:r>
            <a:r>
              <a:rPr lang="zh-CN" altLang="zh-CN" dirty="0"/>
              <a:t>实体、协议、服务和服务访问点</a:t>
            </a:r>
            <a:endParaRPr lang="zh-CN" altLang="en-US" dirty="0"/>
          </a:p>
        </p:txBody>
      </p:sp>
      <p:sp>
        <p:nvSpPr>
          <p:cNvPr id="5" name="内容占位符 4"/>
          <p:cNvSpPr>
            <a:spLocks noGrp="1"/>
          </p:cNvSpPr>
          <p:nvPr>
            <p:ph sz="quarter" idx="10"/>
          </p:nvPr>
        </p:nvSpPr>
        <p:spPr>
          <a:xfrm>
            <a:off x="612000" y="899999"/>
            <a:ext cx="7920000" cy="3780000"/>
          </a:xfrm>
        </p:spPr>
        <p:txBody>
          <a:bodyPr>
            <a:normAutofit lnSpcReduction="10000"/>
          </a:bodyPr>
          <a:lstStyle/>
          <a:p>
            <a:r>
              <a:rPr lang="zh-CN" altLang="en-US" dirty="0"/>
              <a:t>实体 </a:t>
            </a:r>
            <a:r>
              <a:rPr lang="en-US" altLang="zh-CN" dirty="0"/>
              <a:t>Entity</a:t>
            </a:r>
            <a:r>
              <a:rPr lang="zh-CN" altLang="en-US" dirty="0"/>
              <a:t>：</a:t>
            </a:r>
            <a:endParaRPr lang="en-US" altLang="zh-CN" dirty="0"/>
          </a:p>
          <a:p>
            <a:pPr lvl="1"/>
            <a:r>
              <a:rPr lang="zh-CN" altLang="en-US" dirty="0"/>
              <a:t>任何可发送或接收信息的硬件或软件进程</a:t>
            </a:r>
          </a:p>
          <a:p>
            <a:r>
              <a:rPr lang="zh-CN" altLang="en-US" dirty="0"/>
              <a:t>协议 </a:t>
            </a:r>
            <a:r>
              <a:rPr lang="en-US" altLang="zh-CN" dirty="0"/>
              <a:t>Protocol</a:t>
            </a:r>
            <a:r>
              <a:rPr lang="zh-CN" altLang="en-US" dirty="0"/>
              <a:t>：</a:t>
            </a:r>
            <a:endParaRPr lang="en-US" altLang="zh-CN" dirty="0"/>
          </a:p>
          <a:p>
            <a:pPr lvl="1"/>
            <a:r>
              <a:rPr lang="zh-CN" altLang="en-US" dirty="0"/>
              <a:t>控制两个对等实体进行通信的规则的集合</a:t>
            </a:r>
          </a:p>
          <a:p>
            <a:pPr lvl="1"/>
            <a:r>
              <a:rPr lang="zh-CN" altLang="en-US" dirty="0"/>
              <a:t>在协议的控制下，两个对等实体间的通信使得本层能够向上一层提供服务</a:t>
            </a:r>
          </a:p>
          <a:p>
            <a:pPr lvl="1"/>
            <a:r>
              <a:rPr lang="zh-CN" altLang="en-US" dirty="0"/>
              <a:t>要实现本层协议，还需要使用下层所提供的服务</a:t>
            </a:r>
            <a:endParaRPr lang="en-US" altLang="zh-CN" dirty="0"/>
          </a:p>
          <a:p>
            <a:r>
              <a:rPr lang="zh-CN" altLang="en-US" dirty="0"/>
              <a:t>服务访问点 </a:t>
            </a:r>
            <a:r>
              <a:rPr lang="en-US" altLang="zh-CN" dirty="0"/>
              <a:t>SAP (Service Access Point)</a:t>
            </a:r>
          </a:p>
          <a:p>
            <a:pPr lvl="1"/>
            <a:r>
              <a:rPr lang="zh-CN" altLang="en-US" dirty="0"/>
              <a:t>同一系统中相邻两层的实体进行交互（即交换信息）</a:t>
            </a:r>
            <a:r>
              <a:rPr lang="en-US" altLang="zh-CN" dirty="0"/>
              <a:t> </a:t>
            </a:r>
            <a:r>
              <a:rPr lang="zh-CN" altLang="en-US" dirty="0"/>
              <a:t>的地方</a:t>
            </a:r>
            <a:endParaRPr lang="en-US" altLang="zh-CN" dirty="0"/>
          </a:p>
          <a:p>
            <a:pPr lvl="1"/>
            <a:r>
              <a:rPr lang="en-US" altLang="zh-CN" dirty="0"/>
              <a:t>SAP </a:t>
            </a:r>
            <a:r>
              <a:rPr lang="zh-CN" altLang="en-US" dirty="0"/>
              <a:t>是一个抽象的概念，是一个逻辑接口</a:t>
            </a:r>
            <a:endParaRPr lang="en-US" altLang="zh-CN" dirty="0"/>
          </a:p>
          <a:p>
            <a:r>
              <a:rPr lang="zh-CN" altLang="en-US" dirty="0"/>
              <a:t>服务数据单元 </a:t>
            </a:r>
            <a:r>
              <a:rPr lang="en-US" altLang="zh-CN" dirty="0"/>
              <a:t>SDU (Service Data Unit) </a:t>
            </a:r>
          </a:p>
          <a:p>
            <a:pPr lvl="1"/>
            <a:r>
              <a:rPr lang="zh-CN" altLang="en-US" dirty="0"/>
              <a:t>层与层之间交换的数据的单位</a:t>
            </a:r>
          </a:p>
          <a:p>
            <a:pPr lvl="1"/>
            <a:r>
              <a:rPr lang="en-US" altLang="zh-CN" dirty="0"/>
              <a:t>SDU </a:t>
            </a:r>
            <a:r>
              <a:rPr lang="zh-CN" altLang="en-US" dirty="0"/>
              <a:t>可以与 </a:t>
            </a:r>
            <a:r>
              <a:rPr lang="en-US" altLang="zh-CN" dirty="0"/>
              <a:t>PDU </a:t>
            </a:r>
            <a:r>
              <a:rPr lang="zh-CN" altLang="en-US" dirty="0"/>
              <a:t>不一样</a:t>
            </a:r>
            <a:endParaRPr lang="en-US" altLang="zh-CN" dirty="0"/>
          </a:p>
          <a:p>
            <a:pPr lvl="1"/>
            <a:r>
              <a:rPr lang="zh-CN" altLang="en-US" dirty="0"/>
              <a:t>可以是多个 </a:t>
            </a:r>
            <a:r>
              <a:rPr lang="en-US" altLang="zh-CN" dirty="0"/>
              <a:t>SDU </a:t>
            </a:r>
            <a:r>
              <a:rPr lang="zh-CN" altLang="en-US" dirty="0"/>
              <a:t>合成为一个 </a:t>
            </a:r>
            <a:r>
              <a:rPr lang="en-US" altLang="zh-CN" dirty="0"/>
              <a:t>PDU</a:t>
            </a:r>
            <a:r>
              <a:rPr lang="zh-CN" altLang="en-US" dirty="0"/>
              <a:t>，也可以是一个 </a:t>
            </a:r>
            <a:r>
              <a:rPr lang="en-US" altLang="zh-CN" dirty="0"/>
              <a:t>SDU </a:t>
            </a:r>
            <a:r>
              <a:rPr lang="zh-CN" altLang="en-US" dirty="0"/>
              <a:t>划分为几个 </a:t>
            </a:r>
            <a:r>
              <a:rPr lang="en-US" altLang="zh-CN" dirty="0"/>
              <a:t>PDU</a:t>
            </a:r>
            <a:endParaRPr lang="zh-CN" altLang="en-US" dirty="0"/>
          </a:p>
        </p:txBody>
      </p:sp>
    </p:spTree>
    <p:extLst>
      <p:ext uri="{BB962C8B-B14F-4D97-AF65-F5344CB8AC3E}">
        <p14:creationId xmlns:p14="http://schemas.microsoft.com/office/powerpoint/2010/main" val="8169826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F5F8635-B251-BD85-9ACD-D2DB005C285E}"/>
              </a:ext>
            </a:extLst>
          </p:cNvPr>
          <p:cNvSpPr>
            <a:spLocks noGrp="1"/>
          </p:cNvSpPr>
          <p:nvPr>
            <p:ph type="title"/>
          </p:nvPr>
        </p:nvSpPr>
        <p:spPr>
          <a:xfrm>
            <a:off x="612000" y="144000"/>
            <a:ext cx="7920000" cy="341632"/>
          </a:xfrm>
        </p:spPr>
        <p:txBody>
          <a:bodyPr/>
          <a:lstStyle/>
          <a:p>
            <a:r>
              <a:rPr lang="zh-CN" altLang="en-US" dirty="0"/>
              <a:t>注意：协议和服务在概念上是不一样的</a:t>
            </a:r>
          </a:p>
        </p:txBody>
      </p:sp>
      <p:sp>
        <p:nvSpPr>
          <p:cNvPr id="5" name="任意多边形: 形状 4">
            <a:extLst>
              <a:ext uri="{FF2B5EF4-FFF2-40B4-BE49-F238E27FC236}">
                <a16:creationId xmlns:a16="http://schemas.microsoft.com/office/drawing/2014/main" id="{19158974-7CB6-2460-8286-8CA8D291F5BC}"/>
              </a:ext>
            </a:extLst>
          </p:cNvPr>
          <p:cNvSpPr/>
          <p:nvPr/>
        </p:nvSpPr>
        <p:spPr>
          <a:xfrm>
            <a:off x="1223287" y="1453054"/>
            <a:ext cx="281158" cy="815081"/>
          </a:xfrm>
          <a:custGeom>
            <a:avLst/>
            <a:gdLst/>
            <a:ahLst/>
            <a:cxnLst/>
            <a:rect l="0" t="0" r="0" b="0"/>
            <a:pathLst>
              <a:path>
                <a:moveTo>
                  <a:pt x="0" y="0"/>
                </a:moveTo>
                <a:lnTo>
                  <a:pt x="0" y="815081"/>
                </a:lnTo>
                <a:lnTo>
                  <a:pt x="281158" y="815081"/>
                </a:lnTo>
              </a:path>
            </a:pathLst>
          </a:custGeom>
          <a:noFill/>
          <a:ln>
            <a:solidFill>
              <a:schemeClr val="accent1"/>
            </a:solidFill>
          </a:ln>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任意多边形: 形状 6">
            <a:extLst>
              <a:ext uri="{FF2B5EF4-FFF2-40B4-BE49-F238E27FC236}">
                <a16:creationId xmlns:a16="http://schemas.microsoft.com/office/drawing/2014/main" id="{291EC1DB-91F6-1D7D-AE24-559FD76199B0}"/>
              </a:ext>
            </a:extLst>
          </p:cNvPr>
          <p:cNvSpPr/>
          <p:nvPr/>
        </p:nvSpPr>
        <p:spPr>
          <a:xfrm>
            <a:off x="1504445" y="2021420"/>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p:spPr>
        <p:style>
          <a:lnRef idx="1">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solidFill>
                  <a:srgbClr val="0070C0"/>
                </a:solidFill>
              </a:rPr>
              <a:t>其实现保证了能够向上一层提供服务</a:t>
            </a:r>
          </a:p>
        </p:txBody>
      </p:sp>
      <p:sp>
        <p:nvSpPr>
          <p:cNvPr id="8" name="任意多边形: 形状 7">
            <a:extLst>
              <a:ext uri="{FF2B5EF4-FFF2-40B4-BE49-F238E27FC236}">
                <a16:creationId xmlns:a16="http://schemas.microsoft.com/office/drawing/2014/main" id="{6B08ED4A-6015-188F-B20B-97107100D354}"/>
              </a:ext>
            </a:extLst>
          </p:cNvPr>
          <p:cNvSpPr/>
          <p:nvPr/>
        </p:nvSpPr>
        <p:spPr>
          <a:xfrm>
            <a:off x="1223287" y="1453054"/>
            <a:ext cx="281158" cy="1876878"/>
          </a:xfrm>
          <a:custGeom>
            <a:avLst/>
            <a:gdLst/>
            <a:ahLst/>
            <a:cxnLst/>
            <a:rect l="0" t="0" r="0" b="0"/>
            <a:pathLst>
              <a:path>
                <a:moveTo>
                  <a:pt x="0" y="0"/>
                </a:moveTo>
                <a:lnTo>
                  <a:pt x="0" y="1876878"/>
                </a:lnTo>
                <a:lnTo>
                  <a:pt x="281158" y="1876878"/>
                </a:lnTo>
              </a:path>
            </a:pathLst>
          </a:custGeom>
          <a:noFill/>
          <a:ln>
            <a:solidFill>
              <a:schemeClr val="accent1"/>
            </a:solidFill>
          </a:ln>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9" name="任意多边形: 形状 8">
            <a:extLst>
              <a:ext uri="{FF2B5EF4-FFF2-40B4-BE49-F238E27FC236}">
                <a16:creationId xmlns:a16="http://schemas.microsoft.com/office/drawing/2014/main" id="{7C84AE96-AF6F-22A3-A7BF-29F27A6A3BEC}"/>
              </a:ext>
            </a:extLst>
          </p:cNvPr>
          <p:cNvSpPr/>
          <p:nvPr/>
        </p:nvSpPr>
        <p:spPr>
          <a:xfrm>
            <a:off x="1504445" y="3083217"/>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a:solidFill>
            <a:prstClr val="white">
              <a:alpha val="90000"/>
              <a:hueOff val="0"/>
              <a:satOff val="0"/>
              <a:lumOff val="0"/>
              <a:alphaOff val="0"/>
            </a:prstClr>
          </a:solidFill>
          <a:ln w="6350" cap="flat" cmpd="sng" algn="ctr">
            <a:solidFill>
              <a:srgbClr val="5B9BD5">
                <a:hueOff val="0"/>
                <a:satOff val="0"/>
                <a:lumOff val="0"/>
                <a:alphaOff val="0"/>
              </a:srgbClr>
            </a:solidFill>
            <a:prstDash val="solid"/>
            <a:miter lim="800000"/>
          </a:ln>
          <a:effectLst/>
        </p:spPr>
        <p:style>
          <a:lnRef idx="1">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solidFill>
                  <a:srgbClr val="0070C0"/>
                </a:solidFill>
              </a:rPr>
              <a:t>对上面的服务用户是透明的 </a:t>
            </a:r>
          </a:p>
        </p:txBody>
      </p:sp>
      <p:sp>
        <p:nvSpPr>
          <p:cNvPr id="10" name="任意多边形: 形状 9">
            <a:extLst>
              <a:ext uri="{FF2B5EF4-FFF2-40B4-BE49-F238E27FC236}">
                <a16:creationId xmlns:a16="http://schemas.microsoft.com/office/drawing/2014/main" id="{BC696ECD-57B0-4A9A-622A-6A229393BD19}"/>
              </a:ext>
            </a:extLst>
          </p:cNvPr>
          <p:cNvSpPr/>
          <p:nvPr/>
        </p:nvSpPr>
        <p:spPr>
          <a:xfrm>
            <a:off x="1223287" y="1453054"/>
            <a:ext cx="281158" cy="2938675"/>
          </a:xfrm>
          <a:custGeom>
            <a:avLst/>
            <a:gdLst/>
            <a:ahLst/>
            <a:cxnLst/>
            <a:rect l="0" t="0" r="0" b="0"/>
            <a:pathLst>
              <a:path>
                <a:moveTo>
                  <a:pt x="0" y="0"/>
                </a:moveTo>
                <a:lnTo>
                  <a:pt x="0" y="2938675"/>
                </a:lnTo>
                <a:lnTo>
                  <a:pt x="281158" y="2938675"/>
                </a:lnTo>
              </a:path>
            </a:pathLst>
          </a:custGeom>
          <a:noFill/>
          <a:ln>
            <a:solidFill>
              <a:schemeClr val="accent1"/>
            </a:solidFill>
          </a:ln>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1" name="任意多边形: 形状 10">
            <a:extLst>
              <a:ext uri="{FF2B5EF4-FFF2-40B4-BE49-F238E27FC236}">
                <a16:creationId xmlns:a16="http://schemas.microsoft.com/office/drawing/2014/main" id="{0622F2AD-F243-5477-B169-7F6A423F407A}"/>
              </a:ext>
            </a:extLst>
          </p:cNvPr>
          <p:cNvSpPr/>
          <p:nvPr/>
        </p:nvSpPr>
        <p:spPr>
          <a:xfrm>
            <a:off x="1504445" y="4145014"/>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p:spPr>
        <p:style>
          <a:lnRef idx="1">
            <a:schemeClr val="accent5">
              <a:hueOff val="-2703417"/>
              <a:satOff val="-6968"/>
              <a:lumOff val="-47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solidFill>
                  <a:srgbClr val="0070C0"/>
                </a:solidFill>
              </a:rPr>
              <a:t>是“水平的”</a:t>
            </a:r>
          </a:p>
        </p:txBody>
      </p:sp>
      <p:sp>
        <p:nvSpPr>
          <p:cNvPr id="13" name="任意多边形: 形状 12">
            <a:extLst>
              <a:ext uri="{FF2B5EF4-FFF2-40B4-BE49-F238E27FC236}">
                <a16:creationId xmlns:a16="http://schemas.microsoft.com/office/drawing/2014/main" id="{5244F3FC-4E83-C7CC-BB6D-8B4DEFAE9B44}"/>
              </a:ext>
            </a:extLst>
          </p:cNvPr>
          <p:cNvSpPr/>
          <p:nvPr/>
        </p:nvSpPr>
        <p:spPr>
          <a:xfrm>
            <a:off x="5171607" y="1453054"/>
            <a:ext cx="281158" cy="815081"/>
          </a:xfrm>
          <a:custGeom>
            <a:avLst/>
            <a:gdLst/>
            <a:ahLst/>
            <a:cxnLst/>
            <a:rect l="0" t="0" r="0" b="0"/>
            <a:pathLst>
              <a:path>
                <a:moveTo>
                  <a:pt x="0" y="0"/>
                </a:moveTo>
                <a:lnTo>
                  <a:pt x="0" y="815081"/>
                </a:lnTo>
                <a:lnTo>
                  <a:pt x="281158" y="815081"/>
                </a:lnTo>
              </a:path>
            </a:pathLst>
          </a:custGeom>
          <a:noFill/>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4" name="任意多边形: 形状 13">
            <a:extLst>
              <a:ext uri="{FF2B5EF4-FFF2-40B4-BE49-F238E27FC236}">
                <a16:creationId xmlns:a16="http://schemas.microsoft.com/office/drawing/2014/main" id="{B731F3C5-19DD-CE92-CA7A-0BE6D73D4F56}"/>
              </a:ext>
            </a:extLst>
          </p:cNvPr>
          <p:cNvSpPr/>
          <p:nvPr/>
        </p:nvSpPr>
        <p:spPr>
          <a:xfrm>
            <a:off x="5452765" y="2021420"/>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p:spPr>
        <p:style>
          <a:lnRef idx="1">
            <a:schemeClr val="accent5">
              <a:hueOff val="-4055126"/>
              <a:satOff val="-10451"/>
              <a:lumOff val="-705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t>上层使用服务原语获得下层所提供的服务</a:t>
            </a:r>
          </a:p>
        </p:txBody>
      </p:sp>
      <p:sp>
        <p:nvSpPr>
          <p:cNvPr id="15" name="任意多边形: 形状 14">
            <a:extLst>
              <a:ext uri="{FF2B5EF4-FFF2-40B4-BE49-F238E27FC236}">
                <a16:creationId xmlns:a16="http://schemas.microsoft.com/office/drawing/2014/main" id="{C7EC4CE9-4E1A-E45A-DD92-0C9D4BF3ED80}"/>
              </a:ext>
            </a:extLst>
          </p:cNvPr>
          <p:cNvSpPr/>
          <p:nvPr/>
        </p:nvSpPr>
        <p:spPr>
          <a:xfrm>
            <a:off x="5171607" y="1453054"/>
            <a:ext cx="281158" cy="1876878"/>
          </a:xfrm>
          <a:custGeom>
            <a:avLst/>
            <a:gdLst/>
            <a:ahLst/>
            <a:cxnLst/>
            <a:rect l="0" t="0" r="0" b="0"/>
            <a:pathLst>
              <a:path>
                <a:moveTo>
                  <a:pt x="0" y="0"/>
                </a:moveTo>
                <a:lnTo>
                  <a:pt x="0" y="1876878"/>
                </a:lnTo>
                <a:lnTo>
                  <a:pt x="281158" y="1876878"/>
                </a:lnTo>
              </a:path>
            </a:pathLst>
          </a:custGeom>
          <a:noFill/>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6" name="任意多边形: 形状 15">
            <a:extLst>
              <a:ext uri="{FF2B5EF4-FFF2-40B4-BE49-F238E27FC236}">
                <a16:creationId xmlns:a16="http://schemas.microsoft.com/office/drawing/2014/main" id="{B29B1956-83EF-5399-D889-4B022CE4A622}"/>
              </a:ext>
            </a:extLst>
          </p:cNvPr>
          <p:cNvSpPr/>
          <p:nvPr/>
        </p:nvSpPr>
        <p:spPr>
          <a:xfrm>
            <a:off x="5452765" y="3083217"/>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p:spPr>
        <p:style>
          <a:lnRef idx="1">
            <a:schemeClr val="accent5">
              <a:hueOff val="-5406834"/>
              <a:satOff val="-13935"/>
              <a:lumOff val="-941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t>上面的服务用户只能看见服务，无法看见下面的协议</a:t>
            </a:r>
          </a:p>
        </p:txBody>
      </p:sp>
      <p:sp>
        <p:nvSpPr>
          <p:cNvPr id="17" name="任意多边形: 形状 16">
            <a:extLst>
              <a:ext uri="{FF2B5EF4-FFF2-40B4-BE49-F238E27FC236}">
                <a16:creationId xmlns:a16="http://schemas.microsoft.com/office/drawing/2014/main" id="{E434FFF7-21D3-2790-B736-58069FA991B5}"/>
              </a:ext>
            </a:extLst>
          </p:cNvPr>
          <p:cNvSpPr/>
          <p:nvPr/>
        </p:nvSpPr>
        <p:spPr>
          <a:xfrm>
            <a:off x="5171607" y="1453054"/>
            <a:ext cx="281158" cy="2938675"/>
          </a:xfrm>
          <a:custGeom>
            <a:avLst/>
            <a:gdLst/>
            <a:ahLst/>
            <a:cxnLst/>
            <a:rect l="0" t="0" r="0" b="0"/>
            <a:pathLst>
              <a:path>
                <a:moveTo>
                  <a:pt x="0" y="0"/>
                </a:moveTo>
                <a:lnTo>
                  <a:pt x="0" y="2938675"/>
                </a:lnTo>
                <a:lnTo>
                  <a:pt x="281158" y="2938675"/>
                </a:lnTo>
              </a:path>
            </a:pathLst>
          </a:custGeom>
          <a:noFill/>
        </p:spPr>
        <p:style>
          <a:lnRef idx="1">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8" name="任意多边形: 形状 17">
            <a:extLst>
              <a:ext uri="{FF2B5EF4-FFF2-40B4-BE49-F238E27FC236}">
                <a16:creationId xmlns:a16="http://schemas.microsoft.com/office/drawing/2014/main" id="{B71D4C59-3A00-FF3F-4887-840307128895}"/>
              </a:ext>
            </a:extLst>
          </p:cNvPr>
          <p:cNvSpPr/>
          <p:nvPr/>
        </p:nvSpPr>
        <p:spPr>
          <a:xfrm>
            <a:off x="5452765" y="4145014"/>
            <a:ext cx="2880000" cy="504000"/>
          </a:xfrm>
          <a:custGeom>
            <a:avLst/>
            <a:gdLst>
              <a:gd name="csX0" fmla="*/ 0 w 2749105"/>
              <a:gd name="csY0" fmla="*/ 49343 h 493432"/>
              <a:gd name="csX1" fmla="*/ 49343 w 2749105"/>
              <a:gd name="csY1" fmla="*/ 0 h 493432"/>
              <a:gd name="csX2" fmla="*/ 2699762 w 2749105"/>
              <a:gd name="csY2" fmla="*/ 0 h 493432"/>
              <a:gd name="csX3" fmla="*/ 2749105 w 2749105"/>
              <a:gd name="csY3" fmla="*/ 49343 h 493432"/>
              <a:gd name="csX4" fmla="*/ 2749105 w 2749105"/>
              <a:gd name="csY4" fmla="*/ 444089 h 493432"/>
              <a:gd name="csX5" fmla="*/ 2699762 w 2749105"/>
              <a:gd name="csY5" fmla="*/ 493432 h 493432"/>
              <a:gd name="csX6" fmla="*/ 49343 w 2749105"/>
              <a:gd name="csY6" fmla="*/ 493432 h 493432"/>
              <a:gd name="csX7" fmla="*/ 0 w 2749105"/>
              <a:gd name="csY7" fmla="*/ 444089 h 493432"/>
              <a:gd name="csX8" fmla="*/ 0 w 2749105"/>
              <a:gd name="csY8" fmla="*/ 49343 h 49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49105" h="493432">
                <a:moveTo>
                  <a:pt x="0" y="49343"/>
                </a:moveTo>
                <a:cubicBezTo>
                  <a:pt x="0" y="22092"/>
                  <a:pt x="22092" y="0"/>
                  <a:pt x="49343" y="0"/>
                </a:cubicBezTo>
                <a:lnTo>
                  <a:pt x="2699762" y="0"/>
                </a:lnTo>
                <a:cubicBezTo>
                  <a:pt x="2727013" y="0"/>
                  <a:pt x="2749105" y="22092"/>
                  <a:pt x="2749105" y="49343"/>
                </a:cubicBezTo>
                <a:lnTo>
                  <a:pt x="2749105" y="444089"/>
                </a:lnTo>
                <a:cubicBezTo>
                  <a:pt x="2749105" y="471340"/>
                  <a:pt x="2727013" y="493432"/>
                  <a:pt x="2699762" y="493432"/>
                </a:cubicBezTo>
                <a:lnTo>
                  <a:pt x="49343" y="493432"/>
                </a:lnTo>
                <a:cubicBezTo>
                  <a:pt x="22092" y="493432"/>
                  <a:pt x="0" y="471340"/>
                  <a:pt x="0" y="444089"/>
                </a:cubicBezTo>
                <a:lnTo>
                  <a:pt x="0" y="49343"/>
                </a:lnTo>
                <a:close/>
              </a:path>
            </a:pathLst>
          </a:custGeom>
        </p:spPr>
        <p:style>
          <a:lnRef idx="1">
            <a:schemeClr val="accent5">
              <a:hueOff val="-6758543"/>
              <a:satOff val="-17419"/>
              <a:lumOff val="-1176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312" tIns="29692" rIns="37312" bIns="29692" numCol="1" spcCol="1270" anchor="ctr" anchorCtr="0">
            <a:noAutofit/>
          </a:bodyPr>
          <a:lstStyle/>
          <a:p>
            <a:pPr marL="0" lvl="0" indent="0" defTabSz="533400">
              <a:lnSpc>
                <a:spcPct val="90000"/>
              </a:lnSpc>
              <a:spcBef>
                <a:spcPct val="0"/>
              </a:spcBef>
              <a:spcAft>
                <a:spcPct val="35000"/>
              </a:spcAft>
              <a:buNone/>
            </a:pPr>
            <a:r>
              <a:rPr lang="zh-CN" altLang="en-US" sz="1200" dirty="0"/>
              <a:t>是“垂直的”</a:t>
            </a:r>
          </a:p>
        </p:txBody>
      </p:sp>
      <p:sp>
        <p:nvSpPr>
          <p:cNvPr id="4" name="任意多边形: 形状 3">
            <a:extLst>
              <a:ext uri="{FF2B5EF4-FFF2-40B4-BE49-F238E27FC236}">
                <a16:creationId xmlns:a16="http://schemas.microsoft.com/office/drawing/2014/main" id="{6D5D1E7F-5110-E7CB-B804-EB2B7B813842}"/>
              </a:ext>
            </a:extLst>
          </p:cNvPr>
          <p:cNvSpPr/>
          <p:nvPr/>
        </p:nvSpPr>
        <p:spPr>
          <a:xfrm>
            <a:off x="955575" y="1080893"/>
            <a:ext cx="1080000" cy="360000"/>
          </a:xfrm>
          <a:custGeom>
            <a:avLst/>
            <a:gdLst>
              <a:gd name="csX0" fmla="*/ 0 w 2811589"/>
              <a:gd name="csY0" fmla="*/ 59212 h 592122"/>
              <a:gd name="csX1" fmla="*/ 59212 w 2811589"/>
              <a:gd name="csY1" fmla="*/ 0 h 592122"/>
              <a:gd name="csX2" fmla="*/ 2752377 w 2811589"/>
              <a:gd name="csY2" fmla="*/ 0 h 592122"/>
              <a:gd name="csX3" fmla="*/ 2811589 w 2811589"/>
              <a:gd name="csY3" fmla="*/ 59212 h 592122"/>
              <a:gd name="csX4" fmla="*/ 2811589 w 2811589"/>
              <a:gd name="csY4" fmla="*/ 532910 h 592122"/>
              <a:gd name="csX5" fmla="*/ 2752377 w 2811589"/>
              <a:gd name="csY5" fmla="*/ 592122 h 592122"/>
              <a:gd name="csX6" fmla="*/ 59212 w 2811589"/>
              <a:gd name="csY6" fmla="*/ 592122 h 592122"/>
              <a:gd name="csX7" fmla="*/ 0 w 2811589"/>
              <a:gd name="csY7" fmla="*/ 532910 h 592122"/>
              <a:gd name="csX8" fmla="*/ 0 w 2811589"/>
              <a:gd name="csY8" fmla="*/ 59212 h 5921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1589" h="592122">
                <a:moveTo>
                  <a:pt x="0" y="59212"/>
                </a:moveTo>
                <a:cubicBezTo>
                  <a:pt x="0" y="26510"/>
                  <a:pt x="26510" y="0"/>
                  <a:pt x="59212" y="0"/>
                </a:cubicBezTo>
                <a:lnTo>
                  <a:pt x="2752377" y="0"/>
                </a:lnTo>
                <a:cubicBezTo>
                  <a:pt x="2785079" y="0"/>
                  <a:pt x="2811589" y="26510"/>
                  <a:pt x="2811589" y="59212"/>
                </a:cubicBezTo>
                <a:lnTo>
                  <a:pt x="2811589" y="532910"/>
                </a:lnTo>
                <a:cubicBezTo>
                  <a:pt x="2811589" y="565612"/>
                  <a:pt x="2785079" y="592122"/>
                  <a:pt x="2752377" y="592122"/>
                </a:cubicBezTo>
                <a:lnTo>
                  <a:pt x="59212" y="592122"/>
                </a:lnTo>
                <a:cubicBezTo>
                  <a:pt x="26510" y="592122"/>
                  <a:pt x="0" y="565612"/>
                  <a:pt x="0" y="532910"/>
                </a:cubicBezTo>
                <a:lnTo>
                  <a:pt x="0" y="59212"/>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7823" tIns="37663" rIns="47823" bIns="37663" numCol="1" spcCol="1270" anchor="ctr" anchorCtr="0">
            <a:noAutofit/>
          </a:bodyPr>
          <a:lstStyle/>
          <a:p>
            <a:pPr marL="0" lvl="0" indent="0" algn="ctr" defTabSz="711200">
              <a:lnSpc>
                <a:spcPct val="90000"/>
              </a:lnSpc>
              <a:spcBef>
                <a:spcPct val="0"/>
              </a:spcBef>
              <a:spcAft>
                <a:spcPct val="35000"/>
              </a:spcAft>
              <a:buNone/>
            </a:pPr>
            <a:r>
              <a:rPr lang="zh-CN" altLang="en-US" sz="1400"/>
              <a:t>协议</a:t>
            </a:r>
            <a:endParaRPr lang="zh-CN" altLang="en-US" sz="1400" dirty="0"/>
          </a:p>
        </p:txBody>
      </p:sp>
      <p:sp>
        <p:nvSpPr>
          <p:cNvPr id="12" name="任意多边形: 形状 11">
            <a:extLst>
              <a:ext uri="{FF2B5EF4-FFF2-40B4-BE49-F238E27FC236}">
                <a16:creationId xmlns:a16="http://schemas.microsoft.com/office/drawing/2014/main" id="{4711B36B-1BFE-A46F-6054-F4D36094877E}"/>
              </a:ext>
            </a:extLst>
          </p:cNvPr>
          <p:cNvSpPr/>
          <p:nvPr/>
        </p:nvSpPr>
        <p:spPr>
          <a:xfrm>
            <a:off x="4903895" y="1080893"/>
            <a:ext cx="1080000" cy="360000"/>
          </a:xfrm>
          <a:custGeom>
            <a:avLst/>
            <a:gdLst>
              <a:gd name="csX0" fmla="*/ 0 w 2811589"/>
              <a:gd name="csY0" fmla="*/ 59212 h 592122"/>
              <a:gd name="csX1" fmla="*/ 59212 w 2811589"/>
              <a:gd name="csY1" fmla="*/ 0 h 592122"/>
              <a:gd name="csX2" fmla="*/ 2752377 w 2811589"/>
              <a:gd name="csY2" fmla="*/ 0 h 592122"/>
              <a:gd name="csX3" fmla="*/ 2811589 w 2811589"/>
              <a:gd name="csY3" fmla="*/ 59212 h 592122"/>
              <a:gd name="csX4" fmla="*/ 2811589 w 2811589"/>
              <a:gd name="csY4" fmla="*/ 532910 h 592122"/>
              <a:gd name="csX5" fmla="*/ 2752377 w 2811589"/>
              <a:gd name="csY5" fmla="*/ 592122 h 592122"/>
              <a:gd name="csX6" fmla="*/ 59212 w 2811589"/>
              <a:gd name="csY6" fmla="*/ 592122 h 592122"/>
              <a:gd name="csX7" fmla="*/ 0 w 2811589"/>
              <a:gd name="csY7" fmla="*/ 532910 h 592122"/>
              <a:gd name="csX8" fmla="*/ 0 w 2811589"/>
              <a:gd name="csY8" fmla="*/ 59212 h 5921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1589" h="592122">
                <a:moveTo>
                  <a:pt x="0" y="59212"/>
                </a:moveTo>
                <a:cubicBezTo>
                  <a:pt x="0" y="26510"/>
                  <a:pt x="26510" y="0"/>
                  <a:pt x="59212" y="0"/>
                </a:cubicBezTo>
                <a:lnTo>
                  <a:pt x="2752377" y="0"/>
                </a:lnTo>
                <a:cubicBezTo>
                  <a:pt x="2785079" y="0"/>
                  <a:pt x="2811589" y="26510"/>
                  <a:pt x="2811589" y="59212"/>
                </a:cubicBezTo>
                <a:lnTo>
                  <a:pt x="2811589" y="532910"/>
                </a:lnTo>
                <a:cubicBezTo>
                  <a:pt x="2811589" y="565612"/>
                  <a:pt x="2785079" y="592122"/>
                  <a:pt x="2752377" y="592122"/>
                </a:cubicBezTo>
                <a:lnTo>
                  <a:pt x="59212" y="592122"/>
                </a:lnTo>
                <a:cubicBezTo>
                  <a:pt x="26510" y="592122"/>
                  <a:pt x="0" y="565612"/>
                  <a:pt x="0" y="532910"/>
                </a:cubicBezTo>
                <a:lnTo>
                  <a:pt x="0" y="59212"/>
                </a:lnTo>
                <a:close/>
              </a:path>
            </a:pathLst>
          </a:custGeom>
        </p:spPr>
        <p:style>
          <a:lnRef idx="0">
            <a:schemeClr val="lt1">
              <a:hueOff val="0"/>
              <a:satOff val="0"/>
              <a:lumOff val="0"/>
              <a:alphaOff val="0"/>
            </a:schemeClr>
          </a:lnRef>
          <a:fillRef idx="3">
            <a:schemeClr val="accent5">
              <a:hueOff val="-6758543"/>
              <a:satOff val="-17419"/>
              <a:lumOff val="-11765"/>
              <a:alphaOff val="0"/>
            </a:schemeClr>
          </a:fillRef>
          <a:effectRef idx="2">
            <a:schemeClr val="accent5">
              <a:hueOff val="-6758543"/>
              <a:satOff val="-17419"/>
              <a:lumOff val="-11765"/>
              <a:alphaOff val="0"/>
            </a:schemeClr>
          </a:effectRef>
          <a:fontRef idx="minor">
            <a:schemeClr val="lt1"/>
          </a:fontRef>
        </p:style>
        <p:txBody>
          <a:bodyPr spcFirstLastPara="0" vert="horz" wrap="square" lIns="47823" tIns="37663" rIns="47823" bIns="37663" numCol="1" spcCol="1270" anchor="ctr" anchorCtr="0">
            <a:noAutofit/>
          </a:bodyPr>
          <a:lstStyle/>
          <a:p>
            <a:pPr marL="0" lvl="0" indent="0" algn="ctr" defTabSz="711200">
              <a:lnSpc>
                <a:spcPct val="90000"/>
              </a:lnSpc>
              <a:spcBef>
                <a:spcPct val="0"/>
              </a:spcBef>
              <a:spcAft>
                <a:spcPct val="35000"/>
              </a:spcAft>
              <a:buNone/>
            </a:pPr>
            <a:r>
              <a:rPr lang="zh-CN" altLang="en-US" sz="1400" dirty="0"/>
              <a:t>服务</a:t>
            </a:r>
          </a:p>
        </p:txBody>
      </p:sp>
    </p:spTree>
    <p:extLst>
      <p:ext uri="{BB962C8B-B14F-4D97-AF65-F5344CB8AC3E}">
        <p14:creationId xmlns:p14="http://schemas.microsoft.com/office/powerpoint/2010/main" val="38946736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3"/>
          <p:cNvSpPr>
            <a:spLocks noChangeArrowheads="1"/>
          </p:cNvSpPr>
          <p:nvPr/>
        </p:nvSpPr>
        <p:spPr bwMode="auto">
          <a:xfrm>
            <a:off x="874295" y="2674019"/>
            <a:ext cx="7259052" cy="1245882"/>
          </a:xfrm>
          <a:prstGeom prst="rect">
            <a:avLst/>
          </a:prstGeom>
          <a:solidFill>
            <a:schemeClr val="bg1"/>
          </a:solidFill>
          <a:ln w="9525">
            <a:solidFill>
              <a:schemeClr val="tx1">
                <a:lumMod val="50000"/>
                <a:lumOff val="50000"/>
              </a:schemeClr>
            </a:solidFill>
            <a:prstDash val="dash"/>
            <a:round/>
          </a:ln>
          <a:effectLst/>
          <a:scene3d>
            <a:camera prst="orthographicFront">
              <a:rot lat="0" lon="0" rev="0"/>
            </a:camera>
            <a:lightRig rig="contrasting" dir="t">
              <a:rot lat="0" lon="0" rev="7800000"/>
            </a:lightRig>
          </a:scene3d>
          <a:sp3d/>
        </p:spPr>
        <p:txBody>
          <a:bodyPr wrap="none" anchor="ct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 name="Rectangle 35"/>
          <p:cNvSpPr>
            <a:spLocks noChangeArrowheads="1"/>
          </p:cNvSpPr>
          <p:nvPr/>
        </p:nvSpPr>
        <p:spPr bwMode="auto">
          <a:xfrm>
            <a:off x="1882692" y="3153276"/>
            <a:ext cx="4800600" cy="571500"/>
          </a:xfrm>
          <a:prstGeom prst="rect">
            <a:avLst/>
          </a:prstGeom>
          <a:noFill/>
          <a:ln>
            <a:noFill/>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6" name="Rectangle 36"/>
          <p:cNvSpPr>
            <a:spLocks noChangeArrowheads="1"/>
          </p:cNvSpPr>
          <p:nvPr/>
        </p:nvSpPr>
        <p:spPr bwMode="auto">
          <a:xfrm>
            <a:off x="2593892" y="3048501"/>
            <a:ext cx="188912"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7" name="Line 37"/>
          <p:cNvSpPr>
            <a:spLocks noChangeShapeType="1"/>
          </p:cNvSpPr>
          <p:nvPr/>
        </p:nvSpPr>
        <p:spPr bwMode="auto">
          <a:xfrm>
            <a:off x="3284454" y="1734051"/>
            <a:ext cx="2038350" cy="0"/>
          </a:xfrm>
          <a:prstGeom prst="line">
            <a:avLst/>
          </a:prstGeom>
          <a:noFill/>
          <a:ln w="28575">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 name="Text Box 38"/>
          <p:cNvSpPr txBox="1">
            <a:spLocks noChangeArrowheads="1"/>
          </p:cNvSpPr>
          <p:nvPr/>
        </p:nvSpPr>
        <p:spPr bwMode="auto">
          <a:xfrm>
            <a:off x="3716254" y="1548314"/>
            <a:ext cx="1258888" cy="338137"/>
          </a:xfrm>
          <a:prstGeom prst="rect">
            <a:avLst/>
          </a:prstGeom>
          <a:solidFill>
            <a:srgbClr val="C3E3F9"/>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协议 </a:t>
            </a:r>
            <a:r>
              <a:rPr kumimoji="1" lang="en-US" altLang="zh-CN" sz="1600" b="1" dirty="0">
                <a:solidFill>
                  <a:srgbClr val="0000FF"/>
                </a:solidFill>
                <a:latin typeface="微软雅黑" panose="020B0503020204020204" pitchFamily="34" charset="-122"/>
                <a:ea typeface="微软雅黑" panose="020B0503020204020204" pitchFamily="34" charset="-122"/>
              </a:rPr>
              <a:t>(</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sp>
        <p:nvSpPr>
          <p:cNvPr id="9" name="Text Box 39"/>
          <p:cNvSpPr txBox="1">
            <a:spLocks noChangeArrowheads="1"/>
          </p:cNvSpPr>
          <p:nvPr/>
        </p:nvSpPr>
        <p:spPr bwMode="auto">
          <a:xfrm>
            <a:off x="2730417" y="273576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CC00CC"/>
                </a:solidFill>
                <a:latin typeface="微软雅黑" panose="020B0503020204020204" pitchFamily="34" charset="-122"/>
                <a:ea typeface="微软雅黑" panose="020B0503020204020204" pitchFamily="34" charset="-122"/>
              </a:rPr>
              <a:t>SAP</a:t>
            </a:r>
          </a:p>
        </p:txBody>
      </p:sp>
      <p:sp>
        <p:nvSpPr>
          <p:cNvPr id="10" name="Text Box 40"/>
          <p:cNvSpPr txBox="1">
            <a:spLocks noChangeArrowheads="1"/>
          </p:cNvSpPr>
          <p:nvPr/>
        </p:nvSpPr>
        <p:spPr bwMode="auto">
          <a:xfrm>
            <a:off x="5245017" y="275481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CC00CC"/>
                </a:solidFill>
                <a:latin typeface="微软雅黑" panose="020B0503020204020204" pitchFamily="34" charset="-122"/>
                <a:ea typeface="微软雅黑" panose="020B0503020204020204" pitchFamily="34" charset="-122"/>
              </a:rPr>
              <a:t>SAP</a:t>
            </a:r>
          </a:p>
        </p:txBody>
      </p:sp>
      <p:sp>
        <p:nvSpPr>
          <p:cNvPr id="11" name="Text Box 41"/>
          <p:cNvSpPr txBox="1">
            <a:spLocks noChangeArrowheads="1"/>
          </p:cNvSpPr>
          <p:nvPr/>
        </p:nvSpPr>
        <p:spPr bwMode="auto">
          <a:xfrm>
            <a:off x="2701257" y="2017553"/>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600" b="1">
                <a:solidFill>
                  <a:srgbClr val="0000FF"/>
                </a:solidFill>
                <a:latin typeface="微软雅黑" panose="020B0503020204020204" pitchFamily="34" charset="-122"/>
                <a:ea typeface="微软雅黑" panose="020B0503020204020204" pitchFamily="34"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defRPr>
                <a:latin typeface="Calibri" panose="020F0502020204030204" pitchFamily="34" charset="0"/>
                <a:ea typeface="宋体" panose="02010600030101010101" pitchFamily="2" charset="-122"/>
              </a:defRPr>
            </a:lvl6pPr>
            <a:lvl7pPr marL="2971800" indent="-228600" fontAlgn="base">
              <a:spcBef>
                <a:spcPct val="0"/>
              </a:spcBef>
              <a:spcAft>
                <a:spcPct val="0"/>
              </a:spcAft>
              <a:defRPr>
                <a:latin typeface="Calibri" panose="020F0502020204030204" pitchFamily="34" charset="0"/>
                <a:ea typeface="宋体" panose="02010600030101010101" pitchFamily="2" charset="-122"/>
              </a:defRPr>
            </a:lvl7pPr>
            <a:lvl8pPr marL="3429000" indent="-228600" fontAlgn="base">
              <a:spcBef>
                <a:spcPct val="0"/>
              </a:spcBef>
              <a:spcAft>
                <a:spcPct val="0"/>
              </a:spcAft>
              <a:defRPr>
                <a:latin typeface="Calibri" panose="020F0502020204030204" pitchFamily="34" charset="0"/>
                <a:ea typeface="宋体" panose="02010600030101010101" pitchFamily="2" charset="-122"/>
              </a:defRPr>
            </a:lvl8pPr>
            <a:lvl9pPr marL="3886200" indent="-228600" fontAlgn="base">
              <a:spcBef>
                <a:spcPct val="0"/>
              </a:spcBef>
              <a:spcAft>
                <a:spcPct val="0"/>
              </a:spcAft>
              <a:defRPr>
                <a:latin typeface="Calibri" panose="020F0502020204030204" pitchFamily="34" charset="0"/>
                <a:ea typeface="宋体" panose="02010600030101010101" pitchFamily="2" charset="-122"/>
              </a:defRPr>
            </a:lvl9pPr>
          </a:lstStyle>
          <a:p>
            <a:r>
              <a:rPr lang="zh-CN" altLang="en-US" dirty="0"/>
              <a:t>交换服务原语</a:t>
            </a:r>
          </a:p>
        </p:txBody>
      </p:sp>
      <p:sp>
        <p:nvSpPr>
          <p:cNvPr id="12" name="AutoShape 42"/>
          <p:cNvSpPr>
            <a:spLocks noChangeArrowheads="1"/>
          </p:cNvSpPr>
          <p:nvPr/>
        </p:nvSpPr>
        <p:spPr bwMode="auto">
          <a:xfrm>
            <a:off x="2617704" y="1957889"/>
            <a:ext cx="128588" cy="1074737"/>
          </a:xfrm>
          <a:prstGeom prst="upDownArrow">
            <a:avLst>
              <a:gd name="adj1" fmla="val 50000"/>
              <a:gd name="adj2" fmla="val 181090"/>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3" name="Rectangle 43"/>
          <p:cNvSpPr>
            <a:spLocks noChangeArrowheads="1"/>
          </p:cNvSpPr>
          <p:nvPr/>
        </p:nvSpPr>
        <p:spPr bwMode="auto">
          <a:xfrm>
            <a:off x="5754604" y="3048501"/>
            <a:ext cx="192088"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14" name="AutoShape 44"/>
          <p:cNvSpPr>
            <a:spLocks noChangeArrowheads="1"/>
          </p:cNvSpPr>
          <p:nvPr/>
        </p:nvSpPr>
        <p:spPr bwMode="auto">
          <a:xfrm>
            <a:off x="5776829" y="1957889"/>
            <a:ext cx="130175" cy="1074737"/>
          </a:xfrm>
          <a:prstGeom prst="upDownArrow">
            <a:avLst>
              <a:gd name="adj1" fmla="val 50000"/>
              <a:gd name="adj2" fmla="val 178882"/>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4438150" y="2017553"/>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交换服务原语</a:t>
            </a:r>
          </a:p>
        </p:txBody>
      </p:sp>
      <p:sp>
        <p:nvSpPr>
          <p:cNvPr id="16" name="Rectangle 46"/>
          <p:cNvSpPr>
            <a:spLocks noChangeArrowheads="1"/>
          </p:cNvSpPr>
          <p:nvPr/>
        </p:nvSpPr>
        <p:spPr bwMode="auto">
          <a:xfrm>
            <a:off x="2112879" y="1559426"/>
            <a:ext cx="1150938"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17" name="Text Box 47"/>
          <p:cNvSpPr txBox="1">
            <a:spLocks noChangeArrowheads="1"/>
          </p:cNvSpPr>
          <p:nvPr/>
        </p:nvSpPr>
        <p:spPr bwMode="auto">
          <a:xfrm>
            <a:off x="2144629" y="1614989"/>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18" name="Text Box 48"/>
          <p:cNvSpPr txBox="1">
            <a:spLocks noChangeArrowheads="1"/>
          </p:cNvSpPr>
          <p:nvPr/>
        </p:nvSpPr>
        <p:spPr bwMode="auto">
          <a:xfrm>
            <a:off x="1033379" y="3077076"/>
            <a:ext cx="8493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服务</a:t>
            </a:r>
            <a:endParaRPr kumimoji="1" lang="en-US" altLang="zh-CN" sz="1600" b="1" dirty="0">
              <a:latin typeface="微软雅黑" panose="020B0503020204020204" pitchFamily="34" charset="-122"/>
              <a:ea typeface="微软雅黑" panose="020B0503020204020204" pitchFamily="34" charset="-122"/>
            </a:endParaRPr>
          </a:p>
          <a:p>
            <a:r>
              <a:rPr kumimoji="1" lang="zh-CN" altLang="en-US" sz="1600" b="1" dirty="0">
                <a:latin typeface="微软雅黑" panose="020B0503020204020204" pitchFamily="34" charset="-122"/>
                <a:ea typeface="微软雅黑" panose="020B0503020204020204" pitchFamily="34" charset="-122"/>
              </a:rPr>
              <a:t>提供者</a:t>
            </a:r>
          </a:p>
        </p:txBody>
      </p:sp>
      <p:sp>
        <p:nvSpPr>
          <p:cNvPr id="19" name="Line 49"/>
          <p:cNvSpPr>
            <a:spLocks noChangeShapeType="1"/>
          </p:cNvSpPr>
          <p:nvPr/>
        </p:nvSpPr>
        <p:spPr bwMode="auto">
          <a:xfrm>
            <a:off x="505072" y="2494631"/>
            <a:ext cx="8053712" cy="0"/>
          </a:xfrm>
          <a:prstGeom prst="line">
            <a:avLst/>
          </a:prstGeom>
          <a:noFill/>
          <a:ln w="28575">
            <a:solidFill>
              <a:srgbClr val="000066"/>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0" name="Text Box 50"/>
          <p:cNvSpPr txBox="1">
            <a:spLocks noChangeArrowheads="1"/>
          </p:cNvSpPr>
          <p:nvPr/>
        </p:nvSpPr>
        <p:spPr bwMode="auto">
          <a:xfrm>
            <a:off x="6975392" y="3223126"/>
            <a:ext cx="849913" cy="338554"/>
          </a:xfrm>
          <a:prstGeom prst="rect">
            <a:avLst/>
          </a:prstGeom>
          <a:no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1" name="Text Box 51"/>
          <p:cNvSpPr txBox="1">
            <a:spLocks noChangeArrowheads="1"/>
          </p:cNvSpPr>
          <p:nvPr/>
        </p:nvSpPr>
        <p:spPr bwMode="auto">
          <a:xfrm>
            <a:off x="6742029" y="1576889"/>
            <a:ext cx="1132041" cy="338554"/>
          </a:xfrm>
          <a:prstGeom prst="rect">
            <a:avLst/>
          </a:prstGeom>
          <a:solidFill>
            <a:srgbClr val="C3E3F9"/>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2" name="Rectangle 52"/>
          <p:cNvSpPr>
            <a:spLocks noChangeArrowheads="1"/>
          </p:cNvSpPr>
          <p:nvPr/>
        </p:nvSpPr>
        <p:spPr bwMode="auto">
          <a:xfrm>
            <a:off x="5284704" y="1559426"/>
            <a:ext cx="1149350"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3" name="Text Box 53"/>
          <p:cNvSpPr txBox="1">
            <a:spLocks noChangeArrowheads="1"/>
          </p:cNvSpPr>
          <p:nvPr/>
        </p:nvSpPr>
        <p:spPr bwMode="auto">
          <a:xfrm>
            <a:off x="5316454" y="1613401"/>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24" name="Text Box 54"/>
          <p:cNvSpPr txBox="1">
            <a:spLocks noChangeArrowheads="1"/>
          </p:cNvSpPr>
          <p:nvPr/>
        </p:nvSpPr>
        <p:spPr bwMode="auto">
          <a:xfrm>
            <a:off x="5808579" y="1427664"/>
            <a:ext cx="1249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kumimoji="1" lang="zh-CN" altLang="zh-CN" sz="1600" b="1">
              <a:latin typeface="微软雅黑" panose="020B0503020204020204" pitchFamily="34" charset="-122"/>
              <a:ea typeface="微软雅黑" panose="020B0503020204020204" pitchFamily="34" charset="-122"/>
            </a:endParaRPr>
          </a:p>
        </p:txBody>
      </p:sp>
      <p:sp>
        <p:nvSpPr>
          <p:cNvPr id="25" name="Text Box 55"/>
          <p:cNvSpPr txBox="1">
            <a:spLocks noChangeArrowheads="1"/>
          </p:cNvSpPr>
          <p:nvPr/>
        </p:nvSpPr>
        <p:spPr bwMode="auto">
          <a:xfrm>
            <a:off x="1033379" y="1481639"/>
            <a:ext cx="674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latin typeface="微软雅黑" panose="020B0503020204020204" pitchFamily="34" charset="-122"/>
                <a:ea typeface="微软雅黑" panose="020B0503020204020204" pitchFamily="34" charset="-122"/>
              </a:rPr>
              <a:t>服务用户</a:t>
            </a:r>
          </a:p>
        </p:txBody>
      </p:sp>
      <p:sp>
        <p:nvSpPr>
          <p:cNvPr id="26" name="Rectangle 56"/>
          <p:cNvSpPr>
            <a:spLocks noChangeArrowheads="1"/>
          </p:cNvSpPr>
          <p:nvPr/>
        </p:nvSpPr>
        <p:spPr bwMode="auto">
          <a:xfrm>
            <a:off x="21128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7" name="Rectangle 57"/>
          <p:cNvSpPr>
            <a:spLocks noChangeArrowheads="1"/>
          </p:cNvSpPr>
          <p:nvPr/>
        </p:nvSpPr>
        <p:spPr bwMode="auto">
          <a:xfrm>
            <a:off x="52624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8" name="Text Box 58"/>
          <p:cNvSpPr txBox="1">
            <a:spLocks noChangeArrowheads="1"/>
          </p:cNvSpPr>
          <p:nvPr/>
        </p:nvSpPr>
        <p:spPr bwMode="auto">
          <a:xfrm>
            <a:off x="2224004"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29" name="Text Box 59"/>
          <p:cNvSpPr txBox="1">
            <a:spLocks noChangeArrowheads="1"/>
          </p:cNvSpPr>
          <p:nvPr/>
        </p:nvSpPr>
        <p:spPr bwMode="auto">
          <a:xfrm>
            <a:off x="5433929"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30" name="Line 60"/>
          <p:cNvSpPr>
            <a:spLocks noChangeShapeType="1"/>
          </p:cNvSpPr>
          <p:nvPr/>
        </p:nvSpPr>
        <p:spPr bwMode="auto">
          <a:xfrm>
            <a:off x="3266992" y="3421564"/>
            <a:ext cx="1995487" cy="0"/>
          </a:xfrm>
          <a:prstGeom prst="line">
            <a:avLst/>
          </a:prstGeom>
          <a:noFill/>
          <a:ln w="19050">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1" name="Text Box 61"/>
          <p:cNvSpPr txBox="1">
            <a:spLocks noChangeArrowheads="1"/>
          </p:cNvSpPr>
          <p:nvPr/>
        </p:nvSpPr>
        <p:spPr bwMode="auto">
          <a:xfrm>
            <a:off x="3867067" y="3256155"/>
            <a:ext cx="889000" cy="338137"/>
          </a:xfrm>
          <a:prstGeom prst="rect">
            <a:avLst/>
          </a:prstGeom>
          <a:solidFill>
            <a:schemeClr val="bg1"/>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协议</a:t>
            </a:r>
            <a:r>
              <a:rPr kumimoji="1" lang="en-US" altLang="zh-CN" sz="1600" b="1" dirty="0">
                <a:latin typeface="微软雅黑" panose="020B0503020204020204" pitchFamily="34" charset="-122"/>
                <a:ea typeface="微软雅黑" panose="020B0503020204020204" pitchFamily="34" charset="-122"/>
              </a:rPr>
              <a:t>(</a:t>
            </a:r>
            <a:r>
              <a:rPr kumimoji="1" lang="en-US" altLang="zh-CN" sz="1600" b="1" i="1" dirty="0">
                <a:latin typeface="微软雅黑" panose="020B0503020204020204" pitchFamily="34" charset="-122"/>
                <a:ea typeface="微软雅黑" panose="020B0503020204020204" pitchFamily="34" charset="-122"/>
              </a:rPr>
              <a:t>n</a:t>
            </a:r>
            <a:r>
              <a:rPr kumimoji="1" lang="en-US" altLang="zh-CN" sz="1600" b="1" dirty="0">
                <a:latin typeface="微软雅黑" panose="020B0503020204020204" pitchFamily="34" charset="-122"/>
                <a:ea typeface="微软雅黑" panose="020B0503020204020204" pitchFamily="34" charset="-122"/>
              </a:rPr>
              <a:t>)</a:t>
            </a:r>
          </a:p>
        </p:txBody>
      </p:sp>
      <p:sp>
        <p:nvSpPr>
          <p:cNvPr id="3" name="标题 2">
            <a:extLst>
              <a:ext uri="{FF2B5EF4-FFF2-40B4-BE49-F238E27FC236}">
                <a16:creationId xmlns:a16="http://schemas.microsoft.com/office/drawing/2014/main" id="{A3C2C13A-FEE0-C021-FE2F-DADAF36325D6}"/>
              </a:ext>
            </a:extLst>
          </p:cNvPr>
          <p:cNvSpPr>
            <a:spLocks noGrp="1"/>
          </p:cNvSpPr>
          <p:nvPr>
            <p:ph type="title"/>
          </p:nvPr>
        </p:nvSpPr>
        <p:spPr>
          <a:xfrm>
            <a:off x="612000" y="144000"/>
            <a:ext cx="7920000" cy="341632"/>
          </a:xfrm>
        </p:spPr>
        <p:txBody>
          <a:bodyPr/>
          <a:lstStyle/>
          <a:p>
            <a:r>
              <a:rPr lang="zh-CN" altLang="en-US" dirty="0"/>
              <a:t>相邻两层之间的关系</a:t>
            </a:r>
          </a:p>
        </p:txBody>
      </p:sp>
    </p:spTree>
    <p:extLst>
      <p:ext uri="{BB962C8B-B14F-4D97-AF65-F5344CB8AC3E}">
        <p14:creationId xmlns:p14="http://schemas.microsoft.com/office/powerpoint/2010/main" val="313001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bwMode="auto">
          <a:xfrm>
            <a:off x="1352067" y="3378017"/>
            <a:ext cx="6279792" cy="1263710"/>
            <a:chOff x="229549" y="4412749"/>
            <a:chExt cx="9721983" cy="2504059"/>
          </a:xfrm>
        </p:grpSpPr>
        <p:sp>
          <p:nvSpPr>
            <p:cNvPr id="4" name="Freeform 2"/>
            <p:cNvSpPr/>
            <p:nvPr/>
          </p:nvSpPr>
          <p:spPr bwMode="auto">
            <a:xfrm>
              <a:off x="229549" y="5027683"/>
              <a:ext cx="9721983" cy="1889125"/>
            </a:xfrm>
            <a:custGeom>
              <a:avLst/>
              <a:gdLst>
                <a:gd name="T0" fmla="*/ 0 w 5653"/>
                <a:gd name="T1" fmla="*/ 1839913 h 1190"/>
                <a:gd name="T2" fmla="*/ 1595967 w 5653"/>
                <a:gd name="T3" fmla="*/ 142875 h 1190"/>
                <a:gd name="T4" fmla="*/ 2999317 w 5653"/>
                <a:gd name="T5" fmla="*/ 981075 h 1190"/>
                <a:gd name="T6" fmla="*/ 4815417 w 5653"/>
                <a:gd name="T7" fmla="*/ 1743075 h 1190"/>
                <a:gd name="T8" fmla="*/ 5811176 w 5653"/>
                <a:gd name="T9" fmla="*/ 1789113 h 1190"/>
                <a:gd name="T10" fmla="*/ 6548967 w 5653"/>
                <a:gd name="T11" fmla="*/ 1743075 h 1190"/>
                <a:gd name="T12" fmla="*/ 7291917 w 5653"/>
                <a:gd name="T13" fmla="*/ 1057275 h 1190"/>
                <a:gd name="T14" fmla="*/ 7838811 w 5653"/>
                <a:gd name="T15" fmla="*/ 319088 h 1190"/>
                <a:gd name="T16" fmla="*/ 8526728 w 5653"/>
                <a:gd name="T17" fmla="*/ 385763 h 1190"/>
                <a:gd name="T18" fmla="*/ 8870686 w 5653"/>
                <a:gd name="T19" fmla="*/ 1154113 h 1190"/>
                <a:gd name="T20" fmla="*/ 9142413 w 5653"/>
                <a:gd name="T21" fmla="*/ 1471613 h 1190"/>
                <a:gd name="T22" fmla="*/ 9304074 w 5653"/>
                <a:gd name="T23" fmla="*/ 1639888 h 1190"/>
                <a:gd name="T24" fmla="*/ 9721983 w 5653"/>
                <a:gd name="T25" fmla="*/ 1889125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6"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7"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9"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98F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0"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grpSp>
        <p:nvGrpSpPr>
          <p:cNvPr id="11" name="Group 9"/>
          <p:cNvGrpSpPr/>
          <p:nvPr/>
        </p:nvGrpSpPr>
        <p:grpSpPr bwMode="auto">
          <a:xfrm>
            <a:off x="979905" y="1051223"/>
            <a:ext cx="1994413" cy="502953"/>
            <a:chOff x="888" y="192"/>
            <a:chExt cx="1358" cy="371"/>
          </a:xfrm>
          <a:solidFill>
            <a:srgbClr val="368AD6"/>
          </a:solidFill>
        </p:grpSpPr>
        <p:sp>
          <p:nvSpPr>
            <p:cNvPr id="12" name="AutoShape 10"/>
            <p:cNvSpPr>
              <a:spLocks noChangeArrowheads="1"/>
            </p:cNvSpPr>
            <p:nvPr/>
          </p:nvSpPr>
          <p:spPr bwMode="auto">
            <a:xfrm>
              <a:off x="912" y="192"/>
              <a:ext cx="1334" cy="371"/>
            </a:xfrm>
            <a:prstGeom prst="rightArrow">
              <a:avLst>
                <a:gd name="adj1" fmla="val 50000"/>
                <a:gd name="adj2" fmla="val 86006"/>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888" y="266"/>
              <a:ext cx="1348" cy="22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明日正午进攻，同意？</a:t>
              </a:r>
            </a:p>
          </p:txBody>
        </p:sp>
      </p:grpSp>
      <p:grpSp>
        <p:nvGrpSpPr>
          <p:cNvPr id="14" name="Group 12"/>
          <p:cNvGrpSpPr/>
          <p:nvPr/>
        </p:nvGrpSpPr>
        <p:grpSpPr bwMode="auto">
          <a:xfrm>
            <a:off x="6843525" y="1415885"/>
            <a:ext cx="1331797" cy="460841"/>
            <a:chOff x="4492" y="700"/>
            <a:chExt cx="1066" cy="349"/>
          </a:xfrm>
          <a:solidFill>
            <a:srgbClr val="00CC00"/>
          </a:solidFill>
        </p:grpSpPr>
        <p:sp>
          <p:nvSpPr>
            <p:cNvPr id="15" name="AutoShape 13"/>
            <p:cNvSpPr>
              <a:spLocks noChangeArrowheads="1"/>
            </p:cNvSpPr>
            <p:nvPr/>
          </p:nvSpPr>
          <p:spPr bwMode="auto">
            <a:xfrm rot="10800000">
              <a:off x="4492" y="700"/>
              <a:ext cx="1039" cy="349"/>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6" name="Text Box 14"/>
            <p:cNvSpPr txBox="1">
              <a:spLocks noChangeArrowheads="1"/>
            </p:cNvSpPr>
            <p:nvPr/>
          </p:nvSpPr>
          <p:spPr bwMode="auto">
            <a:xfrm>
              <a:off x="5123" y="753"/>
              <a:ext cx="435" cy="233"/>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同意</a:t>
              </a:r>
            </a:p>
          </p:txBody>
        </p:sp>
      </p:grpSp>
      <p:grpSp>
        <p:nvGrpSpPr>
          <p:cNvPr id="17" name="Group 15"/>
          <p:cNvGrpSpPr/>
          <p:nvPr/>
        </p:nvGrpSpPr>
        <p:grpSpPr bwMode="auto">
          <a:xfrm>
            <a:off x="959703" y="1794318"/>
            <a:ext cx="2013171" cy="457423"/>
            <a:chOff x="882" y="234"/>
            <a:chExt cx="1386" cy="319"/>
          </a:xfrm>
          <a:solidFill>
            <a:srgbClr val="368AD6"/>
          </a:solidFill>
        </p:grpSpPr>
        <p:sp>
          <p:nvSpPr>
            <p:cNvPr id="18"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9" name="Text Box 17"/>
            <p:cNvSpPr txBox="1">
              <a:spLocks noChangeArrowheads="1"/>
            </p:cNvSpPr>
            <p:nvPr/>
          </p:nvSpPr>
          <p:spPr bwMode="auto">
            <a:xfrm>
              <a:off x="882" y="290"/>
              <a:ext cx="1116"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你确认“同意”？</a:t>
              </a:r>
            </a:p>
          </p:txBody>
        </p:sp>
      </p:grpSp>
      <p:grpSp>
        <p:nvGrpSpPr>
          <p:cNvPr id="20" name="Group 18"/>
          <p:cNvGrpSpPr/>
          <p:nvPr/>
        </p:nvGrpSpPr>
        <p:grpSpPr bwMode="auto">
          <a:xfrm>
            <a:off x="6272564" y="2130181"/>
            <a:ext cx="1995194" cy="508459"/>
            <a:chOff x="4035" y="1601"/>
            <a:chExt cx="1597" cy="307"/>
          </a:xfrm>
          <a:solidFill>
            <a:srgbClr val="00CC00"/>
          </a:solidFill>
        </p:grpSpPr>
        <p:sp>
          <p:nvSpPr>
            <p:cNvPr id="21"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4478" y="1662"/>
              <a:ext cx="1154"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我确认“同意”</a:t>
              </a:r>
            </a:p>
          </p:txBody>
        </p:sp>
      </p:grpSp>
      <p:grpSp>
        <p:nvGrpSpPr>
          <p:cNvPr id="30" name="Group 15"/>
          <p:cNvGrpSpPr/>
          <p:nvPr/>
        </p:nvGrpSpPr>
        <p:grpSpPr bwMode="auto">
          <a:xfrm>
            <a:off x="959703" y="2565293"/>
            <a:ext cx="2023339" cy="457423"/>
            <a:chOff x="882" y="234"/>
            <a:chExt cx="1393" cy="319"/>
          </a:xfrm>
          <a:solidFill>
            <a:srgbClr val="368AD6"/>
          </a:solidFill>
        </p:grpSpPr>
        <p:sp>
          <p:nvSpPr>
            <p:cNvPr id="31"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2" name="Text Box 17"/>
            <p:cNvSpPr txBox="1">
              <a:spLocks noChangeArrowheads="1"/>
            </p:cNvSpPr>
            <p:nvPr/>
          </p:nvSpPr>
          <p:spPr bwMode="auto">
            <a:xfrm>
              <a:off x="882" y="291"/>
              <a:ext cx="1393" cy="10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3" name="Group 18"/>
          <p:cNvGrpSpPr/>
          <p:nvPr/>
        </p:nvGrpSpPr>
        <p:grpSpPr bwMode="auto">
          <a:xfrm>
            <a:off x="6272564" y="2920164"/>
            <a:ext cx="1995194" cy="508459"/>
            <a:chOff x="4035" y="1601"/>
            <a:chExt cx="1597" cy="307"/>
          </a:xfrm>
          <a:solidFill>
            <a:srgbClr val="00CC00"/>
          </a:solidFill>
        </p:grpSpPr>
        <p:sp>
          <p:nvSpPr>
            <p:cNvPr id="34"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5"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36" name="Group 15"/>
          <p:cNvGrpSpPr/>
          <p:nvPr/>
        </p:nvGrpSpPr>
        <p:grpSpPr bwMode="auto">
          <a:xfrm>
            <a:off x="955581" y="2569100"/>
            <a:ext cx="2023339" cy="457423"/>
            <a:chOff x="882" y="234"/>
            <a:chExt cx="1393" cy="319"/>
          </a:xfrm>
          <a:solidFill>
            <a:srgbClr val="368AD6"/>
          </a:solidFill>
        </p:grpSpPr>
        <p:sp>
          <p:nvSpPr>
            <p:cNvPr id="37"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8"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9" name="Group 18"/>
          <p:cNvGrpSpPr/>
          <p:nvPr/>
        </p:nvGrpSpPr>
        <p:grpSpPr bwMode="auto">
          <a:xfrm>
            <a:off x="6276463" y="2920300"/>
            <a:ext cx="1995194" cy="508459"/>
            <a:chOff x="4035" y="1601"/>
            <a:chExt cx="1597" cy="307"/>
          </a:xfrm>
          <a:solidFill>
            <a:srgbClr val="00CC00"/>
          </a:solidFill>
        </p:grpSpPr>
        <p:sp>
          <p:nvSpPr>
            <p:cNvPr id="40"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1"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42" name="Group 15"/>
          <p:cNvGrpSpPr/>
          <p:nvPr/>
        </p:nvGrpSpPr>
        <p:grpSpPr bwMode="auto">
          <a:xfrm>
            <a:off x="959699" y="2568484"/>
            <a:ext cx="2023339" cy="457423"/>
            <a:chOff x="882" y="234"/>
            <a:chExt cx="1393" cy="319"/>
          </a:xfrm>
          <a:solidFill>
            <a:srgbClr val="368AD6"/>
          </a:solidFill>
        </p:grpSpPr>
        <p:sp>
          <p:nvSpPr>
            <p:cNvPr id="43"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4"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45" name="Group 18"/>
          <p:cNvGrpSpPr/>
          <p:nvPr/>
        </p:nvGrpSpPr>
        <p:grpSpPr bwMode="auto">
          <a:xfrm>
            <a:off x="6272560" y="2920903"/>
            <a:ext cx="1995194" cy="508459"/>
            <a:chOff x="4035" y="1601"/>
            <a:chExt cx="1597" cy="307"/>
          </a:xfrm>
          <a:solidFill>
            <a:srgbClr val="00CC00"/>
          </a:solidFill>
        </p:grpSpPr>
        <p:sp>
          <p:nvSpPr>
            <p:cNvPr id="46"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7"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sp>
        <p:nvSpPr>
          <p:cNvPr id="29" name="Text Box 27"/>
          <p:cNvSpPr txBox="1">
            <a:spLocks noChangeArrowheads="1"/>
          </p:cNvSpPr>
          <p:nvPr/>
        </p:nvSpPr>
        <p:spPr bwMode="auto">
          <a:xfrm>
            <a:off x="3288824" y="2030379"/>
            <a:ext cx="2702889" cy="923330"/>
          </a:xfrm>
          <a:prstGeom prst="rect">
            <a:avLst/>
          </a:prstGeom>
          <a:solidFill>
            <a:srgbClr val="CC6600"/>
          </a:solidFill>
          <a:ln>
            <a:no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这样的协议无法实现！</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rgbClr val="000066"/>
                </a:solidFill>
                <a:latin typeface="微软雅黑" panose="020B0503020204020204" pitchFamily="34" charset="-122"/>
                <a:ea typeface="微软雅黑" panose="020B0503020204020204" pitchFamily="34" charset="-122"/>
              </a:rPr>
              <a:t>没有一种协议能够使蓝军 </a:t>
            </a:r>
            <a:r>
              <a:rPr lang="en-US" altLang="zh-CN" b="1" dirty="0">
                <a:solidFill>
                  <a:srgbClr val="000066"/>
                </a:solidFill>
                <a:latin typeface="微软雅黑" panose="020B0503020204020204" pitchFamily="34" charset="-122"/>
                <a:ea typeface="微软雅黑" panose="020B0503020204020204" pitchFamily="34" charset="-122"/>
              </a:rPr>
              <a:t>100% </a:t>
            </a:r>
            <a:r>
              <a:rPr lang="zh-CN" altLang="en-US" b="1" dirty="0">
                <a:solidFill>
                  <a:srgbClr val="000066"/>
                </a:solidFill>
                <a:latin typeface="微软雅黑" panose="020B0503020204020204" pitchFamily="34" charset="-122"/>
                <a:ea typeface="微软雅黑" panose="020B0503020204020204" pitchFamily="34" charset="-122"/>
              </a:rPr>
              <a:t>获胜。</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26" name="标题 25">
            <a:extLst>
              <a:ext uri="{FF2B5EF4-FFF2-40B4-BE49-F238E27FC236}">
                <a16:creationId xmlns:a16="http://schemas.microsoft.com/office/drawing/2014/main" id="{8B64E69A-6ED4-367E-63A6-A1CE8D3DAC45}"/>
              </a:ext>
            </a:extLst>
          </p:cNvPr>
          <p:cNvSpPr>
            <a:spLocks noGrp="1"/>
          </p:cNvSpPr>
          <p:nvPr>
            <p:ph type="title"/>
          </p:nvPr>
        </p:nvSpPr>
        <p:spPr>
          <a:xfrm>
            <a:off x="612000" y="144000"/>
            <a:ext cx="7920000" cy="341632"/>
          </a:xfrm>
        </p:spPr>
        <p:txBody>
          <a:bodyPr/>
          <a:lstStyle/>
          <a:p>
            <a:r>
              <a:rPr lang="zh-CN" altLang="en-US" dirty="0"/>
              <a:t>协议很复杂，要应付所有异常情况</a:t>
            </a:r>
          </a:p>
        </p:txBody>
      </p:sp>
    </p:spTree>
    <p:extLst>
      <p:ext uri="{BB962C8B-B14F-4D97-AF65-F5344CB8AC3E}">
        <p14:creationId xmlns:p14="http://schemas.microsoft.com/office/powerpoint/2010/main" val="33921827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1"/>
                                        </p:tgtEl>
                                        <p:attrNameLst>
                                          <p:attrName>style.visibility</p:attrName>
                                        </p:attrNameLst>
                                      </p:cBhvr>
                                      <p:to>
                                        <p:strVal val="visible"/>
                                      </p:to>
                                    </p:set>
                                  </p:childTnLst>
                                </p:cTn>
                              </p:par>
                            </p:childTnLst>
                          </p:cTn>
                        </p:par>
                        <p:par>
                          <p:cTn id="7" fill="hold">
                            <p:stCondLst>
                              <p:cond delay="10"/>
                            </p:stCondLst>
                            <p:childTnLst>
                              <p:par>
                                <p:cTn id="8" presetID="63" presetClass="path" presetSubtype="0" accel="50000" decel="50000" fill="hold" nodeType="afterEffect">
                                  <p:stCondLst>
                                    <p:cond delay="0"/>
                                  </p:stCondLst>
                                  <p:childTnLst>
                                    <p:animMotion origin="layout" path="M 4.16667E-6 3.58025E-6 L 0.5802 0.00031 " pathEditMode="relative" rAng="0" ptsTypes="AA">
                                      <p:cBhvr>
                                        <p:cTn id="9" dur="4000" fill="hold"/>
                                        <p:tgtEl>
                                          <p:spTgt spid="11"/>
                                        </p:tgtEl>
                                        <p:attrNameLst>
                                          <p:attrName>ppt_x</p:attrName>
                                          <p:attrName>ppt_y</p:attrName>
                                        </p:attrNameLst>
                                      </p:cBhvr>
                                      <p:rCtr x="29010" y="0"/>
                                    </p:animMotion>
                                  </p:childTnLst>
                                </p:cTn>
                              </p:par>
                            </p:childTnLst>
                          </p:cTn>
                        </p:par>
                        <p:par>
                          <p:cTn id="10" fill="hold">
                            <p:stCondLst>
                              <p:cond delay="4010"/>
                            </p:stCondLst>
                            <p:childTnLst>
                              <p:par>
                                <p:cTn id="11" presetID="1" presetClass="entr" presetSubtype="0" fill="hold"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4510"/>
                            </p:stCondLst>
                            <p:childTnLst>
                              <p:par>
                                <p:cTn id="14" presetID="35" presetClass="path" presetSubtype="0" accel="50000" decel="50000" fill="hold" nodeType="afterEffect">
                                  <p:stCondLst>
                                    <p:cond delay="0"/>
                                  </p:stCondLst>
                                  <p:childTnLst>
                                    <p:animMotion origin="layout" path="M -5.55556E-7 -1.7284E-6 L -0.6033 0.00525 " pathEditMode="relative" rAng="0" ptsTypes="AA">
                                      <p:cBhvr>
                                        <p:cTn id="15" dur="4000" fill="hold"/>
                                        <p:tgtEl>
                                          <p:spTgt spid="14"/>
                                        </p:tgtEl>
                                        <p:attrNameLst>
                                          <p:attrName>ppt_x</p:attrName>
                                          <p:attrName>ppt_y</p:attrName>
                                        </p:attrNameLst>
                                      </p:cBhvr>
                                      <p:rCtr x="-30174" y="247"/>
                                    </p:animMotion>
                                  </p:childTnLst>
                                </p:cTn>
                              </p:par>
                            </p:childTnLst>
                          </p:cTn>
                        </p:par>
                        <p:par>
                          <p:cTn id="16" fill="hold">
                            <p:stCondLst>
                              <p:cond delay="8510"/>
                            </p:stCondLst>
                            <p:childTnLst>
                              <p:par>
                                <p:cTn id="17" presetID="1" presetClass="entr" presetSubtype="0" fill="hold"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9010"/>
                            </p:stCondLst>
                            <p:childTnLst>
                              <p:par>
                                <p:cTn id="20" presetID="63" presetClass="path" presetSubtype="0" accel="50000" decel="50000" fill="hold" nodeType="afterEffect">
                                  <p:stCondLst>
                                    <p:cond delay="500"/>
                                  </p:stCondLst>
                                  <p:childTnLst>
                                    <p:animMotion origin="layout" path="M -4.16667E-6 1.23457E-7 L 0.58021 -0.00062 " pathEditMode="relative" rAng="0" ptsTypes="AA">
                                      <p:cBhvr>
                                        <p:cTn id="21" dur="4000" fill="hold"/>
                                        <p:tgtEl>
                                          <p:spTgt spid="17"/>
                                        </p:tgtEl>
                                        <p:attrNameLst>
                                          <p:attrName>ppt_x</p:attrName>
                                          <p:attrName>ppt_y</p:attrName>
                                        </p:attrNameLst>
                                      </p:cBhvr>
                                      <p:rCtr x="29010" y="-31"/>
                                    </p:animMotion>
                                  </p:childTnLst>
                                </p:cTn>
                              </p:par>
                            </p:childTnLst>
                          </p:cTn>
                        </p:par>
                        <p:par>
                          <p:cTn id="22" fill="hold">
                            <p:stCondLst>
                              <p:cond delay="13510"/>
                            </p:stCondLst>
                            <p:childTnLst>
                              <p:par>
                                <p:cTn id="23" presetID="1"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13510"/>
                            </p:stCondLst>
                            <p:childTnLst>
                              <p:par>
                                <p:cTn id="26" presetID="35" presetClass="path" presetSubtype="0" accel="50000" decel="50000" fill="hold" nodeType="afterEffect">
                                  <p:stCondLst>
                                    <p:cond delay="500"/>
                                  </p:stCondLst>
                                  <p:childTnLst>
                                    <p:animMotion origin="layout" path="M 4.72222E-6 -3.95062E-6 L -0.58056 0.00432 " pathEditMode="relative" rAng="0" ptsTypes="AA">
                                      <p:cBhvr>
                                        <p:cTn id="27" dur="4000" fill="hold"/>
                                        <p:tgtEl>
                                          <p:spTgt spid="20"/>
                                        </p:tgtEl>
                                        <p:attrNameLst>
                                          <p:attrName>ppt_x</p:attrName>
                                          <p:attrName>ppt_y</p:attrName>
                                        </p:attrNameLst>
                                      </p:cBhvr>
                                      <p:rCtr x="-29028" y="216"/>
                                    </p:animMotion>
                                  </p:childTnLst>
                                </p:cTn>
                              </p:par>
                            </p:childTnLst>
                          </p:cTn>
                        </p:par>
                        <p:par>
                          <p:cTn id="28" fill="hold">
                            <p:stCondLst>
                              <p:cond delay="18010"/>
                            </p:stCondLst>
                            <p:childTnLst>
                              <p:par>
                                <p:cTn id="29" presetID="1" presetClass="entr" presetSubtype="0" fill="hold" nodeType="afterEffect">
                                  <p:stCondLst>
                                    <p:cond delay="50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p:stCondLst>
                              <p:cond delay="18510"/>
                            </p:stCondLst>
                            <p:childTnLst>
                              <p:par>
                                <p:cTn id="32" presetID="63" presetClass="path" presetSubtype="0" accel="50000" decel="50000" fill="hold" nodeType="afterEffect">
                                  <p:stCondLst>
                                    <p:cond delay="500"/>
                                  </p:stCondLst>
                                  <p:childTnLst>
                                    <p:animMotion origin="layout" path="M 5E-6 1.23457E-7 L 0.58021 -0.00062 " pathEditMode="relative" rAng="0" ptsTypes="AA">
                                      <p:cBhvr>
                                        <p:cTn id="33" dur="4000" fill="hold"/>
                                        <p:tgtEl>
                                          <p:spTgt spid="30"/>
                                        </p:tgtEl>
                                        <p:attrNameLst>
                                          <p:attrName>ppt_x</p:attrName>
                                          <p:attrName>ppt_y</p:attrName>
                                        </p:attrNameLst>
                                      </p:cBhvr>
                                      <p:rCtr x="29010" y="-31"/>
                                    </p:animMotion>
                                  </p:childTnLst>
                                </p:cTn>
                              </p:par>
                            </p:childTnLst>
                          </p:cTn>
                        </p:par>
                        <p:par>
                          <p:cTn id="34" fill="hold">
                            <p:stCondLst>
                              <p:cond delay="23010"/>
                            </p:stCondLst>
                            <p:childTnLst>
                              <p:par>
                                <p:cTn id="35" presetID="1"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p:stCondLst>
                              <p:cond delay="23010"/>
                            </p:stCondLst>
                            <p:childTnLst>
                              <p:par>
                                <p:cTn id="38" presetID="35" presetClass="path" presetSubtype="0" accel="50000" decel="50000" fill="hold" nodeType="afterEffect">
                                  <p:stCondLst>
                                    <p:cond delay="500"/>
                                  </p:stCondLst>
                                  <p:childTnLst>
                                    <p:animMotion origin="layout" path="M 4.72222E-6 4.69136E-6 L -0.58056 0.00432 " pathEditMode="relative" rAng="0" ptsTypes="AA">
                                      <p:cBhvr>
                                        <p:cTn id="39" dur="4000" fill="hold"/>
                                        <p:tgtEl>
                                          <p:spTgt spid="33"/>
                                        </p:tgtEl>
                                        <p:attrNameLst>
                                          <p:attrName>ppt_x</p:attrName>
                                          <p:attrName>ppt_y</p:attrName>
                                        </p:attrNameLst>
                                      </p:cBhvr>
                                      <p:rCtr x="-29028" y="216"/>
                                    </p:animMotion>
                                  </p:childTnLst>
                                </p:cTn>
                              </p:par>
                            </p:childTnLst>
                          </p:cTn>
                        </p:par>
                        <p:par>
                          <p:cTn id="40" fill="hold">
                            <p:stCondLst>
                              <p:cond delay="27510"/>
                            </p:stCondLst>
                            <p:childTnLst>
                              <p:par>
                                <p:cTn id="41" presetID="1" presetClass="exit" presetSubtype="0" fill="hold" nodeType="afterEffect">
                                  <p:stCondLst>
                                    <p:cond delay="500"/>
                                  </p:stCondLst>
                                  <p:childTnLst>
                                    <p:set>
                                      <p:cBhvr>
                                        <p:cTn id="42" dur="1" fill="hold">
                                          <p:stCondLst>
                                            <p:cond delay="0"/>
                                          </p:stCondLst>
                                        </p:cTn>
                                        <p:tgtEl>
                                          <p:spTgt spid="30"/>
                                        </p:tgtEl>
                                        <p:attrNameLst>
                                          <p:attrName>style.visibility</p:attrName>
                                        </p:attrNameLst>
                                      </p:cBhvr>
                                      <p:to>
                                        <p:strVal val="hidden"/>
                                      </p:to>
                                    </p:set>
                                  </p:childTnLst>
                                </p:cTn>
                              </p:par>
                            </p:childTnLst>
                          </p:cTn>
                        </p:par>
                        <p:par>
                          <p:cTn id="43" fill="hold">
                            <p:stCondLst>
                              <p:cond delay="28010"/>
                            </p:stCondLst>
                            <p:childTnLst>
                              <p:par>
                                <p:cTn id="44" presetID="1" presetClass="exit" presetSubtype="0" fill="hold" nodeType="afterEffect">
                                  <p:stCondLst>
                                    <p:cond delay="0"/>
                                  </p:stCondLst>
                                  <p:childTnLst>
                                    <p:set>
                                      <p:cBhvr>
                                        <p:cTn id="45" dur="1" fill="hold">
                                          <p:stCondLst>
                                            <p:cond delay="0"/>
                                          </p:stCondLst>
                                        </p:cTn>
                                        <p:tgtEl>
                                          <p:spTgt spid="33"/>
                                        </p:tgtEl>
                                        <p:attrNameLst>
                                          <p:attrName>style.visibility</p:attrName>
                                        </p:attrNameLst>
                                      </p:cBhvr>
                                      <p:to>
                                        <p:strVal val="hidden"/>
                                      </p:to>
                                    </p:set>
                                  </p:childTnLst>
                                </p:cTn>
                              </p:par>
                            </p:childTnLst>
                          </p:cTn>
                        </p:par>
                        <p:par>
                          <p:cTn id="46" fill="hold">
                            <p:stCondLst>
                              <p:cond delay="28010"/>
                            </p:stCondLst>
                            <p:childTnLst>
                              <p:par>
                                <p:cTn id="47" presetID="1" presetClass="entr" presetSubtype="0" fill="hold" nodeType="afterEffect">
                                  <p:stCondLst>
                                    <p:cond delay="250"/>
                                  </p:stCondLst>
                                  <p:childTnLst>
                                    <p:set>
                                      <p:cBhvr>
                                        <p:cTn id="48" dur="1" fill="hold">
                                          <p:stCondLst>
                                            <p:cond delay="0"/>
                                          </p:stCondLst>
                                        </p:cTn>
                                        <p:tgtEl>
                                          <p:spTgt spid="36"/>
                                        </p:tgtEl>
                                        <p:attrNameLst>
                                          <p:attrName>style.visibility</p:attrName>
                                        </p:attrNameLst>
                                      </p:cBhvr>
                                      <p:to>
                                        <p:strVal val="visible"/>
                                      </p:to>
                                    </p:set>
                                  </p:childTnLst>
                                </p:cTn>
                              </p:par>
                            </p:childTnLst>
                          </p:cTn>
                        </p:par>
                        <p:par>
                          <p:cTn id="49" fill="hold">
                            <p:stCondLst>
                              <p:cond delay="28260"/>
                            </p:stCondLst>
                            <p:childTnLst>
                              <p:par>
                                <p:cTn id="50" presetID="63" presetClass="path" presetSubtype="0" accel="50000" decel="50000" fill="hold" nodeType="afterEffect">
                                  <p:stCondLst>
                                    <p:cond delay="500"/>
                                  </p:stCondLst>
                                  <p:childTnLst>
                                    <p:animMotion origin="layout" path="M -4.16667E-6 -3.95062E-6 L 0.58021 -0.00061 " pathEditMode="relative" rAng="0" ptsTypes="AA">
                                      <p:cBhvr>
                                        <p:cTn id="51" dur="4000" fill="hold"/>
                                        <p:tgtEl>
                                          <p:spTgt spid="36"/>
                                        </p:tgtEl>
                                        <p:attrNameLst>
                                          <p:attrName>ppt_x</p:attrName>
                                          <p:attrName>ppt_y</p:attrName>
                                        </p:attrNameLst>
                                      </p:cBhvr>
                                      <p:rCtr x="29010" y="-31"/>
                                    </p:animMotion>
                                  </p:childTnLst>
                                </p:cTn>
                              </p:par>
                            </p:childTnLst>
                          </p:cTn>
                        </p:par>
                        <p:par>
                          <p:cTn id="52" fill="hold">
                            <p:stCondLst>
                              <p:cond delay="32760"/>
                            </p:stCondLst>
                            <p:childTnLst>
                              <p:par>
                                <p:cTn id="53" presetID="1" presetClass="entr" presetSubtype="0"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par>
                          <p:cTn id="55" fill="hold">
                            <p:stCondLst>
                              <p:cond delay="32760"/>
                            </p:stCondLst>
                            <p:childTnLst>
                              <p:par>
                                <p:cTn id="56" presetID="35" presetClass="path" presetSubtype="0" accel="50000" decel="50000" fill="hold" nodeType="afterEffect">
                                  <p:stCondLst>
                                    <p:cond delay="500"/>
                                  </p:stCondLst>
                                  <p:childTnLst>
                                    <p:animMotion origin="layout" path="M 1.94444E-6 1.97531E-6 L -0.58056 0.00432 " pathEditMode="relative" rAng="0" ptsTypes="AA">
                                      <p:cBhvr>
                                        <p:cTn id="57" dur="4000" fill="hold"/>
                                        <p:tgtEl>
                                          <p:spTgt spid="39"/>
                                        </p:tgtEl>
                                        <p:attrNameLst>
                                          <p:attrName>ppt_x</p:attrName>
                                          <p:attrName>ppt_y</p:attrName>
                                        </p:attrNameLst>
                                      </p:cBhvr>
                                      <p:rCtr x="-29028" y="216"/>
                                    </p:animMotion>
                                  </p:childTnLst>
                                </p:cTn>
                              </p:par>
                            </p:childTnLst>
                          </p:cTn>
                        </p:par>
                        <p:par>
                          <p:cTn id="58" fill="hold">
                            <p:stCondLst>
                              <p:cond delay="37260"/>
                            </p:stCondLst>
                            <p:childTnLst>
                              <p:par>
                                <p:cTn id="59" presetID="1" presetClass="exit" presetSubtype="0" fill="hold" nodeType="afterEffect">
                                  <p:stCondLst>
                                    <p:cond delay="250"/>
                                  </p:stCondLst>
                                  <p:childTnLst>
                                    <p:set>
                                      <p:cBhvr>
                                        <p:cTn id="60" dur="1" fill="hold">
                                          <p:stCondLst>
                                            <p:cond delay="0"/>
                                          </p:stCondLst>
                                        </p:cTn>
                                        <p:tgtEl>
                                          <p:spTgt spid="36"/>
                                        </p:tgtEl>
                                        <p:attrNameLst>
                                          <p:attrName>style.visibility</p:attrName>
                                        </p:attrNameLst>
                                      </p:cBhvr>
                                      <p:to>
                                        <p:strVal val="hidden"/>
                                      </p:to>
                                    </p:set>
                                  </p:childTnLst>
                                </p:cTn>
                              </p:par>
                            </p:childTnLst>
                          </p:cTn>
                        </p:par>
                        <p:par>
                          <p:cTn id="61" fill="hold">
                            <p:stCondLst>
                              <p:cond delay="37510"/>
                            </p:stCondLst>
                            <p:childTnLst>
                              <p:par>
                                <p:cTn id="62" presetID="1" presetClass="exit" presetSubtype="0" fill="hold" nodeType="afterEffect">
                                  <p:stCondLst>
                                    <p:cond delay="0"/>
                                  </p:stCondLst>
                                  <p:childTnLst>
                                    <p:set>
                                      <p:cBhvr>
                                        <p:cTn id="63" dur="1" fill="hold">
                                          <p:stCondLst>
                                            <p:cond delay="0"/>
                                          </p:stCondLst>
                                        </p:cTn>
                                        <p:tgtEl>
                                          <p:spTgt spid="39"/>
                                        </p:tgtEl>
                                        <p:attrNameLst>
                                          <p:attrName>style.visibility</p:attrName>
                                        </p:attrNameLst>
                                      </p:cBhvr>
                                      <p:to>
                                        <p:strVal val="hidden"/>
                                      </p:to>
                                    </p:set>
                                  </p:childTnLst>
                                </p:cTn>
                              </p:par>
                            </p:childTnLst>
                          </p:cTn>
                        </p:par>
                        <p:par>
                          <p:cTn id="64" fill="hold">
                            <p:stCondLst>
                              <p:cond delay="37510"/>
                            </p:stCondLst>
                            <p:childTnLst>
                              <p:par>
                                <p:cTn id="65" presetID="1" presetClass="entr" presetSubtype="0" fill="hold" nodeType="afterEffect">
                                  <p:stCondLst>
                                    <p:cond delay="500"/>
                                  </p:stCondLst>
                                  <p:childTnLst>
                                    <p:set>
                                      <p:cBhvr>
                                        <p:cTn id="66" dur="1" fill="hold">
                                          <p:stCondLst>
                                            <p:cond delay="0"/>
                                          </p:stCondLst>
                                        </p:cTn>
                                        <p:tgtEl>
                                          <p:spTgt spid="42"/>
                                        </p:tgtEl>
                                        <p:attrNameLst>
                                          <p:attrName>style.visibility</p:attrName>
                                        </p:attrNameLst>
                                      </p:cBhvr>
                                      <p:to>
                                        <p:strVal val="visible"/>
                                      </p:to>
                                    </p:set>
                                  </p:childTnLst>
                                </p:cTn>
                              </p:par>
                            </p:childTnLst>
                          </p:cTn>
                        </p:par>
                        <p:par>
                          <p:cTn id="67" fill="hold">
                            <p:stCondLst>
                              <p:cond delay="38010"/>
                            </p:stCondLst>
                            <p:childTnLst>
                              <p:par>
                                <p:cTn id="68" presetID="63" presetClass="path" presetSubtype="0" accel="50000" decel="50000" fill="hold" nodeType="afterEffect">
                                  <p:stCondLst>
                                    <p:cond delay="250"/>
                                  </p:stCondLst>
                                  <p:childTnLst>
                                    <p:animMotion origin="layout" path="M 5E-6 1.23457E-7 L 0.58021 -0.00062 " pathEditMode="relative" rAng="0" ptsTypes="AA">
                                      <p:cBhvr>
                                        <p:cTn id="69" dur="4000" fill="hold"/>
                                        <p:tgtEl>
                                          <p:spTgt spid="42"/>
                                        </p:tgtEl>
                                        <p:attrNameLst>
                                          <p:attrName>ppt_x</p:attrName>
                                          <p:attrName>ppt_y</p:attrName>
                                        </p:attrNameLst>
                                      </p:cBhvr>
                                      <p:rCtr x="29010" y="-31"/>
                                    </p:animMotion>
                                  </p:childTnLst>
                                </p:cTn>
                              </p:par>
                            </p:childTnLst>
                          </p:cTn>
                        </p:par>
                        <p:par>
                          <p:cTn id="70" fill="hold">
                            <p:stCondLst>
                              <p:cond delay="42260"/>
                            </p:stCondLst>
                            <p:childTnLst>
                              <p:par>
                                <p:cTn id="71" presetID="1" presetClass="entr" presetSubtype="0" fill="hold" nodeType="after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par>
                          <p:cTn id="73" fill="hold">
                            <p:stCondLst>
                              <p:cond delay="42260"/>
                            </p:stCondLst>
                            <p:childTnLst>
                              <p:par>
                                <p:cTn id="74" presetID="35" presetClass="path" presetSubtype="0" accel="50000" decel="50000" fill="hold" nodeType="afterEffect">
                                  <p:stCondLst>
                                    <p:cond delay="500"/>
                                  </p:stCondLst>
                                  <p:childTnLst>
                                    <p:animMotion origin="layout" path="M 4.72222E-6 4.69136E-6 L -0.58056 0.00432 " pathEditMode="relative" rAng="0" ptsTypes="AA">
                                      <p:cBhvr>
                                        <p:cTn id="75" dur="4000" fill="hold"/>
                                        <p:tgtEl>
                                          <p:spTgt spid="45"/>
                                        </p:tgtEl>
                                        <p:attrNameLst>
                                          <p:attrName>ppt_x</p:attrName>
                                          <p:attrName>ppt_y</p:attrName>
                                        </p:attrNameLst>
                                      </p:cBhvr>
                                      <p:rCtr x="-29028" y="216"/>
                                    </p:animMotion>
                                  </p:childTnLst>
                                </p:cTn>
                              </p:par>
                            </p:childTnLst>
                          </p:cTn>
                        </p:par>
                        <p:par>
                          <p:cTn id="76" fill="hold">
                            <p:stCondLst>
                              <p:cond delay="46760"/>
                            </p:stCondLst>
                            <p:childTnLst>
                              <p:par>
                                <p:cTn id="77" presetID="4" presetClass="entr" presetSubtype="32"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ox(out)">
                                      <p:cBhvr>
                                        <p:cTn id="79" dur="1000"/>
                                        <p:tgtEl>
                                          <p:spTgt spid="29"/>
                                        </p:tgtEl>
                                      </p:cBhvr>
                                    </p:animEffect>
                                  </p:childTnLst>
                                </p:cTn>
                              </p:par>
                            </p:childTnLst>
                          </p:cTn>
                        </p:par>
                        <p:par>
                          <p:cTn id="80" fill="hold">
                            <p:stCondLst>
                              <p:cond delay="47760"/>
                            </p:stCondLst>
                            <p:childTnLst>
                              <p:par>
                                <p:cTn id="81" presetID="6" presetClass="emph" presetSubtype="0" fill="hold" grpId="1" nodeType="afterEffect">
                                  <p:stCondLst>
                                    <p:cond delay="0"/>
                                  </p:stCondLst>
                                  <p:childTnLst>
                                    <p:animScale>
                                      <p:cBhvr>
                                        <p:cTn id="82" dur="100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a:extLst>
              <a:ext uri="{FF2B5EF4-FFF2-40B4-BE49-F238E27FC236}">
                <a16:creationId xmlns:a16="http://schemas.microsoft.com/office/drawing/2014/main" id="{0557EA87-F8CB-9BD3-E8AD-FB6481216614}"/>
              </a:ext>
            </a:extLst>
          </p:cNvPr>
          <p:cNvGrpSpPr/>
          <p:nvPr/>
        </p:nvGrpSpPr>
        <p:grpSpPr>
          <a:xfrm>
            <a:off x="1043704" y="2343787"/>
            <a:ext cx="1440000" cy="1404000"/>
            <a:chOff x="6301911" y="2448000"/>
            <a:chExt cx="1440000" cy="1404000"/>
          </a:xfrm>
          <a:solidFill>
            <a:srgbClr val="7CE07C"/>
          </a:solidFill>
        </p:grpSpPr>
        <p:sp>
          <p:nvSpPr>
            <p:cNvPr id="68" name="立方体 67">
              <a:extLst>
                <a:ext uri="{FF2B5EF4-FFF2-40B4-BE49-F238E27FC236}">
                  <a16:creationId xmlns:a16="http://schemas.microsoft.com/office/drawing/2014/main" id="{2CB69309-EA7A-E53F-429C-A3613BABD27E}"/>
                </a:ext>
              </a:extLst>
            </p:cNvPr>
            <p:cNvSpPr/>
            <p:nvPr/>
          </p:nvSpPr>
          <p:spPr>
            <a:xfrm>
              <a:off x="6301911" y="3420000"/>
              <a:ext cx="1440000" cy="432000"/>
            </a:xfrm>
            <a:prstGeom prst="cube">
              <a:avLst/>
            </a:prstGeom>
            <a:grpFill/>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ysClr val="windowText" lastClr="000000"/>
                  </a:solidFill>
                </a:rPr>
                <a:t>1 </a:t>
              </a:r>
              <a:r>
                <a:rPr lang="zh-CN" altLang="en-US" sz="1200" dirty="0">
                  <a:solidFill>
                    <a:sysClr val="windowText" lastClr="000000"/>
                  </a:solidFill>
                </a:rPr>
                <a:t>网络接口层</a:t>
              </a:r>
            </a:p>
          </p:txBody>
        </p:sp>
        <p:sp>
          <p:nvSpPr>
            <p:cNvPr id="69" name="立方体 68">
              <a:extLst>
                <a:ext uri="{FF2B5EF4-FFF2-40B4-BE49-F238E27FC236}">
                  <a16:creationId xmlns:a16="http://schemas.microsoft.com/office/drawing/2014/main" id="{14B1B9DD-020A-AC3F-BE06-2B15807AFC60}"/>
                </a:ext>
              </a:extLst>
            </p:cNvPr>
            <p:cNvSpPr/>
            <p:nvPr/>
          </p:nvSpPr>
          <p:spPr>
            <a:xfrm>
              <a:off x="6301911" y="3096000"/>
              <a:ext cx="1440000" cy="432000"/>
            </a:xfrm>
            <a:prstGeom prst="cube">
              <a:avLst/>
            </a:prstGeom>
            <a:grpFill/>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ysClr val="windowText" lastClr="000000"/>
                  </a:solidFill>
                </a:rPr>
                <a:t>2 </a:t>
              </a:r>
              <a:r>
                <a:rPr lang="zh-CN" altLang="en-US" sz="1200" dirty="0">
                  <a:solidFill>
                    <a:sysClr val="windowText" lastClr="000000"/>
                  </a:solidFill>
                </a:rPr>
                <a:t>网际层</a:t>
              </a:r>
            </a:p>
          </p:txBody>
        </p:sp>
        <p:sp>
          <p:nvSpPr>
            <p:cNvPr id="70" name="立方体 69">
              <a:extLst>
                <a:ext uri="{FF2B5EF4-FFF2-40B4-BE49-F238E27FC236}">
                  <a16:creationId xmlns:a16="http://schemas.microsoft.com/office/drawing/2014/main" id="{BA634E78-CCAF-9920-311D-CD960E182CA7}"/>
                </a:ext>
              </a:extLst>
            </p:cNvPr>
            <p:cNvSpPr/>
            <p:nvPr/>
          </p:nvSpPr>
          <p:spPr>
            <a:xfrm>
              <a:off x="6301911" y="2772000"/>
              <a:ext cx="1440000" cy="432000"/>
            </a:xfrm>
            <a:prstGeom prst="cube">
              <a:avLst/>
            </a:prstGeom>
            <a:grpFill/>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ysClr val="windowText" lastClr="000000"/>
                  </a:solidFill>
                </a:rPr>
                <a:t>3 </a:t>
              </a:r>
              <a:r>
                <a:rPr lang="zh-CN" altLang="en-US" sz="1200" dirty="0">
                  <a:solidFill>
                    <a:sysClr val="windowText" lastClr="000000"/>
                  </a:solidFill>
                </a:rPr>
                <a:t>运输层</a:t>
              </a:r>
            </a:p>
          </p:txBody>
        </p:sp>
        <p:sp>
          <p:nvSpPr>
            <p:cNvPr id="71" name="立方体 70">
              <a:extLst>
                <a:ext uri="{FF2B5EF4-FFF2-40B4-BE49-F238E27FC236}">
                  <a16:creationId xmlns:a16="http://schemas.microsoft.com/office/drawing/2014/main" id="{ADE0C2FB-7B1F-282A-D124-87499BE09365}"/>
                </a:ext>
              </a:extLst>
            </p:cNvPr>
            <p:cNvSpPr/>
            <p:nvPr/>
          </p:nvSpPr>
          <p:spPr>
            <a:xfrm>
              <a:off x="6301911" y="2448000"/>
              <a:ext cx="1440000" cy="432000"/>
            </a:xfrm>
            <a:prstGeom prst="cube">
              <a:avLst/>
            </a:prstGeom>
            <a:grp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ysClr val="windowText" lastClr="000000"/>
                  </a:solidFill>
                </a:rPr>
                <a:t>4 </a:t>
              </a:r>
              <a:r>
                <a:rPr lang="zh-CN" altLang="en-US" sz="1200" dirty="0">
                  <a:solidFill>
                    <a:sysClr val="windowText" lastClr="000000"/>
                  </a:solidFill>
                </a:rPr>
                <a:t>应用层</a:t>
              </a:r>
            </a:p>
          </p:txBody>
        </p:sp>
      </p:grpSp>
      <p:graphicFrame>
        <p:nvGraphicFramePr>
          <p:cNvPr id="5" name="Object 2"/>
          <p:cNvGraphicFramePr>
            <a:graphicFrameLocks noChangeAspect="1"/>
          </p:cNvGraphicFramePr>
          <p:nvPr>
            <p:extLst>
              <p:ext uri="{D42A27DB-BD31-4B8C-83A1-F6EECF244321}">
                <p14:modId xmlns:p14="http://schemas.microsoft.com/office/powerpoint/2010/main" val="3147707979"/>
              </p:ext>
            </p:extLst>
          </p:nvPr>
        </p:nvGraphicFramePr>
        <p:xfrm>
          <a:off x="2331306" y="3661121"/>
          <a:ext cx="1400946" cy="688943"/>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306" y="3661121"/>
                        <a:ext cx="1400946"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192345011"/>
              </p:ext>
            </p:extLst>
          </p:nvPr>
        </p:nvGraphicFramePr>
        <p:xfrm>
          <a:off x="4979732" y="3637093"/>
          <a:ext cx="1402319" cy="688943"/>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732" y="3637093"/>
                        <a:ext cx="1402319"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19"/>
          <p:cNvSpPr txBox="1">
            <a:spLocks noChangeArrowheads="1"/>
          </p:cNvSpPr>
          <p:nvPr/>
        </p:nvSpPr>
        <p:spPr bwMode="auto">
          <a:xfrm>
            <a:off x="5327310" y="3825189"/>
            <a:ext cx="62068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dirty="0">
                <a:latin typeface="+mj-lt"/>
                <a:ea typeface="+mj-ea"/>
              </a:rPr>
              <a:t>网络 </a:t>
            </a:r>
            <a:r>
              <a:rPr lang="en-US" altLang="zh-CN" sz="1200" dirty="0">
                <a:latin typeface="+mj-lt"/>
                <a:ea typeface="+mj-ea"/>
              </a:rPr>
              <a:t>2</a:t>
            </a:r>
          </a:p>
        </p:txBody>
      </p:sp>
      <p:sp>
        <p:nvSpPr>
          <p:cNvPr id="22" name="Text Box 20"/>
          <p:cNvSpPr txBox="1">
            <a:spLocks noChangeArrowheads="1"/>
          </p:cNvSpPr>
          <p:nvPr/>
        </p:nvSpPr>
        <p:spPr bwMode="auto">
          <a:xfrm>
            <a:off x="2698149" y="3853980"/>
            <a:ext cx="60625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dirty="0">
                <a:latin typeface="+mj-lt"/>
                <a:ea typeface="+mj-ea"/>
              </a:rPr>
              <a:t>网络 </a:t>
            </a:r>
            <a:r>
              <a:rPr lang="en-US" altLang="zh-CN" sz="1200" dirty="0">
                <a:latin typeface="+mj-lt"/>
                <a:ea typeface="+mj-ea"/>
              </a:rPr>
              <a:t>1</a:t>
            </a:r>
          </a:p>
        </p:txBody>
      </p:sp>
      <p:sp>
        <p:nvSpPr>
          <p:cNvPr id="23" name="Line 21"/>
          <p:cNvSpPr>
            <a:spLocks noChangeShapeType="1"/>
          </p:cNvSpPr>
          <p:nvPr/>
        </p:nvSpPr>
        <p:spPr bwMode="auto">
          <a:xfrm>
            <a:off x="1898735" y="3738261"/>
            <a:ext cx="762686" cy="265113"/>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4" name="Line 22"/>
          <p:cNvSpPr>
            <a:spLocks noChangeShapeType="1"/>
          </p:cNvSpPr>
          <p:nvPr/>
        </p:nvSpPr>
        <p:spPr bwMode="auto">
          <a:xfrm flipH="1">
            <a:off x="3534186" y="3745800"/>
            <a:ext cx="493964" cy="26000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5" name="Line 23"/>
          <p:cNvSpPr>
            <a:spLocks noChangeShapeType="1"/>
          </p:cNvSpPr>
          <p:nvPr/>
        </p:nvSpPr>
        <p:spPr bwMode="auto">
          <a:xfrm>
            <a:off x="4634406" y="3738262"/>
            <a:ext cx="602188" cy="260486"/>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6" name="Line 24"/>
          <p:cNvSpPr>
            <a:spLocks noChangeShapeType="1"/>
          </p:cNvSpPr>
          <p:nvPr/>
        </p:nvSpPr>
        <p:spPr bwMode="auto">
          <a:xfrm flipH="1">
            <a:off x="6035746" y="3739849"/>
            <a:ext cx="696842" cy="26595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0" name="矩形 30"/>
          <p:cNvSpPr>
            <a:spLocks noChangeArrowheads="1"/>
          </p:cNvSpPr>
          <p:nvPr/>
        </p:nvSpPr>
        <p:spPr bwMode="auto">
          <a:xfrm>
            <a:off x="3246438" y="1768040"/>
            <a:ext cx="2651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TCP/IP </a:t>
            </a:r>
            <a:r>
              <a:rPr lang="zh-CN" altLang="en-US" b="1" dirty="0">
                <a:solidFill>
                  <a:srgbClr val="0000FF"/>
                </a:solidFill>
                <a:latin typeface="微软雅黑" panose="020B0503020204020204" pitchFamily="34" charset="-122"/>
                <a:ea typeface="微软雅黑" panose="020B0503020204020204" pitchFamily="34" charset="-122"/>
              </a:rPr>
              <a:t>是四层体系结构</a:t>
            </a:r>
          </a:p>
        </p:txBody>
      </p:sp>
      <p:sp>
        <p:nvSpPr>
          <p:cNvPr id="31" name="矩形 31"/>
          <p:cNvSpPr>
            <a:spLocks noChangeArrowheads="1"/>
          </p:cNvSpPr>
          <p:nvPr/>
        </p:nvSpPr>
        <p:spPr bwMode="auto">
          <a:xfrm>
            <a:off x="1484313" y="4330400"/>
            <a:ext cx="594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b="1" dirty="0">
                <a:solidFill>
                  <a:srgbClr val="000066"/>
                </a:solidFill>
                <a:latin typeface="微软雅黑" panose="020B0503020204020204" pitchFamily="34" charset="-122"/>
                <a:ea typeface="微软雅黑" panose="020B0503020204020204" pitchFamily="34" charset="-122"/>
              </a:rPr>
              <a:t>路由器在转发分组时</a:t>
            </a:r>
            <a:r>
              <a:rPr lang="zh-CN" altLang="en-US" sz="1400" b="1" dirty="0">
                <a:solidFill>
                  <a:srgbClr val="C00000"/>
                </a:solidFill>
                <a:latin typeface="微软雅黑" panose="020B0503020204020204" pitchFamily="34" charset="-122"/>
                <a:ea typeface="微软雅黑" panose="020B0503020204020204" pitchFamily="34" charset="-122"/>
              </a:rPr>
              <a:t>最高</a:t>
            </a:r>
            <a:r>
              <a:rPr lang="zh-CN" altLang="en-US" sz="1400" b="1" dirty="0">
                <a:solidFill>
                  <a:srgbClr val="000066"/>
                </a:solidFill>
                <a:latin typeface="微软雅黑" panose="020B0503020204020204" pitchFamily="34" charset="-122"/>
                <a:ea typeface="微软雅黑" panose="020B0503020204020204" pitchFamily="34" charset="-122"/>
              </a:rPr>
              <a:t>只用到</a:t>
            </a:r>
            <a:r>
              <a:rPr lang="zh-CN" altLang="en-US" sz="1400" b="1" dirty="0">
                <a:solidFill>
                  <a:srgbClr val="C00000"/>
                </a:solidFill>
                <a:latin typeface="微软雅黑" panose="020B0503020204020204" pitchFamily="34" charset="-122"/>
                <a:ea typeface="微软雅黑" panose="020B0503020204020204" pitchFamily="34" charset="-122"/>
              </a:rPr>
              <a:t>网际层，</a:t>
            </a:r>
            <a:r>
              <a:rPr lang="zh-CN" altLang="en-US" sz="1400" b="1" dirty="0">
                <a:solidFill>
                  <a:srgbClr val="000066"/>
                </a:solidFill>
                <a:latin typeface="微软雅黑" panose="020B0503020204020204" pitchFamily="34" charset="-122"/>
                <a:ea typeface="微软雅黑" panose="020B0503020204020204" pitchFamily="34" charset="-122"/>
              </a:rPr>
              <a:t>没有使用运输层和应用层</a:t>
            </a:r>
          </a:p>
        </p:txBody>
      </p:sp>
      <p:sp>
        <p:nvSpPr>
          <p:cNvPr id="32" name="Text Box 29"/>
          <p:cNvSpPr txBox="1">
            <a:spLocks noChangeArrowheads="1"/>
          </p:cNvSpPr>
          <p:nvPr/>
        </p:nvSpPr>
        <p:spPr bwMode="auto">
          <a:xfrm>
            <a:off x="1425547" y="1075100"/>
            <a:ext cx="6431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lang="zh-CN" altLang="en-US" sz="1200" dirty="0">
                <a:latin typeface="+mj-lt"/>
                <a:ea typeface="+mj-ea"/>
              </a:rPr>
              <a:t>主机 </a:t>
            </a:r>
            <a:r>
              <a:rPr lang="en-US" altLang="zh-CN" sz="1200" dirty="0">
                <a:latin typeface="+mj-lt"/>
                <a:ea typeface="+mj-ea"/>
              </a:rPr>
              <a:t>A</a:t>
            </a:r>
          </a:p>
        </p:txBody>
      </p:sp>
      <p:sp>
        <p:nvSpPr>
          <p:cNvPr id="33" name="Text Box 29"/>
          <p:cNvSpPr txBox="1">
            <a:spLocks noChangeArrowheads="1"/>
          </p:cNvSpPr>
          <p:nvPr/>
        </p:nvSpPr>
        <p:spPr bwMode="auto">
          <a:xfrm>
            <a:off x="6898593" y="1075100"/>
            <a:ext cx="64793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lang="zh-CN" altLang="en-US" sz="1200" dirty="0">
                <a:latin typeface="+mj-lt"/>
                <a:ea typeface="+mj-ea"/>
              </a:rPr>
              <a:t>主机 </a:t>
            </a:r>
            <a:r>
              <a:rPr lang="en-US" altLang="zh-CN" sz="1200" dirty="0">
                <a:latin typeface="+mj-lt"/>
                <a:ea typeface="+mj-ea"/>
              </a:rPr>
              <a:t>B</a:t>
            </a:r>
          </a:p>
        </p:txBody>
      </p:sp>
      <p:sp>
        <p:nvSpPr>
          <p:cNvPr id="34" name="Text Box 29"/>
          <p:cNvSpPr txBox="1">
            <a:spLocks noChangeArrowheads="1"/>
          </p:cNvSpPr>
          <p:nvPr/>
        </p:nvSpPr>
        <p:spPr bwMode="auto">
          <a:xfrm>
            <a:off x="4086071"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lang="zh-CN" altLang="en-US" sz="1200" dirty="0">
                <a:latin typeface="+mj-lt"/>
                <a:ea typeface="+mj-ea"/>
              </a:rPr>
              <a:t>路由器</a:t>
            </a:r>
            <a:endParaRPr lang="en-US" altLang="zh-CN" sz="1200" dirty="0">
              <a:latin typeface="+mj-lt"/>
              <a:ea typeface="+mj-ea"/>
            </a:endParaRPr>
          </a:p>
        </p:txBody>
      </p:sp>
      <p:cxnSp>
        <p:nvCxnSpPr>
          <p:cNvPr id="35" name="直接连接符 34"/>
          <p:cNvCxnSpPr/>
          <p:nvPr/>
        </p:nvCxnSpPr>
        <p:spPr>
          <a:xfrm>
            <a:off x="1703983" y="1507958"/>
            <a:ext cx="5553552"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8858"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8872"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9983"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0" name="组合 49"/>
          <p:cNvGrpSpPr/>
          <p:nvPr/>
        </p:nvGrpSpPr>
        <p:grpSpPr>
          <a:xfrm>
            <a:off x="2519141" y="1250953"/>
            <a:ext cx="977660" cy="448910"/>
            <a:chOff x="2461478" y="1292143"/>
            <a:chExt cx="977660" cy="448910"/>
          </a:xfrm>
        </p:grpSpPr>
        <p:grpSp>
          <p:nvGrpSpPr>
            <p:cNvPr id="39" name="Group 17"/>
            <p:cNvGrpSpPr/>
            <p:nvPr/>
          </p:nvGrpSpPr>
          <p:grpSpPr bwMode="auto">
            <a:xfrm>
              <a:off x="2461478" y="1292143"/>
              <a:ext cx="977660" cy="448910"/>
              <a:chOff x="1680" y="240"/>
              <a:chExt cx="2529" cy="1270"/>
            </a:xfrm>
            <a:solidFill>
              <a:schemeClr val="bg1"/>
            </a:solidFill>
          </p:grpSpPr>
          <p:sp>
            <p:nvSpPr>
              <p:cNvPr id="40"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1"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2"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3"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4"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5"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6"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7"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48"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grpSp>
        <p:sp>
          <p:nvSpPr>
            <p:cNvPr id="49" name="文本框 48"/>
            <p:cNvSpPr txBox="1"/>
            <p:nvPr/>
          </p:nvSpPr>
          <p:spPr>
            <a:xfrm>
              <a:off x="2702534" y="1377137"/>
              <a:ext cx="588623" cy="276999"/>
            </a:xfrm>
            <a:prstGeom prst="rect">
              <a:avLst/>
            </a:prstGeom>
            <a:noFill/>
          </p:spPr>
          <p:txBody>
            <a:bodyPr wrap="none" rtlCol="0">
              <a:spAutoFit/>
            </a:bodyPr>
            <a:lstStyle/>
            <a:p>
              <a:pPr algn="ctr"/>
              <a:r>
                <a:rPr lang="zh-CN" altLang="en-US" sz="1200" dirty="0"/>
                <a:t>网络 </a:t>
              </a:r>
              <a:r>
                <a:rPr lang="en-US" altLang="zh-CN" sz="1200" dirty="0"/>
                <a:t>1</a:t>
              </a:r>
              <a:endParaRPr lang="zh-CN" altLang="en-US" sz="1200" dirty="0"/>
            </a:p>
          </p:txBody>
        </p:sp>
      </p:grpSp>
      <p:grpSp>
        <p:nvGrpSpPr>
          <p:cNvPr id="51" name="组合 50"/>
          <p:cNvGrpSpPr/>
          <p:nvPr/>
        </p:nvGrpSpPr>
        <p:grpSpPr>
          <a:xfrm>
            <a:off x="5244462" y="1250953"/>
            <a:ext cx="977660" cy="448910"/>
            <a:chOff x="2461478" y="1292143"/>
            <a:chExt cx="977660" cy="448910"/>
          </a:xfrm>
        </p:grpSpPr>
        <p:grpSp>
          <p:nvGrpSpPr>
            <p:cNvPr id="52" name="Group 17"/>
            <p:cNvGrpSpPr/>
            <p:nvPr/>
          </p:nvGrpSpPr>
          <p:grpSpPr bwMode="auto">
            <a:xfrm>
              <a:off x="2461478" y="1292143"/>
              <a:ext cx="977660" cy="448910"/>
              <a:chOff x="1680" y="240"/>
              <a:chExt cx="2529" cy="1270"/>
            </a:xfrm>
            <a:solidFill>
              <a:schemeClr val="bg1"/>
            </a:solidFill>
          </p:grpSpPr>
          <p:sp>
            <p:nvSpPr>
              <p:cNvPr id="54"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5"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6"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7"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8"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59"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0"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1"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sp>
            <p:nvSpPr>
              <p:cNvPr id="62"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微软雅黑 Light" panose="020B0502040204020203" pitchFamily="34" charset="-122"/>
                </a:endParaRPr>
              </a:p>
            </p:txBody>
          </p:sp>
        </p:grpSp>
        <p:sp>
          <p:nvSpPr>
            <p:cNvPr id="53" name="文本框 52"/>
            <p:cNvSpPr txBox="1"/>
            <p:nvPr/>
          </p:nvSpPr>
          <p:spPr>
            <a:xfrm>
              <a:off x="2702534" y="1377137"/>
              <a:ext cx="620683" cy="276999"/>
            </a:xfrm>
            <a:prstGeom prst="rect">
              <a:avLst/>
            </a:prstGeom>
            <a:noFill/>
          </p:spPr>
          <p:txBody>
            <a:bodyPr wrap="none" rtlCol="0">
              <a:spAutoFit/>
            </a:bodyPr>
            <a:lstStyle/>
            <a:p>
              <a:pPr algn="ctr"/>
              <a:r>
                <a:rPr lang="zh-CN" altLang="en-US" sz="1200" dirty="0"/>
                <a:t>网络 </a:t>
              </a:r>
              <a:r>
                <a:rPr lang="en-US" altLang="zh-CN" sz="1200" dirty="0"/>
                <a:t>2</a:t>
              </a:r>
              <a:endParaRPr lang="zh-CN" altLang="en-US" sz="1200" dirty="0"/>
            </a:p>
          </p:txBody>
        </p:sp>
      </p:grpSp>
      <p:sp>
        <p:nvSpPr>
          <p:cNvPr id="3" name="标题 2">
            <a:extLst>
              <a:ext uri="{FF2B5EF4-FFF2-40B4-BE49-F238E27FC236}">
                <a16:creationId xmlns:a16="http://schemas.microsoft.com/office/drawing/2014/main" id="{B67C5E01-93FC-6F7C-F22B-063FF38A7A57}"/>
              </a:ext>
            </a:extLst>
          </p:cNvPr>
          <p:cNvSpPr>
            <a:spLocks noGrp="1"/>
          </p:cNvSpPr>
          <p:nvPr>
            <p:ph type="title"/>
          </p:nvPr>
        </p:nvSpPr>
        <p:spPr>
          <a:xfrm>
            <a:off x="612000" y="144000"/>
            <a:ext cx="7920000" cy="341632"/>
          </a:xfrm>
        </p:spPr>
        <p:txBody>
          <a:bodyPr/>
          <a:lstStyle/>
          <a:p>
            <a:r>
              <a:rPr lang="en-US" altLang="zh-CN" dirty="0"/>
              <a:t>1.7.5  TCP/IP </a:t>
            </a:r>
            <a:r>
              <a:rPr lang="zh-CN" altLang="zh-CN" dirty="0"/>
              <a:t>的体系结构</a:t>
            </a:r>
            <a:endParaRPr lang="zh-CN" altLang="en-US" dirty="0"/>
          </a:p>
        </p:txBody>
      </p:sp>
      <p:grpSp>
        <p:nvGrpSpPr>
          <p:cNvPr id="72" name="组合 71">
            <a:extLst>
              <a:ext uri="{FF2B5EF4-FFF2-40B4-BE49-F238E27FC236}">
                <a16:creationId xmlns:a16="http://schemas.microsoft.com/office/drawing/2014/main" id="{B8A2CE8F-DACC-7B02-A698-0494350A0A27}"/>
              </a:ext>
            </a:extLst>
          </p:cNvPr>
          <p:cNvGrpSpPr/>
          <p:nvPr/>
        </p:nvGrpSpPr>
        <p:grpSpPr>
          <a:xfrm>
            <a:off x="6431697" y="2343787"/>
            <a:ext cx="1440000" cy="1404000"/>
            <a:chOff x="6301911" y="2448000"/>
            <a:chExt cx="1440000" cy="1404000"/>
          </a:xfrm>
          <a:solidFill>
            <a:srgbClr val="7CE07C"/>
          </a:solidFill>
        </p:grpSpPr>
        <p:sp>
          <p:nvSpPr>
            <p:cNvPr id="73" name="立方体 72">
              <a:extLst>
                <a:ext uri="{FF2B5EF4-FFF2-40B4-BE49-F238E27FC236}">
                  <a16:creationId xmlns:a16="http://schemas.microsoft.com/office/drawing/2014/main" id="{82AC9A20-6606-3849-4B8D-91FD1E56984A}"/>
                </a:ext>
              </a:extLst>
            </p:cNvPr>
            <p:cNvSpPr/>
            <p:nvPr/>
          </p:nvSpPr>
          <p:spPr>
            <a:xfrm>
              <a:off x="6301911" y="3420000"/>
              <a:ext cx="1440000" cy="432000"/>
            </a:xfrm>
            <a:prstGeom prst="cube">
              <a:avLst/>
            </a:prstGeom>
            <a:grpFill/>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ysClr val="windowText" lastClr="000000"/>
                  </a:solidFill>
                </a:rPr>
                <a:t>1 </a:t>
              </a:r>
              <a:r>
                <a:rPr lang="zh-CN" altLang="en-US" sz="1200" dirty="0">
                  <a:solidFill>
                    <a:sysClr val="windowText" lastClr="000000"/>
                  </a:solidFill>
                </a:rPr>
                <a:t>网络接口层</a:t>
              </a:r>
            </a:p>
          </p:txBody>
        </p:sp>
        <p:sp>
          <p:nvSpPr>
            <p:cNvPr id="74" name="立方体 73">
              <a:extLst>
                <a:ext uri="{FF2B5EF4-FFF2-40B4-BE49-F238E27FC236}">
                  <a16:creationId xmlns:a16="http://schemas.microsoft.com/office/drawing/2014/main" id="{3495BE90-96A4-C0D5-E69D-D5E610745A3E}"/>
                </a:ext>
              </a:extLst>
            </p:cNvPr>
            <p:cNvSpPr/>
            <p:nvPr/>
          </p:nvSpPr>
          <p:spPr>
            <a:xfrm>
              <a:off x="6301911" y="3096000"/>
              <a:ext cx="1440000" cy="432000"/>
            </a:xfrm>
            <a:prstGeom prst="cube">
              <a:avLst/>
            </a:prstGeom>
            <a:grpFill/>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ysClr val="windowText" lastClr="000000"/>
                  </a:solidFill>
                </a:rPr>
                <a:t>2 </a:t>
              </a:r>
              <a:r>
                <a:rPr lang="zh-CN" altLang="en-US" sz="1200" dirty="0">
                  <a:solidFill>
                    <a:sysClr val="windowText" lastClr="000000"/>
                  </a:solidFill>
                </a:rPr>
                <a:t>网际层</a:t>
              </a:r>
            </a:p>
          </p:txBody>
        </p:sp>
        <p:sp>
          <p:nvSpPr>
            <p:cNvPr id="75" name="立方体 74">
              <a:extLst>
                <a:ext uri="{FF2B5EF4-FFF2-40B4-BE49-F238E27FC236}">
                  <a16:creationId xmlns:a16="http://schemas.microsoft.com/office/drawing/2014/main" id="{F210D835-1883-3823-8804-B01F5B956C81}"/>
                </a:ext>
              </a:extLst>
            </p:cNvPr>
            <p:cNvSpPr/>
            <p:nvPr/>
          </p:nvSpPr>
          <p:spPr>
            <a:xfrm>
              <a:off x="6301911" y="2772000"/>
              <a:ext cx="1440000" cy="432000"/>
            </a:xfrm>
            <a:prstGeom prst="cube">
              <a:avLst/>
            </a:prstGeom>
            <a:grpFill/>
            <a:ln w="6350">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r>
                <a:rPr lang="en-US" altLang="zh-CN" sz="1200" dirty="0">
                  <a:solidFill>
                    <a:sysClr val="windowText" lastClr="000000"/>
                  </a:solidFill>
                </a:rPr>
                <a:t>3 </a:t>
              </a:r>
              <a:r>
                <a:rPr lang="zh-CN" altLang="en-US" sz="1200" dirty="0">
                  <a:solidFill>
                    <a:sysClr val="windowText" lastClr="000000"/>
                  </a:solidFill>
                </a:rPr>
                <a:t>运输层</a:t>
              </a:r>
            </a:p>
          </p:txBody>
        </p:sp>
        <p:sp>
          <p:nvSpPr>
            <p:cNvPr id="76" name="立方体 75">
              <a:extLst>
                <a:ext uri="{FF2B5EF4-FFF2-40B4-BE49-F238E27FC236}">
                  <a16:creationId xmlns:a16="http://schemas.microsoft.com/office/drawing/2014/main" id="{CF535851-B898-E5C0-EE70-6D93840DF137}"/>
                </a:ext>
              </a:extLst>
            </p:cNvPr>
            <p:cNvSpPr/>
            <p:nvPr/>
          </p:nvSpPr>
          <p:spPr>
            <a:xfrm>
              <a:off x="6301911" y="2448000"/>
              <a:ext cx="1440000" cy="432000"/>
            </a:xfrm>
            <a:prstGeom prst="cube">
              <a:avLst/>
            </a:prstGeom>
            <a:grp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r>
                <a:rPr lang="en-US" altLang="zh-CN" sz="1200" dirty="0">
                  <a:solidFill>
                    <a:sysClr val="windowText" lastClr="000000"/>
                  </a:solidFill>
                </a:rPr>
                <a:t>4 </a:t>
              </a:r>
              <a:r>
                <a:rPr lang="zh-CN" altLang="en-US" sz="1200" dirty="0">
                  <a:solidFill>
                    <a:sysClr val="windowText" lastClr="000000"/>
                  </a:solidFill>
                </a:rPr>
                <a:t>应用层</a:t>
              </a:r>
            </a:p>
          </p:txBody>
        </p:sp>
      </p:grpSp>
      <p:grpSp>
        <p:nvGrpSpPr>
          <p:cNvPr id="77" name="组合 76">
            <a:extLst>
              <a:ext uri="{FF2B5EF4-FFF2-40B4-BE49-F238E27FC236}">
                <a16:creationId xmlns:a16="http://schemas.microsoft.com/office/drawing/2014/main" id="{7D559BF0-D1BB-2B8D-89AF-8C1D799A08B3}"/>
              </a:ext>
            </a:extLst>
          </p:cNvPr>
          <p:cNvGrpSpPr/>
          <p:nvPr/>
        </p:nvGrpSpPr>
        <p:grpSpPr>
          <a:xfrm>
            <a:off x="3737700" y="2991787"/>
            <a:ext cx="1440000" cy="756000"/>
            <a:chOff x="6301911" y="3096000"/>
            <a:chExt cx="1440000" cy="756000"/>
          </a:xfrm>
          <a:solidFill>
            <a:srgbClr val="7CE07C"/>
          </a:solidFill>
        </p:grpSpPr>
        <p:sp>
          <p:nvSpPr>
            <p:cNvPr id="78" name="立方体 77">
              <a:extLst>
                <a:ext uri="{FF2B5EF4-FFF2-40B4-BE49-F238E27FC236}">
                  <a16:creationId xmlns:a16="http://schemas.microsoft.com/office/drawing/2014/main" id="{EE48BC64-9C42-0C3F-65AA-92F16B3F143C}"/>
                </a:ext>
              </a:extLst>
            </p:cNvPr>
            <p:cNvSpPr/>
            <p:nvPr/>
          </p:nvSpPr>
          <p:spPr>
            <a:xfrm>
              <a:off x="6301911" y="3420000"/>
              <a:ext cx="1440000" cy="432000"/>
            </a:xfrm>
            <a:prstGeom prst="cube">
              <a:avLst/>
            </a:prstGeom>
            <a:grpFill/>
            <a:ln w="6350">
              <a:solidFill>
                <a:schemeClr val="bg1"/>
              </a:solidFill>
            </a:ln>
          </p:spPr>
          <p:style>
            <a:lnRef idx="1">
              <a:schemeClr val="accent3"/>
            </a:lnRef>
            <a:fillRef idx="3">
              <a:schemeClr val="accent3"/>
            </a:fillRef>
            <a:effectRef idx="2">
              <a:schemeClr val="accent3"/>
            </a:effectRef>
            <a:fontRef idx="minor">
              <a:schemeClr val="lt1"/>
            </a:fontRef>
          </p:style>
          <p:txBody>
            <a:bodyPr rtlCol="0" anchor="ctr"/>
            <a:lstStyle/>
            <a:p>
              <a:r>
                <a:rPr lang="en-US" altLang="zh-CN" sz="1200" dirty="0">
                  <a:solidFill>
                    <a:sysClr val="windowText" lastClr="000000"/>
                  </a:solidFill>
                </a:rPr>
                <a:t>1 </a:t>
              </a:r>
              <a:r>
                <a:rPr lang="zh-CN" altLang="en-US" sz="1200" dirty="0">
                  <a:solidFill>
                    <a:sysClr val="windowText" lastClr="000000"/>
                  </a:solidFill>
                </a:rPr>
                <a:t>网络接口层</a:t>
              </a:r>
            </a:p>
          </p:txBody>
        </p:sp>
        <p:sp>
          <p:nvSpPr>
            <p:cNvPr id="79" name="立方体 78">
              <a:extLst>
                <a:ext uri="{FF2B5EF4-FFF2-40B4-BE49-F238E27FC236}">
                  <a16:creationId xmlns:a16="http://schemas.microsoft.com/office/drawing/2014/main" id="{1FF757DE-EEAB-634D-C606-00A8E2E06812}"/>
                </a:ext>
              </a:extLst>
            </p:cNvPr>
            <p:cNvSpPr/>
            <p:nvPr/>
          </p:nvSpPr>
          <p:spPr>
            <a:xfrm>
              <a:off x="6301911" y="3096000"/>
              <a:ext cx="1440000" cy="432000"/>
            </a:xfrm>
            <a:prstGeom prst="cube">
              <a:avLst/>
            </a:prstGeom>
            <a:grpFill/>
            <a:ln w="6350">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r>
                <a:rPr lang="en-US" altLang="zh-CN" sz="1200" dirty="0">
                  <a:solidFill>
                    <a:sysClr val="windowText" lastClr="000000"/>
                  </a:solidFill>
                </a:rPr>
                <a:t>2 </a:t>
              </a:r>
              <a:r>
                <a:rPr lang="zh-CN" altLang="en-US" sz="1200" dirty="0">
                  <a:solidFill>
                    <a:sysClr val="windowText" lastClr="000000"/>
                  </a:solidFill>
                </a:rPr>
                <a:t>网际层</a:t>
              </a:r>
            </a:p>
          </p:txBody>
        </p:sp>
      </p:grpSp>
    </p:spTree>
    <p:extLst>
      <p:ext uri="{BB962C8B-B14F-4D97-AF65-F5344CB8AC3E}">
        <p14:creationId xmlns:p14="http://schemas.microsoft.com/office/powerpoint/2010/main" val="7497647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A8175415-C676-BB61-BF90-E0F411F9019A}"/>
              </a:ext>
            </a:extLst>
          </p:cNvPr>
          <p:cNvSpPr>
            <a:spLocks noGrp="1"/>
          </p:cNvSpPr>
          <p:nvPr>
            <p:ph type="title"/>
          </p:nvPr>
        </p:nvSpPr>
        <p:spPr>
          <a:xfrm>
            <a:off x="612000" y="144000"/>
            <a:ext cx="7920000" cy="341632"/>
          </a:xfrm>
        </p:spPr>
        <p:txBody>
          <a:bodyPr/>
          <a:lstStyle/>
          <a:p>
            <a:r>
              <a:rPr lang="en-US" altLang="zh-CN" dirty="0"/>
              <a:t>TCP/IP </a:t>
            </a:r>
            <a:r>
              <a:rPr lang="zh-CN" altLang="en-US" dirty="0"/>
              <a:t>体系结构的另一种表示方法</a:t>
            </a:r>
          </a:p>
        </p:txBody>
      </p:sp>
      <p:sp>
        <p:nvSpPr>
          <p:cNvPr id="3" name="内容占位符 2"/>
          <p:cNvSpPr>
            <a:spLocks noGrp="1"/>
          </p:cNvSpPr>
          <p:nvPr>
            <p:ph sz="quarter" idx="10"/>
          </p:nvPr>
        </p:nvSpPr>
        <p:spPr>
          <a:xfrm>
            <a:off x="612000" y="899999"/>
            <a:ext cx="7920000" cy="3780000"/>
          </a:xfrm>
        </p:spPr>
        <p:txBody>
          <a:bodyPr/>
          <a:lstStyle/>
          <a:p>
            <a:r>
              <a:rPr lang="zh-CN" altLang="en-US" dirty="0"/>
              <a:t>现在互联网使用的 </a:t>
            </a:r>
            <a:r>
              <a:rPr lang="en-US" altLang="zh-CN" dirty="0"/>
              <a:t>TCP/IP </a:t>
            </a:r>
            <a:r>
              <a:rPr lang="zh-CN" altLang="en-US" dirty="0"/>
              <a:t>体系结构已经发生了演变</a:t>
            </a:r>
            <a:endParaRPr lang="en-US" altLang="zh-CN" dirty="0"/>
          </a:p>
          <a:p>
            <a:r>
              <a:rPr lang="zh-CN" altLang="en-US" dirty="0"/>
              <a:t>某些应用程序可以直接使用 </a:t>
            </a:r>
            <a:r>
              <a:rPr lang="en-US" altLang="zh-CN" dirty="0"/>
              <a:t>IP </a:t>
            </a:r>
            <a:r>
              <a:rPr lang="zh-CN" altLang="en-US" dirty="0"/>
              <a:t>层</a:t>
            </a:r>
            <a:endParaRPr lang="en-US" altLang="zh-CN" dirty="0"/>
          </a:p>
          <a:p>
            <a:r>
              <a:rPr lang="zh-CN" altLang="en-US" dirty="0"/>
              <a:t>甚至直接使用最下面的网络接口层</a:t>
            </a:r>
          </a:p>
          <a:p>
            <a:endParaRPr lang="zh-CN" altLang="en-US" dirty="0"/>
          </a:p>
        </p:txBody>
      </p:sp>
      <p:grpSp>
        <p:nvGrpSpPr>
          <p:cNvPr id="6" name="组合 5"/>
          <p:cNvGrpSpPr/>
          <p:nvPr/>
        </p:nvGrpSpPr>
        <p:grpSpPr bwMode="auto">
          <a:xfrm>
            <a:off x="2922180" y="2340000"/>
            <a:ext cx="3299640" cy="1943272"/>
            <a:chOff x="2778939" y="3395364"/>
            <a:chExt cx="3502942" cy="2128590"/>
          </a:xfrm>
        </p:grpSpPr>
        <p:sp>
          <p:nvSpPr>
            <p:cNvPr id="7" name="Rectangle 5"/>
            <p:cNvSpPr>
              <a:spLocks noChangeArrowheads="1"/>
            </p:cNvSpPr>
            <p:nvPr/>
          </p:nvSpPr>
          <p:spPr bwMode="auto">
            <a:xfrm>
              <a:off x="2778939" y="3395364"/>
              <a:ext cx="3502942" cy="2128590"/>
            </a:xfrm>
            <a:prstGeom prst="rect">
              <a:avLst/>
            </a:prstGeom>
            <a:ln w="38100">
              <a:solidFill>
                <a:srgbClr val="339933"/>
              </a:solidFill>
            </a:ln>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sz="1600">
                <a:latin typeface="+mj-lt"/>
                <a:ea typeface="+mj-ea"/>
              </a:endParaRPr>
            </a:p>
          </p:txBody>
        </p:sp>
        <p:sp>
          <p:nvSpPr>
            <p:cNvPr id="8" name="Line 6"/>
            <p:cNvSpPr>
              <a:spLocks noChangeShapeType="1"/>
            </p:cNvSpPr>
            <p:nvPr/>
          </p:nvSpPr>
          <p:spPr bwMode="auto">
            <a:xfrm>
              <a:off x="2778939" y="5010251"/>
              <a:ext cx="3502942" cy="0"/>
            </a:xfrm>
            <a:prstGeom prst="line">
              <a:avLst/>
            </a:prstGeom>
            <a:ln w="38100">
              <a:solidFill>
                <a:srgbClr val="339933"/>
              </a:solidFill>
            </a:ln>
            <a:extLst>
              <a:ext uri="{909E8E84-426E-40DD-AFC4-6F175D3DCCD1}">
                <a14:hiddenFill xmlns:a14="http://schemas.microsoft.com/office/drawing/2010/main">
                  <a:no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sz="1600">
                <a:latin typeface="+mj-lt"/>
                <a:ea typeface="+mj-ea"/>
              </a:endParaRPr>
            </a:p>
          </p:txBody>
        </p:sp>
        <p:sp>
          <p:nvSpPr>
            <p:cNvPr id="9" name="Freeform 7"/>
            <p:cNvSpPr/>
            <p:nvPr/>
          </p:nvSpPr>
          <p:spPr bwMode="auto">
            <a:xfrm>
              <a:off x="2778939" y="4460452"/>
              <a:ext cx="2589890" cy="531751"/>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sz="1600">
                <a:latin typeface="+mj-lt"/>
                <a:ea typeface="+mj-ea"/>
              </a:endParaRPr>
            </a:p>
          </p:txBody>
        </p:sp>
        <p:sp>
          <p:nvSpPr>
            <p:cNvPr id="10" name="Freeform 8"/>
            <p:cNvSpPr/>
            <p:nvPr/>
          </p:nvSpPr>
          <p:spPr bwMode="auto">
            <a:xfrm>
              <a:off x="2778939" y="3910655"/>
              <a:ext cx="1675251" cy="530957"/>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sz="1600">
                <a:latin typeface="+mj-lt"/>
                <a:ea typeface="+mj-ea"/>
              </a:endParaRPr>
            </a:p>
          </p:txBody>
        </p:sp>
        <p:sp>
          <p:nvSpPr>
            <p:cNvPr id="11" name="Line 9"/>
            <p:cNvSpPr>
              <a:spLocks noChangeShapeType="1"/>
            </p:cNvSpPr>
            <p:nvPr/>
          </p:nvSpPr>
          <p:spPr bwMode="auto">
            <a:xfrm>
              <a:off x="3616890" y="3928350"/>
              <a:ext cx="0" cy="531310"/>
            </a:xfrm>
            <a:prstGeom prst="line">
              <a:avLst/>
            </a:prstGeom>
            <a:noFill/>
            <a:ln w="3810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j-lt"/>
                <a:ea typeface="+mj-ea"/>
              </a:endParaRPr>
            </a:p>
          </p:txBody>
        </p:sp>
        <p:sp>
          <p:nvSpPr>
            <p:cNvPr id="12" name="Text Box 10"/>
            <p:cNvSpPr txBox="1">
              <a:spLocks noChangeArrowheads="1"/>
            </p:cNvSpPr>
            <p:nvPr/>
          </p:nvSpPr>
          <p:spPr bwMode="auto">
            <a:xfrm>
              <a:off x="2900239" y="3991336"/>
              <a:ext cx="1373668" cy="37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dirty="0">
                  <a:latin typeface="+mj-lt"/>
                  <a:ea typeface="+mj-ea"/>
                </a:rPr>
                <a:t>TCP    UDP</a:t>
              </a:r>
            </a:p>
          </p:txBody>
        </p:sp>
        <p:sp>
          <p:nvSpPr>
            <p:cNvPr id="13" name="Text Box 11"/>
            <p:cNvSpPr txBox="1">
              <a:spLocks noChangeArrowheads="1"/>
            </p:cNvSpPr>
            <p:nvPr/>
          </p:nvSpPr>
          <p:spPr bwMode="auto">
            <a:xfrm>
              <a:off x="3804968" y="4550166"/>
              <a:ext cx="418976" cy="37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a:latin typeface="+mj-lt"/>
                  <a:ea typeface="+mj-ea"/>
                </a:rPr>
                <a:t>IP</a:t>
              </a:r>
            </a:p>
          </p:txBody>
        </p:sp>
        <p:sp>
          <p:nvSpPr>
            <p:cNvPr id="14" name="Text Box 4"/>
            <p:cNvSpPr txBox="1">
              <a:spLocks noChangeArrowheads="1"/>
            </p:cNvSpPr>
            <p:nvPr/>
          </p:nvSpPr>
          <p:spPr bwMode="auto">
            <a:xfrm>
              <a:off x="4149216" y="3470787"/>
              <a:ext cx="849523" cy="37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dirty="0">
                  <a:latin typeface="+mj-lt"/>
                  <a:ea typeface="+mj-ea"/>
                </a:rPr>
                <a:t>应用层</a:t>
              </a:r>
            </a:p>
          </p:txBody>
        </p:sp>
        <p:sp>
          <p:nvSpPr>
            <p:cNvPr id="15" name="Text Box 12"/>
            <p:cNvSpPr txBox="1">
              <a:spLocks noChangeArrowheads="1"/>
            </p:cNvSpPr>
            <p:nvPr/>
          </p:nvSpPr>
          <p:spPr bwMode="auto">
            <a:xfrm>
              <a:off x="3328057" y="5068067"/>
              <a:ext cx="2374309" cy="37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dirty="0">
                  <a:latin typeface="+mj-lt"/>
                  <a:ea typeface="+mj-ea"/>
                </a:rPr>
                <a:t>网络接口层（子网层）</a:t>
              </a:r>
            </a:p>
          </p:txBody>
        </p:sp>
      </p:grpSp>
    </p:spTree>
    <p:extLst>
      <p:ext uri="{BB962C8B-B14F-4D97-AF65-F5344CB8AC3E}">
        <p14:creationId xmlns:p14="http://schemas.microsoft.com/office/powerpoint/2010/main" val="22428513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bwMode="auto">
          <a:xfrm>
            <a:off x="1258543" y="2447564"/>
            <a:ext cx="4977496" cy="2082456"/>
            <a:chOff x="1166919" y="2653839"/>
            <a:chExt cx="4977696" cy="2081864"/>
          </a:xfrm>
        </p:grpSpPr>
        <p:sp>
          <p:nvSpPr>
            <p:cNvPr id="5" name="Text Box 37"/>
            <p:cNvSpPr txBox="1">
              <a:spLocks noChangeArrowheads="1"/>
            </p:cNvSpPr>
            <p:nvPr/>
          </p:nvSpPr>
          <p:spPr bwMode="auto">
            <a:xfrm>
              <a:off x="1166919" y="4384938"/>
              <a:ext cx="4977696" cy="350765"/>
            </a:xfrm>
            <a:prstGeom prst="rect">
              <a:avLst/>
            </a:prstGeom>
            <a:solidFill>
              <a:schemeClr val="accent6">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IP over Everything</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协议可以在多种类型的网络上运行</a:t>
              </a:r>
            </a:p>
          </p:txBody>
        </p:sp>
        <p:sp>
          <p:nvSpPr>
            <p:cNvPr id="6" name="AutoShape 2"/>
            <p:cNvSpPr>
              <a:spLocks noChangeArrowheads="1"/>
            </p:cNvSpPr>
            <p:nvPr/>
          </p:nvSpPr>
          <p:spPr bwMode="auto">
            <a:xfrm>
              <a:off x="1283573" y="2653839"/>
              <a:ext cx="4724528" cy="1692581"/>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grpSp>
      <p:grpSp>
        <p:nvGrpSpPr>
          <p:cNvPr id="7" name="组合 6"/>
          <p:cNvGrpSpPr/>
          <p:nvPr/>
        </p:nvGrpSpPr>
        <p:grpSpPr bwMode="auto">
          <a:xfrm>
            <a:off x="1258542" y="1155615"/>
            <a:ext cx="4977497" cy="2246823"/>
            <a:chOff x="1093314" y="1740194"/>
            <a:chExt cx="6917709" cy="3122074"/>
          </a:xfrm>
        </p:grpSpPr>
        <p:sp>
          <p:nvSpPr>
            <p:cNvPr id="8" name="AutoShape 3"/>
            <p:cNvSpPr>
              <a:spLocks noChangeArrowheads="1"/>
            </p:cNvSpPr>
            <p:nvPr/>
          </p:nvSpPr>
          <p:spPr bwMode="auto">
            <a:xfrm flipV="1">
              <a:off x="1246437" y="2269258"/>
              <a:ext cx="6566083" cy="2593010"/>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dirty="0">
                <a:solidFill>
                  <a:srgbClr val="000099"/>
                </a:solidFill>
                <a:latin typeface="Times New Roman" panose="02020603050405020304" pitchFamily="18" charset="0"/>
                <a:ea typeface="微软雅黑 Light" panose="020B0502040204020203" pitchFamily="34" charset="-122"/>
              </a:endParaRPr>
            </a:p>
          </p:txBody>
        </p:sp>
        <p:sp>
          <p:nvSpPr>
            <p:cNvPr id="9" name="Text Box 37"/>
            <p:cNvSpPr txBox="1">
              <a:spLocks noChangeArrowheads="1"/>
            </p:cNvSpPr>
            <p:nvPr/>
          </p:nvSpPr>
          <p:spPr bwMode="auto">
            <a:xfrm>
              <a:off x="1093314" y="1740194"/>
              <a:ext cx="6917709" cy="487545"/>
            </a:xfrm>
            <a:prstGeom prst="rect">
              <a:avLst/>
            </a:prstGeom>
            <a:solidFill>
              <a:srgbClr val="FFC000"/>
            </a:solidFill>
            <a:ln w="9525">
              <a:solidFill>
                <a:srgbClr val="339933"/>
              </a:solidFill>
              <a:miter lim="800000"/>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a:latin typeface="微软雅黑" panose="020B0503020204020204" pitchFamily="34" charset="-122"/>
                  <a:ea typeface="微软雅黑" panose="020B0503020204020204" pitchFamily="34" charset="-122"/>
                </a:rPr>
                <a:t>Everything over IP </a:t>
              </a:r>
              <a:r>
                <a:rPr lang="zh-CN" altLang="en-US" sz="1400" b="1">
                  <a:latin typeface="微软雅黑" panose="020B0503020204020204" pitchFamily="34" charset="-122"/>
                  <a:ea typeface="微软雅黑" panose="020B0503020204020204" pitchFamily="34" charset="-122"/>
                </a:rPr>
                <a:t>：</a:t>
              </a:r>
              <a:r>
                <a:rPr lang="en-US" altLang="zh-CN" sz="1400" b="1">
                  <a:latin typeface="微软雅黑" panose="020B0503020204020204" pitchFamily="34" charset="-122"/>
                  <a:ea typeface="微软雅黑" panose="020B0503020204020204" pitchFamily="34" charset="-122"/>
                </a:rPr>
                <a:t>IP </a:t>
              </a:r>
              <a:r>
                <a:rPr lang="zh-CN" altLang="en-US" sz="1400" b="1">
                  <a:latin typeface="微软雅黑" panose="020B0503020204020204" pitchFamily="34" charset="-122"/>
                  <a:ea typeface="微软雅黑" panose="020B0503020204020204" pitchFamily="34" charset="-122"/>
                </a:rPr>
                <a:t>层</a:t>
              </a:r>
              <a:r>
                <a:rPr lang="zh-CN" altLang="en-US" sz="1400" b="1" dirty="0">
                  <a:latin typeface="微软雅黑" panose="020B0503020204020204" pitchFamily="34" charset="-122"/>
                  <a:ea typeface="微软雅黑" panose="020B0503020204020204" pitchFamily="34" charset="-122"/>
                </a:rPr>
                <a:t>可以支持多种的运输层协议</a:t>
              </a:r>
            </a:p>
          </p:txBody>
        </p:sp>
      </p:grpSp>
      <p:sp>
        <p:nvSpPr>
          <p:cNvPr id="10" name="Rectangle 5"/>
          <p:cNvSpPr>
            <a:spLocks noChangeArrowheads="1"/>
          </p:cNvSpPr>
          <p:nvPr/>
        </p:nvSpPr>
        <p:spPr bwMode="auto">
          <a:xfrm>
            <a:off x="2087950"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HTTP</a:t>
            </a:r>
          </a:p>
        </p:txBody>
      </p:sp>
      <p:sp>
        <p:nvSpPr>
          <p:cNvPr id="11" name="Rectangle 6"/>
          <p:cNvSpPr>
            <a:spLocks noChangeArrowheads="1"/>
          </p:cNvSpPr>
          <p:nvPr/>
        </p:nvSpPr>
        <p:spPr bwMode="auto">
          <a:xfrm>
            <a:off x="3097600"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SMTP</a:t>
            </a:r>
          </a:p>
        </p:txBody>
      </p:sp>
      <p:sp>
        <p:nvSpPr>
          <p:cNvPr id="12" name="Rectangle 7"/>
          <p:cNvSpPr>
            <a:spLocks noChangeArrowheads="1"/>
          </p:cNvSpPr>
          <p:nvPr/>
        </p:nvSpPr>
        <p:spPr bwMode="auto">
          <a:xfrm>
            <a:off x="3843725"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DNS</a:t>
            </a:r>
          </a:p>
        </p:txBody>
      </p:sp>
      <p:sp>
        <p:nvSpPr>
          <p:cNvPr id="13" name="Rectangle 8"/>
          <p:cNvSpPr>
            <a:spLocks noChangeArrowheads="1"/>
          </p:cNvSpPr>
          <p:nvPr/>
        </p:nvSpPr>
        <p:spPr bwMode="auto">
          <a:xfrm>
            <a:off x="4853375"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RTP</a:t>
            </a:r>
          </a:p>
        </p:txBody>
      </p:sp>
      <p:sp>
        <p:nvSpPr>
          <p:cNvPr id="14" name="Rectangle 9"/>
          <p:cNvSpPr>
            <a:spLocks noChangeArrowheads="1"/>
          </p:cNvSpPr>
          <p:nvPr/>
        </p:nvSpPr>
        <p:spPr bwMode="auto">
          <a:xfrm>
            <a:off x="256578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TCP</a:t>
            </a:r>
          </a:p>
        </p:txBody>
      </p:sp>
      <p:sp>
        <p:nvSpPr>
          <p:cNvPr id="15" name="Rectangle 10"/>
          <p:cNvSpPr>
            <a:spLocks noChangeArrowheads="1"/>
          </p:cNvSpPr>
          <p:nvPr/>
        </p:nvSpPr>
        <p:spPr bwMode="auto">
          <a:xfrm>
            <a:off x="437553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UDP</a:t>
            </a:r>
          </a:p>
        </p:txBody>
      </p:sp>
      <p:sp>
        <p:nvSpPr>
          <p:cNvPr id="16" name="Rectangle 12"/>
          <p:cNvSpPr>
            <a:spLocks noChangeArrowheads="1"/>
          </p:cNvSpPr>
          <p:nvPr/>
        </p:nvSpPr>
        <p:spPr bwMode="auto">
          <a:xfrm>
            <a:off x="20879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dirty="0">
              <a:solidFill>
                <a:srgbClr val="000099"/>
              </a:solidFill>
              <a:ea typeface="微软雅黑 Light" panose="020B0502040204020203" pitchFamily="34" charset="-122"/>
            </a:endParaRPr>
          </a:p>
        </p:txBody>
      </p:sp>
      <p:sp>
        <p:nvSpPr>
          <p:cNvPr id="17" name="Rectangle 13"/>
          <p:cNvSpPr>
            <a:spLocks noChangeArrowheads="1"/>
          </p:cNvSpPr>
          <p:nvPr/>
        </p:nvSpPr>
        <p:spPr bwMode="auto">
          <a:xfrm>
            <a:off x="32055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dirty="0">
              <a:solidFill>
                <a:srgbClr val="000099"/>
              </a:solidFill>
              <a:ea typeface="微软雅黑 Light" panose="020B0502040204020203" pitchFamily="34" charset="-122"/>
            </a:endParaRPr>
          </a:p>
        </p:txBody>
      </p:sp>
      <p:sp>
        <p:nvSpPr>
          <p:cNvPr id="18" name="Rectangle 14"/>
          <p:cNvSpPr>
            <a:spLocks noChangeArrowheads="1"/>
          </p:cNvSpPr>
          <p:nvPr/>
        </p:nvSpPr>
        <p:spPr bwMode="auto">
          <a:xfrm>
            <a:off x="4535875"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dirty="0">
              <a:solidFill>
                <a:srgbClr val="000099"/>
              </a:solidFill>
              <a:ea typeface="微软雅黑 Light" panose="020B0502040204020203" pitchFamily="34" charset="-122"/>
            </a:endParaRPr>
          </a:p>
        </p:txBody>
      </p:sp>
      <p:sp>
        <p:nvSpPr>
          <p:cNvPr id="19" name="Line 15"/>
          <p:cNvSpPr>
            <a:spLocks noChangeShapeType="1"/>
          </p:cNvSpPr>
          <p:nvPr/>
        </p:nvSpPr>
        <p:spPr bwMode="auto">
          <a:xfrm>
            <a:off x="1322775" y="3315125"/>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0" name="Line 16"/>
          <p:cNvSpPr>
            <a:spLocks noChangeShapeType="1"/>
          </p:cNvSpPr>
          <p:nvPr/>
        </p:nvSpPr>
        <p:spPr bwMode="auto">
          <a:xfrm>
            <a:off x="1322775" y="2697588"/>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1" name="Line 17"/>
          <p:cNvSpPr>
            <a:spLocks noChangeShapeType="1"/>
          </p:cNvSpPr>
          <p:nvPr/>
        </p:nvSpPr>
        <p:spPr bwMode="auto">
          <a:xfrm>
            <a:off x="1322775" y="2078463"/>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22" name="Text Box 18"/>
          <p:cNvSpPr txBox="1">
            <a:spLocks noChangeArrowheads="1"/>
          </p:cNvSpPr>
          <p:nvPr/>
        </p:nvSpPr>
        <p:spPr bwMode="auto">
          <a:xfrm>
            <a:off x="947821" y="2816650"/>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网际层</a:t>
            </a:r>
          </a:p>
        </p:txBody>
      </p:sp>
      <p:sp>
        <p:nvSpPr>
          <p:cNvPr id="23" name="Text Box 19"/>
          <p:cNvSpPr txBox="1">
            <a:spLocks noChangeArrowheads="1"/>
          </p:cNvSpPr>
          <p:nvPr/>
        </p:nvSpPr>
        <p:spPr bwMode="auto">
          <a:xfrm>
            <a:off x="844634" y="3577062"/>
            <a:ext cx="95408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网络接口层</a:t>
            </a:r>
          </a:p>
        </p:txBody>
      </p:sp>
      <p:sp>
        <p:nvSpPr>
          <p:cNvPr id="24" name="Text Box 20"/>
          <p:cNvSpPr txBox="1">
            <a:spLocks noChangeArrowheads="1"/>
          </p:cNvSpPr>
          <p:nvPr/>
        </p:nvSpPr>
        <p:spPr bwMode="auto">
          <a:xfrm>
            <a:off x="947821" y="2210225"/>
            <a:ext cx="6461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运输层</a:t>
            </a:r>
          </a:p>
        </p:txBody>
      </p:sp>
      <p:sp>
        <p:nvSpPr>
          <p:cNvPr id="25" name="Text Box 21"/>
          <p:cNvSpPr txBox="1">
            <a:spLocks noChangeArrowheads="1"/>
          </p:cNvSpPr>
          <p:nvPr/>
        </p:nvSpPr>
        <p:spPr bwMode="auto">
          <a:xfrm>
            <a:off x="947821" y="1645075"/>
            <a:ext cx="6461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应用层</a:t>
            </a:r>
          </a:p>
        </p:txBody>
      </p:sp>
      <p:sp>
        <p:nvSpPr>
          <p:cNvPr id="26" name="Text Box 22"/>
          <p:cNvSpPr txBox="1">
            <a:spLocks noChangeArrowheads="1"/>
          </p:cNvSpPr>
          <p:nvPr/>
        </p:nvSpPr>
        <p:spPr bwMode="auto">
          <a:xfrm>
            <a:off x="2702312" y="160062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dirty="0">
                <a:solidFill>
                  <a:srgbClr val="000099"/>
                </a:solidFill>
                <a:latin typeface="Times New Roman" panose="02020603050405020304" pitchFamily="18" charset="0"/>
                <a:ea typeface="微软雅黑 Light" panose="020B0502040204020203" pitchFamily="34" charset="-122"/>
              </a:rPr>
              <a:t>…</a:t>
            </a:r>
          </a:p>
        </p:txBody>
      </p:sp>
      <p:sp>
        <p:nvSpPr>
          <p:cNvPr id="27" name="Text Box 23"/>
          <p:cNvSpPr txBox="1">
            <a:spLocks noChangeArrowheads="1"/>
          </p:cNvSpPr>
          <p:nvPr/>
        </p:nvSpPr>
        <p:spPr bwMode="auto">
          <a:xfrm>
            <a:off x="4462850" y="160062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dirty="0">
                <a:solidFill>
                  <a:srgbClr val="000099"/>
                </a:solidFill>
                <a:latin typeface="Times New Roman" panose="02020603050405020304" pitchFamily="18" charset="0"/>
                <a:ea typeface="微软雅黑 Light" panose="020B0502040204020203" pitchFamily="34" charset="-122"/>
              </a:rPr>
              <a:t>…</a:t>
            </a:r>
          </a:p>
        </p:txBody>
      </p:sp>
      <p:sp>
        <p:nvSpPr>
          <p:cNvPr id="28" name="Text Box 24"/>
          <p:cNvSpPr txBox="1">
            <a:spLocks noChangeArrowheads="1"/>
          </p:cNvSpPr>
          <p:nvPr/>
        </p:nvSpPr>
        <p:spPr bwMode="auto">
          <a:xfrm>
            <a:off x="4165987" y="3648500"/>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99"/>
                </a:solidFill>
                <a:latin typeface="Times New Roman" panose="02020603050405020304" pitchFamily="18" charset="0"/>
                <a:ea typeface="微软雅黑 Light" panose="020B0502040204020203" pitchFamily="34" charset="-122"/>
              </a:rPr>
              <a:t>…</a:t>
            </a:r>
          </a:p>
        </p:txBody>
      </p:sp>
      <p:sp>
        <p:nvSpPr>
          <p:cNvPr id="29" name="Line 25"/>
          <p:cNvSpPr>
            <a:spLocks noChangeShapeType="1"/>
          </p:cNvSpPr>
          <p:nvPr/>
        </p:nvSpPr>
        <p:spPr bwMode="auto">
          <a:xfrm>
            <a:off x="2345125" y="1905425"/>
            <a:ext cx="333375" cy="3302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0" name="Line 26"/>
          <p:cNvSpPr>
            <a:spLocks noChangeShapeType="1"/>
          </p:cNvSpPr>
          <p:nvPr/>
        </p:nvSpPr>
        <p:spPr bwMode="auto">
          <a:xfrm>
            <a:off x="4097725" y="1916538"/>
            <a:ext cx="384175" cy="2984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1" name="Line 27"/>
          <p:cNvSpPr>
            <a:spLocks noChangeShapeType="1"/>
          </p:cNvSpPr>
          <p:nvPr/>
        </p:nvSpPr>
        <p:spPr bwMode="auto">
          <a:xfrm flipH="1">
            <a:off x="2973775" y="1907013"/>
            <a:ext cx="381000" cy="312737"/>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2" name="Line 28"/>
          <p:cNvSpPr>
            <a:spLocks noChangeShapeType="1"/>
          </p:cNvSpPr>
          <p:nvPr/>
        </p:nvSpPr>
        <p:spPr bwMode="auto">
          <a:xfrm flipH="1">
            <a:off x="4747012" y="1907013"/>
            <a:ext cx="373063" cy="3175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3" name="Line 29"/>
          <p:cNvSpPr>
            <a:spLocks noChangeShapeType="1"/>
          </p:cNvSpPr>
          <p:nvPr/>
        </p:nvSpPr>
        <p:spPr bwMode="auto">
          <a:xfrm>
            <a:off x="2829312" y="2476925"/>
            <a:ext cx="750888" cy="4000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4" name="Line 30"/>
          <p:cNvSpPr>
            <a:spLocks noChangeShapeType="1"/>
          </p:cNvSpPr>
          <p:nvPr/>
        </p:nvSpPr>
        <p:spPr bwMode="auto">
          <a:xfrm flipH="1">
            <a:off x="3896112" y="2486450"/>
            <a:ext cx="752475" cy="39052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5" name="Line 31"/>
          <p:cNvSpPr>
            <a:spLocks noChangeShapeType="1"/>
          </p:cNvSpPr>
          <p:nvPr/>
        </p:nvSpPr>
        <p:spPr bwMode="auto">
          <a:xfrm>
            <a:off x="3924687" y="3156375"/>
            <a:ext cx="1063625" cy="50641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6" name="Line 32"/>
          <p:cNvSpPr>
            <a:spLocks noChangeShapeType="1"/>
          </p:cNvSpPr>
          <p:nvPr/>
        </p:nvSpPr>
        <p:spPr bwMode="auto">
          <a:xfrm flipH="1">
            <a:off x="2449900" y="3151613"/>
            <a:ext cx="1074737" cy="51117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7" name="Line 33"/>
          <p:cNvSpPr>
            <a:spLocks noChangeShapeType="1"/>
          </p:cNvSpPr>
          <p:nvPr/>
        </p:nvSpPr>
        <p:spPr bwMode="auto">
          <a:xfrm flipH="1">
            <a:off x="3578612" y="3124625"/>
            <a:ext cx="158750" cy="53816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微软雅黑 Light" panose="020B0502040204020203" pitchFamily="34" charset="-122"/>
            </a:endParaRPr>
          </a:p>
        </p:txBody>
      </p:sp>
      <p:sp>
        <p:nvSpPr>
          <p:cNvPr id="38" name="Text Box 34"/>
          <p:cNvSpPr txBox="1">
            <a:spLocks noChangeArrowheads="1"/>
          </p:cNvSpPr>
          <p:nvPr/>
        </p:nvSpPr>
        <p:spPr bwMode="auto">
          <a:xfrm>
            <a:off x="2049850"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1</a:t>
            </a:r>
          </a:p>
        </p:txBody>
      </p:sp>
      <p:sp>
        <p:nvSpPr>
          <p:cNvPr id="39" name="Text Box 35"/>
          <p:cNvSpPr txBox="1">
            <a:spLocks noChangeArrowheads="1"/>
          </p:cNvSpPr>
          <p:nvPr/>
        </p:nvSpPr>
        <p:spPr bwMode="auto">
          <a:xfrm>
            <a:off x="317062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2</a:t>
            </a:r>
          </a:p>
        </p:txBody>
      </p:sp>
      <p:sp>
        <p:nvSpPr>
          <p:cNvPr id="40" name="Text Box 36"/>
          <p:cNvSpPr txBox="1">
            <a:spLocks noChangeArrowheads="1"/>
          </p:cNvSpPr>
          <p:nvPr/>
        </p:nvSpPr>
        <p:spPr bwMode="auto">
          <a:xfrm>
            <a:off x="451047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3</a:t>
            </a:r>
          </a:p>
        </p:txBody>
      </p:sp>
      <p:sp>
        <p:nvSpPr>
          <p:cNvPr id="41" name="Rectangle 11"/>
          <p:cNvSpPr>
            <a:spLocks noChangeArrowheads="1"/>
          </p:cNvSpPr>
          <p:nvPr/>
        </p:nvSpPr>
        <p:spPr bwMode="auto">
          <a:xfrm>
            <a:off x="3391287" y="2849988"/>
            <a:ext cx="636588" cy="284162"/>
          </a:xfrm>
          <a:prstGeom prst="rect">
            <a:avLst/>
          </a:prstGeom>
          <a:solidFill>
            <a:srgbClr val="CC00CC"/>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ea typeface="微软雅黑 Light" panose="020B0502040204020203" pitchFamily="34" charset="-122"/>
              </a:rPr>
              <a:t>IP</a:t>
            </a:r>
          </a:p>
        </p:txBody>
      </p:sp>
      <p:sp>
        <p:nvSpPr>
          <p:cNvPr id="81" name="矩形 80"/>
          <p:cNvSpPr/>
          <p:nvPr/>
        </p:nvSpPr>
        <p:spPr>
          <a:xfrm>
            <a:off x="6277314" y="2612324"/>
            <a:ext cx="2322985" cy="7571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pPr>
            <a:r>
              <a:rPr lang="zh-CN" altLang="en-US" b="1" dirty="0">
                <a:latin typeface="微软雅黑" panose="020B0503020204020204" pitchFamily="34" charset="-122"/>
                <a:ea typeface="微软雅黑" panose="020B0503020204020204" pitchFamily="34" charset="-122"/>
              </a:rPr>
              <a:t>设计理念：网络核心部分越简单越好。</a:t>
            </a:r>
          </a:p>
        </p:txBody>
      </p:sp>
      <p:sp>
        <p:nvSpPr>
          <p:cNvPr id="3" name="标题 2">
            <a:extLst>
              <a:ext uri="{FF2B5EF4-FFF2-40B4-BE49-F238E27FC236}">
                <a16:creationId xmlns:a16="http://schemas.microsoft.com/office/drawing/2014/main" id="{25AECFA7-8AB4-F6F3-BE70-ACFD0F720BB9}"/>
              </a:ext>
            </a:extLst>
          </p:cNvPr>
          <p:cNvSpPr>
            <a:spLocks noGrp="1"/>
          </p:cNvSpPr>
          <p:nvPr>
            <p:ph type="title"/>
          </p:nvPr>
        </p:nvSpPr>
        <p:spPr>
          <a:xfrm>
            <a:off x="612000" y="144000"/>
            <a:ext cx="7920000" cy="341632"/>
          </a:xfrm>
        </p:spPr>
        <p:txBody>
          <a:bodyPr/>
          <a:lstStyle/>
          <a:p>
            <a:r>
              <a:rPr lang="zh-CN" altLang="en-US" dirty="0"/>
              <a:t>沙漏计时器形状的 </a:t>
            </a:r>
            <a:r>
              <a:rPr lang="en-US" altLang="zh-CN" dirty="0"/>
              <a:t>TCP/IP </a:t>
            </a:r>
            <a:r>
              <a:rPr lang="zh-CN" altLang="en-US" dirty="0"/>
              <a:t>协议族</a:t>
            </a:r>
          </a:p>
        </p:txBody>
      </p:sp>
    </p:spTree>
    <p:extLst>
      <p:ext uri="{BB962C8B-B14F-4D97-AF65-F5344CB8AC3E}">
        <p14:creationId xmlns:p14="http://schemas.microsoft.com/office/powerpoint/2010/main" val="21651153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5" presetClass="emph" presetSubtype="0" repeatCount="indefinite"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25"/>
          <p:cNvGrpSpPr/>
          <p:nvPr/>
        </p:nvGrpSpPr>
        <p:grpSpPr bwMode="auto">
          <a:xfrm>
            <a:off x="2561538" y="1528919"/>
            <a:ext cx="3794397" cy="324374"/>
            <a:chOff x="1438" y="1436"/>
            <a:chExt cx="2712" cy="225"/>
          </a:xfrm>
        </p:grpSpPr>
        <p:sp>
          <p:nvSpPr>
            <p:cNvPr id="32" name="Line 26"/>
            <p:cNvSpPr>
              <a:spLocks noChangeShapeType="1"/>
            </p:cNvSpPr>
            <p:nvPr/>
          </p:nvSpPr>
          <p:spPr bwMode="auto">
            <a:xfrm>
              <a:off x="1438" y="1655"/>
              <a:ext cx="2712" cy="6"/>
            </a:xfrm>
            <a:prstGeom prst="line">
              <a:avLst/>
            </a:prstGeom>
            <a:noFill/>
            <a:ln w="38100">
              <a:solidFill>
                <a:srgbClr val="000099"/>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3" name="Text Box 27"/>
            <p:cNvSpPr txBox="1">
              <a:spLocks noChangeArrowheads="1"/>
            </p:cNvSpPr>
            <p:nvPr/>
          </p:nvSpPr>
          <p:spPr bwMode="auto">
            <a:xfrm>
              <a:off x="1987" y="1436"/>
              <a:ext cx="161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FF"/>
                  </a:solidFill>
                  <a:latin typeface="微软雅黑" panose="020B0503020204020204" pitchFamily="34" charset="-122"/>
                  <a:ea typeface="微软雅黑" panose="020B0503020204020204" pitchFamily="34" charset="-122"/>
                </a:rPr>
                <a:t>① </a:t>
              </a:r>
              <a:r>
                <a:rPr kumimoji="1" lang="zh-CN" altLang="en-US" sz="1400" b="1" dirty="0">
                  <a:solidFill>
                    <a:srgbClr val="0000FF"/>
                  </a:solidFill>
                  <a:latin typeface="微软雅黑" panose="020B0503020204020204" pitchFamily="34" charset="-122"/>
                  <a:ea typeface="微软雅黑" panose="020B0503020204020204" pitchFamily="34" charset="-122"/>
                </a:rPr>
                <a:t>客户发起连接建立请求</a:t>
              </a:r>
            </a:p>
          </p:txBody>
        </p:sp>
      </p:grpSp>
      <p:grpSp>
        <p:nvGrpSpPr>
          <p:cNvPr id="34" name="Group 28"/>
          <p:cNvGrpSpPr/>
          <p:nvPr/>
        </p:nvGrpSpPr>
        <p:grpSpPr bwMode="auto">
          <a:xfrm>
            <a:off x="2541443" y="2075731"/>
            <a:ext cx="3818984" cy="289775"/>
            <a:chOff x="1521" y="1752"/>
            <a:chExt cx="2755" cy="201"/>
          </a:xfrm>
        </p:grpSpPr>
        <p:sp>
          <p:nvSpPr>
            <p:cNvPr id="35" name="Line 29"/>
            <p:cNvSpPr>
              <a:spLocks noChangeShapeType="1"/>
            </p:cNvSpPr>
            <p:nvPr/>
          </p:nvSpPr>
          <p:spPr bwMode="auto">
            <a:xfrm flipH="1" flipV="1">
              <a:off x="1521" y="1752"/>
              <a:ext cx="2755" cy="9"/>
            </a:xfrm>
            <a:prstGeom prst="line">
              <a:avLst/>
            </a:prstGeom>
            <a:noFill/>
            <a:ln w="38100">
              <a:solidFill>
                <a:srgbClr val="CC00CC"/>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6" name="Text Box 30"/>
            <p:cNvSpPr txBox="1">
              <a:spLocks noChangeArrowheads="1"/>
            </p:cNvSpPr>
            <p:nvPr/>
          </p:nvSpPr>
          <p:spPr bwMode="auto">
            <a:xfrm>
              <a:off x="2016" y="1759"/>
              <a:ext cx="176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FF"/>
                  </a:solidFill>
                  <a:latin typeface="微软雅黑" panose="020B0503020204020204" pitchFamily="34" charset="-122"/>
                  <a:ea typeface="微软雅黑" panose="020B0503020204020204" pitchFamily="34" charset="-122"/>
                </a:rPr>
                <a:t>② </a:t>
              </a:r>
              <a:r>
                <a:rPr kumimoji="1" lang="zh-CN" altLang="en-US" sz="1400" b="1" dirty="0">
                  <a:solidFill>
                    <a:srgbClr val="0000FF"/>
                  </a:solidFill>
                  <a:latin typeface="微软雅黑" panose="020B0503020204020204" pitchFamily="34" charset="-122"/>
                  <a:ea typeface="微软雅黑" panose="020B0503020204020204" pitchFamily="34" charset="-122"/>
                </a:rPr>
                <a:t>服务器接受连接建立请求</a:t>
              </a:r>
            </a:p>
          </p:txBody>
        </p:sp>
      </p:grpSp>
      <p:sp>
        <p:nvSpPr>
          <p:cNvPr id="44" name="Text Box 40"/>
          <p:cNvSpPr txBox="1">
            <a:spLocks noChangeArrowheads="1"/>
          </p:cNvSpPr>
          <p:nvPr/>
        </p:nvSpPr>
        <p:spPr bwMode="auto">
          <a:xfrm>
            <a:off x="2987401" y="2829844"/>
            <a:ext cx="3158952" cy="675249"/>
          </a:xfrm>
          <a:prstGeom prst="rect">
            <a:avLst/>
          </a:prstGeom>
          <a:solidFill>
            <a:srgbClr val="FFFF99"/>
          </a:solid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fontAlgn="auto">
              <a:lnSpc>
                <a:spcPts val="2400"/>
              </a:lnSpc>
              <a:spcBef>
                <a:spcPts val="0"/>
              </a:spcBef>
              <a:spcAft>
                <a:spcPts val="0"/>
              </a:spcAft>
              <a:defRPr/>
            </a:pPr>
            <a:r>
              <a:rPr lang="zh-CN" altLang="en-US" sz="1400" dirty="0"/>
              <a:t>所有这些通信实际上都需要使用下面各层所提供的服务。</a:t>
            </a:r>
          </a:p>
        </p:txBody>
      </p:sp>
      <p:sp>
        <p:nvSpPr>
          <p:cNvPr id="3" name="标题 2">
            <a:extLst>
              <a:ext uri="{FF2B5EF4-FFF2-40B4-BE49-F238E27FC236}">
                <a16:creationId xmlns:a16="http://schemas.microsoft.com/office/drawing/2014/main" id="{1614C923-77A5-C916-10A7-668D31687E73}"/>
              </a:ext>
            </a:extLst>
          </p:cNvPr>
          <p:cNvSpPr>
            <a:spLocks noGrp="1"/>
          </p:cNvSpPr>
          <p:nvPr>
            <p:ph type="title"/>
          </p:nvPr>
        </p:nvSpPr>
        <p:spPr>
          <a:xfrm>
            <a:off x="612000" y="144000"/>
            <a:ext cx="7920000" cy="341632"/>
          </a:xfrm>
        </p:spPr>
        <p:txBody>
          <a:bodyPr/>
          <a:lstStyle/>
          <a:p>
            <a:r>
              <a:rPr lang="zh-CN" altLang="en-US" dirty="0"/>
              <a:t>互联网中客户</a:t>
            </a:r>
            <a:r>
              <a:rPr lang="en-US" altLang="zh-CN" dirty="0"/>
              <a:t>-</a:t>
            </a:r>
            <a:r>
              <a:rPr lang="zh-CN" altLang="en-US" dirty="0"/>
              <a:t>服务器工作方式</a:t>
            </a:r>
          </a:p>
        </p:txBody>
      </p:sp>
      <p:sp>
        <p:nvSpPr>
          <p:cNvPr id="49" name="Rectangle 26">
            <a:extLst>
              <a:ext uri="{FF2B5EF4-FFF2-40B4-BE49-F238E27FC236}">
                <a16:creationId xmlns:a16="http://schemas.microsoft.com/office/drawing/2014/main" id="{ECCEC8D5-3FBF-2D13-C408-BC7FEAEC7457}"/>
              </a:ext>
            </a:extLst>
          </p:cNvPr>
          <p:cNvSpPr>
            <a:spLocks noChangeArrowheads="1"/>
          </p:cNvSpPr>
          <p:nvPr/>
        </p:nvSpPr>
        <p:spPr bwMode="auto">
          <a:xfrm>
            <a:off x="1249363" y="1423959"/>
            <a:ext cx="1241265" cy="2066307"/>
          </a:xfrm>
          <a:prstGeom prst="rect">
            <a:avLst/>
          </a:prstGeom>
          <a:no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1" name="Text Box 27">
            <a:extLst>
              <a:ext uri="{FF2B5EF4-FFF2-40B4-BE49-F238E27FC236}">
                <a16:creationId xmlns:a16="http://schemas.microsoft.com/office/drawing/2014/main" id="{FC9775E4-F39B-B4C5-C040-684D808A8016}"/>
              </a:ext>
            </a:extLst>
          </p:cNvPr>
          <p:cNvSpPr txBox="1">
            <a:spLocks noChangeArrowheads="1"/>
          </p:cNvSpPr>
          <p:nvPr/>
        </p:nvSpPr>
        <p:spPr bwMode="auto">
          <a:xfrm>
            <a:off x="1310041" y="2870496"/>
            <a:ext cx="1081655" cy="308059"/>
          </a:xfrm>
          <a:prstGeom prst="rect">
            <a:avLst/>
          </a:prstGeom>
          <a:noFill/>
        </p:spPr>
        <p:txBody>
          <a:bodyPr wrap="none" rtlCol="0">
            <a:spAutoFit/>
          </a:bodyPr>
          <a:lstStyle>
            <a:defPPr>
              <a:defRPr lang="zh-CN"/>
            </a:defPPr>
            <a:lvl1pPr>
              <a:defRPr sz="1400"/>
            </a:lvl1pPr>
          </a:lstStyle>
          <a:p>
            <a:r>
              <a:rPr lang="zh-CN" altLang="en-US" dirty="0"/>
              <a:t>数据链路层</a:t>
            </a:r>
          </a:p>
        </p:txBody>
      </p:sp>
      <p:sp>
        <p:nvSpPr>
          <p:cNvPr id="53" name="Line 28">
            <a:extLst>
              <a:ext uri="{FF2B5EF4-FFF2-40B4-BE49-F238E27FC236}">
                <a16:creationId xmlns:a16="http://schemas.microsoft.com/office/drawing/2014/main" id="{6E99E2F5-43C9-2862-6A61-0BEE586B9D68}"/>
              </a:ext>
            </a:extLst>
          </p:cNvPr>
          <p:cNvSpPr>
            <a:spLocks noChangeShapeType="1"/>
          </p:cNvSpPr>
          <p:nvPr/>
        </p:nvSpPr>
        <p:spPr bwMode="auto">
          <a:xfrm>
            <a:off x="1249363" y="3177337"/>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5" name="Line 29">
            <a:extLst>
              <a:ext uri="{FF2B5EF4-FFF2-40B4-BE49-F238E27FC236}">
                <a16:creationId xmlns:a16="http://schemas.microsoft.com/office/drawing/2014/main" id="{EDB3FD16-5ED6-BD4C-3FAF-319B41239DF4}"/>
              </a:ext>
            </a:extLst>
          </p:cNvPr>
          <p:cNvSpPr>
            <a:spLocks noChangeShapeType="1"/>
          </p:cNvSpPr>
          <p:nvPr/>
        </p:nvSpPr>
        <p:spPr bwMode="auto">
          <a:xfrm>
            <a:off x="1249363" y="2863190"/>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7" name="Line 30">
            <a:extLst>
              <a:ext uri="{FF2B5EF4-FFF2-40B4-BE49-F238E27FC236}">
                <a16:creationId xmlns:a16="http://schemas.microsoft.com/office/drawing/2014/main" id="{51044CAC-D85F-8581-073A-7D0F43D0BA8A}"/>
              </a:ext>
            </a:extLst>
          </p:cNvPr>
          <p:cNvSpPr>
            <a:spLocks noChangeShapeType="1"/>
          </p:cNvSpPr>
          <p:nvPr/>
        </p:nvSpPr>
        <p:spPr bwMode="auto">
          <a:xfrm>
            <a:off x="1249363" y="2550261"/>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9" name="Line 31">
            <a:extLst>
              <a:ext uri="{FF2B5EF4-FFF2-40B4-BE49-F238E27FC236}">
                <a16:creationId xmlns:a16="http://schemas.microsoft.com/office/drawing/2014/main" id="{BA8087EE-B7BF-2480-F506-A1C45F9C7624}"/>
              </a:ext>
            </a:extLst>
          </p:cNvPr>
          <p:cNvSpPr>
            <a:spLocks noChangeShapeType="1"/>
          </p:cNvSpPr>
          <p:nvPr/>
        </p:nvSpPr>
        <p:spPr bwMode="auto">
          <a:xfrm>
            <a:off x="1249363" y="2237332"/>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61" name="Text Box 32">
            <a:extLst>
              <a:ext uri="{FF2B5EF4-FFF2-40B4-BE49-F238E27FC236}">
                <a16:creationId xmlns:a16="http://schemas.microsoft.com/office/drawing/2014/main" id="{C2685E8B-077A-C637-7AD0-CC1A0EF1D8C8}"/>
              </a:ext>
            </a:extLst>
          </p:cNvPr>
          <p:cNvSpPr txBox="1">
            <a:spLocks noChangeArrowheads="1"/>
          </p:cNvSpPr>
          <p:nvPr/>
        </p:nvSpPr>
        <p:spPr bwMode="auto">
          <a:xfrm>
            <a:off x="1503948" y="3183425"/>
            <a:ext cx="722862" cy="308059"/>
          </a:xfrm>
          <a:prstGeom prst="rect">
            <a:avLst/>
          </a:prstGeom>
          <a:noFill/>
        </p:spPr>
        <p:txBody>
          <a:bodyPr wrap="none" rtlCol="0">
            <a:spAutoFit/>
          </a:bodyPr>
          <a:lstStyle>
            <a:defPPr>
              <a:defRPr lang="zh-CN"/>
            </a:defPPr>
            <a:lvl1pPr>
              <a:defRPr sz="1400"/>
            </a:lvl1pPr>
          </a:lstStyle>
          <a:p>
            <a:r>
              <a:rPr lang="zh-CN" altLang="en-US" dirty="0"/>
              <a:t>物理层</a:t>
            </a:r>
          </a:p>
        </p:txBody>
      </p:sp>
      <p:sp>
        <p:nvSpPr>
          <p:cNvPr id="63" name="Text Box 33">
            <a:extLst>
              <a:ext uri="{FF2B5EF4-FFF2-40B4-BE49-F238E27FC236}">
                <a16:creationId xmlns:a16="http://schemas.microsoft.com/office/drawing/2014/main" id="{2337BAE1-2E8F-6341-311A-C7738FDC44A1}"/>
              </a:ext>
            </a:extLst>
          </p:cNvPr>
          <p:cNvSpPr txBox="1">
            <a:spLocks noChangeArrowheads="1"/>
          </p:cNvSpPr>
          <p:nvPr/>
        </p:nvSpPr>
        <p:spPr bwMode="auto">
          <a:xfrm>
            <a:off x="1503948" y="2254378"/>
            <a:ext cx="722862" cy="308059"/>
          </a:xfrm>
          <a:prstGeom prst="rect">
            <a:avLst/>
          </a:prstGeom>
          <a:noFill/>
        </p:spPr>
        <p:txBody>
          <a:bodyPr wrap="none" rtlCol="0">
            <a:spAutoFit/>
          </a:bodyPr>
          <a:lstStyle>
            <a:defPPr>
              <a:defRPr lang="zh-CN"/>
            </a:defPPr>
            <a:lvl1pPr>
              <a:defRPr sz="1400"/>
            </a:lvl1pPr>
          </a:lstStyle>
          <a:p>
            <a:r>
              <a:rPr lang="zh-CN" altLang="en-US" dirty="0"/>
              <a:t>运输层</a:t>
            </a:r>
          </a:p>
        </p:txBody>
      </p:sp>
      <p:sp>
        <p:nvSpPr>
          <p:cNvPr id="65" name="Text Box 34">
            <a:extLst>
              <a:ext uri="{FF2B5EF4-FFF2-40B4-BE49-F238E27FC236}">
                <a16:creationId xmlns:a16="http://schemas.microsoft.com/office/drawing/2014/main" id="{011D50E8-9E86-BFEB-0BCD-8BFFC3D6B49F}"/>
              </a:ext>
            </a:extLst>
          </p:cNvPr>
          <p:cNvSpPr txBox="1">
            <a:spLocks noChangeArrowheads="1"/>
          </p:cNvSpPr>
          <p:nvPr/>
        </p:nvSpPr>
        <p:spPr bwMode="auto">
          <a:xfrm>
            <a:off x="1503948" y="2567308"/>
            <a:ext cx="722862" cy="308059"/>
          </a:xfrm>
          <a:prstGeom prst="rect">
            <a:avLst/>
          </a:prstGeom>
          <a:noFill/>
        </p:spPr>
        <p:txBody>
          <a:bodyPr wrap="none" rtlCol="0">
            <a:spAutoFit/>
          </a:bodyPr>
          <a:lstStyle>
            <a:defPPr>
              <a:defRPr lang="zh-CN"/>
            </a:defPPr>
            <a:lvl1pPr>
              <a:defRPr sz="1400"/>
            </a:lvl1pPr>
          </a:lstStyle>
          <a:p>
            <a:r>
              <a:rPr lang="zh-CN" altLang="en-US" dirty="0"/>
              <a:t>网络层</a:t>
            </a:r>
          </a:p>
        </p:txBody>
      </p:sp>
      <p:sp>
        <p:nvSpPr>
          <p:cNvPr id="67" name="Line 35">
            <a:extLst>
              <a:ext uri="{FF2B5EF4-FFF2-40B4-BE49-F238E27FC236}">
                <a16:creationId xmlns:a16="http://schemas.microsoft.com/office/drawing/2014/main" id="{1E5C46F3-2D38-DAA4-F719-4E492B5035A1}"/>
              </a:ext>
            </a:extLst>
          </p:cNvPr>
          <p:cNvSpPr>
            <a:spLocks noChangeShapeType="1"/>
          </p:cNvSpPr>
          <p:nvPr/>
        </p:nvSpPr>
        <p:spPr bwMode="auto">
          <a:xfrm>
            <a:off x="1868677" y="2049818"/>
            <a:ext cx="2638" cy="18751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69" name="Oval 36">
            <a:extLst>
              <a:ext uri="{FF2B5EF4-FFF2-40B4-BE49-F238E27FC236}">
                <a16:creationId xmlns:a16="http://schemas.microsoft.com/office/drawing/2014/main" id="{802ED50E-27D0-9491-78AA-477743FD5944}"/>
              </a:ext>
            </a:extLst>
          </p:cNvPr>
          <p:cNvSpPr>
            <a:spLocks noChangeArrowheads="1"/>
          </p:cNvSpPr>
          <p:nvPr/>
        </p:nvSpPr>
        <p:spPr bwMode="auto">
          <a:xfrm>
            <a:off x="1358848" y="1705717"/>
            <a:ext cx="1022296" cy="432000"/>
          </a:xfrm>
          <a:prstGeom prst="ellipse">
            <a:avLst/>
          </a:prstGeom>
          <a:solidFill>
            <a:srgbClr val="00FF99"/>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a:r>
              <a:rPr lang="zh-CN" altLang="en-US" sz="1400" dirty="0">
                <a:solidFill>
                  <a:schemeClr val="tx1"/>
                </a:solidFill>
              </a:rPr>
              <a:t>客户</a:t>
            </a:r>
            <a:endParaRPr lang="en-US" altLang="zh-CN" sz="1400" dirty="0">
              <a:solidFill>
                <a:schemeClr val="tx1"/>
              </a:solidFill>
            </a:endParaRPr>
          </a:p>
        </p:txBody>
      </p:sp>
      <p:sp>
        <p:nvSpPr>
          <p:cNvPr id="71" name="Text Box 37">
            <a:extLst>
              <a:ext uri="{FF2B5EF4-FFF2-40B4-BE49-F238E27FC236}">
                <a16:creationId xmlns:a16="http://schemas.microsoft.com/office/drawing/2014/main" id="{0216A7C4-29F7-69CF-403E-A9901AE4D144}"/>
              </a:ext>
            </a:extLst>
          </p:cNvPr>
          <p:cNvSpPr txBox="1">
            <a:spLocks noChangeArrowheads="1"/>
          </p:cNvSpPr>
          <p:nvPr/>
        </p:nvSpPr>
        <p:spPr bwMode="auto">
          <a:xfrm>
            <a:off x="1510543" y="1430047"/>
            <a:ext cx="723275" cy="307777"/>
          </a:xfrm>
          <a:prstGeom prst="rect">
            <a:avLst/>
          </a:prstGeom>
          <a:noFill/>
        </p:spPr>
        <p:txBody>
          <a:bodyPr wrap="none" rtlCol="0">
            <a:spAutoFit/>
          </a:bodyPr>
          <a:lstStyle>
            <a:defPPr>
              <a:defRPr lang="zh-CN"/>
            </a:defPPr>
            <a:lvl1pPr>
              <a:defRPr sz="1400"/>
            </a:lvl1pPr>
          </a:lstStyle>
          <a:p>
            <a:r>
              <a:rPr lang="zh-CN" altLang="en-US" dirty="0"/>
              <a:t>应用层</a:t>
            </a:r>
          </a:p>
        </p:txBody>
      </p:sp>
      <p:sp>
        <p:nvSpPr>
          <p:cNvPr id="73" name="Text Box 38">
            <a:extLst>
              <a:ext uri="{FF2B5EF4-FFF2-40B4-BE49-F238E27FC236}">
                <a16:creationId xmlns:a16="http://schemas.microsoft.com/office/drawing/2014/main" id="{F0404029-EDFE-0949-5211-359201771E34}"/>
              </a:ext>
            </a:extLst>
          </p:cNvPr>
          <p:cNvSpPr txBox="1">
            <a:spLocks noChangeArrowheads="1"/>
          </p:cNvSpPr>
          <p:nvPr/>
        </p:nvSpPr>
        <p:spPr bwMode="auto">
          <a:xfrm>
            <a:off x="1449865" y="1126859"/>
            <a:ext cx="910173" cy="30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76" name="Rectangle 41">
            <a:extLst>
              <a:ext uri="{FF2B5EF4-FFF2-40B4-BE49-F238E27FC236}">
                <a16:creationId xmlns:a16="http://schemas.microsoft.com/office/drawing/2014/main" id="{4996520A-203A-3289-90F2-076D319E98C8}"/>
              </a:ext>
            </a:extLst>
          </p:cNvPr>
          <p:cNvSpPr>
            <a:spLocks noChangeArrowheads="1"/>
          </p:cNvSpPr>
          <p:nvPr/>
        </p:nvSpPr>
        <p:spPr bwMode="auto">
          <a:xfrm>
            <a:off x="6577173" y="1423959"/>
            <a:ext cx="1241265" cy="2066307"/>
          </a:xfrm>
          <a:prstGeom prst="rect">
            <a:avLst/>
          </a:prstGeom>
          <a:noFill/>
          <a:ln w="19050">
            <a:solidFill>
              <a:schemeClr val="tx1"/>
            </a:solidFill>
            <a:miter lim="800000"/>
          </a:ln>
          <a:effec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78" name="Text Box 42">
            <a:extLst>
              <a:ext uri="{FF2B5EF4-FFF2-40B4-BE49-F238E27FC236}">
                <a16:creationId xmlns:a16="http://schemas.microsoft.com/office/drawing/2014/main" id="{CF8D8C44-E00F-454A-6598-053AA968C017}"/>
              </a:ext>
            </a:extLst>
          </p:cNvPr>
          <p:cNvSpPr txBox="1">
            <a:spLocks noChangeArrowheads="1"/>
          </p:cNvSpPr>
          <p:nvPr/>
        </p:nvSpPr>
        <p:spPr bwMode="auto">
          <a:xfrm>
            <a:off x="6669509" y="2870496"/>
            <a:ext cx="1081655" cy="308059"/>
          </a:xfrm>
          <a:prstGeom prst="rect">
            <a:avLst/>
          </a:prstGeom>
          <a:noFill/>
        </p:spPr>
        <p:txBody>
          <a:bodyPr wrap="none" rtlCol="0">
            <a:spAutoFit/>
          </a:bodyPr>
          <a:lstStyle>
            <a:defPPr>
              <a:defRPr lang="zh-CN"/>
            </a:defPPr>
            <a:lvl1pPr>
              <a:defRPr sz="1400"/>
            </a:lvl1pPr>
          </a:lstStyle>
          <a:p>
            <a:r>
              <a:rPr lang="zh-CN" altLang="en-US" dirty="0"/>
              <a:t>数据链路层</a:t>
            </a:r>
          </a:p>
        </p:txBody>
      </p:sp>
      <p:sp>
        <p:nvSpPr>
          <p:cNvPr id="80" name="Line 43">
            <a:extLst>
              <a:ext uri="{FF2B5EF4-FFF2-40B4-BE49-F238E27FC236}">
                <a16:creationId xmlns:a16="http://schemas.microsoft.com/office/drawing/2014/main" id="{BCEA7B28-1197-A238-EEA3-00A384610686}"/>
              </a:ext>
            </a:extLst>
          </p:cNvPr>
          <p:cNvSpPr>
            <a:spLocks noChangeShapeType="1"/>
          </p:cNvSpPr>
          <p:nvPr/>
        </p:nvSpPr>
        <p:spPr bwMode="auto">
          <a:xfrm>
            <a:off x="6577173" y="3177337"/>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2" name="Line 44">
            <a:extLst>
              <a:ext uri="{FF2B5EF4-FFF2-40B4-BE49-F238E27FC236}">
                <a16:creationId xmlns:a16="http://schemas.microsoft.com/office/drawing/2014/main" id="{E33455B1-9CE2-2033-E4FF-925C08A59DF3}"/>
              </a:ext>
            </a:extLst>
          </p:cNvPr>
          <p:cNvSpPr>
            <a:spLocks noChangeShapeType="1"/>
          </p:cNvSpPr>
          <p:nvPr/>
        </p:nvSpPr>
        <p:spPr bwMode="auto">
          <a:xfrm>
            <a:off x="6577173" y="2863190"/>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4" name="Line 45">
            <a:extLst>
              <a:ext uri="{FF2B5EF4-FFF2-40B4-BE49-F238E27FC236}">
                <a16:creationId xmlns:a16="http://schemas.microsoft.com/office/drawing/2014/main" id="{ACE3ECF9-7B6E-1B83-25F7-0EFADEB1F21C}"/>
              </a:ext>
            </a:extLst>
          </p:cNvPr>
          <p:cNvSpPr>
            <a:spLocks noChangeShapeType="1"/>
          </p:cNvSpPr>
          <p:nvPr/>
        </p:nvSpPr>
        <p:spPr bwMode="auto">
          <a:xfrm>
            <a:off x="6577173" y="2550261"/>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6" name="Line 46">
            <a:extLst>
              <a:ext uri="{FF2B5EF4-FFF2-40B4-BE49-F238E27FC236}">
                <a16:creationId xmlns:a16="http://schemas.microsoft.com/office/drawing/2014/main" id="{940064E2-BE3E-266B-A329-2BFAAE13DDA9}"/>
              </a:ext>
            </a:extLst>
          </p:cNvPr>
          <p:cNvSpPr>
            <a:spLocks noChangeShapeType="1"/>
          </p:cNvSpPr>
          <p:nvPr/>
        </p:nvSpPr>
        <p:spPr bwMode="auto">
          <a:xfrm>
            <a:off x="6577173" y="2237332"/>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8" name="Text Box 47">
            <a:extLst>
              <a:ext uri="{FF2B5EF4-FFF2-40B4-BE49-F238E27FC236}">
                <a16:creationId xmlns:a16="http://schemas.microsoft.com/office/drawing/2014/main" id="{D76E2477-388F-25D5-DA89-0E7BB84B7B34}"/>
              </a:ext>
            </a:extLst>
          </p:cNvPr>
          <p:cNvSpPr txBox="1">
            <a:spLocks noChangeArrowheads="1"/>
          </p:cNvSpPr>
          <p:nvPr/>
        </p:nvSpPr>
        <p:spPr bwMode="auto">
          <a:xfrm>
            <a:off x="6864735" y="3183425"/>
            <a:ext cx="722862" cy="308059"/>
          </a:xfrm>
          <a:prstGeom prst="rect">
            <a:avLst/>
          </a:prstGeom>
          <a:noFill/>
        </p:spPr>
        <p:txBody>
          <a:bodyPr wrap="none" rtlCol="0">
            <a:spAutoFit/>
          </a:bodyPr>
          <a:lstStyle>
            <a:defPPr>
              <a:defRPr lang="zh-CN"/>
            </a:defPPr>
            <a:lvl1pPr>
              <a:defRPr sz="1400"/>
            </a:lvl1pPr>
          </a:lstStyle>
          <a:p>
            <a:r>
              <a:rPr lang="zh-CN" altLang="en-US" dirty="0"/>
              <a:t>物理层</a:t>
            </a:r>
          </a:p>
        </p:txBody>
      </p:sp>
      <p:sp>
        <p:nvSpPr>
          <p:cNvPr id="90" name="Text Box 48">
            <a:extLst>
              <a:ext uri="{FF2B5EF4-FFF2-40B4-BE49-F238E27FC236}">
                <a16:creationId xmlns:a16="http://schemas.microsoft.com/office/drawing/2014/main" id="{16EF5457-C1B0-545F-DAAD-0E5378F61643}"/>
              </a:ext>
            </a:extLst>
          </p:cNvPr>
          <p:cNvSpPr txBox="1">
            <a:spLocks noChangeArrowheads="1"/>
          </p:cNvSpPr>
          <p:nvPr/>
        </p:nvSpPr>
        <p:spPr bwMode="auto">
          <a:xfrm>
            <a:off x="6864735" y="2254378"/>
            <a:ext cx="722862" cy="308059"/>
          </a:xfrm>
          <a:prstGeom prst="rect">
            <a:avLst/>
          </a:prstGeom>
          <a:noFill/>
        </p:spPr>
        <p:txBody>
          <a:bodyPr wrap="none" rtlCol="0">
            <a:spAutoFit/>
          </a:bodyPr>
          <a:lstStyle>
            <a:defPPr>
              <a:defRPr lang="zh-CN"/>
            </a:defPPr>
            <a:lvl1pPr>
              <a:defRPr sz="1400"/>
            </a:lvl1pPr>
          </a:lstStyle>
          <a:p>
            <a:r>
              <a:rPr lang="zh-CN" altLang="en-US" dirty="0"/>
              <a:t>运输层</a:t>
            </a:r>
          </a:p>
        </p:txBody>
      </p:sp>
      <p:sp>
        <p:nvSpPr>
          <p:cNvPr id="92" name="Text Box 49">
            <a:extLst>
              <a:ext uri="{FF2B5EF4-FFF2-40B4-BE49-F238E27FC236}">
                <a16:creationId xmlns:a16="http://schemas.microsoft.com/office/drawing/2014/main" id="{8259CA54-E01D-393D-533E-33256005E2CD}"/>
              </a:ext>
            </a:extLst>
          </p:cNvPr>
          <p:cNvSpPr txBox="1">
            <a:spLocks noChangeArrowheads="1"/>
          </p:cNvSpPr>
          <p:nvPr/>
        </p:nvSpPr>
        <p:spPr bwMode="auto">
          <a:xfrm>
            <a:off x="6864735" y="2567308"/>
            <a:ext cx="722862" cy="308059"/>
          </a:xfrm>
          <a:prstGeom prst="rect">
            <a:avLst/>
          </a:prstGeom>
          <a:noFill/>
        </p:spPr>
        <p:txBody>
          <a:bodyPr wrap="none" rtlCol="0">
            <a:spAutoFit/>
          </a:bodyPr>
          <a:lstStyle>
            <a:defPPr>
              <a:defRPr lang="zh-CN"/>
            </a:defPPr>
            <a:lvl1pPr>
              <a:defRPr sz="1400"/>
            </a:lvl1pPr>
          </a:lstStyle>
          <a:p>
            <a:r>
              <a:rPr lang="zh-CN" altLang="en-US" dirty="0"/>
              <a:t>网络层</a:t>
            </a:r>
          </a:p>
        </p:txBody>
      </p:sp>
      <p:sp>
        <p:nvSpPr>
          <p:cNvPr id="94" name="Line 50">
            <a:extLst>
              <a:ext uri="{FF2B5EF4-FFF2-40B4-BE49-F238E27FC236}">
                <a16:creationId xmlns:a16="http://schemas.microsoft.com/office/drawing/2014/main" id="{8C8246BD-71E8-5F82-04CD-4FF7BD2DE8C2}"/>
              </a:ext>
            </a:extLst>
          </p:cNvPr>
          <p:cNvSpPr>
            <a:spLocks noChangeShapeType="1"/>
          </p:cNvSpPr>
          <p:nvPr/>
        </p:nvSpPr>
        <p:spPr bwMode="auto">
          <a:xfrm>
            <a:off x="7196487" y="2085129"/>
            <a:ext cx="2638" cy="15220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96" name="Oval 51">
            <a:extLst>
              <a:ext uri="{FF2B5EF4-FFF2-40B4-BE49-F238E27FC236}">
                <a16:creationId xmlns:a16="http://schemas.microsoft.com/office/drawing/2014/main" id="{04900CE5-0530-E62A-BECB-D3DE71166907}"/>
              </a:ext>
            </a:extLst>
          </p:cNvPr>
          <p:cNvSpPr>
            <a:spLocks noChangeArrowheads="1"/>
          </p:cNvSpPr>
          <p:nvPr/>
        </p:nvSpPr>
        <p:spPr bwMode="auto">
          <a:xfrm>
            <a:off x="6686658" y="1705717"/>
            <a:ext cx="1022296" cy="432000"/>
          </a:xfrm>
          <a:prstGeom prst="ellipse">
            <a:avLst/>
          </a:prstGeom>
          <a:solidFill>
            <a:srgbClr val="ABEBD7"/>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r>
              <a:rPr lang="zh-CN" altLang="en-US" sz="1400" dirty="0">
                <a:solidFill>
                  <a:schemeClr val="tx1"/>
                </a:solidFill>
              </a:rPr>
              <a:t>服务器</a:t>
            </a:r>
            <a:endParaRPr lang="en-US" altLang="zh-CN" sz="1400" dirty="0">
              <a:solidFill>
                <a:schemeClr val="tx1"/>
              </a:solidFill>
            </a:endParaRPr>
          </a:p>
        </p:txBody>
      </p:sp>
      <p:sp>
        <p:nvSpPr>
          <p:cNvPr id="98" name="Text Box 52">
            <a:extLst>
              <a:ext uri="{FF2B5EF4-FFF2-40B4-BE49-F238E27FC236}">
                <a16:creationId xmlns:a16="http://schemas.microsoft.com/office/drawing/2014/main" id="{7BBAEC5E-C4DC-D9D8-5C3D-891F65BAF395}"/>
              </a:ext>
            </a:extLst>
          </p:cNvPr>
          <p:cNvSpPr txBox="1">
            <a:spLocks noChangeArrowheads="1"/>
          </p:cNvSpPr>
          <p:nvPr/>
        </p:nvSpPr>
        <p:spPr bwMode="auto">
          <a:xfrm>
            <a:off x="6858139" y="1439788"/>
            <a:ext cx="722862" cy="308059"/>
          </a:xfrm>
          <a:prstGeom prst="rect">
            <a:avLst/>
          </a:prstGeom>
          <a:noFill/>
        </p:spPr>
        <p:txBody>
          <a:bodyPr wrap="none" rtlCol="0">
            <a:spAutoFit/>
          </a:bodyPr>
          <a:lstStyle>
            <a:defPPr>
              <a:defRPr lang="zh-CN"/>
            </a:defPPr>
            <a:lvl1pPr>
              <a:defRPr sz="1400"/>
            </a:lvl1pPr>
          </a:lstStyle>
          <a:p>
            <a:r>
              <a:rPr lang="zh-CN" altLang="en-US" dirty="0"/>
              <a:t>应用层</a:t>
            </a:r>
          </a:p>
        </p:txBody>
      </p:sp>
      <p:sp>
        <p:nvSpPr>
          <p:cNvPr id="100" name="Text Box 53">
            <a:extLst>
              <a:ext uri="{FF2B5EF4-FFF2-40B4-BE49-F238E27FC236}">
                <a16:creationId xmlns:a16="http://schemas.microsoft.com/office/drawing/2014/main" id="{3EA10E09-9551-639E-2D1A-24D65EA1FE14}"/>
              </a:ext>
            </a:extLst>
          </p:cNvPr>
          <p:cNvSpPr txBox="1">
            <a:spLocks noChangeArrowheads="1"/>
          </p:cNvSpPr>
          <p:nvPr/>
        </p:nvSpPr>
        <p:spPr bwMode="auto">
          <a:xfrm>
            <a:off x="6765803" y="1136600"/>
            <a:ext cx="899620" cy="30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B</a:t>
            </a:r>
          </a:p>
        </p:txBody>
      </p:sp>
      <p:sp>
        <p:nvSpPr>
          <p:cNvPr id="102" name="Freeform 24">
            <a:extLst>
              <a:ext uri="{FF2B5EF4-FFF2-40B4-BE49-F238E27FC236}">
                <a16:creationId xmlns:a16="http://schemas.microsoft.com/office/drawing/2014/main" id="{4530F3D4-2FCA-41B4-D5EE-29D6746F2EEC}"/>
              </a:ext>
            </a:extLst>
          </p:cNvPr>
          <p:cNvSpPr/>
          <p:nvPr/>
        </p:nvSpPr>
        <p:spPr bwMode="auto">
          <a:xfrm>
            <a:off x="1857464" y="3490265"/>
            <a:ext cx="5363425" cy="500444"/>
          </a:xfrm>
          <a:custGeom>
            <a:avLst/>
            <a:gdLst>
              <a:gd name="T0" fmla="*/ 0 w 3527"/>
              <a:gd name="T1" fmla="*/ 0 h 333"/>
              <a:gd name="T2" fmla="*/ 0 w 3527"/>
              <a:gd name="T3" fmla="*/ 193904 h 333"/>
              <a:gd name="T4" fmla="*/ 21294 w 3527"/>
              <a:gd name="T5" fmla="*/ 288602 h 333"/>
              <a:gd name="T6" fmla="*/ 76049 w 3527"/>
              <a:gd name="T7" fmla="*/ 405846 h 333"/>
              <a:gd name="T8" fmla="*/ 185560 w 3527"/>
              <a:gd name="T9" fmla="*/ 477997 h 333"/>
              <a:gd name="T10" fmla="*/ 269214 w 3527"/>
              <a:gd name="T11" fmla="*/ 496035 h 333"/>
              <a:gd name="T12" fmla="*/ 5110500 w 3527"/>
              <a:gd name="T13" fmla="*/ 500544 h 333"/>
              <a:gd name="T14" fmla="*/ 5204801 w 3527"/>
              <a:gd name="T15" fmla="*/ 477997 h 333"/>
              <a:gd name="T16" fmla="*/ 5296060 w 3527"/>
              <a:gd name="T17" fmla="*/ 423884 h 333"/>
              <a:gd name="T18" fmla="*/ 5341689 w 3527"/>
              <a:gd name="T19" fmla="*/ 351734 h 333"/>
              <a:gd name="T20" fmla="*/ 5359941 w 3527"/>
              <a:gd name="T21" fmla="*/ 243508 h 333"/>
              <a:gd name="T22" fmla="*/ 5364504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127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nvGrpSpPr>
          <p:cNvPr id="103" name="Group 55">
            <a:extLst>
              <a:ext uri="{FF2B5EF4-FFF2-40B4-BE49-F238E27FC236}">
                <a16:creationId xmlns:a16="http://schemas.microsoft.com/office/drawing/2014/main" id="{1820EF16-C699-2E48-6D79-4932DEDA9660}"/>
              </a:ext>
            </a:extLst>
          </p:cNvPr>
          <p:cNvGrpSpPr/>
          <p:nvPr/>
        </p:nvGrpSpPr>
        <p:grpSpPr bwMode="auto">
          <a:xfrm>
            <a:off x="3857625" y="3606534"/>
            <a:ext cx="1316038" cy="666750"/>
            <a:chOff x="2245" y="3313"/>
            <a:chExt cx="1286" cy="707"/>
          </a:xfrm>
        </p:grpSpPr>
        <p:graphicFrame>
          <p:nvGraphicFramePr>
            <p:cNvPr id="104" name="Object 56">
              <a:extLst>
                <a:ext uri="{FF2B5EF4-FFF2-40B4-BE49-F238E27FC236}">
                  <a16:creationId xmlns:a16="http://schemas.microsoft.com/office/drawing/2014/main" id="{1DA84620-97EA-0000-59CA-ACDBED26EA6B}"/>
                </a:ext>
              </a:extLst>
            </p:cNvPr>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57"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 name="Text Box 57">
              <a:extLst>
                <a:ext uri="{FF2B5EF4-FFF2-40B4-BE49-F238E27FC236}">
                  <a16:creationId xmlns:a16="http://schemas.microsoft.com/office/drawing/2014/main" id="{AF89EE1D-A014-1130-32E3-0615A8D4D8FB}"/>
                </a:ext>
              </a:extLst>
            </p:cNvPr>
            <p:cNvSpPr txBox="1">
              <a:spLocks noChangeArrowheads="1"/>
            </p:cNvSpPr>
            <p:nvPr/>
          </p:nvSpPr>
          <p:spPr bwMode="auto">
            <a:xfrm>
              <a:off x="2513" y="3501"/>
              <a:ext cx="78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spTree>
    <p:extLst>
      <p:ext uri="{BB962C8B-B14F-4D97-AF65-F5344CB8AC3E}">
        <p14:creationId xmlns:p14="http://schemas.microsoft.com/office/powerpoint/2010/main" val="306503313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right)">
                                      <p:cBhvr>
                                        <p:cTn id="11" dur="10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3"/>
          <p:cNvSpPr>
            <a:spLocks noChangeShapeType="1"/>
          </p:cNvSpPr>
          <p:nvPr/>
        </p:nvSpPr>
        <p:spPr bwMode="auto">
          <a:xfrm>
            <a:off x="4537075" y="3490264"/>
            <a:ext cx="0" cy="24962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 name="Rectangle 4"/>
          <p:cNvSpPr>
            <a:spLocks noChangeArrowheads="1"/>
          </p:cNvSpPr>
          <p:nvPr/>
        </p:nvSpPr>
        <p:spPr bwMode="auto">
          <a:xfrm>
            <a:off x="3365500" y="1423721"/>
            <a:ext cx="2409825" cy="2066925"/>
          </a:xfrm>
          <a:prstGeom prst="rect">
            <a:avLst/>
          </a:prstGeom>
          <a:no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4010025" y="2869934"/>
            <a:ext cx="1082675" cy="307975"/>
          </a:xfrm>
          <a:prstGeom prst="rect">
            <a:avLst/>
          </a:prstGeom>
          <a:noFill/>
        </p:spPr>
        <p:txBody>
          <a:bodyPr wrap="none" rtlCol="0">
            <a:spAutoFit/>
          </a:bodyPr>
          <a:lstStyle>
            <a:defPPr>
              <a:defRPr lang="zh-CN"/>
            </a:defPPr>
            <a:lvl1pPr>
              <a:defRPr sz="1400"/>
            </a:lvl1pPr>
          </a:lstStyle>
          <a:p>
            <a:r>
              <a:rPr lang="zh-CN" altLang="en-US" dirty="0"/>
              <a:t>数据链路层</a:t>
            </a:r>
          </a:p>
        </p:txBody>
      </p:sp>
      <p:sp>
        <p:nvSpPr>
          <p:cNvPr id="7" name="Line 6"/>
          <p:cNvSpPr>
            <a:spLocks noChangeShapeType="1"/>
          </p:cNvSpPr>
          <p:nvPr/>
        </p:nvSpPr>
        <p:spPr bwMode="auto">
          <a:xfrm>
            <a:off x="3365500" y="31779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8" name="Line 7"/>
          <p:cNvSpPr>
            <a:spLocks noChangeShapeType="1"/>
          </p:cNvSpPr>
          <p:nvPr/>
        </p:nvSpPr>
        <p:spPr bwMode="auto">
          <a:xfrm>
            <a:off x="3365500" y="2863584"/>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9" name="Line 8"/>
          <p:cNvSpPr>
            <a:spLocks noChangeShapeType="1"/>
          </p:cNvSpPr>
          <p:nvPr/>
        </p:nvSpPr>
        <p:spPr bwMode="auto">
          <a:xfrm>
            <a:off x="3365500" y="2550846"/>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0" name="Line 9"/>
          <p:cNvSpPr>
            <a:spLocks noChangeShapeType="1"/>
          </p:cNvSpPr>
          <p:nvPr/>
        </p:nvSpPr>
        <p:spPr bwMode="auto">
          <a:xfrm>
            <a:off x="3365500" y="22381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1" name="Text Box 10"/>
          <p:cNvSpPr txBox="1">
            <a:spLocks noChangeArrowheads="1"/>
          </p:cNvSpPr>
          <p:nvPr/>
        </p:nvSpPr>
        <p:spPr bwMode="auto">
          <a:xfrm>
            <a:off x="4205288" y="3184259"/>
            <a:ext cx="722312" cy="306387"/>
          </a:xfrm>
          <a:prstGeom prst="rect">
            <a:avLst/>
          </a:prstGeom>
          <a:noFill/>
        </p:spPr>
        <p:txBody>
          <a:bodyPr wrap="none" rtlCol="0">
            <a:spAutoFit/>
          </a:bodyPr>
          <a:lstStyle>
            <a:defPPr>
              <a:defRPr lang="zh-CN"/>
            </a:defPPr>
            <a:lvl1pPr>
              <a:defRPr sz="1400"/>
            </a:lvl1pPr>
          </a:lstStyle>
          <a:p>
            <a:r>
              <a:rPr lang="zh-CN" altLang="en-US" dirty="0"/>
              <a:t>物理层</a:t>
            </a:r>
          </a:p>
        </p:txBody>
      </p:sp>
      <p:sp>
        <p:nvSpPr>
          <p:cNvPr id="12" name="Text Box 11"/>
          <p:cNvSpPr txBox="1">
            <a:spLocks noChangeArrowheads="1"/>
          </p:cNvSpPr>
          <p:nvPr/>
        </p:nvSpPr>
        <p:spPr bwMode="auto">
          <a:xfrm>
            <a:off x="4205288" y="2253984"/>
            <a:ext cx="722312" cy="307975"/>
          </a:xfrm>
          <a:prstGeom prst="rect">
            <a:avLst/>
          </a:prstGeom>
          <a:noFill/>
        </p:spPr>
        <p:txBody>
          <a:bodyPr wrap="none" rtlCol="0">
            <a:spAutoFit/>
          </a:bodyPr>
          <a:lstStyle>
            <a:defPPr>
              <a:defRPr lang="zh-CN"/>
            </a:defPPr>
            <a:lvl1pPr>
              <a:defRPr sz="1400"/>
            </a:lvl1pPr>
          </a:lstStyle>
          <a:p>
            <a:r>
              <a:rPr lang="zh-CN" altLang="en-US" dirty="0"/>
              <a:t>运输层</a:t>
            </a:r>
          </a:p>
        </p:txBody>
      </p:sp>
      <p:sp>
        <p:nvSpPr>
          <p:cNvPr id="13" name="Text Box 12"/>
          <p:cNvSpPr txBox="1">
            <a:spLocks noChangeArrowheads="1"/>
          </p:cNvSpPr>
          <p:nvPr/>
        </p:nvSpPr>
        <p:spPr bwMode="auto">
          <a:xfrm>
            <a:off x="4205288" y="2566721"/>
            <a:ext cx="722312" cy="307975"/>
          </a:xfrm>
          <a:prstGeom prst="rect">
            <a:avLst/>
          </a:prstGeom>
          <a:noFill/>
        </p:spPr>
        <p:txBody>
          <a:bodyPr wrap="none" rtlCol="0">
            <a:spAutoFit/>
          </a:bodyPr>
          <a:lstStyle>
            <a:defPPr>
              <a:defRPr lang="zh-CN"/>
            </a:defPPr>
            <a:lvl1pPr>
              <a:defRPr sz="1400"/>
            </a:lvl1pPr>
          </a:lstStyle>
          <a:p>
            <a:r>
              <a:rPr lang="zh-CN" altLang="en-US" dirty="0"/>
              <a:t>网络层</a:t>
            </a:r>
          </a:p>
        </p:txBody>
      </p:sp>
      <p:sp>
        <p:nvSpPr>
          <p:cNvPr id="14" name="Text Box 13"/>
          <p:cNvSpPr txBox="1">
            <a:spLocks noChangeArrowheads="1"/>
          </p:cNvSpPr>
          <p:nvPr/>
        </p:nvSpPr>
        <p:spPr bwMode="auto">
          <a:xfrm>
            <a:off x="4179888" y="1418959"/>
            <a:ext cx="723900" cy="307975"/>
          </a:xfrm>
          <a:prstGeom prst="rect">
            <a:avLst/>
          </a:prstGeom>
          <a:noFill/>
        </p:spPr>
        <p:txBody>
          <a:bodyPr wrap="none" rtlCol="0">
            <a:spAutoFit/>
          </a:bodyPr>
          <a:lstStyle>
            <a:defPPr>
              <a:defRPr lang="zh-CN"/>
            </a:defPPr>
            <a:lvl1pPr>
              <a:defRPr sz="1400"/>
            </a:lvl1pPr>
          </a:lstStyle>
          <a:p>
            <a:r>
              <a:rPr lang="zh-CN" altLang="en-US" dirty="0"/>
              <a:t>应用层</a:t>
            </a:r>
          </a:p>
        </p:txBody>
      </p:sp>
      <p:sp>
        <p:nvSpPr>
          <p:cNvPr id="15" name="Text Box 14"/>
          <p:cNvSpPr txBox="1">
            <a:spLocks noChangeArrowheads="1"/>
          </p:cNvSpPr>
          <p:nvPr/>
        </p:nvSpPr>
        <p:spPr bwMode="auto">
          <a:xfrm>
            <a:off x="4144963" y="1125271"/>
            <a:ext cx="896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C</a:t>
            </a:r>
          </a:p>
        </p:txBody>
      </p:sp>
      <p:sp>
        <p:nvSpPr>
          <p:cNvPr id="17" name="Line 16"/>
          <p:cNvSpPr>
            <a:spLocks noChangeShapeType="1"/>
          </p:cNvSpPr>
          <p:nvPr/>
        </p:nvSpPr>
        <p:spPr bwMode="auto">
          <a:xfrm>
            <a:off x="3985553" y="2151201"/>
            <a:ext cx="1319" cy="94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18" name="Oval 17"/>
          <p:cNvSpPr>
            <a:spLocks noChangeArrowheads="1"/>
          </p:cNvSpPr>
          <p:nvPr/>
        </p:nvSpPr>
        <p:spPr bwMode="auto">
          <a:xfrm>
            <a:off x="3511550" y="1705717"/>
            <a:ext cx="949325" cy="432000"/>
          </a:xfrm>
          <a:prstGeom prst="ellipse">
            <a:avLst/>
          </a:prstGeom>
          <a:solidFill>
            <a:srgbClr val="FFFF00"/>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r>
              <a:rPr lang="zh-CN" altLang="en-US" sz="1400" dirty="0"/>
              <a:t>服</a:t>
            </a:r>
            <a:r>
              <a:rPr lang="zh-CN" altLang="en-US" sz="1400"/>
              <a:t>务器</a:t>
            </a:r>
            <a:r>
              <a:rPr lang="en-US" altLang="zh-CN" sz="1400" dirty="0"/>
              <a:t>1</a:t>
            </a:r>
            <a:endParaRPr lang="zh-CN" altLang="zh-CN" sz="1400" dirty="0"/>
          </a:p>
        </p:txBody>
      </p:sp>
      <p:sp>
        <p:nvSpPr>
          <p:cNvPr id="21" name="Line 20"/>
          <p:cNvSpPr>
            <a:spLocks noChangeShapeType="1"/>
          </p:cNvSpPr>
          <p:nvPr/>
        </p:nvSpPr>
        <p:spPr bwMode="auto">
          <a:xfrm>
            <a:off x="5153952" y="2151201"/>
            <a:ext cx="1320" cy="938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22" name="Oval 21"/>
          <p:cNvSpPr>
            <a:spLocks noChangeArrowheads="1"/>
          </p:cNvSpPr>
          <p:nvPr/>
        </p:nvSpPr>
        <p:spPr bwMode="auto">
          <a:xfrm>
            <a:off x="4679950" y="1705717"/>
            <a:ext cx="949325" cy="432000"/>
          </a:xfrm>
          <a:prstGeom prst="ellipse">
            <a:avLst/>
          </a:prstGeom>
          <a:solidFill>
            <a:srgbClr val="FFFF00"/>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r>
              <a:rPr lang="zh-CN" altLang="en-US" sz="1400" dirty="0">
                <a:solidFill>
                  <a:schemeClr val="tx1"/>
                </a:solidFill>
              </a:rPr>
              <a:t>服</a:t>
            </a:r>
            <a:r>
              <a:rPr lang="zh-CN" altLang="en-US" sz="1400">
                <a:solidFill>
                  <a:schemeClr val="tx1"/>
                </a:solidFill>
              </a:rPr>
              <a:t>务器</a:t>
            </a:r>
            <a:r>
              <a:rPr lang="en-US" altLang="zh-CN" sz="1400" dirty="0">
                <a:solidFill>
                  <a:schemeClr val="tx1"/>
                </a:solidFill>
              </a:rPr>
              <a:t>2</a:t>
            </a:r>
            <a:endParaRPr lang="zh-CN" altLang="zh-CN" sz="1400" dirty="0">
              <a:solidFill>
                <a:schemeClr val="tx1"/>
              </a:solidFill>
            </a:endParaRPr>
          </a:p>
        </p:txBody>
      </p:sp>
      <p:sp>
        <p:nvSpPr>
          <p:cNvPr id="25" name="Freeform 24"/>
          <p:cNvSpPr/>
          <p:nvPr/>
        </p:nvSpPr>
        <p:spPr bwMode="auto">
          <a:xfrm>
            <a:off x="1857464" y="3490265"/>
            <a:ext cx="5363425" cy="500444"/>
          </a:xfrm>
          <a:custGeom>
            <a:avLst/>
            <a:gdLst>
              <a:gd name="T0" fmla="*/ 0 w 3527"/>
              <a:gd name="T1" fmla="*/ 0 h 333"/>
              <a:gd name="T2" fmla="*/ 0 w 3527"/>
              <a:gd name="T3" fmla="*/ 193904 h 333"/>
              <a:gd name="T4" fmla="*/ 21294 w 3527"/>
              <a:gd name="T5" fmla="*/ 288602 h 333"/>
              <a:gd name="T6" fmla="*/ 76049 w 3527"/>
              <a:gd name="T7" fmla="*/ 405846 h 333"/>
              <a:gd name="T8" fmla="*/ 185560 w 3527"/>
              <a:gd name="T9" fmla="*/ 477997 h 333"/>
              <a:gd name="T10" fmla="*/ 269214 w 3527"/>
              <a:gd name="T11" fmla="*/ 496035 h 333"/>
              <a:gd name="T12" fmla="*/ 5110500 w 3527"/>
              <a:gd name="T13" fmla="*/ 500544 h 333"/>
              <a:gd name="T14" fmla="*/ 5204801 w 3527"/>
              <a:gd name="T15" fmla="*/ 477997 h 333"/>
              <a:gd name="T16" fmla="*/ 5296060 w 3527"/>
              <a:gd name="T17" fmla="*/ 423884 h 333"/>
              <a:gd name="T18" fmla="*/ 5341689 w 3527"/>
              <a:gd name="T19" fmla="*/ 351734 h 333"/>
              <a:gd name="T20" fmla="*/ 5359941 w 3527"/>
              <a:gd name="T21" fmla="*/ 243508 h 333"/>
              <a:gd name="T22" fmla="*/ 5364504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127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42" name="Rectangle 26"/>
          <p:cNvSpPr>
            <a:spLocks noChangeArrowheads="1"/>
          </p:cNvSpPr>
          <p:nvPr/>
        </p:nvSpPr>
        <p:spPr bwMode="auto">
          <a:xfrm>
            <a:off x="1249363" y="1423959"/>
            <a:ext cx="1241265" cy="2066307"/>
          </a:xfrm>
          <a:prstGeom prst="rect">
            <a:avLst/>
          </a:prstGeom>
          <a:no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43" name="Text Box 27"/>
          <p:cNvSpPr txBox="1">
            <a:spLocks noChangeArrowheads="1"/>
          </p:cNvSpPr>
          <p:nvPr/>
        </p:nvSpPr>
        <p:spPr bwMode="auto">
          <a:xfrm>
            <a:off x="1310041" y="2870496"/>
            <a:ext cx="1081655" cy="308059"/>
          </a:xfrm>
          <a:prstGeom prst="rect">
            <a:avLst/>
          </a:prstGeom>
          <a:noFill/>
        </p:spPr>
        <p:txBody>
          <a:bodyPr wrap="none" rtlCol="0">
            <a:spAutoFit/>
          </a:bodyPr>
          <a:lstStyle>
            <a:defPPr>
              <a:defRPr lang="zh-CN"/>
            </a:defPPr>
            <a:lvl1pPr>
              <a:defRPr sz="1400"/>
            </a:lvl1pPr>
          </a:lstStyle>
          <a:p>
            <a:r>
              <a:rPr lang="zh-CN" altLang="en-US" dirty="0"/>
              <a:t>数据链路层</a:t>
            </a:r>
          </a:p>
        </p:txBody>
      </p:sp>
      <p:sp>
        <p:nvSpPr>
          <p:cNvPr id="44" name="Line 28"/>
          <p:cNvSpPr>
            <a:spLocks noChangeShapeType="1"/>
          </p:cNvSpPr>
          <p:nvPr/>
        </p:nvSpPr>
        <p:spPr bwMode="auto">
          <a:xfrm>
            <a:off x="1249363" y="3177337"/>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45" name="Line 29"/>
          <p:cNvSpPr>
            <a:spLocks noChangeShapeType="1"/>
          </p:cNvSpPr>
          <p:nvPr/>
        </p:nvSpPr>
        <p:spPr bwMode="auto">
          <a:xfrm>
            <a:off x="1249363" y="2863190"/>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46" name="Line 30"/>
          <p:cNvSpPr>
            <a:spLocks noChangeShapeType="1"/>
          </p:cNvSpPr>
          <p:nvPr/>
        </p:nvSpPr>
        <p:spPr bwMode="auto">
          <a:xfrm>
            <a:off x="1249363" y="2550261"/>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47" name="Line 31"/>
          <p:cNvSpPr>
            <a:spLocks noChangeShapeType="1"/>
          </p:cNvSpPr>
          <p:nvPr/>
        </p:nvSpPr>
        <p:spPr bwMode="auto">
          <a:xfrm>
            <a:off x="1249363" y="2237332"/>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48" name="Text Box 32"/>
          <p:cNvSpPr txBox="1">
            <a:spLocks noChangeArrowheads="1"/>
          </p:cNvSpPr>
          <p:nvPr/>
        </p:nvSpPr>
        <p:spPr bwMode="auto">
          <a:xfrm>
            <a:off x="1503948" y="3183425"/>
            <a:ext cx="722862" cy="308059"/>
          </a:xfrm>
          <a:prstGeom prst="rect">
            <a:avLst/>
          </a:prstGeom>
          <a:noFill/>
        </p:spPr>
        <p:txBody>
          <a:bodyPr wrap="none" rtlCol="0">
            <a:spAutoFit/>
          </a:bodyPr>
          <a:lstStyle>
            <a:defPPr>
              <a:defRPr lang="zh-CN"/>
            </a:defPPr>
            <a:lvl1pPr>
              <a:defRPr sz="1400"/>
            </a:lvl1pPr>
          </a:lstStyle>
          <a:p>
            <a:r>
              <a:rPr lang="zh-CN" altLang="en-US" dirty="0"/>
              <a:t>物理层</a:t>
            </a:r>
          </a:p>
        </p:txBody>
      </p:sp>
      <p:sp>
        <p:nvSpPr>
          <p:cNvPr id="49" name="Text Box 33"/>
          <p:cNvSpPr txBox="1">
            <a:spLocks noChangeArrowheads="1"/>
          </p:cNvSpPr>
          <p:nvPr/>
        </p:nvSpPr>
        <p:spPr bwMode="auto">
          <a:xfrm>
            <a:off x="1503948" y="2254378"/>
            <a:ext cx="722862" cy="308059"/>
          </a:xfrm>
          <a:prstGeom prst="rect">
            <a:avLst/>
          </a:prstGeom>
          <a:noFill/>
        </p:spPr>
        <p:txBody>
          <a:bodyPr wrap="none" rtlCol="0">
            <a:spAutoFit/>
          </a:bodyPr>
          <a:lstStyle>
            <a:defPPr>
              <a:defRPr lang="zh-CN"/>
            </a:defPPr>
            <a:lvl1pPr>
              <a:defRPr sz="1400"/>
            </a:lvl1pPr>
          </a:lstStyle>
          <a:p>
            <a:r>
              <a:rPr lang="zh-CN" altLang="en-US" dirty="0"/>
              <a:t>运输层</a:t>
            </a:r>
          </a:p>
        </p:txBody>
      </p:sp>
      <p:sp>
        <p:nvSpPr>
          <p:cNvPr id="50" name="Text Box 34"/>
          <p:cNvSpPr txBox="1">
            <a:spLocks noChangeArrowheads="1"/>
          </p:cNvSpPr>
          <p:nvPr/>
        </p:nvSpPr>
        <p:spPr bwMode="auto">
          <a:xfrm>
            <a:off x="1503948" y="2567308"/>
            <a:ext cx="722862" cy="308059"/>
          </a:xfrm>
          <a:prstGeom prst="rect">
            <a:avLst/>
          </a:prstGeom>
          <a:noFill/>
        </p:spPr>
        <p:txBody>
          <a:bodyPr wrap="none" rtlCol="0">
            <a:spAutoFit/>
          </a:bodyPr>
          <a:lstStyle>
            <a:defPPr>
              <a:defRPr lang="zh-CN"/>
            </a:defPPr>
            <a:lvl1pPr>
              <a:defRPr sz="1400"/>
            </a:lvl1pPr>
          </a:lstStyle>
          <a:p>
            <a:r>
              <a:rPr lang="zh-CN" altLang="en-US" dirty="0"/>
              <a:t>网络层</a:t>
            </a:r>
          </a:p>
        </p:txBody>
      </p:sp>
      <p:sp>
        <p:nvSpPr>
          <p:cNvPr id="51" name="Line 35"/>
          <p:cNvSpPr>
            <a:spLocks noChangeShapeType="1"/>
          </p:cNvSpPr>
          <p:nvPr/>
        </p:nvSpPr>
        <p:spPr bwMode="auto">
          <a:xfrm>
            <a:off x="1868677" y="2049818"/>
            <a:ext cx="2638" cy="18751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52" name="Oval 36"/>
          <p:cNvSpPr>
            <a:spLocks noChangeArrowheads="1"/>
          </p:cNvSpPr>
          <p:nvPr/>
        </p:nvSpPr>
        <p:spPr bwMode="auto">
          <a:xfrm>
            <a:off x="1358848" y="1705717"/>
            <a:ext cx="1022296" cy="432000"/>
          </a:xfrm>
          <a:prstGeom prst="ellipse">
            <a:avLst/>
          </a:prstGeom>
          <a:solidFill>
            <a:srgbClr val="00FF99"/>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a:r>
              <a:rPr lang="zh-CN" altLang="en-US" sz="1400" dirty="0">
                <a:solidFill>
                  <a:schemeClr val="tx1"/>
                </a:solidFill>
              </a:rPr>
              <a:t>客</a:t>
            </a:r>
            <a:r>
              <a:rPr lang="zh-CN" altLang="en-US" sz="1400">
                <a:solidFill>
                  <a:schemeClr val="tx1"/>
                </a:solidFill>
              </a:rPr>
              <a:t>户 </a:t>
            </a:r>
            <a:r>
              <a:rPr lang="en-US" altLang="zh-CN" sz="1400">
                <a:solidFill>
                  <a:schemeClr val="tx1"/>
                </a:solidFill>
              </a:rPr>
              <a:t>1</a:t>
            </a:r>
            <a:endParaRPr lang="en-US" altLang="zh-CN" sz="1400" dirty="0">
              <a:solidFill>
                <a:schemeClr val="tx1"/>
              </a:solidFill>
            </a:endParaRPr>
          </a:p>
        </p:txBody>
      </p:sp>
      <p:sp>
        <p:nvSpPr>
          <p:cNvPr id="53" name="Text Box 37"/>
          <p:cNvSpPr txBox="1">
            <a:spLocks noChangeArrowheads="1"/>
          </p:cNvSpPr>
          <p:nvPr/>
        </p:nvSpPr>
        <p:spPr bwMode="auto">
          <a:xfrm>
            <a:off x="1510543" y="1430047"/>
            <a:ext cx="800219" cy="338554"/>
          </a:xfrm>
          <a:prstGeom prst="rect">
            <a:avLst/>
          </a:prstGeom>
          <a:noFill/>
        </p:spPr>
        <p:txBody>
          <a:bodyPr wrap="none" rtlCol="0">
            <a:spAutoFit/>
          </a:bodyPr>
          <a:lstStyle>
            <a:defPPr>
              <a:defRPr lang="zh-CN"/>
            </a:defPPr>
            <a:lvl1pPr>
              <a:defRPr sz="1400"/>
            </a:lvl1pPr>
          </a:lstStyle>
          <a:p>
            <a:r>
              <a:rPr lang="zh-CN" altLang="en-US" dirty="0"/>
              <a:t>应用层</a:t>
            </a:r>
          </a:p>
        </p:txBody>
      </p:sp>
      <p:sp>
        <p:nvSpPr>
          <p:cNvPr id="54" name="Text Box 38"/>
          <p:cNvSpPr txBox="1">
            <a:spLocks noChangeArrowheads="1"/>
          </p:cNvSpPr>
          <p:nvPr/>
        </p:nvSpPr>
        <p:spPr bwMode="auto">
          <a:xfrm>
            <a:off x="1449865" y="1126859"/>
            <a:ext cx="910173" cy="30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28" name="Rectangle 41"/>
          <p:cNvSpPr>
            <a:spLocks noChangeArrowheads="1"/>
          </p:cNvSpPr>
          <p:nvPr/>
        </p:nvSpPr>
        <p:spPr bwMode="auto">
          <a:xfrm>
            <a:off x="6577173" y="1423959"/>
            <a:ext cx="1241265" cy="2066307"/>
          </a:xfrm>
          <a:prstGeom prst="rect">
            <a:avLst/>
          </a:prstGeom>
          <a:noFill/>
          <a:ln w="19050">
            <a:solidFill>
              <a:schemeClr val="tx1"/>
            </a:solidFill>
            <a:miter lim="800000"/>
          </a:ln>
          <a:effec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9" name="Text Box 42"/>
          <p:cNvSpPr txBox="1">
            <a:spLocks noChangeArrowheads="1"/>
          </p:cNvSpPr>
          <p:nvPr/>
        </p:nvSpPr>
        <p:spPr bwMode="auto">
          <a:xfrm>
            <a:off x="6669509" y="2870496"/>
            <a:ext cx="1081655" cy="308059"/>
          </a:xfrm>
          <a:prstGeom prst="rect">
            <a:avLst/>
          </a:prstGeom>
          <a:noFill/>
        </p:spPr>
        <p:txBody>
          <a:bodyPr wrap="none" rtlCol="0">
            <a:spAutoFit/>
          </a:bodyPr>
          <a:lstStyle>
            <a:defPPr>
              <a:defRPr lang="zh-CN"/>
            </a:defPPr>
            <a:lvl1pPr>
              <a:defRPr sz="1400"/>
            </a:lvl1pPr>
          </a:lstStyle>
          <a:p>
            <a:r>
              <a:rPr lang="zh-CN" altLang="en-US" dirty="0"/>
              <a:t>数据链路层</a:t>
            </a:r>
          </a:p>
        </p:txBody>
      </p:sp>
      <p:sp>
        <p:nvSpPr>
          <p:cNvPr id="30" name="Line 43"/>
          <p:cNvSpPr>
            <a:spLocks noChangeShapeType="1"/>
          </p:cNvSpPr>
          <p:nvPr/>
        </p:nvSpPr>
        <p:spPr bwMode="auto">
          <a:xfrm>
            <a:off x="6577173" y="3177337"/>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1" name="Line 44"/>
          <p:cNvSpPr>
            <a:spLocks noChangeShapeType="1"/>
          </p:cNvSpPr>
          <p:nvPr/>
        </p:nvSpPr>
        <p:spPr bwMode="auto">
          <a:xfrm>
            <a:off x="6577173" y="2863190"/>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2" name="Line 45"/>
          <p:cNvSpPr>
            <a:spLocks noChangeShapeType="1"/>
          </p:cNvSpPr>
          <p:nvPr/>
        </p:nvSpPr>
        <p:spPr bwMode="auto">
          <a:xfrm>
            <a:off x="6577173" y="2550261"/>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3" name="Line 46"/>
          <p:cNvSpPr>
            <a:spLocks noChangeShapeType="1"/>
          </p:cNvSpPr>
          <p:nvPr/>
        </p:nvSpPr>
        <p:spPr bwMode="auto">
          <a:xfrm>
            <a:off x="6577173" y="2237332"/>
            <a:ext cx="124126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4" name="Text Box 47"/>
          <p:cNvSpPr txBox="1">
            <a:spLocks noChangeArrowheads="1"/>
          </p:cNvSpPr>
          <p:nvPr/>
        </p:nvSpPr>
        <p:spPr bwMode="auto">
          <a:xfrm>
            <a:off x="6864735" y="3183425"/>
            <a:ext cx="722862" cy="308059"/>
          </a:xfrm>
          <a:prstGeom prst="rect">
            <a:avLst/>
          </a:prstGeom>
          <a:noFill/>
        </p:spPr>
        <p:txBody>
          <a:bodyPr wrap="none" rtlCol="0">
            <a:spAutoFit/>
          </a:bodyPr>
          <a:lstStyle>
            <a:defPPr>
              <a:defRPr lang="zh-CN"/>
            </a:defPPr>
            <a:lvl1pPr>
              <a:defRPr sz="1400"/>
            </a:lvl1pPr>
          </a:lstStyle>
          <a:p>
            <a:r>
              <a:rPr lang="zh-CN" altLang="en-US" dirty="0"/>
              <a:t>物理层</a:t>
            </a:r>
          </a:p>
        </p:txBody>
      </p:sp>
      <p:sp>
        <p:nvSpPr>
          <p:cNvPr id="35" name="Text Box 48"/>
          <p:cNvSpPr txBox="1">
            <a:spLocks noChangeArrowheads="1"/>
          </p:cNvSpPr>
          <p:nvPr/>
        </p:nvSpPr>
        <p:spPr bwMode="auto">
          <a:xfrm>
            <a:off x="6864735" y="2254378"/>
            <a:ext cx="722862" cy="308059"/>
          </a:xfrm>
          <a:prstGeom prst="rect">
            <a:avLst/>
          </a:prstGeom>
          <a:noFill/>
        </p:spPr>
        <p:txBody>
          <a:bodyPr wrap="none" rtlCol="0">
            <a:spAutoFit/>
          </a:bodyPr>
          <a:lstStyle>
            <a:defPPr>
              <a:defRPr lang="zh-CN"/>
            </a:defPPr>
            <a:lvl1pPr>
              <a:defRPr sz="1400"/>
            </a:lvl1pPr>
          </a:lstStyle>
          <a:p>
            <a:r>
              <a:rPr lang="zh-CN" altLang="en-US" dirty="0"/>
              <a:t>运输层</a:t>
            </a:r>
          </a:p>
        </p:txBody>
      </p:sp>
      <p:sp>
        <p:nvSpPr>
          <p:cNvPr id="36" name="Text Box 49"/>
          <p:cNvSpPr txBox="1">
            <a:spLocks noChangeArrowheads="1"/>
          </p:cNvSpPr>
          <p:nvPr/>
        </p:nvSpPr>
        <p:spPr bwMode="auto">
          <a:xfrm>
            <a:off x="6864735" y="2567308"/>
            <a:ext cx="722862" cy="308059"/>
          </a:xfrm>
          <a:prstGeom prst="rect">
            <a:avLst/>
          </a:prstGeom>
          <a:noFill/>
        </p:spPr>
        <p:txBody>
          <a:bodyPr wrap="none" rtlCol="0">
            <a:spAutoFit/>
          </a:bodyPr>
          <a:lstStyle>
            <a:defPPr>
              <a:defRPr lang="zh-CN"/>
            </a:defPPr>
            <a:lvl1pPr>
              <a:defRPr sz="1400"/>
            </a:lvl1pPr>
          </a:lstStyle>
          <a:p>
            <a:r>
              <a:rPr lang="zh-CN" altLang="en-US" dirty="0"/>
              <a:t>网络层</a:t>
            </a:r>
          </a:p>
        </p:txBody>
      </p:sp>
      <p:sp>
        <p:nvSpPr>
          <p:cNvPr id="37" name="Line 50"/>
          <p:cNvSpPr>
            <a:spLocks noChangeShapeType="1"/>
          </p:cNvSpPr>
          <p:nvPr/>
        </p:nvSpPr>
        <p:spPr bwMode="auto">
          <a:xfrm>
            <a:off x="7196487" y="2085129"/>
            <a:ext cx="2638" cy="15220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38" name="Oval 51"/>
          <p:cNvSpPr>
            <a:spLocks noChangeArrowheads="1"/>
          </p:cNvSpPr>
          <p:nvPr/>
        </p:nvSpPr>
        <p:spPr bwMode="auto">
          <a:xfrm>
            <a:off x="6686658" y="1705717"/>
            <a:ext cx="1022296" cy="432000"/>
          </a:xfrm>
          <a:prstGeom prst="ellipse">
            <a:avLst/>
          </a:prstGeom>
          <a:solidFill>
            <a:srgbClr val="ABEBD7"/>
          </a:solidFill>
          <a:ln w="6350">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r>
              <a:rPr lang="zh-CN" altLang="en-US" sz="1400" dirty="0">
                <a:solidFill>
                  <a:schemeClr val="tx1"/>
                </a:solidFill>
              </a:rPr>
              <a:t>客</a:t>
            </a:r>
            <a:r>
              <a:rPr lang="zh-CN" altLang="en-US" sz="1400">
                <a:solidFill>
                  <a:schemeClr val="tx1"/>
                </a:solidFill>
              </a:rPr>
              <a:t>户 </a:t>
            </a:r>
            <a:r>
              <a:rPr lang="en-US" altLang="zh-CN" sz="1400" dirty="0">
                <a:solidFill>
                  <a:schemeClr val="tx1"/>
                </a:solidFill>
              </a:rPr>
              <a:t>2</a:t>
            </a:r>
          </a:p>
        </p:txBody>
      </p:sp>
      <p:sp>
        <p:nvSpPr>
          <p:cNvPr id="39" name="Text Box 52"/>
          <p:cNvSpPr txBox="1">
            <a:spLocks noChangeArrowheads="1"/>
          </p:cNvSpPr>
          <p:nvPr/>
        </p:nvSpPr>
        <p:spPr bwMode="auto">
          <a:xfrm>
            <a:off x="6858139" y="1439788"/>
            <a:ext cx="722862" cy="308059"/>
          </a:xfrm>
          <a:prstGeom prst="rect">
            <a:avLst/>
          </a:prstGeom>
          <a:noFill/>
        </p:spPr>
        <p:txBody>
          <a:bodyPr wrap="none" rtlCol="0">
            <a:spAutoFit/>
          </a:bodyPr>
          <a:lstStyle>
            <a:defPPr>
              <a:defRPr lang="zh-CN"/>
            </a:defPPr>
            <a:lvl1pPr>
              <a:defRPr sz="1400"/>
            </a:lvl1pPr>
          </a:lstStyle>
          <a:p>
            <a:r>
              <a:rPr lang="zh-CN" altLang="en-US" dirty="0"/>
              <a:t>应用层</a:t>
            </a:r>
          </a:p>
        </p:txBody>
      </p:sp>
      <p:sp>
        <p:nvSpPr>
          <p:cNvPr id="40" name="Text Box 53"/>
          <p:cNvSpPr txBox="1">
            <a:spLocks noChangeArrowheads="1"/>
          </p:cNvSpPr>
          <p:nvPr/>
        </p:nvSpPr>
        <p:spPr bwMode="auto">
          <a:xfrm>
            <a:off x="6765803" y="1136600"/>
            <a:ext cx="899620" cy="30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B</a:t>
            </a:r>
          </a:p>
        </p:txBody>
      </p:sp>
      <p:grpSp>
        <p:nvGrpSpPr>
          <p:cNvPr id="56" name="Group 55"/>
          <p:cNvGrpSpPr/>
          <p:nvPr/>
        </p:nvGrpSpPr>
        <p:grpSpPr bwMode="auto">
          <a:xfrm>
            <a:off x="3857625" y="3606534"/>
            <a:ext cx="1316038" cy="666750"/>
            <a:chOff x="2245" y="3313"/>
            <a:chExt cx="1286" cy="707"/>
          </a:xfrm>
        </p:grpSpPr>
        <p:graphicFrame>
          <p:nvGraphicFramePr>
            <p:cNvPr id="57"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Text Box 57"/>
            <p:cNvSpPr txBox="1">
              <a:spLocks noChangeArrowheads="1"/>
            </p:cNvSpPr>
            <p:nvPr/>
          </p:nvSpPr>
          <p:spPr bwMode="auto">
            <a:xfrm>
              <a:off x="2513" y="3501"/>
              <a:ext cx="78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grpSp>
        <p:nvGrpSpPr>
          <p:cNvPr id="59" name="Group 58"/>
          <p:cNvGrpSpPr/>
          <p:nvPr/>
        </p:nvGrpSpPr>
        <p:grpSpPr bwMode="auto">
          <a:xfrm>
            <a:off x="2417763" y="1921717"/>
            <a:ext cx="4308475" cy="0"/>
            <a:chOff x="1270" y="1933"/>
            <a:chExt cx="3265" cy="0"/>
          </a:xfrm>
        </p:grpSpPr>
        <p:sp>
          <p:nvSpPr>
            <p:cNvPr id="60" name="Line 59"/>
            <p:cNvSpPr>
              <a:spLocks noChangeShapeType="1"/>
            </p:cNvSpPr>
            <p:nvPr/>
          </p:nvSpPr>
          <p:spPr bwMode="auto">
            <a:xfrm>
              <a:off x="3705"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sp>
          <p:nvSpPr>
            <p:cNvPr id="61" name="Line 60"/>
            <p:cNvSpPr>
              <a:spLocks noChangeShapeType="1"/>
            </p:cNvSpPr>
            <p:nvPr/>
          </p:nvSpPr>
          <p:spPr bwMode="auto">
            <a:xfrm>
              <a:off x="1270"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Light" panose="020B0502040204020203" pitchFamily="34" charset="-122"/>
              </a:endParaRPr>
            </a:p>
          </p:txBody>
        </p:sp>
      </p:grpSp>
      <p:sp>
        <p:nvSpPr>
          <p:cNvPr id="2" name="标题 1">
            <a:extLst>
              <a:ext uri="{FF2B5EF4-FFF2-40B4-BE49-F238E27FC236}">
                <a16:creationId xmlns:a16="http://schemas.microsoft.com/office/drawing/2014/main" id="{E9020B9E-C4A8-6629-3C10-325E18891971}"/>
              </a:ext>
            </a:extLst>
          </p:cNvPr>
          <p:cNvSpPr>
            <a:spLocks noGrp="1"/>
          </p:cNvSpPr>
          <p:nvPr>
            <p:ph type="title"/>
          </p:nvPr>
        </p:nvSpPr>
        <p:spPr>
          <a:xfrm>
            <a:off x="612000" y="144000"/>
            <a:ext cx="7920000" cy="341632"/>
          </a:xfrm>
        </p:spPr>
        <p:txBody>
          <a:bodyPr/>
          <a:lstStyle/>
          <a:p>
            <a:r>
              <a:rPr lang="zh-CN" altLang="en-US" dirty="0"/>
              <a:t>同时运行多个服务器进程同时为多个客户进程提供服务</a:t>
            </a:r>
          </a:p>
        </p:txBody>
      </p:sp>
    </p:spTree>
    <p:extLst>
      <p:ext uri="{BB962C8B-B14F-4D97-AF65-F5344CB8AC3E}">
        <p14:creationId xmlns:p14="http://schemas.microsoft.com/office/powerpoint/2010/main" val="10878934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500"/>
                            </p:stCondLst>
                            <p:childTnLst>
                              <p:par>
                                <p:cTn id="8" presetID="35" presetClass="emph" presetSubtype="0" repeatCount="4000" fill="hold" nodeType="afterEffect">
                                  <p:stCondLst>
                                    <p:cond delay="0"/>
                                  </p:stCondLst>
                                  <p:childTnLst>
                                    <p:anim calcmode="discrete" valueType="str">
                                      <p:cBhvr>
                                        <p:cTn id="9" dur="5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ntserrat">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9509</TotalTime>
  <Words>14903</Words>
  <Application>Microsoft Office PowerPoint</Application>
  <PresentationFormat>全屏显示(16:9)</PresentationFormat>
  <Paragraphs>2080</Paragraphs>
  <Slides>142</Slides>
  <Notes>44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142</vt:i4>
      </vt:variant>
    </vt:vector>
  </HeadingPairs>
  <TitlesOfParts>
    <vt:vector size="151" baseType="lpstr">
      <vt:lpstr>微软雅黑 Light</vt:lpstr>
      <vt:lpstr>Montserrat</vt:lpstr>
      <vt:lpstr>Times New Roman</vt:lpstr>
      <vt:lpstr>Arial</vt:lpstr>
      <vt:lpstr>微软雅黑</vt:lpstr>
      <vt:lpstr>Wingdings</vt:lpstr>
      <vt:lpstr>Symbol</vt:lpstr>
      <vt:lpstr>Office 主题​​</vt:lpstr>
      <vt:lpstr>VISIO</vt:lpstr>
      <vt:lpstr>PowerPoint 演示文稿</vt:lpstr>
      <vt:lpstr>PowerPoint 演示文稿</vt:lpstr>
      <vt:lpstr>1.1 计算机网络在信息时代中的作用</vt:lpstr>
      <vt:lpstr>信息时代：以网络为核心</vt:lpstr>
      <vt:lpstr>三网融合</vt:lpstr>
      <vt:lpstr>概念 Concepts</vt:lpstr>
      <vt:lpstr>互联网 Internet</vt:lpstr>
      <vt:lpstr>互联网 Internet</vt:lpstr>
      <vt:lpstr>互联网 Internet</vt:lpstr>
      <vt:lpstr>互联网+ Internet Plus</vt:lpstr>
      <vt:lpstr>互联网+ Internet Plus</vt:lpstr>
      <vt:lpstr>课后思考</vt:lpstr>
      <vt:lpstr>1.2 互联网概述</vt:lpstr>
      <vt:lpstr>1.2.1  网络的网络</vt:lpstr>
      <vt:lpstr>1.2.1  网络的网络</vt:lpstr>
      <vt:lpstr>1.2.1  网络的网络</vt:lpstr>
      <vt:lpstr>1.2.2  互联网基础结构发展的三个阶段</vt:lpstr>
      <vt:lpstr>第一阶段：1969 – 1990 </vt:lpstr>
      <vt:lpstr>第一阶段：1969 – 1990 </vt:lpstr>
      <vt:lpstr>第二阶段：1985 – 1993 </vt:lpstr>
      <vt:lpstr>第二阶段：1985 – 1993 </vt:lpstr>
      <vt:lpstr>第三阶段：1993 – </vt:lpstr>
      <vt:lpstr>第三阶段：1993 –</vt:lpstr>
      <vt:lpstr>第三阶段：1993 –</vt:lpstr>
      <vt:lpstr>万维网 WWW</vt:lpstr>
      <vt:lpstr>课后作业</vt:lpstr>
      <vt:lpstr>1.2.3  互联网的标准化工作</vt:lpstr>
      <vt:lpstr>标准发表：以 RFC 的形式</vt:lpstr>
      <vt:lpstr>标准化过程</vt:lpstr>
      <vt:lpstr>1.3 互联网的组成</vt:lpstr>
      <vt:lpstr>1.3  互联网的组成</vt:lpstr>
      <vt:lpstr>1.3.1  互联网的边缘部分</vt:lpstr>
      <vt:lpstr>1.3.1  互联网的边缘部分</vt:lpstr>
      <vt:lpstr>计算机之间的通信</vt:lpstr>
      <vt:lpstr>1.  客户-服务器方式（C/S 方式）</vt:lpstr>
      <vt:lpstr>客户程序和服务器程序主要特点</vt:lpstr>
      <vt:lpstr>2. 对等连接方式（P2P 方式）</vt:lpstr>
      <vt:lpstr>1.3.2  互联网的核心部分</vt:lpstr>
      <vt:lpstr>1.3.2  互联网的核心部分</vt:lpstr>
      <vt:lpstr>1. 电路交换 Circuit Switching</vt:lpstr>
      <vt:lpstr>1. 电路交换 Circuit Switching</vt:lpstr>
      <vt:lpstr>1. 电路交换 Circuit Switching</vt:lpstr>
      <vt:lpstr>1. 电路交换 Circuit Switching</vt:lpstr>
      <vt:lpstr>1. 电路交换 Circuit Switching</vt:lpstr>
      <vt:lpstr>2. 分组交换 Packet Switching</vt:lpstr>
      <vt:lpstr>2. 分组交换 Packet Switching</vt:lpstr>
      <vt:lpstr>2. 分组交换 Packet Switching</vt:lpstr>
      <vt:lpstr>2. 分组交换 Packet Switching</vt:lpstr>
      <vt:lpstr>PowerPoint 演示文稿</vt:lpstr>
      <vt:lpstr>PowerPoint 演示文稿</vt:lpstr>
      <vt:lpstr>每个分组独立选择传输路径</vt:lpstr>
      <vt:lpstr>分组的存储转发过程</vt:lpstr>
      <vt:lpstr>2. 分组交换 Packet Switching</vt:lpstr>
      <vt:lpstr>3. 报文交换 Message Switching</vt:lpstr>
      <vt:lpstr>电路交换、报文交换和分组交换的主要区别</vt:lpstr>
      <vt:lpstr>三种交换方式的比较</vt:lpstr>
      <vt:lpstr>1.4  计算机网络在我国的发展</vt:lpstr>
      <vt:lpstr>1.4  计算机网络在我国的发展</vt:lpstr>
      <vt:lpstr>1.4  计算机网络在我国的发展</vt:lpstr>
      <vt:lpstr>对我国互联网事业发展影响较大的人物和事件</vt:lpstr>
      <vt:lpstr>对我国互联网事业发展影响较大的人物和事件</vt:lpstr>
      <vt:lpstr>1.5 计算机网络的类别</vt:lpstr>
      <vt:lpstr>1.5.1  计算机网络的定义</vt:lpstr>
      <vt:lpstr>1.5.1  计算机网络的定义</vt:lpstr>
      <vt:lpstr>1.5.2  几种不同类别的计算机网络</vt:lpstr>
      <vt:lpstr>1. 按照网络的作用范围进行分类</vt:lpstr>
      <vt:lpstr>2. 按照网络的使用者进行分类</vt:lpstr>
      <vt:lpstr>3. 用来把用户接入到互联网的网络</vt:lpstr>
      <vt:lpstr>1.6 计算机网络的性能</vt:lpstr>
      <vt:lpstr>1.6.1  性能指标 Specification</vt:lpstr>
      <vt:lpstr>1. 速率 bit rate</vt:lpstr>
      <vt:lpstr>2. 带宽 bandwidth</vt:lpstr>
      <vt:lpstr>3. 吞吐量 (throughput)</vt:lpstr>
      <vt:lpstr>4. 时延 delay</vt:lpstr>
      <vt:lpstr>4.1 发送时延</vt:lpstr>
      <vt:lpstr>4.2 传播时延</vt:lpstr>
      <vt:lpstr>4.3 处理时延</vt:lpstr>
      <vt:lpstr>4.4 排队时延</vt:lpstr>
      <vt:lpstr>4. 时延 delay</vt:lpstr>
      <vt:lpstr>4. 时延 delay</vt:lpstr>
      <vt:lpstr>[练习]</vt:lpstr>
      <vt:lpstr>[练习]</vt:lpstr>
      <vt:lpstr>[练习]</vt:lpstr>
      <vt:lpstr>5. 时延带宽积</vt:lpstr>
      <vt:lpstr>6. 往返时间 RTT</vt:lpstr>
      <vt:lpstr>[练习]</vt:lpstr>
      <vt:lpstr>[练习]</vt:lpstr>
      <vt:lpstr>6. 往返时间 RTT</vt:lpstr>
      <vt:lpstr>7. 利用率 Utilization</vt:lpstr>
      <vt:lpstr>7. 利用率 Utilization</vt:lpstr>
      <vt:lpstr>1.6.2  非性能特征</vt:lpstr>
      <vt:lpstr>1.7 计算机网络体系结构</vt:lpstr>
      <vt:lpstr>1.7.1  计算机网络体系结构的形成</vt:lpstr>
      <vt:lpstr>1.7.1  计算机网络体系结构的形成</vt:lpstr>
      <vt:lpstr>开放系统互连参考模型 OSI/RM</vt:lpstr>
      <vt:lpstr>开放系统互连参考模型 OSI/RM</vt:lpstr>
      <vt:lpstr>两种国际标准 Standards</vt:lpstr>
      <vt:lpstr>1.7.2  协议与划分层次</vt:lpstr>
      <vt:lpstr>1.7.2  协议与划分层次</vt:lpstr>
      <vt:lpstr>[例] 两台主机通过网络传送文件</vt:lpstr>
      <vt:lpstr>[例] 两台主机通过网络传送文件</vt:lpstr>
      <vt:lpstr>[例] 两台主机通过网络传送文件</vt:lpstr>
      <vt:lpstr>分层的优点与缺点 Features</vt:lpstr>
      <vt:lpstr>各层主要功能 Functions</vt:lpstr>
      <vt:lpstr>体系结构 Architecture</vt:lpstr>
      <vt:lpstr>1.7.3  具有五层协议的体系结构</vt:lpstr>
      <vt:lpstr>各层的主要功能</vt:lpstr>
      <vt:lpstr>各层的主要功能</vt:lpstr>
      <vt:lpstr>各层的主要功能</vt:lpstr>
      <vt:lpstr>各层的主要功能</vt:lpstr>
      <vt:lpstr>各层的主要功能</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数据在各层之间的传递过程</vt:lpstr>
      <vt:lpstr>对等层与协议数据单元</vt:lpstr>
      <vt:lpstr>1.7.4  实体、协议、服务和服务访问点</vt:lpstr>
      <vt:lpstr>注意：协议和服务在概念上是不一样的</vt:lpstr>
      <vt:lpstr>相邻两层之间的关系</vt:lpstr>
      <vt:lpstr>协议很复杂，要应付所有异常情况</vt:lpstr>
      <vt:lpstr>1.7.5  TCP/IP 的体系结构</vt:lpstr>
      <vt:lpstr>TCP/IP 体系结构的另一种表示方法</vt:lpstr>
      <vt:lpstr>沙漏计时器形状的 TCP/IP 协议族</vt:lpstr>
      <vt:lpstr>互联网中客户-服务器工作方式</vt:lpstr>
      <vt:lpstr>同时运行多个服务器进程同时为多个客户进程提供服务</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dc:title>
  <dc:creator>glplaman.github.io</dc:creator>
  <cp:lastModifiedBy>cn plaman</cp:lastModifiedBy>
  <cp:revision>789</cp:revision>
  <dcterms:created xsi:type="dcterms:W3CDTF">2018-07-18T08:51:30Z</dcterms:created>
  <dcterms:modified xsi:type="dcterms:W3CDTF">2026-08-21T13:19:26Z</dcterms:modified>
</cp:coreProperties>
</file>