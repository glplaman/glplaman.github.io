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3"/>
  </p:notesMasterIdLst>
  <p:sldIdLst>
    <p:sldId id="257" r:id="rId2"/>
    <p:sldId id="256" r:id="rId3"/>
    <p:sldId id="289" r:id="rId4"/>
    <p:sldId id="656"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324" r:id="rId27"/>
    <p:sldId id="505" r:id="rId28"/>
    <p:sldId id="514" r:id="rId29"/>
    <p:sldId id="329" r:id="rId30"/>
    <p:sldId id="515" r:id="rId31"/>
    <p:sldId id="518" r:id="rId32"/>
    <p:sldId id="519" r:id="rId33"/>
    <p:sldId id="520" r:id="rId34"/>
    <p:sldId id="522" r:id="rId35"/>
    <p:sldId id="523" r:id="rId36"/>
    <p:sldId id="524" r:id="rId37"/>
    <p:sldId id="525" r:id="rId38"/>
    <p:sldId id="526" r:id="rId39"/>
    <p:sldId id="527" r:id="rId40"/>
    <p:sldId id="654" r:id="rId41"/>
    <p:sldId id="528" r:id="rId42"/>
    <p:sldId id="530" r:id="rId43"/>
    <p:sldId id="531" r:id="rId44"/>
    <p:sldId id="655" r:id="rId45"/>
    <p:sldId id="533" r:id="rId46"/>
    <p:sldId id="535" r:id="rId47"/>
    <p:sldId id="536" r:id="rId48"/>
    <p:sldId id="359" r:id="rId49"/>
    <p:sldId id="360" r:id="rId50"/>
    <p:sldId id="475" r:id="rId51"/>
    <p:sldId id="476" r:id="rId52"/>
    <p:sldId id="477" r:id="rId53"/>
    <p:sldId id="538" r:id="rId54"/>
    <p:sldId id="478" r:id="rId55"/>
    <p:sldId id="539" r:id="rId56"/>
    <p:sldId id="540" r:id="rId57"/>
    <p:sldId id="541" r:id="rId58"/>
    <p:sldId id="542" r:id="rId59"/>
    <p:sldId id="543" r:id="rId60"/>
    <p:sldId id="544" r:id="rId61"/>
    <p:sldId id="374" r:id="rId62"/>
    <p:sldId id="545" r:id="rId63"/>
    <p:sldId id="546" r:id="rId64"/>
    <p:sldId id="547" r:id="rId65"/>
    <p:sldId id="551" r:id="rId66"/>
    <p:sldId id="549" r:id="rId67"/>
    <p:sldId id="550" r:id="rId68"/>
    <p:sldId id="382" r:id="rId69"/>
    <p:sldId id="552" r:id="rId70"/>
    <p:sldId id="553" r:id="rId71"/>
    <p:sldId id="554" r:id="rId72"/>
    <p:sldId id="555" r:id="rId73"/>
    <p:sldId id="556" r:id="rId74"/>
    <p:sldId id="558" r:id="rId75"/>
    <p:sldId id="560" r:id="rId76"/>
    <p:sldId id="562" r:id="rId77"/>
    <p:sldId id="648" r:id="rId78"/>
    <p:sldId id="563" r:id="rId79"/>
    <p:sldId id="396" r:id="rId80"/>
    <p:sldId id="564" r:id="rId81"/>
    <p:sldId id="565" r:id="rId82"/>
    <p:sldId id="566" r:id="rId83"/>
    <p:sldId id="567" r:id="rId84"/>
    <p:sldId id="568" r:id="rId85"/>
    <p:sldId id="569" r:id="rId86"/>
    <p:sldId id="571" r:id="rId87"/>
    <p:sldId id="570" r:id="rId88"/>
    <p:sldId id="572" r:id="rId89"/>
    <p:sldId id="573" r:id="rId90"/>
    <p:sldId id="574" r:id="rId91"/>
    <p:sldId id="408" r:id="rId92"/>
    <p:sldId id="575" r:id="rId93"/>
    <p:sldId id="576" r:id="rId94"/>
    <p:sldId id="577" r:id="rId95"/>
    <p:sldId id="579" r:id="rId96"/>
    <p:sldId id="580" r:id="rId97"/>
    <p:sldId id="581" r:id="rId98"/>
    <p:sldId id="582" r:id="rId99"/>
    <p:sldId id="419" r:id="rId100"/>
    <p:sldId id="585" r:id="rId101"/>
    <p:sldId id="586" r:id="rId102"/>
    <p:sldId id="591" r:id="rId103"/>
    <p:sldId id="588" r:id="rId104"/>
    <p:sldId id="589" r:id="rId105"/>
    <p:sldId id="590" r:id="rId106"/>
    <p:sldId id="593" r:id="rId107"/>
    <p:sldId id="596" r:id="rId108"/>
    <p:sldId id="598" r:id="rId109"/>
    <p:sldId id="600" r:id="rId110"/>
    <p:sldId id="601" r:id="rId111"/>
    <p:sldId id="602" r:id="rId112"/>
    <p:sldId id="606" r:id="rId113"/>
    <p:sldId id="605" r:id="rId114"/>
    <p:sldId id="607" r:id="rId115"/>
    <p:sldId id="608" r:id="rId116"/>
    <p:sldId id="610" r:id="rId117"/>
    <p:sldId id="613" r:id="rId118"/>
    <p:sldId id="615" r:id="rId119"/>
    <p:sldId id="616" r:id="rId120"/>
    <p:sldId id="618" r:id="rId121"/>
    <p:sldId id="619" r:id="rId122"/>
    <p:sldId id="620" r:id="rId123"/>
    <p:sldId id="621" r:id="rId124"/>
    <p:sldId id="623" r:id="rId125"/>
    <p:sldId id="625" r:id="rId126"/>
    <p:sldId id="624" r:id="rId127"/>
    <p:sldId id="627" r:id="rId128"/>
    <p:sldId id="628" r:id="rId129"/>
    <p:sldId id="630" r:id="rId130"/>
    <p:sldId id="631" r:id="rId131"/>
    <p:sldId id="632" r:id="rId132"/>
    <p:sldId id="633" r:id="rId133"/>
    <p:sldId id="634" r:id="rId134"/>
    <p:sldId id="635" r:id="rId135"/>
    <p:sldId id="637" r:id="rId136"/>
    <p:sldId id="639" r:id="rId137"/>
    <p:sldId id="641" r:id="rId138"/>
    <p:sldId id="642" r:id="rId139"/>
    <p:sldId id="643" r:id="rId140"/>
    <p:sldId id="645" r:id="rId141"/>
    <p:sldId id="646" r:id="rId142"/>
  </p:sldIdLst>
  <p:sldSz cx="9144000" cy="5143500" type="screen16x9"/>
  <p:notesSz cx="6858000" cy="9144000"/>
  <p:embeddedFontLst>
    <p:embeddedFont>
      <p:font typeface="Montserrat" panose="00000500000000000000" pitchFamily="2" charset="0"/>
      <p:regular r:id="rId144"/>
    </p:embeddedFont>
    <p:embeddedFont>
      <p:font typeface="微软雅黑" panose="020B0503020204020204" pitchFamily="34" charset="-122"/>
      <p:regular r:id="rId145"/>
      <p:bold r:id="rId146"/>
    </p:embeddedFont>
    <p:embeddedFont>
      <p:font typeface="微软雅黑 Light" panose="020B0502040204020203" pitchFamily="34" charset="-122"/>
      <p:regular r:id="rId14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89FA"/>
    <a:srgbClr val="D4237A"/>
    <a:srgbClr val="7CE07C"/>
    <a:srgbClr val="85D1F7"/>
    <a:srgbClr val="000000"/>
    <a:srgbClr val="607FC1"/>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varScale="1">
        <p:scale>
          <a:sx n="149" d="100"/>
          <a:sy n="149" d="100"/>
        </p:scale>
        <p:origin x="654" y="132"/>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viewProps" Target="view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fntdata"/><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1" qsCatId="simple" csTypeId="urn:microsoft.com/office/officeart/2005/8/colors/colorful4#1"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2026/9/1</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zh-CN" altLang="en-US" dirty="0"/>
              <a:t>互连网 ≠ 互联网</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a:t>
            </a:fld>
            <a:endParaRPr lang="zh-CN" altLang="en-US" dirty="0"/>
          </a:p>
        </p:txBody>
      </p:sp>
    </p:spTree>
    <p:extLst>
      <p:ext uri="{BB962C8B-B14F-4D97-AF65-F5344CB8AC3E}">
        <p14:creationId xmlns:p14="http://schemas.microsoft.com/office/powerpoint/2010/main" val="461789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36</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70</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71</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78</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82</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97</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101</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105</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124</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B036402E-D1D1-F187-DFE8-5723BFFE9FBF}"/>
              </a:ext>
            </a:extLst>
          </p:cNvPr>
          <p:cNvSpPr/>
          <p:nvPr userDrawn="1"/>
        </p:nvSpPr>
        <p:spPr>
          <a:xfrm>
            <a:off x="0" y="1"/>
            <a:ext cx="4741817" cy="5143501"/>
          </a:xfrm>
          <a:custGeom>
            <a:avLst/>
            <a:gdLst>
              <a:gd name="csX0" fmla="*/ 0 w 4741817"/>
              <a:gd name="csY0" fmla="*/ 0 h 5143501"/>
              <a:gd name="csX1" fmla="*/ 1272194 w 4741817"/>
              <a:gd name="csY1" fmla="*/ 0 h 5143501"/>
              <a:gd name="csX2" fmla="*/ 4741817 w 4741817"/>
              <a:gd name="csY2" fmla="*/ 5143501 h 5143501"/>
              <a:gd name="csX3" fmla="*/ 0 w 4741817"/>
              <a:gd name="csY3" fmla="*/ 5143501 h 5143501"/>
              <a:gd name="csX4" fmla="*/ 0 w 4741817"/>
              <a:gd name="csY4" fmla="*/ 5143500 h 5143501"/>
              <a:gd name="csX5" fmla="*/ 1503503 w 4741817"/>
              <a:gd name="csY5" fmla="*/ 5143500 h 5143501"/>
              <a:gd name="csX6" fmla="*/ 0 w 4741817"/>
              <a:gd name="csY6" fmla="*/ 2914650 h 514350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41817" h="5143501">
                <a:moveTo>
                  <a:pt x="0" y="0"/>
                </a:moveTo>
                <a:lnTo>
                  <a:pt x="1272194" y="0"/>
                </a:lnTo>
                <a:lnTo>
                  <a:pt x="4741817" y="5143501"/>
                </a:lnTo>
                <a:lnTo>
                  <a:pt x="0" y="5143501"/>
                </a:lnTo>
                <a:lnTo>
                  <a:pt x="0" y="5143500"/>
                </a:lnTo>
                <a:lnTo>
                  <a:pt x="1503503" y="5143500"/>
                </a:lnTo>
                <a:lnTo>
                  <a:pt x="0" y="2914650"/>
                </a:lnTo>
                <a:close/>
              </a:path>
            </a:pathLst>
          </a:cu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 name="任意多边形: 形状 7">
            <a:extLst>
              <a:ext uri="{FF2B5EF4-FFF2-40B4-BE49-F238E27FC236}">
                <a16:creationId xmlns:a16="http://schemas.microsoft.com/office/drawing/2014/main" id="{EE83E7A8-DBD4-6E7B-661C-5B2F868BF548}"/>
              </a:ext>
            </a:extLst>
          </p:cNvPr>
          <p:cNvSpPr/>
          <p:nvPr userDrawn="1"/>
        </p:nvSpPr>
        <p:spPr>
          <a:xfrm>
            <a:off x="2228850" y="1000125"/>
            <a:ext cx="6915147" cy="4143375"/>
          </a:xfrm>
          <a:custGeom>
            <a:avLst/>
            <a:gdLst>
              <a:gd name="csX0" fmla="*/ 0 w 6915147"/>
              <a:gd name="csY0" fmla="*/ 0 h 4143375"/>
              <a:gd name="csX1" fmla="*/ 4552956 w 6915147"/>
              <a:gd name="csY1" fmla="*/ 0 h 4143375"/>
              <a:gd name="csX2" fmla="*/ 6915147 w 6915147"/>
              <a:gd name="csY2" fmla="*/ 3501803 h 4143375"/>
              <a:gd name="csX3" fmla="*/ 6915147 w 6915147"/>
              <a:gd name="csY3" fmla="*/ 4143375 h 4143375"/>
              <a:gd name="csX4" fmla="*/ 2794973 w 6915147"/>
              <a:gd name="csY4" fmla="*/ 4143375 h 4143375"/>
              <a:gd name="csX5" fmla="*/ 0 w 6915147"/>
              <a:gd name="csY5" fmla="*/ 1 h 4143375"/>
            </a:gdLst>
            <a:ahLst/>
            <a:cxnLst>
              <a:cxn ang="0">
                <a:pos x="csX0" y="csY0"/>
              </a:cxn>
              <a:cxn ang="0">
                <a:pos x="csX1" y="csY1"/>
              </a:cxn>
              <a:cxn ang="0">
                <a:pos x="csX2" y="csY2"/>
              </a:cxn>
              <a:cxn ang="0">
                <a:pos x="csX3" y="csY3"/>
              </a:cxn>
              <a:cxn ang="0">
                <a:pos x="csX4" y="csY4"/>
              </a:cxn>
              <a:cxn ang="0">
                <a:pos x="csX5" y="csY5"/>
              </a:cxn>
            </a:cxnLst>
            <a:rect l="l" t="t" r="r" b="b"/>
            <a:pathLst>
              <a:path w="6915147" h="4143375">
                <a:moveTo>
                  <a:pt x="0" y="0"/>
                </a:moveTo>
                <a:lnTo>
                  <a:pt x="4552956" y="0"/>
                </a:lnTo>
                <a:lnTo>
                  <a:pt x="6915147" y="3501803"/>
                </a:lnTo>
                <a:lnTo>
                  <a:pt x="6915147" y="4143375"/>
                </a:lnTo>
                <a:lnTo>
                  <a:pt x="2794973" y="4143375"/>
                </a:lnTo>
                <a:lnTo>
                  <a:pt x="0" y="1"/>
                </a:lnTo>
                <a:close/>
              </a:path>
            </a:pathLst>
          </a:cu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2228850" y="403553"/>
            <a:ext cx="6562725" cy="523220"/>
          </a:xfrm>
        </p:spPr>
        <p:txBody>
          <a:bodyPr/>
          <a:lstStyle>
            <a:lvl1pPr>
              <a:lnSpc>
                <a:spcPct val="100000"/>
              </a:lnSpc>
              <a:defRPr sz="2800">
                <a:solidFill>
                  <a:schemeClr val="tx1"/>
                </a:solidFill>
              </a:defRPr>
            </a:lvl1pPr>
          </a:lstStyle>
          <a:p>
            <a:r>
              <a:rPr lang="zh-CN" altLang="en-US" dirty="0"/>
              <a:t>单击此处编辑母版标题样式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www.rfc-editor.org/series/rfc/"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2.wmf"/><Relationship Id="rId7"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2.png"/><Relationship Id="rId5" Type="http://schemas.openxmlformats.org/officeDocument/2006/relationships/image" Target="../media/image37.png"/><Relationship Id="rId10" Type="http://schemas.openxmlformats.org/officeDocument/2006/relationships/image" Target="../media/image41.png"/><Relationship Id="rId4" Type="http://schemas.openxmlformats.org/officeDocument/2006/relationships/image" Target="../media/image36.png"/><Relationship Id="rId9"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8.wmf"/><Relationship Id="rId5" Type="http://schemas.openxmlformats.org/officeDocument/2006/relationships/image" Target="../media/image33.png"/><Relationship Id="rId4" Type="http://schemas.openxmlformats.org/officeDocument/2006/relationships/image" Target="../media/image46.wmf"/></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2228850" y="403553"/>
            <a:ext cx="6562725" cy="523220"/>
          </a:xfrm>
        </p:spPr>
        <p:txBody>
          <a:bodyPr/>
          <a:lstStyle/>
          <a:p>
            <a:r>
              <a:rPr lang="fr-FR" altLang="zh-CN" dirty="0"/>
              <a:t>1.1 </a:t>
            </a:r>
            <a:r>
              <a:rPr lang="zh-CN" altLang="en-US" dirty="0"/>
              <a:t>计算机网络在信息时代中的作用</a:t>
            </a:r>
          </a:p>
        </p:txBody>
      </p:sp>
      <p:sp>
        <p:nvSpPr>
          <p:cNvPr id="31" name="文本框 30">
            <a:extLst>
              <a:ext uri="{FF2B5EF4-FFF2-40B4-BE49-F238E27FC236}">
                <a16:creationId xmlns:a16="http://schemas.microsoft.com/office/drawing/2014/main" id="{BF368EE3-3AC1-0E0F-E74C-5E53B3B90A77}"/>
              </a:ext>
            </a:extLst>
          </p:cNvPr>
          <p:cNvSpPr txBox="1"/>
          <p:nvPr/>
        </p:nvSpPr>
        <p:spPr>
          <a:xfrm>
            <a:off x="3398858" y="1224975"/>
            <a:ext cx="2236510" cy="707886"/>
          </a:xfrm>
          <a:prstGeom prst="rect">
            <a:avLst/>
          </a:prstGeom>
          <a:noFill/>
        </p:spPr>
        <p:txBody>
          <a:bodyPr wrap="none" rtlCol="0">
            <a:spAutoFit/>
          </a:bodyPr>
          <a:lstStyle/>
          <a:p>
            <a:r>
              <a:rPr lang="en-US" altLang="zh-CN" sz="2000" dirty="0"/>
              <a:t>1.1.1 </a:t>
            </a:r>
          </a:p>
          <a:p>
            <a:r>
              <a:rPr lang="zh-CN" altLang="en-US" sz="2000" dirty="0"/>
              <a:t>计算机网络的定义</a:t>
            </a:r>
            <a:endParaRPr lang="en-US" altLang="zh-CN" sz="2000" dirty="0"/>
          </a:p>
        </p:txBody>
      </p:sp>
      <p:sp>
        <p:nvSpPr>
          <p:cNvPr id="32" name="文本框 31">
            <a:extLst>
              <a:ext uri="{FF2B5EF4-FFF2-40B4-BE49-F238E27FC236}">
                <a16:creationId xmlns:a16="http://schemas.microsoft.com/office/drawing/2014/main" id="{1FB372A0-FA3F-FF5F-3C57-99400378F8B7}"/>
              </a:ext>
            </a:extLst>
          </p:cNvPr>
          <p:cNvSpPr txBox="1"/>
          <p:nvPr/>
        </p:nvSpPr>
        <p:spPr>
          <a:xfrm>
            <a:off x="4416703" y="2302173"/>
            <a:ext cx="2236510" cy="707886"/>
          </a:xfrm>
          <a:prstGeom prst="rect">
            <a:avLst/>
          </a:prstGeom>
          <a:noFill/>
        </p:spPr>
        <p:txBody>
          <a:bodyPr wrap="none" rtlCol="0">
            <a:spAutoFit/>
          </a:bodyPr>
          <a:lstStyle/>
          <a:p>
            <a:r>
              <a:rPr lang="en-US" altLang="zh-CN" sz="2000" dirty="0"/>
              <a:t>1.1.2 </a:t>
            </a:r>
          </a:p>
          <a:p>
            <a:r>
              <a:rPr lang="zh-CN" altLang="en-US" sz="2000"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68C3004A-B262-53C4-B4ED-F5078A8FA748}"/>
              </a:ext>
            </a:extLst>
          </p:cNvPr>
          <p:cNvSpPr txBox="1"/>
          <p:nvPr/>
        </p:nvSpPr>
        <p:spPr>
          <a:xfrm>
            <a:off x="1216959" y="2402473"/>
            <a:ext cx="2236510" cy="338554"/>
          </a:xfrm>
          <a:prstGeom prst="rect">
            <a:avLst/>
          </a:prstGeom>
          <a:noFill/>
        </p:spPr>
        <p:txBody>
          <a:bodyPr wrap="none" rtlCol="0">
            <a:spAutoFit/>
          </a:bodyPr>
          <a:lstStyle/>
          <a:p>
            <a:pPr algn="l"/>
            <a:r>
              <a:rPr lang="zh-CN" altLang="en-US" sz="1600" dirty="0"/>
              <a:t>你心中的网络是什么？</a:t>
            </a:r>
          </a:p>
        </p:txBody>
      </p:sp>
      <p:sp>
        <p:nvSpPr>
          <p:cNvPr id="14" name="等腰三角形 13">
            <a:extLst>
              <a:ext uri="{FF2B5EF4-FFF2-40B4-BE49-F238E27FC236}">
                <a16:creationId xmlns:a16="http://schemas.microsoft.com/office/drawing/2014/main" id="{ACCFB4B9-EF89-100E-8D9D-ACBD57217246}"/>
              </a:ext>
            </a:extLst>
          </p:cNvPr>
          <p:cNvSpPr/>
          <p:nvPr/>
        </p:nvSpPr>
        <p:spPr>
          <a:xfrm rot="-5400000">
            <a:off x="5197657" y="1197157"/>
            <a:ext cx="5143500" cy="2749186"/>
          </a:xfrm>
          <a:prstGeom prst="triangle">
            <a:avLst/>
          </a:prstGeom>
          <a:blipFill dpi="0" rotWithShape="0">
            <a:blip r:embed="rId2"/>
            <a:srcRect/>
            <a:tile tx="0" ty="0" sx="100000" sy="100000" flip="none" algn="ctr"/>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等腰三角形 15">
            <a:extLst>
              <a:ext uri="{FF2B5EF4-FFF2-40B4-BE49-F238E27FC236}">
                <a16:creationId xmlns:a16="http://schemas.microsoft.com/office/drawing/2014/main" id="{09B3277A-F815-9B9E-0451-1E92E9D56A02}"/>
              </a:ext>
            </a:extLst>
          </p:cNvPr>
          <p:cNvSpPr/>
          <p:nvPr/>
        </p:nvSpPr>
        <p:spPr>
          <a:xfrm flipV="1">
            <a:off x="3645629" y="0"/>
            <a:ext cx="5358067" cy="2465309"/>
          </a:xfrm>
          <a:prstGeom prst="triangle">
            <a:avLst/>
          </a:prstGeom>
          <a:blipFill dpi="0" rotWithShape="0">
            <a:blip r:embed="rId3"/>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 name="等腰三角形 17">
            <a:extLst>
              <a:ext uri="{FF2B5EF4-FFF2-40B4-BE49-F238E27FC236}">
                <a16:creationId xmlns:a16="http://schemas.microsoft.com/office/drawing/2014/main" id="{332BDFBD-E897-2DF1-F15F-593790AF4217}"/>
              </a:ext>
            </a:extLst>
          </p:cNvPr>
          <p:cNvSpPr/>
          <p:nvPr/>
        </p:nvSpPr>
        <p:spPr>
          <a:xfrm>
            <a:off x="3645629" y="2678192"/>
            <a:ext cx="5358067" cy="2465309"/>
          </a:xfrm>
          <a:prstGeom prst="triangle">
            <a:avLst/>
          </a:prstGeom>
          <a:blipFill dpi="0" rotWithShape="0">
            <a:blip r:embed="rId4"/>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椭圆 18">
            <a:extLst>
              <a:ext uri="{FF2B5EF4-FFF2-40B4-BE49-F238E27FC236}">
                <a16:creationId xmlns:a16="http://schemas.microsoft.com/office/drawing/2014/main" id="{6777FBFC-4D1D-4388-BDBA-9BF928F401A5}"/>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椭圆 19">
            <a:extLst>
              <a:ext uri="{FF2B5EF4-FFF2-40B4-BE49-F238E27FC236}">
                <a16:creationId xmlns:a16="http://schemas.microsoft.com/office/drawing/2014/main" id="{8D45D00A-98BD-588D-DE08-6AFD66391F7B}"/>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 name="椭圆 20">
            <a:extLst>
              <a:ext uri="{FF2B5EF4-FFF2-40B4-BE49-F238E27FC236}">
                <a16:creationId xmlns:a16="http://schemas.microsoft.com/office/drawing/2014/main" id="{4C4904D4-6F5F-650D-6A7B-DC7B7FCED3C0}"/>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椭圆 21">
            <a:extLst>
              <a:ext uri="{FF2B5EF4-FFF2-40B4-BE49-F238E27FC236}">
                <a16:creationId xmlns:a16="http://schemas.microsoft.com/office/drawing/2014/main" id="{6867E2BB-8A82-B8C8-1251-2CA4CD85383C}"/>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1780831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repeatCount="indefinite"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p:cTn id="7" dur="2000" fill="hold"/>
                                        <p:tgtEl>
                                          <p:spTgt spid="19"/>
                                        </p:tgtEl>
                                        <p:attrNameLst>
                                          <p:attrName>ppt_w</p:attrName>
                                        </p:attrNameLst>
                                      </p:cBhvr>
                                      <p:tavLst>
                                        <p:tav tm="0">
                                          <p:val>
                                            <p:fltVal val="0"/>
                                          </p:val>
                                        </p:tav>
                                        <p:tav tm="100000">
                                          <p:val>
                                            <p:strVal val="#ppt_w"/>
                                          </p:val>
                                        </p:tav>
                                      </p:tavLst>
                                    </p:anim>
                                    <p:anim calcmode="lin" valueType="num">
                                      <p:cBhvr>
                                        <p:cTn id="8" dur="2000" fill="hold"/>
                                        <p:tgtEl>
                                          <p:spTgt spid="19"/>
                                        </p:tgtEl>
                                        <p:attrNameLst>
                                          <p:attrName>ppt_h</p:attrName>
                                        </p:attrNameLst>
                                      </p:cBhvr>
                                      <p:tavLst>
                                        <p:tav tm="0">
                                          <p:val>
                                            <p:fltVal val="0"/>
                                          </p:val>
                                        </p:tav>
                                        <p:tav tm="100000">
                                          <p:val>
                                            <p:strVal val="#ppt_h"/>
                                          </p:val>
                                        </p:tav>
                                      </p:tavLst>
                                    </p:anim>
                                  </p:childTnLst>
                                </p:cTn>
                              </p:par>
                              <p:par>
                                <p:cTn id="9" presetID="10" presetClass="exit" presetSubtype="0" repeatCount="indefinite" fill="hold" grpId="1" nodeType="withEffect">
                                  <p:stCondLst>
                                    <p:cond delay="0"/>
                                  </p:stCondLst>
                                  <p:endCondLst>
                                    <p:cond evt="onNext" delay="0">
                                      <p:tgtEl>
                                        <p:sldTgt/>
                                      </p:tgtEl>
                                    </p:cond>
                                  </p:endCondLst>
                                  <p:childTnLst>
                                    <p:animEffect transition="out" filter="fade">
                                      <p:cBhvr>
                                        <p:cTn id="10" dur="2000"/>
                                        <p:tgtEl>
                                          <p:spTgt spid="19"/>
                                        </p:tgtEl>
                                      </p:cBhvr>
                                    </p:animEffect>
                                    <p:set>
                                      <p:cBhvr>
                                        <p:cTn id="11" dur="1" fill="hold">
                                          <p:stCondLst>
                                            <p:cond delay="1999"/>
                                          </p:stCondLst>
                                        </p:cTn>
                                        <p:tgtEl>
                                          <p:spTgt spid="19"/>
                                        </p:tgtEl>
                                        <p:attrNameLst>
                                          <p:attrName>style.visibility</p:attrName>
                                        </p:attrNameLst>
                                      </p:cBhvr>
                                      <p:to>
                                        <p:strVal val="hidden"/>
                                      </p:to>
                                    </p:set>
                                  </p:childTnLst>
                                </p:cTn>
                              </p:par>
                              <p:par>
                                <p:cTn id="12" presetID="23" presetClass="entr" presetSubtype="16" repeatCount="indefinite" grpId="0" nodeType="withEffect">
                                  <p:stCondLst>
                                    <p:cond delay="500"/>
                                  </p:stCondLst>
                                  <p:childTnLst>
                                    <p:set>
                                      <p:cBhvr>
                                        <p:cTn id="13" dur="1" fill="hold">
                                          <p:stCondLst>
                                            <p:cond delay="0"/>
                                          </p:stCondLst>
                                        </p:cTn>
                                        <p:tgtEl>
                                          <p:spTgt spid="20"/>
                                        </p:tgtEl>
                                        <p:attrNameLst>
                                          <p:attrName>style.visibility</p:attrName>
                                        </p:attrNameLst>
                                      </p:cBhvr>
                                      <p:to>
                                        <p:strVal val="visible"/>
                                      </p:to>
                                    </p:set>
                                    <p:anim calcmode="lin" valueType="num">
                                      <p:cBhvr>
                                        <p:cTn id="14" dur="2000" fill="hold"/>
                                        <p:tgtEl>
                                          <p:spTgt spid="20"/>
                                        </p:tgtEl>
                                        <p:attrNameLst>
                                          <p:attrName>ppt_w</p:attrName>
                                        </p:attrNameLst>
                                      </p:cBhvr>
                                      <p:tavLst>
                                        <p:tav tm="0">
                                          <p:val>
                                            <p:fltVal val="0"/>
                                          </p:val>
                                        </p:tav>
                                        <p:tav tm="100000">
                                          <p:val>
                                            <p:strVal val="#ppt_w"/>
                                          </p:val>
                                        </p:tav>
                                      </p:tavLst>
                                    </p:anim>
                                    <p:anim calcmode="lin" valueType="num">
                                      <p:cBhvr>
                                        <p:cTn id="15" dur="2000" fill="hold"/>
                                        <p:tgtEl>
                                          <p:spTgt spid="20"/>
                                        </p:tgtEl>
                                        <p:attrNameLst>
                                          <p:attrName>ppt_h</p:attrName>
                                        </p:attrNameLst>
                                      </p:cBhvr>
                                      <p:tavLst>
                                        <p:tav tm="0">
                                          <p:val>
                                            <p:fltVal val="0"/>
                                          </p:val>
                                        </p:tav>
                                        <p:tav tm="100000">
                                          <p:val>
                                            <p:strVal val="#ppt_h"/>
                                          </p:val>
                                        </p:tav>
                                      </p:tavLst>
                                    </p:anim>
                                  </p:childTnLst>
                                </p:cTn>
                              </p:par>
                              <p:par>
                                <p:cTn id="16" presetID="10" presetClass="exit" presetSubtype="0" repeatCount="indefinite" fill="hold" grpId="1" nodeType="withEffect">
                                  <p:stCondLst>
                                    <p:cond delay="500"/>
                                  </p:stCondLst>
                                  <p:endCondLst>
                                    <p:cond evt="onNext" delay="0">
                                      <p:tgtEl>
                                        <p:sldTgt/>
                                      </p:tgtEl>
                                    </p:cond>
                                  </p:endCondLst>
                                  <p:childTnLst>
                                    <p:animEffect transition="out" filter="fade">
                                      <p:cBhvr>
                                        <p:cTn id="17" dur="2000"/>
                                        <p:tgtEl>
                                          <p:spTgt spid="20"/>
                                        </p:tgtEl>
                                      </p:cBhvr>
                                    </p:animEffect>
                                    <p:set>
                                      <p:cBhvr>
                                        <p:cTn id="18" dur="1" fill="hold">
                                          <p:stCondLst>
                                            <p:cond delay="1999"/>
                                          </p:stCondLst>
                                        </p:cTn>
                                        <p:tgtEl>
                                          <p:spTgt spid="20"/>
                                        </p:tgtEl>
                                        <p:attrNameLst>
                                          <p:attrName>style.visibility</p:attrName>
                                        </p:attrNameLst>
                                      </p:cBhvr>
                                      <p:to>
                                        <p:strVal val="hidden"/>
                                      </p:to>
                                    </p:set>
                                  </p:childTnLst>
                                </p:cTn>
                              </p:par>
                              <p:par>
                                <p:cTn id="19" presetID="23" presetClass="entr" presetSubtype="16" repeatCount="indefinite" grpId="0" nodeType="withEffect">
                                  <p:stCondLst>
                                    <p:cond delay="1000"/>
                                  </p:stCondLst>
                                  <p:childTnLst>
                                    <p:set>
                                      <p:cBhvr>
                                        <p:cTn id="20" dur="1" fill="hold">
                                          <p:stCondLst>
                                            <p:cond delay="0"/>
                                          </p:stCondLst>
                                        </p:cTn>
                                        <p:tgtEl>
                                          <p:spTgt spid="21"/>
                                        </p:tgtEl>
                                        <p:attrNameLst>
                                          <p:attrName>style.visibility</p:attrName>
                                        </p:attrNameLst>
                                      </p:cBhvr>
                                      <p:to>
                                        <p:strVal val="visible"/>
                                      </p:to>
                                    </p:set>
                                    <p:anim calcmode="lin" valueType="num">
                                      <p:cBhvr>
                                        <p:cTn id="21" dur="2000" fill="hold"/>
                                        <p:tgtEl>
                                          <p:spTgt spid="21"/>
                                        </p:tgtEl>
                                        <p:attrNameLst>
                                          <p:attrName>ppt_w</p:attrName>
                                        </p:attrNameLst>
                                      </p:cBhvr>
                                      <p:tavLst>
                                        <p:tav tm="0">
                                          <p:val>
                                            <p:fltVal val="0"/>
                                          </p:val>
                                        </p:tav>
                                        <p:tav tm="100000">
                                          <p:val>
                                            <p:strVal val="#ppt_w"/>
                                          </p:val>
                                        </p:tav>
                                      </p:tavLst>
                                    </p:anim>
                                    <p:anim calcmode="lin" valueType="num">
                                      <p:cBhvr>
                                        <p:cTn id="22" dur="2000" fill="hold"/>
                                        <p:tgtEl>
                                          <p:spTgt spid="21"/>
                                        </p:tgtEl>
                                        <p:attrNameLst>
                                          <p:attrName>ppt_h</p:attrName>
                                        </p:attrNameLst>
                                      </p:cBhvr>
                                      <p:tavLst>
                                        <p:tav tm="0">
                                          <p:val>
                                            <p:fltVal val="0"/>
                                          </p:val>
                                        </p:tav>
                                        <p:tav tm="100000">
                                          <p:val>
                                            <p:strVal val="#ppt_h"/>
                                          </p:val>
                                        </p:tav>
                                      </p:tavLst>
                                    </p:anim>
                                  </p:childTnLst>
                                </p:cTn>
                              </p:par>
                              <p:par>
                                <p:cTn id="23" presetID="10" presetClass="exit" presetSubtype="0" repeatCount="indefinite" fill="hold" grpId="1" nodeType="withEffect">
                                  <p:stCondLst>
                                    <p:cond delay="1000"/>
                                  </p:stCondLst>
                                  <p:endCondLst>
                                    <p:cond evt="onNext" delay="0">
                                      <p:tgtEl>
                                        <p:sldTgt/>
                                      </p:tgtEl>
                                    </p:cond>
                                  </p:endCondLst>
                                  <p:childTnLst>
                                    <p:animEffect transition="out" filter="fade">
                                      <p:cBhvr>
                                        <p:cTn id="24" dur="2000"/>
                                        <p:tgtEl>
                                          <p:spTgt spid="21"/>
                                        </p:tgtEl>
                                      </p:cBhvr>
                                    </p:animEffect>
                                    <p:set>
                                      <p:cBhvr>
                                        <p:cTn id="25" dur="1" fill="hold">
                                          <p:stCondLst>
                                            <p:cond delay="1999"/>
                                          </p:stCondLst>
                                        </p:cTn>
                                        <p:tgtEl>
                                          <p:spTgt spid="21"/>
                                        </p:tgtEl>
                                        <p:attrNameLst>
                                          <p:attrName>style.visibility</p:attrName>
                                        </p:attrNameLst>
                                      </p:cBhvr>
                                      <p:to>
                                        <p:strVal val="hidden"/>
                                      </p:to>
                                    </p:set>
                                  </p:childTnLst>
                                </p:cTn>
                              </p:par>
                              <p:par>
                                <p:cTn id="26" presetID="23" presetClass="entr" presetSubtype="16" repeatCount="indefinite" grpId="0" nodeType="withEffect">
                                  <p:stCondLst>
                                    <p:cond delay="1500"/>
                                  </p:stCondLst>
                                  <p:childTnLst>
                                    <p:set>
                                      <p:cBhvr>
                                        <p:cTn id="27" dur="1" fill="hold">
                                          <p:stCondLst>
                                            <p:cond delay="0"/>
                                          </p:stCondLst>
                                        </p:cTn>
                                        <p:tgtEl>
                                          <p:spTgt spid="22"/>
                                        </p:tgtEl>
                                        <p:attrNameLst>
                                          <p:attrName>style.visibility</p:attrName>
                                        </p:attrNameLst>
                                      </p:cBhvr>
                                      <p:to>
                                        <p:strVal val="visible"/>
                                      </p:to>
                                    </p:set>
                                    <p:anim calcmode="lin" valueType="num">
                                      <p:cBhvr>
                                        <p:cTn id="28" dur="2000" fill="hold"/>
                                        <p:tgtEl>
                                          <p:spTgt spid="22"/>
                                        </p:tgtEl>
                                        <p:attrNameLst>
                                          <p:attrName>ppt_w</p:attrName>
                                        </p:attrNameLst>
                                      </p:cBhvr>
                                      <p:tavLst>
                                        <p:tav tm="0">
                                          <p:val>
                                            <p:fltVal val="0"/>
                                          </p:val>
                                        </p:tav>
                                        <p:tav tm="100000">
                                          <p:val>
                                            <p:strVal val="#ppt_w"/>
                                          </p:val>
                                        </p:tav>
                                      </p:tavLst>
                                    </p:anim>
                                    <p:anim calcmode="lin" valueType="num">
                                      <p:cBhvr>
                                        <p:cTn id="29" dur="2000" fill="hold"/>
                                        <p:tgtEl>
                                          <p:spTgt spid="22"/>
                                        </p:tgtEl>
                                        <p:attrNameLst>
                                          <p:attrName>ppt_h</p:attrName>
                                        </p:attrNameLst>
                                      </p:cBhvr>
                                      <p:tavLst>
                                        <p:tav tm="0">
                                          <p:val>
                                            <p:fltVal val="0"/>
                                          </p:val>
                                        </p:tav>
                                        <p:tav tm="100000">
                                          <p:val>
                                            <p:strVal val="#ppt_h"/>
                                          </p:val>
                                        </p:tav>
                                      </p:tavLst>
                                    </p:anim>
                                  </p:childTnLst>
                                </p:cTn>
                              </p:par>
                              <p:par>
                                <p:cTn id="30" presetID="10" presetClass="exit" presetSubtype="0" repeatCount="indefinite" fill="hold" grpId="1" nodeType="withEffect">
                                  <p:stCondLst>
                                    <p:cond delay="1500"/>
                                  </p:stCondLst>
                                  <p:endCondLst>
                                    <p:cond evt="onNext" delay="0">
                                      <p:tgtEl>
                                        <p:sldTgt/>
                                      </p:tgtEl>
                                    </p:cond>
                                  </p:endCondLst>
                                  <p:childTnLst>
                                    <p:animEffect transition="out" filter="fade">
                                      <p:cBhvr>
                                        <p:cTn id="31" dur="2000"/>
                                        <p:tgtEl>
                                          <p:spTgt spid="22"/>
                                        </p:tgtEl>
                                      </p:cBhvr>
                                    </p:animEffect>
                                    <p:set>
                                      <p:cBhvr>
                                        <p:cTn id="32" dur="1" fill="hold">
                                          <p:stCondLst>
                                            <p:cond delay="19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P spid="21" grpId="0" animBg="1"/>
      <p:bldP spid="21" grpId="1" animBg="1"/>
      <p:bldP spid="22" grpId="0" animBg="1"/>
      <p:bldP spid="22"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3E8D0ED2-8058-5239-5C88-9B814E0F344E}"/>
              </a:ext>
            </a:extLst>
          </p:cNvPr>
          <p:cNvSpPr txBox="1"/>
          <p:nvPr/>
        </p:nvSpPr>
        <p:spPr>
          <a:xfrm>
            <a:off x="5021691" y="238410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4412091" y="2724245"/>
            <a:ext cx="2518638" cy="307777"/>
          </a:xfrm>
          <a:prstGeom prst="rect">
            <a:avLst/>
          </a:prstGeom>
          <a:noFill/>
        </p:spPr>
        <p:txBody>
          <a:bodyPr wrap="none" rtlCol="0">
            <a:spAutoFit/>
          </a:bodyPr>
          <a:lstStyle/>
          <a:p>
            <a:r>
              <a:rPr lang="zh-CN" altLang="en-US" sz="1400" dirty="0"/>
              <a:t>提供电话、电报及传真等服务</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2113062"/>
            <a:ext cx="609600" cy="609600"/>
          </a:xfrm>
          <a:prstGeom prst="rect">
            <a:avLst/>
          </a:prstGeom>
        </p:spPr>
      </p:pic>
      <p:sp>
        <p:nvSpPr>
          <p:cNvPr id="6" name="文本框 5">
            <a:extLst>
              <a:ext uri="{FF2B5EF4-FFF2-40B4-BE49-F238E27FC236}">
                <a16:creationId xmlns:a16="http://schemas.microsoft.com/office/drawing/2014/main" id="{249BD636-A92C-19BC-73D5-FE1C53C3C006}"/>
              </a:ext>
            </a:extLst>
          </p:cNvPr>
          <p:cNvSpPr txBox="1"/>
          <p:nvPr/>
        </p:nvSpPr>
        <p:spPr>
          <a:xfrm>
            <a:off x="5021691" y="3585450"/>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912461"/>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3302861"/>
            <a:ext cx="609600" cy="609600"/>
          </a:xfrm>
          <a:prstGeom prst="rect">
            <a:avLst/>
          </a:prstGeom>
        </p:spPr>
      </p:pic>
      <p:sp>
        <p:nvSpPr>
          <p:cNvPr id="5" name="文本框 4">
            <a:extLst>
              <a:ext uri="{FF2B5EF4-FFF2-40B4-BE49-F238E27FC236}">
                <a16:creationId xmlns:a16="http://schemas.microsoft.com/office/drawing/2014/main" id="{C3F7E2BA-F5F7-A907-2356-FA1E3A5EF40D}"/>
              </a:ext>
            </a:extLst>
          </p:cNvPr>
          <p:cNvSpPr txBox="1"/>
          <p:nvPr/>
        </p:nvSpPr>
        <p:spPr>
          <a:xfrm>
            <a:off x="5021691" y="1195100"/>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4412091" y="1534445"/>
            <a:ext cx="2159566" cy="307777"/>
          </a:xfrm>
          <a:prstGeom prst="rect">
            <a:avLst/>
          </a:prstGeom>
          <a:noFill/>
        </p:spPr>
        <p:txBody>
          <a:bodyPr wrap="none" rtlCol="0">
            <a:spAutoFit/>
          </a:bodyPr>
          <a:lstStyle/>
          <a:p>
            <a:r>
              <a:rPr lang="zh-CN" altLang="en-US" sz="1400" dirty="0"/>
              <a:t>向用户传送各种电视节目</a:t>
            </a:r>
          </a:p>
        </p:txBody>
      </p:sp>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923262"/>
            <a:ext cx="609600" cy="609600"/>
          </a:xfrm>
          <a:prstGeom prst="rect">
            <a:avLst/>
          </a:prstGeom>
        </p:spPr>
      </p:pic>
      <p:sp>
        <p:nvSpPr>
          <p:cNvPr id="10" name="菱形 9">
            <a:extLst>
              <a:ext uri="{FF2B5EF4-FFF2-40B4-BE49-F238E27FC236}">
                <a16:creationId xmlns:a16="http://schemas.microsoft.com/office/drawing/2014/main" id="{F3694D86-7E07-D8F9-5CB5-A97C0551235A}"/>
              </a:ext>
            </a:extLst>
          </p:cNvPr>
          <p:cNvSpPr/>
          <p:nvPr/>
        </p:nvSpPr>
        <p:spPr>
          <a:xfrm>
            <a:off x="1786688" y="1851750"/>
            <a:ext cx="1440000" cy="1440000"/>
          </a:xfrm>
          <a:prstGeom prst="diamond">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r>
              <a:rPr lang="zh-CN" altLang="en-US" dirty="0">
                <a:latin typeface="+mj-lt"/>
                <a:ea typeface="+mj-ea"/>
              </a:rPr>
              <a:t>三网融合</a:t>
            </a:r>
          </a:p>
        </p:txBody>
      </p:sp>
      <p:cxnSp>
        <p:nvCxnSpPr>
          <p:cNvPr id="18" name="直接连接符 17">
            <a:extLst>
              <a:ext uri="{FF2B5EF4-FFF2-40B4-BE49-F238E27FC236}">
                <a16:creationId xmlns:a16="http://schemas.microsoft.com/office/drawing/2014/main" id="{14C2E509-0402-D4C6-AEB8-66265ABF61A3}"/>
              </a:ext>
            </a:extLst>
          </p:cNvPr>
          <p:cNvCxnSpPr>
            <a:cxnSpLocks/>
          </p:cNvCxnSpPr>
          <p:nvPr/>
        </p:nvCxnSpPr>
        <p:spPr>
          <a:xfrm>
            <a:off x="2506688" y="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E67B47DA-4DBE-E919-9D03-32C1A7792BFB}"/>
              </a:ext>
            </a:extLst>
          </p:cNvPr>
          <p:cNvCxnSpPr>
            <a:cxnSpLocks/>
          </p:cNvCxnSpPr>
          <p:nvPr/>
        </p:nvCxnSpPr>
        <p:spPr>
          <a:xfrm>
            <a:off x="2506689" y="348750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16F8860-5E5A-8B74-5599-434DFD6A3A1B}"/>
              </a:ext>
            </a:extLst>
          </p:cNvPr>
          <p:cNvCxnSpPr>
            <a:cxnSpLocks/>
          </p:cNvCxnSpPr>
          <p:nvPr/>
        </p:nvCxnSpPr>
        <p:spPr>
          <a:xfrm rot="-2700000">
            <a:off x="1284104" y="2162410"/>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7A46ED3C-BABF-2063-0AAB-EE78A2C32A14}"/>
              </a:ext>
            </a:extLst>
          </p:cNvPr>
          <p:cNvCxnSpPr>
            <a:cxnSpLocks/>
          </p:cNvCxnSpPr>
          <p:nvPr/>
        </p:nvCxnSpPr>
        <p:spPr>
          <a:xfrm rot="-8100000">
            <a:off x="1284105" y="2981089"/>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072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占位符 3">
            <a:extLst>
              <a:ext uri="{FF2B5EF4-FFF2-40B4-BE49-F238E27FC236}">
                <a16:creationId xmlns:a16="http://schemas.microsoft.com/office/drawing/2014/main" id="{67891A8C-FC04-150E-D48A-858FC27E9C81}"/>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saturation sat="33000"/>
                    </a14:imgEffect>
                  </a14:imgLayer>
                </a14:imgProps>
              </a:ext>
              <a:ext uri="{28A0092B-C50C-407E-A947-70E740481C1C}">
                <a14:useLocalDpi xmlns:a14="http://schemas.microsoft.com/office/drawing/2010/main"/>
              </a:ext>
            </a:extLst>
          </a:blip>
          <a:srcRect/>
          <a:stretch/>
        </p:blipFill>
        <p:spPr>
          <a:xfrm>
            <a:off x="612000" y="0"/>
            <a:ext cx="7920000" cy="3264070"/>
          </a:xfrm>
          <a:prstGeom prst="rect">
            <a:avLst/>
          </a:prstGeom>
        </p:spPr>
      </p:pic>
      <p:sp>
        <p:nvSpPr>
          <p:cNvPr id="7" name="矩形 6">
            <a:extLst>
              <a:ext uri="{FF2B5EF4-FFF2-40B4-BE49-F238E27FC236}">
                <a16:creationId xmlns:a16="http://schemas.microsoft.com/office/drawing/2014/main" id="{6146E648-0BDD-7BD6-9A68-3714AFD1D903}"/>
              </a:ext>
            </a:extLst>
          </p:cNvPr>
          <p:cNvSpPr/>
          <p:nvPr/>
        </p:nvSpPr>
        <p:spPr>
          <a:xfrm>
            <a:off x="1332000" y="2138082"/>
            <a:ext cx="6480000" cy="2736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5A3DF28-D80D-FDDA-3A97-83C0A3B7CED3}"/>
              </a:ext>
            </a:extLst>
          </p:cNvPr>
          <p:cNvSpPr txBox="1"/>
          <p:nvPr/>
        </p:nvSpPr>
        <p:spPr>
          <a:xfrm>
            <a:off x="4732015" y="3748132"/>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solidFill>
                  <a:srgbClr val="D4237A"/>
                </a:solidFill>
                <a:latin typeface="+mj-lt"/>
                <a:ea typeface="+mj-ea"/>
              </a:rPr>
              <a:t>互联网 </a:t>
            </a:r>
            <a:r>
              <a:rPr lang="en-US" altLang="zh-CN" dirty="0">
                <a:solidFill>
                  <a:srgbClr val="D4237A"/>
                </a:solidFill>
                <a:latin typeface="+mj-lt"/>
                <a:ea typeface="+mj-ea"/>
              </a:rPr>
              <a:t>Internet</a:t>
            </a:r>
          </a:p>
          <a:p>
            <a:pPr lvl="1"/>
            <a:r>
              <a:rPr lang="zh-CN" altLang="en-US" dirty="0"/>
              <a:t>目前流行最广，事实上的标准译名</a:t>
            </a:r>
          </a:p>
        </p:txBody>
      </p:sp>
      <p:sp>
        <p:nvSpPr>
          <p:cNvPr id="5" name="文本框 4">
            <a:extLst>
              <a:ext uri="{FF2B5EF4-FFF2-40B4-BE49-F238E27FC236}">
                <a16:creationId xmlns:a16="http://schemas.microsoft.com/office/drawing/2014/main" id="{37CF2F00-C945-0E78-1683-30017BEAA056}"/>
              </a:ext>
            </a:extLst>
          </p:cNvPr>
          <p:cNvSpPr txBox="1"/>
          <p:nvPr/>
        </p:nvSpPr>
        <p:spPr>
          <a:xfrm>
            <a:off x="1531985" y="3748132"/>
            <a:ext cx="2880000" cy="954107"/>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因特网 </a:t>
            </a:r>
            <a:endParaRPr lang="en-US" altLang="zh-CN" dirty="0">
              <a:latin typeface="+mj-lt"/>
              <a:ea typeface="+mj-ea"/>
            </a:endParaRPr>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p:txBody>
      </p:sp>
      <p:sp>
        <p:nvSpPr>
          <p:cNvPr id="3" name="文本框 2">
            <a:extLst>
              <a:ext uri="{FF2B5EF4-FFF2-40B4-BE49-F238E27FC236}">
                <a16:creationId xmlns:a16="http://schemas.microsoft.com/office/drawing/2014/main" id="{7555463B-94EF-655D-94E5-EF3D957FC885}"/>
              </a:ext>
            </a:extLst>
          </p:cNvPr>
          <p:cNvSpPr txBox="1"/>
          <p:nvPr/>
        </p:nvSpPr>
        <p:spPr>
          <a:xfrm>
            <a:off x="1531985" y="2356956"/>
            <a:ext cx="2880000" cy="1169551"/>
          </a:xfrm>
          <a:prstGeom prst="rect">
            <a:avLst/>
          </a:prstGeom>
          <a:noFill/>
        </p:spPr>
        <p:txBody>
          <a:bodyPr wrap="square" rtlCol="0">
            <a:spAutoFit/>
          </a:bodyPr>
          <a:lstStyle/>
          <a:p>
            <a:r>
              <a:rPr lang="zh-CN" altLang="en-US" sz="1400" dirty="0">
                <a:solidFill>
                  <a:srgbClr val="D4237A"/>
                </a:solidFill>
                <a:latin typeface="+mj-lt"/>
                <a:ea typeface="+mj-ea"/>
              </a:rPr>
              <a:t>网络 </a:t>
            </a:r>
            <a:r>
              <a:rPr lang="en-US" altLang="zh-CN" sz="1400" dirty="0">
                <a:solidFill>
                  <a:srgbClr val="D4237A"/>
                </a:solidFill>
                <a:latin typeface="+mj-lt"/>
                <a:ea typeface="+mj-ea"/>
              </a:rPr>
              <a:t>Network</a:t>
            </a:r>
          </a:p>
          <a:p>
            <a:pPr marL="180000" lvl="1" indent="-180000">
              <a:buFont typeface="Arial" panose="020B0604020202020204" pitchFamily="34" charset="0"/>
              <a:buChar char="•"/>
            </a:pPr>
            <a:r>
              <a:rPr lang="zh-CN" altLang="en-US" sz="1400" dirty="0"/>
              <a:t>通常指计算机网络</a:t>
            </a:r>
            <a:endParaRPr lang="en-US" altLang="zh-CN" sz="1400" dirty="0"/>
          </a:p>
          <a:p>
            <a:pPr marL="180000" lvl="1" indent="-180000">
              <a:buFont typeface="Arial" panose="020B0604020202020204" pitchFamily="34" charset="0"/>
              <a:buChar char="•"/>
            </a:pPr>
            <a:r>
              <a:rPr lang="zh-CN" altLang="en-US" sz="1400" dirty="0"/>
              <a:t>由若干节点（如计算机、路由器、交换机等）和连接这些节点的链路组成的系统</a:t>
            </a:r>
            <a:endParaRPr lang="en-US" altLang="zh-CN" sz="1400" dirty="0"/>
          </a:p>
        </p:txBody>
      </p:sp>
      <p:sp>
        <p:nvSpPr>
          <p:cNvPr id="6" name="文本框 5">
            <a:extLst>
              <a:ext uri="{FF2B5EF4-FFF2-40B4-BE49-F238E27FC236}">
                <a16:creationId xmlns:a16="http://schemas.microsoft.com/office/drawing/2014/main" id="{A11E7D3C-DF86-D55D-BD55-7AE67FA34539}"/>
              </a:ext>
            </a:extLst>
          </p:cNvPr>
          <p:cNvSpPr txBox="1"/>
          <p:nvPr/>
        </p:nvSpPr>
        <p:spPr>
          <a:xfrm>
            <a:off x="4732015" y="2356956"/>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互连网 </a:t>
            </a:r>
            <a:r>
              <a:rPr lang="en-US" altLang="zh-CN" dirty="0">
                <a:latin typeface="+mj-lt"/>
                <a:ea typeface="+mj-ea"/>
              </a:rPr>
              <a:t>internet</a:t>
            </a:r>
          </a:p>
          <a:p>
            <a:pPr lvl="1"/>
            <a:r>
              <a:rPr lang="zh-CN" altLang="en-US" dirty="0"/>
              <a:t>泛指任何由多个网络通过路由器互联而成的计算机网络</a:t>
            </a:r>
          </a:p>
        </p:txBody>
      </p:sp>
      <p:cxnSp>
        <p:nvCxnSpPr>
          <p:cNvPr id="12" name="直接连接符 11">
            <a:extLst>
              <a:ext uri="{FF2B5EF4-FFF2-40B4-BE49-F238E27FC236}">
                <a16:creationId xmlns:a16="http://schemas.microsoft.com/office/drawing/2014/main" id="{4B21DCC5-7938-972C-4523-CD66C45C0342}"/>
              </a:ext>
            </a:extLst>
          </p:cNvPr>
          <p:cNvCxnSpPr>
            <a:stCxn id="7" idx="1"/>
            <a:endCxn id="7" idx="3"/>
          </p:cNvCxnSpPr>
          <p:nvPr/>
        </p:nvCxnSpPr>
        <p:spPr>
          <a:xfrm>
            <a:off x="1332000" y="3506082"/>
            <a:ext cx="64800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E6F8A27-9DD6-397B-980E-68EA55DBF68D}"/>
              </a:ext>
            </a:extLst>
          </p:cNvPr>
          <p:cNvCxnSpPr>
            <a:stCxn id="7" idx="0"/>
            <a:endCxn id="7" idx="2"/>
          </p:cNvCxnSpPr>
          <p:nvPr/>
        </p:nvCxnSpPr>
        <p:spPr>
          <a:xfrm>
            <a:off x="4572000" y="2138082"/>
            <a:ext cx="0" cy="273600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62C03C28-BC7B-21CA-1EDA-026633536934}"/>
              </a:ext>
            </a:extLst>
          </p:cNvPr>
          <p:cNvSpPr txBox="1"/>
          <p:nvPr/>
        </p:nvSpPr>
        <p:spPr>
          <a:xfrm>
            <a:off x="1332000" y="441261"/>
            <a:ext cx="800219" cy="461665"/>
          </a:xfrm>
          <a:prstGeom prst="rect">
            <a:avLst/>
          </a:prstGeom>
          <a:noFill/>
        </p:spPr>
        <p:txBody>
          <a:bodyPr wrap="none" rtlCol="0">
            <a:spAutoFit/>
          </a:bodyPr>
          <a:lstStyle/>
          <a:p>
            <a:pPr algn="l"/>
            <a:r>
              <a:rPr lang="zh-CN" altLang="en-US" sz="2400" dirty="0">
                <a:solidFill>
                  <a:schemeClr val="bg1"/>
                </a:solidFill>
              </a:rPr>
              <a:t>概念</a:t>
            </a:r>
          </a:p>
        </p:txBody>
      </p:sp>
      <p:sp>
        <p:nvSpPr>
          <p:cNvPr id="16" name="文本框 15">
            <a:extLst>
              <a:ext uri="{FF2B5EF4-FFF2-40B4-BE49-F238E27FC236}">
                <a16:creationId xmlns:a16="http://schemas.microsoft.com/office/drawing/2014/main" id="{5DA3B6C4-FB3D-D0B9-47C8-1D0007C281DC}"/>
              </a:ext>
            </a:extLst>
          </p:cNvPr>
          <p:cNvSpPr txBox="1"/>
          <p:nvPr/>
        </p:nvSpPr>
        <p:spPr>
          <a:xfrm>
            <a:off x="1332000" y="899764"/>
            <a:ext cx="1572866" cy="338554"/>
          </a:xfrm>
          <a:prstGeom prst="rect">
            <a:avLst/>
          </a:prstGeom>
          <a:noFill/>
        </p:spPr>
        <p:txBody>
          <a:bodyPr wrap="none" rtlCol="0">
            <a:spAutoFit/>
          </a:bodyPr>
          <a:lstStyle/>
          <a:p>
            <a:pPr algn="l"/>
            <a:r>
              <a:rPr lang="en-US" altLang="zh-CN" sz="1600" spc="400" dirty="0">
                <a:solidFill>
                  <a:schemeClr val="bg1"/>
                </a:solidFill>
              </a:rPr>
              <a:t>Concepts</a:t>
            </a:r>
            <a:endParaRPr lang="zh-CN" altLang="en-US" sz="1600" spc="400" dirty="0">
              <a:solidFill>
                <a:schemeClr val="bg1"/>
              </a:solidFill>
            </a:endParaRPr>
          </a:p>
        </p:txBody>
      </p:sp>
    </p:spTree>
    <p:extLst>
      <p:ext uri="{BB962C8B-B14F-4D97-AF65-F5344CB8AC3E}">
        <p14:creationId xmlns:p14="http://schemas.microsoft.com/office/powerpoint/2010/main" val="3238747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2228850" y="403553"/>
            <a:ext cx="6562725" cy="523220"/>
          </a:xfrm>
        </p:spPr>
        <p:txBody>
          <a:bodyPr/>
          <a:lstStyle/>
          <a:p>
            <a:r>
              <a:rPr lang="fr-FR" altLang="zh-CN" dirty="0"/>
              <a:t>1.2 </a:t>
            </a:r>
            <a:r>
              <a:rPr lang="zh-CN" altLang="fr-FR" dirty="0"/>
              <a:t>互联网概述</a:t>
            </a:r>
          </a:p>
        </p:txBody>
      </p:sp>
      <p:sp>
        <p:nvSpPr>
          <p:cNvPr id="5" name="文本框 4">
            <a:extLst>
              <a:ext uri="{FF2B5EF4-FFF2-40B4-BE49-F238E27FC236}">
                <a16:creationId xmlns:a16="http://schemas.microsoft.com/office/drawing/2014/main" id="{E2FBC6A8-51C1-C9CC-BB8D-766434F14146}"/>
              </a:ext>
            </a:extLst>
          </p:cNvPr>
          <p:cNvSpPr txBox="1"/>
          <p:nvPr/>
        </p:nvSpPr>
        <p:spPr>
          <a:xfrm>
            <a:off x="3138488" y="1345253"/>
            <a:ext cx="1338828" cy="646331"/>
          </a:xfrm>
          <a:prstGeom prst="rect">
            <a:avLst/>
          </a:prstGeom>
          <a:noFill/>
        </p:spPr>
        <p:txBody>
          <a:bodyPr wrap="none" rtlCol="0">
            <a:spAutoFit/>
          </a:bodyPr>
          <a:lstStyle/>
          <a:p>
            <a:r>
              <a:rPr lang="en-US" altLang="zh-CN" dirty="0"/>
              <a:t>1.2.1 </a:t>
            </a:r>
          </a:p>
          <a:p>
            <a:r>
              <a:rPr lang="zh-CN" altLang="en-US" dirty="0"/>
              <a:t>网络的网络</a:t>
            </a:r>
            <a:endParaRPr lang="en-US" altLang="zh-CN" dirty="0"/>
          </a:p>
        </p:txBody>
      </p:sp>
      <p:sp>
        <p:nvSpPr>
          <p:cNvPr id="6" name="文本框 5">
            <a:extLst>
              <a:ext uri="{FF2B5EF4-FFF2-40B4-BE49-F238E27FC236}">
                <a16:creationId xmlns:a16="http://schemas.microsoft.com/office/drawing/2014/main" id="{7062736F-C385-EB2D-6360-D4932D64A0DC}"/>
              </a:ext>
            </a:extLst>
          </p:cNvPr>
          <p:cNvSpPr txBox="1"/>
          <p:nvPr/>
        </p:nvSpPr>
        <p:spPr>
          <a:xfrm>
            <a:off x="3946562" y="2202419"/>
            <a:ext cx="3416320" cy="646331"/>
          </a:xfrm>
          <a:prstGeom prst="rect">
            <a:avLst/>
          </a:prstGeom>
          <a:noFill/>
        </p:spPr>
        <p:txBody>
          <a:bodyPr wrap="none" rtlCol="0">
            <a:spAutoFit/>
          </a:bodyPr>
          <a:lstStyle/>
          <a:p>
            <a:r>
              <a:rPr lang="en-US" altLang="zh-CN" dirty="0"/>
              <a:t>1.2.2 </a:t>
            </a:r>
          </a:p>
          <a:p>
            <a:r>
              <a:rPr lang="zh-CN" altLang="zh-CN" dirty="0"/>
              <a:t>互联网基础结构发展的三个阶段</a:t>
            </a:r>
          </a:p>
        </p:txBody>
      </p:sp>
      <p:sp>
        <p:nvSpPr>
          <p:cNvPr id="7" name="文本框 6">
            <a:extLst>
              <a:ext uri="{FF2B5EF4-FFF2-40B4-BE49-F238E27FC236}">
                <a16:creationId xmlns:a16="http://schemas.microsoft.com/office/drawing/2014/main" id="{B28F28F2-8DD0-AA89-8072-761E33D988B7}"/>
              </a:ext>
            </a:extLst>
          </p:cNvPr>
          <p:cNvSpPr txBox="1"/>
          <p:nvPr/>
        </p:nvSpPr>
        <p:spPr>
          <a:xfrm>
            <a:off x="4346612" y="3059584"/>
            <a:ext cx="2262158" cy="646331"/>
          </a:xfrm>
          <a:prstGeom prst="rect">
            <a:avLst/>
          </a:prstGeom>
          <a:noFill/>
        </p:spPr>
        <p:txBody>
          <a:bodyPr wrap="none" rtlCol="0">
            <a:spAutoFit/>
          </a:bodyPr>
          <a:lstStyle/>
          <a:p>
            <a:r>
              <a:rPr lang="en-US" altLang="zh-CN" dirty="0"/>
              <a:t>1.2.3 </a:t>
            </a:r>
          </a:p>
          <a:p>
            <a:r>
              <a:rPr lang="zh-CN" altLang="zh-CN" dirty="0"/>
              <a:t>互联网的标准化工作</a:t>
            </a:r>
            <a:endParaRPr lang="fr-FR" altLang="zh-C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795185" y="4340423"/>
            <a:ext cx="1553630" cy="276999"/>
          </a:xfrm>
          <a:prstGeom prst="rect">
            <a:avLst/>
          </a:prstGeom>
          <a:noFill/>
        </p:spPr>
        <p:txBody>
          <a:bodyPr wrap="none" rtlCol="0">
            <a:spAutoFit/>
          </a:bodyPr>
          <a:lstStyle/>
          <a:p>
            <a:pPr algn="ctr"/>
            <a:r>
              <a:rPr lang="zh-CN" altLang="en-US" sz="1200" dirty="0"/>
              <a:t>图</a:t>
            </a:r>
            <a:r>
              <a:rPr lang="en-US" altLang="zh-CN" sz="1200" dirty="0"/>
              <a:t>1-1 (a) </a:t>
            </a:r>
            <a:r>
              <a:rPr lang="zh-CN" altLang="en-US" sz="12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480996" y="4340423"/>
            <a:ext cx="2182008" cy="276999"/>
          </a:xfrm>
          <a:prstGeom prst="rect">
            <a:avLst/>
          </a:prstGeom>
          <a:noFill/>
        </p:spPr>
        <p:txBody>
          <a:bodyPr wrap="none" rtlCol="0">
            <a:spAutoFit/>
          </a:bodyPr>
          <a:lstStyle/>
          <a:p>
            <a:pPr algn="ctr"/>
            <a:r>
              <a:rPr lang="zh-CN" altLang="en-US" sz="1200" dirty="0"/>
              <a:t>图</a:t>
            </a:r>
            <a:r>
              <a:rPr lang="en-US" altLang="zh-CN" sz="1200" dirty="0"/>
              <a:t>1-1 (b) </a:t>
            </a:r>
            <a:r>
              <a:rPr lang="zh-CN" altLang="en-US" sz="12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480996" y="4340423"/>
            <a:ext cx="2182008" cy="276999"/>
          </a:xfrm>
          <a:prstGeom prst="rect">
            <a:avLst/>
          </a:prstGeom>
          <a:noFill/>
        </p:spPr>
        <p:txBody>
          <a:bodyPr wrap="none" rtlCol="0">
            <a:spAutoFit/>
          </a:bodyPr>
          <a:lstStyle/>
          <a:p>
            <a:pPr algn="ctr"/>
            <a:r>
              <a:rPr lang="zh-CN" altLang="en-US" sz="1200" dirty="0"/>
              <a:t>图</a:t>
            </a:r>
            <a:r>
              <a:rPr lang="en-US" altLang="zh-CN" sz="1200" dirty="0"/>
              <a:t>1-1 (b) </a:t>
            </a:r>
            <a:r>
              <a:rPr lang="zh-CN" altLang="en-US" sz="12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660" cy="493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1"/>
          </p:cNvCxnSpPr>
          <p:nvPr/>
        </p:nvCxnSpPr>
        <p:spPr>
          <a:xfrm flipH="1" flipV="1">
            <a:off x="5179793" y="3331836"/>
            <a:ext cx="315274" cy="109434"/>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257" y="283529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46345" cy="73809"/>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endCxn id="34" idx="6"/>
          </p:cNvCxnSpPr>
          <p:nvPr/>
        </p:nvCxnSpPr>
        <p:spPr>
          <a:xfrm flipH="1">
            <a:off x="4556425" y="3378695"/>
            <a:ext cx="156769" cy="191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p:cNvCxnSpPr>
          <p:nvPr/>
        </p:nvCxnSpPr>
        <p:spPr>
          <a:xfrm flipH="1" flipV="1">
            <a:off x="3829767" y="3297984"/>
            <a:ext cx="222658" cy="2721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7"/>
          </p:cNvCxnSpPr>
          <p:nvPr/>
        </p:nvCxnSpPr>
        <p:spPr>
          <a:xfrm flipH="1">
            <a:off x="5851449" y="3104596"/>
            <a:ext cx="118453" cy="33667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17684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t>
            </a:r>
            <a:r>
              <a:rPr lang="en-US" altLang="zh-CN" dirty="0">
                <a:hlinkClick r:id="rId2"/>
              </a:rPr>
              <a:t>ARPANET</a:t>
            </a:r>
            <a:endParaRPr lang="en-US" altLang="zh-CN" dirty="0"/>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2" name="文本框 1">
            <a:extLst>
              <a:ext uri="{FF2B5EF4-FFF2-40B4-BE49-F238E27FC236}">
                <a16:creationId xmlns:a16="http://schemas.microsoft.com/office/drawing/2014/main" id="{1ED79CB9-CEA6-2EF9-74A5-6489BE96B75C}"/>
              </a:ext>
            </a:extLst>
          </p:cNvPr>
          <p:cNvSpPr txBox="1"/>
          <p:nvPr/>
        </p:nvSpPr>
        <p:spPr>
          <a:xfrm>
            <a:off x="2233527" y="2376605"/>
            <a:ext cx="1415772" cy="276999"/>
          </a:xfrm>
          <a:prstGeom prst="rect">
            <a:avLst/>
          </a:prstGeom>
          <a:noFill/>
        </p:spPr>
        <p:txBody>
          <a:bodyPr wrap="none" rtlCol="0">
            <a:spAutoFit/>
          </a:bodyPr>
          <a:lstStyle/>
          <a:p>
            <a:pPr marL="0" lvl="2"/>
            <a:r>
              <a:rPr lang="zh-CN" altLang="zh-CN" sz="1200" dirty="0"/>
              <a:t>斯坦福研究所节点</a:t>
            </a:r>
            <a:endParaRPr lang="zh-CN" altLang="en-US" sz="1200" dirty="0"/>
          </a:p>
        </p:txBody>
      </p:sp>
      <p:sp>
        <p:nvSpPr>
          <p:cNvPr id="6" name="文本框 5">
            <a:extLst>
              <a:ext uri="{FF2B5EF4-FFF2-40B4-BE49-F238E27FC236}">
                <a16:creationId xmlns:a16="http://schemas.microsoft.com/office/drawing/2014/main" id="{BBDA6DB5-55A7-8BC0-CE15-5913D1BD2DEE}"/>
              </a:ext>
            </a:extLst>
          </p:cNvPr>
          <p:cNvSpPr txBox="1"/>
          <p:nvPr/>
        </p:nvSpPr>
        <p:spPr>
          <a:xfrm>
            <a:off x="2926447" y="3162111"/>
            <a:ext cx="1877437" cy="276999"/>
          </a:xfrm>
          <a:prstGeom prst="rect">
            <a:avLst/>
          </a:prstGeom>
          <a:noFill/>
        </p:spPr>
        <p:txBody>
          <a:bodyPr wrap="none" rtlCol="0">
            <a:spAutoFit/>
          </a:bodyPr>
          <a:lstStyle/>
          <a:p>
            <a:pPr marL="0" lvl="2"/>
            <a:r>
              <a:rPr lang="zh-CN" altLang="zh-CN" sz="1200" dirty="0"/>
              <a:t>加州大学洛杉矶分校节点</a:t>
            </a:r>
          </a:p>
        </p:txBody>
      </p:sp>
      <p:sp>
        <p:nvSpPr>
          <p:cNvPr id="8" name="文本框 7">
            <a:extLst>
              <a:ext uri="{FF2B5EF4-FFF2-40B4-BE49-F238E27FC236}">
                <a16:creationId xmlns:a16="http://schemas.microsoft.com/office/drawing/2014/main" id="{8F34972B-90D4-EC60-53DF-FF7460D33666}"/>
              </a:ext>
            </a:extLst>
          </p:cNvPr>
          <p:cNvSpPr txBox="1"/>
          <p:nvPr/>
        </p:nvSpPr>
        <p:spPr>
          <a:xfrm>
            <a:off x="2556692" y="3693364"/>
            <a:ext cx="2185214" cy="276999"/>
          </a:xfrm>
          <a:prstGeom prst="rect">
            <a:avLst/>
          </a:prstGeom>
          <a:noFill/>
        </p:spPr>
        <p:txBody>
          <a:bodyPr wrap="none" rtlCol="0">
            <a:spAutoFit/>
          </a:bodyPr>
          <a:lstStyle/>
          <a:p>
            <a:pPr marL="0" lvl="2"/>
            <a:r>
              <a:rPr lang="zh-CN" altLang="zh-CN" sz="1200" dirty="0"/>
              <a:t>加州大学圣塔芭芭拉分校节点</a:t>
            </a:r>
            <a:endParaRPr lang="zh-CN" altLang="en-US" sz="1200" dirty="0"/>
          </a:p>
        </p:txBody>
      </p:sp>
      <p:sp>
        <p:nvSpPr>
          <p:cNvPr id="10" name="文本框 9">
            <a:extLst>
              <a:ext uri="{FF2B5EF4-FFF2-40B4-BE49-F238E27FC236}">
                <a16:creationId xmlns:a16="http://schemas.microsoft.com/office/drawing/2014/main" id="{2C3F91CA-CC15-73BB-2D90-A6A2CF50609E}"/>
              </a:ext>
            </a:extLst>
          </p:cNvPr>
          <p:cNvSpPr txBox="1"/>
          <p:nvPr/>
        </p:nvSpPr>
        <p:spPr>
          <a:xfrm>
            <a:off x="3403711" y="2572378"/>
            <a:ext cx="1107996" cy="276999"/>
          </a:xfrm>
          <a:prstGeom prst="rect">
            <a:avLst/>
          </a:prstGeom>
          <a:noFill/>
        </p:spPr>
        <p:txBody>
          <a:bodyPr wrap="none" rtlCol="0">
            <a:spAutoFit/>
          </a:bodyPr>
          <a:lstStyle/>
          <a:p>
            <a:pPr marL="0" lvl="2"/>
            <a:r>
              <a:rPr lang="zh-CN" altLang="zh-CN" sz="1200" dirty="0"/>
              <a:t>犹他大学节点</a:t>
            </a:r>
            <a:endParaRPr lang="zh-CN" altLang="en-US" sz="1200"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直接连接符 83"/>
          <p:cNvCxnSpPr>
            <a:cxnSpLocks noChangeShapeType="1"/>
          </p:cNvCxnSpPr>
          <p:nvPr/>
        </p:nvCxnSpPr>
        <p:spPr bwMode="auto">
          <a:xfrm flipH="1">
            <a:off x="7417415" y="2835299"/>
            <a:ext cx="237137" cy="745280"/>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5269696" y="1964245"/>
            <a:ext cx="749622" cy="59943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5982231" y="1964245"/>
            <a:ext cx="285463" cy="82957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6637448" y="1964245"/>
            <a:ext cx="878868" cy="59943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1" name="直接连接符 83"/>
          <p:cNvCxnSpPr>
            <a:cxnSpLocks noChangeShapeType="1"/>
          </p:cNvCxnSpPr>
          <p:nvPr/>
        </p:nvCxnSpPr>
        <p:spPr bwMode="auto">
          <a:xfrm flipH="1">
            <a:off x="4452642" y="2858045"/>
            <a:ext cx="342780" cy="719857"/>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6017071" y="2835299"/>
            <a:ext cx="133740" cy="777393"/>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7730975" y="2793820"/>
            <a:ext cx="446739" cy="754646"/>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28" name="直接连接符 67"/>
          <p:cNvCxnSpPr>
            <a:cxnSpLocks noChangeShapeType="1"/>
          </p:cNvCxnSpPr>
          <p:nvPr/>
        </p:nvCxnSpPr>
        <p:spPr bwMode="auto">
          <a:xfrm>
            <a:off x="5076390" y="2835299"/>
            <a:ext cx="133740" cy="777393"/>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1993" y="2139526"/>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Box 1524"/>
          <p:cNvSpPr txBox="1">
            <a:spLocks noChangeArrowheads="1"/>
          </p:cNvSpPr>
          <p:nvPr/>
        </p:nvSpPr>
        <p:spPr bwMode="auto">
          <a:xfrm>
            <a:off x="5925520" y="1681969"/>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solidFill>
                  <a:schemeClr val="bg1"/>
                </a:solidFill>
                <a:latin typeface="+mn-lt"/>
                <a:ea typeface="+mn-ea"/>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82231" y="2194385"/>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58875" y="2124808"/>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任意多边形: 形状 2">
            <a:extLst>
              <a:ext uri="{FF2B5EF4-FFF2-40B4-BE49-F238E27FC236}">
                <a16:creationId xmlns:a16="http://schemas.microsoft.com/office/drawing/2014/main" id="{DB32C537-140B-B5D8-7BC0-2B5C9AB65C23}"/>
              </a:ext>
            </a:extLst>
          </p:cNvPr>
          <p:cNvSpPr>
            <a:spLocks noChangeArrowheads="1"/>
          </p:cNvSpPr>
          <p:nvPr/>
        </p:nvSpPr>
        <p:spPr bwMode="auto">
          <a:xfrm>
            <a:off x="4945905"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7482" y="3093549"/>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38400" y="3149746"/>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5052" y="3121647"/>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8752" y="3093549"/>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7719" y="3102915"/>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任意多边形: 形状 99">
            <a:extLst>
              <a:ext uri="{FF2B5EF4-FFF2-40B4-BE49-F238E27FC236}">
                <a16:creationId xmlns:a16="http://schemas.microsoft.com/office/drawing/2014/main" id="{66AB8081-0598-7AFD-68D2-87E1C2B394F4}"/>
              </a:ext>
            </a:extLst>
          </p:cNvPr>
          <p:cNvSpPr>
            <a:spLocks noChangeArrowheads="1"/>
          </p:cNvSpPr>
          <p:nvPr/>
        </p:nvSpPr>
        <p:spPr bwMode="auto">
          <a:xfrm>
            <a:off x="5945723"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2" name="任意多边形: 形状 101">
            <a:extLst>
              <a:ext uri="{FF2B5EF4-FFF2-40B4-BE49-F238E27FC236}">
                <a16:creationId xmlns:a16="http://schemas.microsoft.com/office/drawing/2014/main" id="{7E3A536F-1D13-F8EC-616C-9711B9DACEB3}"/>
              </a:ext>
            </a:extLst>
          </p:cNvPr>
          <p:cNvSpPr>
            <a:spLocks noChangeArrowheads="1"/>
          </p:cNvSpPr>
          <p:nvPr/>
        </p:nvSpPr>
        <p:spPr bwMode="auto">
          <a:xfrm>
            <a:off x="6945541"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4" name="任意多边形: 形状 103">
            <a:extLst>
              <a:ext uri="{FF2B5EF4-FFF2-40B4-BE49-F238E27FC236}">
                <a16:creationId xmlns:a16="http://schemas.microsoft.com/office/drawing/2014/main" id="{424BC5E1-61F2-6490-53A6-BA105D9DF5FA}"/>
              </a:ext>
            </a:extLst>
          </p:cNvPr>
          <p:cNvSpPr>
            <a:spLocks noChangeArrowheads="1"/>
          </p:cNvSpPr>
          <p:nvPr/>
        </p:nvSpPr>
        <p:spPr bwMode="auto">
          <a:xfrm>
            <a:off x="7945359" y="349628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6" name="任意多边形: 形状 105">
            <a:extLst>
              <a:ext uri="{FF2B5EF4-FFF2-40B4-BE49-F238E27FC236}">
                <a16:creationId xmlns:a16="http://schemas.microsoft.com/office/drawing/2014/main" id="{3222ECC5-5366-777C-7752-0CEB7200F6AA}"/>
              </a:ext>
            </a:extLst>
          </p:cNvPr>
          <p:cNvSpPr>
            <a:spLocks noChangeArrowheads="1"/>
          </p:cNvSpPr>
          <p:nvPr/>
        </p:nvSpPr>
        <p:spPr bwMode="auto">
          <a:xfrm>
            <a:off x="3946087"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8" name="任意多边形: 形状 107">
            <a:extLst>
              <a:ext uri="{FF2B5EF4-FFF2-40B4-BE49-F238E27FC236}">
                <a16:creationId xmlns:a16="http://schemas.microsoft.com/office/drawing/2014/main" id="{254196E5-0109-915B-B4DB-6C3FA80B1DCF}"/>
              </a:ext>
            </a:extLst>
          </p:cNvPr>
          <p:cNvSpPr>
            <a:spLocks noChangeArrowheads="1"/>
          </p:cNvSpPr>
          <p:nvPr/>
        </p:nvSpPr>
        <p:spPr bwMode="auto">
          <a:xfrm>
            <a:off x="7255868" y="2370113"/>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0" name="任意多边形: 形状 109">
            <a:extLst>
              <a:ext uri="{FF2B5EF4-FFF2-40B4-BE49-F238E27FC236}">
                <a16:creationId xmlns:a16="http://schemas.microsoft.com/office/drawing/2014/main" id="{69DEDECE-95D8-B06D-92A4-BF4169A9F807}"/>
              </a:ext>
            </a:extLst>
          </p:cNvPr>
          <p:cNvSpPr>
            <a:spLocks noChangeArrowheads="1"/>
          </p:cNvSpPr>
          <p:nvPr/>
        </p:nvSpPr>
        <p:spPr bwMode="auto">
          <a:xfrm>
            <a:off x="5668962" y="253452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2" name="任意多边形: 形状 111">
            <a:extLst>
              <a:ext uri="{FF2B5EF4-FFF2-40B4-BE49-F238E27FC236}">
                <a16:creationId xmlns:a16="http://schemas.microsoft.com/office/drawing/2014/main" id="{76EF31F4-3FF3-A7EC-2062-7B9BDA8B2D51}"/>
              </a:ext>
            </a:extLst>
          </p:cNvPr>
          <p:cNvSpPr>
            <a:spLocks noChangeArrowheads="1"/>
          </p:cNvSpPr>
          <p:nvPr/>
        </p:nvSpPr>
        <p:spPr bwMode="auto">
          <a:xfrm>
            <a:off x="4652822" y="242837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4" name="任意多边形: 形状 113">
            <a:extLst>
              <a:ext uri="{FF2B5EF4-FFF2-40B4-BE49-F238E27FC236}">
                <a16:creationId xmlns:a16="http://schemas.microsoft.com/office/drawing/2014/main" id="{BD80C2E8-551D-A5D0-D116-8F05219229F2}"/>
              </a:ext>
            </a:extLst>
          </p:cNvPr>
          <p:cNvSpPr>
            <a:spLocks noChangeArrowheads="1"/>
          </p:cNvSpPr>
          <p:nvPr/>
        </p:nvSpPr>
        <p:spPr bwMode="auto">
          <a:xfrm>
            <a:off x="5757456" y="1361710"/>
            <a:ext cx="1080000" cy="72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B050"/>
          </a:solidFill>
          <a:ln>
            <a:noFill/>
          </a:ln>
        </p:spPr>
        <p:txBody>
          <a:bodyPr wrap="square" anchor="ctr">
            <a:noAutofit/>
          </a:bodyPr>
          <a:lstStyle/>
          <a:p>
            <a:pPr algn="ctr" eaLnBrk="0" hangingPunct="0">
              <a:defRPr/>
            </a:pPr>
            <a:r>
              <a:rPr lang="zh-CN" altLang="en-US" sz="1600" dirty="0">
                <a:solidFill>
                  <a:schemeClr val="bg1"/>
                </a:solidFill>
              </a:rPr>
              <a:t>主干网</a:t>
            </a:r>
          </a:p>
        </p:txBody>
      </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CE3C9138-5C88-D684-7941-46E0197ED3E0}"/>
              </a:ext>
            </a:extLst>
          </p:cNvPr>
          <p:cNvGrpSpPr/>
          <p:nvPr/>
        </p:nvGrpSpPr>
        <p:grpSpPr>
          <a:xfrm>
            <a:off x="3852000" y="1205917"/>
            <a:ext cx="1440000" cy="1440000"/>
            <a:chOff x="4536476" y="1929112"/>
            <a:chExt cx="1440000" cy="1440000"/>
          </a:xfrm>
        </p:grpSpPr>
        <p:sp>
          <p:nvSpPr>
            <p:cNvPr id="4" name="菱形 3">
              <a:extLst>
                <a:ext uri="{FF2B5EF4-FFF2-40B4-BE49-F238E27FC236}">
                  <a16:creationId xmlns:a16="http://schemas.microsoft.com/office/drawing/2014/main" id="{6FFE359C-B351-F0C2-EEDA-7E19E7CE2F42}"/>
                </a:ext>
              </a:extLst>
            </p:cNvPr>
            <p:cNvSpPr/>
            <p:nvPr/>
          </p:nvSpPr>
          <p:spPr>
            <a:xfrm>
              <a:off x="4536476" y="1929112"/>
              <a:ext cx="1440000" cy="1440000"/>
            </a:xfrm>
            <a:prstGeom prst="diamond">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dirty="0"/>
            </a:p>
          </p:txBody>
        </p:sp>
        <p:sp>
          <p:nvSpPr>
            <p:cNvPr id="6" name="菱形 5">
              <a:extLst>
                <a:ext uri="{FF2B5EF4-FFF2-40B4-BE49-F238E27FC236}">
                  <a16:creationId xmlns:a16="http://schemas.microsoft.com/office/drawing/2014/main" id="{1873A152-C7D9-FF72-1CCE-EC9AB6F84E95}"/>
                </a:ext>
              </a:extLst>
            </p:cNvPr>
            <p:cNvSpPr/>
            <p:nvPr/>
          </p:nvSpPr>
          <p:spPr>
            <a:xfrm>
              <a:off x="4613838" y="2006474"/>
              <a:ext cx="1285276" cy="1285276"/>
            </a:xfrm>
            <a:prstGeom prst="diamond">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a:t>核心业务</a:t>
              </a:r>
              <a:endParaRPr lang="zh-CN" altLang="en-US" dirty="0"/>
            </a:p>
          </p:txBody>
        </p:sp>
      </p:grpSp>
      <p:sp>
        <p:nvSpPr>
          <p:cNvPr id="9" name="文本框 8">
            <a:extLst>
              <a:ext uri="{FF2B5EF4-FFF2-40B4-BE49-F238E27FC236}">
                <a16:creationId xmlns:a16="http://schemas.microsoft.com/office/drawing/2014/main" id="{9160B8BF-4647-37FB-C091-227CE33B43EE}"/>
              </a:ext>
            </a:extLst>
          </p:cNvPr>
          <p:cNvSpPr txBox="1"/>
          <p:nvPr/>
        </p:nvSpPr>
        <p:spPr>
          <a:xfrm>
            <a:off x="1254223" y="1999510"/>
            <a:ext cx="2460930" cy="1369606"/>
          </a:xfrm>
          <a:prstGeom prst="rect">
            <a:avLst/>
          </a:prstGeom>
          <a:noFill/>
        </p:spPr>
        <p:txBody>
          <a:bodyPr wrap="square" rtlCol="0">
            <a:spAutoFit/>
          </a:bodyPr>
          <a:lstStyle/>
          <a:p>
            <a:pPr marL="171450" lvl="1" indent="-171450">
              <a:buFont typeface="Arial" panose="020B0604020202020204" pitchFamily="34" charset="0"/>
              <a:buChar char="•"/>
            </a:pPr>
            <a:r>
              <a:rPr lang="zh-CN" altLang="en-US" sz="1200" dirty="0"/>
              <a:t>允许两个网络直接相连并快速交换分组</a:t>
            </a:r>
            <a:endParaRPr lang="en-US" altLang="zh-CN" sz="1200" dirty="0"/>
          </a:p>
          <a:p>
            <a:pPr marL="171450" lvl="1" indent="-171450">
              <a:buFont typeface="Arial" panose="020B0604020202020204" pitchFamily="34" charset="0"/>
              <a:buChar char="•"/>
            </a:pPr>
            <a:r>
              <a:rPr lang="zh-CN" altLang="en-US" sz="1200" dirty="0"/>
              <a:t>常采用工作在数据链路层的网络交换机</a:t>
            </a:r>
            <a:endParaRPr lang="en-US" altLang="zh-CN" sz="1200" dirty="0"/>
          </a:p>
          <a:p>
            <a:pPr marL="171450" lvl="1" indent="-171450">
              <a:buFont typeface="Arial" panose="020B0604020202020204" pitchFamily="34" charset="0"/>
              <a:buChar char="•"/>
            </a:pPr>
            <a:r>
              <a:rPr lang="zh-CN" altLang="en-US" sz="1200" dirty="0"/>
              <a:t>世界上较大的 </a:t>
            </a:r>
            <a:r>
              <a:rPr lang="en-US" altLang="zh-CN" sz="1200" dirty="0"/>
              <a:t>IXP </a:t>
            </a:r>
            <a:r>
              <a:rPr lang="zh-CN" altLang="en-US" sz="1200" dirty="0"/>
              <a:t>的峰值吞吐量都在 </a:t>
            </a:r>
            <a:r>
              <a:rPr lang="en-US" altLang="zh-CN" sz="1200" dirty="0"/>
              <a:t>Tbit/s </a:t>
            </a:r>
            <a:r>
              <a:rPr lang="zh-CN" altLang="en-US" sz="1200" dirty="0"/>
              <a:t>量级</a:t>
            </a:r>
            <a:endParaRPr lang="en-US" altLang="zh-CN" sz="1200" dirty="0"/>
          </a:p>
          <a:p>
            <a:pPr algn="l"/>
            <a:endParaRPr lang="zh-CN" altLang="en-US" sz="1100" dirty="0"/>
          </a:p>
        </p:txBody>
      </p:sp>
      <p:sp>
        <p:nvSpPr>
          <p:cNvPr id="10" name="文本框 9">
            <a:extLst>
              <a:ext uri="{FF2B5EF4-FFF2-40B4-BE49-F238E27FC236}">
                <a16:creationId xmlns:a16="http://schemas.microsoft.com/office/drawing/2014/main" id="{F2A861FF-54F6-7E3C-6B49-B7DC8DF3EB1C}"/>
              </a:ext>
            </a:extLst>
          </p:cNvPr>
          <p:cNvSpPr txBox="1"/>
          <p:nvPr/>
        </p:nvSpPr>
        <p:spPr>
          <a:xfrm>
            <a:off x="5428847" y="1984055"/>
            <a:ext cx="2460930" cy="830997"/>
          </a:xfrm>
          <a:prstGeom prst="rect">
            <a:avLst/>
          </a:prstGeom>
          <a:noFill/>
        </p:spPr>
        <p:txBody>
          <a:bodyPr wrap="square" rtlCol="0">
            <a:spAutoFit/>
          </a:bodyPr>
          <a:lstStyle/>
          <a:p>
            <a:pPr marL="285750" lvl="1" indent="-285750">
              <a:buFont typeface="Arial" panose="020B0604020202020204" pitchFamily="34" charset="0"/>
              <a:buChar char="•"/>
            </a:pPr>
            <a:r>
              <a:rPr lang="zh-CN" altLang="en-US" sz="1200" dirty="0"/>
              <a:t>在互联网上向所有用户提供视频等内容的公司</a:t>
            </a:r>
            <a:endParaRPr lang="en-US" altLang="zh-CN" sz="1200" dirty="0"/>
          </a:p>
          <a:p>
            <a:pPr marL="285750" lvl="1" indent="-285750">
              <a:buFont typeface="Arial" panose="020B0604020202020204" pitchFamily="34" charset="0"/>
              <a:buChar char="•"/>
            </a:pPr>
            <a:r>
              <a:rPr lang="zh-CN" altLang="en-US" sz="1200" dirty="0"/>
              <a:t>不向用户提供互联网的转接服务</a:t>
            </a:r>
          </a:p>
        </p:txBody>
      </p:sp>
      <p:sp>
        <p:nvSpPr>
          <p:cNvPr id="11" name="文本框 10">
            <a:extLst>
              <a:ext uri="{FF2B5EF4-FFF2-40B4-BE49-F238E27FC236}">
                <a16:creationId xmlns:a16="http://schemas.microsoft.com/office/drawing/2014/main" id="{A5B9F00C-C7C8-6F68-20F8-57EA12BE3910}"/>
              </a:ext>
            </a:extLst>
          </p:cNvPr>
          <p:cNvSpPr txBox="1"/>
          <p:nvPr/>
        </p:nvSpPr>
        <p:spPr>
          <a:xfrm>
            <a:off x="5428848" y="1402137"/>
            <a:ext cx="1790875" cy="523220"/>
          </a:xfrm>
          <a:prstGeom prst="rect">
            <a:avLst/>
          </a:prstGeom>
          <a:noFill/>
        </p:spPr>
        <p:txBody>
          <a:bodyPr wrap="none" rtlCol="0">
            <a:spAutoFit/>
          </a:bodyPr>
          <a:lstStyle/>
          <a:p>
            <a:r>
              <a:rPr lang="zh-CN" altLang="en-US" sz="1400" dirty="0"/>
              <a:t>内容提供者 </a:t>
            </a:r>
            <a:r>
              <a:rPr lang="en-US" altLang="zh-CN" sz="1400" dirty="0"/>
              <a:t>CP</a:t>
            </a:r>
          </a:p>
          <a:p>
            <a:r>
              <a:rPr lang="en-US" altLang="zh-CN" sz="1400" dirty="0"/>
              <a:t>Content Provider</a:t>
            </a:r>
          </a:p>
        </p:txBody>
      </p:sp>
      <p:sp>
        <p:nvSpPr>
          <p:cNvPr id="12" name="文本框 11">
            <a:extLst>
              <a:ext uri="{FF2B5EF4-FFF2-40B4-BE49-F238E27FC236}">
                <a16:creationId xmlns:a16="http://schemas.microsoft.com/office/drawing/2014/main" id="{4CB9DD72-1F21-D061-5C80-C9A7649A82D6}"/>
              </a:ext>
            </a:extLst>
          </p:cNvPr>
          <p:cNvSpPr txBox="1"/>
          <p:nvPr/>
        </p:nvSpPr>
        <p:spPr>
          <a:xfrm>
            <a:off x="1254222" y="1402137"/>
            <a:ext cx="2460930" cy="523220"/>
          </a:xfrm>
          <a:prstGeom prst="rect">
            <a:avLst/>
          </a:prstGeom>
          <a:noFill/>
        </p:spPr>
        <p:txBody>
          <a:bodyPr wrap="none" rtlCol="0">
            <a:spAutoFit/>
          </a:bodyPr>
          <a:lstStyle/>
          <a:p>
            <a:r>
              <a:rPr lang="zh-CN" altLang="en-US" sz="1400" dirty="0"/>
              <a:t>互联网交换点 </a:t>
            </a:r>
            <a:r>
              <a:rPr lang="en-US" altLang="zh-CN" sz="1400" dirty="0"/>
              <a:t>IXP</a:t>
            </a:r>
          </a:p>
          <a:p>
            <a:r>
              <a:rPr lang="en-US" altLang="zh-CN" sz="1400" dirty="0"/>
              <a:t>Internet </a:t>
            </a:r>
            <a:r>
              <a:rPr lang="en-US" altLang="zh-CN" sz="1400" dirty="0" err="1"/>
              <a:t>eXchange</a:t>
            </a:r>
            <a:r>
              <a:rPr lang="en-US" altLang="zh-CN" sz="1400" dirty="0"/>
              <a:t> Point</a:t>
            </a:r>
          </a:p>
        </p:txBody>
      </p:sp>
      <p:cxnSp>
        <p:nvCxnSpPr>
          <p:cNvPr id="14" name="直接连接符 13">
            <a:extLst>
              <a:ext uri="{FF2B5EF4-FFF2-40B4-BE49-F238E27FC236}">
                <a16:creationId xmlns:a16="http://schemas.microsoft.com/office/drawing/2014/main" id="{E9932A41-69CE-A7B3-C534-BCE260F75689}"/>
              </a:ext>
            </a:extLst>
          </p:cNvPr>
          <p:cNvCxnSpPr>
            <a:stCxn id="4" idx="1"/>
          </p:cNvCxnSpPr>
          <p:nvPr/>
        </p:nvCxnSpPr>
        <p:spPr>
          <a:xfrm flipH="1" flipV="1">
            <a:off x="728962" y="1925357"/>
            <a:ext cx="3123038" cy="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D72F23BF-C578-FBA6-25B8-8A5944A91897}"/>
              </a:ext>
            </a:extLst>
          </p:cNvPr>
          <p:cNvCxnSpPr>
            <a:stCxn id="4" idx="3"/>
          </p:cNvCxnSpPr>
          <p:nvPr/>
        </p:nvCxnSpPr>
        <p:spPr>
          <a:xfrm flipV="1">
            <a:off x="5292000" y="1925357"/>
            <a:ext cx="3027122" cy="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4576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hlinkClick r:id="rId2"/>
              </a:rPr>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2228850" y="403553"/>
            <a:ext cx="6562725" cy="523220"/>
          </a:xfrm>
        </p:spPr>
        <p:txBody>
          <a:bodyPr/>
          <a:lstStyle/>
          <a:p>
            <a:r>
              <a:rPr lang="fr-FR" altLang="zh-CN" dirty="0"/>
              <a:t>1.3 </a:t>
            </a:r>
            <a:r>
              <a:rPr lang="zh-CN" altLang="fr-FR" dirty="0"/>
              <a:t>互联网的组成</a:t>
            </a:r>
            <a:endParaRPr lang="zh-CN" altLang="en-US" dirty="0"/>
          </a:p>
        </p:txBody>
      </p:sp>
      <p:sp>
        <p:nvSpPr>
          <p:cNvPr id="6" name="文本框 5">
            <a:extLst>
              <a:ext uri="{FF2B5EF4-FFF2-40B4-BE49-F238E27FC236}">
                <a16:creationId xmlns:a16="http://schemas.microsoft.com/office/drawing/2014/main" id="{260B68CF-8DCB-D7AF-0550-20A7EA7370D9}"/>
              </a:ext>
            </a:extLst>
          </p:cNvPr>
          <p:cNvSpPr txBox="1"/>
          <p:nvPr/>
        </p:nvSpPr>
        <p:spPr>
          <a:xfrm>
            <a:off x="2962275" y="1293396"/>
            <a:ext cx="3562350" cy="646331"/>
          </a:xfrm>
          <a:prstGeom prst="rect">
            <a:avLst/>
          </a:prstGeom>
          <a:noFill/>
        </p:spPr>
        <p:txBody>
          <a:bodyPr wrap="square">
            <a:spAutoFit/>
          </a:bodyPr>
          <a:lstStyle/>
          <a:p>
            <a:r>
              <a:rPr lang="en-US" altLang="zh-CN" dirty="0"/>
              <a:t>1.3.1 </a:t>
            </a:r>
          </a:p>
          <a:p>
            <a:r>
              <a:rPr lang="zh-CN" altLang="zh-CN" dirty="0"/>
              <a:t>互联网的边缘部分</a:t>
            </a:r>
            <a:endParaRPr lang="en-US" altLang="zh-CN" dirty="0"/>
          </a:p>
        </p:txBody>
      </p:sp>
      <p:sp>
        <p:nvSpPr>
          <p:cNvPr id="7" name="文本框 6">
            <a:extLst>
              <a:ext uri="{FF2B5EF4-FFF2-40B4-BE49-F238E27FC236}">
                <a16:creationId xmlns:a16="http://schemas.microsoft.com/office/drawing/2014/main" id="{CB4463B8-1820-36F0-F496-3903F2149036}"/>
              </a:ext>
            </a:extLst>
          </p:cNvPr>
          <p:cNvSpPr txBox="1"/>
          <p:nvPr/>
        </p:nvSpPr>
        <p:spPr>
          <a:xfrm>
            <a:off x="3886200" y="2216725"/>
            <a:ext cx="3648075" cy="646331"/>
          </a:xfrm>
          <a:prstGeom prst="rect">
            <a:avLst/>
          </a:prstGeom>
          <a:noFill/>
        </p:spPr>
        <p:txBody>
          <a:bodyPr wrap="square">
            <a:spAutoFit/>
          </a:bodyPr>
          <a:lstStyle/>
          <a:p>
            <a:r>
              <a:rPr lang="en-US" altLang="zh-CN" dirty="0"/>
              <a:t>1.3.2 </a:t>
            </a:r>
          </a:p>
          <a:p>
            <a:r>
              <a:rPr lang="zh-CN" altLang="zh-CN" dirty="0"/>
              <a:t>互联网的核心部分</a:t>
            </a:r>
            <a:endParaRPr lang="fr-FR" altLang="zh-CN"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r>
              <a:rPr lang="en-US" altLang="zh-CN" dirty="0"/>
              <a:t>Edge</a:t>
            </a:r>
            <a:r>
              <a:rPr lang="zh-CN" altLang="en-US" dirty="0"/>
              <a:t>：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 </a:t>
            </a:r>
            <a:r>
              <a:rPr lang="en-US" altLang="zh-CN" dirty="0"/>
              <a:t>Core</a:t>
            </a:r>
            <a:r>
              <a:rPr lang="zh-CN" altLang="en-US" dirty="0"/>
              <a:t>：</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1953" y="2345"/>
              <a:ext cx="1910" cy="29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a:solidFill>
                    <a:srgbClr val="CC00CC"/>
                  </a:solidFill>
                  <a:latin typeface="+mn-lt"/>
                  <a:ea typeface="+mn-ea"/>
                </a:rPr>
                <a:t>互联网的核心部分</a:t>
              </a:r>
            </a:p>
          </p:txBody>
        </p:sp>
        <p:sp>
          <p:nvSpPr>
            <p:cNvPr id="20" name="Text Box 79"/>
            <p:cNvSpPr txBox="1">
              <a:spLocks noChangeArrowheads="1"/>
            </p:cNvSpPr>
            <p:nvPr/>
          </p:nvSpPr>
          <p:spPr bwMode="auto">
            <a:xfrm>
              <a:off x="1939" y="1436"/>
              <a:ext cx="1910" cy="29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dirty="0">
                  <a:solidFill>
                    <a:srgbClr val="0000FF"/>
                  </a:solidFill>
                  <a:latin typeface="+mn-lt"/>
                  <a:ea typeface="+mn-ea"/>
                </a:rPr>
                <a:t>互联网的边缘部分</a:t>
              </a:r>
            </a:p>
          </p:txBody>
        </p:sp>
        <p:sp>
          <p:nvSpPr>
            <p:cNvPr id="21" name="Text Box 1523"/>
            <p:cNvSpPr txBox="1">
              <a:spLocks noChangeArrowheads="1"/>
            </p:cNvSpPr>
            <p:nvPr/>
          </p:nvSpPr>
          <p:spPr bwMode="auto">
            <a:xfrm>
              <a:off x="603" y="2074"/>
              <a:ext cx="515"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1935" y="1873"/>
              <a:ext cx="676"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路由器</a:t>
              </a:r>
            </a:p>
          </p:txBody>
        </p:sp>
        <p:sp>
          <p:nvSpPr>
            <p:cNvPr id="30" name="Text Box 1523"/>
            <p:cNvSpPr txBox="1">
              <a:spLocks noChangeArrowheads="1"/>
            </p:cNvSpPr>
            <p:nvPr/>
          </p:nvSpPr>
          <p:spPr bwMode="auto">
            <a:xfrm>
              <a:off x="1415" y="2312"/>
              <a:ext cx="515"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a:t>
            </a:r>
            <a:r>
              <a:rPr lang="zh-CN" altLang="en-US" dirty="0">
                <a:solidFill>
                  <a:srgbClr val="C00000"/>
                </a:solidFill>
              </a:rPr>
              <a:t>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7" name="Line 6"/>
          <p:cNvSpPr>
            <a:spLocks noChangeShapeType="1"/>
          </p:cNvSpPr>
          <p:nvPr/>
        </p:nvSpPr>
        <p:spPr bwMode="auto">
          <a:xfrm flipH="1" flipV="1">
            <a:off x="2947331" y="3328926"/>
            <a:ext cx="599424" cy="668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2379863" y="2478397"/>
            <a:ext cx="11949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800" dirty="0"/>
              <a:t>Client</a:t>
            </a:r>
            <a:endParaRPr lang="zh-CN" altLang="en-US" sz="800" dirty="0"/>
          </a:p>
          <a:p>
            <a:r>
              <a:rPr lang="zh-CN" altLang="en-US" sz="8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25" name="Text Box 29"/>
          <p:cNvSpPr txBox="1">
            <a:spLocks noChangeArrowheads="1"/>
          </p:cNvSpPr>
          <p:nvPr/>
        </p:nvSpPr>
        <p:spPr bwMode="auto">
          <a:xfrm>
            <a:off x="4159022" y="3662490"/>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26" name="Text Box 31"/>
          <p:cNvSpPr txBox="1">
            <a:spLocks noChangeArrowheads="1"/>
          </p:cNvSpPr>
          <p:nvPr/>
        </p:nvSpPr>
        <p:spPr bwMode="auto">
          <a:xfrm>
            <a:off x="5914259" y="2384587"/>
            <a:ext cx="900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sz="800" dirty="0"/>
              <a:t>Server</a:t>
            </a:r>
            <a:endParaRPr lang="zh-CN" altLang="en-US" sz="800" dirty="0"/>
          </a:p>
          <a:p>
            <a:r>
              <a:rPr lang="zh-CN" altLang="en-US" sz="800" dirty="0"/>
              <a:t>运行服务器程序</a:t>
            </a:r>
          </a:p>
        </p:txBody>
      </p:sp>
      <p:sp>
        <p:nvSpPr>
          <p:cNvPr id="27" name="Line 33"/>
          <p:cNvSpPr>
            <a:spLocks noChangeShapeType="1"/>
          </p:cNvSpPr>
          <p:nvPr/>
        </p:nvSpPr>
        <p:spPr bwMode="auto">
          <a:xfrm>
            <a:off x="2745490" y="2801934"/>
            <a:ext cx="45854" cy="298962"/>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244088" y="2696096"/>
            <a:ext cx="175417" cy="172166"/>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22769" y="2801934"/>
            <a:ext cx="27764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0279" y="2641756"/>
            <a:ext cx="26962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202089" y="2893394"/>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① </a:t>
            </a:r>
            <a:r>
              <a:rPr kumimoji="1" lang="zh-CN" altLang="en-US" sz="800" b="1" dirty="0">
                <a:solidFill>
                  <a:srgbClr val="CC00CC"/>
                </a:solidFill>
                <a:latin typeface="微软雅黑" panose="020B0503020204020204" pitchFamily="34" charset="-122"/>
                <a:ea typeface="微软雅黑" panose="020B0503020204020204" pitchFamily="34" charset="-122"/>
              </a:rPr>
              <a:t>请求服务</a:t>
            </a:r>
          </a:p>
        </p:txBody>
      </p:sp>
      <p:pic>
        <p:nvPicPr>
          <p:cNvPr id="42" name="图片 3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165917" y="3403873"/>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② </a:t>
            </a:r>
            <a:r>
              <a:rPr kumimoji="1" lang="zh-CN" altLang="en-US" sz="8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4" name="图片 3">
            <a:extLst>
              <a:ext uri="{FF2B5EF4-FFF2-40B4-BE49-F238E27FC236}">
                <a16:creationId xmlns:a16="http://schemas.microsoft.com/office/drawing/2014/main" id="{D51DA845-4B9A-1C16-02CB-CA95AB439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1908" y="2220827"/>
            <a:ext cx="323850" cy="304800"/>
          </a:xfrm>
          <a:prstGeom prst="rect">
            <a:avLst/>
          </a:prstGeom>
        </p:spPr>
      </p:pic>
      <p:pic>
        <p:nvPicPr>
          <p:cNvPr id="31" name="图片 30">
            <a:extLst>
              <a:ext uri="{FF2B5EF4-FFF2-40B4-BE49-F238E27FC236}">
                <a16:creationId xmlns:a16="http://schemas.microsoft.com/office/drawing/2014/main" id="{3FC7CC7C-4AF9-3414-B916-F34AECB025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932" y="2149220"/>
            <a:ext cx="323850" cy="304800"/>
          </a:xfrm>
          <a:prstGeom prst="rect">
            <a:avLst/>
          </a:prstGeom>
        </p:spPr>
      </p:pic>
      <p:pic>
        <p:nvPicPr>
          <p:cNvPr id="35" name="图片 34">
            <a:extLst>
              <a:ext uri="{FF2B5EF4-FFF2-40B4-BE49-F238E27FC236}">
                <a16:creationId xmlns:a16="http://schemas.microsoft.com/office/drawing/2014/main" id="{FC32718D-4D7A-F280-171B-B3C7EC724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4685" y="3016700"/>
            <a:ext cx="323850" cy="304800"/>
          </a:xfrm>
          <a:prstGeom prst="rect">
            <a:avLst/>
          </a:prstGeom>
        </p:spPr>
      </p:pic>
      <p:pic>
        <p:nvPicPr>
          <p:cNvPr id="44" name="图片 43">
            <a:extLst>
              <a:ext uri="{FF2B5EF4-FFF2-40B4-BE49-F238E27FC236}">
                <a16:creationId xmlns:a16="http://schemas.microsoft.com/office/drawing/2014/main" id="{758A5F0B-E9C5-8387-1A47-6D66B06A6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547" y="4139446"/>
            <a:ext cx="323850" cy="304800"/>
          </a:xfrm>
          <a:prstGeom prst="rect">
            <a:avLst/>
          </a:prstGeom>
        </p:spPr>
      </p:pic>
      <p:pic>
        <p:nvPicPr>
          <p:cNvPr id="48" name="图片 47">
            <a:extLst>
              <a:ext uri="{FF2B5EF4-FFF2-40B4-BE49-F238E27FC236}">
                <a16:creationId xmlns:a16="http://schemas.microsoft.com/office/drawing/2014/main" id="{DF6F2373-E79E-C42B-698E-0ECBC80442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67" y="4075791"/>
            <a:ext cx="323850" cy="304800"/>
          </a:xfrm>
          <a:prstGeom prst="rect">
            <a:avLst/>
          </a:prstGeom>
        </p:spPr>
      </p:pic>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864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68" name="Text Box 28"/>
          <p:cNvSpPr txBox="1">
            <a:spLocks noChangeArrowheads="1"/>
          </p:cNvSpPr>
          <p:nvPr/>
        </p:nvSpPr>
        <p:spPr bwMode="auto">
          <a:xfrm>
            <a:off x="5359609" y="329738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69" name="Text Box 30"/>
          <p:cNvSpPr txBox="1">
            <a:spLocks noChangeArrowheads="1"/>
          </p:cNvSpPr>
          <p:nvPr/>
        </p:nvSpPr>
        <p:spPr bwMode="auto">
          <a:xfrm>
            <a:off x="6799784" y="251743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0" name="Text Box 31"/>
          <p:cNvSpPr txBox="1">
            <a:spLocks noChangeArrowheads="1"/>
          </p:cNvSpPr>
          <p:nvPr/>
        </p:nvSpPr>
        <p:spPr bwMode="auto">
          <a:xfrm>
            <a:off x="6750232" y="3929267"/>
            <a:ext cx="93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675389" y="2406574"/>
            <a:ext cx="118101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0" name="Text Box 42"/>
          <p:cNvSpPr txBox="1">
            <a:spLocks noChangeArrowheads="1"/>
          </p:cNvSpPr>
          <p:nvPr/>
        </p:nvSpPr>
        <p:spPr bwMode="auto">
          <a:xfrm>
            <a:off x="3519198" y="3508302"/>
            <a:ext cx="118101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85" name="图片 3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350AF0F5-C727-3177-D2ED-9AD6C9E0BD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42792" y="2255243"/>
            <a:ext cx="323850" cy="304800"/>
          </a:xfrm>
          <a:prstGeom prst="rect">
            <a:avLst/>
          </a:prstGeom>
        </p:spPr>
      </p:pic>
      <p:pic>
        <p:nvPicPr>
          <p:cNvPr id="7" name="图片 6">
            <a:extLst>
              <a:ext uri="{FF2B5EF4-FFF2-40B4-BE49-F238E27FC236}">
                <a16:creationId xmlns:a16="http://schemas.microsoft.com/office/drawing/2014/main" id="{DEC07F29-A9A9-4EFA-25BD-0702F4EF4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4335" y="2199170"/>
            <a:ext cx="323850" cy="304800"/>
          </a:xfrm>
          <a:prstGeom prst="rect">
            <a:avLst/>
          </a:prstGeom>
        </p:spPr>
      </p:pic>
      <p:pic>
        <p:nvPicPr>
          <p:cNvPr id="9" name="图片 8">
            <a:extLst>
              <a:ext uri="{FF2B5EF4-FFF2-40B4-BE49-F238E27FC236}">
                <a16:creationId xmlns:a16="http://schemas.microsoft.com/office/drawing/2014/main" id="{05E88008-E35E-1EE3-B90F-E074345F48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7920" y="3683567"/>
            <a:ext cx="323850" cy="304800"/>
          </a:xfrm>
          <a:prstGeom prst="rect">
            <a:avLst/>
          </a:prstGeom>
        </p:spPr>
      </p:pic>
      <p:pic>
        <p:nvPicPr>
          <p:cNvPr id="11" name="图片 10">
            <a:extLst>
              <a:ext uri="{FF2B5EF4-FFF2-40B4-BE49-F238E27FC236}">
                <a16:creationId xmlns:a16="http://schemas.microsoft.com/office/drawing/2014/main" id="{C9E657EE-63AD-F6E2-A6B4-7A59B37113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65278" y="4138789"/>
            <a:ext cx="323850" cy="304800"/>
          </a:xfrm>
          <a:prstGeom prst="rect">
            <a:avLst/>
          </a:prstGeom>
        </p:spPr>
      </p:pic>
      <p:pic>
        <p:nvPicPr>
          <p:cNvPr id="13" name="图片 12">
            <a:extLst>
              <a:ext uri="{FF2B5EF4-FFF2-40B4-BE49-F238E27FC236}">
                <a16:creationId xmlns:a16="http://schemas.microsoft.com/office/drawing/2014/main" id="{158D904D-57FA-BEF6-D1EA-287C551869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762" y="4117191"/>
            <a:ext cx="323850" cy="304800"/>
          </a:xfrm>
          <a:prstGeom prst="rect">
            <a:avLst/>
          </a:prstGeom>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a:cxnSpLocks/>
            <a:stCxn id="4" idx="3"/>
            <a:endCxn id="11" idx="1"/>
          </p:cNvCxnSpPr>
          <p:nvPr/>
        </p:nvCxnSpPr>
        <p:spPr>
          <a:xfrm>
            <a:off x="950120" y="2847326"/>
            <a:ext cx="111294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cxnSp>
        <p:nvCxnSpPr>
          <p:cNvPr id="57" name="直接连接符 56">
            <a:extLst>
              <a:ext uri="{FF2B5EF4-FFF2-40B4-BE49-F238E27FC236}">
                <a16:creationId xmlns:a16="http://schemas.microsoft.com/office/drawing/2014/main" id="{83F17D88-02CF-C251-1728-F4AFA1A5B76D}"/>
              </a:ext>
            </a:extLst>
          </p:cNvPr>
          <p:cNvCxnSpPr>
            <a:cxnSpLocks/>
            <a:stCxn id="15" idx="3"/>
            <a:endCxn id="67" idx="1"/>
          </p:cNvCxnSpPr>
          <p:nvPr/>
        </p:nvCxnSpPr>
        <p:spPr>
          <a:xfrm>
            <a:off x="3395380" y="2666424"/>
            <a:ext cx="1422005"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a:cxnSpLocks/>
            <a:stCxn id="15" idx="0"/>
            <a:endCxn id="74" idx="1"/>
          </p:cNvCxnSpPr>
          <p:nvPr/>
        </p:nvCxnSpPr>
        <p:spPr>
          <a:xfrm flipV="1">
            <a:off x="3242980" y="2091450"/>
            <a:ext cx="711002"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a:cxnSpLocks/>
            <a:stCxn id="67" idx="0"/>
            <a:endCxn id="74" idx="3"/>
          </p:cNvCxnSpPr>
          <p:nvPr/>
        </p:nvCxnSpPr>
        <p:spPr>
          <a:xfrm flipH="1" flipV="1">
            <a:off x="4258782" y="2091450"/>
            <a:ext cx="711003"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a:cxnSpLocks/>
            <a:stCxn id="49" idx="0"/>
            <a:endCxn id="67" idx="2"/>
          </p:cNvCxnSpPr>
          <p:nvPr/>
        </p:nvCxnSpPr>
        <p:spPr>
          <a:xfrm flipV="1">
            <a:off x="4571703" y="2818824"/>
            <a:ext cx="398082"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a:cxnSpLocks/>
            <a:stCxn id="17" idx="0"/>
            <a:endCxn id="15" idx="2"/>
          </p:cNvCxnSpPr>
          <p:nvPr/>
        </p:nvCxnSpPr>
        <p:spPr>
          <a:xfrm flipH="1" flipV="1">
            <a:off x="3242980" y="2818824"/>
            <a:ext cx="398081"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a:cxnSpLocks/>
            <a:stCxn id="17" idx="3"/>
            <a:endCxn id="49" idx="1"/>
          </p:cNvCxnSpPr>
          <p:nvPr/>
        </p:nvCxnSpPr>
        <p:spPr>
          <a:xfrm>
            <a:off x="3793461" y="3560608"/>
            <a:ext cx="62584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a:cxnSpLocks/>
            <a:stCxn id="17" idx="0"/>
            <a:endCxn id="74" idx="2"/>
          </p:cNvCxnSpPr>
          <p:nvPr/>
        </p:nvCxnSpPr>
        <p:spPr>
          <a:xfrm flipV="1">
            <a:off x="3641061"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a:cxnSpLocks/>
            <a:stCxn id="49" idx="0"/>
            <a:endCxn id="74" idx="2"/>
          </p:cNvCxnSpPr>
          <p:nvPr/>
        </p:nvCxnSpPr>
        <p:spPr>
          <a:xfrm flipH="1" flipV="1">
            <a:off x="4106382"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a:cxnSpLocks/>
            <a:stCxn id="49" idx="0"/>
            <a:endCxn id="15" idx="3"/>
          </p:cNvCxnSpPr>
          <p:nvPr/>
        </p:nvCxnSpPr>
        <p:spPr>
          <a:xfrm flipH="1" flipV="1">
            <a:off x="3395380" y="2666424"/>
            <a:ext cx="1176323"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a:cxnSpLocks/>
            <a:stCxn id="67" idx="1"/>
            <a:endCxn id="17" idx="0"/>
          </p:cNvCxnSpPr>
          <p:nvPr/>
        </p:nvCxnSpPr>
        <p:spPr>
          <a:xfrm flipH="1">
            <a:off x="3641061" y="2666424"/>
            <a:ext cx="1176324"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pic>
        <p:nvPicPr>
          <p:cNvPr id="4" name="图片 3">
            <a:extLst>
              <a:ext uri="{FF2B5EF4-FFF2-40B4-BE49-F238E27FC236}">
                <a16:creationId xmlns:a16="http://schemas.microsoft.com/office/drawing/2014/main" id="{4CAEEC63-B3CE-A04E-A1E7-FF04314D9D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320" y="2694926"/>
            <a:ext cx="304800" cy="304800"/>
          </a:xfrm>
          <a:prstGeom prst="rect">
            <a:avLst/>
          </a:prstGeom>
        </p:spPr>
      </p:pic>
      <p:pic>
        <p:nvPicPr>
          <p:cNvPr id="11" name="图片 10">
            <a:extLst>
              <a:ext uri="{FF2B5EF4-FFF2-40B4-BE49-F238E27FC236}">
                <a16:creationId xmlns:a16="http://schemas.microsoft.com/office/drawing/2014/main" id="{8AD3ADC7-0F0E-093F-39BE-CA6A9C99A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63061" y="2694926"/>
            <a:ext cx="304800" cy="304800"/>
          </a:xfrm>
          <a:prstGeom prst="rect">
            <a:avLst/>
          </a:prstGeom>
        </p:spPr>
      </p:pic>
      <p:pic>
        <p:nvPicPr>
          <p:cNvPr id="15" name="图片 14">
            <a:extLst>
              <a:ext uri="{FF2B5EF4-FFF2-40B4-BE49-F238E27FC236}">
                <a16:creationId xmlns:a16="http://schemas.microsoft.com/office/drawing/2014/main" id="{8C23D29E-593A-1A8B-4F0A-18CE11F287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0580" y="2514024"/>
            <a:ext cx="304800" cy="304800"/>
          </a:xfrm>
          <a:prstGeom prst="rect">
            <a:avLst/>
          </a:prstGeom>
        </p:spPr>
      </p:pic>
      <p:pic>
        <p:nvPicPr>
          <p:cNvPr id="17" name="图片 16">
            <a:extLst>
              <a:ext uri="{FF2B5EF4-FFF2-40B4-BE49-F238E27FC236}">
                <a16:creationId xmlns:a16="http://schemas.microsoft.com/office/drawing/2014/main" id="{744F505E-2841-3747-A73B-95B408D8BF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88661" y="3408208"/>
            <a:ext cx="304800" cy="304800"/>
          </a:xfrm>
          <a:prstGeom prst="rect">
            <a:avLst/>
          </a:prstGeom>
        </p:spPr>
      </p:pic>
      <p:pic>
        <p:nvPicPr>
          <p:cNvPr id="49" name="图片 48">
            <a:extLst>
              <a:ext uri="{FF2B5EF4-FFF2-40B4-BE49-F238E27FC236}">
                <a16:creationId xmlns:a16="http://schemas.microsoft.com/office/drawing/2014/main" id="{95A16CF9-1849-40BA-99E3-8C7D814893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9303" y="3408208"/>
            <a:ext cx="304800" cy="304800"/>
          </a:xfrm>
          <a:prstGeom prst="rect">
            <a:avLst/>
          </a:prstGeom>
        </p:spPr>
      </p:pic>
      <p:pic>
        <p:nvPicPr>
          <p:cNvPr id="67" name="图片 66">
            <a:extLst>
              <a:ext uri="{FF2B5EF4-FFF2-40B4-BE49-F238E27FC236}">
                <a16:creationId xmlns:a16="http://schemas.microsoft.com/office/drawing/2014/main" id="{7B5072CE-D95A-95AF-2282-739C1E9971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385" y="2514024"/>
            <a:ext cx="304800" cy="304800"/>
          </a:xfrm>
          <a:prstGeom prst="rect">
            <a:avLst/>
          </a:prstGeom>
        </p:spPr>
      </p:pic>
      <p:pic>
        <p:nvPicPr>
          <p:cNvPr id="74" name="图片 73">
            <a:extLst>
              <a:ext uri="{FF2B5EF4-FFF2-40B4-BE49-F238E27FC236}">
                <a16:creationId xmlns:a16="http://schemas.microsoft.com/office/drawing/2014/main" id="{3F6E2FBC-D0F1-A7DC-82D9-BFFE4DFD6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53982" y="1939050"/>
            <a:ext cx="304800" cy="304800"/>
          </a:xfrm>
          <a:prstGeom prst="rect">
            <a:avLst/>
          </a:prstGeom>
        </p:spPr>
      </p:pic>
      <p:sp>
        <p:nvSpPr>
          <p:cNvPr id="100" name="文本框 99">
            <a:extLst>
              <a:ext uri="{FF2B5EF4-FFF2-40B4-BE49-F238E27FC236}">
                <a16:creationId xmlns:a16="http://schemas.microsoft.com/office/drawing/2014/main" id="{CED59CF7-4130-3F35-8A57-C68925551CB5}"/>
              </a:ext>
            </a:extLst>
          </p:cNvPr>
          <p:cNvSpPr txBox="1"/>
          <p:nvPr/>
        </p:nvSpPr>
        <p:spPr>
          <a:xfrm>
            <a:off x="1395822" y="2608799"/>
            <a:ext cx="221536" cy="215444"/>
          </a:xfrm>
          <a:prstGeom prst="rect">
            <a:avLst/>
          </a:prstGeom>
          <a:noFill/>
        </p:spPr>
        <p:txBody>
          <a:bodyPr wrap="none" rtlCol="0">
            <a:spAutoFit/>
          </a:bodyPr>
          <a:lstStyle/>
          <a:p>
            <a:pPr algn="ctr"/>
            <a:r>
              <a:rPr lang="en-US" altLang="zh-CN" sz="800" dirty="0"/>
              <a:t>1</a:t>
            </a:r>
            <a:endParaRPr lang="zh-CN" altLang="en-US" sz="800" dirty="0"/>
          </a:p>
        </p:txBody>
      </p:sp>
      <p:sp>
        <p:nvSpPr>
          <p:cNvPr id="102" name="文本框 101">
            <a:extLst>
              <a:ext uri="{FF2B5EF4-FFF2-40B4-BE49-F238E27FC236}">
                <a16:creationId xmlns:a16="http://schemas.microsoft.com/office/drawing/2014/main" id="{982E1909-A527-FED6-1BCD-494B2A043778}"/>
              </a:ext>
            </a:extLst>
          </p:cNvPr>
          <p:cNvSpPr txBox="1"/>
          <p:nvPr/>
        </p:nvSpPr>
        <p:spPr>
          <a:xfrm>
            <a:off x="3947819" y="2745001"/>
            <a:ext cx="288861" cy="215444"/>
          </a:xfrm>
          <a:prstGeom prst="rect">
            <a:avLst/>
          </a:prstGeom>
          <a:noFill/>
        </p:spPr>
        <p:txBody>
          <a:bodyPr wrap="none" rtlCol="0">
            <a:spAutoFit/>
          </a:bodyPr>
          <a:lstStyle/>
          <a:p>
            <a:pPr algn="ctr"/>
            <a:r>
              <a:rPr lang="en-US" altLang="zh-CN" sz="800" dirty="0"/>
              <a:t>10</a:t>
            </a:r>
            <a:endParaRPr lang="zh-CN" altLang="en-US" sz="800" dirty="0"/>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a:cxnSpLocks/>
            <a:stCxn id="4" idx="2"/>
          </p:cNvCxnSpPr>
          <p:nvPr/>
        </p:nvCxnSpPr>
        <p:spPr>
          <a:xfrm>
            <a:off x="3512980" y="2514592"/>
            <a:ext cx="610689" cy="558006"/>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a:cxnSpLocks/>
            <a:stCxn id="14" idx="3"/>
            <a:endCxn id="93" idx="2"/>
          </p:cNvCxnSpPr>
          <p:nvPr/>
        </p:nvCxnSpPr>
        <p:spPr>
          <a:xfrm flipV="1">
            <a:off x="3421995" y="3175907"/>
            <a:ext cx="470852" cy="509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cxnSpLocks/>
            <a:stCxn id="18" idx="0"/>
          </p:cNvCxnSpPr>
          <p:nvPr/>
        </p:nvCxnSpPr>
        <p:spPr>
          <a:xfrm flipV="1">
            <a:off x="3512980" y="3315829"/>
            <a:ext cx="547826" cy="37827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a:stCxn id="12" idx="0"/>
            <a:endCxn id="93" idx="3"/>
          </p:cNvCxnSpPr>
          <p:nvPr/>
        </p:nvCxnSpPr>
        <p:spPr>
          <a:xfrm flipV="1">
            <a:off x="4217061" y="3283264"/>
            <a:ext cx="0" cy="56493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cxnSpLocks/>
            <a:stCxn id="10" idx="0"/>
          </p:cNvCxnSpPr>
          <p:nvPr/>
        </p:nvCxnSpPr>
        <p:spPr>
          <a:xfrm flipH="1" flipV="1">
            <a:off x="4457700" y="3292521"/>
            <a:ext cx="535014" cy="40158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a:stCxn id="93" idx="0"/>
            <a:endCxn id="16" idx="2"/>
          </p:cNvCxnSpPr>
          <p:nvPr/>
        </p:nvCxnSpPr>
        <p:spPr>
          <a:xfrm flipV="1">
            <a:off x="4288633" y="2382438"/>
            <a:ext cx="0" cy="61454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cxnSpLocks/>
            <a:endCxn id="6" idx="2"/>
          </p:cNvCxnSpPr>
          <p:nvPr/>
        </p:nvCxnSpPr>
        <p:spPr>
          <a:xfrm flipV="1">
            <a:off x="4441033" y="2514592"/>
            <a:ext cx="551681" cy="47312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a:stCxn id="93" idx="4"/>
            <a:endCxn id="8" idx="1"/>
          </p:cNvCxnSpPr>
          <p:nvPr/>
        </p:nvCxnSpPr>
        <p:spPr>
          <a:xfrm>
            <a:off x="4541276" y="3175907"/>
            <a:ext cx="53967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立方体 92"/>
          <p:cNvSpPr/>
          <p:nvPr/>
        </p:nvSpPr>
        <p:spPr>
          <a:xfrm>
            <a:off x="3892847" y="2996978"/>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4" name="图片 3">
            <a:extLst>
              <a:ext uri="{FF2B5EF4-FFF2-40B4-BE49-F238E27FC236}">
                <a16:creationId xmlns:a16="http://schemas.microsoft.com/office/drawing/2014/main" id="{D0B1EF59-3770-9FF2-6E46-47F36C25D2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2209792"/>
            <a:ext cx="304800" cy="304800"/>
          </a:xfrm>
          <a:prstGeom prst="rect">
            <a:avLst/>
          </a:prstGeom>
        </p:spPr>
      </p:pic>
      <p:pic>
        <p:nvPicPr>
          <p:cNvPr id="6" name="图片 5">
            <a:extLst>
              <a:ext uri="{FF2B5EF4-FFF2-40B4-BE49-F238E27FC236}">
                <a16:creationId xmlns:a16="http://schemas.microsoft.com/office/drawing/2014/main" id="{179DEF55-37B4-B41D-B63E-80EEFB9BE8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2209792"/>
            <a:ext cx="304800" cy="304800"/>
          </a:xfrm>
          <a:prstGeom prst="rect">
            <a:avLst/>
          </a:prstGeom>
        </p:spPr>
      </p:pic>
      <p:pic>
        <p:nvPicPr>
          <p:cNvPr id="8" name="图片 7">
            <a:extLst>
              <a:ext uri="{FF2B5EF4-FFF2-40B4-BE49-F238E27FC236}">
                <a16:creationId xmlns:a16="http://schemas.microsoft.com/office/drawing/2014/main" id="{33B335B4-7FE0-2F30-083C-FAD2006F4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952" y="3023507"/>
            <a:ext cx="304800" cy="304800"/>
          </a:xfrm>
          <a:prstGeom prst="rect">
            <a:avLst/>
          </a:prstGeom>
        </p:spPr>
      </p:pic>
      <p:pic>
        <p:nvPicPr>
          <p:cNvPr id="10" name="图片 9">
            <a:extLst>
              <a:ext uri="{FF2B5EF4-FFF2-40B4-BE49-F238E27FC236}">
                <a16:creationId xmlns:a16="http://schemas.microsoft.com/office/drawing/2014/main" id="{866D726E-4BB1-45EB-3CC3-DD6F4192B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3694104"/>
            <a:ext cx="304800" cy="304800"/>
          </a:xfrm>
          <a:prstGeom prst="rect">
            <a:avLst/>
          </a:prstGeom>
        </p:spPr>
      </p:pic>
      <p:pic>
        <p:nvPicPr>
          <p:cNvPr id="12" name="图片 11">
            <a:extLst>
              <a:ext uri="{FF2B5EF4-FFF2-40B4-BE49-F238E27FC236}">
                <a16:creationId xmlns:a16="http://schemas.microsoft.com/office/drawing/2014/main" id="{AA2969E4-205C-375D-63DE-C9B312405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661" y="3848197"/>
            <a:ext cx="304800" cy="304800"/>
          </a:xfrm>
          <a:prstGeom prst="rect">
            <a:avLst/>
          </a:prstGeom>
        </p:spPr>
      </p:pic>
      <p:pic>
        <p:nvPicPr>
          <p:cNvPr id="14" name="图片 13">
            <a:extLst>
              <a:ext uri="{FF2B5EF4-FFF2-40B4-BE49-F238E27FC236}">
                <a16:creationId xmlns:a16="http://schemas.microsoft.com/office/drawing/2014/main" id="{BA25451F-F6C5-588B-7A5B-CFA87B4908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17195" y="3028600"/>
            <a:ext cx="304800" cy="304800"/>
          </a:xfrm>
          <a:prstGeom prst="rect">
            <a:avLst/>
          </a:prstGeom>
        </p:spPr>
      </p:pic>
      <p:pic>
        <p:nvPicPr>
          <p:cNvPr id="16" name="图片 15">
            <a:extLst>
              <a:ext uri="{FF2B5EF4-FFF2-40B4-BE49-F238E27FC236}">
                <a16:creationId xmlns:a16="http://schemas.microsoft.com/office/drawing/2014/main" id="{4EE87E3D-F51D-D9EB-CDC1-F1A1F656D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6233" y="2077638"/>
            <a:ext cx="304800" cy="304800"/>
          </a:xfrm>
          <a:prstGeom prst="rect">
            <a:avLst/>
          </a:prstGeom>
        </p:spPr>
      </p:pic>
      <p:pic>
        <p:nvPicPr>
          <p:cNvPr id="18" name="图片 17">
            <a:extLst>
              <a:ext uri="{FF2B5EF4-FFF2-40B4-BE49-F238E27FC236}">
                <a16:creationId xmlns:a16="http://schemas.microsoft.com/office/drawing/2014/main" id="{F9C99FB5-A1F3-C238-8C91-81A5A3A13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3694104"/>
            <a:ext cx="304800" cy="304800"/>
          </a:xfrm>
          <a:prstGeom prst="rect">
            <a:avLst/>
          </a:prstGeom>
        </p:spPr>
      </p:pic>
      <p:sp>
        <p:nvSpPr>
          <p:cNvPr id="44" name="文本框 43">
            <a:extLst>
              <a:ext uri="{FF2B5EF4-FFF2-40B4-BE49-F238E27FC236}">
                <a16:creationId xmlns:a16="http://schemas.microsoft.com/office/drawing/2014/main" id="{35545525-D442-C722-FFC8-C4DAB6AE11CB}"/>
              </a:ext>
            </a:extLst>
          </p:cNvPr>
          <p:cNvSpPr txBox="1"/>
          <p:nvPr/>
        </p:nvSpPr>
        <p:spPr>
          <a:xfrm>
            <a:off x="3580022" y="2458002"/>
            <a:ext cx="258404" cy="215444"/>
          </a:xfrm>
          <a:prstGeom prst="rect">
            <a:avLst/>
          </a:prstGeom>
          <a:noFill/>
        </p:spPr>
        <p:txBody>
          <a:bodyPr wrap="none" rtlCol="0">
            <a:spAutoFit/>
          </a:bodyPr>
          <a:lstStyle/>
          <a:p>
            <a:pPr algn="ctr"/>
            <a:r>
              <a:rPr lang="en-US" altLang="zh-CN" sz="800" dirty="0"/>
              <a:t>A</a:t>
            </a:r>
            <a:endParaRPr lang="zh-CN" altLang="en-US" sz="800" dirty="0"/>
          </a:p>
        </p:txBody>
      </p:sp>
      <p:sp>
        <p:nvSpPr>
          <p:cNvPr id="46" name="文本框 45">
            <a:extLst>
              <a:ext uri="{FF2B5EF4-FFF2-40B4-BE49-F238E27FC236}">
                <a16:creationId xmlns:a16="http://schemas.microsoft.com/office/drawing/2014/main" id="{EBC27931-0146-119E-3815-20C4B8B85FC8}"/>
              </a:ext>
            </a:extLst>
          </p:cNvPr>
          <p:cNvSpPr txBox="1"/>
          <p:nvPr/>
        </p:nvSpPr>
        <p:spPr>
          <a:xfrm>
            <a:off x="5125745" y="2831024"/>
            <a:ext cx="261610" cy="215444"/>
          </a:xfrm>
          <a:prstGeom prst="rect">
            <a:avLst/>
          </a:prstGeom>
          <a:noFill/>
        </p:spPr>
        <p:txBody>
          <a:bodyPr wrap="none" rtlCol="0">
            <a:spAutoFit/>
          </a:bodyPr>
          <a:lstStyle/>
          <a:p>
            <a:pPr algn="ctr"/>
            <a:r>
              <a:rPr lang="en-US" altLang="zh-CN" sz="800" dirty="0"/>
              <a:t>C</a:t>
            </a:r>
            <a:endParaRPr lang="zh-CN" altLang="en-US" sz="800" dirty="0"/>
          </a:p>
        </p:txBody>
      </p:sp>
      <p:sp>
        <p:nvSpPr>
          <p:cNvPr id="48" name="文本框 47">
            <a:extLst>
              <a:ext uri="{FF2B5EF4-FFF2-40B4-BE49-F238E27FC236}">
                <a16:creationId xmlns:a16="http://schemas.microsoft.com/office/drawing/2014/main" id="{295FADF6-D518-AB7C-D32B-6D92C95ADE0E}"/>
              </a:ext>
            </a:extLst>
          </p:cNvPr>
          <p:cNvSpPr txBox="1"/>
          <p:nvPr/>
        </p:nvSpPr>
        <p:spPr>
          <a:xfrm>
            <a:off x="3597325" y="3740975"/>
            <a:ext cx="261610" cy="215444"/>
          </a:xfrm>
          <a:prstGeom prst="rect">
            <a:avLst/>
          </a:prstGeom>
          <a:noFill/>
        </p:spPr>
        <p:txBody>
          <a:bodyPr wrap="none" rtlCol="0">
            <a:spAutoFit/>
          </a:bodyPr>
          <a:lstStyle/>
          <a:p>
            <a:pPr algn="ctr"/>
            <a:r>
              <a:rPr lang="en-US" altLang="zh-CN" sz="800" dirty="0"/>
              <a:t>B</a:t>
            </a:r>
            <a:endParaRPr lang="zh-CN" altLang="en-US" sz="800" dirty="0"/>
          </a:p>
        </p:txBody>
      </p:sp>
      <p:sp>
        <p:nvSpPr>
          <p:cNvPr id="50" name="文本框 49">
            <a:extLst>
              <a:ext uri="{FF2B5EF4-FFF2-40B4-BE49-F238E27FC236}">
                <a16:creationId xmlns:a16="http://schemas.microsoft.com/office/drawing/2014/main" id="{C2194285-B4DA-325F-68E7-D0AE03B10CCD}"/>
              </a:ext>
            </a:extLst>
          </p:cNvPr>
          <p:cNvSpPr txBox="1"/>
          <p:nvPr/>
        </p:nvSpPr>
        <p:spPr>
          <a:xfrm>
            <a:off x="4906276" y="2522511"/>
            <a:ext cx="269626" cy="215444"/>
          </a:xfrm>
          <a:prstGeom prst="rect">
            <a:avLst/>
          </a:prstGeom>
          <a:noFill/>
        </p:spPr>
        <p:txBody>
          <a:bodyPr wrap="none" rtlCol="0">
            <a:spAutoFit/>
          </a:bodyPr>
          <a:lstStyle/>
          <a:p>
            <a:pPr algn="ctr"/>
            <a:r>
              <a:rPr lang="en-US" altLang="zh-CN" sz="800" dirty="0"/>
              <a:t>D</a:t>
            </a:r>
            <a:endParaRPr lang="zh-CN" altLang="en-US" sz="800" dirty="0"/>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529182" y="3119600"/>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A</a:t>
            </a:r>
          </a:p>
        </p:txBody>
      </p:sp>
      <p:sp>
        <p:nvSpPr>
          <p:cNvPr id="28" name="Text Box 25"/>
          <p:cNvSpPr txBox="1">
            <a:spLocks noChangeArrowheads="1"/>
          </p:cNvSpPr>
          <p:nvPr/>
        </p:nvSpPr>
        <p:spPr bwMode="auto">
          <a:xfrm>
            <a:off x="7124919" y="3119600"/>
            <a:ext cx="25680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B</a:t>
            </a:r>
          </a:p>
        </p:txBody>
      </p:sp>
      <p:sp>
        <p:nvSpPr>
          <p:cNvPr id="31" name="Text Box 28"/>
          <p:cNvSpPr txBox="1">
            <a:spLocks noChangeArrowheads="1"/>
          </p:cNvSpPr>
          <p:nvPr/>
        </p:nvSpPr>
        <p:spPr bwMode="auto">
          <a:xfrm>
            <a:off x="4427487" y="2420344"/>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电信网</a:t>
            </a:r>
          </a:p>
        </p:txBody>
      </p:sp>
      <p:sp>
        <p:nvSpPr>
          <p:cNvPr id="36" name="Text Box 34"/>
          <p:cNvSpPr txBox="1">
            <a:spLocks noChangeArrowheads="1"/>
          </p:cNvSpPr>
          <p:nvPr/>
        </p:nvSpPr>
        <p:spPr bwMode="auto">
          <a:xfrm>
            <a:off x="4214951" y="4059820"/>
            <a:ext cx="530915" cy="230832"/>
          </a:xfrm>
          <a:prstGeom prst="rect">
            <a:avLst/>
          </a:prstGeom>
          <a:noFill/>
        </p:spPr>
        <p:txBody>
          <a:bodyPr wrap="none" rtlCol="0">
            <a:spAutoFit/>
          </a:bodyPr>
          <a:lstStyle>
            <a:defPPr>
              <a:defRPr lang="zh-CN"/>
            </a:defPPr>
            <a:lvl1pPr>
              <a:defRPr sz="1400"/>
            </a:lvl1pPr>
          </a:lstStyle>
          <a:p>
            <a:pPr algn="ctr"/>
            <a:r>
              <a:rPr lang="zh-CN" altLang="en-US" sz="900" dirty="0">
                <a:latin typeface="+mj-ea"/>
                <a:ea typeface="+mj-ea"/>
              </a:rPr>
              <a:t>中继线</a:t>
            </a:r>
          </a:p>
        </p:txBody>
      </p:sp>
      <p:sp>
        <p:nvSpPr>
          <p:cNvPr id="42" name="Text Box 40"/>
          <p:cNvSpPr txBox="1">
            <a:spLocks noChangeArrowheads="1"/>
          </p:cNvSpPr>
          <p:nvPr/>
        </p:nvSpPr>
        <p:spPr bwMode="auto">
          <a:xfrm>
            <a:off x="1781124" y="3877169"/>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sp>
        <p:nvSpPr>
          <p:cNvPr id="43" name="Text Box 41"/>
          <p:cNvSpPr txBox="1">
            <a:spLocks noChangeArrowheads="1"/>
          </p:cNvSpPr>
          <p:nvPr/>
        </p:nvSpPr>
        <p:spPr bwMode="auto">
          <a:xfrm>
            <a:off x="6640462" y="3869231"/>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grpSp>
        <p:nvGrpSpPr>
          <p:cNvPr id="44" name="Group 56"/>
          <p:cNvGrpSpPr/>
          <p:nvPr/>
        </p:nvGrpSpPr>
        <p:grpSpPr bwMode="auto">
          <a:xfrm flipH="1">
            <a:off x="6241899"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881793"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701139" y="2917892"/>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C</a:t>
            </a:r>
          </a:p>
        </p:txBody>
      </p:sp>
      <p:sp>
        <p:nvSpPr>
          <p:cNvPr id="64" name="Text Box 24"/>
          <p:cNvSpPr txBox="1">
            <a:spLocks noChangeArrowheads="1"/>
          </p:cNvSpPr>
          <p:nvPr/>
        </p:nvSpPr>
        <p:spPr bwMode="auto">
          <a:xfrm>
            <a:off x="3767147" y="2917892"/>
            <a:ext cx="279244"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D</a:t>
            </a:r>
          </a:p>
        </p:txBody>
      </p:sp>
      <p:sp>
        <p:nvSpPr>
          <p:cNvPr id="65" name="Text Box 24"/>
          <p:cNvSpPr txBox="1">
            <a:spLocks noChangeArrowheads="1"/>
          </p:cNvSpPr>
          <p:nvPr/>
        </p:nvSpPr>
        <p:spPr bwMode="auto">
          <a:xfrm>
            <a:off x="4853995" y="2917892"/>
            <a:ext cx="248786"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E</a:t>
            </a:r>
          </a:p>
        </p:txBody>
      </p:sp>
      <p:sp>
        <p:nvSpPr>
          <p:cNvPr id="66" name="Text Box 24"/>
          <p:cNvSpPr txBox="1">
            <a:spLocks noChangeArrowheads="1"/>
          </p:cNvSpPr>
          <p:nvPr/>
        </p:nvSpPr>
        <p:spPr bwMode="auto">
          <a:xfrm>
            <a:off x="5927217" y="2917892"/>
            <a:ext cx="245580"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F</a:t>
            </a:r>
          </a:p>
        </p:txBody>
      </p:sp>
      <p:sp>
        <p:nvSpPr>
          <p:cNvPr id="67" name="Line 26"/>
          <p:cNvSpPr>
            <a:spLocks noChangeShapeType="1"/>
          </p:cNvSpPr>
          <p:nvPr/>
        </p:nvSpPr>
        <p:spPr bwMode="auto">
          <a:xfrm>
            <a:off x="1749796" y="3174934"/>
            <a:ext cx="5400000" cy="0"/>
          </a:xfrm>
          <a:prstGeom prst="line">
            <a:avLst/>
          </a:prstGeom>
          <a:noFill/>
          <a:ln w="12700">
            <a:solidFill>
              <a:schemeClr val="tx1"/>
            </a:solidFill>
            <a:prstDash val="dash"/>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 name="立方体 3">
            <a:extLst>
              <a:ext uri="{FF2B5EF4-FFF2-40B4-BE49-F238E27FC236}">
                <a16:creationId xmlns:a16="http://schemas.microsoft.com/office/drawing/2014/main" id="{8A94D63A-C685-C789-0320-4AD3D88CE446}"/>
              </a:ext>
            </a:extLst>
          </p:cNvPr>
          <p:cNvSpPr/>
          <p:nvPr/>
        </p:nvSpPr>
        <p:spPr>
          <a:xfrm>
            <a:off x="2475150"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6" name="图片 5">
            <a:extLst>
              <a:ext uri="{FF2B5EF4-FFF2-40B4-BE49-F238E27FC236}">
                <a16:creationId xmlns:a16="http://schemas.microsoft.com/office/drawing/2014/main" id="{00D40AE6-44A4-C7DC-5415-D71D3BDBAF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00920" y="3344909"/>
            <a:ext cx="304800" cy="304800"/>
          </a:xfrm>
          <a:prstGeom prst="rect">
            <a:avLst/>
          </a:prstGeom>
        </p:spPr>
      </p:pic>
      <p:pic>
        <p:nvPicPr>
          <p:cNvPr id="9" name="图片 8">
            <a:extLst>
              <a:ext uri="{FF2B5EF4-FFF2-40B4-BE49-F238E27FC236}">
                <a16:creationId xmlns:a16="http://schemas.microsoft.com/office/drawing/2014/main" id="{F029053B-E175-63F0-E32E-FD3B17625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793" y="3353098"/>
            <a:ext cx="304800" cy="304800"/>
          </a:xfrm>
          <a:prstGeom prst="rect">
            <a:avLst/>
          </a:prstGeom>
        </p:spPr>
      </p:pic>
      <p:sp>
        <p:nvSpPr>
          <p:cNvPr id="11" name="立方体 10">
            <a:extLst>
              <a:ext uri="{FF2B5EF4-FFF2-40B4-BE49-F238E27FC236}">
                <a16:creationId xmlns:a16="http://schemas.microsoft.com/office/drawing/2014/main" id="{E021EA46-CDB8-7714-2AB8-0C8395159DD5}"/>
              </a:ext>
            </a:extLst>
          </p:cNvPr>
          <p:cNvSpPr/>
          <p:nvPr/>
        </p:nvSpPr>
        <p:spPr>
          <a:xfrm>
            <a:off x="3546769"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3" name="立方体 12">
            <a:extLst>
              <a:ext uri="{FF2B5EF4-FFF2-40B4-BE49-F238E27FC236}">
                <a16:creationId xmlns:a16="http://schemas.microsoft.com/office/drawing/2014/main" id="{1D54A589-97D1-3A3E-D5BA-581A4A290573}"/>
              </a:ext>
            </a:extLst>
          </p:cNvPr>
          <p:cNvSpPr/>
          <p:nvPr/>
        </p:nvSpPr>
        <p:spPr>
          <a:xfrm>
            <a:off x="4618388"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5" name="立方体 14">
            <a:extLst>
              <a:ext uri="{FF2B5EF4-FFF2-40B4-BE49-F238E27FC236}">
                <a16:creationId xmlns:a16="http://schemas.microsoft.com/office/drawing/2014/main" id="{40B3E368-584F-A6E5-CF14-6E97150F39A1}"/>
              </a:ext>
            </a:extLst>
          </p:cNvPr>
          <p:cNvSpPr/>
          <p:nvPr/>
        </p:nvSpPr>
        <p:spPr>
          <a:xfrm>
            <a:off x="5690007"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cxnSp>
        <p:nvCxnSpPr>
          <p:cNvPr id="33" name="直接连接符 32">
            <a:extLst>
              <a:ext uri="{FF2B5EF4-FFF2-40B4-BE49-F238E27FC236}">
                <a16:creationId xmlns:a16="http://schemas.microsoft.com/office/drawing/2014/main" id="{710C0520-B0EA-E95E-2970-BDC359889024}"/>
              </a:ext>
            </a:extLst>
          </p:cNvPr>
          <p:cNvCxnSpPr>
            <a:cxnSpLocks/>
            <a:stCxn id="36" idx="3"/>
          </p:cNvCxnSpPr>
          <p:nvPr/>
        </p:nvCxnSpPr>
        <p:spPr>
          <a:xfrm flipV="1">
            <a:off x="4745866" y="3489819"/>
            <a:ext cx="708447"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A48245E-5D63-496A-5B06-E523D1F85A03}"/>
              </a:ext>
            </a:extLst>
          </p:cNvPr>
          <p:cNvCxnSpPr>
            <a:cxnSpLocks/>
            <a:stCxn id="36" idx="0"/>
          </p:cNvCxnSpPr>
          <p:nvPr/>
        </p:nvCxnSpPr>
        <p:spPr>
          <a:xfrm flipV="1">
            <a:off x="4480409" y="3531006"/>
            <a:ext cx="0" cy="52881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D2B061CB-3FE9-FC4A-E9F8-AC2E1B85D8F1}"/>
              </a:ext>
            </a:extLst>
          </p:cNvPr>
          <p:cNvCxnSpPr>
            <a:cxnSpLocks/>
            <a:stCxn id="36" idx="1"/>
          </p:cNvCxnSpPr>
          <p:nvPr/>
        </p:nvCxnSpPr>
        <p:spPr>
          <a:xfrm flipH="1" flipV="1">
            <a:off x="3317549" y="3489819"/>
            <a:ext cx="897402"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036B83B8-49C6-9834-4F9F-0ED9237F49F9}"/>
              </a:ext>
            </a:extLst>
          </p:cNvPr>
          <p:cNvCxnSpPr>
            <a:cxnSpLocks/>
          </p:cNvCxnSpPr>
          <p:nvPr/>
        </p:nvCxnSpPr>
        <p:spPr>
          <a:xfrm flipH="1" flipV="1">
            <a:off x="6901982" y="3497428"/>
            <a:ext cx="3938"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7E0B941-6F21-E03B-99F4-5F47808D2890}"/>
              </a:ext>
            </a:extLst>
          </p:cNvPr>
          <p:cNvCxnSpPr>
            <a:cxnSpLocks/>
          </p:cNvCxnSpPr>
          <p:nvPr/>
        </p:nvCxnSpPr>
        <p:spPr>
          <a:xfrm flipH="1" flipV="1">
            <a:off x="2044612" y="3497428"/>
            <a:ext cx="197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5F71ECA-351F-0A1E-23C7-60F0208BEDA6}"/>
              </a:ext>
            </a:extLst>
          </p:cNvPr>
          <p:cNvCxnSpPr>
            <a:cxnSpLocks/>
            <a:stCxn id="4" idx="2"/>
            <a:endCxn id="9" idx="3"/>
          </p:cNvCxnSpPr>
          <p:nvPr/>
        </p:nvCxnSpPr>
        <p:spPr>
          <a:xfrm flipH="1">
            <a:off x="1815593" y="3501070"/>
            <a:ext cx="659557" cy="4428"/>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DD559E8A-1BA8-AD24-8CE4-2B5462E9DBC6}"/>
              </a:ext>
            </a:extLst>
          </p:cNvPr>
          <p:cNvCxnSpPr>
            <a:cxnSpLocks/>
            <a:stCxn id="6" idx="1"/>
            <a:endCxn id="15" idx="4"/>
          </p:cNvCxnSpPr>
          <p:nvPr/>
        </p:nvCxnSpPr>
        <p:spPr>
          <a:xfrm flipH="1">
            <a:off x="6338436" y="3497309"/>
            <a:ext cx="762484" cy="3761"/>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12700">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2700">
            <a:solidFill>
              <a:schemeClr val="tx1"/>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2700">
            <a:solidFill>
              <a:schemeClr val="tx1"/>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chemeClr val="tx1"/>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chemeClr val="tx1"/>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2228850" y="403553"/>
            <a:ext cx="6562725" cy="523220"/>
          </a:xfrm>
        </p:spPr>
        <p:txBody>
          <a:bodyPr/>
          <a:lstStyle/>
          <a:p>
            <a:r>
              <a:rPr lang="fr-FR" altLang="zh-CN" dirty="0"/>
              <a:t>1.5 </a:t>
            </a:r>
            <a:r>
              <a:rPr lang="zh-CN" altLang="zh-CN" dirty="0"/>
              <a:t>计算机网络的类别</a:t>
            </a:r>
            <a:endParaRPr lang="zh-CN" altLang="en-US" dirty="0"/>
          </a:p>
        </p:txBody>
      </p:sp>
      <p:sp>
        <p:nvSpPr>
          <p:cNvPr id="5" name="文本框 4">
            <a:extLst>
              <a:ext uri="{FF2B5EF4-FFF2-40B4-BE49-F238E27FC236}">
                <a16:creationId xmlns:a16="http://schemas.microsoft.com/office/drawing/2014/main" id="{2595A11E-7AE5-57C9-9788-9A15C1BDC052}"/>
              </a:ext>
            </a:extLst>
          </p:cNvPr>
          <p:cNvSpPr txBox="1"/>
          <p:nvPr/>
        </p:nvSpPr>
        <p:spPr>
          <a:xfrm>
            <a:off x="2990850" y="1462301"/>
            <a:ext cx="3390900" cy="646331"/>
          </a:xfrm>
          <a:prstGeom prst="rect">
            <a:avLst/>
          </a:prstGeom>
          <a:noFill/>
        </p:spPr>
        <p:txBody>
          <a:bodyPr wrap="square">
            <a:spAutoFit/>
          </a:bodyPr>
          <a:lstStyle/>
          <a:p>
            <a:r>
              <a:rPr lang="en-US" altLang="zh-CN" dirty="0"/>
              <a:t>1.5.1 </a:t>
            </a:r>
          </a:p>
          <a:p>
            <a:r>
              <a:rPr lang="zh-CN" altLang="zh-CN" dirty="0"/>
              <a:t>计算机网络的定义</a:t>
            </a:r>
            <a:endParaRPr lang="en-US" altLang="zh-CN" dirty="0"/>
          </a:p>
        </p:txBody>
      </p:sp>
      <p:sp>
        <p:nvSpPr>
          <p:cNvPr id="7" name="文本框 6">
            <a:extLst>
              <a:ext uri="{FF2B5EF4-FFF2-40B4-BE49-F238E27FC236}">
                <a16:creationId xmlns:a16="http://schemas.microsoft.com/office/drawing/2014/main" id="{A7658569-E310-447D-455A-5C54A23A386C}"/>
              </a:ext>
            </a:extLst>
          </p:cNvPr>
          <p:cNvSpPr txBox="1"/>
          <p:nvPr/>
        </p:nvSpPr>
        <p:spPr>
          <a:xfrm>
            <a:off x="4291013" y="2571750"/>
            <a:ext cx="3390900" cy="646331"/>
          </a:xfrm>
          <a:prstGeom prst="rect">
            <a:avLst/>
          </a:prstGeom>
          <a:noFill/>
        </p:spPr>
        <p:txBody>
          <a:bodyPr wrap="square">
            <a:spAutoFit/>
          </a:bodyPr>
          <a:lstStyle/>
          <a:p>
            <a:r>
              <a:rPr lang="en-US" altLang="zh-CN" dirty="0"/>
              <a:t>1.5.2 </a:t>
            </a:r>
          </a:p>
          <a:p>
            <a:r>
              <a:rPr lang="zh-CN" altLang="zh-CN" dirty="0"/>
              <a:t>几种不同类别的</a:t>
            </a:r>
            <a:r>
              <a:rPr lang="zh-CN" altLang="en-US" dirty="0"/>
              <a:t>计算机</a:t>
            </a:r>
            <a:r>
              <a:rPr lang="zh-CN" altLang="zh-CN" dirty="0"/>
              <a:t>网络</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dirty="0">
                    <a:latin typeface="+mj-lt"/>
                    <a:ea typeface="+mj-ea"/>
                  </a:rPr>
                  <a:t>本地</a:t>
                </a:r>
                <a:r>
                  <a:rPr lang="en-US" altLang="zh-CN" sz="1100" dirty="0">
                    <a:latin typeface="+mj-lt"/>
                    <a:ea typeface="+mj-ea"/>
                  </a:rPr>
                  <a:t>ISP</a:t>
                </a:r>
                <a:endParaRPr lang="zh-CN" altLang="en-US" sz="1100" dirty="0">
                  <a:latin typeface="+mj-lt"/>
                  <a:ea typeface="+mj-ea"/>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dirty="0">
                      <a:solidFill>
                        <a:schemeClr val="bg1"/>
                      </a:solidFill>
                      <a:latin typeface="+mj-lt"/>
                      <a:ea typeface="+mj-ea"/>
                    </a:rPr>
                    <a:t>接入网 </a:t>
                  </a: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5318781"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2228850" y="403553"/>
            <a:ext cx="6562725" cy="523220"/>
          </a:xfrm>
        </p:spPr>
        <p:txBody>
          <a:bodyPr/>
          <a:lstStyle/>
          <a:p>
            <a:r>
              <a:rPr lang="fr-FR" altLang="zh-CN" dirty="0"/>
              <a:t>1.6 </a:t>
            </a:r>
            <a:r>
              <a:rPr lang="zh-CN" altLang="zh-CN" dirty="0"/>
              <a:t>计算机网络的性能</a:t>
            </a:r>
            <a:endParaRPr lang="zh-CN" altLang="en-US" dirty="0"/>
          </a:p>
        </p:txBody>
      </p:sp>
      <p:sp>
        <p:nvSpPr>
          <p:cNvPr id="6" name="文本框 5">
            <a:extLst>
              <a:ext uri="{FF2B5EF4-FFF2-40B4-BE49-F238E27FC236}">
                <a16:creationId xmlns:a16="http://schemas.microsoft.com/office/drawing/2014/main" id="{9D6F82DE-9EC0-700B-D20A-E6A1187DBAA6}"/>
              </a:ext>
            </a:extLst>
          </p:cNvPr>
          <p:cNvSpPr txBox="1"/>
          <p:nvPr/>
        </p:nvSpPr>
        <p:spPr>
          <a:xfrm>
            <a:off x="3133725" y="1339562"/>
            <a:ext cx="4572000" cy="646331"/>
          </a:xfrm>
          <a:prstGeom prst="rect">
            <a:avLst/>
          </a:prstGeom>
          <a:noFill/>
        </p:spPr>
        <p:txBody>
          <a:bodyPr wrap="square">
            <a:spAutoFit/>
          </a:bodyPr>
          <a:lstStyle/>
          <a:p>
            <a:r>
              <a:rPr lang="en-US" altLang="zh-CN" dirty="0"/>
              <a:t>1.6.1 </a:t>
            </a:r>
          </a:p>
          <a:p>
            <a:r>
              <a:rPr lang="zh-CN" altLang="zh-CN" dirty="0"/>
              <a:t>计算机网络的性能指标</a:t>
            </a:r>
            <a:endParaRPr lang="en-US" altLang="zh-CN" dirty="0"/>
          </a:p>
        </p:txBody>
      </p:sp>
      <p:sp>
        <p:nvSpPr>
          <p:cNvPr id="7" name="文本框 6">
            <a:extLst>
              <a:ext uri="{FF2B5EF4-FFF2-40B4-BE49-F238E27FC236}">
                <a16:creationId xmlns:a16="http://schemas.microsoft.com/office/drawing/2014/main" id="{F192A474-BE79-4A73-F38E-F8620E9C359E}"/>
              </a:ext>
            </a:extLst>
          </p:cNvPr>
          <p:cNvSpPr txBox="1"/>
          <p:nvPr/>
        </p:nvSpPr>
        <p:spPr>
          <a:xfrm>
            <a:off x="3971925" y="2457450"/>
            <a:ext cx="4572000" cy="646331"/>
          </a:xfrm>
          <a:prstGeom prst="rect">
            <a:avLst/>
          </a:prstGeom>
          <a:noFill/>
        </p:spPr>
        <p:txBody>
          <a:bodyPr wrap="square">
            <a:spAutoFit/>
          </a:bodyPr>
          <a:lstStyle/>
          <a:p>
            <a:r>
              <a:rPr lang="en-US" altLang="zh-CN" dirty="0"/>
              <a:t>1.6.2 </a:t>
            </a:r>
          </a:p>
          <a:p>
            <a:r>
              <a:rPr lang="zh-CN" altLang="zh-CN" dirty="0"/>
              <a:t>计算机网络的非性能特征</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324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1947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31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15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3999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289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2973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657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2988000"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800" b="1" dirty="0">
              <a:latin typeface="+mn-lt"/>
              <a:ea typeface="微软雅黑 Light" panose="020B0502040204020203" pitchFamily="34" charset="-122"/>
            </a:endParaRPr>
          </a:p>
        </p:txBody>
      </p:sp>
      <p:sp>
        <p:nvSpPr>
          <p:cNvPr id="108555" name="Oval 10"/>
          <p:cNvSpPr>
            <a:spLocks noChangeArrowheads="1"/>
          </p:cNvSpPr>
          <p:nvPr/>
        </p:nvSpPr>
        <p:spPr bwMode="auto">
          <a:xfrm>
            <a:off x="5945709"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8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239586" y="3063960"/>
            <a:ext cx="720000" cy="108000"/>
          </a:xfrm>
          <a:prstGeom prst="rightArrow">
            <a:avLst>
              <a:gd name="adj1" fmla="val 50000"/>
              <a:gd name="adj2" fmla="val 178219"/>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26240" y="3063960"/>
            <a:ext cx="720000" cy="108000"/>
          </a:xfrm>
          <a:prstGeom prst="rightArrow">
            <a:avLst>
              <a:gd name="adj1" fmla="val 50000"/>
              <a:gd name="adj2" fmla="val 178436"/>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5459566" y="3059198"/>
            <a:ext cx="720000" cy="108000"/>
          </a:xfrm>
          <a:prstGeom prst="rightArrow">
            <a:avLst>
              <a:gd name="adj1" fmla="val 50000"/>
              <a:gd name="adj2" fmla="val 180730"/>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135738" y="3452601"/>
            <a:ext cx="78299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Emitter</a:t>
            </a:r>
            <a:endParaRPr lang="zh-CN" altLang="en-US" sz="800" dirty="0"/>
          </a:p>
        </p:txBody>
      </p:sp>
      <p:sp>
        <p:nvSpPr>
          <p:cNvPr id="108565" name="Text Box 34"/>
          <p:cNvSpPr txBox="1">
            <a:spLocks noChangeArrowheads="1"/>
          </p:cNvSpPr>
          <p:nvPr/>
        </p:nvSpPr>
        <p:spPr bwMode="auto">
          <a:xfrm>
            <a:off x="2269689" y="3230780"/>
            <a:ext cx="7848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sz="800" dirty="0">
                <a:solidFill>
                  <a:sysClr val="windowText" lastClr="000000"/>
                </a:solidFill>
                <a:latin typeface="+mj-lt"/>
              </a:rPr>
              <a:t>Queue</a:t>
            </a:r>
            <a:endParaRPr lang="zh-CN" altLang="en-US" sz="800" dirty="0">
              <a:solidFill>
                <a:sysClr val="windowText" lastClr="000000"/>
              </a:solidFill>
              <a:latin typeface="+mj-lt"/>
            </a:endParaRPr>
          </a:p>
        </p:txBody>
      </p:sp>
      <p:sp>
        <p:nvSpPr>
          <p:cNvPr id="27" name="Text Box 36"/>
          <p:cNvSpPr txBox="1">
            <a:spLocks noChangeArrowheads="1"/>
          </p:cNvSpPr>
          <p:nvPr/>
        </p:nvSpPr>
        <p:spPr bwMode="auto">
          <a:xfrm>
            <a:off x="4400121" y="2031384"/>
            <a:ext cx="1080000" cy="203133"/>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传播时延</a:t>
            </a:r>
          </a:p>
        </p:txBody>
      </p:sp>
      <p:sp>
        <p:nvSpPr>
          <p:cNvPr id="108567" name="Text Box 37"/>
          <p:cNvSpPr txBox="1">
            <a:spLocks noChangeArrowheads="1"/>
          </p:cNvSpPr>
          <p:nvPr/>
        </p:nvSpPr>
        <p:spPr bwMode="auto">
          <a:xfrm>
            <a:off x="6023578"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 B</a:t>
            </a:r>
          </a:p>
        </p:txBody>
      </p:sp>
      <p:sp>
        <p:nvSpPr>
          <p:cNvPr id="108568" name="Text Box 38"/>
          <p:cNvSpPr txBox="1">
            <a:spLocks noChangeArrowheads="1"/>
          </p:cNvSpPr>
          <p:nvPr/>
        </p:nvSpPr>
        <p:spPr bwMode="auto">
          <a:xfrm>
            <a:off x="2200403"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a:t>
            </a:r>
            <a:r>
              <a:rPr lang="zh-CN" altLang="en-US" sz="800" dirty="0"/>
              <a:t> </a:t>
            </a:r>
            <a:r>
              <a:rPr lang="en-US" altLang="zh-CN" sz="800" dirty="0"/>
              <a:t>A</a:t>
            </a:r>
          </a:p>
        </p:txBody>
      </p:sp>
      <p:sp>
        <p:nvSpPr>
          <p:cNvPr id="31" name="Text Box 24"/>
          <p:cNvSpPr txBox="1">
            <a:spLocks noChangeArrowheads="1"/>
          </p:cNvSpPr>
          <p:nvPr/>
        </p:nvSpPr>
        <p:spPr bwMode="auto">
          <a:xfrm>
            <a:off x="2685040" y="2282223"/>
            <a:ext cx="936000"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148425" y="1964846"/>
            <a:ext cx="1800493"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处理时延和排队时延</a:t>
            </a:r>
          </a:p>
        </p:txBody>
      </p:sp>
      <p:sp>
        <p:nvSpPr>
          <p:cNvPr id="108572" name="Text Box 46"/>
          <p:cNvSpPr txBox="1">
            <a:spLocks noChangeArrowheads="1"/>
          </p:cNvSpPr>
          <p:nvPr/>
        </p:nvSpPr>
        <p:spPr bwMode="auto">
          <a:xfrm>
            <a:off x="1792192"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241495" y="3237157"/>
            <a:ext cx="12682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Link/Channel</a:t>
            </a:r>
            <a:endParaRPr lang="zh-CN" altLang="en-US" sz="800"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a:cxnSpLocks/>
          </p:cNvCxnSpPr>
          <p:nvPr/>
        </p:nvCxnSpPr>
        <p:spPr>
          <a:xfrm>
            <a:off x="3069925"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a:cxnSpLocks/>
          </p:cNvCxnSpPr>
          <p:nvPr/>
        </p:nvCxnSpPr>
        <p:spPr>
          <a:xfrm>
            <a:off x="5952429"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a:cxnSpLocks/>
          </p:cNvCxnSpPr>
          <p:nvPr/>
        </p:nvCxnSpPr>
        <p:spPr>
          <a:xfrm>
            <a:off x="3069925" y="2889657"/>
            <a:ext cx="2880000" cy="0"/>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163910"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63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4740085" y="2247893"/>
            <a:ext cx="0" cy="648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239586"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5525518"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401322" y="3189880"/>
            <a:ext cx="2664000" cy="0"/>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pPr fontAlgn="auto">
              <a:spcBef>
                <a:spcPts val="0"/>
              </a:spcBef>
              <a:spcAft>
                <a:spcPts val="0"/>
              </a:spcAft>
              <a:defRPr/>
            </a:pPr>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138283" y="2984154"/>
            <a:ext cx="1210588" cy="215444"/>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800" dirty="0">
                <a:latin typeface="+mn-ea"/>
                <a:ea typeface="+mn-ea"/>
              </a:rPr>
              <a:t>传播时延（管道长度）</a:t>
            </a:r>
          </a:p>
        </p:txBody>
      </p:sp>
      <p:sp>
        <p:nvSpPr>
          <p:cNvPr id="8" name="Text Box 40"/>
          <p:cNvSpPr txBox="1">
            <a:spLocks noChangeArrowheads="1"/>
          </p:cNvSpPr>
          <p:nvPr/>
        </p:nvSpPr>
        <p:spPr bwMode="auto">
          <a:xfrm>
            <a:off x="3232917" y="3390211"/>
            <a:ext cx="82426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800" dirty="0">
                <a:solidFill>
                  <a:schemeClr val="bg1"/>
                </a:solidFill>
                <a:latin typeface="微软雅黑" pitchFamily="34" charset="-122"/>
                <a:ea typeface="微软雅黑" pitchFamily="34" charset="-122"/>
              </a:rPr>
              <a:t>Link/Channel</a:t>
            </a:r>
            <a:endParaRPr lang="zh-CN" altLang="en-US" sz="8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408822" y="2955159"/>
            <a:ext cx="902811" cy="338554"/>
          </a:xfrm>
          <a:prstGeom prst="rect">
            <a:avLst/>
          </a:prstGeom>
          <a:noFill/>
        </p:spPr>
        <p:txBody>
          <a:bodyPr wrap="none" rtlCol="0">
            <a:spAutoFit/>
          </a:bodyPr>
          <a:lstStyle/>
          <a:p>
            <a:pPr algn="ctr"/>
            <a:r>
              <a:rPr lang="zh-CN" altLang="en-US" sz="800" dirty="0">
                <a:latin typeface="+mn-ea"/>
              </a:rPr>
              <a:t>带宽</a:t>
            </a:r>
          </a:p>
          <a:p>
            <a:pPr algn="ctr"/>
            <a:r>
              <a:rPr lang="zh-CN" altLang="en-US" sz="800" dirty="0">
                <a:latin typeface="+mn-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cxnSp>
        <p:nvCxnSpPr>
          <p:cNvPr id="9" name="直接连接符 8">
            <a:extLst>
              <a:ext uri="{FF2B5EF4-FFF2-40B4-BE49-F238E27FC236}">
                <a16:creationId xmlns:a16="http://schemas.microsoft.com/office/drawing/2014/main" id="{949F98CF-03CC-A778-40FF-16598B3365A1}"/>
              </a:ext>
            </a:extLst>
          </p:cNvPr>
          <p:cNvCxnSpPr>
            <a:cxnSpLocks/>
          </p:cNvCxnSpPr>
          <p:nvPr/>
        </p:nvCxnSpPr>
        <p:spPr>
          <a:xfrm>
            <a:off x="5059961"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D61C9DFE-A20A-046F-6A14-1EE598ADFD84}"/>
              </a:ext>
            </a:extLst>
          </p:cNvPr>
          <p:cNvCxnSpPr>
            <a:cxnSpLocks/>
          </p:cNvCxnSpPr>
          <p:nvPr/>
        </p:nvCxnSpPr>
        <p:spPr>
          <a:xfrm>
            <a:off x="2388475"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33048" y="2052667"/>
            <a:ext cx="559769"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A</a:t>
            </a:r>
          </a:p>
        </p:txBody>
      </p:sp>
      <p:sp>
        <p:nvSpPr>
          <p:cNvPr id="24" name="矩形 23"/>
          <p:cNvSpPr/>
          <p:nvPr/>
        </p:nvSpPr>
        <p:spPr>
          <a:xfrm>
            <a:off x="7828430" y="2052667"/>
            <a:ext cx="551753"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B</a:t>
            </a:r>
          </a:p>
        </p:txBody>
      </p:sp>
      <p:sp>
        <p:nvSpPr>
          <p:cNvPr id="7" name="平行四边形 6"/>
          <p:cNvSpPr/>
          <p:nvPr/>
        </p:nvSpPr>
        <p:spPr>
          <a:xfrm rot="900000" flipV="1">
            <a:off x="6421983" y="2742056"/>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507533"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109912"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455407" y="3854495"/>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050750" y="2855844"/>
            <a:ext cx="433132" cy="215444"/>
          </a:xfrm>
          <a:prstGeom prst="rect">
            <a:avLst/>
          </a:prstGeom>
        </p:spPr>
        <p:txBody>
          <a:bodyPr wrap="none">
            <a:spAutoFit/>
          </a:bodyPr>
          <a:lstStyle/>
          <a:p>
            <a:r>
              <a:rPr lang="en-US" altLang="zh-CN" sz="800" dirty="0"/>
              <a:t>Data</a:t>
            </a:r>
          </a:p>
        </p:txBody>
      </p:sp>
      <p:sp>
        <p:nvSpPr>
          <p:cNvPr id="27" name="矩形 26"/>
          <p:cNvSpPr/>
          <p:nvPr/>
        </p:nvSpPr>
        <p:spPr>
          <a:xfrm rot="20641677">
            <a:off x="7082272" y="3843557"/>
            <a:ext cx="405880" cy="215444"/>
          </a:xfrm>
          <a:prstGeom prst="rect">
            <a:avLst/>
          </a:prstGeom>
        </p:spPr>
        <p:txBody>
          <a:bodyPr wrap="none">
            <a:spAutoFit/>
          </a:bodyPr>
          <a:lstStyle/>
          <a:p>
            <a:r>
              <a:rPr lang="en-US" altLang="zh-CN" sz="800" dirty="0"/>
              <a:t>ACK</a:t>
            </a:r>
          </a:p>
        </p:txBody>
      </p:sp>
      <p:cxnSp>
        <p:nvCxnSpPr>
          <p:cNvPr id="29" name="直接箭头连接符 28"/>
          <p:cNvCxnSpPr/>
          <p:nvPr/>
        </p:nvCxnSpPr>
        <p:spPr>
          <a:xfrm>
            <a:off x="6285468" y="2520013"/>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6285468" y="2964681"/>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6285468" y="3428248"/>
            <a:ext cx="0" cy="82217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5937128" y="2981567"/>
            <a:ext cx="0" cy="1268857"/>
          </a:xfrm>
          <a:prstGeom prst="straightConnector1">
            <a:avLst/>
          </a:prstGeom>
          <a:ln w="1270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8345047" y="3416734"/>
            <a:ext cx="0" cy="220199"/>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a:off x="8345047" y="3636933"/>
            <a:ext cx="0" cy="18936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ln w="12700">
            <a:no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270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108488" y="2847986"/>
            <a:ext cx="290058" cy="1077218"/>
          </a:xfrm>
          <a:prstGeom prst="rect">
            <a:avLst/>
          </a:prstGeom>
        </p:spPr>
        <p:txBody>
          <a:bodyPr wrap="square">
            <a:spAutoFit/>
          </a:bodyPr>
          <a:lstStyle/>
          <a:p>
            <a:r>
              <a:rPr kumimoji="1" lang="zh-CN" altLang="en-US" sz="800" dirty="0">
                <a:latin typeface="+mn-ea"/>
              </a:rPr>
              <a:t>成功发送的总时延</a:t>
            </a:r>
            <a:endParaRPr kumimoji="1" lang="en-US" altLang="zh-CN" sz="800" dirty="0">
              <a:latin typeface="+mn-ea"/>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grpSp>
        <p:nvGrpSpPr>
          <p:cNvPr id="2" name="组合 1">
            <a:extLst>
              <a:ext uri="{FF2B5EF4-FFF2-40B4-BE49-F238E27FC236}">
                <a16:creationId xmlns:a16="http://schemas.microsoft.com/office/drawing/2014/main" id="{01DE9C49-5C13-8278-286E-F9C92701E8FA}"/>
              </a:ext>
            </a:extLst>
          </p:cNvPr>
          <p:cNvGrpSpPr/>
          <p:nvPr/>
        </p:nvGrpSpPr>
        <p:grpSpPr>
          <a:xfrm>
            <a:off x="2875397" y="1063181"/>
            <a:ext cx="3393207" cy="554633"/>
            <a:chOff x="3363862" y="1063181"/>
            <a:chExt cx="3393207" cy="554633"/>
          </a:xfrm>
        </p:grpSpPr>
        <p:sp>
          <p:nvSpPr>
            <p:cNvPr id="3" name="椭圆 2">
              <a:extLst>
                <a:ext uri="{FF2B5EF4-FFF2-40B4-BE49-F238E27FC236}">
                  <a16:creationId xmlns:a16="http://schemas.microsoft.com/office/drawing/2014/main" id="{83A1DB83-9EA6-D64B-DA62-9725C385BA6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4" name="椭圆 3">
              <a:extLst>
                <a:ext uri="{FF2B5EF4-FFF2-40B4-BE49-F238E27FC236}">
                  <a16:creationId xmlns:a16="http://schemas.microsoft.com/office/drawing/2014/main" id="{61E1C2A0-E98C-47B1-232D-6A589B853A22}"/>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5" name="直接连接符 4">
              <a:extLst>
                <a:ext uri="{FF2B5EF4-FFF2-40B4-BE49-F238E27FC236}">
                  <a16:creationId xmlns:a16="http://schemas.microsoft.com/office/drawing/2014/main" id="{3A3D3487-89EC-203F-8526-17E2155F477A}"/>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4582E8F8-EDE9-2389-5965-3D8BBDCD6553}"/>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C7680AB4-E636-339B-3192-48DA89DB8145}"/>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7" name="Text Box 38">
              <a:extLst>
                <a:ext uri="{FF2B5EF4-FFF2-40B4-BE49-F238E27FC236}">
                  <a16:creationId xmlns:a16="http://schemas.microsoft.com/office/drawing/2014/main" id="{421A0ED8-4627-8FDA-89D5-9494FCE5C308}"/>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8" name="文本框 17">
              <a:extLst>
                <a:ext uri="{FF2B5EF4-FFF2-40B4-BE49-F238E27FC236}">
                  <a16:creationId xmlns:a16="http://schemas.microsoft.com/office/drawing/2014/main" id="{A0DC19FD-29FD-565F-CDE7-D26CD347657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grpSp>
        <p:nvGrpSpPr>
          <p:cNvPr id="2" name="组合 1">
            <a:extLst>
              <a:ext uri="{FF2B5EF4-FFF2-40B4-BE49-F238E27FC236}">
                <a16:creationId xmlns:a16="http://schemas.microsoft.com/office/drawing/2014/main" id="{73299EB7-584D-D30F-729F-D956CE137120}"/>
              </a:ext>
            </a:extLst>
          </p:cNvPr>
          <p:cNvGrpSpPr/>
          <p:nvPr/>
        </p:nvGrpSpPr>
        <p:grpSpPr>
          <a:xfrm>
            <a:off x="2875397" y="1063181"/>
            <a:ext cx="3393207" cy="554633"/>
            <a:chOff x="3363862" y="1063181"/>
            <a:chExt cx="3393207" cy="554633"/>
          </a:xfrm>
        </p:grpSpPr>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4" name="椭圆 3">
            <a:extLst>
              <a:ext uri="{FF2B5EF4-FFF2-40B4-BE49-F238E27FC236}">
                <a16:creationId xmlns:a16="http://schemas.microsoft.com/office/drawing/2014/main" id="{3E5514DB-87D8-5410-1755-5B70AC388225}"/>
              </a:ext>
            </a:extLst>
          </p:cNvPr>
          <p:cNvSpPr/>
          <p:nvPr/>
        </p:nvSpPr>
        <p:spPr>
          <a:xfrm>
            <a:off x="3022641" y="3253878"/>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a:extLst>
              <a:ext uri="{FF2B5EF4-FFF2-40B4-BE49-F238E27FC236}">
                <a16:creationId xmlns:a16="http://schemas.microsoft.com/office/drawing/2014/main" id="{34D3F40E-915E-65AA-C1BA-344341739984}"/>
              </a:ext>
            </a:extLst>
          </p:cNvPr>
          <p:cNvSpPr/>
          <p:nvPr/>
        </p:nvSpPr>
        <p:spPr>
          <a:xfrm>
            <a:off x="5834098" y="3253878"/>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6" name="直接连接符 5">
            <a:extLst>
              <a:ext uri="{FF2B5EF4-FFF2-40B4-BE49-F238E27FC236}">
                <a16:creationId xmlns:a16="http://schemas.microsoft.com/office/drawing/2014/main" id="{AD745AD2-B704-D849-BF74-7649E1D6A586}"/>
              </a:ext>
            </a:extLst>
          </p:cNvPr>
          <p:cNvCxnSpPr>
            <a:cxnSpLocks/>
          </p:cNvCxnSpPr>
          <p:nvPr/>
        </p:nvCxnSpPr>
        <p:spPr>
          <a:xfrm>
            <a:off x="3238641" y="3361878"/>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a:extLst>
              <a:ext uri="{FF2B5EF4-FFF2-40B4-BE49-F238E27FC236}">
                <a16:creationId xmlns:a16="http://schemas.microsoft.com/office/drawing/2014/main" id="{DB11F54C-F6B7-F5BD-1C3A-DBBA5D1807F8}"/>
              </a:ext>
            </a:extLst>
          </p:cNvPr>
          <p:cNvSpPr txBox="1">
            <a:spLocks noChangeArrowheads="1"/>
          </p:cNvSpPr>
          <p:nvPr/>
        </p:nvSpPr>
        <p:spPr bwMode="auto">
          <a:xfrm>
            <a:off x="5700821" y="3439602"/>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0" name="Text Box 38">
            <a:extLst>
              <a:ext uri="{FF2B5EF4-FFF2-40B4-BE49-F238E27FC236}">
                <a16:creationId xmlns:a16="http://schemas.microsoft.com/office/drawing/2014/main" id="{A3A15DE1-C5B8-8E27-AD3F-A060B1509BA8}"/>
              </a:ext>
            </a:extLst>
          </p:cNvPr>
          <p:cNvSpPr txBox="1">
            <a:spLocks noChangeArrowheads="1"/>
          </p:cNvSpPr>
          <p:nvPr/>
        </p:nvSpPr>
        <p:spPr bwMode="auto">
          <a:xfrm>
            <a:off x="2875397" y="3439602"/>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752505"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46369"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140233"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a:extLst>
              <a:ext uri="{FF2B5EF4-FFF2-40B4-BE49-F238E27FC236}">
                <a16:creationId xmlns:a16="http://schemas.microsoft.com/office/drawing/2014/main" id="{3460372A-B6AD-6FF0-A3D9-F39F85BD4D35}"/>
              </a:ext>
            </a:extLst>
          </p:cNvPr>
          <p:cNvSpPr/>
          <p:nvPr/>
        </p:nvSpPr>
        <p:spPr>
          <a:xfrm>
            <a:off x="3022641" y="3928354"/>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7" name="椭圆 6">
            <a:extLst>
              <a:ext uri="{FF2B5EF4-FFF2-40B4-BE49-F238E27FC236}">
                <a16:creationId xmlns:a16="http://schemas.microsoft.com/office/drawing/2014/main" id="{0A966188-8E78-1CEC-150E-6E1E8F32D66C}"/>
              </a:ext>
            </a:extLst>
          </p:cNvPr>
          <p:cNvSpPr/>
          <p:nvPr/>
        </p:nvSpPr>
        <p:spPr>
          <a:xfrm>
            <a:off x="5834098" y="3928354"/>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1" name="直接连接符 10">
            <a:extLst>
              <a:ext uri="{FF2B5EF4-FFF2-40B4-BE49-F238E27FC236}">
                <a16:creationId xmlns:a16="http://schemas.microsoft.com/office/drawing/2014/main" id="{0CCAC8C0-A5B9-E0F5-DFA7-4F037CD430B0}"/>
              </a:ext>
            </a:extLst>
          </p:cNvPr>
          <p:cNvCxnSpPr>
            <a:cxnSpLocks/>
          </p:cNvCxnSpPr>
          <p:nvPr/>
        </p:nvCxnSpPr>
        <p:spPr>
          <a:xfrm>
            <a:off x="3238641" y="4036354"/>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Box 37">
            <a:extLst>
              <a:ext uri="{FF2B5EF4-FFF2-40B4-BE49-F238E27FC236}">
                <a16:creationId xmlns:a16="http://schemas.microsoft.com/office/drawing/2014/main" id="{D67B9F4B-7E15-1835-775E-59B62A484AA0}"/>
              </a:ext>
            </a:extLst>
          </p:cNvPr>
          <p:cNvSpPr txBox="1">
            <a:spLocks noChangeArrowheads="1"/>
          </p:cNvSpPr>
          <p:nvPr/>
        </p:nvSpPr>
        <p:spPr bwMode="auto">
          <a:xfrm>
            <a:off x="5720859" y="4114078"/>
            <a:ext cx="527709" cy="215444"/>
          </a:xfrm>
          <a:prstGeom prst="rect">
            <a:avLst/>
          </a:prstGeom>
          <a:noFill/>
        </p:spPr>
        <p:txBody>
          <a:bodyPr wrap="none" rtlCol="0">
            <a:spAutoFit/>
          </a:bodyPr>
          <a:lstStyle>
            <a:defPPr>
              <a:defRPr lang="zh-CN"/>
            </a:defPPr>
            <a:lvl1pPr algn="ctr">
              <a:defRPr sz="1400"/>
            </a:lvl1pPr>
          </a:lstStyle>
          <a:p>
            <a:r>
              <a:rPr lang="en-US" altLang="zh-CN" sz="800" dirty="0"/>
              <a:t>Host</a:t>
            </a:r>
            <a:r>
              <a:rPr lang="zh-CN" altLang="en-US" sz="800" dirty="0"/>
              <a:t> </a:t>
            </a:r>
            <a:r>
              <a:rPr lang="en-US" altLang="zh-CN" sz="800" dirty="0"/>
              <a:t>B</a:t>
            </a:r>
          </a:p>
        </p:txBody>
      </p:sp>
      <p:sp>
        <p:nvSpPr>
          <p:cNvPr id="13" name="Text Box 38">
            <a:extLst>
              <a:ext uri="{FF2B5EF4-FFF2-40B4-BE49-F238E27FC236}">
                <a16:creationId xmlns:a16="http://schemas.microsoft.com/office/drawing/2014/main" id="{EFB08BA2-12CE-57E9-7123-BA73CD8E6E8E}"/>
              </a:ext>
            </a:extLst>
          </p:cNvPr>
          <p:cNvSpPr txBox="1">
            <a:spLocks noChangeArrowheads="1"/>
          </p:cNvSpPr>
          <p:nvPr/>
        </p:nvSpPr>
        <p:spPr bwMode="auto">
          <a:xfrm>
            <a:off x="2895435" y="4114078"/>
            <a:ext cx="524503" cy="215444"/>
          </a:xfrm>
          <a:prstGeom prst="rect">
            <a:avLst/>
          </a:prstGeom>
          <a:noFill/>
        </p:spPr>
        <p:txBody>
          <a:bodyPr wrap="none" rtlCol="0">
            <a:spAutoFit/>
          </a:bodyPr>
          <a:lstStyle>
            <a:defPPr>
              <a:defRPr lang="zh-CN"/>
            </a:defPPr>
            <a:lvl1pPr algn="ctr">
              <a:defRPr sz="1400"/>
            </a:lvl1pPr>
          </a:lstStyle>
          <a:p>
            <a:r>
              <a:rPr lang="en-US" altLang="zh-CN" sz="800" dirty="0"/>
              <a:t>Host</a:t>
            </a:r>
            <a:r>
              <a:rPr lang="zh-CN" altLang="en-US" sz="800" dirty="0"/>
              <a:t> </a:t>
            </a:r>
            <a:r>
              <a:rPr lang="en-US" altLang="zh-CN" sz="800" dirty="0"/>
              <a:t>A</a:t>
            </a:r>
          </a:p>
        </p:txBody>
      </p:sp>
      <p:sp>
        <p:nvSpPr>
          <p:cNvPr id="14" name="椭圆 13">
            <a:extLst>
              <a:ext uri="{FF2B5EF4-FFF2-40B4-BE49-F238E27FC236}">
                <a16:creationId xmlns:a16="http://schemas.microsoft.com/office/drawing/2014/main" id="{89CC3C47-8260-9941-134A-3A15B3BDA844}"/>
              </a:ext>
            </a:extLst>
          </p:cNvPr>
          <p:cNvSpPr/>
          <p:nvPr/>
        </p:nvSpPr>
        <p:spPr>
          <a:xfrm>
            <a:off x="4007793" y="3964354"/>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AA2CE102-66E9-15E3-E018-7844CA28ED96}"/>
              </a:ext>
            </a:extLst>
          </p:cNvPr>
          <p:cNvSpPr/>
          <p:nvPr/>
        </p:nvSpPr>
        <p:spPr>
          <a:xfrm>
            <a:off x="4920945" y="3964354"/>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38">
            <a:extLst>
              <a:ext uri="{FF2B5EF4-FFF2-40B4-BE49-F238E27FC236}">
                <a16:creationId xmlns:a16="http://schemas.microsoft.com/office/drawing/2014/main" id="{92C2FD83-31AE-3953-3C3E-E4654D0330B6}"/>
              </a:ext>
            </a:extLst>
          </p:cNvPr>
          <p:cNvSpPr txBox="1">
            <a:spLocks noChangeArrowheads="1"/>
          </p:cNvSpPr>
          <p:nvPr/>
        </p:nvSpPr>
        <p:spPr bwMode="auto">
          <a:xfrm>
            <a:off x="3782207" y="4114078"/>
            <a:ext cx="596638" cy="215444"/>
          </a:xfrm>
          <a:prstGeom prst="rect">
            <a:avLst/>
          </a:prstGeom>
          <a:noFill/>
        </p:spPr>
        <p:txBody>
          <a:bodyPr wrap="none" rtlCol="0">
            <a:spAutoFit/>
          </a:bodyPr>
          <a:lstStyle>
            <a:defPPr>
              <a:defRPr lang="zh-CN"/>
            </a:defPPr>
            <a:lvl1pPr algn="ctr">
              <a:defRPr sz="1400"/>
            </a:lvl1pPr>
          </a:lstStyle>
          <a:p>
            <a:r>
              <a:rPr lang="en-US" altLang="zh-CN" sz="800" dirty="0"/>
              <a:t>Switch 1</a:t>
            </a:r>
          </a:p>
        </p:txBody>
      </p:sp>
      <p:sp>
        <p:nvSpPr>
          <p:cNvPr id="36" name="Text Box 38">
            <a:extLst>
              <a:ext uri="{FF2B5EF4-FFF2-40B4-BE49-F238E27FC236}">
                <a16:creationId xmlns:a16="http://schemas.microsoft.com/office/drawing/2014/main" id="{4D36D647-52F1-65A1-A695-7EBA9C57BABC}"/>
              </a:ext>
            </a:extLst>
          </p:cNvPr>
          <p:cNvSpPr txBox="1">
            <a:spLocks noChangeArrowheads="1"/>
          </p:cNvSpPr>
          <p:nvPr/>
        </p:nvSpPr>
        <p:spPr bwMode="auto">
          <a:xfrm>
            <a:off x="4741114" y="4114078"/>
            <a:ext cx="617477" cy="215444"/>
          </a:xfrm>
          <a:prstGeom prst="rect">
            <a:avLst/>
          </a:prstGeom>
          <a:noFill/>
        </p:spPr>
        <p:txBody>
          <a:bodyPr wrap="none" rtlCol="0">
            <a:spAutoFit/>
          </a:bodyPr>
          <a:lstStyle>
            <a:defPPr>
              <a:defRPr lang="zh-CN"/>
            </a:defPPr>
            <a:lvl1pPr algn="ctr">
              <a:defRPr sz="1400"/>
            </a:lvl1pPr>
          </a:lstStyle>
          <a:p>
            <a:r>
              <a:rPr lang="en-US" altLang="zh-CN" sz="800" dirty="0"/>
              <a:t>Switch 2</a:t>
            </a:r>
          </a:p>
        </p:txBody>
      </p:sp>
      <p:sp>
        <p:nvSpPr>
          <p:cNvPr id="17" name="文本框 16">
            <a:extLst>
              <a:ext uri="{FF2B5EF4-FFF2-40B4-BE49-F238E27FC236}">
                <a16:creationId xmlns:a16="http://schemas.microsoft.com/office/drawing/2014/main" id="{663C25D3-F3F3-DB93-AD60-FAEB2D60BA51}"/>
              </a:ext>
            </a:extLst>
          </p:cNvPr>
          <p:cNvSpPr txBox="1"/>
          <p:nvPr/>
        </p:nvSpPr>
        <p:spPr>
          <a:xfrm>
            <a:off x="3306761" y="3812815"/>
            <a:ext cx="588623" cy="215444"/>
          </a:xfrm>
          <a:prstGeom prst="rect">
            <a:avLst/>
          </a:prstGeom>
          <a:noFill/>
        </p:spPr>
        <p:txBody>
          <a:bodyPr wrap="none" rtlCol="0">
            <a:spAutoFit/>
          </a:bodyPr>
          <a:lstStyle/>
          <a:p>
            <a:pPr algn="ctr"/>
            <a:r>
              <a:rPr lang="en-US" altLang="zh-CN" sz="800" dirty="0"/>
              <a:t>2 Mbit/s</a:t>
            </a:r>
            <a:endParaRPr lang="zh-CN" altLang="en-US" sz="800" dirty="0"/>
          </a:p>
        </p:txBody>
      </p:sp>
      <p:sp>
        <p:nvSpPr>
          <p:cNvPr id="19" name="文本框 18">
            <a:extLst>
              <a:ext uri="{FF2B5EF4-FFF2-40B4-BE49-F238E27FC236}">
                <a16:creationId xmlns:a16="http://schemas.microsoft.com/office/drawing/2014/main" id="{4DD66EEB-8869-FF23-DFA5-4977C1306948}"/>
              </a:ext>
            </a:extLst>
          </p:cNvPr>
          <p:cNvSpPr txBox="1"/>
          <p:nvPr/>
        </p:nvSpPr>
        <p:spPr>
          <a:xfrm>
            <a:off x="4265668" y="3812815"/>
            <a:ext cx="588623" cy="215444"/>
          </a:xfrm>
          <a:prstGeom prst="rect">
            <a:avLst/>
          </a:prstGeom>
          <a:noFill/>
        </p:spPr>
        <p:txBody>
          <a:bodyPr wrap="none" rtlCol="0">
            <a:spAutoFit/>
          </a:bodyPr>
          <a:lstStyle/>
          <a:p>
            <a:pPr algn="ctr"/>
            <a:r>
              <a:rPr lang="en-US" altLang="zh-CN" sz="800" dirty="0"/>
              <a:t>2 Mbit/s</a:t>
            </a:r>
            <a:endParaRPr lang="zh-CN" altLang="en-US" sz="800" dirty="0"/>
          </a:p>
        </p:txBody>
      </p:sp>
      <p:sp>
        <p:nvSpPr>
          <p:cNvPr id="24" name="文本框 23">
            <a:extLst>
              <a:ext uri="{FF2B5EF4-FFF2-40B4-BE49-F238E27FC236}">
                <a16:creationId xmlns:a16="http://schemas.microsoft.com/office/drawing/2014/main" id="{040B7A8A-581B-68BF-7E85-B2C5F31E17D9}"/>
              </a:ext>
            </a:extLst>
          </p:cNvPr>
          <p:cNvSpPr txBox="1"/>
          <p:nvPr/>
        </p:nvSpPr>
        <p:spPr>
          <a:xfrm>
            <a:off x="5245414" y="3812815"/>
            <a:ext cx="588623" cy="215444"/>
          </a:xfrm>
          <a:prstGeom prst="rect">
            <a:avLst/>
          </a:prstGeom>
          <a:noFill/>
        </p:spPr>
        <p:txBody>
          <a:bodyPr wrap="none" rtlCol="0">
            <a:spAutoFit/>
          </a:bodyPr>
          <a:lstStyle/>
          <a:p>
            <a:pPr algn="ctr"/>
            <a:r>
              <a:rPr lang="en-US" altLang="zh-CN" sz="800" dirty="0"/>
              <a:t>2 Mbit/s</a:t>
            </a:r>
            <a:endParaRPr lang="zh-CN" altLang="en-US" sz="800" dirty="0"/>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2228850" y="403553"/>
            <a:ext cx="6562725" cy="523220"/>
          </a:xfrm>
        </p:spPr>
        <p:txBody>
          <a:bodyPr/>
          <a:lstStyle/>
          <a:p>
            <a:r>
              <a:rPr lang="fr-FR" altLang="zh-CN" dirty="0"/>
              <a:t>1.7 </a:t>
            </a:r>
            <a:r>
              <a:rPr lang="zh-CN" altLang="zh-CN" dirty="0"/>
              <a:t>计算机网络体系结构</a:t>
            </a:r>
            <a:endParaRPr lang="zh-CN" altLang="en-US" dirty="0"/>
          </a:p>
        </p:txBody>
      </p:sp>
      <p:sp>
        <p:nvSpPr>
          <p:cNvPr id="4" name="文本框 3">
            <a:extLst>
              <a:ext uri="{FF2B5EF4-FFF2-40B4-BE49-F238E27FC236}">
                <a16:creationId xmlns:a16="http://schemas.microsoft.com/office/drawing/2014/main" id="{C02EFC87-65AE-290F-4B8C-2E9FA9F9FD36}"/>
              </a:ext>
            </a:extLst>
          </p:cNvPr>
          <p:cNvSpPr txBox="1"/>
          <p:nvPr/>
        </p:nvSpPr>
        <p:spPr>
          <a:xfrm>
            <a:off x="2900362" y="1483896"/>
            <a:ext cx="4057650" cy="369332"/>
          </a:xfrm>
          <a:prstGeom prst="rect">
            <a:avLst/>
          </a:prstGeom>
          <a:noFill/>
        </p:spPr>
        <p:txBody>
          <a:bodyPr wrap="square">
            <a:spAutoFit/>
          </a:bodyPr>
          <a:lstStyle/>
          <a:p>
            <a:r>
              <a:rPr lang="en-US" altLang="zh-CN" dirty="0"/>
              <a:t>1.7.1 </a:t>
            </a:r>
            <a:r>
              <a:rPr lang="zh-CN" altLang="zh-CN" dirty="0"/>
              <a:t>计算机网络体系结构的形成</a:t>
            </a:r>
          </a:p>
        </p:txBody>
      </p:sp>
      <p:sp>
        <p:nvSpPr>
          <p:cNvPr id="7" name="文本框 6">
            <a:extLst>
              <a:ext uri="{FF2B5EF4-FFF2-40B4-BE49-F238E27FC236}">
                <a16:creationId xmlns:a16="http://schemas.microsoft.com/office/drawing/2014/main" id="{B3855622-5AEC-E882-79C3-0159551B738A}"/>
              </a:ext>
            </a:extLst>
          </p:cNvPr>
          <p:cNvSpPr txBox="1"/>
          <p:nvPr/>
        </p:nvSpPr>
        <p:spPr>
          <a:xfrm>
            <a:off x="3745706" y="2666082"/>
            <a:ext cx="4057650" cy="369332"/>
          </a:xfrm>
          <a:prstGeom prst="rect">
            <a:avLst/>
          </a:prstGeom>
          <a:noFill/>
        </p:spPr>
        <p:txBody>
          <a:bodyPr wrap="square">
            <a:spAutoFit/>
          </a:bodyPr>
          <a:lstStyle/>
          <a:p>
            <a:r>
              <a:rPr lang="en-US" altLang="zh-CN" dirty="0"/>
              <a:t>1.7.3 </a:t>
            </a:r>
            <a:r>
              <a:rPr lang="zh-CN" altLang="zh-CN" dirty="0"/>
              <a:t>具有五层协议的体系结构</a:t>
            </a:r>
            <a:endParaRPr lang="en-US" altLang="zh-CN" dirty="0"/>
          </a:p>
        </p:txBody>
      </p:sp>
      <p:sp>
        <p:nvSpPr>
          <p:cNvPr id="8" name="文本框 7">
            <a:extLst>
              <a:ext uri="{FF2B5EF4-FFF2-40B4-BE49-F238E27FC236}">
                <a16:creationId xmlns:a16="http://schemas.microsoft.com/office/drawing/2014/main" id="{C36211C7-4897-5305-95AA-FAE594D6EC97}"/>
              </a:ext>
            </a:extLst>
          </p:cNvPr>
          <p:cNvSpPr txBox="1"/>
          <p:nvPr/>
        </p:nvSpPr>
        <p:spPr>
          <a:xfrm>
            <a:off x="3323034" y="2074989"/>
            <a:ext cx="4057650" cy="369332"/>
          </a:xfrm>
          <a:prstGeom prst="rect">
            <a:avLst/>
          </a:prstGeom>
          <a:noFill/>
        </p:spPr>
        <p:txBody>
          <a:bodyPr wrap="square">
            <a:spAutoFit/>
          </a:bodyPr>
          <a:lstStyle/>
          <a:p>
            <a:r>
              <a:rPr lang="en-US" altLang="zh-CN" dirty="0"/>
              <a:t>1.7.2 </a:t>
            </a:r>
            <a:r>
              <a:rPr lang="zh-CN" altLang="zh-CN" dirty="0"/>
              <a:t>协议与划分层次</a:t>
            </a:r>
            <a:endParaRPr lang="en-US" altLang="zh-CN" dirty="0"/>
          </a:p>
        </p:txBody>
      </p:sp>
      <p:sp>
        <p:nvSpPr>
          <p:cNvPr id="9" name="文本框 8">
            <a:extLst>
              <a:ext uri="{FF2B5EF4-FFF2-40B4-BE49-F238E27FC236}">
                <a16:creationId xmlns:a16="http://schemas.microsoft.com/office/drawing/2014/main" id="{8D931469-CC63-0977-DCB8-5B6A150432D1}"/>
              </a:ext>
            </a:extLst>
          </p:cNvPr>
          <p:cNvSpPr txBox="1"/>
          <p:nvPr/>
        </p:nvSpPr>
        <p:spPr>
          <a:xfrm>
            <a:off x="4168378" y="3257175"/>
            <a:ext cx="4057650" cy="369332"/>
          </a:xfrm>
          <a:prstGeom prst="rect">
            <a:avLst/>
          </a:prstGeom>
          <a:noFill/>
        </p:spPr>
        <p:txBody>
          <a:bodyPr wrap="square">
            <a:spAutoFit/>
          </a:bodyPr>
          <a:lstStyle/>
          <a:p>
            <a:r>
              <a:rPr lang="en-US" altLang="zh-CN" dirty="0"/>
              <a:t>1.7.4 </a:t>
            </a:r>
            <a:r>
              <a:rPr lang="zh-CN" altLang="zh-CN" dirty="0"/>
              <a:t>实体、协议、服务和服务访问点</a:t>
            </a:r>
            <a:endParaRPr lang="en-US" altLang="zh-CN" dirty="0"/>
          </a:p>
        </p:txBody>
      </p:sp>
      <p:sp>
        <p:nvSpPr>
          <p:cNvPr id="10" name="文本框 9">
            <a:extLst>
              <a:ext uri="{FF2B5EF4-FFF2-40B4-BE49-F238E27FC236}">
                <a16:creationId xmlns:a16="http://schemas.microsoft.com/office/drawing/2014/main" id="{6F194142-D565-49EF-03C2-F79074090EA7}"/>
              </a:ext>
            </a:extLst>
          </p:cNvPr>
          <p:cNvSpPr txBox="1"/>
          <p:nvPr/>
        </p:nvSpPr>
        <p:spPr>
          <a:xfrm>
            <a:off x="4591050" y="3848269"/>
            <a:ext cx="4057650" cy="369332"/>
          </a:xfrm>
          <a:prstGeom prst="rect">
            <a:avLst/>
          </a:prstGeom>
          <a:noFill/>
        </p:spPr>
        <p:txBody>
          <a:bodyPr wrap="square">
            <a:spAutoFit/>
          </a:bodyPr>
          <a:lstStyle/>
          <a:p>
            <a:r>
              <a:rPr lang="en-US" altLang="zh-CN" dirty="0"/>
              <a:t>1.7.5 TCP/IP </a:t>
            </a:r>
            <a:r>
              <a:rPr lang="zh-CN" altLang="zh-CN" dirty="0"/>
              <a:t>的体系结构</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11216</TotalTime>
  <Words>14946</Words>
  <Application>Microsoft Office PowerPoint</Application>
  <PresentationFormat>全屏显示(16:9)</PresentationFormat>
  <Paragraphs>2115</Paragraphs>
  <Slides>141</Slides>
  <Notes>45</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141</vt:i4>
      </vt:variant>
    </vt:vector>
  </HeadingPairs>
  <TitlesOfParts>
    <vt:vector size="150" baseType="lpstr">
      <vt:lpstr>Arial</vt:lpstr>
      <vt:lpstr>Symbol</vt:lpstr>
      <vt:lpstr>Montserrat</vt:lpstr>
      <vt:lpstr>微软雅黑 Light</vt:lpstr>
      <vt:lpstr>微软雅黑</vt:lpstr>
      <vt:lpstr>Times New Roman</vt:lpstr>
      <vt:lpstr>Wingdings</vt:lpstr>
      <vt:lpstr>Office 主题​​</vt:lpstr>
      <vt:lpstr>VISIO</vt:lpstr>
      <vt:lpstr>PowerPoint 演示文稿</vt:lpstr>
      <vt:lpstr>PowerPoint 演示文稿</vt:lpstr>
      <vt:lpstr>1.1 计算机网络在信息时代中的作用</vt:lpstr>
      <vt:lpstr>PowerPoint 演示文稿</vt:lpstr>
      <vt:lpstr>PowerPoint 演示文稿</vt:lpstr>
      <vt:lpstr>PowerPoint 演示文稿</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PowerPoint 演示文稿</vt:lpstr>
      <vt:lpstr>万维网 WWW</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833</cp:revision>
  <dcterms:created xsi:type="dcterms:W3CDTF">2018-07-18T08:51:30Z</dcterms:created>
  <dcterms:modified xsi:type="dcterms:W3CDTF">2026-09-01T13:03:52Z</dcterms:modified>
</cp:coreProperties>
</file>