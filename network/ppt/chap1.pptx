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2"/>
  </p:notesMasterIdLst>
  <p:sldIdLst>
    <p:sldId id="257" r:id="rId2"/>
    <p:sldId id="256" r:id="rId3"/>
    <p:sldId id="289" r:id="rId4"/>
    <p:sldId id="480" r:id="rId5"/>
    <p:sldId id="293" r:id="rId6"/>
    <p:sldId id="294" r:id="rId7"/>
    <p:sldId id="481" r:id="rId8"/>
    <p:sldId id="485" r:id="rId9"/>
    <p:sldId id="483" r:id="rId10"/>
    <p:sldId id="486" r:id="rId11"/>
    <p:sldId id="487" r:id="rId12"/>
    <p:sldId id="488" r:id="rId13"/>
    <p:sldId id="304" r:id="rId14"/>
    <p:sldId id="489" r:id="rId15"/>
    <p:sldId id="492" r:id="rId16"/>
    <p:sldId id="493" r:id="rId17"/>
    <p:sldId id="494" r:id="rId18"/>
    <p:sldId id="463" r:id="rId19"/>
    <p:sldId id="311" r:id="rId20"/>
    <p:sldId id="496" r:id="rId21"/>
    <p:sldId id="497" r:id="rId22"/>
    <p:sldId id="508" r:id="rId23"/>
    <p:sldId id="499" r:id="rId24"/>
    <p:sldId id="502" r:id="rId25"/>
    <p:sldId id="503" r:id="rId26"/>
    <p:sldId id="324" r:id="rId27"/>
    <p:sldId id="505" r:id="rId28"/>
    <p:sldId id="514" r:id="rId29"/>
    <p:sldId id="329" r:id="rId30"/>
    <p:sldId id="515" r:id="rId31"/>
    <p:sldId id="516" r:id="rId32"/>
    <p:sldId id="518" r:id="rId33"/>
    <p:sldId id="519" r:id="rId34"/>
    <p:sldId id="520" r:id="rId35"/>
    <p:sldId id="521" r:id="rId36"/>
    <p:sldId id="522" r:id="rId37"/>
    <p:sldId id="647" r:id="rId38"/>
    <p:sldId id="523" r:id="rId39"/>
    <p:sldId id="524" r:id="rId40"/>
    <p:sldId id="525" r:id="rId41"/>
    <p:sldId id="526" r:id="rId42"/>
    <p:sldId id="527" r:id="rId43"/>
    <p:sldId id="528" r:id="rId44"/>
    <p:sldId id="529" r:id="rId45"/>
    <p:sldId id="530" r:id="rId46"/>
    <p:sldId id="531" r:id="rId47"/>
    <p:sldId id="533" r:id="rId48"/>
    <p:sldId id="532" r:id="rId49"/>
    <p:sldId id="534" r:id="rId50"/>
    <p:sldId id="535" r:id="rId51"/>
    <p:sldId id="536" r:id="rId52"/>
    <p:sldId id="359" r:id="rId53"/>
    <p:sldId id="360" r:id="rId54"/>
    <p:sldId id="475" r:id="rId55"/>
    <p:sldId id="476" r:id="rId56"/>
    <p:sldId id="477" r:id="rId57"/>
    <p:sldId id="366" r:id="rId58"/>
    <p:sldId id="538" r:id="rId59"/>
    <p:sldId id="478" r:id="rId60"/>
    <p:sldId id="539" r:id="rId61"/>
    <p:sldId id="540" r:id="rId62"/>
    <p:sldId id="541" r:id="rId63"/>
    <p:sldId id="542" r:id="rId64"/>
    <p:sldId id="543" r:id="rId65"/>
    <p:sldId id="544" r:id="rId66"/>
    <p:sldId id="374" r:id="rId67"/>
    <p:sldId id="545" r:id="rId68"/>
    <p:sldId id="546" r:id="rId69"/>
    <p:sldId id="547" r:id="rId70"/>
    <p:sldId id="551" r:id="rId71"/>
    <p:sldId id="549" r:id="rId72"/>
    <p:sldId id="550" r:id="rId73"/>
    <p:sldId id="382" r:id="rId74"/>
    <p:sldId id="552" r:id="rId75"/>
    <p:sldId id="553" r:id="rId76"/>
    <p:sldId id="554" r:id="rId77"/>
    <p:sldId id="555" r:id="rId78"/>
    <p:sldId id="556" r:id="rId79"/>
    <p:sldId id="558" r:id="rId80"/>
    <p:sldId id="560" r:id="rId81"/>
    <p:sldId id="561" r:id="rId82"/>
    <p:sldId id="562" r:id="rId83"/>
    <p:sldId id="563" r:id="rId84"/>
    <p:sldId id="396" r:id="rId85"/>
    <p:sldId id="564" r:id="rId86"/>
    <p:sldId id="565" r:id="rId87"/>
    <p:sldId id="566" r:id="rId88"/>
    <p:sldId id="567" r:id="rId89"/>
    <p:sldId id="568" r:id="rId90"/>
    <p:sldId id="569" r:id="rId91"/>
    <p:sldId id="571" r:id="rId92"/>
    <p:sldId id="570" r:id="rId93"/>
    <p:sldId id="572" r:id="rId94"/>
    <p:sldId id="573" r:id="rId95"/>
    <p:sldId id="574" r:id="rId96"/>
    <p:sldId id="408" r:id="rId97"/>
    <p:sldId id="575" r:id="rId98"/>
    <p:sldId id="576" r:id="rId99"/>
    <p:sldId id="577" r:id="rId100"/>
    <p:sldId id="579" r:id="rId101"/>
    <p:sldId id="580" r:id="rId102"/>
    <p:sldId id="581" r:id="rId103"/>
    <p:sldId id="582" r:id="rId104"/>
    <p:sldId id="583" r:id="rId105"/>
    <p:sldId id="419" r:id="rId106"/>
    <p:sldId id="585" r:id="rId107"/>
    <p:sldId id="586" r:id="rId108"/>
    <p:sldId id="591" r:id="rId109"/>
    <p:sldId id="588" r:id="rId110"/>
    <p:sldId id="589" r:id="rId111"/>
    <p:sldId id="590" r:id="rId112"/>
    <p:sldId id="593" r:id="rId113"/>
    <p:sldId id="596" r:id="rId114"/>
    <p:sldId id="597" r:id="rId115"/>
    <p:sldId id="598" r:id="rId116"/>
    <p:sldId id="599" r:id="rId117"/>
    <p:sldId id="600" r:id="rId118"/>
    <p:sldId id="601" r:id="rId119"/>
    <p:sldId id="602" r:id="rId120"/>
    <p:sldId id="606" r:id="rId121"/>
    <p:sldId id="605" r:id="rId122"/>
    <p:sldId id="607" r:id="rId123"/>
    <p:sldId id="608" r:id="rId124"/>
    <p:sldId id="610" r:id="rId125"/>
    <p:sldId id="613" r:id="rId126"/>
    <p:sldId id="615" r:id="rId127"/>
    <p:sldId id="616" r:id="rId128"/>
    <p:sldId id="618" r:id="rId129"/>
    <p:sldId id="619" r:id="rId130"/>
    <p:sldId id="620" r:id="rId131"/>
    <p:sldId id="621" r:id="rId132"/>
    <p:sldId id="623" r:id="rId133"/>
    <p:sldId id="625" r:id="rId134"/>
    <p:sldId id="624" r:id="rId135"/>
    <p:sldId id="627" r:id="rId136"/>
    <p:sldId id="628" r:id="rId137"/>
    <p:sldId id="630" r:id="rId138"/>
    <p:sldId id="631" r:id="rId139"/>
    <p:sldId id="632" r:id="rId140"/>
    <p:sldId id="633" r:id="rId141"/>
    <p:sldId id="634" r:id="rId142"/>
    <p:sldId id="635" r:id="rId143"/>
    <p:sldId id="636" r:id="rId144"/>
    <p:sldId id="637" r:id="rId145"/>
    <p:sldId id="639" r:id="rId146"/>
    <p:sldId id="641" r:id="rId147"/>
    <p:sldId id="642" r:id="rId148"/>
    <p:sldId id="643" r:id="rId149"/>
    <p:sldId id="645" r:id="rId150"/>
    <p:sldId id="646" r:id="rId151"/>
  </p:sldIdLst>
  <p:sldSz cx="9144000" cy="5143500" type="screen16x9"/>
  <p:notesSz cx="6858000" cy="9144000"/>
  <p:embeddedFontLst>
    <p:embeddedFont>
      <p:font typeface="Montserrat" panose="00000500000000000000" pitchFamily="2" charset="0"/>
      <p:regular r:id="rId153"/>
    </p:embeddedFont>
    <p:embeddedFont>
      <p:font typeface="黑体" panose="02010609060101010101" pitchFamily="49" charset="-122"/>
      <p:regular r:id="rId154"/>
    </p:embeddedFont>
    <p:embeddedFont>
      <p:font typeface="微软雅黑" panose="020B0503020204020204" pitchFamily="34" charset="-122"/>
      <p:regular r:id="rId155"/>
      <p:bold r:id="rId156"/>
    </p:embeddedFont>
    <p:embeddedFont>
      <p:font typeface="微软雅黑 Light" panose="020B0502040204020203" pitchFamily="34" charset="-122"/>
      <p:regular r:id="rId157"/>
    </p:embeddedFont>
  </p:embeddedFontLst>
  <p:defaultTextStyle>
    <a:defPPr>
      <a:defRPr lang="zh-CN"/>
    </a:defPPr>
    <a:lvl1pPr algn="l" rtl="0" fontAlgn="base">
      <a:spcBef>
        <a:spcPct val="0"/>
      </a:spcBef>
      <a:spcAft>
        <a:spcPct val="0"/>
      </a:spcAft>
      <a:defRPr kern="1200">
        <a:solidFill>
          <a:schemeClr val="tx1"/>
        </a:solidFill>
        <a:latin typeface="Calibri" pitchFamily="34" charset="0"/>
        <a:ea typeface="宋体" charset="-122"/>
        <a:cs typeface="+mn-cs"/>
      </a:defRPr>
    </a:lvl1pPr>
    <a:lvl2pPr marL="457200" algn="l" rtl="0" fontAlgn="base">
      <a:spcBef>
        <a:spcPct val="0"/>
      </a:spcBef>
      <a:spcAft>
        <a:spcPct val="0"/>
      </a:spcAft>
      <a:defRPr kern="1200">
        <a:solidFill>
          <a:schemeClr val="tx1"/>
        </a:solidFill>
        <a:latin typeface="Calibri" pitchFamily="34" charset="0"/>
        <a:ea typeface="宋体" charset="-122"/>
        <a:cs typeface="+mn-cs"/>
      </a:defRPr>
    </a:lvl2pPr>
    <a:lvl3pPr marL="914400" algn="l" rtl="0" fontAlgn="base">
      <a:spcBef>
        <a:spcPct val="0"/>
      </a:spcBef>
      <a:spcAft>
        <a:spcPct val="0"/>
      </a:spcAft>
      <a:defRPr kern="1200">
        <a:solidFill>
          <a:schemeClr val="tx1"/>
        </a:solidFill>
        <a:latin typeface="Calibri" pitchFamily="34" charset="0"/>
        <a:ea typeface="宋体" charset="-122"/>
        <a:cs typeface="+mn-cs"/>
      </a:defRPr>
    </a:lvl3pPr>
    <a:lvl4pPr marL="1371600" algn="l" rtl="0" fontAlgn="base">
      <a:spcBef>
        <a:spcPct val="0"/>
      </a:spcBef>
      <a:spcAft>
        <a:spcPct val="0"/>
      </a:spcAft>
      <a:defRPr kern="1200">
        <a:solidFill>
          <a:schemeClr val="tx1"/>
        </a:solidFill>
        <a:latin typeface="Calibri" pitchFamily="34" charset="0"/>
        <a:ea typeface="宋体" charset="-122"/>
        <a:cs typeface="+mn-cs"/>
      </a:defRPr>
    </a:lvl4pPr>
    <a:lvl5pPr marL="1828800" algn="l" rtl="0" fontAlgn="base">
      <a:spcBef>
        <a:spcPct val="0"/>
      </a:spcBef>
      <a:spcAft>
        <a:spcPct val="0"/>
      </a:spcAft>
      <a:defRPr kern="1200">
        <a:solidFill>
          <a:schemeClr val="tx1"/>
        </a:solidFill>
        <a:latin typeface="Calibri" pitchFamily="34" charset="0"/>
        <a:ea typeface="宋体" charset="-122"/>
        <a:cs typeface="+mn-cs"/>
      </a:defRPr>
    </a:lvl5pPr>
    <a:lvl6pPr marL="2286000" algn="l" defTabSz="914400" rtl="0" eaLnBrk="1" latinLnBrk="0" hangingPunct="1">
      <a:defRPr kern="1200">
        <a:solidFill>
          <a:schemeClr val="tx1"/>
        </a:solidFill>
        <a:latin typeface="Calibri" pitchFamily="34" charset="0"/>
        <a:ea typeface="宋体" charset="-122"/>
        <a:cs typeface="+mn-cs"/>
      </a:defRPr>
    </a:lvl6pPr>
    <a:lvl7pPr marL="2743200" algn="l" defTabSz="914400" rtl="0" eaLnBrk="1" latinLnBrk="0" hangingPunct="1">
      <a:defRPr kern="1200">
        <a:solidFill>
          <a:schemeClr val="tx1"/>
        </a:solidFill>
        <a:latin typeface="Calibri" pitchFamily="34" charset="0"/>
        <a:ea typeface="宋体" charset="-122"/>
        <a:cs typeface="+mn-cs"/>
      </a:defRPr>
    </a:lvl7pPr>
    <a:lvl8pPr marL="3200400" algn="l" defTabSz="914400" rtl="0" eaLnBrk="1" latinLnBrk="0" hangingPunct="1">
      <a:defRPr kern="1200">
        <a:solidFill>
          <a:schemeClr val="tx1"/>
        </a:solidFill>
        <a:latin typeface="Calibri" pitchFamily="34" charset="0"/>
        <a:ea typeface="宋体" charset="-122"/>
        <a:cs typeface="+mn-cs"/>
      </a:defRPr>
    </a:lvl8pPr>
    <a:lvl9pPr marL="3657600" algn="l" defTabSz="914400" rtl="0" eaLnBrk="1" latinLnBrk="0" hangingPunct="1">
      <a:defRPr kern="1200">
        <a:solidFill>
          <a:schemeClr val="tx1"/>
        </a:solidFill>
        <a:latin typeface="Calibri" pitchFamily="34" charset="0"/>
        <a:ea typeface="宋体" charset="-122"/>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84CFF5"/>
    <a:srgbClr val="0000FF"/>
    <a:srgbClr val="9900CC"/>
    <a:srgbClr val="17375E"/>
    <a:srgbClr val="FFFF99"/>
    <a:srgbClr val="CC00CC"/>
    <a:srgbClr val="000066"/>
    <a:srgbClr val="CC6600"/>
    <a:srgbClr val="99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81469" autoAdjust="0"/>
  </p:normalViewPr>
  <p:slideViewPr>
    <p:cSldViewPr snapToGrid="0">
      <p:cViewPr>
        <p:scale>
          <a:sx n="130" d="100"/>
          <a:sy n="130" d="100"/>
        </p:scale>
        <p:origin x="270" y="198"/>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font" Target="fonts/font4.fntdata"/><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font" Target="fonts/font3.fntdata"/></Relationships>
</file>

<file path=ppt/diagrams/_rels/data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F94BBA-562D-4F8A-8EA1-F0DD8C0FE142}" type="doc">
      <dgm:prSet loTypeId="urn:microsoft.com/office/officeart/2005/8/layout/vList5" loCatId="list" qsTypeId="urn:microsoft.com/office/officeart/2005/8/quickstyle/simple1" qsCatId="simple" csTypeId="urn:microsoft.com/office/officeart/2005/8/colors/colorful5" csCatId="colorful" phldr="1"/>
      <dgm:spPr/>
      <dgm:t>
        <a:bodyPr/>
        <a:lstStyle/>
        <a:p>
          <a:endParaRPr lang="zh-CN" altLang="en-US"/>
        </a:p>
      </dgm:t>
    </dgm:pt>
    <dgm:pt modelId="{7CDF3C8E-3DA3-4205-8B08-51AAE2DFD477}">
      <dgm:prSet phldrT="[文本]" custT="1"/>
      <dgm:spPr/>
      <dgm:t>
        <a:bodyPr/>
        <a:lstStyle/>
        <a:p>
          <a:r>
            <a:rPr lang="zh-CN" altLang="en-US" sz="1800" b="1" dirty="0">
              <a:latin typeface="微软雅黑" panose="020B0503020204020204" pitchFamily="34" charset="-122"/>
              <a:ea typeface="微软雅黑" panose="020B0503020204020204" pitchFamily="34" charset="-122"/>
            </a:rPr>
            <a:t>应用和服务</a:t>
          </a:r>
        </a:p>
      </dgm:t>
    </dgm:pt>
    <dgm:pt modelId="{E7B806CA-7E9B-4992-937F-C6125327F8DF}" type="par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8C81328-4AA1-4EFD-AF3D-4C6632E40ED9}" type="sib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F1DE1B7-DF07-4DD5-A0B2-C4A32C7C190F}">
      <dgm:prSet phldrT="[文本]" custT="1"/>
      <dgm:spPr/>
      <dgm:t>
        <a:bodyPr/>
        <a:lstStyle/>
        <a:p>
          <a:r>
            <a:rPr lang="zh-CN" altLang="en-US" sz="1800" b="1" dirty="0">
              <a:latin typeface="微软雅黑" panose="020B0503020204020204" pitchFamily="34" charset="-122"/>
              <a:ea typeface="微软雅黑" panose="020B0503020204020204" pitchFamily="34" charset="-122"/>
            </a:rPr>
            <a:t>游戏，视频，社交，电子邮件，购物，网店，</a:t>
          </a:r>
        </a:p>
      </dgm:t>
    </dgm:pt>
    <dgm:pt modelId="{E8365B7B-D7B6-46DA-93F2-FDA360E9CCD9}" type="par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751A11-451E-4937-8507-E37833BF1584}" type="sib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F2D79E-B77B-4801-9814-D0986614D669}">
      <dgm:prSet phldrT="[文本]" custT="1"/>
      <dgm:spPr/>
      <dgm:t>
        <a:bodyPr/>
        <a:lstStyle/>
        <a:p>
          <a:r>
            <a:rPr lang="zh-CN" altLang="en-US" sz="1800" b="1" dirty="0">
              <a:latin typeface="微软雅黑" panose="020B0503020204020204" pitchFamily="34" charset="-122"/>
              <a:ea typeface="微软雅黑" panose="020B0503020204020204" pitchFamily="34" charset="-122"/>
            </a:rPr>
            <a:t>工作原理</a:t>
          </a:r>
        </a:p>
      </dgm:t>
    </dgm:pt>
    <dgm:pt modelId="{8814CAC7-408B-431F-91F4-2E1970C6CD2D}" type="par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AA26BD-D3CD-4DAD-BCB9-33F2641ECC77}" type="sib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AF05E0F-531B-4F36-BF27-1A9E3D95F0DC}">
      <dgm:prSet phldrT="[文本]" custT="1"/>
      <dgm:spPr/>
      <dgm:t>
        <a:bodyPr/>
        <a:lstStyle/>
        <a:p>
          <a:r>
            <a:rPr lang="zh-CN" altLang="en-US" sz="1800" b="1" dirty="0">
              <a:latin typeface="微软雅黑" panose="020B0503020204020204" pitchFamily="34" charset="-122"/>
              <a:ea typeface="微软雅黑" panose="020B0503020204020204" pitchFamily="34" charset="-122"/>
            </a:rPr>
            <a:t>互连结构，交换技术，</a:t>
          </a:r>
        </a:p>
      </dgm:t>
    </dgm:pt>
    <dgm:pt modelId="{FDDE4820-BFF2-48B4-90C6-7F081C19A177}" type="par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A4CB1BB-2F14-4944-AC76-135C983A0060}" type="sib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7011F1-FC13-4B35-970D-4933B3548D98}">
      <dgm:prSet phldrT="[文本]" custT="1"/>
      <dgm:spPr/>
      <dgm:t>
        <a:bodyPr/>
        <a:lstStyle/>
        <a:p>
          <a:r>
            <a:rPr lang="en-US" altLang="zh-CN" sz="1800" b="1" dirty="0">
              <a:latin typeface="微软雅黑" panose="020B0503020204020204" pitchFamily="34" charset="-122"/>
              <a:ea typeface="微软雅黑" panose="020B0503020204020204" pitchFamily="34" charset="-122"/>
            </a:rPr>
            <a:t>TCP/IP </a:t>
          </a:r>
          <a:r>
            <a:rPr lang="zh-CN" altLang="en-US" sz="1800" b="1" dirty="0">
              <a:latin typeface="微软雅黑" panose="020B0503020204020204" pitchFamily="34" charset="-122"/>
              <a:ea typeface="微软雅黑" panose="020B0503020204020204" pitchFamily="34" charset="-122"/>
            </a:rPr>
            <a:t>体系结构与协议，</a:t>
          </a:r>
          <a:r>
            <a:rPr lang="en-US" altLang="zh-CN"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D4CF5806-C370-498E-9708-685A9D27A010}" type="parTrans" cxnId="{2FBB9C4A-7FE4-4B09-90BC-7F76EE0C06AA}">
      <dgm:prSet/>
      <dgm:spPr/>
      <dgm:t>
        <a:bodyPr/>
        <a:lstStyle/>
        <a:p>
          <a:endParaRPr lang="zh-CN" altLang="en-US"/>
        </a:p>
      </dgm:t>
    </dgm:pt>
    <dgm:pt modelId="{BF99E28F-22E5-4508-BE06-92304C714E8C}" type="sibTrans" cxnId="{2FBB9C4A-7FE4-4B09-90BC-7F76EE0C06AA}">
      <dgm:prSet/>
      <dgm:spPr/>
      <dgm:t>
        <a:bodyPr/>
        <a:lstStyle/>
        <a:p>
          <a:endParaRPr lang="zh-CN" altLang="en-US"/>
        </a:p>
      </dgm:t>
    </dgm:pt>
    <dgm:pt modelId="{75DD56ED-85A2-4B92-A4F6-D22B1E14918C}">
      <dgm:prSet phldrT="[文本]" custT="1"/>
      <dgm:spPr/>
      <dgm:t>
        <a:bodyPr/>
        <a:lstStyle/>
        <a:p>
          <a:r>
            <a:rPr lang="zh-CN" altLang="en-US" sz="1800" b="1" dirty="0">
              <a:latin typeface="微软雅黑" panose="020B0503020204020204" pitchFamily="34" charset="-122"/>
              <a:ea typeface="微软雅黑" panose="020B0503020204020204" pitchFamily="34" charset="-122"/>
            </a:rPr>
            <a:t>网银，无现金支付，数字钱包，数字货币，</a:t>
          </a:r>
          <a:r>
            <a:rPr lang="en-US" altLang="en-US"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7D2D1F57-8FF9-4D42-AB44-C84EBAB93A8B}" type="parTrans" cxnId="{798D9546-FC7B-4CE6-A446-2C1406B131B7}">
      <dgm:prSet/>
      <dgm:spPr/>
      <dgm:t>
        <a:bodyPr/>
        <a:lstStyle/>
        <a:p>
          <a:endParaRPr lang="zh-CN" altLang="en-US"/>
        </a:p>
      </dgm:t>
    </dgm:pt>
    <dgm:pt modelId="{6B90A6D3-23CD-4FAE-BBD2-83D19CE03B68}" type="sibTrans" cxnId="{798D9546-FC7B-4CE6-A446-2C1406B131B7}">
      <dgm:prSet/>
      <dgm:spPr/>
      <dgm:t>
        <a:bodyPr/>
        <a:lstStyle/>
        <a:p>
          <a:endParaRPr lang="zh-CN" altLang="en-US"/>
        </a:p>
      </dgm:t>
    </dgm:pt>
    <dgm:pt modelId="{0C796AA5-A0D9-4667-A9AC-D1A03A87BD07}" type="pres">
      <dgm:prSet presAssocID="{60F94BBA-562D-4F8A-8EA1-F0DD8C0FE142}" presName="Name0" presStyleCnt="0">
        <dgm:presLayoutVars>
          <dgm:dir/>
          <dgm:animLvl val="lvl"/>
          <dgm:resizeHandles val="exact"/>
        </dgm:presLayoutVars>
      </dgm:prSet>
      <dgm:spPr/>
    </dgm:pt>
    <dgm:pt modelId="{E9D145BA-D7C5-4918-95CD-7443B1876BAB}" type="pres">
      <dgm:prSet presAssocID="{7CDF3C8E-3DA3-4205-8B08-51AAE2DFD477}" presName="linNode" presStyleCnt="0"/>
      <dgm:spPr/>
    </dgm:pt>
    <dgm:pt modelId="{A8F7779F-E35A-4E50-A04D-CB1AA6356A21}" type="pres">
      <dgm:prSet presAssocID="{7CDF3C8E-3DA3-4205-8B08-51AAE2DFD477}" presName="parentText" presStyleLbl="node1" presStyleIdx="0" presStyleCnt="2" custScaleX="70882" custLinFactNeighborX="192">
        <dgm:presLayoutVars>
          <dgm:chMax val="1"/>
          <dgm:bulletEnabled val="1"/>
        </dgm:presLayoutVars>
      </dgm:prSet>
      <dgm:spPr/>
    </dgm:pt>
    <dgm:pt modelId="{C300B65F-B770-4533-9743-A8EABAF11F51}" type="pres">
      <dgm:prSet presAssocID="{7CDF3C8E-3DA3-4205-8B08-51AAE2DFD477}" presName="descendantText" presStyleLbl="alignAccFollowNode1" presStyleIdx="0" presStyleCnt="2">
        <dgm:presLayoutVars>
          <dgm:bulletEnabled val="1"/>
        </dgm:presLayoutVars>
      </dgm:prSet>
      <dgm:spPr/>
    </dgm:pt>
    <dgm:pt modelId="{9A842556-6E53-4044-98D2-8607331EB814}" type="pres">
      <dgm:prSet presAssocID="{C8C81328-4AA1-4EFD-AF3D-4C6632E40ED9}" presName="sp" presStyleCnt="0"/>
      <dgm:spPr/>
    </dgm:pt>
    <dgm:pt modelId="{553F6A7B-0613-44E0-B9FC-D72D4936C612}" type="pres">
      <dgm:prSet presAssocID="{7FF2D79E-B77B-4801-9814-D0986614D669}" presName="linNode" presStyleCnt="0"/>
      <dgm:spPr/>
    </dgm:pt>
    <dgm:pt modelId="{46CFA115-E89F-48DD-8ECE-95299141CF01}" type="pres">
      <dgm:prSet presAssocID="{7FF2D79E-B77B-4801-9814-D0986614D669}" presName="parentText" presStyleLbl="node1" presStyleIdx="1" presStyleCnt="2" custScaleX="70882">
        <dgm:presLayoutVars>
          <dgm:chMax val="1"/>
          <dgm:bulletEnabled val="1"/>
        </dgm:presLayoutVars>
      </dgm:prSet>
      <dgm:spPr/>
    </dgm:pt>
    <dgm:pt modelId="{6AEF0EF9-F4C4-41ED-9DA7-A897E4EBD001}" type="pres">
      <dgm:prSet presAssocID="{7FF2D79E-B77B-4801-9814-D0986614D669}" presName="descendantText" presStyleLbl="alignAccFollowNode1" presStyleIdx="1" presStyleCnt="2">
        <dgm:presLayoutVars>
          <dgm:bulletEnabled val="1"/>
        </dgm:presLayoutVars>
      </dgm:prSet>
      <dgm:spPr/>
    </dgm:pt>
  </dgm:ptLst>
  <dgm:cxnLst>
    <dgm:cxn modelId="{B5D9C72B-D927-4816-8C9D-A13863DC4A92}" type="presOf" srcId="{75DD56ED-85A2-4B92-A4F6-D22B1E14918C}" destId="{C300B65F-B770-4533-9743-A8EABAF11F51}" srcOrd="0" destOrd="1" presId="urn:microsoft.com/office/officeart/2005/8/layout/vList5"/>
    <dgm:cxn modelId="{9DA57E61-3BD1-42BD-960F-B3C49C7D719E}" type="presOf" srcId="{DC7011F1-FC13-4B35-970D-4933B3548D98}" destId="{6AEF0EF9-F4C4-41ED-9DA7-A897E4EBD001}" srcOrd="0" destOrd="1" presId="urn:microsoft.com/office/officeart/2005/8/layout/vList5"/>
    <dgm:cxn modelId="{00125765-718B-4BB5-B1F4-311EF5F1DB6E}" type="presOf" srcId="{7FF2D79E-B77B-4801-9814-D0986614D669}" destId="{46CFA115-E89F-48DD-8ECE-95299141CF01}" srcOrd="0" destOrd="0" presId="urn:microsoft.com/office/officeart/2005/8/layout/vList5"/>
    <dgm:cxn modelId="{798D9546-FC7B-4CE6-A446-2C1406B131B7}" srcId="{7CDF3C8E-3DA3-4205-8B08-51AAE2DFD477}" destId="{75DD56ED-85A2-4B92-A4F6-D22B1E14918C}" srcOrd="1" destOrd="0" parTransId="{7D2D1F57-8FF9-4D42-AB44-C84EBAB93A8B}" sibTransId="{6B90A6D3-23CD-4FAE-BBD2-83D19CE03B68}"/>
    <dgm:cxn modelId="{DEEE5967-AEB5-482E-8DCA-A76061410593}" srcId="{7CDF3C8E-3DA3-4205-8B08-51AAE2DFD477}" destId="{9F1DE1B7-DF07-4DD5-A0B2-C4A32C7C190F}" srcOrd="0" destOrd="0" parTransId="{E8365B7B-D7B6-46DA-93F2-FDA360E9CCD9}" sibTransId="{1A751A11-451E-4937-8507-E37833BF1584}"/>
    <dgm:cxn modelId="{2FBB9C4A-7FE4-4B09-90BC-7F76EE0C06AA}" srcId="{7FF2D79E-B77B-4801-9814-D0986614D669}" destId="{DC7011F1-FC13-4B35-970D-4933B3548D98}" srcOrd="1" destOrd="0" parTransId="{D4CF5806-C370-498E-9708-685A9D27A010}" sibTransId="{BF99E28F-22E5-4508-BE06-92304C714E8C}"/>
    <dgm:cxn modelId="{D0083C5A-EB52-4DE3-BC4D-7C4D3C2107B1}" type="presOf" srcId="{60F94BBA-562D-4F8A-8EA1-F0DD8C0FE142}" destId="{0C796AA5-A0D9-4667-A9AC-D1A03A87BD07}" srcOrd="0" destOrd="0" presId="urn:microsoft.com/office/officeart/2005/8/layout/vList5"/>
    <dgm:cxn modelId="{39C0FB80-7424-4111-AA07-4A4DF2558C59}" srcId="{60F94BBA-562D-4F8A-8EA1-F0DD8C0FE142}" destId="{7FF2D79E-B77B-4801-9814-D0986614D669}" srcOrd="1" destOrd="0" parTransId="{8814CAC7-408B-431F-91F4-2E1970C6CD2D}" sibTransId="{1AAA26BD-D3CD-4DAD-BCB9-33F2641ECC77}"/>
    <dgm:cxn modelId="{0D78AA94-77C1-47AC-89CC-003F8E70C9DF}" srcId="{7FF2D79E-B77B-4801-9814-D0986614D669}" destId="{6AF05E0F-531B-4F36-BF27-1A9E3D95F0DC}" srcOrd="0" destOrd="0" parTransId="{FDDE4820-BFF2-48B4-90C6-7F081C19A177}" sibTransId="{5A4CB1BB-2F14-4944-AC76-135C983A0060}"/>
    <dgm:cxn modelId="{E10571A7-1543-495E-A24E-8B39E9AB2538}" type="presOf" srcId="{7CDF3C8E-3DA3-4205-8B08-51AAE2DFD477}" destId="{A8F7779F-E35A-4E50-A04D-CB1AA6356A21}" srcOrd="0" destOrd="0" presId="urn:microsoft.com/office/officeart/2005/8/layout/vList5"/>
    <dgm:cxn modelId="{00E4D1B0-83AC-4FA5-8F83-AFD18DCE943B}" srcId="{60F94BBA-562D-4F8A-8EA1-F0DD8C0FE142}" destId="{7CDF3C8E-3DA3-4205-8B08-51AAE2DFD477}" srcOrd="0" destOrd="0" parTransId="{E7B806CA-7E9B-4992-937F-C6125327F8DF}" sibTransId="{C8C81328-4AA1-4EFD-AF3D-4C6632E40ED9}"/>
    <dgm:cxn modelId="{B579FAD3-45AF-48C6-849D-A913A5716ED9}" type="presOf" srcId="{9F1DE1B7-DF07-4DD5-A0B2-C4A32C7C190F}" destId="{C300B65F-B770-4533-9743-A8EABAF11F51}" srcOrd="0" destOrd="0" presId="urn:microsoft.com/office/officeart/2005/8/layout/vList5"/>
    <dgm:cxn modelId="{EF51EEE0-95B7-478A-A328-D952C8448513}" type="presOf" srcId="{6AF05E0F-531B-4F36-BF27-1A9E3D95F0DC}" destId="{6AEF0EF9-F4C4-41ED-9DA7-A897E4EBD001}" srcOrd="0" destOrd="0" presId="urn:microsoft.com/office/officeart/2005/8/layout/vList5"/>
    <dgm:cxn modelId="{CAD040AB-E9B7-44BC-8260-01316C50B272}" type="presParOf" srcId="{0C796AA5-A0D9-4667-A9AC-D1A03A87BD07}" destId="{E9D145BA-D7C5-4918-95CD-7443B1876BAB}" srcOrd="0" destOrd="0" presId="urn:microsoft.com/office/officeart/2005/8/layout/vList5"/>
    <dgm:cxn modelId="{2A50B62C-DE4D-4CB3-BFAF-9334E49C5884}" type="presParOf" srcId="{E9D145BA-D7C5-4918-95CD-7443B1876BAB}" destId="{A8F7779F-E35A-4E50-A04D-CB1AA6356A21}" srcOrd="0" destOrd="0" presId="urn:microsoft.com/office/officeart/2005/8/layout/vList5"/>
    <dgm:cxn modelId="{8AB2F294-C286-4BA6-AD8C-A5E68712F3E1}" type="presParOf" srcId="{E9D145BA-D7C5-4918-95CD-7443B1876BAB}" destId="{C300B65F-B770-4533-9743-A8EABAF11F51}" srcOrd="1" destOrd="0" presId="urn:microsoft.com/office/officeart/2005/8/layout/vList5"/>
    <dgm:cxn modelId="{1DC914F0-34D1-41EE-A12A-8ACE3C44F6C4}" type="presParOf" srcId="{0C796AA5-A0D9-4667-A9AC-D1A03A87BD07}" destId="{9A842556-6E53-4044-98D2-8607331EB814}" srcOrd="1" destOrd="0" presId="urn:microsoft.com/office/officeart/2005/8/layout/vList5"/>
    <dgm:cxn modelId="{8F98B287-9974-459A-B8FD-49E5F8A64A54}" type="presParOf" srcId="{0C796AA5-A0D9-4667-A9AC-D1A03A87BD07}" destId="{553F6A7B-0613-44E0-B9FC-D72D4936C612}" srcOrd="2" destOrd="0" presId="urn:microsoft.com/office/officeart/2005/8/layout/vList5"/>
    <dgm:cxn modelId="{2E6EC0C8-09E3-448A-8254-CC1AF95CA72D}" type="presParOf" srcId="{553F6A7B-0613-44E0-B9FC-D72D4936C612}" destId="{46CFA115-E89F-48DD-8ECE-95299141CF01}" srcOrd="0" destOrd="0" presId="urn:microsoft.com/office/officeart/2005/8/layout/vList5"/>
    <dgm:cxn modelId="{81D5F99B-F1AC-4CB2-B644-1FA1FF856FFA}" type="presParOf" srcId="{553F6A7B-0613-44E0-B9FC-D72D4936C612}" destId="{6AEF0EF9-F4C4-41ED-9DA7-A897E4EBD00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A26C33-5F5F-4CB7-8BAA-820B66BCD2DB}"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81E82A4E-660D-4B89-8E46-F01E998CF234}">
      <dgm:prSet phldrT="[文本]" custT="1"/>
      <dgm:spPr/>
      <dgm:t>
        <a:bodyPr/>
        <a:lstStyle/>
        <a:p>
          <a:r>
            <a:rPr lang="zh-CN" altLang="en-US" sz="1800" b="1" dirty="0">
              <a:latin typeface="微软雅黑" panose="020B0503020204020204" pitchFamily="34" charset="-122"/>
              <a:ea typeface="微软雅黑" panose="020B0503020204020204" pitchFamily="34" charset="-122"/>
            </a:rPr>
            <a:t>连通性 </a:t>
          </a:r>
          <a:r>
            <a:rPr lang="en-US" altLang="en-US" sz="1800" b="1" dirty="0">
              <a:latin typeface="微软雅黑" panose="020B0503020204020204" pitchFamily="34" charset="-122"/>
              <a:ea typeface="微软雅黑" panose="020B0503020204020204" pitchFamily="34" charset="-122"/>
            </a:rPr>
            <a:t>(connectivity)</a:t>
          </a:r>
          <a:endParaRPr lang="zh-CN" altLang="en-US" sz="1800" b="1" dirty="0">
            <a:latin typeface="微软雅黑" panose="020B0503020204020204" pitchFamily="34" charset="-122"/>
            <a:ea typeface="微软雅黑" panose="020B0503020204020204" pitchFamily="34" charset="-122"/>
          </a:endParaRPr>
        </a:p>
      </dgm:t>
    </dgm:pt>
    <dgm:pt modelId="{FE2F3B17-9569-409B-AFBD-15576FC7E7D5}" type="par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B9E722D-236B-45A9-B93C-C6BEF2201190}" type="sib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CE13BB8-FFE7-434E-AE0E-59033D986A9B}">
      <dgm:prSet phldrT="[文本]" custT="1"/>
      <dgm:spPr/>
      <dgm:t>
        <a:bodyPr/>
        <a:lstStyle/>
        <a:p>
          <a:r>
            <a:rPr lang="zh-CN" altLang="en-US" sz="1800" b="1" dirty="0">
              <a:latin typeface="微软雅黑" panose="020B0503020204020204" pitchFamily="34" charset="-122"/>
              <a:ea typeface="微软雅黑" panose="020B0503020204020204" pitchFamily="34" charset="-122"/>
            </a:rPr>
            <a:t>使上网用户之间可以非常便捷、非常经济地交换各种信息</a:t>
          </a:r>
        </a:p>
      </dgm:t>
    </dgm:pt>
    <dgm:pt modelId="{EBF2A6B2-0661-4DBE-913D-0227603495AA}" type="par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40577D-3A60-4734-9913-A35A2EB847DB}" type="sib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860C934-C87D-4759-BB10-48F1A13CE6F3}">
      <dgm:prSet phldrT="[文本]" custT="1"/>
      <dgm:spPr/>
      <dgm:t>
        <a:bodyPr/>
        <a:lstStyle/>
        <a:p>
          <a:r>
            <a:rPr lang="zh-CN" altLang="en-US" sz="1800" b="1" dirty="0">
              <a:latin typeface="微软雅黑" panose="020B0503020204020204" pitchFamily="34" charset="-122"/>
              <a:ea typeface="微软雅黑" panose="020B0503020204020204" pitchFamily="34" charset="-122"/>
            </a:rPr>
            <a:t>资源共享 </a:t>
          </a:r>
          <a:r>
            <a:rPr lang="en-US" altLang="en-US" sz="1800" b="1" dirty="0">
              <a:latin typeface="微软雅黑" panose="020B0503020204020204" pitchFamily="34" charset="-122"/>
              <a:ea typeface="微软雅黑" panose="020B0503020204020204" pitchFamily="34" charset="-122"/>
            </a:rPr>
            <a:t>(Sharing)</a:t>
          </a:r>
          <a:endParaRPr lang="zh-CN" altLang="en-US" sz="1800" b="1" dirty="0">
            <a:latin typeface="微软雅黑" panose="020B0503020204020204" pitchFamily="34" charset="-122"/>
            <a:ea typeface="微软雅黑" panose="020B0503020204020204" pitchFamily="34" charset="-122"/>
          </a:endParaRPr>
        </a:p>
      </dgm:t>
    </dgm:pt>
    <dgm:pt modelId="{026BE469-7E08-43F5-A726-F8D58014797D}" type="par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C0C2A6-290D-4E38-B8B6-6FAC507D5AEC}" type="sib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59189D0-CB3B-44AF-8603-D9ADA4D9B399}">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实现信息共享、软件共享、硬件共享。</a:t>
          </a:r>
        </a:p>
      </dgm:t>
    </dgm:pt>
    <dgm:pt modelId="{6C1F0FEC-D5F1-4174-B614-D79A36DF9E9B}" type="par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72F926-6A57-4FF6-BCD5-C51A88F0EE57}" type="sib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812DD04-1C6E-4759-9B88-C1D91F702372}">
      <dgm:prSet phldrT="[文本]" custT="1"/>
      <dgm:spPr/>
      <dgm:t>
        <a:bodyPr/>
        <a:lstStyle/>
        <a:p>
          <a:r>
            <a:rPr lang="zh-CN" altLang="en-US" sz="1800" b="1" dirty="0">
              <a:latin typeface="微软雅黑" panose="020B0503020204020204" pitchFamily="34" charset="-122"/>
              <a:ea typeface="微软雅黑" panose="020B0503020204020204" pitchFamily="34" charset="-122"/>
            </a:rPr>
            <a:t>由于网络的存在，这些资源好像就在用户身边一样地方便使用。</a:t>
          </a:r>
        </a:p>
      </dgm:t>
    </dgm:pt>
    <dgm:pt modelId="{C64E1EEC-F427-4C8F-BCD9-F788F0943A45}" type="parTrans" cxnId="{94E1CE82-AB38-452B-A0B7-83602DCACEF3}">
      <dgm:prSet/>
      <dgm:spPr/>
      <dgm:t>
        <a:bodyPr/>
        <a:lstStyle/>
        <a:p>
          <a:endParaRPr lang="zh-CN" altLang="en-US"/>
        </a:p>
      </dgm:t>
    </dgm:pt>
    <dgm:pt modelId="{823D93EC-06D1-4A6C-879B-5AAD651B9263}" type="sibTrans" cxnId="{94E1CE82-AB38-452B-A0B7-83602DCACEF3}">
      <dgm:prSet/>
      <dgm:spPr/>
      <dgm:t>
        <a:bodyPr/>
        <a:lstStyle/>
        <a:p>
          <a:endParaRPr lang="zh-CN" altLang="en-US"/>
        </a:p>
      </dgm:t>
    </dgm:pt>
    <dgm:pt modelId="{F4E096E7-E309-449C-AF8B-5A296EA906C4}">
      <dgm:prSet phldrT="[文本]" custT="1"/>
      <dgm:spPr/>
      <dgm:t>
        <a:bodyPr/>
        <a:lstStyle/>
        <a:p>
          <a:r>
            <a:rPr lang="zh-CN" altLang="en-US" sz="1800" b="1" dirty="0">
              <a:latin typeface="微软雅黑" panose="020B0503020204020204" pitchFamily="34" charset="-122"/>
              <a:ea typeface="微软雅黑" panose="020B0503020204020204" pitchFamily="34" charset="-122"/>
            </a:rPr>
            <a:t>好像这些用户终端都彼此直接连通一样。</a:t>
          </a:r>
        </a:p>
      </dgm:t>
    </dgm:pt>
    <dgm:pt modelId="{F3688306-D560-4457-964B-726C46443E2A}" type="parTrans" cxnId="{F7028CFA-D2C4-48EE-A8D2-426AA23C67E0}">
      <dgm:prSet/>
      <dgm:spPr/>
      <dgm:t>
        <a:bodyPr/>
        <a:lstStyle/>
        <a:p>
          <a:endParaRPr lang="zh-CN" altLang="en-US"/>
        </a:p>
      </dgm:t>
    </dgm:pt>
    <dgm:pt modelId="{E885EA05-1FFE-47D4-8502-58320F8AE3F5}" type="sibTrans" cxnId="{F7028CFA-D2C4-48EE-A8D2-426AA23C67E0}">
      <dgm:prSet/>
      <dgm:spPr/>
      <dgm:t>
        <a:bodyPr/>
        <a:lstStyle/>
        <a:p>
          <a:endParaRPr lang="zh-CN" altLang="en-US"/>
        </a:p>
      </dgm:t>
    </dgm:pt>
    <dgm:pt modelId="{45BDFC86-5515-4588-9635-7C14A989AA26}" type="pres">
      <dgm:prSet presAssocID="{76A26C33-5F5F-4CB7-8BAA-820B66BCD2DB}" presName="Name0" presStyleCnt="0">
        <dgm:presLayoutVars>
          <dgm:dir/>
          <dgm:animLvl val="lvl"/>
          <dgm:resizeHandles val="exact"/>
        </dgm:presLayoutVars>
      </dgm:prSet>
      <dgm:spPr/>
    </dgm:pt>
    <dgm:pt modelId="{084CEBD4-BCBA-45BE-85A0-F1EBB86D6FAA}" type="pres">
      <dgm:prSet presAssocID="{81E82A4E-660D-4B89-8E46-F01E998CF234}" presName="composite" presStyleCnt="0"/>
      <dgm:spPr/>
    </dgm:pt>
    <dgm:pt modelId="{0A0E1915-9D9D-42CA-B042-4CD43E01EB46}" type="pres">
      <dgm:prSet presAssocID="{81E82A4E-660D-4B89-8E46-F01E998CF234}" presName="parTx" presStyleLbl="alignNode1" presStyleIdx="0" presStyleCnt="2" custScaleY="82146" custLinFactNeighborY="-9064">
        <dgm:presLayoutVars>
          <dgm:chMax val="0"/>
          <dgm:chPref val="0"/>
          <dgm:bulletEnabled val="1"/>
        </dgm:presLayoutVars>
      </dgm:prSet>
      <dgm:spPr/>
    </dgm:pt>
    <dgm:pt modelId="{95E3CB40-70C8-4251-9371-65AB16983D1B}" type="pres">
      <dgm:prSet presAssocID="{81E82A4E-660D-4B89-8E46-F01E998CF234}" presName="desTx" presStyleLbl="alignAccFollowNode1" presStyleIdx="0" presStyleCnt="2" custLinFactNeighborX="-286">
        <dgm:presLayoutVars>
          <dgm:bulletEnabled val="1"/>
        </dgm:presLayoutVars>
      </dgm:prSet>
      <dgm:spPr/>
    </dgm:pt>
    <dgm:pt modelId="{53421B6A-2B30-49A7-B880-8776DCE5DB4B}" type="pres">
      <dgm:prSet presAssocID="{3B9E722D-236B-45A9-B93C-C6BEF2201190}" presName="space" presStyleCnt="0"/>
      <dgm:spPr/>
    </dgm:pt>
    <dgm:pt modelId="{12600C52-721A-4BE1-8285-90A6B38FB27D}" type="pres">
      <dgm:prSet presAssocID="{9860C934-C87D-4759-BB10-48F1A13CE6F3}" presName="composite" presStyleCnt="0"/>
      <dgm:spPr/>
    </dgm:pt>
    <dgm:pt modelId="{40C4515B-BD55-4381-85FB-4FE091B3440E}" type="pres">
      <dgm:prSet presAssocID="{9860C934-C87D-4759-BB10-48F1A13CE6F3}" presName="parTx" presStyleLbl="alignNode1" presStyleIdx="1" presStyleCnt="2" custScaleY="82146" custLinFactNeighborY="-9064">
        <dgm:presLayoutVars>
          <dgm:chMax val="0"/>
          <dgm:chPref val="0"/>
          <dgm:bulletEnabled val="1"/>
        </dgm:presLayoutVars>
      </dgm:prSet>
      <dgm:spPr/>
    </dgm:pt>
    <dgm:pt modelId="{91A65E31-AD27-4BEE-B472-DF1900C7D724}" type="pres">
      <dgm:prSet presAssocID="{9860C934-C87D-4759-BB10-48F1A13CE6F3}" presName="desTx" presStyleLbl="alignAccFollowNode1" presStyleIdx="1" presStyleCnt="2">
        <dgm:presLayoutVars>
          <dgm:bulletEnabled val="1"/>
        </dgm:presLayoutVars>
      </dgm:prSet>
      <dgm:spPr/>
    </dgm:pt>
  </dgm:ptLst>
  <dgm:cxnLst>
    <dgm:cxn modelId="{5D47E511-8EAF-4CA7-9BF1-030EA642EC1D}" type="presOf" srcId="{F4E096E7-E309-449C-AF8B-5A296EA906C4}" destId="{95E3CB40-70C8-4251-9371-65AB16983D1B}" srcOrd="0" destOrd="1" presId="urn:microsoft.com/office/officeart/2005/8/layout/hList1"/>
    <dgm:cxn modelId="{172F9B15-9093-4236-9475-DF368B583798}" type="presOf" srcId="{7812DD04-1C6E-4759-9B88-C1D91F702372}" destId="{91A65E31-AD27-4BEE-B472-DF1900C7D724}" srcOrd="0" destOrd="1" presId="urn:microsoft.com/office/officeart/2005/8/layout/hList1"/>
    <dgm:cxn modelId="{698B3F6A-02D3-4DBF-A2E1-9AF6E6954E21}" srcId="{81E82A4E-660D-4B89-8E46-F01E998CF234}" destId="{BCE13BB8-FFE7-434E-AE0E-59033D986A9B}" srcOrd="0" destOrd="0" parTransId="{EBF2A6B2-0661-4DBE-913D-0227603495AA}" sibTransId="{4B40577D-3A60-4734-9913-A35A2EB847DB}"/>
    <dgm:cxn modelId="{E22AA04A-60C5-4A62-80D3-AA64BFF9CF1D}" type="presOf" srcId="{9860C934-C87D-4759-BB10-48F1A13CE6F3}" destId="{40C4515B-BD55-4381-85FB-4FE091B3440E}" srcOrd="0" destOrd="0" presId="urn:microsoft.com/office/officeart/2005/8/layout/hList1"/>
    <dgm:cxn modelId="{94E1CE82-AB38-452B-A0B7-83602DCACEF3}" srcId="{9860C934-C87D-4759-BB10-48F1A13CE6F3}" destId="{7812DD04-1C6E-4759-9B88-C1D91F702372}" srcOrd="1" destOrd="0" parTransId="{C64E1EEC-F427-4C8F-BCD9-F788F0943A45}" sibTransId="{823D93EC-06D1-4A6C-879B-5AAD651B9263}"/>
    <dgm:cxn modelId="{28EB9285-5BD9-49B4-8CE4-91F0833DB207}" srcId="{9860C934-C87D-4759-BB10-48F1A13CE6F3}" destId="{459189D0-CB3B-44AF-8603-D9ADA4D9B399}" srcOrd="0" destOrd="0" parTransId="{6C1F0FEC-D5F1-4174-B614-D79A36DF9E9B}" sibTransId="{6272F926-6A57-4FF6-BCD5-C51A88F0EE57}"/>
    <dgm:cxn modelId="{A93EE387-4E0F-4305-B5A1-F639C498EF18}" srcId="{76A26C33-5F5F-4CB7-8BAA-820B66BCD2DB}" destId="{81E82A4E-660D-4B89-8E46-F01E998CF234}" srcOrd="0" destOrd="0" parTransId="{FE2F3B17-9569-409B-AFBD-15576FC7E7D5}" sibTransId="{3B9E722D-236B-45A9-B93C-C6BEF2201190}"/>
    <dgm:cxn modelId="{8C46819A-E2F2-4A0F-A3AF-3440027A2A2A}" type="presOf" srcId="{81E82A4E-660D-4B89-8E46-F01E998CF234}" destId="{0A0E1915-9D9D-42CA-B042-4CD43E01EB46}" srcOrd="0" destOrd="0" presId="urn:microsoft.com/office/officeart/2005/8/layout/hList1"/>
    <dgm:cxn modelId="{0905F19C-555E-4F3D-AB25-BC9C29CBF871}" type="presOf" srcId="{BCE13BB8-FFE7-434E-AE0E-59033D986A9B}" destId="{95E3CB40-70C8-4251-9371-65AB16983D1B}" srcOrd="0" destOrd="0" presId="urn:microsoft.com/office/officeart/2005/8/layout/hList1"/>
    <dgm:cxn modelId="{440006A0-5D17-4B31-B22C-81E686270947}" type="presOf" srcId="{459189D0-CB3B-44AF-8603-D9ADA4D9B399}" destId="{91A65E31-AD27-4BEE-B472-DF1900C7D724}" srcOrd="0" destOrd="0" presId="urn:microsoft.com/office/officeart/2005/8/layout/hList1"/>
    <dgm:cxn modelId="{C59FA2CF-B02E-4709-8C0B-C40E90AAE64B}" srcId="{76A26C33-5F5F-4CB7-8BAA-820B66BCD2DB}" destId="{9860C934-C87D-4759-BB10-48F1A13CE6F3}" srcOrd="1" destOrd="0" parTransId="{026BE469-7E08-43F5-A726-F8D58014797D}" sibTransId="{D0C0C2A6-290D-4E38-B8B6-6FAC507D5AEC}"/>
    <dgm:cxn modelId="{708EB6E9-8893-42FA-98DD-900BD9C56952}" type="presOf" srcId="{76A26C33-5F5F-4CB7-8BAA-820B66BCD2DB}" destId="{45BDFC86-5515-4588-9635-7C14A989AA26}" srcOrd="0" destOrd="0" presId="urn:microsoft.com/office/officeart/2005/8/layout/hList1"/>
    <dgm:cxn modelId="{F7028CFA-D2C4-48EE-A8D2-426AA23C67E0}" srcId="{81E82A4E-660D-4B89-8E46-F01E998CF234}" destId="{F4E096E7-E309-449C-AF8B-5A296EA906C4}" srcOrd="1" destOrd="0" parTransId="{F3688306-D560-4457-964B-726C46443E2A}" sibTransId="{E885EA05-1FFE-47D4-8502-58320F8AE3F5}"/>
    <dgm:cxn modelId="{D9DB5EC4-4D29-44DC-89C5-7DE69838E0FB}" type="presParOf" srcId="{45BDFC86-5515-4588-9635-7C14A989AA26}" destId="{084CEBD4-BCBA-45BE-85A0-F1EBB86D6FAA}" srcOrd="0" destOrd="0" presId="urn:microsoft.com/office/officeart/2005/8/layout/hList1"/>
    <dgm:cxn modelId="{16D66207-F596-498B-A526-89084311572A}" type="presParOf" srcId="{084CEBD4-BCBA-45BE-85A0-F1EBB86D6FAA}" destId="{0A0E1915-9D9D-42CA-B042-4CD43E01EB46}" srcOrd="0" destOrd="0" presId="urn:microsoft.com/office/officeart/2005/8/layout/hList1"/>
    <dgm:cxn modelId="{D7FC8791-AD69-456C-B322-73AC470273AF}" type="presParOf" srcId="{084CEBD4-BCBA-45BE-85A0-F1EBB86D6FAA}" destId="{95E3CB40-70C8-4251-9371-65AB16983D1B}" srcOrd="1" destOrd="0" presId="urn:microsoft.com/office/officeart/2005/8/layout/hList1"/>
    <dgm:cxn modelId="{23956487-ED7B-4352-A01D-E17AB1CA66C3}" type="presParOf" srcId="{45BDFC86-5515-4588-9635-7C14A989AA26}" destId="{53421B6A-2B30-49A7-B880-8776DCE5DB4B}" srcOrd="1" destOrd="0" presId="urn:microsoft.com/office/officeart/2005/8/layout/hList1"/>
    <dgm:cxn modelId="{FF053994-491C-4905-A2EC-9A302B85996B}" type="presParOf" srcId="{45BDFC86-5515-4588-9635-7C14A989AA26}" destId="{12600C52-721A-4BE1-8285-90A6B38FB27D}" srcOrd="2" destOrd="0" presId="urn:microsoft.com/office/officeart/2005/8/layout/hList1"/>
    <dgm:cxn modelId="{A53504C8-023D-48E5-A2EF-31327034D227}" type="presParOf" srcId="{12600C52-721A-4BE1-8285-90A6B38FB27D}" destId="{40C4515B-BD55-4381-85FB-4FE091B3440E}" srcOrd="0" destOrd="0" presId="urn:microsoft.com/office/officeart/2005/8/layout/hList1"/>
    <dgm:cxn modelId="{4BC7E349-D0D4-45F1-94A6-35510893E057}" type="presParOf" srcId="{12600C52-721A-4BE1-8285-90A6B38FB27D}" destId="{91A65E31-AD27-4BEE-B472-DF1900C7D72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E05827-7C5E-4011-BB54-A9825C894BC2}" type="doc">
      <dgm:prSet loTypeId="urn:microsoft.com/office/officeart/2005/8/layout/radial3" loCatId="relationship" qsTypeId="urn:microsoft.com/office/officeart/2005/8/quickstyle/simple4" qsCatId="simple" csTypeId="urn:microsoft.com/office/officeart/2005/8/colors/colorful1#1" csCatId="colorful" phldr="1"/>
      <dgm:spPr/>
      <dgm:t>
        <a:bodyPr/>
        <a:lstStyle/>
        <a:p>
          <a:endParaRPr lang="zh-CN" altLang="en-US"/>
        </a:p>
      </dgm:t>
    </dgm:pt>
    <dgm:pt modelId="{A76D0BFA-BC15-45DD-BEFB-67BB802BC730}">
      <dgm:prSet phldrT="[文本]" custT="1"/>
      <dgm:spPr/>
      <dgm:t>
        <a:bodyPr/>
        <a:lstStyle/>
        <a:p>
          <a:r>
            <a:rPr lang="zh-CN" altLang="en-US" sz="1800" b="1" dirty="0">
              <a:latin typeface="微软雅黑" panose="020B0503020204020204" pitchFamily="34" charset="-122"/>
              <a:ea typeface="微软雅黑" panose="020B0503020204020204" pitchFamily="34" charset="-122"/>
            </a:rPr>
            <a:t>互联网</a:t>
          </a:r>
        </a:p>
      </dgm:t>
    </dgm:pt>
    <dgm:pt modelId="{B00600B9-142A-48E4-AC4D-F087585498F0}" type="par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A64C42D-73C0-4271-8028-E940B4F42241}" type="sib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18C9164-AF3E-4958-908B-D7485AFCEBF8}">
      <dgm:prSet phldrT="[文本]" custT="1"/>
      <dgm:spPr/>
      <dgm:t>
        <a:bodyPr/>
        <a:lstStyle/>
        <a:p>
          <a:r>
            <a:rPr lang="zh-CN" altLang="en-US" sz="1600" b="1" dirty="0">
              <a:latin typeface="微软雅黑" panose="020B0503020204020204" pitchFamily="34" charset="-122"/>
              <a:ea typeface="微软雅黑" panose="020B0503020204020204" pitchFamily="34" charset="-122"/>
            </a:rPr>
            <a:t>工业</a:t>
          </a:r>
        </a:p>
      </dgm:t>
    </dgm:pt>
    <dgm:pt modelId="{E3590D31-6E72-444F-9C49-1AE7EFE87DD0}" type="parTrans" cxnId="{43629A51-9669-4227-8CF2-06728FED7FB2}">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AA57978E-F1E4-45BC-98ED-B86BC4A8B02B}" type="sibTrans" cxnId="{43629A51-9669-4227-8CF2-06728FED7FB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89F969B-460A-4D7B-AFBB-F45D1D8FC7AC}">
      <dgm:prSet phldrT="[文本]" custT="1"/>
      <dgm:spPr/>
      <dgm:t>
        <a:bodyPr/>
        <a:lstStyle/>
        <a:p>
          <a:r>
            <a:rPr lang="zh-CN" altLang="en-US" sz="1600" b="1" dirty="0">
              <a:latin typeface="微软雅黑" panose="020B0503020204020204" pitchFamily="34" charset="-122"/>
              <a:ea typeface="微软雅黑" panose="020B0503020204020204" pitchFamily="34" charset="-122"/>
            </a:rPr>
            <a:t>农业</a:t>
          </a:r>
        </a:p>
      </dgm:t>
    </dgm:pt>
    <dgm:pt modelId="{BC8AED9C-6DB9-4718-BE03-2F8A9BAA1F72}" type="parTrans" cxnId="{AC754295-F863-4119-AC31-2B2660E39C1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2F9C0308-2ACC-48D6-B1DE-0A9B3F7C4D91}" type="sibTrans" cxnId="{AC754295-F863-4119-AC31-2B2660E39C1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BF6F5B7-7C58-4F3A-88BB-5CBC69534539}">
      <dgm:prSet phldrT="[文本]" custT="1"/>
      <dgm:spPr/>
      <dgm:t>
        <a:bodyPr/>
        <a:lstStyle/>
        <a:p>
          <a:r>
            <a:rPr lang="zh-CN" altLang="en-US" sz="1600" b="1" dirty="0">
              <a:latin typeface="微软雅黑" panose="020B0503020204020204" pitchFamily="34" charset="-122"/>
              <a:ea typeface="微软雅黑" panose="020B0503020204020204" pitchFamily="34" charset="-122"/>
            </a:rPr>
            <a:t>教育</a:t>
          </a:r>
        </a:p>
      </dgm:t>
    </dgm:pt>
    <dgm:pt modelId="{CF87773F-924A-4605-8570-035144C0F902}" type="parTrans" cxnId="{62D81B6B-A473-4711-8060-E2F235DB436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6D1C614E-67DC-4BB9-BD87-711365F29683}" type="sibTrans" cxnId="{62D81B6B-A473-4711-8060-E2F235DB436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AF6D72-8B6B-4080-8E8C-D4F56863B69E}">
      <dgm:prSet phldrT="[文本]" custT="1"/>
      <dgm:spPr/>
      <dgm:t>
        <a:bodyPr/>
        <a:lstStyle/>
        <a:p>
          <a:r>
            <a:rPr lang="zh-CN" altLang="en-US" sz="1600" b="1" dirty="0">
              <a:latin typeface="微软雅黑" panose="020B0503020204020204" pitchFamily="34" charset="-122"/>
              <a:ea typeface="微软雅黑" panose="020B0503020204020204" pitchFamily="34" charset="-122"/>
            </a:rPr>
            <a:t>医疗</a:t>
          </a:r>
        </a:p>
      </dgm:t>
    </dgm:pt>
    <dgm:pt modelId="{C35CA62F-8556-4DFD-8EC7-5CCA241BB612}" type="parTrans" cxnId="{534309C7-E5FF-4B2D-B8CF-45366536B25D}">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491DA168-3F2F-44B5-A64C-4106C44D9531}" type="sibTrans" cxnId="{534309C7-E5FF-4B2D-B8CF-45366536B25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6B298439-DC98-423F-B078-E8F5941082E6}">
      <dgm:prSet phldrT="[文本]" custT="1"/>
      <dgm:spPr/>
      <dgm:t>
        <a:bodyPr/>
        <a:lstStyle/>
        <a:p>
          <a:r>
            <a:rPr lang="zh-CN" altLang="en-US" sz="1600" b="1" dirty="0">
              <a:latin typeface="微软雅黑" panose="020B0503020204020204" pitchFamily="34" charset="-122"/>
              <a:ea typeface="微软雅黑" panose="020B0503020204020204" pitchFamily="34" charset="-122"/>
            </a:rPr>
            <a:t>政务</a:t>
          </a:r>
        </a:p>
      </dgm:t>
    </dgm:pt>
    <dgm:pt modelId="{FF507EB2-A21E-44CB-A397-7737883929F5}" type="parTrans" cxnId="{3131B5D7-C9F2-49E1-8EFF-59076BE387DD}">
      <dgm:prSet/>
      <dgm:spPr/>
      <dgm:t>
        <a:bodyPr/>
        <a:lstStyle/>
        <a:p>
          <a:endParaRPr lang="zh-CN" altLang="en-US" sz="1600"/>
        </a:p>
      </dgm:t>
    </dgm:pt>
    <dgm:pt modelId="{1069866B-901E-41AA-B611-96F392C306C9}" type="sibTrans" cxnId="{3131B5D7-C9F2-49E1-8EFF-59076BE387DD}">
      <dgm:prSet/>
      <dgm:spPr/>
      <dgm:t>
        <a:bodyPr/>
        <a:lstStyle/>
        <a:p>
          <a:endParaRPr lang="zh-CN" altLang="en-US" sz="1600"/>
        </a:p>
      </dgm:t>
    </dgm:pt>
    <dgm:pt modelId="{FAF2ACAA-EABC-4881-8EA7-397CDC13C55C}">
      <dgm:prSet phldrT="[文本]" custT="1"/>
      <dgm:spPr/>
      <dgm:t>
        <a:bodyPr/>
        <a:lstStyle/>
        <a:p>
          <a:r>
            <a:rPr lang="zh-CN" altLang="en-US" sz="1600" b="1" dirty="0">
              <a:latin typeface="微软雅黑" panose="020B0503020204020204" pitchFamily="34" charset="-122"/>
              <a:ea typeface="微软雅黑" panose="020B0503020204020204" pitchFamily="34" charset="-122"/>
            </a:rPr>
            <a:t>商业</a:t>
          </a:r>
        </a:p>
      </dgm:t>
    </dgm:pt>
    <dgm:pt modelId="{770E56DF-8F01-4967-83BA-12AEB9AE298C}" type="parTrans" cxnId="{DECB6BFE-C1AB-49B3-BF33-97FF73C68B80}">
      <dgm:prSet/>
      <dgm:spPr/>
      <dgm:t>
        <a:bodyPr/>
        <a:lstStyle/>
        <a:p>
          <a:endParaRPr lang="zh-CN" altLang="en-US" sz="1600"/>
        </a:p>
      </dgm:t>
    </dgm:pt>
    <dgm:pt modelId="{43BF5A98-9984-4620-885D-10BE9C053A43}" type="sibTrans" cxnId="{DECB6BFE-C1AB-49B3-BF33-97FF73C68B80}">
      <dgm:prSet/>
      <dgm:spPr/>
      <dgm:t>
        <a:bodyPr/>
        <a:lstStyle/>
        <a:p>
          <a:endParaRPr lang="zh-CN" altLang="en-US" sz="1600"/>
        </a:p>
      </dgm:t>
    </dgm:pt>
    <dgm:pt modelId="{26C274A2-A132-40CB-BA50-1DFD2114DDE8}">
      <dgm:prSet phldrT="[文本]" custT="1"/>
      <dgm:spPr/>
      <dgm:t>
        <a:bodyPr/>
        <a:lstStyle/>
        <a:p>
          <a:r>
            <a:rPr lang="zh-CN" altLang="en-US" sz="1600" b="1" dirty="0">
              <a:latin typeface="微软雅黑" panose="020B0503020204020204" pitchFamily="34" charset="-122"/>
              <a:ea typeface="微软雅黑" panose="020B0503020204020204" pitchFamily="34" charset="-122"/>
            </a:rPr>
            <a:t>交通</a:t>
          </a:r>
        </a:p>
      </dgm:t>
    </dgm:pt>
    <dgm:pt modelId="{18C167E5-9951-4075-9E11-75A610F80C55}" type="parTrans" cxnId="{2880779E-5D58-42D8-A4C9-2F8A8FE197F5}">
      <dgm:prSet/>
      <dgm:spPr/>
      <dgm:t>
        <a:bodyPr/>
        <a:lstStyle/>
        <a:p>
          <a:endParaRPr lang="zh-CN" altLang="en-US" sz="1600"/>
        </a:p>
      </dgm:t>
    </dgm:pt>
    <dgm:pt modelId="{969F8E18-0BF9-4FAE-83D0-6A6701ECCF82}" type="sibTrans" cxnId="{2880779E-5D58-42D8-A4C9-2F8A8FE197F5}">
      <dgm:prSet/>
      <dgm:spPr/>
      <dgm:t>
        <a:bodyPr/>
        <a:lstStyle/>
        <a:p>
          <a:endParaRPr lang="zh-CN" altLang="en-US" sz="1600"/>
        </a:p>
      </dgm:t>
    </dgm:pt>
    <dgm:pt modelId="{3F2C0775-94F4-47A1-AF4B-909B1853529B}">
      <dgm:prSet custT="1"/>
      <dgm:spPr/>
      <dgm:t>
        <a:bodyPr/>
        <a:lstStyle/>
        <a:p>
          <a:r>
            <a:rPr lang="zh-CN" altLang="en-US" sz="1600" b="1" dirty="0">
              <a:latin typeface="微软雅黑" panose="020B0503020204020204" pitchFamily="34" charset="-122"/>
              <a:ea typeface="微软雅黑" panose="020B0503020204020204" pitchFamily="34" charset="-122"/>
            </a:rPr>
            <a:t>金融</a:t>
          </a:r>
          <a:endParaRPr lang="zh-CN" altLang="en-US" sz="1600" dirty="0"/>
        </a:p>
      </dgm:t>
    </dgm:pt>
    <dgm:pt modelId="{A38B1822-9787-44D1-BD3C-ACBAACBABD01}" type="parTrans" cxnId="{44087A00-B1E0-4E66-BD03-92CCC0E2E57A}">
      <dgm:prSet/>
      <dgm:spPr/>
      <dgm:t>
        <a:bodyPr/>
        <a:lstStyle/>
        <a:p>
          <a:endParaRPr lang="zh-CN" altLang="en-US" sz="1600"/>
        </a:p>
      </dgm:t>
    </dgm:pt>
    <dgm:pt modelId="{97A5A0B2-98A0-41A2-94D6-5ACC569526A9}" type="sibTrans" cxnId="{44087A00-B1E0-4E66-BD03-92CCC0E2E57A}">
      <dgm:prSet/>
      <dgm:spPr/>
      <dgm:t>
        <a:bodyPr/>
        <a:lstStyle/>
        <a:p>
          <a:endParaRPr lang="zh-CN" altLang="en-US" sz="1600"/>
        </a:p>
      </dgm:t>
    </dgm:pt>
    <dgm:pt modelId="{2283875D-64D0-4EF8-BA5E-3A01B2889C9A}" type="pres">
      <dgm:prSet presAssocID="{E5E05827-7C5E-4011-BB54-A9825C894BC2}" presName="composite" presStyleCnt="0">
        <dgm:presLayoutVars>
          <dgm:chMax val="1"/>
          <dgm:dir/>
          <dgm:resizeHandles val="exact"/>
        </dgm:presLayoutVars>
      </dgm:prSet>
      <dgm:spPr/>
    </dgm:pt>
    <dgm:pt modelId="{B56D683E-7C9C-4207-B0C8-0781DA70F281}" type="pres">
      <dgm:prSet presAssocID="{E5E05827-7C5E-4011-BB54-A9825C894BC2}" presName="radial" presStyleCnt="0">
        <dgm:presLayoutVars>
          <dgm:animLvl val="ctr"/>
        </dgm:presLayoutVars>
      </dgm:prSet>
      <dgm:spPr/>
    </dgm:pt>
    <dgm:pt modelId="{697450F4-F441-4296-8335-01351F8E1B2B}" type="pres">
      <dgm:prSet presAssocID="{A76D0BFA-BC15-45DD-BEFB-67BB802BC730}" presName="centerShape" presStyleLbl="vennNode1" presStyleIdx="0" presStyleCnt="9"/>
      <dgm:spPr/>
    </dgm:pt>
    <dgm:pt modelId="{CE8AFE2D-2AC2-45F0-88B8-B2568168C3FF}" type="pres">
      <dgm:prSet presAssocID="{B18C9164-AF3E-4958-908B-D7485AFCEBF8}" presName="node" presStyleLbl="vennNode1" presStyleIdx="1" presStyleCnt="9">
        <dgm:presLayoutVars>
          <dgm:bulletEnabled val="1"/>
        </dgm:presLayoutVars>
      </dgm:prSet>
      <dgm:spPr/>
    </dgm:pt>
    <dgm:pt modelId="{670A9751-EDA7-44BE-84F6-DA052AFC6D1C}" type="pres">
      <dgm:prSet presAssocID="{289F969B-460A-4D7B-AFBB-F45D1D8FC7AC}" presName="node" presStyleLbl="vennNode1" presStyleIdx="2" presStyleCnt="9">
        <dgm:presLayoutVars>
          <dgm:bulletEnabled val="1"/>
        </dgm:presLayoutVars>
      </dgm:prSet>
      <dgm:spPr/>
    </dgm:pt>
    <dgm:pt modelId="{242A4B1B-E8FC-49C8-BFF1-60EED0B2A276}" type="pres">
      <dgm:prSet presAssocID="{CBF6F5B7-7C58-4F3A-88BB-5CBC69534539}" presName="node" presStyleLbl="vennNode1" presStyleIdx="3" presStyleCnt="9">
        <dgm:presLayoutVars>
          <dgm:bulletEnabled val="1"/>
        </dgm:presLayoutVars>
      </dgm:prSet>
      <dgm:spPr/>
    </dgm:pt>
    <dgm:pt modelId="{C0A173BA-2876-4F61-AAD1-FA50AD3DFDD0}" type="pres">
      <dgm:prSet presAssocID="{55AF6D72-8B6B-4080-8E8C-D4F56863B69E}" presName="node" presStyleLbl="vennNode1" presStyleIdx="4" presStyleCnt="9">
        <dgm:presLayoutVars>
          <dgm:bulletEnabled val="1"/>
        </dgm:presLayoutVars>
      </dgm:prSet>
      <dgm:spPr/>
    </dgm:pt>
    <dgm:pt modelId="{D951B7E8-AF72-41D8-8F8D-E56CFF2EB951}" type="pres">
      <dgm:prSet presAssocID="{FAF2ACAA-EABC-4881-8EA7-397CDC13C55C}" presName="node" presStyleLbl="vennNode1" presStyleIdx="5" presStyleCnt="9">
        <dgm:presLayoutVars>
          <dgm:bulletEnabled val="1"/>
        </dgm:presLayoutVars>
      </dgm:prSet>
      <dgm:spPr/>
    </dgm:pt>
    <dgm:pt modelId="{2343D8A9-7AEC-4D40-8773-498EA64A78FE}" type="pres">
      <dgm:prSet presAssocID="{26C274A2-A132-40CB-BA50-1DFD2114DDE8}" presName="node" presStyleLbl="vennNode1" presStyleIdx="6" presStyleCnt="9">
        <dgm:presLayoutVars>
          <dgm:bulletEnabled val="1"/>
        </dgm:presLayoutVars>
      </dgm:prSet>
      <dgm:spPr/>
    </dgm:pt>
    <dgm:pt modelId="{4B8ABBE8-E9C9-4F6B-9525-8C9A18414CDE}" type="pres">
      <dgm:prSet presAssocID="{3F2C0775-94F4-47A1-AF4B-909B1853529B}" presName="node" presStyleLbl="vennNode1" presStyleIdx="7" presStyleCnt="9">
        <dgm:presLayoutVars>
          <dgm:bulletEnabled val="1"/>
        </dgm:presLayoutVars>
      </dgm:prSet>
      <dgm:spPr/>
    </dgm:pt>
    <dgm:pt modelId="{C13D16A4-6F51-437B-A7BA-09AB4609C68B}" type="pres">
      <dgm:prSet presAssocID="{6B298439-DC98-423F-B078-E8F5941082E6}" presName="node" presStyleLbl="vennNode1" presStyleIdx="8" presStyleCnt="9">
        <dgm:presLayoutVars>
          <dgm:bulletEnabled val="1"/>
        </dgm:presLayoutVars>
      </dgm:prSet>
      <dgm:spPr/>
    </dgm:pt>
  </dgm:ptLst>
  <dgm:cxnLst>
    <dgm:cxn modelId="{44087A00-B1E0-4E66-BD03-92CCC0E2E57A}" srcId="{A76D0BFA-BC15-45DD-BEFB-67BB802BC730}" destId="{3F2C0775-94F4-47A1-AF4B-909B1853529B}" srcOrd="6" destOrd="0" parTransId="{A38B1822-9787-44D1-BD3C-ACBAACBABD01}" sibTransId="{97A5A0B2-98A0-41A2-94D6-5ACC569526A9}"/>
    <dgm:cxn modelId="{671CAE00-FF67-446A-B055-58534C0F19A8}" type="presOf" srcId="{B18C9164-AF3E-4958-908B-D7485AFCEBF8}" destId="{CE8AFE2D-2AC2-45F0-88B8-B2568168C3FF}" srcOrd="0" destOrd="0" presId="urn:microsoft.com/office/officeart/2005/8/layout/radial3"/>
    <dgm:cxn modelId="{E1145A10-C3F5-4120-9951-ED8E95DF626C}" type="presOf" srcId="{6B298439-DC98-423F-B078-E8F5941082E6}" destId="{C13D16A4-6F51-437B-A7BA-09AB4609C68B}" srcOrd="0" destOrd="0" presId="urn:microsoft.com/office/officeart/2005/8/layout/radial3"/>
    <dgm:cxn modelId="{FE3E4F19-BD5A-4BF1-9C7C-1F6EBA21FDB2}" type="presOf" srcId="{55AF6D72-8B6B-4080-8E8C-D4F56863B69E}" destId="{C0A173BA-2876-4F61-AAD1-FA50AD3DFDD0}" srcOrd="0" destOrd="0" presId="urn:microsoft.com/office/officeart/2005/8/layout/radial3"/>
    <dgm:cxn modelId="{1C9E9E21-DB3F-4EE8-826E-495B8AF8311D}" type="presOf" srcId="{289F969B-460A-4D7B-AFBB-F45D1D8FC7AC}" destId="{670A9751-EDA7-44BE-84F6-DA052AFC6D1C}" srcOrd="0" destOrd="0" presId="urn:microsoft.com/office/officeart/2005/8/layout/radial3"/>
    <dgm:cxn modelId="{34C7A264-38DC-418F-BC6E-C3B4A95B5E47}" type="presOf" srcId="{A76D0BFA-BC15-45DD-BEFB-67BB802BC730}" destId="{697450F4-F441-4296-8335-01351F8E1B2B}" srcOrd="0" destOrd="0" presId="urn:microsoft.com/office/officeart/2005/8/layout/radial3"/>
    <dgm:cxn modelId="{62D81B6B-A473-4711-8060-E2F235DB436A}" srcId="{A76D0BFA-BC15-45DD-BEFB-67BB802BC730}" destId="{CBF6F5B7-7C58-4F3A-88BB-5CBC69534539}" srcOrd="2" destOrd="0" parTransId="{CF87773F-924A-4605-8570-035144C0F902}" sibTransId="{6D1C614E-67DC-4BB9-BD87-711365F29683}"/>
    <dgm:cxn modelId="{9A2D7B6E-102A-4276-9A10-DB1F7EAB1F95}" type="presOf" srcId="{E5E05827-7C5E-4011-BB54-A9825C894BC2}" destId="{2283875D-64D0-4EF8-BA5E-3A01B2889C9A}" srcOrd="0" destOrd="0" presId="urn:microsoft.com/office/officeart/2005/8/layout/radial3"/>
    <dgm:cxn modelId="{43629A51-9669-4227-8CF2-06728FED7FB2}" srcId="{A76D0BFA-BC15-45DD-BEFB-67BB802BC730}" destId="{B18C9164-AF3E-4958-908B-D7485AFCEBF8}" srcOrd="0" destOrd="0" parTransId="{E3590D31-6E72-444F-9C49-1AE7EFE87DD0}" sibTransId="{AA57978E-F1E4-45BC-98ED-B86BC4A8B02B}"/>
    <dgm:cxn modelId="{41D3E594-5567-4F8A-ADC0-6231A9A4BF12}" type="presOf" srcId="{26C274A2-A132-40CB-BA50-1DFD2114DDE8}" destId="{2343D8A9-7AEC-4D40-8773-498EA64A78FE}" srcOrd="0" destOrd="0" presId="urn:microsoft.com/office/officeart/2005/8/layout/radial3"/>
    <dgm:cxn modelId="{AC754295-F863-4119-AC31-2B2660E39C1A}" srcId="{A76D0BFA-BC15-45DD-BEFB-67BB802BC730}" destId="{289F969B-460A-4D7B-AFBB-F45D1D8FC7AC}" srcOrd="1" destOrd="0" parTransId="{BC8AED9C-6DB9-4718-BE03-2F8A9BAA1F72}" sibTransId="{2F9C0308-2ACC-48D6-B1DE-0A9B3F7C4D91}"/>
    <dgm:cxn modelId="{2880779E-5D58-42D8-A4C9-2F8A8FE197F5}" srcId="{A76D0BFA-BC15-45DD-BEFB-67BB802BC730}" destId="{26C274A2-A132-40CB-BA50-1DFD2114DDE8}" srcOrd="5" destOrd="0" parTransId="{18C167E5-9951-4075-9E11-75A610F80C55}" sibTransId="{969F8E18-0BF9-4FAE-83D0-6A6701ECCF82}"/>
    <dgm:cxn modelId="{534309C7-E5FF-4B2D-B8CF-45366536B25D}" srcId="{A76D0BFA-BC15-45DD-BEFB-67BB802BC730}" destId="{55AF6D72-8B6B-4080-8E8C-D4F56863B69E}" srcOrd="3" destOrd="0" parTransId="{C35CA62F-8556-4DFD-8EC7-5CCA241BB612}" sibTransId="{491DA168-3F2F-44B5-A64C-4106C44D9531}"/>
    <dgm:cxn modelId="{960F42CD-A079-47D0-A3DB-DFB4595FF8F4}" type="presOf" srcId="{CBF6F5B7-7C58-4F3A-88BB-5CBC69534539}" destId="{242A4B1B-E8FC-49C8-BFF1-60EED0B2A276}" srcOrd="0" destOrd="0" presId="urn:microsoft.com/office/officeart/2005/8/layout/radial3"/>
    <dgm:cxn modelId="{3131B5D7-C9F2-49E1-8EFF-59076BE387DD}" srcId="{A76D0BFA-BC15-45DD-BEFB-67BB802BC730}" destId="{6B298439-DC98-423F-B078-E8F5941082E6}" srcOrd="7" destOrd="0" parTransId="{FF507EB2-A21E-44CB-A397-7737883929F5}" sibTransId="{1069866B-901E-41AA-B611-96F392C306C9}"/>
    <dgm:cxn modelId="{ED9447EC-C4D5-4F03-BF67-2F0986A3EEB3}" type="presOf" srcId="{3F2C0775-94F4-47A1-AF4B-909B1853529B}" destId="{4B8ABBE8-E9C9-4F6B-9525-8C9A18414CDE}" srcOrd="0" destOrd="0" presId="urn:microsoft.com/office/officeart/2005/8/layout/radial3"/>
    <dgm:cxn modelId="{B37E0EFB-4E40-4FEE-8B05-4AE2EB6D24A8}" type="presOf" srcId="{FAF2ACAA-EABC-4881-8EA7-397CDC13C55C}" destId="{D951B7E8-AF72-41D8-8F8D-E56CFF2EB951}" srcOrd="0" destOrd="0" presId="urn:microsoft.com/office/officeart/2005/8/layout/radial3"/>
    <dgm:cxn modelId="{DECB6BFE-C1AB-49B3-BF33-97FF73C68B80}" srcId="{A76D0BFA-BC15-45DD-BEFB-67BB802BC730}" destId="{FAF2ACAA-EABC-4881-8EA7-397CDC13C55C}" srcOrd="4" destOrd="0" parTransId="{770E56DF-8F01-4967-83BA-12AEB9AE298C}" sibTransId="{43BF5A98-9984-4620-885D-10BE9C053A43}"/>
    <dgm:cxn modelId="{9CB6F1FF-87D2-406B-ACF5-0ED45A7D7F44}" srcId="{E5E05827-7C5E-4011-BB54-A9825C894BC2}" destId="{A76D0BFA-BC15-45DD-BEFB-67BB802BC730}" srcOrd="0" destOrd="0" parTransId="{B00600B9-142A-48E4-AC4D-F087585498F0}" sibTransId="{1A64C42D-73C0-4271-8028-E940B4F42241}"/>
    <dgm:cxn modelId="{6E1AC565-CA31-4D1F-AEDC-94CB71666459}" type="presParOf" srcId="{2283875D-64D0-4EF8-BA5E-3A01B2889C9A}" destId="{B56D683E-7C9C-4207-B0C8-0781DA70F281}" srcOrd="0" destOrd="0" presId="urn:microsoft.com/office/officeart/2005/8/layout/radial3"/>
    <dgm:cxn modelId="{1CDAEEA2-878E-4004-9A51-79A46310453B}" type="presParOf" srcId="{B56D683E-7C9C-4207-B0C8-0781DA70F281}" destId="{697450F4-F441-4296-8335-01351F8E1B2B}" srcOrd="0" destOrd="0" presId="urn:microsoft.com/office/officeart/2005/8/layout/radial3"/>
    <dgm:cxn modelId="{2BAE2F8F-9C9B-42B4-BEE4-6A370460910A}" type="presParOf" srcId="{B56D683E-7C9C-4207-B0C8-0781DA70F281}" destId="{CE8AFE2D-2AC2-45F0-88B8-B2568168C3FF}" srcOrd="1" destOrd="0" presId="urn:microsoft.com/office/officeart/2005/8/layout/radial3"/>
    <dgm:cxn modelId="{5113B970-C13B-410E-BAE9-EC7E41AE1703}" type="presParOf" srcId="{B56D683E-7C9C-4207-B0C8-0781DA70F281}" destId="{670A9751-EDA7-44BE-84F6-DA052AFC6D1C}" srcOrd="2" destOrd="0" presId="urn:microsoft.com/office/officeart/2005/8/layout/radial3"/>
    <dgm:cxn modelId="{A7DB3A97-510A-490C-875A-3CCDF48C0C9C}" type="presParOf" srcId="{B56D683E-7C9C-4207-B0C8-0781DA70F281}" destId="{242A4B1B-E8FC-49C8-BFF1-60EED0B2A276}" srcOrd="3" destOrd="0" presId="urn:microsoft.com/office/officeart/2005/8/layout/radial3"/>
    <dgm:cxn modelId="{A9B28D62-23AA-47E3-ACC7-5418386FDD7F}" type="presParOf" srcId="{B56D683E-7C9C-4207-B0C8-0781DA70F281}" destId="{C0A173BA-2876-4F61-AAD1-FA50AD3DFDD0}" srcOrd="4" destOrd="0" presId="urn:microsoft.com/office/officeart/2005/8/layout/radial3"/>
    <dgm:cxn modelId="{D31E7E80-7C5E-4183-B574-91C1CB4D1142}" type="presParOf" srcId="{B56D683E-7C9C-4207-B0C8-0781DA70F281}" destId="{D951B7E8-AF72-41D8-8F8D-E56CFF2EB951}" srcOrd="5" destOrd="0" presId="urn:microsoft.com/office/officeart/2005/8/layout/radial3"/>
    <dgm:cxn modelId="{6D4E746B-9B5A-41EE-9D32-56664D21A1E6}" type="presParOf" srcId="{B56D683E-7C9C-4207-B0C8-0781DA70F281}" destId="{2343D8A9-7AEC-4D40-8773-498EA64A78FE}" srcOrd="6" destOrd="0" presId="urn:microsoft.com/office/officeart/2005/8/layout/radial3"/>
    <dgm:cxn modelId="{0E5D4A10-2E63-432B-B7AD-B4B508FC16E8}" type="presParOf" srcId="{B56D683E-7C9C-4207-B0C8-0781DA70F281}" destId="{4B8ABBE8-E9C9-4F6B-9525-8C9A18414CDE}" srcOrd="7" destOrd="0" presId="urn:microsoft.com/office/officeart/2005/8/layout/radial3"/>
    <dgm:cxn modelId="{F5F98F4B-A524-43CE-99A7-D5C35E51CA3C}" type="presParOf" srcId="{B56D683E-7C9C-4207-B0C8-0781DA70F281}" destId="{C13D16A4-6F51-437B-A7BA-09AB4609C68B}" srcOrd="8"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1D1D430-D996-41E4-BA1B-C6A83F36946C}" type="doc">
      <dgm:prSet loTypeId="urn:microsoft.com/office/officeart/2005/8/layout/vList3#1" loCatId="picture" qsTypeId="urn:microsoft.com/office/officeart/2005/8/quickstyle/simple1" qsCatId="simple" csTypeId="urn:microsoft.com/office/officeart/2005/8/colors/colorful1#2" csCatId="colorful" phldr="1"/>
      <dgm:spPr/>
    </dgm:pt>
    <dgm:pt modelId="{8A4F00E3-F46A-4CBA-82B2-5A10E450DA39}">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传播病毒</a:t>
          </a:r>
        </a:p>
      </dgm:t>
    </dgm:pt>
    <dgm:pt modelId="{F63FFB52-3939-4213-9316-F1327036C529}" type="par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D19CD92A-5807-415A-BBC1-E7A8527C6153}" type="sib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F2D3D92D-8243-45A0-9045-A4D63E6E7F4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窃取：数据，钱财等</a:t>
          </a:r>
        </a:p>
      </dgm:t>
    </dgm:pt>
    <dgm:pt modelId="{940EF993-6126-4520-B05A-6D4B241C30CB}" type="par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B918B45-34EC-4674-8DDA-B9430DE47AFA}" type="sib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56F9FD42-4583-4A28-8C5F-0BD3A1160431}">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欺诈</a:t>
          </a:r>
        </a:p>
      </dgm:t>
    </dgm:pt>
    <dgm:pt modelId="{E99CA429-E7B4-4EB5-8DDD-E6592C4B95C3}" type="par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80B7C9B3-F9FA-414C-9AB1-BC88F070EAB5}" type="sib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9CEBE93-D45D-49EC-B30B-C25BD2F76776}">
      <dgm:prSet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散布谣言</a:t>
          </a:r>
        </a:p>
      </dgm:t>
    </dgm:pt>
    <dgm:pt modelId="{AA55A792-AF04-4098-B181-C38BF0226235}" type="parTrans" cxnId="{B05209F2-E2B6-415B-AAC7-5128F62E2C8E}">
      <dgm:prSet/>
      <dgm:spPr/>
      <dgm:t>
        <a:bodyPr/>
        <a:lstStyle/>
        <a:p>
          <a:pPr algn="l"/>
          <a:endParaRPr lang="zh-CN" altLang="en-US" sz="1600" b="1">
            <a:solidFill>
              <a:schemeClr val="tx1"/>
            </a:solidFill>
          </a:endParaRPr>
        </a:p>
      </dgm:t>
    </dgm:pt>
    <dgm:pt modelId="{13D24FEC-663A-4F2E-8991-319EA99DA20B}" type="sibTrans" cxnId="{B05209F2-E2B6-415B-AAC7-5128F62E2C8E}">
      <dgm:prSet/>
      <dgm:spPr/>
      <dgm:t>
        <a:bodyPr/>
        <a:lstStyle/>
        <a:p>
          <a:pPr algn="l"/>
          <a:endParaRPr lang="zh-CN" altLang="en-US" sz="1600" b="1">
            <a:solidFill>
              <a:schemeClr val="tx1"/>
            </a:solidFill>
          </a:endParaRPr>
        </a:p>
      </dgm:t>
    </dgm:pt>
    <dgm:pt modelId="{31271BEB-9A8A-4822-9836-B74D69D06E6E}">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不良信息</a:t>
          </a:r>
        </a:p>
      </dgm:t>
    </dgm:pt>
    <dgm:pt modelId="{18ECF403-4643-451F-AA8F-EAB068A079EE}" type="parTrans" cxnId="{58D8FC51-173E-4B93-9AC0-A73CED98A0F9}">
      <dgm:prSet/>
      <dgm:spPr/>
      <dgm:t>
        <a:bodyPr/>
        <a:lstStyle/>
        <a:p>
          <a:pPr algn="l"/>
          <a:endParaRPr lang="zh-CN" altLang="en-US">
            <a:solidFill>
              <a:schemeClr val="tx1"/>
            </a:solidFill>
          </a:endParaRPr>
        </a:p>
      </dgm:t>
    </dgm:pt>
    <dgm:pt modelId="{E5288AD6-4E26-4FCD-AAA0-B6E8B2F83D76}" type="sibTrans" cxnId="{58D8FC51-173E-4B93-9AC0-A73CED98A0F9}">
      <dgm:prSet/>
      <dgm:spPr/>
      <dgm:t>
        <a:bodyPr/>
        <a:lstStyle/>
        <a:p>
          <a:pPr algn="l"/>
          <a:endParaRPr lang="zh-CN" altLang="en-US">
            <a:solidFill>
              <a:schemeClr val="tx1"/>
            </a:solidFill>
          </a:endParaRPr>
        </a:p>
      </dgm:t>
    </dgm:pt>
    <dgm:pt modelId="{345A0E49-CE9E-42D8-BBD9-5125A1B2C1A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网瘾</a:t>
          </a:r>
        </a:p>
      </dgm:t>
    </dgm:pt>
    <dgm:pt modelId="{AF7CF8DB-9D81-41A4-977C-9BE1758196B4}" type="parTrans" cxnId="{EBFD6E5A-7A20-4CF4-9BB9-8C814639A37B}">
      <dgm:prSet/>
      <dgm:spPr/>
      <dgm:t>
        <a:bodyPr/>
        <a:lstStyle/>
        <a:p>
          <a:endParaRPr lang="zh-CN" altLang="en-US">
            <a:solidFill>
              <a:schemeClr val="tx1"/>
            </a:solidFill>
          </a:endParaRPr>
        </a:p>
      </dgm:t>
    </dgm:pt>
    <dgm:pt modelId="{071806DC-3B9D-4BBE-966F-31C19BC1B5BD}" type="sibTrans" cxnId="{EBFD6E5A-7A20-4CF4-9BB9-8C814639A37B}">
      <dgm:prSet/>
      <dgm:spPr/>
      <dgm:t>
        <a:bodyPr/>
        <a:lstStyle/>
        <a:p>
          <a:endParaRPr lang="zh-CN" altLang="en-US">
            <a:solidFill>
              <a:schemeClr val="tx1"/>
            </a:solidFill>
          </a:endParaRPr>
        </a:p>
      </dgm:t>
    </dgm:pt>
    <dgm:pt modelId="{41CEA816-6376-493D-B9E5-598751467D72}">
      <dgm:prSet phldrT="[文本]" custT="1"/>
      <dgm:spPr/>
      <dgm:t>
        <a:bodyPr/>
        <a:lstStyle/>
        <a:p>
          <a:pPr algn="l"/>
          <a:r>
            <a:rPr lang="en-US" altLang="zh-CN" sz="1600" b="1">
              <a:solidFill>
                <a:schemeClr val="tx1"/>
              </a:solidFill>
              <a:latin typeface="微软雅黑" panose="020B0503020204020204" pitchFamily="34" charset="-122"/>
              <a:ea typeface="微软雅黑" panose="020B0503020204020204" pitchFamily="34" charset="-122"/>
            </a:rPr>
            <a:t>……</a:t>
          </a:r>
          <a:endParaRPr lang="zh-CN" altLang="en-US" sz="1600" b="1" dirty="0">
            <a:solidFill>
              <a:schemeClr val="tx1"/>
            </a:solidFill>
            <a:latin typeface="微软雅黑" panose="020B0503020204020204" pitchFamily="34" charset="-122"/>
            <a:ea typeface="微软雅黑" panose="020B0503020204020204" pitchFamily="34" charset="-122"/>
          </a:endParaRPr>
        </a:p>
      </dgm:t>
    </dgm:pt>
    <dgm:pt modelId="{55B9415A-8452-48F8-B878-407D67BB953D}" type="parTrans" cxnId="{3B416CD1-15BF-4252-98CA-E9EF29FD84C3}">
      <dgm:prSet/>
      <dgm:spPr/>
      <dgm:t>
        <a:bodyPr/>
        <a:lstStyle/>
        <a:p>
          <a:endParaRPr lang="zh-CN" altLang="en-US">
            <a:solidFill>
              <a:schemeClr val="tx1"/>
            </a:solidFill>
          </a:endParaRPr>
        </a:p>
      </dgm:t>
    </dgm:pt>
    <dgm:pt modelId="{83C14E44-8D8D-4FCB-B967-B8ADA78E25B7}" type="sibTrans" cxnId="{3B416CD1-15BF-4252-98CA-E9EF29FD84C3}">
      <dgm:prSet/>
      <dgm:spPr/>
      <dgm:t>
        <a:bodyPr/>
        <a:lstStyle/>
        <a:p>
          <a:endParaRPr lang="zh-CN" altLang="en-US">
            <a:solidFill>
              <a:schemeClr val="tx1"/>
            </a:solidFill>
          </a:endParaRPr>
        </a:p>
      </dgm:t>
    </dgm:pt>
    <dgm:pt modelId="{B9B6B670-2E60-4D51-A0B1-71512ED65AD3}" type="pres">
      <dgm:prSet presAssocID="{51D1D430-D996-41E4-BA1B-C6A83F36946C}" presName="linearFlow" presStyleCnt="0">
        <dgm:presLayoutVars>
          <dgm:dir/>
          <dgm:resizeHandles val="exact"/>
        </dgm:presLayoutVars>
      </dgm:prSet>
      <dgm:spPr/>
    </dgm:pt>
    <dgm:pt modelId="{F2AD5EEB-A85F-4177-B696-809101961F83}" type="pres">
      <dgm:prSet presAssocID="{8A4F00E3-F46A-4CBA-82B2-5A10E450DA39}" presName="composite" presStyleCnt="0"/>
      <dgm:spPr/>
    </dgm:pt>
    <dgm:pt modelId="{AB5BAA63-A84A-45D9-BE90-07814A821613}" type="pres">
      <dgm:prSet presAssocID="{8A4F00E3-F46A-4CBA-82B2-5A10E450DA39}" presName="imgShp" presStyleLbl="fgImgPlace1" presStyleIdx="0" presStyleCnt="7"/>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E7634DBF-D9F5-4E0A-9541-5A67CB150864}" type="pres">
      <dgm:prSet presAssocID="{8A4F00E3-F46A-4CBA-82B2-5A10E450DA39}" presName="txShp" presStyleLbl="node1" presStyleIdx="0" presStyleCnt="7">
        <dgm:presLayoutVars>
          <dgm:bulletEnabled val="1"/>
        </dgm:presLayoutVars>
      </dgm:prSet>
      <dgm:spPr/>
    </dgm:pt>
    <dgm:pt modelId="{D1D9857F-15E6-4B91-A663-416ED206BADD}" type="pres">
      <dgm:prSet presAssocID="{D19CD92A-5807-415A-BBC1-E7A8527C6153}" presName="spacing" presStyleCnt="0"/>
      <dgm:spPr/>
    </dgm:pt>
    <dgm:pt modelId="{12412F22-97B5-4E84-85F7-5C72B5D55869}" type="pres">
      <dgm:prSet presAssocID="{F2D3D92D-8243-45A0-9045-A4D63E6E7F40}" presName="composite" presStyleCnt="0"/>
      <dgm:spPr/>
    </dgm:pt>
    <dgm:pt modelId="{04B9F40C-275B-47DA-8505-BDB99315D1A6}" type="pres">
      <dgm:prSet presAssocID="{F2D3D92D-8243-45A0-9045-A4D63E6E7F40}" presName="imgShp" presStyleLbl="fgImgPlace1" presStyleIdx="1" presStyleCnt="7"/>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dgm:spPr>
    </dgm:pt>
    <dgm:pt modelId="{DD0567C2-639F-4DB2-8F5D-E4A1F0FA8E3D}" type="pres">
      <dgm:prSet presAssocID="{F2D3D92D-8243-45A0-9045-A4D63E6E7F40}" presName="txShp" presStyleLbl="node1" presStyleIdx="1" presStyleCnt="7">
        <dgm:presLayoutVars>
          <dgm:bulletEnabled val="1"/>
        </dgm:presLayoutVars>
      </dgm:prSet>
      <dgm:spPr/>
    </dgm:pt>
    <dgm:pt modelId="{7DD80274-21D7-4344-9B36-514B249C9ADD}" type="pres">
      <dgm:prSet presAssocID="{3B918B45-34EC-4674-8DDA-B9430DE47AFA}" presName="spacing" presStyleCnt="0"/>
      <dgm:spPr/>
    </dgm:pt>
    <dgm:pt modelId="{B8150EEF-7957-44CB-B2A8-4AE563810168}" type="pres">
      <dgm:prSet presAssocID="{39CEBE93-D45D-49EC-B30B-C25BD2F76776}" presName="composite" presStyleCnt="0"/>
      <dgm:spPr/>
    </dgm:pt>
    <dgm:pt modelId="{92DE488D-B3DE-493C-AC30-DA96AC1FFB62}" type="pres">
      <dgm:prSet presAssocID="{39CEBE93-D45D-49EC-B30B-C25BD2F76776}" presName="imgShp" presStyleLbl="fgImgPlace1" presStyleIdx="2" presStyleCnt="7"/>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dgm:spPr>
    </dgm:pt>
    <dgm:pt modelId="{32459D94-7759-4D01-B95F-2FAC20F969A3}" type="pres">
      <dgm:prSet presAssocID="{39CEBE93-D45D-49EC-B30B-C25BD2F76776}" presName="txShp" presStyleLbl="node1" presStyleIdx="2" presStyleCnt="7">
        <dgm:presLayoutVars>
          <dgm:bulletEnabled val="1"/>
        </dgm:presLayoutVars>
      </dgm:prSet>
      <dgm:spPr/>
    </dgm:pt>
    <dgm:pt modelId="{47834BAD-A98A-4433-9076-8E91796A6670}" type="pres">
      <dgm:prSet presAssocID="{13D24FEC-663A-4F2E-8991-319EA99DA20B}" presName="spacing" presStyleCnt="0"/>
      <dgm:spPr/>
    </dgm:pt>
    <dgm:pt modelId="{A5226936-B418-4B24-BA2B-AC29D3FDCEB2}" type="pres">
      <dgm:prSet presAssocID="{31271BEB-9A8A-4822-9836-B74D69D06E6E}" presName="composite" presStyleCnt="0"/>
      <dgm:spPr/>
    </dgm:pt>
    <dgm:pt modelId="{A6F09614-1B57-44CB-B907-F8E2D46EFEED}" type="pres">
      <dgm:prSet presAssocID="{31271BEB-9A8A-4822-9836-B74D69D06E6E}" presName="imgShp" presStyleLbl="fgImgPlace1" presStyleIdx="3" presStyleCnt="7"/>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dgm:spPr>
    </dgm:pt>
    <dgm:pt modelId="{FB7E7170-F4B7-4B0B-9000-4BF0206D9353}" type="pres">
      <dgm:prSet presAssocID="{31271BEB-9A8A-4822-9836-B74D69D06E6E}" presName="txShp" presStyleLbl="node1" presStyleIdx="3" presStyleCnt="7">
        <dgm:presLayoutVars>
          <dgm:bulletEnabled val="1"/>
        </dgm:presLayoutVars>
      </dgm:prSet>
      <dgm:spPr/>
    </dgm:pt>
    <dgm:pt modelId="{6E1D45FB-D7A7-4118-AD94-01DFBABBF3DA}" type="pres">
      <dgm:prSet presAssocID="{E5288AD6-4E26-4FCD-AAA0-B6E8B2F83D76}" presName="spacing" presStyleCnt="0"/>
      <dgm:spPr/>
    </dgm:pt>
    <dgm:pt modelId="{F0C15FC7-06CF-45A4-8275-8B38944324A5}" type="pres">
      <dgm:prSet presAssocID="{56F9FD42-4583-4A28-8C5F-0BD3A1160431}" presName="composite" presStyleCnt="0"/>
      <dgm:spPr/>
    </dgm:pt>
    <dgm:pt modelId="{D61B7255-D308-44FB-979B-BD5549502A3A}" type="pres">
      <dgm:prSet presAssocID="{56F9FD42-4583-4A28-8C5F-0BD3A1160431}" presName="imgShp" presStyleLbl="fgImgPlace1" presStyleIdx="4" presStyleCnt="7"/>
      <dgm:spPr>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dgm:spPr>
    </dgm:pt>
    <dgm:pt modelId="{C7B6737C-F129-4379-AF97-7E098CF82549}" type="pres">
      <dgm:prSet presAssocID="{56F9FD42-4583-4A28-8C5F-0BD3A1160431}" presName="txShp" presStyleLbl="node1" presStyleIdx="4" presStyleCnt="7">
        <dgm:presLayoutVars>
          <dgm:bulletEnabled val="1"/>
        </dgm:presLayoutVars>
      </dgm:prSet>
      <dgm:spPr/>
    </dgm:pt>
    <dgm:pt modelId="{BB664456-D3BE-41AE-B032-290A5728640D}" type="pres">
      <dgm:prSet presAssocID="{80B7C9B3-F9FA-414C-9AB1-BC88F070EAB5}" presName="spacing" presStyleCnt="0"/>
      <dgm:spPr/>
    </dgm:pt>
    <dgm:pt modelId="{34047A67-4A88-4D1D-8E1E-0C4253FB4360}" type="pres">
      <dgm:prSet presAssocID="{345A0E49-CE9E-42D8-BBD9-5125A1B2C1A0}" presName="composite" presStyleCnt="0"/>
      <dgm:spPr/>
    </dgm:pt>
    <dgm:pt modelId="{9BF7EE4E-012F-4DF5-B272-EAA79ECA8C75}" type="pres">
      <dgm:prSet presAssocID="{345A0E49-CE9E-42D8-BBD9-5125A1B2C1A0}" presName="imgShp" presStyleLbl="fgImgPlace1" presStyleIdx="5" presStyleCnt="7"/>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dgm:spPr>
    </dgm:pt>
    <dgm:pt modelId="{42B48CE5-911D-44D5-AFA1-377112EF11A6}" type="pres">
      <dgm:prSet presAssocID="{345A0E49-CE9E-42D8-BBD9-5125A1B2C1A0}" presName="txShp" presStyleLbl="node1" presStyleIdx="5" presStyleCnt="7">
        <dgm:presLayoutVars>
          <dgm:bulletEnabled val="1"/>
        </dgm:presLayoutVars>
      </dgm:prSet>
      <dgm:spPr/>
    </dgm:pt>
    <dgm:pt modelId="{1DA9CB06-B2B5-42D3-8D21-F7214E0D96B5}" type="pres">
      <dgm:prSet presAssocID="{071806DC-3B9D-4BBE-966F-31C19BC1B5BD}" presName="spacing" presStyleCnt="0"/>
      <dgm:spPr/>
    </dgm:pt>
    <dgm:pt modelId="{ADFA2B5E-1568-4F12-BA99-A0DEFFA8E653}" type="pres">
      <dgm:prSet presAssocID="{41CEA816-6376-493D-B9E5-598751467D72}" presName="composite" presStyleCnt="0"/>
      <dgm:spPr/>
    </dgm:pt>
    <dgm:pt modelId="{4737311F-297D-4E95-B8C4-5619F0D22DF2}" type="pres">
      <dgm:prSet presAssocID="{41CEA816-6376-493D-B9E5-598751467D72}" presName="imgShp" presStyleLbl="fgImgPlace1" presStyleIdx="6" presStyleCnt="7"/>
      <dgm:spPr/>
    </dgm:pt>
    <dgm:pt modelId="{AB384311-3D9B-45D7-AAED-45272C0B16D1}" type="pres">
      <dgm:prSet presAssocID="{41CEA816-6376-493D-B9E5-598751467D72}" presName="txShp" presStyleLbl="node1" presStyleIdx="6" presStyleCnt="7">
        <dgm:presLayoutVars>
          <dgm:bulletEnabled val="1"/>
        </dgm:presLayoutVars>
      </dgm:prSet>
      <dgm:spPr/>
    </dgm:pt>
  </dgm:ptLst>
  <dgm:cxnLst>
    <dgm:cxn modelId="{C030390E-43E1-40B4-8924-ADAF9AF0BDDE}" srcId="{51D1D430-D996-41E4-BA1B-C6A83F36946C}" destId="{56F9FD42-4583-4A28-8C5F-0BD3A1160431}" srcOrd="4" destOrd="0" parTransId="{E99CA429-E7B4-4EB5-8DDD-E6592C4B95C3}" sibTransId="{80B7C9B3-F9FA-414C-9AB1-BC88F070EAB5}"/>
    <dgm:cxn modelId="{D12F5A0E-DA3A-483A-956B-831121C73948}" type="presOf" srcId="{41CEA816-6376-493D-B9E5-598751467D72}" destId="{AB384311-3D9B-45D7-AAED-45272C0B16D1}" srcOrd="0" destOrd="0" presId="urn:microsoft.com/office/officeart/2005/8/layout/vList3#1"/>
    <dgm:cxn modelId="{2775021C-D204-4FE7-A731-4792D5389EAD}" srcId="{51D1D430-D996-41E4-BA1B-C6A83F36946C}" destId="{F2D3D92D-8243-45A0-9045-A4D63E6E7F40}" srcOrd="1" destOrd="0" parTransId="{940EF993-6126-4520-B05A-6D4B241C30CB}" sibTransId="{3B918B45-34EC-4674-8DDA-B9430DE47AFA}"/>
    <dgm:cxn modelId="{6AE5EE6D-F77C-48DC-A10F-EAF1E6A3121C}" type="presOf" srcId="{F2D3D92D-8243-45A0-9045-A4D63E6E7F40}" destId="{DD0567C2-639F-4DB2-8F5D-E4A1F0FA8E3D}" srcOrd="0" destOrd="0" presId="urn:microsoft.com/office/officeart/2005/8/layout/vList3#1"/>
    <dgm:cxn modelId="{58D8FC51-173E-4B93-9AC0-A73CED98A0F9}" srcId="{51D1D430-D996-41E4-BA1B-C6A83F36946C}" destId="{31271BEB-9A8A-4822-9836-B74D69D06E6E}" srcOrd="3" destOrd="0" parTransId="{18ECF403-4643-451F-AA8F-EAB068A079EE}" sibTransId="{E5288AD6-4E26-4FCD-AAA0-B6E8B2F83D76}"/>
    <dgm:cxn modelId="{EBFD6E5A-7A20-4CF4-9BB9-8C814639A37B}" srcId="{51D1D430-D996-41E4-BA1B-C6A83F36946C}" destId="{345A0E49-CE9E-42D8-BBD9-5125A1B2C1A0}" srcOrd="5" destOrd="0" parTransId="{AF7CF8DB-9D81-41A4-977C-9BE1758196B4}" sibTransId="{071806DC-3B9D-4BBE-966F-31C19BC1B5BD}"/>
    <dgm:cxn modelId="{8F53B97E-D5C8-45D0-AB49-E9BCA145D685}" type="presOf" srcId="{31271BEB-9A8A-4822-9836-B74D69D06E6E}" destId="{FB7E7170-F4B7-4B0B-9000-4BF0206D9353}" srcOrd="0" destOrd="0" presId="urn:microsoft.com/office/officeart/2005/8/layout/vList3#1"/>
    <dgm:cxn modelId="{F2294D84-630C-47EE-B7EA-88571B5A25B3}" type="presOf" srcId="{39CEBE93-D45D-49EC-B30B-C25BD2F76776}" destId="{32459D94-7759-4D01-B95F-2FAC20F969A3}" srcOrd="0" destOrd="0" presId="urn:microsoft.com/office/officeart/2005/8/layout/vList3#1"/>
    <dgm:cxn modelId="{B1BB62B4-F4F7-4832-8FFB-55905485C1DE}" type="presOf" srcId="{345A0E49-CE9E-42D8-BBD9-5125A1B2C1A0}" destId="{42B48CE5-911D-44D5-AFA1-377112EF11A6}" srcOrd="0" destOrd="0" presId="urn:microsoft.com/office/officeart/2005/8/layout/vList3#1"/>
    <dgm:cxn modelId="{DAEBBFB6-C82D-4C01-9BF5-DD42C1C4BF17}" srcId="{51D1D430-D996-41E4-BA1B-C6A83F36946C}" destId="{8A4F00E3-F46A-4CBA-82B2-5A10E450DA39}" srcOrd="0" destOrd="0" parTransId="{F63FFB52-3939-4213-9316-F1327036C529}" sibTransId="{D19CD92A-5807-415A-BBC1-E7A8527C6153}"/>
    <dgm:cxn modelId="{3818B0C2-78AA-4551-9381-4676DEE6C459}" type="presOf" srcId="{56F9FD42-4583-4A28-8C5F-0BD3A1160431}" destId="{C7B6737C-F129-4379-AF97-7E098CF82549}" srcOrd="0" destOrd="0" presId="urn:microsoft.com/office/officeart/2005/8/layout/vList3#1"/>
    <dgm:cxn modelId="{B0BFC0C5-8336-4096-96A6-4FBE33FB8539}" type="presOf" srcId="{51D1D430-D996-41E4-BA1B-C6A83F36946C}" destId="{B9B6B670-2E60-4D51-A0B1-71512ED65AD3}" srcOrd="0" destOrd="0" presId="urn:microsoft.com/office/officeart/2005/8/layout/vList3#1"/>
    <dgm:cxn modelId="{4F7F16C6-1413-466C-82E8-3BF2FF8D3234}" type="presOf" srcId="{8A4F00E3-F46A-4CBA-82B2-5A10E450DA39}" destId="{E7634DBF-D9F5-4E0A-9541-5A67CB150864}" srcOrd="0" destOrd="0" presId="urn:microsoft.com/office/officeart/2005/8/layout/vList3#1"/>
    <dgm:cxn modelId="{3B416CD1-15BF-4252-98CA-E9EF29FD84C3}" srcId="{51D1D430-D996-41E4-BA1B-C6A83F36946C}" destId="{41CEA816-6376-493D-B9E5-598751467D72}" srcOrd="6" destOrd="0" parTransId="{55B9415A-8452-48F8-B878-407D67BB953D}" sibTransId="{83C14E44-8D8D-4FCB-B967-B8ADA78E25B7}"/>
    <dgm:cxn modelId="{B05209F2-E2B6-415B-AAC7-5128F62E2C8E}" srcId="{51D1D430-D996-41E4-BA1B-C6A83F36946C}" destId="{39CEBE93-D45D-49EC-B30B-C25BD2F76776}" srcOrd="2" destOrd="0" parTransId="{AA55A792-AF04-4098-B181-C38BF0226235}" sibTransId="{13D24FEC-663A-4F2E-8991-319EA99DA20B}"/>
    <dgm:cxn modelId="{7D0F599C-460D-435C-A19F-50A2D7EDB3C9}" type="presParOf" srcId="{B9B6B670-2E60-4D51-A0B1-71512ED65AD3}" destId="{F2AD5EEB-A85F-4177-B696-809101961F83}" srcOrd="0" destOrd="0" presId="urn:microsoft.com/office/officeart/2005/8/layout/vList3#1"/>
    <dgm:cxn modelId="{593BE286-84A5-4118-9930-A98FC6D519BA}" type="presParOf" srcId="{F2AD5EEB-A85F-4177-B696-809101961F83}" destId="{AB5BAA63-A84A-45D9-BE90-07814A821613}" srcOrd="0" destOrd="0" presId="urn:microsoft.com/office/officeart/2005/8/layout/vList3#1"/>
    <dgm:cxn modelId="{9CFB5CAF-6BF2-467D-9FB8-996A5ED02915}" type="presParOf" srcId="{F2AD5EEB-A85F-4177-B696-809101961F83}" destId="{E7634DBF-D9F5-4E0A-9541-5A67CB150864}" srcOrd="1" destOrd="0" presId="urn:microsoft.com/office/officeart/2005/8/layout/vList3#1"/>
    <dgm:cxn modelId="{719B2224-DD6A-46C9-B526-1B8DA1143B9B}" type="presParOf" srcId="{B9B6B670-2E60-4D51-A0B1-71512ED65AD3}" destId="{D1D9857F-15E6-4B91-A663-416ED206BADD}" srcOrd="1" destOrd="0" presId="urn:microsoft.com/office/officeart/2005/8/layout/vList3#1"/>
    <dgm:cxn modelId="{365B5F7C-EE86-4410-BCFD-2F2EB26B5668}" type="presParOf" srcId="{B9B6B670-2E60-4D51-A0B1-71512ED65AD3}" destId="{12412F22-97B5-4E84-85F7-5C72B5D55869}" srcOrd="2" destOrd="0" presId="urn:microsoft.com/office/officeart/2005/8/layout/vList3#1"/>
    <dgm:cxn modelId="{D6BE9DE1-DD72-4F40-B0E5-99589FD26DF4}" type="presParOf" srcId="{12412F22-97B5-4E84-85F7-5C72B5D55869}" destId="{04B9F40C-275B-47DA-8505-BDB99315D1A6}" srcOrd="0" destOrd="0" presId="urn:microsoft.com/office/officeart/2005/8/layout/vList3#1"/>
    <dgm:cxn modelId="{304DB147-9BF0-4099-9D88-2615457A603A}" type="presParOf" srcId="{12412F22-97B5-4E84-85F7-5C72B5D55869}" destId="{DD0567C2-639F-4DB2-8F5D-E4A1F0FA8E3D}" srcOrd="1" destOrd="0" presId="urn:microsoft.com/office/officeart/2005/8/layout/vList3#1"/>
    <dgm:cxn modelId="{60303404-6627-41D1-A483-17D15329BCF2}" type="presParOf" srcId="{B9B6B670-2E60-4D51-A0B1-71512ED65AD3}" destId="{7DD80274-21D7-4344-9B36-514B249C9ADD}" srcOrd="3" destOrd="0" presId="urn:microsoft.com/office/officeart/2005/8/layout/vList3#1"/>
    <dgm:cxn modelId="{E2FC0F46-4982-477E-BDB2-83D4FF689D87}" type="presParOf" srcId="{B9B6B670-2E60-4D51-A0B1-71512ED65AD3}" destId="{B8150EEF-7957-44CB-B2A8-4AE563810168}" srcOrd="4" destOrd="0" presId="urn:microsoft.com/office/officeart/2005/8/layout/vList3#1"/>
    <dgm:cxn modelId="{3D1442C3-7605-4722-82C9-6B5307EAAB56}" type="presParOf" srcId="{B8150EEF-7957-44CB-B2A8-4AE563810168}" destId="{92DE488D-B3DE-493C-AC30-DA96AC1FFB62}" srcOrd="0" destOrd="0" presId="urn:microsoft.com/office/officeart/2005/8/layout/vList3#1"/>
    <dgm:cxn modelId="{8882025F-5993-40CC-AFD7-D1D04CAD30F8}" type="presParOf" srcId="{B8150EEF-7957-44CB-B2A8-4AE563810168}" destId="{32459D94-7759-4D01-B95F-2FAC20F969A3}" srcOrd="1" destOrd="0" presId="urn:microsoft.com/office/officeart/2005/8/layout/vList3#1"/>
    <dgm:cxn modelId="{75287474-B18B-44F6-B52B-FE24F75485C2}" type="presParOf" srcId="{B9B6B670-2E60-4D51-A0B1-71512ED65AD3}" destId="{47834BAD-A98A-4433-9076-8E91796A6670}" srcOrd="5" destOrd="0" presId="urn:microsoft.com/office/officeart/2005/8/layout/vList3#1"/>
    <dgm:cxn modelId="{B0FCF2CE-025D-4232-80E5-83D56FCAB3AF}" type="presParOf" srcId="{B9B6B670-2E60-4D51-A0B1-71512ED65AD3}" destId="{A5226936-B418-4B24-BA2B-AC29D3FDCEB2}" srcOrd="6" destOrd="0" presId="urn:microsoft.com/office/officeart/2005/8/layout/vList3#1"/>
    <dgm:cxn modelId="{3C4578A0-048A-40EC-9D11-98EA784DD1B8}" type="presParOf" srcId="{A5226936-B418-4B24-BA2B-AC29D3FDCEB2}" destId="{A6F09614-1B57-44CB-B907-F8E2D46EFEED}" srcOrd="0" destOrd="0" presId="urn:microsoft.com/office/officeart/2005/8/layout/vList3#1"/>
    <dgm:cxn modelId="{C80AA47F-A532-4464-912C-AB2DB4C3EE00}" type="presParOf" srcId="{A5226936-B418-4B24-BA2B-AC29D3FDCEB2}" destId="{FB7E7170-F4B7-4B0B-9000-4BF0206D9353}" srcOrd="1" destOrd="0" presId="urn:microsoft.com/office/officeart/2005/8/layout/vList3#1"/>
    <dgm:cxn modelId="{60B4676C-9BA8-46E7-8336-3C9E8D7614AF}" type="presParOf" srcId="{B9B6B670-2E60-4D51-A0B1-71512ED65AD3}" destId="{6E1D45FB-D7A7-4118-AD94-01DFBABBF3DA}" srcOrd="7" destOrd="0" presId="urn:microsoft.com/office/officeart/2005/8/layout/vList3#1"/>
    <dgm:cxn modelId="{84DF445C-3E51-4BE0-BCE5-3788B9E8E2C4}" type="presParOf" srcId="{B9B6B670-2E60-4D51-A0B1-71512ED65AD3}" destId="{F0C15FC7-06CF-45A4-8275-8B38944324A5}" srcOrd="8" destOrd="0" presId="urn:microsoft.com/office/officeart/2005/8/layout/vList3#1"/>
    <dgm:cxn modelId="{98115743-DA9D-496B-9D4A-73EA55CE88CA}" type="presParOf" srcId="{F0C15FC7-06CF-45A4-8275-8B38944324A5}" destId="{D61B7255-D308-44FB-979B-BD5549502A3A}" srcOrd="0" destOrd="0" presId="urn:microsoft.com/office/officeart/2005/8/layout/vList3#1"/>
    <dgm:cxn modelId="{89BC8F60-4693-4E7E-B664-3526737C9473}" type="presParOf" srcId="{F0C15FC7-06CF-45A4-8275-8B38944324A5}" destId="{C7B6737C-F129-4379-AF97-7E098CF82549}" srcOrd="1" destOrd="0" presId="urn:microsoft.com/office/officeart/2005/8/layout/vList3#1"/>
    <dgm:cxn modelId="{06A4A751-435E-4EB3-8263-F4C0FCC737BA}" type="presParOf" srcId="{B9B6B670-2E60-4D51-A0B1-71512ED65AD3}" destId="{BB664456-D3BE-41AE-B032-290A5728640D}" srcOrd="9" destOrd="0" presId="urn:microsoft.com/office/officeart/2005/8/layout/vList3#1"/>
    <dgm:cxn modelId="{CC998FB6-6BE0-4670-BD85-671FB59323EB}" type="presParOf" srcId="{B9B6B670-2E60-4D51-A0B1-71512ED65AD3}" destId="{34047A67-4A88-4D1D-8E1E-0C4253FB4360}" srcOrd="10" destOrd="0" presId="urn:microsoft.com/office/officeart/2005/8/layout/vList3#1"/>
    <dgm:cxn modelId="{2C5C2ED4-25B3-4D76-BD0A-4C3B4693B124}" type="presParOf" srcId="{34047A67-4A88-4D1D-8E1E-0C4253FB4360}" destId="{9BF7EE4E-012F-4DF5-B272-EAA79ECA8C75}" srcOrd="0" destOrd="0" presId="urn:microsoft.com/office/officeart/2005/8/layout/vList3#1"/>
    <dgm:cxn modelId="{2B3A76D8-B638-4E08-8194-1F8969229CFF}" type="presParOf" srcId="{34047A67-4A88-4D1D-8E1E-0C4253FB4360}" destId="{42B48CE5-911D-44D5-AFA1-377112EF11A6}" srcOrd="1" destOrd="0" presId="urn:microsoft.com/office/officeart/2005/8/layout/vList3#1"/>
    <dgm:cxn modelId="{5D432E06-4916-4243-9A51-BA09B0C9A8FA}" type="presParOf" srcId="{B9B6B670-2E60-4D51-A0B1-71512ED65AD3}" destId="{1DA9CB06-B2B5-42D3-8D21-F7214E0D96B5}" srcOrd="11" destOrd="0" presId="urn:microsoft.com/office/officeart/2005/8/layout/vList3#1"/>
    <dgm:cxn modelId="{7A09CFE1-39FD-4FEB-BAC6-AEECD7F5268C}" type="presParOf" srcId="{B9B6B670-2E60-4D51-A0B1-71512ED65AD3}" destId="{ADFA2B5E-1568-4F12-BA99-A0DEFFA8E653}" srcOrd="12" destOrd="0" presId="urn:microsoft.com/office/officeart/2005/8/layout/vList3#1"/>
    <dgm:cxn modelId="{8462ABDE-8704-4537-A38B-F7B406D4E01B}" type="presParOf" srcId="{ADFA2B5E-1568-4F12-BA99-A0DEFFA8E653}" destId="{4737311F-297D-4E95-B8C4-5619F0D22DF2}" srcOrd="0" destOrd="0" presId="urn:microsoft.com/office/officeart/2005/8/layout/vList3#1"/>
    <dgm:cxn modelId="{880A6CC5-01B4-487F-B984-B5D3483F0793}" type="presParOf" srcId="{ADFA2B5E-1568-4F12-BA99-A0DEFFA8E653}" destId="{AB384311-3D9B-45D7-AAED-45272C0B16D1}" srcOrd="1" destOrd="0" presId="urn:microsoft.com/office/officeart/2005/8/layout/vList3#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E9E8D6-7943-491A-9523-3E98B8E87243}" type="doc">
      <dgm:prSet loTypeId="urn:microsoft.com/office/officeart/2009/3/layout/StepUpProcess" loCatId="process" qsTypeId="urn:microsoft.com/office/officeart/2005/8/quickstyle/simple3" qsCatId="simple" csTypeId="urn:microsoft.com/office/officeart/2005/8/colors/colorful1#3" csCatId="colorful" phldr="1"/>
      <dgm:spPr/>
    </dgm:pt>
    <dgm:pt modelId="{7525BF00-3F15-4D22-873A-D01B4ACE4B0B}">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1969 – 1990</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从单个网络 </a:t>
          </a:r>
          <a:r>
            <a:rPr lang="en-US" altLang="en-US" sz="1800" b="1" dirty="0">
              <a:latin typeface="微软雅黑" panose="020B0503020204020204" pitchFamily="34" charset="-122"/>
              <a:ea typeface="微软雅黑" panose="020B0503020204020204" pitchFamily="34" charset="-122"/>
            </a:rPr>
            <a:t>ARPANET </a:t>
          </a:r>
          <a:r>
            <a:rPr lang="zh-CN" altLang="en-US" sz="1800" b="1" dirty="0">
              <a:latin typeface="微软雅黑" panose="020B0503020204020204" pitchFamily="34" charset="-122"/>
              <a:ea typeface="微软雅黑" panose="020B0503020204020204" pitchFamily="34" charset="-122"/>
            </a:rPr>
            <a:t>向互联网发展。</a:t>
          </a:r>
        </a:p>
      </dgm:t>
    </dgm:pt>
    <dgm:pt modelId="{8E64C77F-27AA-4FE1-A02F-58BED5B2B53E}" type="par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06F6F5A-3DC5-4356-9FF7-49BF329376D0}" type="sib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E9B057-D1EF-4B46-A5F0-3833969C6F68}">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1985 – 1993</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建成了三级结构的互联网 。</a:t>
          </a:r>
        </a:p>
      </dgm:t>
    </dgm:pt>
    <dgm:pt modelId="{2FF9A435-A270-4C54-AB5F-49378E55D42B}" type="par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3761B63-477C-4FC3-9819-A534BE583620}" type="sib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61D3777-5F64-44B8-9B83-5B7FD079F6FA}">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1993 –</a:t>
          </a:r>
          <a:r>
            <a:rPr lang="en-US" altLang="zh-CN" sz="1800" b="1" dirty="0">
              <a:solidFill>
                <a:srgbClr val="CC00CC"/>
              </a:solidFill>
              <a:latin typeface="微软雅黑" panose="020B0503020204020204" pitchFamily="34" charset="-122"/>
              <a:ea typeface="微软雅黑" panose="020B0503020204020204" pitchFamily="34" charset="-122"/>
            </a:rPr>
            <a:t> </a:t>
          </a:r>
          <a:r>
            <a:rPr lang="zh-CN" altLang="en-US" sz="1800" b="1" dirty="0">
              <a:solidFill>
                <a:srgbClr val="CC00CC"/>
              </a:solidFill>
              <a:latin typeface="微软雅黑" panose="020B0503020204020204" pitchFamily="34" charset="-122"/>
              <a:ea typeface="微软雅黑" panose="020B0503020204020204" pitchFamily="34" charset="-122"/>
            </a:rPr>
            <a:t>现在</a:t>
          </a:r>
          <a:endParaRPr lang="en-US" altLang="zh-CN" sz="1800" b="1" dirty="0">
            <a:solidFill>
              <a:srgbClr val="CC00CC"/>
            </a:solidFill>
            <a:latin typeface="微软雅黑" panose="020B0503020204020204" pitchFamily="34" charset="-122"/>
            <a:ea typeface="微软雅黑" panose="020B0503020204020204" pitchFamily="34" charset="-122"/>
          </a:endParaRPr>
        </a:p>
        <a:p>
          <a:pPr>
            <a:lnSpc>
              <a:spcPts val="2800"/>
            </a:lnSpc>
            <a:spcAft>
              <a:spcPts val="0"/>
            </a:spcAft>
          </a:pPr>
          <a:r>
            <a:rPr lang="zh-CN" altLang="zh-CN" sz="1800" b="1" dirty="0">
              <a:latin typeface="微软雅黑" panose="020B0503020204020204" pitchFamily="34" charset="-122"/>
              <a:ea typeface="微软雅黑" panose="020B0503020204020204" pitchFamily="34" charset="-122"/>
            </a:rPr>
            <a:t>全球范围的多层次</a:t>
          </a:r>
          <a:r>
            <a:rPr lang="en-US" altLang="zh-CN" sz="1800" b="1" dirty="0">
              <a:latin typeface="微软雅黑" panose="020B0503020204020204" pitchFamily="34" charset="-122"/>
              <a:ea typeface="微软雅黑" panose="020B0503020204020204" pitchFamily="34" charset="-122"/>
            </a:rPr>
            <a:t> ISP </a:t>
          </a:r>
          <a:r>
            <a:rPr lang="zh-CN" altLang="zh-CN" sz="1800" b="1" dirty="0">
              <a:latin typeface="微软雅黑" panose="020B0503020204020204" pitchFamily="34" charset="-122"/>
              <a:ea typeface="微软雅黑" panose="020B0503020204020204" pitchFamily="34" charset="-122"/>
            </a:rPr>
            <a:t>结构的互联网。</a:t>
          </a:r>
          <a:endParaRPr lang="zh-CN" altLang="en-US" sz="1800" b="1" dirty="0">
            <a:latin typeface="微软雅黑" panose="020B0503020204020204" pitchFamily="34" charset="-122"/>
            <a:ea typeface="微软雅黑" panose="020B0503020204020204" pitchFamily="34" charset="-122"/>
          </a:endParaRPr>
        </a:p>
      </dgm:t>
    </dgm:pt>
    <dgm:pt modelId="{ABCE62BB-5A59-426D-B801-2B88D7E829BF}" type="par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5B7E9C0-C9A5-41D8-B3CA-03C0EB2E5AF1}" type="sib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B567201-BF31-4630-B798-FFEA490F14AC}" type="pres">
      <dgm:prSet presAssocID="{3DE9E8D6-7943-491A-9523-3E98B8E87243}" presName="rootnode" presStyleCnt="0">
        <dgm:presLayoutVars>
          <dgm:chMax/>
          <dgm:chPref/>
          <dgm:dir/>
          <dgm:animLvl val="lvl"/>
        </dgm:presLayoutVars>
      </dgm:prSet>
      <dgm:spPr/>
    </dgm:pt>
    <dgm:pt modelId="{9649E880-299C-4870-9F07-D92C84C9D746}" type="pres">
      <dgm:prSet presAssocID="{7525BF00-3F15-4D22-873A-D01B4ACE4B0B}" presName="composite" presStyleCnt="0"/>
      <dgm:spPr/>
    </dgm:pt>
    <dgm:pt modelId="{C11723FB-FD44-4790-9882-F784D01504C2}" type="pres">
      <dgm:prSet presAssocID="{7525BF00-3F15-4D22-873A-D01B4ACE4B0B}" presName="LShape" presStyleLbl="alignNode1" presStyleIdx="0" presStyleCnt="5" custScaleX="175558"/>
      <dgm:spPr/>
    </dgm:pt>
    <dgm:pt modelId="{9606A409-0386-4958-AF71-520045418D02}" type="pres">
      <dgm:prSet presAssocID="{7525BF00-3F15-4D22-873A-D01B4ACE4B0B}" presName="ParentText" presStyleLbl="revTx" presStyleIdx="0" presStyleCnt="3" custScaleX="178477">
        <dgm:presLayoutVars>
          <dgm:chMax val="0"/>
          <dgm:chPref val="0"/>
          <dgm:bulletEnabled val="1"/>
        </dgm:presLayoutVars>
      </dgm:prSet>
      <dgm:spPr/>
    </dgm:pt>
    <dgm:pt modelId="{01A2BA42-237A-44CF-A211-45BD14932625}" type="pres">
      <dgm:prSet presAssocID="{7525BF00-3F15-4D22-873A-D01B4ACE4B0B}" presName="Triangle" presStyleLbl="alignNode1" presStyleIdx="1" presStyleCnt="5"/>
      <dgm:spPr/>
    </dgm:pt>
    <dgm:pt modelId="{0AAD6196-57D2-4FC3-9D69-A209405DA879}" type="pres">
      <dgm:prSet presAssocID="{706F6F5A-3DC5-4356-9FF7-49BF329376D0}" presName="sibTrans" presStyleCnt="0"/>
      <dgm:spPr/>
    </dgm:pt>
    <dgm:pt modelId="{2CB18A98-EE04-4770-82BE-734866FE88EE}" type="pres">
      <dgm:prSet presAssocID="{706F6F5A-3DC5-4356-9FF7-49BF329376D0}" presName="space" presStyleCnt="0"/>
      <dgm:spPr/>
    </dgm:pt>
    <dgm:pt modelId="{BD715DBB-C3A4-444F-9B89-81407B4079A8}" type="pres">
      <dgm:prSet presAssocID="{29E9B057-D1EF-4B46-A5F0-3833969C6F68}" presName="composite" presStyleCnt="0"/>
      <dgm:spPr/>
    </dgm:pt>
    <dgm:pt modelId="{5D091C1B-882C-4A2B-868D-15AB708D584F}" type="pres">
      <dgm:prSet presAssocID="{29E9B057-D1EF-4B46-A5F0-3833969C6F68}" presName="LShape" presStyleLbl="alignNode1" presStyleIdx="2" presStyleCnt="5" custScaleX="172325"/>
      <dgm:spPr/>
    </dgm:pt>
    <dgm:pt modelId="{5DD1E37C-EDC3-41F4-891E-775C4AA49DFB}" type="pres">
      <dgm:prSet presAssocID="{29E9B057-D1EF-4B46-A5F0-3833969C6F68}" presName="ParentText" presStyleLbl="revTx" presStyleIdx="1" presStyleCnt="3" custScaleX="156225" custLinFactNeighborX="-9374">
        <dgm:presLayoutVars>
          <dgm:chMax val="0"/>
          <dgm:chPref val="0"/>
          <dgm:bulletEnabled val="1"/>
        </dgm:presLayoutVars>
      </dgm:prSet>
      <dgm:spPr/>
    </dgm:pt>
    <dgm:pt modelId="{2D8632D6-57D5-4C06-81CE-104155293B86}" type="pres">
      <dgm:prSet presAssocID="{29E9B057-D1EF-4B46-A5F0-3833969C6F68}" presName="Triangle" presStyleLbl="alignNode1" presStyleIdx="3" presStyleCnt="5"/>
      <dgm:spPr/>
    </dgm:pt>
    <dgm:pt modelId="{5D740B35-D22B-4243-B33F-F4F1E1237942}" type="pres">
      <dgm:prSet presAssocID="{93761B63-477C-4FC3-9819-A534BE583620}" presName="sibTrans" presStyleCnt="0"/>
      <dgm:spPr/>
    </dgm:pt>
    <dgm:pt modelId="{A2926BA1-9112-469A-9B06-D986FF68801D}" type="pres">
      <dgm:prSet presAssocID="{93761B63-477C-4FC3-9819-A534BE583620}" presName="space" presStyleCnt="0"/>
      <dgm:spPr/>
    </dgm:pt>
    <dgm:pt modelId="{C409DF66-17A8-4B3B-BEF1-FDCC8141A7A8}" type="pres">
      <dgm:prSet presAssocID="{461D3777-5F64-44B8-9B83-5B7FD079F6FA}" presName="composite" presStyleCnt="0"/>
      <dgm:spPr/>
    </dgm:pt>
    <dgm:pt modelId="{0B75B0BF-1D47-48F1-94FD-0201A392E554}" type="pres">
      <dgm:prSet presAssocID="{461D3777-5F64-44B8-9B83-5B7FD079F6FA}" presName="LShape" presStyleLbl="alignNode1" presStyleIdx="4" presStyleCnt="5" custScaleX="145489"/>
      <dgm:spPr/>
    </dgm:pt>
    <dgm:pt modelId="{F0C4A08D-D529-4101-B85D-56E13A637234}" type="pres">
      <dgm:prSet presAssocID="{461D3777-5F64-44B8-9B83-5B7FD079F6FA}" presName="ParentText" presStyleLbl="revTx" presStyleIdx="2" presStyleCnt="3" custScaleX="144437">
        <dgm:presLayoutVars>
          <dgm:chMax val="0"/>
          <dgm:chPref val="0"/>
          <dgm:bulletEnabled val="1"/>
        </dgm:presLayoutVars>
      </dgm:prSet>
      <dgm:spPr/>
    </dgm:pt>
  </dgm:ptLst>
  <dgm:cxnLst>
    <dgm:cxn modelId="{E8B0EB37-8D4D-4977-B2B1-DC26A74E9347}" type="presOf" srcId="{3DE9E8D6-7943-491A-9523-3E98B8E87243}" destId="{5B567201-BF31-4630-B798-FFEA490F14AC}" srcOrd="0" destOrd="0" presId="urn:microsoft.com/office/officeart/2009/3/layout/StepUpProcess"/>
    <dgm:cxn modelId="{0B00275C-889C-414D-BBDA-840FD43B6E5F}" type="presOf" srcId="{7525BF00-3F15-4D22-873A-D01B4ACE4B0B}" destId="{9606A409-0386-4958-AF71-520045418D02}" srcOrd="0" destOrd="0" presId="urn:microsoft.com/office/officeart/2009/3/layout/StepUpProcess"/>
    <dgm:cxn modelId="{C112CC49-5DBC-4CD3-9E42-3E8414A4E66F}" type="presOf" srcId="{461D3777-5F64-44B8-9B83-5B7FD079F6FA}" destId="{F0C4A08D-D529-4101-B85D-56E13A637234}" srcOrd="0" destOrd="0" presId="urn:microsoft.com/office/officeart/2009/3/layout/StepUpProcess"/>
    <dgm:cxn modelId="{9CE56956-FCE7-46CA-BC05-78011787A430}" srcId="{3DE9E8D6-7943-491A-9523-3E98B8E87243}" destId="{461D3777-5F64-44B8-9B83-5B7FD079F6FA}" srcOrd="2" destOrd="0" parTransId="{ABCE62BB-5A59-426D-B801-2B88D7E829BF}" sibTransId="{25B7E9C0-C9A5-41D8-B3CA-03C0EB2E5AF1}"/>
    <dgm:cxn modelId="{C7815E85-C267-48CA-91E2-39605BCE67C6}" srcId="{3DE9E8D6-7943-491A-9523-3E98B8E87243}" destId="{7525BF00-3F15-4D22-873A-D01B4ACE4B0B}" srcOrd="0" destOrd="0" parTransId="{8E64C77F-27AA-4FE1-A02F-58BED5B2B53E}" sibTransId="{706F6F5A-3DC5-4356-9FF7-49BF329376D0}"/>
    <dgm:cxn modelId="{0F47369F-75EF-4875-B4B0-2E8C24B17E83}" srcId="{3DE9E8D6-7943-491A-9523-3E98B8E87243}" destId="{29E9B057-D1EF-4B46-A5F0-3833969C6F68}" srcOrd="1" destOrd="0" parTransId="{2FF9A435-A270-4C54-AB5F-49378E55D42B}" sibTransId="{93761B63-477C-4FC3-9819-A534BE583620}"/>
    <dgm:cxn modelId="{27F659B2-8BE5-4BDE-B675-088B362B04CA}" type="presOf" srcId="{29E9B057-D1EF-4B46-A5F0-3833969C6F68}" destId="{5DD1E37C-EDC3-41F4-891E-775C4AA49DFB}" srcOrd="0" destOrd="0" presId="urn:microsoft.com/office/officeart/2009/3/layout/StepUpProcess"/>
    <dgm:cxn modelId="{075DB7A2-B58A-4AC2-A09C-8806C8F0C463}" type="presParOf" srcId="{5B567201-BF31-4630-B798-FFEA490F14AC}" destId="{9649E880-299C-4870-9F07-D92C84C9D746}" srcOrd="0" destOrd="0" presId="urn:microsoft.com/office/officeart/2009/3/layout/StepUpProcess"/>
    <dgm:cxn modelId="{029D34AE-8145-4CB1-B304-F10BB47F38C2}" type="presParOf" srcId="{9649E880-299C-4870-9F07-D92C84C9D746}" destId="{C11723FB-FD44-4790-9882-F784D01504C2}" srcOrd="0" destOrd="0" presId="urn:microsoft.com/office/officeart/2009/3/layout/StepUpProcess"/>
    <dgm:cxn modelId="{F1251247-A7D5-4A0E-9811-58EC7F5B58B8}" type="presParOf" srcId="{9649E880-299C-4870-9F07-D92C84C9D746}" destId="{9606A409-0386-4958-AF71-520045418D02}" srcOrd="1" destOrd="0" presId="urn:microsoft.com/office/officeart/2009/3/layout/StepUpProcess"/>
    <dgm:cxn modelId="{D5229B79-EDD8-4214-82DF-B3E76F707804}" type="presParOf" srcId="{9649E880-299C-4870-9F07-D92C84C9D746}" destId="{01A2BA42-237A-44CF-A211-45BD14932625}" srcOrd="2" destOrd="0" presId="urn:microsoft.com/office/officeart/2009/3/layout/StepUpProcess"/>
    <dgm:cxn modelId="{2DEC91FF-1F01-4266-B44F-12052CEE10FD}" type="presParOf" srcId="{5B567201-BF31-4630-B798-FFEA490F14AC}" destId="{0AAD6196-57D2-4FC3-9D69-A209405DA879}" srcOrd="1" destOrd="0" presId="urn:microsoft.com/office/officeart/2009/3/layout/StepUpProcess"/>
    <dgm:cxn modelId="{7BCAF329-3C42-404A-B657-7113F59BF345}" type="presParOf" srcId="{0AAD6196-57D2-4FC3-9D69-A209405DA879}" destId="{2CB18A98-EE04-4770-82BE-734866FE88EE}" srcOrd="0" destOrd="0" presId="urn:microsoft.com/office/officeart/2009/3/layout/StepUpProcess"/>
    <dgm:cxn modelId="{9058649C-3ADE-4DD7-BEB6-67B65E45452D}" type="presParOf" srcId="{5B567201-BF31-4630-B798-FFEA490F14AC}" destId="{BD715DBB-C3A4-444F-9B89-81407B4079A8}" srcOrd="2" destOrd="0" presId="urn:microsoft.com/office/officeart/2009/3/layout/StepUpProcess"/>
    <dgm:cxn modelId="{A4A08015-1D72-48ED-A2C6-561FB6077994}" type="presParOf" srcId="{BD715DBB-C3A4-444F-9B89-81407B4079A8}" destId="{5D091C1B-882C-4A2B-868D-15AB708D584F}" srcOrd="0" destOrd="0" presId="urn:microsoft.com/office/officeart/2009/3/layout/StepUpProcess"/>
    <dgm:cxn modelId="{003A3BD6-572B-4010-BE4A-8030A57D3D0E}" type="presParOf" srcId="{BD715DBB-C3A4-444F-9B89-81407B4079A8}" destId="{5DD1E37C-EDC3-41F4-891E-775C4AA49DFB}" srcOrd="1" destOrd="0" presId="urn:microsoft.com/office/officeart/2009/3/layout/StepUpProcess"/>
    <dgm:cxn modelId="{C572334A-EBBF-4CCB-80F1-66C75EC7C7F4}" type="presParOf" srcId="{BD715DBB-C3A4-444F-9B89-81407B4079A8}" destId="{2D8632D6-57D5-4C06-81CE-104155293B86}" srcOrd="2" destOrd="0" presId="urn:microsoft.com/office/officeart/2009/3/layout/StepUpProcess"/>
    <dgm:cxn modelId="{CAFB4AAA-AA41-4DFA-9B67-2DAB7B40E34D}" type="presParOf" srcId="{5B567201-BF31-4630-B798-FFEA490F14AC}" destId="{5D740B35-D22B-4243-B33F-F4F1E1237942}" srcOrd="3" destOrd="0" presId="urn:microsoft.com/office/officeart/2009/3/layout/StepUpProcess"/>
    <dgm:cxn modelId="{98DB72F9-C300-4854-B10B-478262CE38D6}" type="presParOf" srcId="{5D740B35-D22B-4243-B33F-F4F1E1237942}" destId="{A2926BA1-9112-469A-9B06-D986FF68801D}" srcOrd="0" destOrd="0" presId="urn:microsoft.com/office/officeart/2009/3/layout/StepUpProcess"/>
    <dgm:cxn modelId="{B4BB75C6-CFAD-45C7-ACA4-F708BCCB011B}" type="presParOf" srcId="{5B567201-BF31-4630-B798-FFEA490F14AC}" destId="{C409DF66-17A8-4B3B-BEF1-FDCC8141A7A8}" srcOrd="4" destOrd="0" presId="urn:microsoft.com/office/officeart/2009/3/layout/StepUpProcess"/>
    <dgm:cxn modelId="{3D21E461-C6E7-4CB6-9F1D-6554E5490C83}" type="presParOf" srcId="{C409DF66-17A8-4B3B-BEF1-FDCC8141A7A8}" destId="{0B75B0BF-1D47-48F1-94FD-0201A392E554}" srcOrd="0" destOrd="0" presId="urn:microsoft.com/office/officeart/2009/3/layout/StepUpProcess"/>
    <dgm:cxn modelId="{9EA3DC41-B91C-4929-A242-1DFF6D0FB580}" type="presParOf" srcId="{C409DF66-17A8-4B3B-BEF1-FDCC8141A7A8}" destId="{F0C4A08D-D529-4101-B85D-56E13A637234}"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2A9B5D2-AFBA-46B2-B4AE-3AC19D52734B}" type="doc">
      <dgm:prSet loTypeId="urn:microsoft.com/office/officeart/2005/8/layout/hList1" loCatId="list" qsTypeId="urn:microsoft.com/office/officeart/2005/8/quickstyle/simple4" qsCatId="simple" csTypeId="urn:microsoft.com/office/officeart/2005/8/colors/colorful5" csCatId="colorful" phldr="1"/>
      <dgm:spPr/>
      <dgm:t>
        <a:bodyPr/>
        <a:lstStyle/>
        <a:p>
          <a:endParaRPr lang="zh-CN" altLang="en-US"/>
        </a:p>
      </dgm:t>
    </dgm:pt>
    <dgm:pt modelId="{66ACC874-3CFB-4E6F-B294-E9398EAEDB9E}">
      <dgm:prSet phldrT="[文本]" custT="1"/>
      <dgm:spPr/>
      <dgm:t>
        <a:bodyPr/>
        <a:lstStyle/>
        <a:p>
          <a:r>
            <a:rPr lang="en-US" altLang="en-US" sz="1800" b="1" dirty="0">
              <a:latin typeface="微软雅黑" panose="020B0503020204020204" pitchFamily="34" charset="-122"/>
              <a:ea typeface="微软雅黑" panose="020B0503020204020204" pitchFamily="34" charset="-122"/>
            </a:rPr>
            <a:t>Client / Server </a:t>
          </a:r>
          <a:r>
            <a:rPr lang="zh-CN" altLang="en-US" sz="1800" b="1" dirty="0">
              <a:latin typeface="微软雅黑" panose="020B0503020204020204" pitchFamily="34" charset="-122"/>
              <a:ea typeface="微软雅黑" panose="020B0503020204020204" pitchFamily="34" charset="-122"/>
            </a:rPr>
            <a:t>方式</a:t>
          </a:r>
        </a:p>
      </dgm:t>
    </dgm:pt>
    <dgm:pt modelId="{6A394396-6A48-4F17-8404-6B2104EEDAB0}" type="par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15956E1-824E-41F5-9DF1-25E02085E01C}" type="sib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71A16D-6D3A-432C-834D-94D94C96E66D}">
      <dgm:prSet phldrT="[文本]" custT="1"/>
      <dgm:spPr/>
      <dgm:t>
        <a:bodyPr/>
        <a:lstStyle/>
        <a:p>
          <a:r>
            <a:rPr lang="en-US" altLang="en-US" sz="1800" b="1" dirty="0">
              <a:latin typeface="微软雅黑" panose="020B0503020204020204" pitchFamily="34" charset="-122"/>
              <a:ea typeface="微软雅黑" panose="020B0503020204020204" pitchFamily="34" charset="-122"/>
            </a:rPr>
            <a:t>Peer to Peer </a:t>
          </a:r>
          <a:r>
            <a:rPr lang="zh-CN" altLang="en-US" sz="1800" b="1" dirty="0">
              <a:latin typeface="微软雅黑" panose="020B0503020204020204" pitchFamily="34" charset="-122"/>
              <a:ea typeface="微软雅黑" panose="020B0503020204020204" pitchFamily="34" charset="-122"/>
            </a:rPr>
            <a:t>方式</a:t>
          </a:r>
        </a:p>
      </dgm:t>
    </dgm:pt>
    <dgm:pt modelId="{7FD95283-8E1D-47B9-BD8A-E52B4440FDE3}" type="par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2C4A89-BFFB-461D-811A-EE97C8509A5E}" type="sib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E39CD3-0DC4-4012-92DA-90224624ADFF}">
      <dgm:prSet phldrT="[文本]" custT="1"/>
      <dgm:spPr/>
      <dgm:t>
        <a:bodyPr/>
        <a:lstStyle/>
        <a:p>
          <a:pPr algn="ctr">
            <a:lnSpc>
              <a:spcPct val="100000"/>
            </a:lnSpc>
            <a:spcAft>
              <a:spcPts val="0"/>
            </a:spcAft>
          </a:pPr>
          <a:r>
            <a:rPr lang="zh-CN" altLang="en-US" sz="1800" b="1" dirty="0">
              <a:latin typeface="微软雅黑" panose="020B0503020204020204" pitchFamily="34" charset="-122"/>
              <a:ea typeface="微软雅黑" panose="020B0503020204020204" pitchFamily="34" charset="-122"/>
            </a:rPr>
            <a:t>客户</a:t>
          </a:r>
          <a:r>
            <a:rPr lang="en-US" altLang="zh-CN" sz="1800" b="1" dirty="0">
              <a:latin typeface="微软雅黑" panose="020B0503020204020204" pitchFamily="34" charset="-122"/>
              <a:ea typeface="微软雅黑" panose="020B0503020204020204" pitchFamily="34" charset="-122"/>
            </a:rPr>
            <a:t>/</a:t>
          </a:r>
          <a:r>
            <a:rPr lang="zh-CN" altLang="en-US" sz="1800" b="1" dirty="0">
              <a:latin typeface="微软雅黑" panose="020B0503020204020204" pitchFamily="34" charset="-122"/>
              <a:ea typeface="微软雅黑" panose="020B0503020204020204" pitchFamily="34" charset="-122"/>
            </a:rPr>
            <a:t>服务器方式</a:t>
          </a:r>
          <a:endParaRPr lang="en-US" altLang="zh-CN" sz="1800" b="1" dirty="0">
            <a:latin typeface="微软雅黑" panose="020B0503020204020204" pitchFamily="34" charset="-122"/>
            <a:ea typeface="微软雅黑" panose="020B0503020204020204" pitchFamily="34" charset="-122"/>
          </a:endParaRPr>
        </a:p>
      </dgm:t>
    </dgm:pt>
    <dgm:pt modelId="{F415174C-1935-4310-A6E6-FE62B21E5B87}" type="sib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51DC01-4D36-438B-AAEB-01B61AACDBAB}" type="par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1620A8E-C4A5-4821-82B1-9A6EE4F894AA}">
      <dgm:prSet phldrT="[文本]" custT="1"/>
      <dgm:spPr/>
      <dgm:t>
        <a:bodyPr/>
        <a:lstStyle/>
        <a:p>
          <a:pPr>
            <a:lnSpc>
              <a:spcPct val="100000"/>
            </a:lnSpc>
            <a:spcAft>
              <a:spcPts val="0"/>
            </a:spcAft>
          </a:pPr>
          <a:r>
            <a:rPr lang="zh-CN" altLang="en-US" sz="1800" b="1" dirty="0">
              <a:latin typeface="微软雅黑" panose="020B0503020204020204" pitchFamily="34" charset="-122"/>
              <a:ea typeface="微软雅黑" panose="020B0503020204020204" pitchFamily="34" charset="-122"/>
            </a:rPr>
            <a:t>对等方式</a:t>
          </a:r>
          <a:endParaRPr lang="en-US" altLang="zh-CN" sz="1800" b="1" dirty="0">
            <a:latin typeface="微软雅黑" panose="020B0503020204020204" pitchFamily="34" charset="-122"/>
            <a:ea typeface="微软雅黑" panose="020B0503020204020204" pitchFamily="34" charset="-122"/>
          </a:endParaRPr>
        </a:p>
      </dgm:t>
    </dgm:pt>
    <dgm:pt modelId="{966FE29F-1530-487E-8BF1-E706AA499996}" type="sib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BE4650C-F7E6-4DB4-9284-332FE113FE55}" type="par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EB17A82-9752-4BB8-A0BB-5F5C56F2C0A1}">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C/S </a:t>
          </a:r>
          <a:r>
            <a:rPr lang="zh-CN" altLang="en-US" sz="1800" b="1" dirty="0">
              <a:latin typeface="微软雅黑" panose="020B0503020204020204" pitchFamily="34" charset="-122"/>
              <a:ea typeface="微软雅黑" panose="020B0503020204020204" pitchFamily="34" charset="-122"/>
            </a:rPr>
            <a:t>方式</a:t>
          </a:r>
        </a:p>
      </dgm:t>
    </dgm:pt>
    <dgm:pt modelId="{5F48F131-5791-4AB7-9B60-6558004A049B}" type="parTrans" cxnId="{C5632FAF-2983-4105-8D68-C4D4F75E308C}">
      <dgm:prSet/>
      <dgm:spPr/>
      <dgm:t>
        <a:bodyPr/>
        <a:lstStyle/>
        <a:p>
          <a:endParaRPr lang="zh-CN" altLang="en-US" sz="1600"/>
        </a:p>
      </dgm:t>
    </dgm:pt>
    <dgm:pt modelId="{37F47257-8A82-4074-AE1E-99FA89BF3F55}" type="sibTrans" cxnId="{C5632FAF-2983-4105-8D68-C4D4F75E308C}">
      <dgm:prSet/>
      <dgm:spPr/>
      <dgm:t>
        <a:bodyPr/>
        <a:lstStyle/>
        <a:p>
          <a:endParaRPr lang="zh-CN" altLang="en-US" sz="1600"/>
        </a:p>
      </dgm:t>
    </dgm:pt>
    <dgm:pt modelId="{82CB24EB-F3B8-4313-8A4C-46A4A6C6E31A}">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P2P </a:t>
          </a:r>
          <a:r>
            <a:rPr lang="zh-CN" altLang="en-US" sz="1800" b="1" dirty="0">
              <a:latin typeface="微软雅黑" panose="020B0503020204020204" pitchFamily="34" charset="-122"/>
              <a:ea typeface="微软雅黑" panose="020B0503020204020204" pitchFamily="34" charset="-122"/>
            </a:rPr>
            <a:t>方式</a:t>
          </a:r>
        </a:p>
      </dgm:t>
    </dgm:pt>
    <dgm:pt modelId="{F964AE57-1F6D-4E2E-92C0-B117F9D585B8}" type="parTrans" cxnId="{CF299708-4E6C-4B0C-B710-9F1B0A9E0DE0}">
      <dgm:prSet/>
      <dgm:spPr/>
      <dgm:t>
        <a:bodyPr/>
        <a:lstStyle/>
        <a:p>
          <a:endParaRPr lang="zh-CN" altLang="en-US" sz="1600"/>
        </a:p>
      </dgm:t>
    </dgm:pt>
    <dgm:pt modelId="{68FADE7E-F584-4933-80D1-051383411362}" type="sibTrans" cxnId="{CF299708-4E6C-4B0C-B710-9F1B0A9E0DE0}">
      <dgm:prSet/>
      <dgm:spPr/>
      <dgm:t>
        <a:bodyPr/>
        <a:lstStyle/>
        <a:p>
          <a:endParaRPr lang="zh-CN" altLang="en-US" sz="1600"/>
        </a:p>
      </dgm:t>
    </dgm:pt>
    <dgm:pt modelId="{D5AF80AA-414F-4474-ABC9-E635DD32C12D}" type="pres">
      <dgm:prSet presAssocID="{32A9B5D2-AFBA-46B2-B4AE-3AC19D52734B}" presName="Name0" presStyleCnt="0">
        <dgm:presLayoutVars>
          <dgm:dir/>
          <dgm:animLvl val="lvl"/>
          <dgm:resizeHandles val="exact"/>
        </dgm:presLayoutVars>
      </dgm:prSet>
      <dgm:spPr/>
    </dgm:pt>
    <dgm:pt modelId="{E980AAEC-D744-4F45-AA9F-C138C0A71A0E}" type="pres">
      <dgm:prSet presAssocID="{C7E39CD3-0DC4-4012-92DA-90224624ADFF}" presName="composite" presStyleCnt="0"/>
      <dgm:spPr/>
    </dgm:pt>
    <dgm:pt modelId="{8F17F835-55F0-4C61-A2A3-44AE2ED9D7FE}" type="pres">
      <dgm:prSet presAssocID="{C7E39CD3-0DC4-4012-92DA-90224624ADFF}" presName="parTx" presStyleLbl="alignNode1" presStyleIdx="0" presStyleCnt="2">
        <dgm:presLayoutVars>
          <dgm:chMax val="0"/>
          <dgm:chPref val="0"/>
          <dgm:bulletEnabled val="1"/>
        </dgm:presLayoutVars>
      </dgm:prSet>
      <dgm:spPr/>
    </dgm:pt>
    <dgm:pt modelId="{ACB976F2-8BF8-4A70-91C5-C91BC345A4AF}" type="pres">
      <dgm:prSet presAssocID="{C7E39CD3-0DC4-4012-92DA-90224624ADFF}" presName="desTx" presStyleLbl="alignAccFollowNode1" presStyleIdx="0" presStyleCnt="2">
        <dgm:presLayoutVars>
          <dgm:bulletEnabled val="1"/>
        </dgm:presLayoutVars>
      </dgm:prSet>
      <dgm:spPr/>
    </dgm:pt>
    <dgm:pt modelId="{9B6C0EE2-67AE-4432-B5BF-6CE7E326E53F}" type="pres">
      <dgm:prSet presAssocID="{F415174C-1935-4310-A6E6-FE62B21E5B87}" presName="space" presStyleCnt="0"/>
      <dgm:spPr/>
    </dgm:pt>
    <dgm:pt modelId="{7E449BE8-A2E6-4157-904D-55985C924B0E}" type="pres">
      <dgm:prSet presAssocID="{C1620A8E-C4A5-4821-82B1-9A6EE4F894AA}" presName="composite" presStyleCnt="0"/>
      <dgm:spPr/>
    </dgm:pt>
    <dgm:pt modelId="{FD082DEC-BD21-4E00-AA12-CC0ED5CBCB32}" type="pres">
      <dgm:prSet presAssocID="{C1620A8E-C4A5-4821-82B1-9A6EE4F894AA}" presName="parTx" presStyleLbl="alignNode1" presStyleIdx="1" presStyleCnt="2">
        <dgm:presLayoutVars>
          <dgm:chMax val="0"/>
          <dgm:chPref val="0"/>
          <dgm:bulletEnabled val="1"/>
        </dgm:presLayoutVars>
      </dgm:prSet>
      <dgm:spPr/>
    </dgm:pt>
    <dgm:pt modelId="{B62719DE-8DA5-4764-8561-2A4AB2C96331}" type="pres">
      <dgm:prSet presAssocID="{C1620A8E-C4A5-4821-82B1-9A6EE4F894AA}" presName="desTx" presStyleLbl="alignAccFollowNode1" presStyleIdx="1" presStyleCnt="2">
        <dgm:presLayoutVars>
          <dgm:bulletEnabled val="1"/>
        </dgm:presLayoutVars>
      </dgm:prSet>
      <dgm:spPr/>
    </dgm:pt>
  </dgm:ptLst>
  <dgm:cxnLst>
    <dgm:cxn modelId="{CF299708-4E6C-4B0C-B710-9F1B0A9E0DE0}" srcId="{C1620A8E-C4A5-4821-82B1-9A6EE4F894AA}" destId="{82CB24EB-F3B8-4313-8A4C-46A4A6C6E31A}" srcOrd="1" destOrd="0" parTransId="{F964AE57-1F6D-4E2E-92C0-B117F9D585B8}" sibTransId="{68FADE7E-F584-4933-80D1-051383411362}"/>
    <dgm:cxn modelId="{C400F422-3627-4800-9FC6-37E89AF888F6}" type="presOf" srcId="{C7E39CD3-0DC4-4012-92DA-90224624ADFF}" destId="{8F17F835-55F0-4C61-A2A3-44AE2ED9D7FE}" srcOrd="0" destOrd="0" presId="urn:microsoft.com/office/officeart/2005/8/layout/hList1"/>
    <dgm:cxn modelId="{F8EE973F-005E-49D9-8A55-BF2936ACABED}" srcId="{C1620A8E-C4A5-4821-82B1-9A6EE4F894AA}" destId="{2D71A16D-6D3A-432C-834D-94D94C96E66D}" srcOrd="0" destOrd="0" parTransId="{7FD95283-8E1D-47B9-BD8A-E52B4440FDE3}" sibTransId="{C72C4A89-BFFB-461D-811A-EE97C8509A5E}"/>
    <dgm:cxn modelId="{6E51A640-35A5-4E7A-A3DC-157B7276F45F}" type="presOf" srcId="{2D71A16D-6D3A-432C-834D-94D94C96E66D}" destId="{B62719DE-8DA5-4764-8561-2A4AB2C96331}" srcOrd="0" destOrd="0" presId="urn:microsoft.com/office/officeart/2005/8/layout/hList1"/>
    <dgm:cxn modelId="{35214179-FC9B-4995-A9D6-365694F11EE5}" type="presOf" srcId="{32A9B5D2-AFBA-46B2-B4AE-3AC19D52734B}" destId="{D5AF80AA-414F-4474-ABC9-E635DD32C12D}" srcOrd="0" destOrd="0" presId="urn:microsoft.com/office/officeart/2005/8/layout/hList1"/>
    <dgm:cxn modelId="{06BDE67D-8B6F-4450-8B4F-334C7CF9747E}" type="presOf" srcId="{82CB24EB-F3B8-4313-8A4C-46A4A6C6E31A}" destId="{B62719DE-8DA5-4764-8561-2A4AB2C96331}" srcOrd="0" destOrd="1" presId="urn:microsoft.com/office/officeart/2005/8/layout/hList1"/>
    <dgm:cxn modelId="{25EA4E81-CD7D-4645-AFDA-AB598CFBBB0A}" type="presOf" srcId="{C1620A8E-C4A5-4821-82B1-9A6EE4F894AA}" destId="{FD082DEC-BD21-4E00-AA12-CC0ED5CBCB32}" srcOrd="0" destOrd="0" presId="urn:microsoft.com/office/officeart/2005/8/layout/hList1"/>
    <dgm:cxn modelId="{1578938D-5C63-43C8-B09A-BADC09FB6ACA}" type="presOf" srcId="{4EB17A82-9752-4BB8-A0BB-5F5C56F2C0A1}" destId="{ACB976F2-8BF8-4A70-91C5-C91BC345A4AF}" srcOrd="0" destOrd="1" presId="urn:microsoft.com/office/officeart/2005/8/layout/hList1"/>
    <dgm:cxn modelId="{419CC096-94B7-4869-8BB1-1F1886A1C7DB}" srcId="{32A9B5D2-AFBA-46B2-B4AE-3AC19D52734B}" destId="{C1620A8E-C4A5-4821-82B1-9A6EE4F894AA}" srcOrd="1" destOrd="0" parTransId="{6BE4650C-F7E6-4DB4-9284-332FE113FE55}" sibTransId="{966FE29F-1530-487E-8BF1-E706AA499996}"/>
    <dgm:cxn modelId="{C5632FAF-2983-4105-8D68-C4D4F75E308C}" srcId="{C7E39CD3-0DC4-4012-92DA-90224624ADFF}" destId="{4EB17A82-9752-4BB8-A0BB-5F5C56F2C0A1}" srcOrd="1" destOrd="0" parTransId="{5F48F131-5791-4AB7-9B60-6558004A049B}" sibTransId="{37F47257-8A82-4074-AE1E-99FA89BF3F55}"/>
    <dgm:cxn modelId="{0543E9C2-E2BE-425C-B0CB-EAE585D6F38A}" srcId="{32A9B5D2-AFBA-46B2-B4AE-3AC19D52734B}" destId="{C7E39CD3-0DC4-4012-92DA-90224624ADFF}" srcOrd="0" destOrd="0" parTransId="{5451DC01-4D36-438B-AAEB-01B61AACDBAB}" sibTransId="{F415174C-1935-4310-A6E6-FE62B21E5B87}"/>
    <dgm:cxn modelId="{C50C0CC8-308A-41F8-9F7C-1644E5BBC002}" type="presOf" srcId="{66ACC874-3CFB-4E6F-B294-E9398EAEDB9E}" destId="{ACB976F2-8BF8-4A70-91C5-C91BC345A4AF}" srcOrd="0" destOrd="0" presId="urn:microsoft.com/office/officeart/2005/8/layout/hList1"/>
    <dgm:cxn modelId="{51DB97CB-0180-46DE-8CF9-5E1303ED8C09}" srcId="{C7E39CD3-0DC4-4012-92DA-90224624ADFF}" destId="{66ACC874-3CFB-4E6F-B294-E9398EAEDB9E}" srcOrd="0" destOrd="0" parTransId="{6A394396-6A48-4F17-8404-6B2104EEDAB0}" sibTransId="{B15956E1-824E-41F5-9DF1-25E02085E01C}"/>
    <dgm:cxn modelId="{F1F83210-003E-4731-9298-525BD4863AC6}" type="presParOf" srcId="{D5AF80AA-414F-4474-ABC9-E635DD32C12D}" destId="{E980AAEC-D744-4F45-AA9F-C138C0A71A0E}" srcOrd="0" destOrd="0" presId="urn:microsoft.com/office/officeart/2005/8/layout/hList1"/>
    <dgm:cxn modelId="{6DA98C05-4E0C-46D0-9F77-4374429075EE}" type="presParOf" srcId="{E980AAEC-D744-4F45-AA9F-C138C0A71A0E}" destId="{8F17F835-55F0-4C61-A2A3-44AE2ED9D7FE}" srcOrd="0" destOrd="0" presId="urn:microsoft.com/office/officeart/2005/8/layout/hList1"/>
    <dgm:cxn modelId="{DCBA9C60-AE8B-43DC-9BB7-725A718966BE}" type="presParOf" srcId="{E980AAEC-D744-4F45-AA9F-C138C0A71A0E}" destId="{ACB976F2-8BF8-4A70-91C5-C91BC345A4AF}" srcOrd="1" destOrd="0" presId="urn:microsoft.com/office/officeart/2005/8/layout/hList1"/>
    <dgm:cxn modelId="{7BD692C1-7E60-4B70-A8E9-17BD892EB34F}" type="presParOf" srcId="{D5AF80AA-414F-4474-ABC9-E635DD32C12D}" destId="{9B6C0EE2-67AE-4432-B5BF-6CE7E326E53F}" srcOrd="1" destOrd="0" presId="urn:microsoft.com/office/officeart/2005/8/layout/hList1"/>
    <dgm:cxn modelId="{BAEA59E1-92DF-47BF-BD7A-97A29A5CDD19}" type="presParOf" srcId="{D5AF80AA-414F-4474-ABC9-E635DD32C12D}" destId="{7E449BE8-A2E6-4157-904D-55985C924B0E}" srcOrd="2" destOrd="0" presId="urn:microsoft.com/office/officeart/2005/8/layout/hList1"/>
    <dgm:cxn modelId="{68A7FC11-1138-4848-B460-B704A6338E1F}" type="presParOf" srcId="{7E449BE8-A2E6-4157-904D-55985C924B0E}" destId="{FD082DEC-BD21-4E00-AA12-CC0ED5CBCB32}" srcOrd="0" destOrd="0" presId="urn:microsoft.com/office/officeart/2005/8/layout/hList1"/>
    <dgm:cxn modelId="{69BCF585-8958-4E84-AA02-58A75652C0C7}" type="presParOf" srcId="{7E449BE8-A2E6-4157-904D-55985C924B0E}" destId="{B62719DE-8DA5-4764-8561-2A4AB2C96331}"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E02DF5B-A2BE-4F1E-B43F-8357B8176D95}" type="doc">
      <dgm:prSet loTypeId="urn:microsoft.com/office/officeart/2005/8/layout/radial1" loCatId="cycle" qsTypeId="urn:microsoft.com/office/officeart/2005/8/quickstyle/simple4" qsCatId="simple" csTypeId="urn:microsoft.com/office/officeart/2005/8/colors/colorful3" csCatId="colorful" phldr="1"/>
      <dgm:spPr/>
      <dgm:t>
        <a:bodyPr/>
        <a:lstStyle/>
        <a:p>
          <a:endParaRPr lang="zh-CN" altLang="en-US"/>
        </a:p>
      </dgm:t>
    </dgm:pt>
    <dgm:pt modelId="{B22323AB-1086-4A1C-B331-F5BB963D4145}">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重要性能指标</a:t>
          </a:r>
        </a:p>
      </dgm:t>
    </dgm:pt>
    <dgm:pt modelId="{F8002C4C-AD5A-415D-9914-AE4B4B07341E}" type="par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A78D77-C0AC-4449-8431-EAB529D8F1FD}" type="sib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22DC312-F211-45CA-A65C-AED37D4E84F0}">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速率</a:t>
          </a:r>
        </a:p>
      </dgm:t>
    </dgm:pt>
    <dgm:pt modelId="{A0C7B0A4-A9E9-4F21-9431-C84E96289809}" type="parTrans" cxnId="{06E46658-2D4E-4CE1-9B44-76363095246D}">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C099C82-1D5D-4769-AFA9-7792218D5827}" type="sibTrans" cxnId="{06E46658-2D4E-4CE1-9B44-76363095246D}">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C0BB659-4143-44F0-8F84-D4D2FC90959C}">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吞吐率</a:t>
          </a:r>
        </a:p>
      </dgm:t>
    </dgm:pt>
    <dgm:pt modelId="{8CF1AA8F-96CB-4B5E-B715-B9028B917988}" type="parTrans" cxnId="{A44B08B3-A047-45A2-892F-C214B73ECD29}">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7256747-7EEC-4ABC-996D-C89DE5DBD52B}" type="sibTrans" cxnId="{A44B08B3-A047-45A2-892F-C214B73ECD29}">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A517CECA-E7F5-4281-B2DA-244FEF5320DC}">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时延</a:t>
          </a:r>
        </a:p>
      </dgm:t>
    </dgm:pt>
    <dgm:pt modelId="{4603E628-68DC-46D2-84DA-A0245BD072EF}" type="parTrans" cxnId="{C11591D6-0992-483B-98F3-EA64344B9D2F}">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5724D21-8406-4C52-BA15-0ED736CB50CE}" type="sibTrans" cxnId="{C11591D6-0992-483B-98F3-EA64344B9D2F}">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2FD6668-1A08-46AC-BA8D-FB52FFFD9631}">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利用率</a:t>
          </a:r>
        </a:p>
      </dgm:t>
    </dgm:pt>
    <dgm:pt modelId="{8C2FDA74-89FA-41B1-9873-0394473DF94B}" type="parTrans" cxnId="{84603CE0-D6DA-470B-B1FD-588405D531AB}">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23036FD-5FD0-4ACE-AC60-F08A948150DD}" type="sibTrans" cxnId="{84603CE0-D6DA-470B-B1FD-588405D531AB}">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B408720-3765-4817-97AA-0480BC62D918}">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时延带宽积</a:t>
          </a:r>
        </a:p>
      </dgm:t>
    </dgm:pt>
    <dgm:pt modelId="{60735CDE-5DEF-4EF2-882E-EE6D37ADADAA}" type="parTrans" cxnId="{57E3D092-497D-42CD-8D3D-06B7B835F9B1}">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E1E6132-0FFC-4AED-B82E-16E82C2CF6DA}" type="sibTrans" cxnId="{57E3D092-497D-42CD-8D3D-06B7B835F9B1}">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5D00D0D-C9FC-4080-938A-E3FE166109A0}">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往返</a:t>
          </a:r>
          <a:endParaRPr lang="en-US" altLang="zh-CN" sz="1400" b="1" dirty="0">
            <a:latin typeface="微软雅黑" panose="020B0503020204020204" pitchFamily="34" charset="-122"/>
            <a:ea typeface="微软雅黑" panose="020B0503020204020204" pitchFamily="34" charset="-122"/>
          </a:endParaRPr>
        </a:p>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时间</a:t>
          </a:r>
        </a:p>
      </dgm:t>
    </dgm:pt>
    <dgm:pt modelId="{ED08DA14-77EB-487F-BE02-3A6D86A8246C}" type="parTrans" cxnId="{39F0CA54-37A8-4FB1-A1E2-C7A445040E97}">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94BF61BA-85DC-4B4A-B4A6-D485C5AE8654}" type="sibTrans" cxnId="{39F0CA54-37A8-4FB1-A1E2-C7A445040E97}">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7D17AA0-6080-47AE-B7DB-526C9B560CAC}">
      <dgm:prSet custT="1"/>
      <dgm:spPr/>
      <dgm:t>
        <a:bodyPr/>
        <a:lstStyle/>
        <a:p>
          <a:pPr>
            <a:lnSpc>
              <a:spcPct val="80000"/>
            </a:lnSpc>
            <a:spcBef>
              <a:spcPts val="0"/>
            </a:spcBef>
            <a:spcAft>
              <a:spcPts val="0"/>
            </a:spcAft>
          </a:pPr>
          <a:r>
            <a:rPr lang="zh-CN" altLang="en-US" sz="1600" b="1" dirty="0">
              <a:latin typeface="微软雅黑" pitchFamily="34" charset="-122"/>
              <a:ea typeface="微软雅黑" pitchFamily="34" charset="-122"/>
            </a:rPr>
            <a:t>带宽</a:t>
          </a:r>
        </a:p>
      </dgm:t>
    </dgm:pt>
    <dgm:pt modelId="{DB84B937-099F-47CA-9CDD-0D18AFFCDE42}" type="parTrans" cxnId="{78A011E7-61C1-4FA0-84CE-C5A9CDB15EF2}">
      <dgm:prSet custT="1"/>
      <dgm:spPr>
        <a:ln w="19050"/>
      </dgm:spPr>
      <dgm:t>
        <a:bodyPr/>
        <a:lstStyle/>
        <a:p>
          <a:pPr>
            <a:lnSpc>
              <a:spcPct val="80000"/>
            </a:lnSpc>
            <a:spcBef>
              <a:spcPts val="0"/>
            </a:spcBef>
            <a:spcAft>
              <a:spcPts val="0"/>
            </a:spcAft>
          </a:pPr>
          <a:endParaRPr lang="zh-CN" altLang="en-US" sz="400"/>
        </a:p>
      </dgm:t>
    </dgm:pt>
    <dgm:pt modelId="{F3240178-5CAF-4CE1-A438-3A427DB0871A}" type="sibTrans" cxnId="{78A011E7-61C1-4FA0-84CE-C5A9CDB15EF2}">
      <dgm:prSet/>
      <dgm:spPr/>
      <dgm:t>
        <a:bodyPr/>
        <a:lstStyle/>
        <a:p>
          <a:pPr>
            <a:lnSpc>
              <a:spcPct val="80000"/>
            </a:lnSpc>
            <a:spcBef>
              <a:spcPts val="0"/>
            </a:spcBef>
            <a:spcAft>
              <a:spcPts val="0"/>
            </a:spcAft>
          </a:pPr>
          <a:endParaRPr lang="zh-CN" altLang="en-US" sz="1600"/>
        </a:p>
      </dgm:t>
    </dgm:pt>
    <dgm:pt modelId="{038BAAB1-DC3C-4112-BA2B-18A482B3FB34}" type="pres">
      <dgm:prSet presAssocID="{EE02DF5B-A2BE-4F1E-B43F-8357B8176D95}" presName="cycle" presStyleCnt="0">
        <dgm:presLayoutVars>
          <dgm:chMax val="1"/>
          <dgm:dir/>
          <dgm:animLvl val="ctr"/>
          <dgm:resizeHandles val="exact"/>
        </dgm:presLayoutVars>
      </dgm:prSet>
      <dgm:spPr/>
    </dgm:pt>
    <dgm:pt modelId="{CEAB91ED-304D-4E30-917D-DB8A5D6E9F4E}" type="pres">
      <dgm:prSet presAssocID="{B22323AB-1086-4A1C-B331-F5BB963D4145}" presName="centerShape" presStyleLbl="node0" presStyleIdx="0" presStyleCnt="1" custScaleX="145530" custScaleY="145529"/>
      <dgm:spPr/>
    </dgm:pt>
    <dgm:pt modelId="{C041081D-BE3D-40E6-B560-6CCAEF685BB2}" type="pres">
      <dgm:prSet presAssocID="{A0C7B0A4-A9E9-4F21-9431-C84E96289809}" presName="Name9" presStyleLbl="parChTrans1D2" presStyleIdx="0" presStyleCnt="7"/>
      <dgm:spPr/>
    </dgm:pt>
    <dgm:pt modelId="{3CD87989-36DD-4624-AA56-93400E0521D5}" type="pres">
      <dgm:prSet presAssocID="{A0C7B0A4-A9E9-4F21-9431-C84E96289809}" presName="connTx" presStyleLbl="parChTrans1D2" presStyleIdx="0" presStyleCnt="7"/>
      <dgm:spPr/>
    </dgm:pt>
    <dgm:pt modelId="{402F23A3-1405-4E62-9B6B-1BAD6AF3B058}" type="pres">
      <dgm:prSet presAssocID="{D22DC312-F211-45CA-A65C-AED37D4E84F0}" presName="node" presStyleLbl="node1" presStyleIdx="0" presStyleCnt="7">
        <dgm:presLayoutVars>
          <dgm:bulletEnabled val="1"/>
        </dgm:presLayoutVars>
      </dgm:prSet>
      <dgm:spPr/>
    </dgm:pt>
    <dgm:pt modelId="{1A688BA9-9980-46CE-92DD-5B540F6B173C}" type="pres">
      <dgm:prSet presAssocID="{DB84B937-099F-47CA-9CDD-0D18AFFCDE42}" presName="Name9" presStyleLbl="parChTrans1D2" presStyleIdx="1" presStyleCnt="7"/>
      <dgm:spPr/>
    </dgm:pt>
    <dgm:pt modelId="{29BF8A05-B023-43EB-9B11-C312495477C8}" type="pres">
      <dgm:prSet presAssocID="{DB84B937-099F-47CA-9CDD-0D18AFFCDE42}" presName="connTx" presStyleLbl="parChTrans1D2" presStyleIdx="1" presStyleCnt="7"/>
      <dgm:spPr/>
    </dgm:pt>
    <dgm:pt modelId="{9EB9B65F-4393-4612-9918-4B6EE32BE2B5}" type="pres">
      <dgm:prSet presAssocID="{87D17AA0-6080-47AE-B7DB-526C9B560CAC}" presName="node" presStyleLbl="node1" presStyleIdx="1" presStyleCnt="7">
        <dgm:presLayoutVars>
          <dgm:bulletEnabled val="1"/>
        </dgm:presLayoutVars>
      </dgm:prSet>
      <dgm:spPr/>
    </dgm:pt>
    <dgm:pt modelId="{CA2997A6-1A9D-4195-A4F9-95CB281E15D5}" type="pres">
      <dgm:prSet presAssocID="{8CF1AA8F-96CB-4B5E-B715-B9028B917988}" presName="Name9" presStyleLbl="parChTrans1D2" presStyleIdx="2" presStyleCnt="7"/>
      <dgm:spPr/>
    </dgm:pt>
    <dgm:pt modelId="{4EA814EB-5106-4171-B8B6-C2618CEA3308}" type="pres">
      <dgm:prSet presAssocID="{8CF1AA8F-96CB-4B5E-B715-B9028B917988}" presName="connTx" presStyleLbl="parChTrans1D2" presStyleIdx="2" presStyleCnt="7"/>
      <dgm:spPr/>
    </dgm:pt>
    <dgm:pt modelId="{AA805C1A-016A-4092-AC58-C8C9626E154E}" type="pres">
      <dgm:prSet presAssocID="{CC0BB659-4143-44F0-8F84-D4D2FC90959C}" presName="node" presStyleLbl="node1" presStyleIdx="2" presStyleCnt="7">
        <dgm:presLayoutVars>
          <dgm:bulletEnabled val="1"/>
        </dgm:presLayoutVars>
      </dgm:prSet>
      <dgm:spPr/>
    </dgm:pt>
    <dgm:pt modelId="{96B1DAAE-F63C-47BA-8420-AE7C9945D5FC}" type="pres">
      <dgm:prSet presAssocID="{4603E628-68DC-46D2-84DA-A0245BD072EF}" presName="Name9" presStyleLbl="parChTrans1D2" presStyleIdx="3" presStyleCnt="7"/>
      <dgm:spPr/>
    </dgm:pt>
    <dgm:pt modelId="{C5612A02-3DBA-489F-8731-7BFEF4CFC7A5}" type="pres">
      <dgm:prSet presAssocID="{4603E628-68DC-46D2-84DA-A0245BD072EF}" presName="connTx" presStyleLbl="parChTrans1D2" presStyleIdx="3" presStyleCnt="7"/>
      <dgm:spPr/>
    </dgm:pt>
    <dgm:pt modelId="{3E830754-EFA7-4138-9FA6-3C9E92E74104}" type="pres">
      <dgm:prSet presAssocID="{A517CECA-E7F5-4281-B2DA-244FEF5320DC}" presName="node" presStyleLbl="node1" presStyleIdx="3" presStyleCnt="7">
        <dgm:presLayoutVars>
          <dgm:bulletEnabled val="1"/>
        </dgm:presLayoutVars>
      </dgm:prSet>
      <dgm:spPr/>
    </dgm:pt>
    <dgm:pt modelId="{78B2782A-5A1E-4DB7-8A32-C245B5326F9D}" type="pres">
      <dgm:prSet presAssocID="{60735CDE-5DEF-4EF2-882E-EE6D37ADADAA}" presName="Name9" presStyleLbl="parChTrans1D2" presStyleIdx="4" presStyleCnt="7"/>
      <dgm:spPr/>
    </dgm:pt>
    <dgm:pt modelId="{0DB9215C-9FC4-4645-A9FB-1A7085D28428}" type="pres">
      <dgm:prSet presAssocID="{60735CDE-5DEF-4EF2-882E-EE6D37ADADAA}" presName="connTx" presStyleLbl="parChTrans1D2" presStyleIdx="4" presStyleCnt="7"/>
      <dgm:spPr/>
    </dgm:pt>
    <dgm:pt modelId="{8473F692-BDED-4FE3-8EFA-3135EC8A8BE4}" type="pres">
      <dgm:prSet presAssocID="{CB408720-3765-4817-97AA-0480BC62D918}" presName="node" presStyleLbl="node1" presStyleIdx="4" presStyleCnt="7">
        <dgm:presLayoutVars>
          <dgm:bulletEnabled val="1"/>
        </dgm:presLayoutVars>
      </dgm:prSet>
      <dgm:spPr/>
    </dgm:pt>
    <dgm:pt modelId="{8BB81BB8-E393-4F1D-8B7B-020AC5C16F2F}" type="pres">
      <dgm:prSet presAssocID="{ED08DA14-77EB-487F-BE02-3A6D86A8246C}" presName="Name9" presStyleLbl="parChTrans1D2" presStyleIdx="5" presStyleCnt="7"/>
      <dgm:spPr/>
    </dgm:pt>
    <dgm:pt modelId="{EFA8CB61-977E-45B8-BD5E-C48F086EF9EF}" type="pres">
      <dgm:prSet presAssocID="{ED08DA14-77EB-487F-BE02-3A6D86A8246C}" presName="connTx" presStyleLbl="parChTrans1D2" presStyleIdx="5" presStyleCnt="7"/>
      <dgm:spPr/>
    </dgm:pt>
    <dgm:pt modelId="{E239F5DF-E3F9-42F3-9ADB-15CF35E6CE45}" type="pres">
      <dgm:prSet presAssocID="{65D00D0D-C9FC-4080-938A-E3FE166109A0}" presName="node" presStyleLbl="node1" presStyleIdx="5" presStyleCnt="7">
        <dgm:presLayoutVars>
          <dgm:bulletEnabled val="1"/>
        </dgm:presLayoutVars>
      </dgm:prSet>
      <dgm:spPr/>
    </dgm:pt>
    <dgm:pt modelId="{AF33E670-42AA-4676-8C3F-58C9EF27EB34}" type="pres">
      <dgm:prSet presAssocID="{8C2FDA74-89FA-41B1-9873-0394473DF94B}" presName="Name9" presStyleLbl="parChTrans1D2" presStyleIdx="6" presStyleCnt="7"/>
      <dgm:spPr/>
    </dgm:pt>
    <dgm:pt modelId="{43F165D5-D777-4F42-82A2-62F5DDF5C06C}" type="pres">
      <dgm:prSet presAssocID="{8C2FDA74-89FA-41B1-9873-0394473DF94B}" presName="connTx" presStyleLbl="parChTrans1D2" presStyleIdx="6" presStyleCnt="7"/>
      <dgm:spPr/>
    </dgm:pt>
    <dgm:pt modelId="{26B2A20A-D83E-4FB4-8289-8E75F18D9F17}" type="pres">
      <dgm:prSet presAssocID="{C2FD6668-1A08-46AC-BA8D-FB52FFFD9631}" presName="node" presStyleLbl="node1" presStyleIdx="6" presStyleCnt="7">
        <dgm:presLayoutVars>
          <dgm:bulletEnabled val="1"/>
        </dgm:presLayoutVars>
      </dgm:prSet>
      <dgm:spPr/>
    </dgm:pt>
  </dgm:ptLst>
  <dgm:cxnLst>
    <dgm:cxn modelId="{FEB40F05-B012-4742-B3F3-2E4CD9069007}" type="presOf" srcId="{4603E628-68DC-46D2-84DA-A0245BD072EF}" destId="{96B1DAAE-F63C-47BA-8420-AE7C9945D5FC}" srcOrd="0" destOrd="0" presId="urn:microsoft.com/office/officeart/2005/8/layout/radial1"/>
    <dgm:cxn modelId="{A1AA7717-4937-4972-86F5-24BEE22006CF}" type="presOf" srcId="{DB84B937-099F-47CA-9CDD-0D18AFFCDE42}" destId="{1A688BA9-9980-46CE-92DD-5B540F6B173C}" srcOrd="0" destOrd="0" presId="urn:microsoft.com/office/officeart/2005/8/layout/radial1"/>
    <dgm:cxn modelId="{8A1E1518-1582-44E6-A719-D28B7EE61E0D}" type="presOf" srcId="{60735CDE-5DEF-4EF2-882E-EE6D37ADADAA}" destId="{0DB9215C-9FC4-4645-A9FB-1A7085D28428}" srcOrd="1" destOrd="0" presId="urn:microsoft.com/office/officeart/2005/8/layout/radial1"/>
    <dgm:cxn modelId="{BA96FF2A-7A04-49C9-AC3A-32F14CE03DED}" type="presOf" srcId="{D22DC312-F211-45CA-A65C-AED37D4E84F0}" destId="{402F23A3-1405-4E62-9B6B-1BAD6AF3B058}" srcOrd="0" destOrd="0" presId="urn:microsoft.com/office/officeart/2005/8/layout/radial1"/>
    <dgm:cxn modelId="{5BC6942F-4A5C-4C8D-90E4-83B07878880A}" type="presOf" srcId="{8C2FDA74-89FA-41B1-9873-0394473DF94B}" destId="{43F165D5-D777-4F42-82A2-62F5DDF5C06C}" srcOrd="1" destOrd="0" presId="urn:microsoft.com/office/officeart/2005/8/layout/radial1"/>
    <dgm:cxn modelId="{387D4237-A227-4C79-8A9E-29729E1B0E8A}" type="presOf" srcId="{CB408720-3765-4817-97AA-0480BC62D918}" destId="{8473F692-BDED-4FE3-8EFA-3135EC8A8BE4}" srcOrd="0" destOrd="0" presId="urn:microsoft.com/office/officeart/2005/8/layout/radial1"/>
    <dgm:cxn modelId="{DF0E5F68-346C-414D-86E9-A9FAD2F20367}" type="presOf" srcId="{A0C7B0A4-A9E9-4F21-9431-C84E96289809}" destId="{C041081D-BE3D-40E6-B560-6CCAEF685BB2}" srcOrd="0" destOrd="0" presId="urn:microsoft.com/office/officeart/2005/8/layout/radial1"/>
    <dgm:cxn modelId="{648A664E-2883-4F15-865D-3DCFA5EC8F7E}" type="presOf" srcId="{65D00D0D-C9FC-4080-938A-E3FE166109A0}" destId="{E239F5DF-E3F9-42F3-9ADB-15CF35E6CE45}" srcOrd="0" destOrd="0" presId="urn:microsoft.com/office/officeart/2005/8/layout/radial1"/>
    <dgm:cxn modelId="{4FF81571-7C75-4CDD-8870-97F37CD2855E}" type="presOf" srcId="{60735CDE-5DEF-4EF2-882E-EE6D37ADADAA}" destId="{78B2782A-5A1E-4DB7-8A32-C245B5326F9D}" srcOrd="0" destOrd="0" presId="urn:microsoft.com/office/officeart/2005/8/layout/radial1"/>
    <dgm:cxn modelId="{1E233852-3F15-497A-97F8-53E8369B5A16}" type="presOf" srcId="{B22323AB-1086-4A1C-B331-F5BB963D4145}" destId="{CEAB91ED-304D-4E30-917D-DB8A5D6E9F4E}" srcOrd="0" destOrd="0" presId="urn:microsoft.com/office/officeart/2005/8/layout/radial1"/>
    <dgm:cxn modelId="{39F0CA54-37A8-4FB1-A1E2-C7A445040E97}" srcId="{B22323AB-1086-4A1C-B331-F5BB963D4145}" destId="{65D00D0D-C9FC-4080-938A-E3FE166109A0}" srcOrd="5" destOrd="0" parTransId="{ED08DA14-77EB-487F-BE02-3A6D86A8246C}" sibTransId="{94BF61BA-85DC-4B4A-B4A6-D485C5AE8654}"/>
    <dgm:cxn modelId="{06E46658-2D4E-4CE1-9B44-76363095246D}" srcId="{B22323AB-1086-4A1C-B331-F5BB963D4145}" destId="{D22DC312-F211-45CA-A65C-AED37D4E84F0}" srcOrd="0" destOrd="0" parTransId="{A0C7B0A4-A9E9-4F21-9431-C84E96289809}" sibTransId="{DC099C82-1D5D-4769-AFA9-7792218D5827}"/>
    <dgm:cxn modelId="{A20E5D7E-53F3-4892-A647-429E04042FBA}" type="presOf" srcId="{8C2FDA74-89FA-41B1-9873-0394473DF94B}" destId="{AF33E670-42AA-4676-8C3F-58C9EF27EB34}" srcOrd="0" destOrd="0" presId="urn:microsoft.com/office/officeart/2005/8/layout/radial1"/>
    <dgm:cxn modelId="{08083480-5750-4A8D-B227-453FE3A844E4}" type="presOf" srcId="{ED08DA14-77EB-487F-BE02-3A6D86A8246C}" destId="{8BB81BB8-E393-4F1D-8B7B-020AC5C16F2F}" srcOrd="0" destOrd="0" presId="urn:microsoft.com/office/officeart/2005/8/layout/radial1"/>
    <dgm:cxn modelId="{CDD16A83-C97A-4C40-9477-E4C17AADEB3D}" type="presOf" srcId="{C2FD6668-1A08-46AC-BA8D-FB52FFFD9631}" destId="{26B2A20A-D83E-4FB4-8289-8E75F18D9F17}" srcOrd="0" destOrd="0" presId="urn:microsoft.com/office/officeart/2005/8/layout/radial1"/>
    <dgm:cxn modelId="{6864DC85-6328-4444-BCCA-5ED660FE9638}" type="presOf" srcId="{4603E628-68DC-46D2-84DA-A0245BD072EF}" destId="{C5612A02-3DBA-489F-8731-7BFEF4CFC7A5}" srcOrd="1" destOrd="0" presId="urn:microsoft.com/office/officeart/2005/8/layout/radial1"/>
    <dgm:cxn modelId="{7A6D5F8D-F9DF-4AF8-8F5D-B2E73765DA11}" type="presOf" srcId="{8CF1AA8F-96CB-4B5E-B715-B9028B917988}" destId="{4EA814EB-5106-4171-B8B6-C2618CEA3308}" srcOrd="1" destOrd="0" presId="urn:microsoft.com/office/officeart/2005/8/layout/radial1"/>
    <dgm:cxn modelId="{57E3D092-497D-42CD-8D3D-06B7B835F9B1}" srcId="{B22323AB-1086-4A1C-B331-F5BB963D4145}" destId="{CB408720-3765-4817-97AA-0480BC62D918}" srcOrd="4" destOrd="0" parTransId="{60735CDE-5DEF-4EF2-882E-EE6D37ADADAA}" sibTransId="{2E1E6132-0FFC-4AED-B82E-16E82C2CF6DA}"/>
    <dgm:cxn modelId="{64D4869B-CA00-46D6-806E-45DFEBD3B1B8}" type="presOf" srcId="{A0C7B0A4-A9E9-4F21-9431-C84E96289809}" destId="{3CD87989-36DD-4624-AA56-93400E0521D5}" srcOrd="1" destOrd="0" presId="urn:microsoft.com/office/officeart/2005/8/layout/radial1"/>
    <dgm:cxn modelId="{A44B08B3-A047-45A2-892F-C214B73ECD29}" srcId="{B22323AB-1086-4A1C-B331-F5BB963D4145}" destId="{CC0BB659-4143-44F0-8F84-D4D2FC90959C}" srcOrd="2" destOrd="0" parTransId="{8CF1AA8F-96CB-4B5E-B715-B9028B917988}" sibTransId="{77256747-7EEC-4ABC-996D-C89DE5DBD52B}"/>
    <dgm:cxn modelId="{BC03D3C5-D03F-4496-9E66-EC52D8428C34}" type="presOf" srcId="{ED08DA14-77EB-487F-BE02-3A6D86A8246C}" destId="{EFA8CB61-977E-45B8-BD5E-C48F086EF9EF}" srcOrd="1" destOrd="0" presId="urn:microsoft.com/office/officeart/2005/8/layout/radial1"/>
    <dgm:cxn modelId="{182C6FC7-493B-4176-82D3-2A8BA6DDADFC}" type="presOf" srcId="{CC0BB659-4143-44F0-8F84-D4D2FC90959C}" destId="{AA805C1A-016A-4092-AC58-C8C9626E154E}" srcOrd="0" destOrd="0" presId="urn:microsoft.com/office/officeart/2005/8/layout/radial1"/>
    <dgm:cxn modelId="{F3F843CD-F01B-498A-A9F8-A21112579A0C}" type="presOf" srcId="{DB84B937-099F-47CA-9CDD-0D18AFFCDE42}" destId="{29BF8A05-B023-43EB-9B11-C312495477C8}" srcOrd="1" destOrd="0" presId="urn:microsoft.com/office/officeart/2005/8/layout/radial1"/>
    <dgm:cxn modelId="{20EFAED3-F430-4D85-9F40-13D246355EBC}" type="presOf" srcId="{EE02DF5B-A2BE-4F1E-B43F-8357B8176D95}" destId="{038BAAB1-DC3C-4112-BA2B-18A482B3FB34}" srcOrd="0" destOrd="0" presId="urn:microsoft.com/office/officeart/2005/8/layout/radial1"/>
    <dgm:cxn modelId="{C11591D6-0992-483B-98F3-EA64344B9D2F}" srcId="{B22323AB-1086-4A1C-B331-F5BB963D4145}" destId="{A517CECA-E7F5-4281-B2DA-244FEF5320DC}" srcOrd="3" destOrd="0" parTransId="{4603E628-68DC-46D2-84DA-A0245BD072EF}" sibTransId="{E5724D21-8406-4C52-BA15-0ED736CB50CE}"/>
    <dgm:cxn modelId="{AE8854D9-1688-447D-9E1C-54334D3667AE}" srcId="{EE02DF5B-A2BE-4F1E-B43F-8357B8176D95}" destId="{B22323AB-1086-4A1C-B331-F5BB963D4145}" srcOrd="0" destOrd="0" parTransId="{F8002C4C-AD5A-415D-9914-AE4B4B07341E}" sibTransId="{3EA78D77-C0AC-4449-8431-EAB529D8F1FD}"/>
    <dgm:cxn modelId="{F2A08AD9-CFB1-48E3-B1B0-150C72948075}" type="presOf" srcId="{87D17AA0-6080-47AE-B7DB-526C9B560CAC}" destId="{9EB9B65F-4393-4612-9918-4B6EE32BE2B5}" srcOrd="0" destOrd="0" presId="urn:microsoft.com/office/officeart/2005/8/layout/radial1"/>
    <dgm:cxn modelId="{84603CE0-D6DA-470B-B1FD-588405D531AB}" srcId="{B22323AB-1086-4A1C-B331-F5BB963D4145}" destId="{C2FD6668-1A08-46AC-BA8D-FB52FFFD9631}" srcOrd="6" destOrd="0" parTransId="{8C2FDA74-89FA-41B1-9873-0394473DF94B}" sibTransId="{523036FD-5FD0-4ACE-AC60-F08A948150DD}"/>
    <dgm:cxn modelId="{1B195DE1-A215-478D-A6DE-67AAB3BAD050}" type="presOf" srcId="{8CF1AA8F-96CB-4B5E-B715-B9028B917988}" destId="{CA2997A6-1A9D-4195-A4F9-95CB281E15D5}" srcOrd="0" destOrd="0" presId="urn:microsoft.com/office/officeart/2005/8/layout/radial1"/>
    <dgm:cxn modelId="{78A011E7-61C1-4FA0-84CE-C5A9CDB15EF2}" srcId="{B22323AB-1086-4A1C-B331-F5BB963D4145}" destId="{87D17AA0-6080-47AE-B7DB-526C9B560CAC}" srcOrd="1" destOrd="0" parTransId="{DB84B937-099F-47CA-9CDD-0D18AFFCDE42}" sibTransId="{F3240178-5CAF-4CE1-A438-3A427DB0871A}"/>
    <dgm:cxn modelId="{C3497DEC-C149-48B3-BC23-CC9921EB14C3}" type="presOf" srcId="{A517CECA-E7F5-4281-B2DA-244FEF5320DC}" destId="{3E830754-EFA7-4138-9FA6-3C9E92E74104}" srcOrd="0" destOrd="0" presId="urn:microsoft.com/office/officeart/2005/8/layout/radial1"/>
    <dgm:cxn modelId="{133AE4FF-A484-41DA-8EB1-C2C3D02BF120}" type="presParOf" srcId="{038BAAB1-DC3C-4112-BA2B-18A482B3FB34}" destId="{CEAB91ED-304D-4E30-917D-DB8A5D6E9F4E}" srcOrd="0" destOrd="0" presId="urn:microsoft.com/office/officeart/2005/8/layout/radial1"/>
    <dgm:cxn modelId="{E16F9661-5AC5-4437-BD9C-16AE476DE23B}" type="presParOf" srcId="{038BAAB1-DC3C-4112-BA2B-18A482B3FB34}" destId="{C041081D-BE3D-40E6-B560-6CCAEF685BB2}" srcOrd="1" destOrd="0" presId="urn:microsoft.com/office/officeart/2005/8/layout/radial1"/>
    <dgm:cxn modelId="{3211F2AF-F364-43D0-9A7C-79702C6E6C34}" type="presParOf" srcId="{C041081D-BE3D-40E6-B560-6CCAEF685BB2}" destId="{3CD87989-36DD-4624-AA56-93400E0521D5}" srcOrd="0" destOrd="0" presId="urn:microsoft.com/office/officeart/2005/8/layout/radial1"/>
    <dgm:cxn modelId="{D92718EA-F264-4BF2-93EC-8679C66217A9}" type="presParOf" srcId="{038BAAB1-DC3C-4112-BA2B-18A482B3FB34}" destId="{402F23A3-1405-4E62-9B6B-1BAD6AF3B058}" srcOrd="2" destOrd="0" presId="urn:microsoft.com/office/officeart/2005/8/layout/radial1"/>
    <dgm:cxn modelId="{110BBA91-D51D-4E73-8BA1-75833E52D395}" type="presParOf" srcId="{038BAAB1-DC3C-4112-BA2B-18A482B3FB34}" destId="{1A688BA9-9980-46CE-92DD-5B540F6B173C}" srcOrd="3" destOrd="0" presId="urn:microsoft.com/office/officeart/2005/8/layout/radial1"/>
    <dgm:cxn modelId="{F8623B45-8DA7-4EBE-ACD0-4A02FF495F20}" type="presParOf" srcId="{1A688BA9-9980-46CE-92DD-5B540F6B173C}" destId="{29BF8A05-B023-43EB-9B11-C312495477C8}" srcOrd="0" destOrd="0" presId="urn:microsoft.com/office/officeart/2005/8/layout/radial1"/>
    <dgm:cxn modelId="{A74FED4A-009A-4DB5-A934-8DF39073D56A}" type="presParOf" srcId="{038BAAB1-DC3C-4112-BA2B-18A482B3FB34}" destId="{9EB9B65F-4393-4612-9918-4B6EE32BE2B5}" srcOrd="4" destOrd="0" presId="urn:microsoft.com/office/officeart/2005/8/layout/radial1"/>
    <dgm:cxn modelId="{6E2A2A09-8046-4E50-A69C-9968D89DA4C3}" type="presParOf" srcId="{038BAAB1-DC3C-4112-BA2B-18A482B3FB34}" destId="{CA2997A6-1A9D-4195-A4F9-95CB281E15D5}" srcOrd="5" destOrd="0" presId="urn:microsoft.com/office/officeart/2005/8/layout/radial1"/>
    <dgm:cxn modelId="{D609836B-250A-45E8-8415-68F0690A11B6}" type="presParOf" srcId="{CA2997A6-1A9D-4195-A4F9-95CB281E15D5}" destId="{4EA814EB-5106-4171-B8B6-C2618CEA3308}" srcOrd="0" destOrd="0" presId="urn:microsoft.com/office/officeart/2005/8/layout/radial1"/>
    <dgm:cxn modelId="{C75544EF-EE5A-4BC4-9777-2A3C7E9A4A0B}" type="presParOf" srcId="{038BAAB1-DC3C-4112-BA2B-18A482B3FB34}" destId="{AA805C1A-016A-4092-AC58-C8C9626E154E}" srcOrd="6" destOrd="0" presId="urn:microsoft.com/office/officeart/2005/8/layout/radial1"/>
    <dgm:cxn modelId="{BB776DD6-B251-46CF-8328-3B48454360D7}" type="presParOf" srcId="{038BAAB1-DC3C-4112-BA2B-18A482B3FB34}" destId="{96B1DAAE-F63C-47BA-8420-AE7C9945D5FC}" srcOrd="7" destOrd="0" presId="urn:microsoft.com/office/officeart/2005/8/layout/radial1"/>
    <dgm:cxn modelId="{FE18A4D5-C790-46F0-970E-6A398EEEAF22}" type="presParOf" srcId="{96B1DAAE-F63C-47BA-8420-AE7C9945D5FC}" destId="{C5612A02-3DBA-489F-8731-7BFEF4CFC7A5}" srcOrd="0" destOrd="0" presId="urn:microsoft.com/office/officeart/2005/8/layout/radial1"/>
    <dgm:cxn modelId="{BFD25698-62F9-474A-B6C4-B772D8E4456C}" type="presParOf" srcId="{038BAAB1-DC3C-4112-BA2B-18A482B3FB34}" destId="{3E830754-EFA7-4138-9FA6-3C9E92E74104}" srcOrd="8" destOrd="0" presId="urn:microsoft.com/office/officeart/2005/8/layout/radial1"/>
    <dgm:cxn modelId="{6032A82A-B226-4842-82FC-9C2608852E84}" type="presParOf" srcId="{038BAAB1-DC3C-4112-BA2B-18A482B3FB34}" destId="{78B2782A-5A1E-4DB7-8A32-C245B5326F9D}" srcOrd="9" destOrd="0" presId="urn:microsoft.com/office/officeart/2005/8/layout/radial1"/>
    <dgm:cxn modelId="{57EFBA60-C095-4099-A06A-F501722F815D}" type="presParOf" srcId="{78B2782A-5A1E-4DB7-8A32-C245B5326F9D}" destId="{0DB9215C-9FC4-4645-A9FB-1A7085D28428}" srcOrd="0" destOrd="0" presId="urn:microsoft.com/office/officeart/2005/8/layout/radial1"/>
    <dgm:cxn modelId="{7269BCE5-5856-480D-B02B-4E12E87E70C7}" type="presParOf" srcId="{038BAAB1-DC3C-4112-BA2B-18A482B3FB34}" destId="{8473F692-BDED-4FE3-8EFA-3135EC8A8BE4}" srcOrd="10" destOrd="0" presId="urn:microsoft.com/office/officeart/2005/8/layout/radial1"/>
    <dgm:cxn modelId="{02855FD4-D20B-4284-8DCA-4C3344D98DCF}" type="presParOf" srcId="{038BAAB1-DC3C-4112-BA2B-18A482B3FB34}" destId="{8BB81BB8-E393-4F1D-8B7B-020AC5C16F2F}" srcOrd="11" destOrd="0" presId="urn:microsoft.com/office/officeart/2005/8/layout/radial1"/>
    <dgm:cxn modelId="{39A07AD8-4570-4B96-9438-975BD661E11E}" type="presParOf" srcId="{8BB81BB8-E393-4F1D-8B7B-020AC5C16F2F}" destId="{EFA8CB61-977E-45B8-BD5E-C48F086EF9EF}" srcOrd="0" destOrd="0" presId="urn:microsoft.com/office/officeart/2005/8/layout/radial1"/>
    <dgm:cxn modelId="{0383C5C4-9A24-4B92-BF01-350088E4724E}" type="presParOf" srcId="{038BAAB1-DC3C-4112-BA2B-18A482B3FB34}" destId="{E239F5DF-E3F9-42F3-9ADB-15CF35E6CE45}" srcOrd="12" destOrd="0" presId="urn:microsoft.com/office/officeart/2005/8/layout/radial1"/>
    <dgm:cxn modelId="{08F79CF2-0FBA-4CC3-8A95-6E4E54732669}" type="presParOf" srcId="{038BAAB1-DC3C-4112-BA2B-18A482B3FB34}" destId="{AF33E670-42AA-4676-8C3F-58C9EF27EB34}" srcOrd="13" destOrd="0" presId="urn:microsoft.com/office/officeart/2005/8/layout/radial1"/>
    <dgm:cxn modelId="{74408013-2DEF-40A7-A044-6E878A5D8156}" type="presParOf" srcId="{AF33E670-42AA-4676-8C3F-58C9EF27EB34}" destId="{43F165D5-D777-4F42-82A2-62F5DDF5C06C}" srcOrd="0" destOrd="0" presId="urn:microsoft.com/office/officeart/2005/8/layout/radial1"/>
    <dgm:cxn modelId="{7B882BCB-E5BF-473D-838C-0EC64E199E4E}" type="presParOf" srcId="{038BAAB1-DC3C-4112-BA2B-18A482B3FB34}" destId="{26B2A20A-D83E-4FB4-8289-8E75F18D9F17}" srcOrd="14"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9AB813C-B06A-4F31-AE41-5FBC08019F61}" type="doc">
      <dgm:prSet loTypeId="urn:microsoft.com/office/officeart/2005/8/layout/vList5" loCatId="list" qsTypeId="urn:microsoft.com/office/officeart/2005/8/quickstyle/simple1" qsCatId="simple" csTypeId="urn:microsoft.com/office/officeart/2005/8/colors/colorful1#4" csCatId="colorful" phldr="1"/>
      <dgm:spPr/>
      <dgm:t>
        <a:bodyPr/>
        <a:lstStyle/>
        <a:p>
          <a:endParaRPr lang="zh-CN" altLang="en-US"/>
        </a:p>
      </dgm:t>
    </dgm:pt>
    <dgm:pt modelId="{050A098E-265C-4391-8A02-18D41C9ACEF7}">
      <dgm:prSet phldrT="[文本]" custT="1"/>
      <dgm:spPr/>
      <dgm:t>
        <a:bodyPr/>
        <a:lstStyle/>
        <a:p>
          <a:pPr>
            <a:lnSpc>
              <a:spcPts val="2400"/>
            </a:lnSpc>
            <a:spcBef>
              <a:spcPts val="0"/>
            </a:spcBef>
            <a:spcAft>
              <a:spcPts val="0"/>
            </a:spcAft>
          </a:pPr>
          <a:r>
            <a:rPr lang="zh-CN" altLang="en-US" sz="1800" b="1" dirty="0">
              <a:solidFill>
                <a:schemeClr val="bg1"/>
              </a:solidFill>
              <a:latin typeface="微软雅黑" panose="020B0503020204020204" pitchFamily="34" charset="-122"/>
              <a:ea typeface="微软雅黑" panose="020B0503020204020204" pitchFamily="34" charset="-122"/>
            </a:rPr>
            <a:t>频域</a:t>
          </a:r>
        </a:p>
      </dgm:t>
    </dgm:pt>
    <dgm:pt modelId="{A6F7A116-B107-4EA4-9066-73D7E647AB1E}" type="par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CB1832-21C9-4CED-A453-F89D918E8026}" type="sib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FEF4933F-9CB0-4FCB-8C1E-9CB99A07B49E}">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某个信号具有的</a:t>
          </a:r>
          <a:r>
            <a:rPr lang="zh-CN" altLang="en-US" sz="1600" b="1" dirty="0">
              <a:solidFill>
                <a:srgbClr val="0000FF"/>
              </a:solidFill>
              <a:latin typeface="微软雅黑" panose="020B0503020204020204" pitchFamily="34" charset="-122"/>
              <a:ea typeface="微软雅黑" panose="020B0503020204020204" pitchFamily="34" charset="-122"/>
            </a:rPr>
            <a:t>频带宽度。</a:t>
          </a:r>
        </a:p>
      </dgm:t>
    </dgm:pt>
    <dgm:pt modelId="{496C612B-0359-4353-8637-BF1552A99E99}" type="par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18C0578-B49C-4E15-96F8-93E15DFFC7F1}" type="sib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0C3747A4-6E14-4B4D-B352-09BA88A76C46}">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单位是</a:t>
          </a:r>
          <a:r>
            <a:rPr lang="zh-CN" altLang="en-US" sz="1600" b="1" dirty="0">
              <a:solidFill>
                <a:srgbClr val="0000FF"/>
              </a:solidFill>
              <a:latin typeface="微软雅黑" panose="020B0503020204020204" pitchFamily="34" charset="-122"/>
              <a:ea typeface="微软雅黑" panose="020B0503020204020204" pitchFamily="34" charset="-122"/>
            </a:rPr>
            <a:t>赫</a:t>
          </a:r>
          <a:r>
            <a:rPr lang="zh-CN" altLang="en-US" sz="1600" b="1" dirty="0">
              <a:latin typeface="微软雅黑" panose="020B0503020204020204" pitchFamily="34" charset="-122"/>
              <a:ea typeface="微软雅黑" panose="020B0503020204020204" pitchFamily="34" charset="-122"/>
            </a:rPr>
            <a:t>（或千赫、兆赫、吉赫等）。</a:t>
          </a:r>
        </a:p>
      </dgm:t>
    </dgm:pt>
    <dgm:pt modelId="{9C1E3CB2-E8C8-49AB-965B-AFC0CD4F794D}" type="par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78D8998-D0E8-4832-B8F9-C32C7B518B9A}" type="sib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D7D28CE-69F5-49A1-B14F-3045EE4444C5}">
      <dgm:prSet phldrT="[文本]" custT="1"/>
      <dgm:spPr/>
      <dgm:t>
        <a:bodyPr/>
        <a:lstStyle/>
        <a:p>
          <a:pPr>
            <a:lnSpc>
              <a:spcPts val="2400"/>
            </a:lnSpc>
            <a:spcBef>
              <a:spcPts val="0"/>
            </a:spcBef>
            <a:spcAft>
              <a:spcPts val="0"/>
            </a:spcAft>
          </a:pPr>
          <a:r>
            <a:rPr lang="zh-CN" altLang="en-US" sz="1800" b="1" dirty="0">
              <a:solidFill>
                <a:schemeClr val="tx1"/>
              </a:solidFill>
              <a:latin typeface="微软雅黑" panose="020B0503020204020204" pitchFamily="34" charset="-122"/>
              <a:ea typeface="微软雅黑" panose="020B0503020204020204" pitchFamily="34" charset="-122"/>
            </a:rPr>
            <a:t>时域</a:t>
          </a:r>
        </a:p>
      </dgm:t>
    </dgm:pt>
    <dgm:pt modelId="{7BA8DCB6-F2BF-48A1-AE72-20D033A4AB32}" type="par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6A15820-9812-4C8B-9CED-F317235A9064}" type="sib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0DB3CE6-D371-46C6-BF5C-43B59AB6EDE2}">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dirty="0">
              <a:solidFill>
                <a:srgbClr val="0000FF"/>
              </a:solidFill>
              <a:latin typeface="微软雅黑" panose="020B0503020204020204" pitchFamily="34" charset="-122"/>
              <a:ea typeface="微软雅黑" panose="020B0503020204020204" pitchFamily="34" charset="-122"/>
            </a:rPr>
            <a:t>“最高数据率”。</a:t>
          </a:r>
        </a:p>
      </dgm:t>
    </dgm:pt>
    <dgm:pt modelId="{EF117184-0A6B-450A-9F46-59148824F74C}" type="par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CD476C-4C81-48A0-A49D-D9F381D723F0}" type="sib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79FA712-BCAA-459B-A818-2FEE70636A61}">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单位就是数据率的单位 </a:t>
          </a:r>
          <a:r>
            <a:rPr lang="en-US" altLang="en-US" sz="1600" b="1" dirty="0">
              <a:latin typeface="微软雅黑" panose="020B0503020204020204" pitchFamily="34" charset="-122"/>
              <a:ea typeface="微软雅黑" panose="020B0503020204020204" pitchFamily="34" charset="-122"/>
            </a:rPr>
            <a:t>bit/s</a:t>
          </a:r>
          <a:r>
            <a:rPr lang="zh-CN" altLang="en-US" sz="1600" b="1" dirty="0">
              <a:latin typeface="微软雅黑" panose="020B0503020204020204" pitchFamily="34" charset="-122"/>
              <a:ea typeface="微软雅黑" panose="020B0503020204020204" pitchFamily="34" charset="-122"/>
            </a:rPr>
            <a:t>。</a:t>
          </a:r>
        </a:p>
      </dgm:t>
    </dgm:pt>
    <dgm:pt modelId="{0A4C7176-71C6-4DA2-A49E-1FBD36EA537F}" type="par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008DC61-DEEE-4E2B-8DE7-4B2E6EECC852}" type="sib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66B706-D603-46A5-9883-124C05B8E875}">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某信道允许通过的信号频带范围称为该</a:t>
          </a:r>
          <a:r>
            <a:rPr lang="zh-CN" altLang="en-US" sz="1600" b="1" dirty="0">
              <a:solidFill>
                <a:srgbClr val="0000FF"/>
              </a:solidFill>
              <a:latin typeface="微软雅黑" panose="020B0503020204020204" pitchFamily="34" charset="-122"/>
              <a:ea typeface="微软雅黑" panose="020B0503020204020204" pitchFamily="34" charset="-122"/>
            </a:rPr>
            <a:t>信道的带宽</a:t>
          </a:r>
          <a:r>
            <a:rPr lang="zh-CN" altLang="en-US" sz="1600" b="1" dirty="0">
              <a:latin typeface="微软雅黑" panose="020B0503020204020204" pitchFamily="34" charset="-122"/>
              <a:ea typeface="微软雅黑" panose="020B0503020204020204" pitchFamily="34" charset="-122"/>
            </a:rPr>
            <a:t>（或通频带）。</a:t>
          </a:r>
        </a:p>
      </dgm:t>
    </dgm:pt>
    <dgm:pt modelId="{89BD7969-E47A-44A1-A228-64CDDE384D58}" type="parTrans" cxnId="{DC942A3B-33E6-4C36-96EA-7BED92D7AD9D}">
      <dgm:prSet/>
      <dgm:spPr/>
      <dgm:t>
        <a:bodyPr/>
        <a:lstStyle/>
        <a:p>
          <a:endParaRPr lang="zh-CN" altLang="en-US"/>
        </a:p>
      </dgm:t>
    </dgm:pt>
    <dgm:pt modelId="{CF6155F8-E999-4B3A-9320-1784222FDB2A}" type="sibTrans" cxnId="{DC942A3B-33E6-4C36-96EA-7BED92D7AD9D}">
      <dgm:prSet/>
      <dgm:spPr/>
      <dgm:t>
        <a:bodyPr/>
        <a:lstStyle/>
        <a:p>
          <a:endParaRPr lang="zh-CN" altLang="en-US"/>
        </a:p>
      </dgm:t>
    </dgm:pt>
    <dgm:pt modelId="{40E63CE6-BCF0-4D31-BF79-E0110AFBC97D}" type="pres">
      <dgm:prSet presAssocID="{F9AB813C-B06A-4F31-AE41-5FBC08019F61}" presName="Name0" presStyleCnt="0">
        <dgm:presLayoutVars>
          <dgm:dir/>
          <dgm:animLvl val="lvl"/>
          <dgm:resizeHandles val="exact"/>
        </dgm:presLayoutVars>
      </dgm:prSet>
      <dgm:spPr/>
    </dgm:pt>
    <dgm:pt modelId="{A816BD0E-3B05-4D80-8D09-86E69DADF94A}" type="pres">
      <dgm:prSet presAssocID="{050A098E-265C-4391-8A02-18D41C9ACEF7}" presName="linNode" presStyleCnt="0"/>
      <dgm:spPr/>
    </dgm:pt>
    <dgm:pt modelId="{12490A3D-6938-465D-B09D-05FD246C6E9E}" type="pres">
      <dgm:prSet presAssocID="{050A098E-265C-4391-8A02-18D41C9ACEF7}" presName="parentText" presStyleLbl="node1" presStyleIdx="0" presStyleCnt="2" custScaleX="41980">
        <dgm:presLayoutVars>
          <dgm:chMax val="1"/>
          <dgm:bulletEnabled val="1"/>
        </dgm:presLayoutVars>
      </dgm:prSet>
      <dgm:spPr/>
    </dgm:pt>
    <dgm:pt modelId="{D8322834-D555-4278-B09F-615875E565CE}" type="pres">
      <dgm:prSet presAssocID="{050A098E-265C-4391-8A02-18D41C9ACEF7}" presName="descendantText" presStyleLbl="alignAccFollowNode1" presStyleIdx="0" presStyleCnt="2" custScaleX="127202">
        <dgm:presLayoutVars>
          <dgm:bulletEnabled val="1"/>
        </dgm:presLayoutVars>
      </dgm:prSet>
      <dgm:spPr/>
    </dgm:pt>
    <dgm:pt modelId="{D083337A-8E07-459D-A053-9228C089A47E}" type="pres">
      <dgm:prSet presAssocID="{1BCB1832-21C9-4CED-A453-F89D918E8026}" presName="sp" presStyleCnt="0"/>
      <dgm:spPr/>
    </dgm:pt>
    <dgm:pt modelId="{795B2B64-5D71-4F73-BF51-C77D11A4D022}" type="pres">
      <dgm:prSet presAssocID="{7D7D28CE-69F5-49A1-B14F-3045EE4444C5}" presName="linNode" presStyleCnt="0"/>
      <dgm:spPr/>
    </dgm:pt>
    <dgm:pt modelId="{90C011AE-3F91-416D-B2FD-433B35EC17A6}" type="pres">
      <dgm:prSet presAssocID="{7D7D28CE-69F5-49A1-B14F-3045EE4444C5}" presName="parentText" presStyleLbl="node1" presStyleIdx="1" presStyleCnt="2" custScaleX="41980" custLinFactNeighborY="-2899">
        <dgm:presLayoutVars>
          <dgm:chMax val="1"/>
          <dgm:bulletEnabled val="1"/>
        </dgm:presLayoutVars>
      </dgm:prSet>
      <dgm:spPr/>
    </dgm:pt>
    <dgm:pt modelId="{4EADB46F-8684-4B72-97FE-D18AEB647819}" type="pres">
      <dgm:prSet presAssocID="{7D7D28CE-69F5-49A1-B14F-3045EE4444C5}" presName="descendantText" presStyleLbl="alignAccFollowNode1" presStyleIdx="1" presStyleCnt="2" custScaleX="127202" custLinFactNeighborY="-3622">
        <dgm:presLayoutVars>
          <dgm:bulletEnabled val="1"/>
        </dgm:presLayoutVars>
      </dgm:prSet>
      <dgm:spPr/>
    </dgm:pt>
  </dgm:ptLst>
  <dgm:cxnLst>
    <dgm:cxn modelId="{83A05107-00D7-4222-B7C2-A60E72976CB4}" srcId="{050A098E-265C-4391-8A02-18D41C9ACEF7}" destId="{FEF4933F-9CB0-4FCB-8C1E-9CB99A07B49E}" srcOrd="0" destOrd="0" parTransId="{496C612B-0359-4353-8637-BF1552A99E99}" sibTransId="{E18C0578-B49C-4E15-96F8-93E15DFFC7F1}"/>
    <dgm:cxn modelId="{63CD9407-2941-47C4-89ED-D215479544D9}" type="presOf" srcId="{679FA712-BCAA-459B-A818-2FEE70636A61}" destId="{4EADB46F-8684-4B72-97FE-D18AEB647819}" srcOrd="0" destOrd="1" presId="urn:microsoft.com/office/officeart/2005/8/layout/vList5"/>
    <dgm:cxn modelId="{03AFA410-631A-40E5-B964-EC11BE5D8531}" type="presOf" srcId="{1B66B706-D603-46A5-9883-124C05B8E875}" destId="{D8322834-D555-4278-B09F-615875E565CE}" srcOrd="0" destOrd="2" presId="urn:microsoft.com/office/officeart/2005/8/layout/vList5"/>
    <dgm:cxn modelId="{C2EF7411-42DE-465C-8FAE-3EB55B7970F6}" type="presOf" srcId="{050A098E-265C-4391-8A02-18D41C9ACEF7}" destId="{12490A3D-6938-465D-B09D-05FD246C6E9E}" srcOrd="0" destOrd="0" presId="urn:microsoft.com/office/officeart/2005/8/layout/vList5"/>
    <dgm:cxn modelId="{FBD4A315-3663-4844-922B-3DBBE857371B}" type="presOf" srcId="{7D7D28CE-69F5-49A1-B14F-3045EE4444C5}" destId="{90C011AE-3F91-416D-B2FD-433B35EC17A6}" srcOrd="0" destOrd="0" presId="urn:microsoft.com/office/officeart/2005/8/layout/vList5"/>
    <dgm:cxn modelId="{1165B027-3233-4387-BD43-758F7EC8C9C7}" srcId="{050A098E-265C-4391-8A02-18D41C9ACEF7}" destId="{0C3747A4-6E14-4B4D-B352-09BA88A76C46}" srcOrd="1" destOrd="0" parTransId="{9C1E3CB2-E8C8-49AB-965B-AFC0CD4F794D}" sibTransId="{B78D8998-D0E8-4832-B8F9-C32C7B518B9A}"/>
    <dgm:cxn modelId="{A7DDFB38-9139-4A21-A289-C3FF5A2E42B4}" type="presOf" srcId="{E0DB3CE6-D371-46C6-BF5C-43B59AB6EDE2}" destId="{4EADB46F-8684-4B72-97FE-D18AEB647819}" srcOrd="0" destOrd="0" presId="urn:microsoft.com/office/officeart/2005/8/layout/vList5"/>
    <dgm:cxn modelId="{DC942A3B-33E6-4C36-96EA-7BED92D7AD9D}" srcId="{050A098E-265C-4391-8A02-18D41C9ACEF7}" destId="{1B66B706-D603-46A5-9883-124C05B8E875}" srcOrd="2" destOrd="0" parTransId="{89BD7969-E47A-44A1-A228-64CDDE384D58}" sibTransId="{CF6155F8-E999-4B3A-9320-1784222FDB2A}"/>
    <dgm:cxn modelId="{371AB66C-17E5-4EE2-947D-C610D4A3E588}" type="presOf" srcId="{F9AB813C-B06A-4F31-AE41-5FBC08019F61}" destId="{40E63CE6-BCF0-4D31-BF79-E0110AFBC97D}" srcOrd="0" destOrd="0" presId="urn:microsoft.com/office/officeart/2005/8/layout/vList5"/>
    <dgm:cxn modelId="{F099BD6E-6DE6-4DC8-8916-951CC33D3D91}" srcId="{7D7D28CE-69F5-49A1-B14F-3045EE4444C5}" destId="{E0DB3CE6-D371-46C6-BF5C-43B59AB6EDE2}" srcOrd="0" destOrd="0" parTransId="{EF117184-0A6B-450A-9F46-59148824F74C}" sibTransId="{3ECD476C-4C81-48A0-A49D-D9F381D723F0}"/>
    <dgm:cxn modelId="{60735D4F-A4F3-476D-AE58-8AE4EDAE2412}" srcId="{F9AB813C-B06A-4F31-AE41-5FBC08019F61}" destId="{7D7D28CE-69F5-49A1-B14F-3045EE4444C5}" srcOrd="1" destOrd="0" parTransId="{7BA8DCB6-F2BF-48A1-AE72-20D033A4AB32}" sibTransId="{56A15820-9812-4C8B-9CED-F317235A9064}"/>
    <dgm:cxn modelId="{2E444A85-2D22-48A3-8A02-211B5B9A1B48}" srcId="{7D7D28CE-69F5-49A1-B14F-3045EE4444C5}" destId="{679FA712-BCAA-459B-A818-2FEE70636A61}" srcOrd="1" destOrd="0" parTransId="{0A4C7176-71C6-4DA2-A49E-1FBD36EA537F}" sibTransId="{C008DC61-DEEE-4E2B-8DE7-4B2E6EECC852}"/>
    <dgm:cxn modelId="{EC4EA4BE-F7E1-4328-B1DB-6A0D15C7F420}" srcId="{F9AB813C-B06A-4F31-AE41-5FBC08019F61}" destId="{050A098E-265C-4391-8A02-18D41C9ACEF7}" srcOrd="0" destOrd="0" parTransId="{A6F7A116-B107-4EA4-9066-73D7E647AB1E}" sibTransId="{1BCB1832-21C9-4CED-A453-F89D918E8026}"/>
    <dgm:cxn modelId="{A9A0C1BE-E752-49A8-9D77-F0F4F763D66F}" type="presOf" srcId="{FEF4933F-9CB0-4FCB-8C1E-9CB99A07B49E}" destId="{D8322834-D555-4278-B09F-615875E565CE}" srcOrd="0" destOrd="0" presId="urn:microsoft.com/office/officeart/2005/8/layout/vList5"/>
    <dgm:cxn modelId="{C64A0FEB-C933-463E-AEB0-9AD63DC6FF69}" type="presOf" srcId="{0C3747A4-6E14-4B4D-B352-09BA88A76C46}" destId="{D8322834-D555-4278-B09F-615875E565CE}" srcOrd="0" destOrd="1" presId="urn:microsoft.com/office/officeart/2005/8/layout/vList5"/>
    <dgm:cxn modelId="{73C37479-3E4B-4A25-A901-743C14E100D2}" type="presParOf" srcId="{40E63CE6-BCF0-4D31-BF79-E0110AFBC97D}" destId="{A816BD0E-3B05-4D80-8D09-86E69DADF94A}" srcOrd="0" destOrd="0" presId="urn:microsoft.com/office/officeart/2005/8/layout/vList5"/>
    <dgm:cxn modelId="{C0E9B0E7-F95F-485D-A69A-8411C84912E4}" type="presParOf" srcId="{A816BD0E-3B05-4D80-8D09-86E69DADF94A}" destId="{12490A3D-6938-465D-B09D-05FD246C6E9E}" srcOrd="0" destOrd="0" presId="urn:microsoft.com/office/officeart/2005/8/layout/vList5"/>
    <dgm:cxn modelId="{0A3B23AB-91F2-43D6-BC1E-C7789C0BDD1D}" type="presParOf" srcId="{A816BD0E-3B05-4D80-8D09-86E69DADF94A}" destId="{D8322834-D555-4278-B09F-615875E565CE}" srcOrd="1" destOrd="0" presId="urn:microsoft.com/office/officeart/2005/8/layout/vList5"/>
    <dgm:cxn modelId="{185C4137-9E4F-4F19-A3CB-E491C911A7C5}" type="presParOf" srcId="{40E63CE6-BCF0-4D31-BF79-E0110AFBC97D}" destId="{D083337A-8E07-459D-A053-9228C089A47E}" srcOrd="1" destOrd="0" presId="urn:microsoft.com/office/officeart/2005/8/layout/vList5"/>
    <dgm:cxn modelId="{90C81B48-3660-4386-86E9-B2B326A264D4}" type="presParOf" srcId="{40E63CE6-BCF0-4D31-BF79-E0110AFBC97D}" destId="{795B2B64-5D71-4F73-BF51-C77D11A4D022}" srcOrd="2" destOrd="0" presId="urn:microsoft.com/office/officeart/2005/8/layout/vList5"/>
    <dgm:cxn modelId="{9BF1E6FC-7FE7-44BF-ADCB-9FE0476846EC}" type="presParOf" srcId="{795B2B64-5D71-4F73-BF51-C77D11A4D022}" destId="{90C011AE-3F91-416D-B2FD-433B35EC17A6}" srcOrd="0" destOrd="0" presId="urn:microsoft.com/office/officeart/2005/8/layout/vList5"/>
    <dgm:cxn modelId="{522D5519-935E-43DE-B65C-3F7A263B0C61}" type="presParOf" srcId="{795B2B64-5D71-4F73-BF51-C77D11A4D022}" destId="{4EADB46F-8684-4B72-97FE-D18AEB647819}"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8530140-3F55-46BC-848D-A4C14AA8BC1C}" type="doc">
      <dgm:prSet loTypeId="urn:microsoft.com/office/officeart/2005/8/layout/hList1" loCatId="list" qsTypeId="urn:microsoft.com/office/officeart/2005/8/quickstyle/simple5" qsCatId="simple" csTypeId="urn:microsoft.com/office/officeart/2005/8/colors/colorful1#5" csCatId="colorful" phldr="1"/>
      <dgm:spPr/>
      <dgm:t>
        <a:bodyPr/>
        <a:lstStyle/>
        <a:p>
          <a:endParaRPr lang="zh-CN" altLang="en-US"/>
        </a:p>
      </dgm:t>
    </dgm:pt>
    <dgm:pt modelId="{617AE38B-731F-4729-B28F-C30C3037C6EF}">
      <dgm:prSet phldrT="[文本]" custT="1"/>
      <dgm:spPr/>
      <dgm:t>
        <a:bodyPr/>
        <a:lstStyle/>
        <a:p>
          <a:r>
            <a:rPr lang="zh-CN" altLang="en-US" sz="1800" b="1" dirty="0">
              <a:latin typeface="微软雅黑" panose="020B0503020204020204" pitchFamily="34" charset="-122"/>
              <a:ea typeface="微软雅黑" panose="020B0503020204020204" pitchFamily="34" charset="-122"/>
            </a:rPr>
            <a:t>信道利用率</a:t>
          </a:r>
        </a:p>
      </dgm:t>
    </dgm:pt>
    <dgm:pt modelId="{E59DA53A-3783-4CE4-8AD5-26603DC4E19D}" type="par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4789360-920D-40CE-84C5-78110649C9AA}" type="sib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EC6DEAD-6406-4DFB-8DEA-CD3C17DC614D}">
      <dgm:prSet phldrT="[文本]" custT="1"/>
      <dgm:spPr/>
      <dgm:t>
        <a:bodyPr/>
        <a:lstStyle/>
        <a:p>
          <a:r>
            <a:rPr lang="zh-CN" altLang="en-US" sz="1800" b="1" dirty="0">
              <a:latin typeface="微软雅黑" panose="020B0503020204020204" pitchFamily="34" charset="-122"/>
              <a:ea typeface="微软雅黑" panose="020B0503020204020204" pitchFamily="34" charset="-122"/>
            </a:rPr>
            <a:t>某信道有百分之几的时间是被利用的（即有数据通过）。</a:t>
          </a:r>
        </a:p>
      </dgm:t>
    </dgm:pt>
    <dgm:pt modelId="{482F333A-D861-4AA0-A30F-1C931619106C}" type="par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14CB4C-25BD-4D3A-91BC-2F5637AA90E5}" type="sib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7820C6F-2839-48A4-95ED-EBDFE872E9B1}">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网络利用率</a:t>
          </a:r>
        </a:p>
      </dgm:t>
    </dgm:pt>
    <dgm:pt modelId="{11E1DEE2-EAF3-490A-A502-3BB3E26556A0}" type="par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73100A8-454C-4D8A-8DBD-7B32E1030A4A}" type="sib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DEA8A1D-B9FF-44AA-B42C-06D817B609F8}">
      <dgm:prSet phldrT="[文本]" custT="1"/>
      <dgm:spPr/>
      <dgm:t>
        <a:bodyPr/>
        <a:lstStyle/>
        <a:p>
          <a:r>
            <a:rPr lang="zh-CN" altLang="en-US" sz="1800" b="1" dirty="0">
              <a:latin typeface="微软雅黑" panose="020B0503020204020204" pitchFamily="34" charset="-122"/>
              <a:ea typeface="微软雅黑" panose="020B0503020204020204" pitchFamily="34" charset="-122"/>
            </a:rPr>
            <a:t>全网络的信道利用率的加权平均值。</a:t>
          </a:r>
        </a:p>
      </dgm:t>
    </dgm:pt>
    <dgm:pt modelId="{CDC104ED-5DB9-424C-8439-CDDBB0142664}" type="par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73DD2A-CC9B-4D66-A6A1-7EE41BC0E8A4}" type="sib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00B28D7-2FDD-447A-8655-1C4703F07E1D}">
      <dgm:prSet custT="1"/>
      <dgm:spPr/>
      <dgm:t>
        <a:bodyPr/>
        <a:lstStyle/>
        <a:p>
          <a:r>
            <a:rPr lang="zh-CN" altLang="en-US" sz="1800" b="1" dirty="0">
              <a:latin typeface="微软雅黑" panose="020B0503020204020204" pitchFamily="34" charset="-122"/>
              <a:ea typeface="微软雅黑" panose="020B0503020204020204" pitchFamily="34" charset="-122"/>
            </a:rPr>
            <a:t>完全空闲的信道的利用率是零。</a:t>
          </a:r>
        </a:p>
      </dgm:t>
    </dgm:pt>
    <dgm:pt modelId="{B4E31D86-E7E7-4DB8-B509-ABC412692A5B}" type="parTrans" cxnId="{C6795FE8-CFE8-4187-A5F2-78B292433606}">
      <dgm:prSet/>
      <dgm:spPr/>
      <dgm:t>
        <a:bodyPr/>
        <a:lstStyle/>
        <a:p>
          <a:endParaRPr lang="zh-CN" altLang="en-US" sz="1800"/>
        </a:p>
      </dgm:t>
    </dgm:pt>
    <dgm:pt modelId="{E056649D-FFB4-45EF-845D-4988E55B5B53}" type="sibTrans" cxnId="{C6795FE8-CFE8-4187-A5F2-78B292433606}">
      <dgm:prSet/>
      <dgm:spPr/>
      <dgm:t>
        <a:bodyPr/>
        <a:lstStyle/>
        <a:p>
          <a:endParaRPr lang="zh-CN" altLang="en-US" sz="1800"/>
        </a:p>
      </dgm:t>
    </dgm:pt>
    <dgm:pt modelId="{88C9F005-020B-4A65-B6DD-91E4B06170CA}" type="pres">
      <dgm:prSet presAssocID="{18530140-3F55-46BC-848D-A4C14AA8BC1C}" presName="Name0" presStyleCnt="0">
        <dgm:presLayoutVars>
          <dgm:dir/>
          <dgm:animLvl val="lvl"/>
          <dgm:resizeHandles val="exact"/>
        </dgm:presLayoutVars>
      </dgm:prSet>
      <dgm:spPr/>
    </dgm:pt>
    <dgm:pt modelId="{863441FC-3ED2-454D-AE08-A7529C4F64F0}" type="pres">
      <dgm:prSet presAssocID="{617AE38B-731F-4729-B28F-C30C3037C6EF}" presName="composite" presStyleCnt="0"/>
      <dgm:spPr/>
    </dgm:pt>
    <dgm:pt modelId="{6E98D618-F8FC-4C90-851C-0B5A61F1FAD0}" type="pres">
      <dgm:prSet presAssocID="{617AE38B-731F-4729-B28F-C30C3037C6EF}" presName="parTx" presStyleLbl="alignNode1" presStyleIdx="0" presStyleCnt="2">
        <dgm:presLayoutVars>
          <dgm:chMax val="0"/>
          <dgm:chPref val="0"/>
          <dgm:bulletEnabled val="1"/>
        </dgm:presLayoutVars>
      </dgm:prSet>
      <dgm:spPr/>
    </dgm:pt>
    <dgm:pt modelId="{DD1A8C17-AB8B-4CDA-9C06-E3F6B80DFAB1}" type="pres">
      <dgm:prSet presAssocID="{617AE38B-731F-4729-B28F-C30C3037C6EF}" presName="desTx" presStyleLbl="alignAccFollowNode1" presStyleIdx="0" presStyleCnt="2">
        <dgm:presLayoutVars>
          <dgm:bulletEnabled val="1"/>
        </dgm:presLayoutVars>
      </dgm:prSet>
      <dgm:spPr/>
    </dgm:pt>
    <dgm:pt modelId="{1CFA901E-33C6-4AF3-BBC3-CCEBB393DC10}" type="pres">
      <dgm:prSet presAssocID="{D4789360-920D-40CE-84C5-78110649C9AA}" presName="space" presStyleCnt="0"/>
      <dgm:spPr/>
    </dgm:pt>
    <dgm:pt modelId="{44F14B2E-25F7-449B-8033-A1851ADFCF28}" type="pres">
      <dgm:prSet presAssocID="{37820C6F-2839-48A4-95ED-EBDFE872E9B1}" presName="composite" presStyleCnt="0"/>
      <dgm:spPr/>
    </dgm:pt>
    <dgm:pt modelId="{95E674E6-30C0-4846-A33C-8435093FF952}" type="pres">
      <dgm:prSet presAssocID="{37820C6F-2839-48A4-95ED-EBDFE872E9B1}" presName="parTx" presStyleLbl="alignNode1" presStyleIdx="1" presStyleCnt="2">
        <dgm:presLayoutVars>
          <dgm:chMax val="0"/>
          <dgm:chPref val="0"/>
          <dgm:bulletEnabled val="1"/>
        </dgm:presLayoutVars>
      </dgm:prSet>
      <dgm:spPr/>
    </dgm:pt>
    <dgm:pt modelId="{D5B1C811-7FFB-4E90-B609-AF3320FECF06}" type="pres">
      <dgm:prSet presAssocID="{37820C6F-2839-48A4-95ED-EBDFE872E9B1}" presName="desTx" presStyleLbl="alignAccFollowNode1" presStyleIdx="1" presStyleCnt="2">
        <dgm:presLayoutVars>
          <dgm:bulletEnabled val="1"/>
        </dgm:presLayoutVars>
      </dgm:prSet>
      <dgm:spPr/>
    </dgm:pt>
  </dgm:ptLst>
  <dgm:cxnLst>
    <dgm:cxn modelId="{A20F5820-6458-4E01-B0AE-D4E8325AC9BD}" type="presOf" srcId="{1EC6DEAD-6406-4DFB-8DEA-CD3C17DC614D}" destId="{DD1A8C17-AB8B-4CDA-9C06-E3F6B80DFAB1}" srcOrd="0" destOrd="0" presId="urn:microsoft.com/office/officeart/2005/8/layout/hList1"/>
    <dgm:cxn modelId="{9DC2B627-F44A-4C33-82E3-BC9DA9CC6DCC}" srcId="{37820C6F-2839-48A4-95ED-EBDFE872E9B1}" destId="{7DEA8A1D-B9FF-44AA-B42C-06D817B609F8}" srcOrd="0" destOrd="0" parTransId="{CDC104ED-5DB9-424C-8439-CDDBB0142664}" sibTransId="{7F73DD2A-CC9B-4D66-A6A1-7EE41BC0E8A4}"/>
    <dgm:cxn modelId="{19DC375B-E541-4B59-8382-93A56F7F35BD}" srcId="{18530140-3F55-46BC-848D-A4C14AA8BC1C}" destId="{37820C6F-2839-48A4-95ED-EBDFE872E9B1}" srcOrd="1" destOrd="0" parTransId="{11E1DEE2-EAF3-490A-A502-3BB3E26556A0}" sibTransId="{573100A8-454C-4D8A-8DBD-7B32E1030A4A}"/>
    <dgm:cxn modelId="{50E80871-61F1-42A4-AAF9-3D6FE3D44A24}" type="presOf" srcId="{37820C6F-2839-48A4-95ED-EBDFE872E9B1}" destId="{95E674E6-30C0-4846-A33C-8435093FF952}" srcOrd="0" destOrd="0" presId="urn:microsoft.com/office/officeart/2005/8/layout/hList1"/>
    <dgm:cxn modelId="{A85E3E8F-E7E6-4ECC-A71E-7AC941D62EF2}" srcId="{18530140-3F55-46BC-848D-A4C14AA8BC1C}" destId="{617AE38B-731F-4729-B28F-C30C3037C6EF}" srcOrd="0" destOrd="0" parTransId="{E59DA53A-3783-4CE4-8AD5-26603DC4E19D}" sibTransId="{D4789360-920D-40CE-84C5-78110649C9AA}"/>
    <dgm:cxn modelId="{030BEFA5-F361-4328-951F-CB80F059289B}" type="presOf" srcId="{7DEA8A1D-B9FF-44AA-B42C-06D817B609F8}" destId="{D5B1C811-7FFB-4E90-B609-AF3320FECF06}" srcOrd="0" destOrd="0" presId="urn:microsoft.com/office/officeart/2005/8/layout/hList1"/>
    <dgm:cxn modelId="{C3B2B8A9-83E4-4B90-9B8C-86EE34AD3CCF}" type="presOf" srcId="{617AE38B-731F-4729-B28F-C30C3037C6EF}" destId="{6E98D618-F8FC-4C90-851C-0B5A61F1FAD0}" srcOrd="0" destOrd="0" presId="urn:microsoft.com/office/officeart/2005/8/layout/hList1"/>
    <dgm:cxn modelId="{986F98DA-A7C2-4490-9706-635023747E49}" type="presOf" srcId="{18530140-3F55-46BC-848D-A4C14AA8BC1C}" destId="{88C9F005-020B-4A65-B6DD-91E4B06170CA}" srcOrd="0" destOrd="0" presId="urn:microsoft.com/office/officeart/2005/8/layout/hList1"/>
    <dgm:cxn modelId="{C6795FE8-CFE8-4187-A5F2-78B292433606}" srcId="{617AE38B-731F-4729-B28F-C30C3037C6EF}" destId="{300B28D7-2FDD-447A-8655-1C4703F07E1D}" srcOrd="1" destOrd="0" parTransId="{B4E31D86-E7E7-4DB8-B509-ABC412692A5B}" sibTransId="{E056649D-FFB4-45EF-845D-4988E55B5B53}"/>
    <dgm:cxn modelId="{2F4A38EE-B43C-4181-A31E-13C6B403FBA7}" type="presOf" srcId="{300B28D7-2FDD-447A-8655-1C4703F07E1D}" destId="{DD1A8C17-AB8B-4CDA-9C06-E3F6B80DFAB1}" srcOrd="0" destOrd="1" presId="urn:microsoft.com/office/officeart/2005/8/layout/hList1"/>
    <dgm:cxn modelId="{CE89C4F3-23B2-46F4-A4AF-ACF50B7D990F}" srcId="{617AE38B-731F-4729-B28F-C30C3037C6EF}" destId="{1EC6DEAD-6406-4DFB-8DEA-CD3C17DC614D}" srcOrd="0" destOrd="0" parTransId="{482F333A-D861-4AA0-A30F-1C931619106C}" sibTransId="{2B14CB4C-25BD-4D3A-91BC-2F5637AA90E5}"/>
    <dgm:cxn modelId="{6118EFF7-EEAD-40ED-B97B-84748C486EAE}" type="presParOf" srcId="{88C9F005-020B-4A65-B6DD-91E4B06170CA}" destId="{863441FC-3ED2-454D-AE08-A7529C4F64F0}" srcOrd="0" destOrd="0" presId="urn:microsoft.com/office/officeart/2005/8/layout/hList1"/>
    <dgm:cxn modelId="{D95FDE52-98A2-458D-BC1C-955FEB96B1A5}" type="presParOf" srcId="{863441FC-3ED2-454D-AE08-A7529C4F64F0}" destId="{6E98D618-F8FC-4C90-851C-0B5A61F1FAD0}" srcOrd="0" destOrd="0" presId="urn:microsoft.com/office/officeart/2005/8/layout/hList1"/>
    <dgm:cxn modelId="{69A22581-D42F-4CB0-B171-6EE513972459}" type="presParOf" srcId="{863441FC-3ED2-454D-AE08-A7529C4F64F0}" destId="{DD1A8C17-AB8B-4CDA-9C06-E3F6B80DFAB1}" srcOrd="1" destOrd="0" presId="urn:microsoft.com/office/officeart/2005/8/layout/hList1"/>
    <dgm:cxn modelId="{ABB0EA74-3195-468A-8BA4-648FCC04C7BE}" type="presParOf" srcId="{88C9F005-020B-4A65-B6DD-91E4B06170CA}" destId="{1CFA901E-33C6-4AF3-BBC3-CCEBB393DC10}" srcOrd="1" destOrd="0" presId="urn:microsoft.com/office/officeart/2005/8/layout/hList1"/>
    <dgm:cxn modelId="{DC61AFF4-5B03-4B31-8D99-44B25D25EB4A}" type="presParOf" srcId="{88C9F005-020B-4A65-B6DD-91E4B06170CA}" destId="{44F14B2E-25F7-449B-8033-A1851ADFCF28}" srcOrd="2" destOrd="0" presId="urn:microsoft.com/office/officeart/2005/8/layout/hList1"/>
    <dgm:cxn modelId="{2D765E7B-D12D-418C-A811-F9B7C45F7DC7}" type="presParOf" srcId="{44F14B2E-25F7-449B-8033-A1851ADFCF28}" destId="{95E674E6-30C0-4846-A33C-8435093FF952}" srcOrd="0" destOrd="0" presId="urn:microsoft.com/office/officeart/2005/8/layout/hList1"/>
    <dgm:cxn modelId="{7AAED85A-664E-4254-A3CD-08A73EA441D0}" type="presParOf" srcId="{44F14B2E-25F7-449B-8033-A1851ADFCF28}" destId="{D5B1C811-7FFB-4E90-B609-AF3320FECF0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费用</a:t>
          </a:r>
        </a:p>
      </dgm:t>
    </dgm:pt>
    <dgm:pt modelId="{BED6549C-B35E-4354-84E8-A7AE58E7EC07}" type="parTrans" cxnId="{56CC0E7C-D98A-4C46-81A3-3B1F60601F3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C027A28-57B2-4775-8438-4AAECBE023C8}" type="sibTrans" cxnId="{56CC0E7C-D98A-4C46-81A3-3B1F60601F3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E173A921-6651-451D-81E9-F0ACC1536AAC}">
      <dgm:prSet phldrT="[文本]" custT="1"/>
      <dgm:spPr/>
      <dgm:t>
        <a:bodyPr/>
        <a:lstStyle/>
        <a:p>
          <a:r>
            <a:rPr lang="zh-CN" altLang="en-US" sz="1800" b="1" dirty="0">
              <a:latin typeface="微软雅黑" panose="020B0503020204020204" pitchFamily="34" charset="-122"/>
              <a:ea typeface="微软雅黑" panose="020B0503020204020204" pitchFamily="34" charset="-122"/>
            </a:rPr>
            <a:t>标准化</a:t>
          </a:r>
        </a:p>
      </dgm:t>
    </dgm:pt>
    <dgm:pt modelId="{DF4FD089-4E3D-4F03-9D3C-F28F49D8F119}" type="par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39184D2-A650-4378-9B66-79745068F954}" type="sib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199F25F-9525-43C5-955C-BB6FEFFBA60E}">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质量</a:t>
          </a:r>
        </a:p>
      </dgm:t>
    </dgm:pt>
    <dgm:pt modelId="{92F37460-E89E-4259-A2EF-B2A638C38A45}" type="parTrans" cxnId="{12D5EFDF-084C-4857-A4BE-12B60B2E2A9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4C2D13-B647-4CF6-B1F7-03AB183A1123}" type="sibTrans" cxnId="{12D5EFDF-084C-4857-A4BE-12B60B2E2A9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EC4611C-A3C3-451C-AE74-8846F1901302}">
      <dgm:prSet phldrT="[文本]" custT="1"/>
      <dgm:spPr/>
      <dgm:t>
        <a:bodyPr/>
        <a:lstStyle/>
        <a:p>
          <a:r>
            <a:rPr lang="zh-CN" altLang="en-US" sz="1800" b="1" dirty="0">
              <a:latin typeface="微软雅黑" panose="020B0503020204020204" pitchFamily="34" charset="-122"/>
              <a:ea typeface="微软雅黑" panose="020B0503020204020204" pitchFamily="34" charset="-122"/>
            </a:rPr>
            <a:t>可靠性</a:t>
          </a:r>
        </a:p>
      </dgm:t>
    </dgm:pt>
    <dgm:pt modelId="{68F328E8-C43C-478E-B670-0B24656D9E35}" type="par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561528-8DA9-408B-83C6-171ECD06B86B}" type="sib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40893AA-1044-4C1A-AFE8-154BD0AD6229}">
      <dgm:prSet phldrT="[文本]" custT="1"/>
      <dgm:spPr/>
      <dgm:t>
        <a:bodyPr/>
        <a:lstStyle/>
        <a:p>
          <a:r>
            <a:rPr lang="zh-CN" altLang="en-US" sz="1500" b="1" dirty="0">
              <a:solidFill>
                <a:schemeClr val="tx1"/>
              </a:solidFill>
              <a:latin typeface="微软雅黑" panose="020B0503020204020204" pitchFamily="34" charset="-122"/>
              <a:ea typeface="微软雅黑" panose="020B0503020204020204" pitchFamily="34" charset="-122"/>
            </a:rPr>
            <a:t>管理和维护</a:t>
          </a:r>
        </a:p>
      </dgm:t>
    </dgm:pt>
    <dgm:pt modelId="{5D5965E2-EEFF-40D7-B453-CDF2231F9E32}" type="parTrans" cxnId="{5DC1683A-A3BA-477F-922D-A91C5AAC3E8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E1A90B-D747-4792-8CF8-D1D86F0C6D30}" type="sibTrans" cxnId="{5DC1683A-A3BA-477F-922D-A91C5AAC3E85}">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2415517-2817-485B-84FB-EEB772F05388}">
      <dgm:prSet phldrT="[文本]" custT="1"/>
      <dgm:spPr/>
      <dgm:t>
        <a:bodyPr/>
        <a:lstStyle/>
        <a:p>
          <a:r>
            <a:rPr lang="zh-CN" altLang="en-US" sz="1800" b="1" dirty="0">
              <a:latin typeface="微软雅黑" panose="020B0503020204020204" pitchFamily="34" charset="-122"/>
              <a:ea typeface="微软雅黑" panose="020B0503020204020204" pitchFamily="34" charset="-122"/>
            </a:rPr>
            <a:t>可扩展性和可升级性</a:t>
          </a:r>
        </a:p>
      </dgm:t>
    </dgm:pt>
    <dgm:pt modelId="{9389711E-63B1-48BC-8B0D-E77AD36B0F70}" type="par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057A99-57DA-4C5E-AFDE-4E731CDF706D}" type="sib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dgm:t>
        <a:bodyPr/>
        <a:lstStyle/>
        <a:p>
          <a:r>
            <a:rPr lang="zh-CN" altLang="en-US" sz="2000" b="1" dirty="0">
              <a:latin typeface="微软雅黑" panose="020B0503020204020204" pitchFamily="34" charset="-122"/>
              <a:ea typeface="微软雅黑" panose="020B0503020204020204" pitchFamily="34" charset="-122"/>
            </a:rPr>
            <a:t>法律上的 </a:t>
          </a:r>
          <a:r>
            <a:rPr lang="en-US" altLang="en-US" sz="2000" b="1" dirty="0">
              <a:latin typeface="微软雅黑" panose="020B0503020204020204" pitchFamily="34" charset="-122"/>
              <a:ea typeface="微软雅黑" panose="020B0503020204020204" pitchFamily="34" charset="-122"/>
            </a:rPr>
            <a:t>(de jure)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OSI</a:t>
          </a:r>
          <a:endParaRPr lang="zh-CN" altLang="en-US" sz="2000" b="1" dirty="0">
            <a:latin typeface="微软雅黑" panose="020B0503020204020204" pitchFamily="34" charset="-122"/>
            <a:ea typeface="微软雅黑" panose="020B0503020204020204" pitchFamily="34" charset="-122"/>
          </a:endParaRPr>
        </a:p>
      </dgm:t>
    </dgm:pt>
    <dgm:pt modelId="{E38B7B80-E684-4487-8667-BCC0A5171417}" type="par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756D47E-79F4-44F1-9DC8-F8FF9A3DB365}" type="sib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26438D5-AF60-4FC2-B7B1-1FAFE6F029F4}">
      <dgm:prSet phldrT="[文本]" custT="1"/>
      <dgm:spPr/>
      <dgm:t>
        <a:bodyPr/>
        <a:lstStyle/>
        <a:p>
          <a:r>
            <a:rPr lang="zh-CN" altLang="en-US" sz="2000" b="1" dirty="0">
              <a:latin typeface="微软雅黑" panose="020B0503020204020204" pitchFamily="34" charset="-122"/>
              <a:ea typeface="微软雅黑" panose="020B0503020204020204" pitchFamily="34" charset="-122"/>
            </a:rPr>
            <a:t>但并没有得到市场的认可。</a:t>
          </a:r>
        </a:p>
      </dgm:t>
    </dgm:pt>
    <dgm:pt modelId="{E2043F32-4A49-416A-8197-C2B2393B2255}" type="par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4028441-B185-4303-8082-46E98E8EBA28}" type="sib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986DFCC-564B-42E1-8E43-BFE75079EEDF}">
      <dgm:prSet phldrT="[文本]" custT="1"/>
      <dgm:spPr/>
      <dgm:t>
        <a:bodyPr/>
        <a:lstStyle/>
        <a:p>
          <a:r>
            <a:rPr lang="zh-CN" altLang="en-US" sz="2000" b="1" dirty="0">
              <a:latin typeface="微软雅黑" panose="020B0503020204020204" pitchFamily="34" charset="-122"/>
              <a:ea typeface="微软雅黑" panose="020B0503020204020204" pitchFamily="34" charset="-122"/>
            </a:rPr>
            <a:t>事实上的 </a:t>
          </a:r>
          <a:r>
            <a:rPr lang="en-US" altLang="en-US" sz="2000" b="1" dirty="0">
              <a:latin typeface="微软雅黑" panose="020B0503020204020204" pitchFamily="34" charset="-122"/>
              <a:ea typeface="微软雅黑" panose="020B0503020204020204" pitchFamily="34" charset="-122"/>
            </a:rPr>
            <a:t>(de facto)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TCP/IP</a:t>
          </a:r>
          <a:endParaRPr lang="zh-CN" altLang="en-US" sz="2000" b="1" dirty="0">
            <a:latin typeface="微软雅黑" panose="020B0503020204020204" pitchFamily="34" charset="-122"/>
            <a:ea typeface="微软雅黑" panose="020B0503020204020204" pitchFamily="34" charset="-122"/>
          </a:endParaRPr>
        </a:p>
      </dgm:t>
    </dgm:pt>
    <dgm:pt modelId="{BB601F7A-8E86-4A9E-9EF8-CC003C5EF85D}" type="par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297112-55F6-448E-AECB-EFD048EDDB28}" type="sib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CC66CB7-D7AD-41A6-98DD-74D4F514E2BD}">
      <dgm:prSet phldrT="[文本]" custT="1"/>
      <dgm:spPr/>
      <dgm:t>
        <a:bodyPr/>
        <a:lstStyle/>
        <a:p>
          <a:r>
            <a:rPr lang="zh-CN" altLang="en-US" sz="2000" b="1" dirty="0">
              <a:latin typeface="微软雅黑" panose="020B0503020204020204" pitchFamily="34" charset="-122"/>
              <a:ea typeface="微软雅黑" panose="020B0503020204020204" pitchFamily="34" charset="-122"/>
            </a:rPr>
            <a:t>获得了最广泛的应用。</a:t>
          </a:r>
        </a:p>
      </dgm:t>
    </dgm:pt>
    <dgm:pt modelId="{85BE533B-2396-46D9-AFFB-686B13690F8B}" type="par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8DE6DB6-6A4C-41DA-8F55-0D1076B0DD18}" type="sib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293CF4F5-3101-49E6-9303-E9DD7296C65D}"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C301BCD6-3F1B-4C9C-800D-CE5CBA0188D2}">
      <dgm:prSet phldrT="[文本]" custT="1"/>
      <dgm:spPr/>
      <dgm:t>
        <a:bodyPr/>
        <a:lstStyle/>
        <a:p>
          <a:r>
            <a:rPr lang="zh-CN" altLang="en-US" sz="1800" b="1" dirty="0">
              <a:solidFill>
                <a:schemeClr val="bg1"/>
              </a:solidFill>
              <a:latin typeface="微软雅黑" panose="020B0503020204020204" pitchFamily="34" charset="-122"/>
              <a:ea typeface="微软雅黑" panose="020B0503020204020204" pitchFamily="34" charset="-122"/>
            </a:rPr>
            <a:t>文字描述：便于人来阅读和理解。</a:t>
          </a:r>
        </a:p>
      </dgm:t>
    </dgm:pt>
    <dgm:pt modelId="{8F194872-EA8A-420F-BAD5-93D3D974D2CC}" type="par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BA69BCC-ACCA-44EF-AB05-16894BE20C98}" type="sib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A5B5183-B82D-4F95-84A7-0F223402066E}">
      <dgm:prSet phldrT="[文本]" custT="1"/>
      <dgm:spPr/>
      <dgm:t>
        <a:bodyPr/>
        <a:lstStyle/>
        <a:p>
          <a:r>
            <a:rPr lang="zh-CN" altLang="en-US" sz="1800" b="1" dirty="0">
              <a:solidFill>
                <a:srgbClr val="000066"/>
              </a:solidFill>
              <a:latin typeface="微软雅黑" panose="020B0503020204020204" pitchFamily="34" charset="-122"/>
              <a:ea typeface="微软雅黑" panose="020B0503020204020204" pitchFamily="34" charset="-122"/>
            </a:rPr>
            <a:t>程序代码：让计算机能够理解。</a:t>
          </a:r>
        </a:p>
      </dgm:t>
    </dgm:pt>
    <dgm:pt modelId="{3C446E62-0F12-4B57-895F-6C47306C1DC1}" type="par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AEA954-F48A-4B44-80BF-2C09A5948257}" type="sib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C73C4A-F159-4BCB-A072-016D19C6E2B5}" type="pres">
      <dgm:prSet presAssocID="{293CF4F5-3101-49E6-9303-E9DD7296C65D}" presName="linear" presStyleCnt="0">
        <dgm:presLayoutVars>
          <dgm:dir/>
          <dgm:animLvl val="lvl"/>
          <dgm:resizeHandles val="exact"/>
        </dgm:presLayoutVars>
      </dgm:prSet>
      <dgm:spPr/>
    </dgm:pt>
    <dgm:pt modelId="{E336CA13-8985-45BE-84B4-56919F1E4296}" type="pres">
      <dgm:prSet presAssocID="{C301BCD6-3F1B-4C9C-800D-CE5CBA0188D2}" presName="parentLin" presStyleCnt="0"/>
      <dgm:spPr/>
    </dgm:pt>
    <dgm:pt modelId="{77F3D1F0-EBBB-48B7-B04C-56372B956B6C}" type="pres">
      <dgm:prSet presAssocID="{C301BCD6-3F1B-4C9C-800D-CE5CBA0188D2}" presName="parentLeftMargin" presStyleLbl="node1" presStyleIdx="0" presStyleCnt="2"/>
      <dgm:spPr/>
    </dgm:pt>
    <dgm:pt modelId="{41788D26-F979-4FB7-8A96-4711D82825B8}" type="pres">
      <dgm:prSet presAssocID="{C301BCD6-3F1B-4C9C-800D-CE5CBA0188D2}" presName="parentText" presStyleLbl="node1" presStyleIdx="0" presStyleCnt="2">
        <dgm:presLayoutVars>
          <dgm:chMax val="0"/>
          <dgm:bulletEnabled val="1"/>
        </dgm:presLayoutVars>
      </dgm:prSet>
      <dgm:spPr/>
    </dgm:pt>
    <dgm:pt modelId="{446021F4-CA10-46E5-8E3F-26753D3D3985}" type="pres">
      <dgm:prSet presAssocID="{C301BCD6-3F1B-4C9C-800D-CE5CBA0188D2}" presName="negativeSpace" presStyleCnt="0"/>
      <dgm:spPr/>
    </dgm:pt>
    <dgm:pt modelId="{2F355ABF-AFD4-4429-AC0C-B179A1BF75DA}" type="pres">
      <dgm:prSet presAssocID="{C301BCD6-3F1B-4C9C-800D-CE5CBA0188D2}" presName="childText" presStyleLbl="conFgAcc1" presStyleIdx="0" presStyleCnt="2">
        <dgm:presLayoutVars>
          <dgm:bulletEnabled val="1"/>
        </dgm:presLayoutVars>
      </dgm:prSet>
      <dgm:spPr/>
    </dgm:pt>
    <dgm:pt modelId="{A1FE5214-89D9-427A-8B5A-BF786C96D895}" type="pres">
      <dgm:prSet presAssocID="{CBA69BCC-ACCA-44EF-AB05-16894BE20C98}" presName="spaceBetweenRectangles" presStyleCnt="0"/>
      <dgm:spPr/>
    </dgm:pt>
    <dgm:pt modelId="{142A6A81-5624-4ACE-9A3D-B3AFF9382A09}" type="pres">
      <dgm:prSet presAssocID="{8A5B5183-B82D-4F95-84A7-0F223402066E}" presName="parentLin" presStyleCnt="0"/>
      <dgm:spPr/>
    </dgm:pt>
    <dgm:pt modelId="{C238DCB9-6EBC-413B-9D6D-EC93B6F5DDFF}" type="pres">
      <dgm:prSet presAssocID="{8A5B5183-B82D-4F95-84A7-0F223402066E}" presName="parentLeftMargin" presStyleLbl="node1" presStyleIdx="0" presStyleCnt="2"/>
      <dgm:spPr/>
    </dgm:pt>
    <dgm:pt modelId="{F367B3BE-A2DF-4CEA-8C18-99C09218A893}" type="pres">
      <dgm:prSet presAssocID="{8A5B5183-B82D-4F95-84A7-0F223402066E}" presName="parentText" presStyleLbl="node1" presStyleIdx="1" presStyleCnt="2">
        <dgm:presLayoutVars>
          <dgm:chMax val="0"/>
          <dgm:bulletEnabled val="1"/>
        </dgm:presLayoutVars>
      </dgm:prSet>
      <dgm:spPr/>
    </dgm:pt>
    <dgm:pt modelId="{00FBF154-663A-49D1-BC6E-5A81F86E17D9}" type="pres">
      <dgm:prSet presAssocID="{8A5B5183-B82D-4F95-84A7-0F223402066E}" presName="negativeSpace" presStyleCnt="0"/>
      <dgm:spPr/>
    </dgm:pt>
    <dgm:pt modelId="{3072F165-7A76-46AC-BCC0-0FC97CA5F9F5}" type="pres">
      <dgm:prSet presAssocID="{8A5B5183-B82D-4F95-84A7-0F223402066E}" presName="childText" presStyleLbl="conFgAcc1" presStyleIdx="1" presStyleCnt="2">
        <dgm:presLayoutVars>
          <dgm:bulletEnabled val="1"/>
        </dgm:presLayoutVars>
      </dgm:prSet>
      <dgm:spPr/>
    </dgm:pt>
  </dgm:ptLst>
  <dgm:cxnLst>
    <dgm:cxn modelId="{A2AADB49-CA67-451F-90FD-5E3D44EC1EA0}" type="presOf" srcId="{8A5B5183-B82D-4F95-84A7-0F223402066E}" destId="{F367B3BE-A2DF-4CEA-8C18-99C09218A893}" srcOrd="1" destOrd="0" presId="urn:microsoft.com/office/officeart/2005/8/layout/list1"/>
    <dgm:cxn modelId="{F991CA59-DD6B-43A9-A990-3A4CB9D2EE86}" type="presOf" srcId="{293CF4F5-3101-49E6-9303-E9DD7296C65D}" destId="{42C73C4A-F159-4BCB-A072-016D19C6E2B5}" srcOrd="0" destOrd="0" presId="urn:microsoft.com/office/officeart/2005/8/layout/list1"/>
    <dgm:cxn modelId="{ECFF1E8D-1946-483C-B754-77A185F880D7}" type="presOf" srcId="{8A5B5183-B82D-4F95-84A7-0F223402066E}" destId="{C238DCB9-6EBC-413B-9D6D-EC93B6F5DDFF}" srcOrd="0" destOrd="0" presId="urn:microsoft.com/office/officeart/2005/8/layout/list1"/>
    <dgm:cxn modelId="{DECB6B99-8462-426B-B51B-E4D9E3C76C9D}" type="presOf" srcId="{C301BCD6-3F1B-4C9C-800D-CE5CBA0188D2}" destId="{41788D26-F979-4FB7-8A96-4711D82825B8}" srcOrd="1" destOrd="0" presId="urn:microsoft.com/office/officeart/2005/8/layout/list1"/>
    <dgm:cxn modelId="{2166F6B3-E217-4437-B325-B8BA520696B0}" srcId="{293CF4F5-3101-49E6-9303-E9DD7296C65D}" destId="{8A5B5183-B82D-4F95-84A7-0F223402066E}" srcOrd="1" destOrd="0" parTransId="{3C446E62-0F12-4B57-895F-6C47306C1DC1}" sibTransId="{21AEA954-F48A-4B44-80BF-2C09A5948257}"/>
    <dgm:cxn modelId="{18A337F2-4CE5-4FF6-96A3-CC543DCA5296}" type="presOf" srcId="{C301BCD6-3F1B-4C9C-800D-CE5CBA0188D2}" destId="{77F3D1F0-EBBB-48B7-B04C-56372B956B6C}" srcOrd="0" destOrd="0" presId="urn:microsoft.com/office/officeart/2005/8/layout/list1"/>
    <dgm:cxn modelId="{B535B5F2-0D6A-421E-BFCB-673C3560E397}" srcId="{293CF4F5-3101-49E6-9303-E9DD7296C65D}" destId="{C301BCD6-3F1B-4C9C-800D-CE5CBA0188D2}" srcOrd="0" destOrd="0" parTransId="{8F194872-EA8A-420F-BAD5-93D3D974D2CC}" sibTransId="{CBA69BCC-ACCA-44EF-AB05-16894BE20C98}"/>
    <dgm:cxn modelId="{CBF163A0-6196-4F5D-981E-79CED64D4C96}" type="presParOf" srcId="{42C73C4A-F159-4BCB-A072-016D19C6E2B5}" destId="{E336CA13-8985-45BE-84B4-56919F1E4296}" srcOrd="0" destOrd="0" presId="urn:microsoft.com/office/officeart/2005/8/layout/list1"/>
    <dgm:cxn modelId="{2B4822A4-0104-490E-99B2-9B41BFA52BE3}" type="presParOf" srcId="{E336CA13-8985-45BE-84B4-56919F1E4296}" destId="{77F3D1F0-EBBB-48B7-B04C-56372B956B6C}" srcOrd="0" destOrd="0" presId="urn:microsoft.com/office/officeart/2005/8/layout/list1"/>
    <dgm:cxn modelId="{EA35E57C-3FE2-4475-B45B-FF3BEF497F3C}" type="presParOf" srcId="{E336CA13-8985-45BE-84B4-56919F1E4296}" destId="{41788D26-F979-4FB7-8A96-4711D82825B8}" srcOrd="1" destOrd="0" presId="urn:microsoft.com/office/officeart/2005/8/layout/list1"/>
    <dgm:cxn modelId="{540D51C9-81C1-4010-87D8-D59B8A7FDDAC}" type="presParOf" srcId="{42C73C4A-F159-4BCB-A072-016D19C6E2B5}" destId="{446021F4-CA10-46E5-8E3F-26753D3D3985}" srcOrd="1" destOrd="0" presId="urn:microsoft.com/office/officeart/2005/8/layout/list1"/>
    <dgm:cxn modelId="{9C7B2439-D5DD-4A36-8DEF-8A400810BCB0}" type="presParOf" srcId="{42C73C4A-F159-4BCB-A072-016D19C6E2B5}" destId="{2F355ABF-AFD4-4429-AC0C-B179A1BF75DA}" srcOrd="2" destOrd="0" presId="urn:microsoft.com/office/officeart/2005/8/layout/list1"/>
    <dgm:cxn modelId="{59288904-D70F-4CDE-8F1C-54573E9145E6}" type="presParOf" srcId="{42C73C4A-F159-4BCB-A072-016D19C6E2B5}" destId="{A1FE5214-89D9-427A-8B5A-BF786C96D895}" srcOrd="3" destOrd="0" presId="urn:microsoft.com/office/officeart/2005/8/layout/list1"/>
    <dgm:cxn modelId="{052DEEF4-0621-4F49-95DC-32AEB825C321}" type="presParOf" srcId="{42C73C4A-F159-4BCB-A072-016D19C6E2B5}" destId="{142A6A81-5624-4ACE-9A3D-B3AFF9382A09}" srcOrd="4" destOrd="0" presId="urn:microsoft.com/office/officeart/2005/8/layout/list1"/>
    <dgm:cxn modelId="{759AC876-3A19-4295-8D0F-ABC3EFFA3F5F}" type="presParOf" srcId="{142A6A81-5624-4ACE-9A3D-B3AFF9382A09}" destId="{C238DCB9-6EBC-413B-9D6D-EC93B6F5DDFF}" srcOrd="0" destOrd="0" presId="urn:microsoft.com/office/officeart/2005/8/layout/list1"/>
    <dgm:cxn modelId="{203F8A69-9B9D-4B83-94CC-6916C1DDC2DA}" type="presParOf" srcId="{142A6A81-5624-4ACE-9A3D-B3AFF9382A09}" destId="{F367B3BE-A2DF-4CEA-8C18-99C09218A893}" srcOrd="1" destOrd="0" presId="urn:microsoft.com/office/officeart/2005/8/layout/list1"/>
    <dgm:cxn modelId="{A622DBAD-7882-42BF-932B-9D1ABBBD3B01}" type="presParOf" srcId="{42C73C4A-F159-4BCB-A072-016D19C6E2B5}" destId="{00FBF154-663A-49D1-BC6E-5A81F86E17D9}" srcOrd="5" destOrd="0" presId="urn:microsoft.com/office/officeart/2005/8/layout/list1"/>
    <dgm:cxn modelId="{CB239D4A-E3F3-475E-9E7B-062513E4BFA7}" type="presParOf" srcId="{42C73C4A-F159-4BCB-A072-016D19C6E2B5}" destId="{3072F165-7A76-46AC-BCC0-0FC97CA5F9F5}" srcOrd="6" destOrd="0" presId="urn:microsoft.com/office/officeart/2005/8/layout/list1"/>
  </dgm:cxnLst>
  <dgm:bg/>
  <dgm:whole>
    <a:ln w="1905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5D5085E-9A19-4AAD-9799-233066D76354}" type="doc">
      <dgm:prSet loTypeId="urn:microsoft.com/office/officeart/2009/3/layout/PlusandMinus" loCatId="relationship" qsTypeId="urn:microsoft.com/office/officeart/2005/8/quickstyle/simple1" qsCatId="simple" csTypeId="urn:microsoft.com/office/officeart/2005/8/colors/colorful1#7" csCatId="colorful" phldr="1"/>
      <dgm:spPr/>
      <dgm:t>
        <a:bodyPr/>
        <a:lstStyle/>
        <a:p>
          <a:endParaRPr lang="zh-CN" altLang="en-US"/>
        </a:p>
      </dgm:t>
    </dgm:pt>
    <dgm:pt modelId="{523B5A40-6C88-4E7B-8370-BC3BAD908198}">
      <dgm:prSet phldrT="[文本]" custT="1">
        <dgm:style>
          <a:lnRef idx="1">
            <a:schemeClr val="accent2"/>
          </a:lnRef>
          <a:fillRef idx="2">
            <a:schemeClr val="accent2"/>
          </a:fillRef>
          <a:effectRef idx="1">
            <a:schemeClr val="accent2"/>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各层之间是独立的。</a:t>
          </a:r>
        </a:p>
        <a:p>
          <a:pPr>
            <a:spcAft>
              <a:spcPts val="0"/>
            </a:spcAft>
          </a:pPr>
          <a:r>
            <a:rPr lang="zh-CN" altLang="en-US" sz="1600" b="1" dirty="0">
              <a:latin typeface="微软雅黑" panose="020B0503020204020204" pitchFamily="34" charset="-122"/>
              <a:ea typeface="微软雅黑" panose="020B0503020204020204" pitchFamily="34" charset="-122"/>
            </a:rPr>
            <a:t>灵活性好。</a:t>
          </a:r>
        </a:p>
        <a:p>
          <a:pPr>
            <a:spcAft>
              <a:spcPts val="0"/>
            </a:spcAft>
          </a:pPr>
          <a:r>
            <a:rPr lang="zh-CN" altLang="en-US" sz="1600" b="1" dirty="0">
              <a:latin typeface="微软雅黑" panose="020B0503020204020204" pitchFamily="34" charset="-122"/>
              <a:ea typeface="微软雅黑" panose="020B0503020204020204" pitchFamily="34" charset="-122"/>
            </a:rPr>
            <a:t>结构上可分割开。</a:t>
          </a:r>
        </a:p>
        <a:p>
          <a:pPr>
            <a:spcAft>
              <a:spcPts val="0"/>
            </a:spcAft>
          </a:pPr>
          <a:r>
            <a:rPr lang="zh-CN" altLang="en-US" sz="1600" b="1" dirty="0">
              <a:latin typeface="微软雅黑" panose="020B0503020204020204" pitchFamily="34" charset="-122"/>
              <a:ea typeface="微软雅黑" panose="020B0503020204020204" pitchFamily="34" charset="-122"/>
            </a:rPr>
            <a:t>易于实现和维护</a:t>
          </a:r>
        </a:p>
        <a:p>
          <a:pPr>
            <a:spcAft>
              <a:spcPts val="0"/>
            </a:spcAft>
          </a:pPr>
          <a:r>
            <a:rPr lang="zh-CN" altLang="en-US" sz="1600" b="1" dirty="0">
              <a:latin typeface="微软雅黑" panose="020B0503020204020204" pitchFamily="34" charset="-122"/>
              <a:ea typeface="微软雅黑" panose="020B0503020204020204" pitchFamily="34" charset="-122"/>
            </a:rPr>
            <a:t>能促进标准化工作。</a:t>
          </a:r>
        </a:p>
      </dgm:t>
    </dgm:pt>
    <dgm:pt modelId="{4A6FE152-9E61-4CEC-9BC4-79E3A424C0D2}" type="par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2A612B14-1FE9-4940-AD60-58D8C13C2F37}" type="sib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906CC4F9-16E2-4572-BF0F-2D71D193110F}">
      <dgm:prSet phldrT="[文本]" custT="1">
        <dgm:style>
          <a:lnRef idx="1">
            <a:schemeClr val="accent3"/>
          </a:lnRef>
          <a:fillRef idx="2">
            <a:schemeClr val="accent3"/>
          </a:fillRef>
          <a:effectRef idx="1">
            <a:schemeClr val="accent3"/>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有些功能会重复出现，因而产生了额外开销。</a:t>
          </a:r>
          <a:endParaRPr lang="en-US" altLang="zh-CN" sz="1600" b="1" dirty="0">
            <a:latin typeface="微软雅黑" panose="020B0503020204020204" pitchFamily="34" charset="-122"/>
            <a:ea typeface="微软雅黑" panose="020B0503020204020204" pitchFamily="34" charset="-122"/>
          </a:endParaRPr>
        </a:p>
      </dgm:t>
    </dgm:pt>
    <dgm:pt modelId="{75873D7D-8229-4A50-B8B3-9C809F5F9F2A}" type="par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D297ADB0-BFEE-4AB3-8D8E-293AD20CC74C}" type="sib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FB7A98D8-A946-4532-B8CF-383D1065D29C}" type="pres">
      <dgm:prSet presAssocID="{85D5085E-9A19-4AAD-9799-233066D76354}" presName="Name0" presStyleCnt="0">
        <dgm:presLayoutVars>
          <dgm:chMax val="2"/>
          <dgm:chPref val="2"/>
          <dgm:dir/>
          <dgm:animOne/>
          <dgm:resizeHandles val="exact"/>
        </dgm:presLayoutVars>
      </dgm:prSet>
      <dgm:spPr/>
    </dgm:pt>
    <dgm:pt modelId="{A6333D2C-A9D6-4FB9-868E-7A2772597538}" type="pres">
      <dgm:prSet presAssocID="{85D5085E-9A19-4AAD-9799-233066D76354}" presName="Background" presStyleLbl="bgImgPlace1" presStyleIdx="0" presStyleCnt="1" custScaleX="150969"/>
      <dgm:spPr>
        <a:solidFill>
          <a:schemeClr val="tx2">
            <a:lumMod val="40000"/>
            <a:lumOff val="60000"/>
          </a:schemeClr>
        </a:solidFill>
      </dgm:spPr>
    </dgm:pt>
    <dgm:pt modelId="{9F411F94-BA29-40FB-AB99-7CD7DB1CFA05}" type="pres">
      <dgm:prSet presAssocID="{85D5085E-9A19-4AAD-9799-233066D76354}" presName="ParentText1" presStyleLbl="revTx" presStyleIdx="0" presStyleCnt="2" custScaleX="122941" custLinFactNeighborX="-19358" custLinFactNeighborY="-2168">
        <dgm:presLayoutVars>
          <dgm:chMax val="0"/>
          <dgm:chPref val="0"/>
          <dgm:bulletEnabled val="1"/>
        </dgm:presLayoutVars>
      </dgm:prSet>
      <dgm:spPr/>
    </dgm:pt>
    <dgm:pt modelId="{CB7DDDF6-2C8B-4B30-A06C-1EA5DB141FBA}" type="pres">
      <dgm:prSet presAssocID="{85D5085E-9A19-4AAD-9799-233066D76354}" presName="ParentText2" presStyleLbl="revTx" presStyleIdx="1" presStyleCnt="2" custScaleX="124196" custLinFactNeighborX="20121" custLinFactNeighborY="-2285">
        <dgm:presLayoutVars>
          <dgm:chMax val="0"/>
          <dgm:chPref val="0"/>
          <dgm:bulletEnabled val="1"/>
        </dgm:presLayoutVars>
      </dgm:prSet>
      <dgm:spPr/>
    </dgm:pt>
    <dgm:pt modelId="{DF706164-FCCA-4F26-8B31-EABB82ABC165}" type="pres">
      <dgm:prSet presAssocID="{85D5085E-9A19-4AAD-9799-233066D76354}" presName="Plus" presStyleLbl="alignNode1" presStyleIdx="0" presStyleCnt="2" custLinFactX="-23859" custLinFactNeighborX="-100000"/>
      <dgm:spPr>
        <a:solidFill>
          <a:srgbClr val="990033"/>
        </a:solidFill>
        <a:ln>
          <a:solidFill>
            <a:srgbClr val="990033"/>
          </a:solidFill>
        </a:ln>
      </dgm:spPr>
    </dgm:pt>
    <dgm:pt modelId="{93B3F9F7-5DFA-451D-8AF0-C886EF2184F0}" type="pres">
      <dgm:prSet presAssocID="{85D5085E-9A19-4AAD-9799-233066D76354}" presName="Minus" presStyleLbl="alignNode1" presStyleIdx="1" presStyleCnt="2" custLinFactX="55058" custLinFactNeighborX="100000" custLinFactNeighborY="-7605"/>
      <dgm:spPr>
        <a:solidFill>
          <a:srgbClr val="000099"/>
        </a:solidFill>
        <a:ln>
          <a:noFill/>
        </a:ln>
      </dgm:spPr>
    </dgm:pt>
    <dgm:pt modelId="{5CF821AC-F873-42D9-B901-FF50109FC337}" type="pres">
      <dgm:prSet presAssocID="{85D5085E-9A19-4AAD-9799-233066D76354}" presName="Divider" presStyleLbl="parChTrans1D1" presStyleIdx="0" presStyleCnt="1"/>
      <dgm:spPr>
        <a:ln>
          <a:solidFill>
            <a:srgbClr val="000099"/>
          </a:solidFill>
        </a:ln>
      </dgm:spPr>
    </dgm:pt>
  </dgm:ptLst>
  <dgm:cxnLst>
    <dgm:cxn modelId="{81865607-0674-4603-A3A6-09E5AD6F0586}" type="presOf" srcId="{906CC4F9-16E2-4572-BF0F-2D71D193110F}" destId="{CB7DDDF6-2C8B-4B30-A06C-1EA5DB141FBA}" srcOrd="0" destOrd="0" presId="urn:microsoft.com/office/officeart/2009/3/layout/PlusandMinus"/>
    <dgm:cxn modelId="{52A72C25-C9F8-4E42-AFAE-C29F4D9B1539}" srcId="{85D5085E-9A19-4AAD-9799-233066D76354}" destId="{906CC4F9-16E2-4572-BF0F-2D71D193110F}" srcOrd="1" destOrd="0" parTransId="{75873D7D-8229-4A50-B8B3-9C809F5F9F2A}" sibTransId="{D297ADB0-BFEE-4AB3-8D8E-293AD20CC74C}"/>
    <dgm:cxn modelId="{7AAB9144-4A68-495A-8801-2CD716BEDFA8}" type="presOf" srcId="{85D5085E-9A19-4AAD-9799-233066D76354}" destId="{FB7A98D8-A946-4532-B8CF-383D1065D29C}" srcOrd="0" destOrd="0" presId="urn:microsoft.com/office/officeart/2009/3/layout/PlusandMinus"/>
    <dgm:cxn modelId="{BFA2CA4B-6F60-4BAC-85D0-D17D13261D45}" srcId="{85D5085E-9A19-4AAD-9799-233066D76354}" destId="{523B5A40-6C88-4E7B-8370-BC3BAD908198}" srcOrd="0" destOrd="0" parTransId="{4A6FE152-9E61-4CEC-9BC4-79E3A424C0D2}" sibTransId="{2A612B14-1FE9-4940-AD60-58D8C13C2F37}"/>
    <dgm:cxn modelId="{5AC6E06F-A631-472E-AFA9-C30A23DB299C}" type="presOf" srcId="{523B5A40-6C88-4E7B-8370-BC3BAD908198}" destId="{9F411F94-BA29-40FB-AB99-7CD7DB1CFA05}" srcOrd="0" destOrd="0" presId="urn:microsoft.com/office/officeart/2009/3/layout/PlusandMinus"/>
    <dgm:cxn modelId="{198F1FA8-C2DC-4C79-8FB5-400F5A2031D1}" type="presParOf" srcId="{FB7A98D8-A946-4532-B8CF-383D1065D29C}" destId="{A6333D2C-A9D6-4FB9-868E-7A2772597538}" srcOrd="0" destOrd="0" presId="urn:microsoft.com/office/officeart/2009/3/layout/PlusandMinus"/>
    <dgm:cxn modelId="{D39A9186-8136-4A30-9BD4-6D6C0D9B60F6}" type="presParOf" srcId="{FB7A98D8-A946-4532-B8CF-383D1065D29C}" destId="{9F411F94-BA29-40FB-AB99-7CD7DB1CFA05}" srcOrd="1" destOrd="0" presId="urn:microsoft.com/office/officeart/2009/3/layout/PlusandMinus"/>
    <dgm:cxn modelId="{0F3B0A80-ABDF-4ABB-A19E-A5E7BC4F123D}" type="presParOf" srcId="{FB7A98D8-A946-4532-B8CF-383D1065D29C}" destId="{CB7DDDF6-2C8B-4B30-A06C-1EA5DB141FBA}" srcOrd="2" destOrd="0" presId="urn:microsoft.com/office/officeart/2009/3/layout/PlusandMinus"/>
    <dgm:cxn modelId="{CD5B3F22-708A-45DE-9F16-756F0125D6EA}" type="presParOf" srcId="{FB7A98D8-A946-4532-B8CF-383D1065D29C}" destId="{DF706164-FCCA-4F26-8B31-EABB82ABC165}" srcOrd="3" destOrd="0" presId="urn:microsoft.com/office/officeart/2009/3/layout/PlusandMinus"/>
    <dgm:cxn modelId="{41EC7F81-3328-4F59-87CF-A911907C770F}" type="presParOf" srcId="{FB7A98D8-A946-4532-B8CF-383D1065D29C}" destId="{93B3F9F7-5DFA-451D-8AF0-C886EF2184F0}" srcOrd="4" destOrd="0" presId="urn:microsoft.com/office/officeart/2009/3/layout/PlusandMinus"/>
    <dgm:cxn modelId="{CA9219E9-39F0-4799-A64D-1DDA4049B332}" type="presParOf" srcId="{FB7A98D8-A946-4532-B8CF-383D1065D29C}" destId="{5CF821AC-F873-42D9-B901-FF50109FC337}"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994F04D-6077-4FB2-937D-03324B9DAB34}" type="doc">
      <dgm:prSet loTypeId="urn:microsoft.com/office/officeart/2005/8/layout/hierarchy3" loCatId="relationship" qsTypeId="urn:microsoft.com/office/officeart/2005/8/quickstyle/simple3" qsCatId="simple" csTypeId="urn:microsoft.com/office/officeart/2005/8/colors/colorful1#8" csCatId="colorful" phldr="1"/>
      <dgm:spPr/>
      <dgm:t>
        <a:bodyPr/>
        <a:lstStyle/>
        <a:p>
          <a:endParaRPr lang="zh-CN" altLang="en-US"/>
        </a:p>
      </dgm:t>
    </dgm:pt>
    <dgm:pt modelId="{0DA5C5DE-6D17-4EDE-B920-CE5FB3D41ABA}">
      <dgm:prSet phldrT="[文本]" custT="1"/>
      <dgm:spPr/>
      <dgm:t>
        <a:bodyPr/>
        <a:lstStyle/>
        <a:p>
          <a:r>
            <a:rPr lang="zh-CN" altLang="en-US" sz="2000" b="1">
              <a:latin typeface="微软雅黑" panose="020B0503020204020204" pitchFamily="34" charset="-122"/>
              <a:ea typeface="微软雅黑" panose="020B0503020204020204" pitchFamily="34" charset="-122"/>
            </a:rPr>
            <a:t>协议</a:t>
          </a:r>
          <a:endParaRPr lang="zh-CN" altLang="en-US" sz="2000" b="1" dirty="0">
            <a:latin typeface="微软雅黑" panose="020B0503020204020204" pitchFamily="34" charset="-122"/>
            <a:ea typeface="微软雅黑" panose="020B0503020204020204" pitchFamily="34" charset="-122"/>
          </a:endParaRPr>
        </a:p>
      </dgm:t>
    </dgm:pt>
    <dgm:pt modelId="{28418661-558A-435A-8A4F-56BB2E6D2A79}" type="par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B7799A1-52B3-4216-A827-D62622C7BECB}" type="sib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5ACDDF9-B7B9-4AE3-AEFD-342A1ED3FDD3}">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其实现保证了能够向上一层提供服务。</a:t>
          </a:r>
        </a:p>
      </dgm:t>
    </dgm:pt>
    <dgm:pt modelId="{50644C00-718E-45C3-8ABB-FFE825DC5B7F}" type="par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E9E075A-BD56-47AA-9D15-0D4E098D5773}" type="sib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E148EBF-2EB5-487C-A84A-08998CD76BB7}">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是“水平的”</a:t>
          </a:r>
        </a:p>
      </dgm:t>
    </dgm:pt>
    <dgm:pt modelId="{21295D08-392E-4BE1-9B14-3F97120CA18B}" type="par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6AFDFB6-ED54-46D5-B15F-407D349B5792}" type="sib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4E06A52-91F5-4177-AA54-D298036A0598}">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上层使用服务原语获得下层所提供的服务。</a:t>
          </a:r>
        </a:p>
      </dgm:t>
    </dgm:pt>
    <dgm:pt modelId="{730A02EE-39C4-4F26-9573-658C50E91867}" type="par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E8D6502-6A43-42CC-86CF-1ACBA7051209}" type="sib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D4BC036-F4FD-462C-907D-B7F6B229CCE6}">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上面的服务用户只能看见服务，无法看见下面的协议。</a:t>
          </a:r>
        </a:p>
      </dgm:t>
    </dgm:pt>
    <dgm:pt modelId="{85967721-5B7F-4D6B-ADDE-3DE6B93A85B9}" type="par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DE26604-E6BC-447F-9C0B-6472723CCE81}" type="sib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E9353F-F89B-4F97-ADC5-22417B99EEF5}">
      <dgm:prSet phldrT="[文本]" custT="1"/>
      <dgm:spPr/>
      <dgm:t>
        <a:bodyPr/>
        <a:lstStyle/>
        <a:p>
          <a:r>
            <a:rPr lang="zh-CN" altLang="en-US" sz="2000" b="1" dirty="0">
              <a:latin typeface="微软雅黑" panose="020B0503020204020204" pitchFamily="34" charset="-122"/>
              <a:ea typeface="微软雅黑" panose="020B0503020204020204" pitchFamily="34" charset="-122"/>
            </a:rPr>
            <a:t>服务</a:t>
          </a:r>
          <a:endParaRPr lang="zh-CN" altLang="en-US" sz="1400" b="1" dirty="0">
            <a:latin typeface="微软雅黑" panose="020B0503020204020204" pitchFamily="34" charset="-122"/>
            <a:ea typeface="微软雅黑" panose="020B0503020204020204" pitchFamily="34" charset="-122"/>
          </a:endParaRPr>
        </a:p>
      </dgm:t>
    </dgm:pt>
    <dgm:pt modelId="{B2C123C1-4D4A-4AFA-AAC7-499F5F557CA3}" type="par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5F63407-A2E4-4341-BE61-AC23ED700CB0}" type="sib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621BA61-E464-4E81-97EC-EDA49E7881F8}">
      <dgm:prSet custT="1"/>
      <dgm:spPr/>
      <dgm:t>
        <a:bodyPr/>
        <a:lstStyle/>
        <a:p>
          <a:pPr algn="l"/>
          <a:r>
            <a:rPr lang="zh-CN" altLang="en-US" sz="1400" b="1" dirty="0">
              <a:latin typeface="微软雅黑" panose="020B0503020204020204" pitchFamily="34" charset="-122"/>
              <a:ea typeface="微软雅黑" panose="020B0503020204020204" pitchFamily="34" charset="-122"/>
            </a:rPr>
            <a:t>对上面的服务用户是透明的。 </a:t>
          </a:r>
        </a:p>
      </dgm:t>
    </dgm:pt>
    <dgm:pt modelId="{51AD83D2-E860-474C-AB22-849ADFDF4DBE}" type="parTrans" cxnId="{30A3C7D7-737E-45E4-B2EB-EA198C32BC2B}">
      <dgm:prSet/>
      <dgm:spPr/>
      <dgm:t>
        <a:bodyPr/>
        <a:lstStyle/>
        <a:p>
          <a:endParaRPr lang="zh-CN" altLang="en-US"/>
        </a:p>
      </dgm:t>
    </dgm:pt>
    <dgm:pt modelId="{2E1B2228-FB84-45C7-9335-000068211608}" type="sibTrans" cxnId="{30A3C7D7-737E-45E4-B2EB-EA198C32BC2B}">
      <dgm:prSet/>
      <dgm:spPr/>
      <dgm:t>
        <a:bodyPr/>
        <a:lstStyle/>
        <a:p>
          <a:endParaRPr lang="zh-CN" altLang="en-US"/>
        </a:p>
      </dgm:t>
    </dgm:pt>
    <dgm:pt modelId="{796DC1B7-9303-4BF9-ADBA-2F3A2A3FBE6B}">
      <dgm:prSet custT="1"/>
      <dgm:spPr/>
      <dgm:t>
        <a:bodyPr/>
        <a:lstStyle/>
        <a:p>
          <a:pPr algn="l"/>
          <a:r>
            <a:rPr lang="zh-CN" altLang="en-US" sz="1400" b="1" dirty="0">
              <a:latin typeface="微软雅黑" panose="020B0503020204020204" pitchFamily="34" charset="-122"/>
              <a:ea typeface="微软雅黑" panose="020B0503020204020204" pitchFamily="34" charset="-122"/>
            </a:rPr>
            <a:t>是“垂直的”</a:t>
          </a:r>
        </a:p>
      </dgm:t>
    </dgm:pt>
    <dgm:pt modelId="{81F2FDAA-970B-4BD0-9CE1-4DD499C666F7}" type="parTrans" cxnId="{EEB84225-CB6C-4BAC-B1AF-19A26231A51D}">
      <dgm:prSet/>
      <dgm:spPr/>
      <dgm:t>
        <a:bodyPr/>
        <a:lstStyle/>
        <a:p>
          <a:endParaRPr lang="zh-CN" altLang="en-US"/>
        </a:p>
      </dgm:t>
    </dgm:pt>
    <dgm:pt modelId="{5EDF14EE-9165-40CE-AECD-1659094E2CA3}" type="sibTrans" cxnId="{EEB84225-CB6C-4BAC-B1AF-19A26231A51D}">
      <dgm:prSet/>
      <dgm:spPr/>
      <dgm:t>
        <a:bodyPr/>
        <a:lstStyle/>
        <a:p>
          <a:endParaRPr lang="zh-CN" altLang="en-US"/>
        </a:p>
      </dgm:t>
    </dgm:pt>
    <dgm:pt modelId="{220E4BB7-E5A6-4374-B95C-9515D05C4860}" type="pres">
      <dgm:prSet presAssocID="{4994F04D-6077-4FB2-937D-03324B9DAB34}" presName="diagram" presStyleCnt="0">
        <dgm:presLayoutVars>
          <dgm:chPref val="1"/>
          <dgm:dir/>
          <dgm:animOne val="branch"/>
          <dgm:animLvl val="lvl"/>
          <dgm:resizeHandles/>
        </dgm:presLayoutVars>
      </dgm:prSet>
      <dgm:spPr/>
    </dgm:pt>
    <dgm:pt modelId="{F20CB88D-283A-40E6-969B-F760513B269C}" type="pres">
      <dgm:prSet presAssocID="{0DA5C5DE-6D17-4EDE-B920-CE5FB3D41ABA}" presName="root" presStyleCnt="0"/>
      <dgm:spPr/>
    </dgm:pt>
    <dgm:pt modelId="{16E92C0E-1962-4079-9E86-E1F4B29DC174}" type="pres">
      <dgm:prSet presAssocID="{0DA5C5DE-6D17-4EDE-B920-CE5FB3D41ABA}" presName="rootComposite" presStyleCnt="0"/>
      <dgm:spPr/>
    </dgm:pt>
    <dgm:pt modelId="{880F44A1-54FE-446F-9390-56E51903722C}" type="pres">
      <dgm:prSet presAssocID="{0DA5C5DE-6D17-4EDE-B920-CE5FB3D41ABA}" presName="rootText" presStyleLbl="node1" presStyleIdx="0" presStyleCnt="2" custLinFactNeighborX="-58298"/>
      <dgm:spPr/>
    </dgm:pt>
    <dgm:pt modelId="{804607B6-F4FB-4B08-9326-1AA34A273A5D}" type="pres">
      <dgm:prSet presAssocID="{0DA5C5DE-6D17-4EDE-B920-CE5FB3D41ABA}" presName="rootConnector" presStyleLbl="node1" presStyleIdx="0" presStyleCnt="2"/>
      <dgm:spPr/>
    </dgm:pt>
    <dgm:pt modelId="{4DA6A816-DA95-479C-9A39-3F04BD93D8C4}" type="pres">
      <dgm:prSet presAssocID="{0DA5C5DE-6D17-4EDE-B920-CE5FB3D41ABA}" presName="childShape" presStyleCnt="0"/>
      <dgm:spPr/>
    </dgm:pt>
    <dgm:pt modelId="{5F5FD024-96B9-4927-9522-4793C366CCDF}" type="pres">
      <dgm:prSet presAssocID="{50644C00-718E-45C3-8ABB-FFE825DC5B7F}" presName="Name13" presStyleLbl="parChTrans1D2" presStyleIdx="0" presStyleCnt="6"/>
      <dgm:spPr/>
    </dgm:pt>
    <dgm:pt modelId="{8271D559-F991-45A8-861F-E02D43E73A7A}" type="pres">
      <dgm:prSet presAssocID="{85ACDDF9-B7B9-4AE3-AEFD-342A1ED3FDD3}" presName="childText" presStyleLbl="bgAcc1" presStyleIdx="0" presStyleCnt="6" custScaleX="378056" custScaleY="141812" custLinFactNeighborX="-61112" custLinFactNeighborY="-5648">
        <dgm:presLayoutVars>
          <dgm:bulletEnabled val="1"/>
        </dgm:presLayoutVars>
      </dgm:prSet>
      <dgm:spPr/>
    </dgm:pt>
    <dgm:pt modelId="{D504C716-6CF6-4108-8639-E75778C37519}" type="pres">
      <dgm:prSet presAssocID="{51AD83D2-E860-474C-AB22-849ADFDF4DBE}" presName="Name13" presStyleLbl="parChTrans1D2" presStyleIdx="1" presStyleCnt="6"/>
      <dgm:spPr/>
    </dgm:pt>
    <dgm:pt modelId="{B24467C9-0F5C-4007-8028-B7B163F30ADF}" type="pres">
      <dgm:prSet presAssocID="{1621BA61-E464-4E81-97EC-EDA49E7881F8}" presName="childText" presStyleLbl="bgAcc1" presStyleIdx="1" presStyleCnt="6" custScaleX="378056" custScaleY="142780" custLinFactNeighborX="-61112">
        <dgm:presLayoutVars>
          <dgm:bulletEnabled val="1"/>
        </dgm:presLayoutVars>
      </dgm:prSet>
      <dgm:spPr/>
    </dgm:pt>
    <dgm:pt modelId="{9164C2E8-A8A5-4BDA-B5B7-3599D5C7C4A2}" type="pres">
      <dgm:prSet presAssocID="{21295D08-392E-4BE1-9B14-3F97120CA18B}" presName="Name13" presStyleLbl="parChTrans1D2" presStyleIdx="2" presStyleCnt="6"/>
      <dgm:spPr/>
    </dgm:pt>
    <dgm:pt modelId="{08A735DB-4E1F-4605-8178-66A449AC1BB2}" type="pres">
      <dgm:prSet presAssocID="{5E148EBF-2EB5-487C-A84A-08998CD76BB7}" presName="childText" presStyleLbl="bgAcc1" presStyleIdx="2" presStyleCnt="6" custScaleX="378056" custLinFactNeighborX="-61112">
        <dgm:presLayoutVars>
          <dgm:bulletEnabled val="1"/>
        </dgm:presLayoutVars>
      </dgm:prSet>
      <dgm:spPr/>
    </dgm:pt>
    <dgm:pt modelId="{172420C5-C642-4E23-8BCE-E82694121490}" type="pres">
      <dgm:prSet presAssocID="{FDE9353F-F89B-4F97-ADC5-22417B99EEF5}" presName="root" presStyleCnt="0"/>
      <dgm:spPr/>
    </dgm:pt>
    <dgm:pt modelId="{34B83B97-08FF-4DC6-919D-1C8742B7576A}" type="pres">
      <dgm:prSet presAssocID="{FDE9353F-F89B-4F97-ADC5-22417B99EEF5}" presName="rootComposite" presStyleCnt="0"/>
      <dgm:spPr/>
    </dgm:pt>
    <dgm:pt modelId="{CF6D9EBE-6D4F-45DB-B63C-66E318350665}" type="pres">
      <dgm:prSet presAssocID="{FDE9353F-F89B-4F97-ADC5-22417B99EEF5}" presName="rootText" presStyleLbl="node1" presStyleIdx="1" presStyleCnt="2"/>
      <dgm:spPr/>
    </dgm:pt>
    <dgm:pt modelId="{FFFA6021-95BD-4804-A726-42B6E8065B83}" type="pres">
      <dgm:prSet presAssocID="{FDE9353F-F89B-4F97-ADC5-22417B99EEF5}" presName="rootConnector" presStyleLbl="node1" presStyleIdx="1" presStyleCnt="2"/>
      <dgm:spPr/>
    </dgm:pt>
    <dgm:pt modelId="{ABF0D8E4-5E93-4122-950B-0287C64E7E00}" type="pres">
      <dgm:prSet presAssocID="{FDE9353F-F89B-4F97-ADC5-22417B99EEF5}" presName="childShape" presStyleCnt="0"/>
      <dgm:spPr/>
    </dgm:pt>
    <dgm:pt modelId="{D73DB642-839F-46E4-BEFB-357122DA8B2A}" type="pres">
      <dgm:prSet presAssocID="{730A02EE-39C4-4F26-9573-658C50E91867}" presName="Name13" presStyleLbl="parChTrans1D2" presStyleIdx="3" presStyleCnt="6"/>
      <dgm:spPr/>
    </dgm:pt>
    <dgm:pt modelId="{366E8205-074B-465F-84D3-7E9C2A4B087A}" type="pres">
      <dgm:prSet presAssocID="{D4E06A52-91F5-4177-AA54-D298036A0598}" presName="childText" presStyleLbl="bgAcc1" presStyleIdx="3" presStyleCnt="6" custScaleX="378194" custScaleY="142147" custLinFactNeighborX="11750">
        <dgm:presLayoutVars>
          <dgm:bulletEnabled val="1"/>
        </dgm:presLayoutVars>
      </dgm:prSet>
      <dgm:spPr/>
    </dgm:pt>
    <dgm:pt modelId="{C7786CBF-29A7-4F46-ACE1-BFAF2ED2906F}" type="pres">
      <dgm:prSet presAssocID="{85967721-5B7F-4D6B-ADDE-3DE6B93A85B9}" presName="Name13" presStyleLbl="parChTrans1D2" presStyleIdx="4" presStyleCnt="6"/>
      <dgm:spPr/>
    </dgm:pt>
    <dgm:pt modelId="{D4FAB220-39C0-4BB8-B879-AEB1A16B7CDC}" type="pres">
      <dgm:prSet presAssocID="{DD4BC036-F4FD-462C-907D-B7F6B229CCE6}" presName="childText" presStyleLbl="bgAcc1" presStyleIdx="4" presStyleCnt="6" custScaleX="378194" custScaleY="142780" custLinFactNeighborX="11750">
        <dgm:presLayoutVars>
          <dgm:bulletEnabled val="1"/>
        </dgm:presLayoutVars>
      </dgm:prSet>
      <dgm:spPr/>
    </dgm:pt>
    <dgm:pt modelId="{55CE1C91-58A7-4FD4-86EE-26622EF07DF3}" type="pres">
      <dgm:prSet presAssocID="{81F2FDAA-970B-4BD0-9CE1-4DD499C666F7}" presName="Name13" presStyleLbl="parChTrans1D2" presStyleIdx="5" presStyleCnt="6"/>
      <dgm:spPr/>
    </dgm:pt>
    <dgm:pt modelId="{2747B9FB-319E-4006-A500-0E79D539374F}" type="pres">
      <dgm:prSet presAssocID="{796DC1B7-9303-4BF9-ADBA-2F3A2A3FBE6B}" presName="childText" presStyleLbl="bgAcc1" presStyleIdx="5" presStyleCnt="6" custScaleX="378194" custLinFactNeighborX="13673">
        <dgm:presLayoutVars>
          <dgm:bulletEnabled val="1"/>
        </dgm:presLayoutVars>
      </dgm:prSet>
      <dgm:spPr/>
    </dgm:pt>
  </dgm:ptLst>
  <dgm:cxnLst>
    <dgm:cxn modelId="{EEB84225-CB6C-4BAC-B1AF-19A26231A51D}" srcId="{FDE9353F-F89B-4F97-ADC5-22417B99EEF5}" destId="{796DC1B7-9303-4BF9-ADBA-2F3A2A3FBE6B}" srcOrd="2" destOrd="0" parTransId="{81F2FDAA-970B-4BD0-9CE1-4DD499C666F7}" sibTransId="{5EDF14EE-9165-40CE-AECD-1659094E2CA3}"/>
    <dgm:cxn modelId="{429E032C-5CA4-4CE2-ABDA-A9D54787265E}" type="presOf" srcId="{50644C00-718E-45C3-8ABB-FFE825DC5B7F}" destId="{5F5FD024-96B9-4927-9522-4793C366CCDF}" srcOrd="0" destOrd="0" presId="urn:microsoft.com/office/officeart/2005/8/layout/hierarchy3"/>
    <dgm:cxn modelId="{E2F31064-17B6-4A9F-90F0-643AB7AC015D}" srcId="{0DA5C5DE-6D17-4EDE-B920-CE5FB3D41ABA}" destId="{85ACDDF9-B7B9-4AE3-AEFD-342A1ED3FDD3}" srcOrd="0" destOrd="0" parTransId="{50644C00-718E-45C3-8ABB-FFE825DC5B7F}" sibTransId="{EE9E075A-BD56-47AA-9D15-0D4E098D5773}"/>
    <dgm:cxn modelId="{11C7D167-428D-489B-81C5-0A60BAB5E04E}" type="presOf" srcId="{4994F04D-6077-4FB2-937D-03324B9DAB34}" destId="{220E4BB7-E5A6-4374-B95C-9515D05C4860}" srcOrd="0" destOrd="0" presId="urn:microsoft.com/office/officeart/2005/8/layout/hierarchy3"/>
    <dgm:cxn modelId="{6D5D1C6F-7B2D-4E31-A697-53DA47EE9776}" type="presOf" srcId="{0DA5C5DE-6D17-4EDE-B920-CE5FB3D41ABA}" destId="{880F44A1-54FE-446F-9390-56E51903722C}" srcOrd="0" destOrd="0" presId="urn:microsoft.com/office/officeart/2005/8/layout/hierarchy3"/>
    <dgm:cxn modelId="{D27BD678-416C-4308-A85E-350536D97DD6}" type="presOf" srcId="{81F2FDAA-970B-4BD0-9CE1-4DD499C666F7}" destId="{55CE1C91-58A7-4FD4-86EE-26622EF07DF3}" srcOrd="0" destOrd="0" presId="urn:microsoft.com/office/officeart/2005/8/layout/hierarchy3"/>
    <dgm:cxn modelId="{EFA62D59-6CC5-4E3F-AEA4-3141D3C610F5}" type="presOf" srcId="{FDE9353F-F89B-4F97-ADC5-22417B99EEF5}" destId="{CF6D9EBE-6D4F-45DB-B63C-66E318350665}" srcOrd="0" destOrd="0" presId="urn:microsoft.com/office/officeart/2005/8/layout/hierarchy3"/>
    <dgm:cxn modelId="{19DBB079-643A-4F69-A2F1-98B8FBFA7B0E}" type="presOf" srcId="{85967721-5B7F-4D6B-ADDE-3DE6B93A85B9}" destId="{C7786CBF-29A7-4F46-ACE1-BFAF2ED2906F}" srcOrd="0" destOrd="0" presId="urn:microsoft.com/office/officeart/2005/8/layout/hierarchy3"/>
    <dgm:cxn modelId="{B431FE79-1E9F-4A89-B761-7DCF3F7BBA25}" type="presOf" srcId="{5E148EBF-2EB5-487C-A84A-08998CD76BB7}" destId="{08A735DB-4E1F-4605-8178-66A449AC1BB2}" srcOrd="0" destOrd="0" presId="urn:microsoft.com/office/officeart/2005/8/layout/hierarchy3"/>
    <dgm:cxn modelId="{6E76387C-082B-4C1A-BAF0-5C6D342ECFFE}" type="presOf" srcId="{796DC1B7-9303-4BF9-ADBA-2F3A2A3FBE6B}" destId="{2747B9FB-319E-4006-A500-0E79D539374F}" srcOrd="0" destOrd="0" presId="urn:microsoft.com/office/officeart/2005/8/layout/hierarchy3"/>
    <dgm:cxn modelId="{98920D84-2D94-4AB0-A8BA-616CE05A6683}" srcId="{4994F04D-6077-4FB2-937D-03324B9DAB34}" destId="{FDE9353F-F89B-4F97-ADC5-22417B99EEF5}" srcOrd="1" destOrd="0" parTransId="{B2C123C1-4D4A-4AFA-AAC7-499F5F557CA3}" sibTransId="{F5F63407-A2E4-4341-BE61-AC23ED700CB0}"/>
    <dgm:cxn modelId="{4C25B78B-B570-4056-98CA-440F138F90E1}" srcId="{0DA5C5DE-6D17-4EDE-B920-CE5FB3D41ABA}" destId="{5E148EBF-2EB5-487C-A84A-08998CD76BB7}" srcOrd="2" destOrd="0" parTransId="{21295D08-392E-4BE1-9B14-3F97120CA18B}" sibTransId="{76AFDFB6-ED54-46D5-B15F-407D349B5792}"/>
    <dgm:cxn modelId="{C3F2CC92-97D8-4C8F-BAE2-1F1ECD649BD4}" type="presOf" srcId="{85ACDDF9-B7B9-4AE3-AEFD-342A1ED3FDD3}" destId="{8271D559-F991-45A8-861F-E02D43E73A7A}" srcOrd="0" destOrd="0" presId="urn:microsoft.com/office/officeart/2005/8/layout/hierarchy3"/>
    <dgm:cxn modelId="{0B5C2F94-404E-47DB-B678-7B4A9D8702F3}" type="presOf" srcId="{0DA5C5DE-6D17-4EDE-B920-CE5FB3D41ABA}" destId="{804607B6-F4FB-4B08-9326-1AA34A273A5D}" srcOrd="1" destOrd="0" presId="urn:microsoft.com/office/officeart/2005/8/layout/hierarchy3"/>
    <dgm:cxn modelId="{E6AC0D9A-182A-4F10-BA90-83D5595123D1}" srcId="{FDE9353F-F89B-4F97-ADC5-22417B99EEF5}" destId="{DD4BC036-F4FD-462C-907D-B7F6B229CCE6}" srcOrd="1" destOrd="0" parTransId="{85967721-5B7F-4D6B-ADDE-3DE6B93A85B9}" sibTransId="{4DE26604-E6BC-447F-9C0B-6472723CCE81}"/>
    <dgm:cxn modelId="{561A719E-D6CC-459B-9EF3-F609B63F1D4E}" type="presOf" srcId="{DD4BC036-F4FD-462C-907D-B7F6B229CCE6}" destId="{D4FAB220-39C0-4BB8-B879-AEB1A16B7CDC}" srcOrd="0" destOrd="0" presId="urn:microsoft.com/office/officeart/2005/8/layout/hierarchy3"/>
    <dgm:cxn modelId="{B342A0AB-0F65-4C75-907F-2694EA5299EC}" srcId="{FDE9353F-F89B-4F97-ADC5-22417B99EEF5}" destId="{D4E06A52-91F5-4177-AA54-D298036A0598}" srcOrd="0" destOrd="0" parTransId="{730A02EE-39C4-4F26-9573-658C50E91867}" sibTransId="{8E8D6502-6A43-42CC-86CF-1ACBA7051209}"/>
    <dgm:cxn modelId="{8CECFFAC-0125-483E-B460-F62B0965C1A0}" type="presOf" srcId="{51AD83D2-E860-474C-AB22-849ADFDF4DBE}" destId="{D504C716-6CF6-4108-8639-E75778C37519}" srcOrd="0" destOrd="0" presId="urn:microsoft.com/office/officeart/2005/8/layout/hierarchy3"/>
    <dgm:cxn modelId="{3FBBBCB0-EDA8-41DA-B8BD-9E1C22727D88}" type="presOf" srcId="{730A02EE-39C4-4F26-9573-658C50E91867}" destId="{D73DB642-839F-46E4-BEFB-357122DA8B2A}" srcOrd="0" destOrd="0" presId="urn:microsoft.com/office/officeart/2005/8/layout/hierarchy3"/>
    <dgm:cxn modelId="{53ED03CC-F042-4EAD-AEC3-6DF8D6C596EE}" type="presOf" srcId="{D4E06A52-91F5-4177-AA54-D298036A0598}" destId="{366E8205-074B-465F-84D3-7E9C2A4B087A}" srcOrd="0" destOrd="0" presId="urn:microsoft.com/office/officeart/2005/8/layout/hierarchy3"/>
    <dgm:cxn modelId="{30A3C7D7-737E-45E4-B2EB-EA198C32BC2B}" srcId="{0DA5C5DE-6D17-4EDE-B920-CE5FB3D41ABA}" destId="{1621BA61-E464-4E81-97EC-EDA49E7881F8}" srcOrd="1" destOrd="0" parTransId="{51AD83D2-E860-474C-AB22-849ADFDF4DBE}" sibTransId="{2E1B2228-FB84-45C7-9335-000068211608}"/>
    <dgm:cxn modelId="{3F2313E1-88F4-4D75-80DD-D53E7FA40098}" srcId="{4994F04D-6077-4FB2-937D-03324B9DAB34}" destId="{0DA5C5DE-6D17-4EDE-B920-CE5FB3D41ABA}" srcOrd="0" destOrd="0" parTransId="{28418661-558A-435A-8A4F-56BB2E6D2A79}" sibTransId="{3B7799A1-52B3-4216-A827-D62622C7BECB}"/>
    <dgm:cxn modelId="{E51745E3-753D-4294-9A56-14DE5D0AF141}" type="presOf" srcId="{21295D08-392E-4BE1-9B14-3F97120CA18B}" destId="{9164C2E8-A8A5-4BDA-B5B7-3599D5C7C4A2}" srcOrd="0" destOrd="0" presId="urn:microsoft.com/office/officeart/2005/8/layout/hierarchy3"/>
    <dgm:cxn modelId="{2F98EDE6-9660-47D6-AABF-203EC4E4D722}" type="presOf" srcId="{1621BA61-E464-4E81-97EC-EDA49E7881F8}" destId="{B24467C9-0F5C-4007-8028-B7B163F30ADF}" srcOrd="0" destOrd="0" presId="urn:microsoft.com/office/officeart/2005/8/layout/hierarchy3"/>
    <dgm:cxn modelId="{CEF6D1FE-8B92-487F-B25D-97D16645420C}" type="presOf" srcId="{FDE9353F-F89B-4F97-ADC5-22417B99EEF5}" destId="{FFFA6021-95BD-4804-A726-42B6E8065B83}" srcOrd="1" destOrd="0" presId="urn:microsoft.com/office/officeart/2005/8/layout/hierarchy3"/>
    <dgm:cxn modelId="{0EBC80BE-53F5-438D-86FE-F57B0827D7DD}" type="presParOf" srcId="{220E4BB7-E5A6-4374-B95C-9515D05C4860}" destId="{F20CB88D-283A-40E6-969B-F760513B269C}" srcOrd="0" destOrd="0" presId="urn:microsoft.com/office/officeart/2005/8/layout/hierarchy3"/>
    <dgm:cxn modelId="{B53C1762-0E07-4C72-AA06-EFAC8B699700}" type="presParOf" srcId="{F20CB88D-283A-40E6-969B-F760513B269C}" destId="{16E92C0E-1962-4079-9E86-E1F4B29DC174}" srcOrd="0" destOrd="0" presId="urn:microsoft.com/office/officeart/2005/8/layout/hierarchy3"/>
    <dgm:cxn modelId="{45C29D17-CFF2-4E94-A70F-20AF919267ED}" type="presParOf" srcId="{16E92C0E-1962-4079-9E86-E1F4B29DC174}" destId="{880F44A1-54FE-446F-9390-56E51903722C}" srcOrd="0" destOrd="0" presId="urn:microsoft.com/office/officeart/2005/8/layout/hierarchy3"/>
    <dgm:cxn modelId="{0B645A9D-BD61-4503-B84E-156522EC118D}" type="presParOf" srcId="{16E92C0E-1962-4079-9E86-E1F4B29DC174}" destId="{804607B6-F4FB-4B08-9326-1AA34A273A5D}" srcOrd="1" destOrd="0" presId="urn:microsoft.com/office/officeart/2005/8/layout/hierarchy3"/>
    <dgm:cxn modelId="{9B55401E-66D9-4711-B1F2-F2EBD3C4B4B8}" type="presParOf" srcId="{F20CB88D-283A-40E6-969B-F760513B269C}" destId="{4DA6A816-DA95-479C-9A39-3F04BD93D8C4}" srcOrd="1" destOrd="0" presId="urn:microsoft.com/office/officeart/2005/8/layout/hierarchy3"/>
    <dgm:cxn modelId="{5B2AA82A-4D24-48D8-A154-5B97BC59D045}" type="presParOf" srcId="{4DA6A816-DA95-479C-9A39-3F04BD93D8C4}" destId="{5F5FD024-96B9-4927-9522-4793C366CCDF}" srcOrd="0" destOrd="0" presId="urn:microsoft.com/office/officeart/2005/8/layout/hierarchy3"/>
    <dgm:cxn modelId="{639EF7CC-298A-4D73-8FE1-56FBD4676B4E}" type="presParOf" srcId="{4DA6A816-DA95-479C-9A39-3F04BD93D8C4}" destId="{8271D559-F991-45A8-861F-E02D43E73A7A}" srcOrd="1" destOrd="0" presId="urn:microsoft.com/office/officeart/2005/8/layout/hierarchy3"/>
    <dgm:cxn modelId="{A840F6A9-5E93-44DB-B6F7-1213903729E3}" type="presParOf" srcId="{4DA6A816-DA95-479C-9A39-3F04BD93D8C4}" destId="{D504C716-6CF6-4108-8639-E75778C37519}" srcOrd="2" destOrd="0" presId="urn:microsoft.com/office/officeart/2005/8/layout/hierarchy3"/>
    <dgm:cxn modelId="{C9702349-9912-40C9-BE52-19E991F9BB01}" type="presParOf" srcId="{4DA6A816-DA95-479C-9A39-3F04BD93D8C4}" destId="{B24467C9-0F5C-4007-8028-B7B163F30ADF}" srcOrd="3" destOrd="0" presId="urn:microsoft.com/office/officeart/2005/8/layout/hierarchy3"/>
    <dgm:cxn modelId="{41E5E31A-D04C-4C7E-8330-AF99F5C0860E}" type="presParOf" srcId="{4DA6A816-DA95-479C-9A39-3F04BD93D8C4}" destId="{9164C2E8-A8A5-4BDA-B5B7-3599D5C7C4A2}" srcOrd="4" destOrd="0" presId="urn:microsoft.com/office/officeart/2005/8/layout/hierarchy3"/>
    <dgm:cxn modelId="{DB6D0EC9-6402-484A-836E-FC7D5DE53260}" type="presParOf" srcId="{4DA6A816-DA95-479C-9A39-3F04BD93D8C4}" destId="{08A735DB-4E1F-4605-8178-66A449AC1BB2}" srcOrd="5" destOrd="0" presId="urn:microsoft.com/office/officeart/2005/8/layout/hierarchy3"/>
    <dgm:cxn modelId="{64922071-3669-4F75-97C5-2D85F6B1332A}" type="presParOf" srcId="{220E4BB7-E5A6-4374-B95C-9515D05C4860}" destId="{172420C5-C642-4E23-8BCE-E82694121490}" srcOrd="1" destOrd="0" presId="urn:microsoft.com/office/officeart/2005/8/layout/hierarchy3"/>
    <dgm:cxn modelId="{6B56C3C5-7728-44C3-B4E8-E23CFA59848C}" type="presParOf" srcId="{172420C5-C642-4E23-8BCE-E82694121490}" destId="{34B83B97-08FF-4DC6-919D-1C8742B7576A}" srcOrd="0" destOrd="0" presId="urn:microsoft.com/office/officeart/2005/8/layout/hierarchy3"/>
    <dgm:cxn modelId="{C2AFBC1A-9879-4F2D-B895-A4CC0AF54F80}" type="presParOf" srcId="{34B83B97-08FF-4DC6-919D-1C8742B7576A}" destId="{CF6D9EBE-6D4F-45DB-B63C-66E318350665}" srcOrd="0" destOrd="0" presId="urn:microsoft.com/office/officeart/2005/8/layout/hierarchy3"/>
    <dgm:cxn modelId="{50B1E573-69A7-4817-9860-A7C98AE9FDC6}" type="presParOf" srcId="{34B83B97-08FF-4DC6-919D-1C8742B7576A}" destId="{FFFA6021-95BD-4804-A726-42B6E8065B83}" srcOrd="1" destOrd="0" presId="urn:microsoft.com/office/officeart/2005/8/layout/hierarchy3"/>
    <dgm:cxn modelId="{5508B303-66A0-414A-BCD8-3EFD071C8919}" type="presParOf" srcId="{172420C5-C642-4E23-8BCE-E82694121490}" destId="{ABF0D8E4-5E93-4122-950B-0287C64E7E00}" srcOrd="1" destOrd="0" presId="urn:microsoft.com/office/officeart/2005/8/layout/hierarchy3"/>
    <dgm:cxn modelId="{F438FCBD-493B-4D53-8F94-D57FC7103C1A}" type="presParOf" srcId="{ABF0D8E4-5E93-4122-950B-0287C64E7E00}" destId="{D73DB642-839F-46E4-BEFB-357122DA8B2A}" srcOrd="0" destOrd="0" presId="urn:microsoft.com/office/officeart/2005/8/layout/hierarchy3"/>
    <dgm:cxn modelId="{CEE9B681-3E37-410E-A2F7-6B6575EB59D9}" type="presParOf" srcId="{ABF0D8E4-5E93-4122-950B-0287C64E7E00}" destId="{366E8205-074B-465F-84D3-7E9C2A4B087A}" srcOrd="1" destOrd="0" presId="urn:microsoft.com/office/officeart/2005/8/layout/hierarchy3"/>
    <dgm:cxn modelId="{2B89A0CE-F96B-4214-9B34-9CAC6DB90F9C}" type="presParOf" srcId="{ABF0D8E4-5E93-4122-950B-0287C64E7E00}" destId="{C7786CBF-29A7-4F46-ACE1-BFAF2ED2906F}" srcOrd="2" destOrd="0" presId="urn:microsoft.com/office/officeart/2005/8/layout/hierarchy3"/>
    <dgm:cxn modelId="{073634BA-8614-4B4E-B8F4-0AC500241BBE}" type="presParOf" srcId="{ABF0D8E4-5E93-4122-950B-0287C64E7E00}" destId="{D4FAB220-39C0-4BB8-B879-AEB1A16B7CDC}" srcOrd="3" destOrd="0" presId="urn:microsoft.com/office/officeart/2005/8/layout/hierarchy3"/>
    <dgm:cxn modelId="{A7153FBF-73E7-4AF6-ACF0-BE39A09D608D}" type="presParOf" srcId="{ABF0D8E4-5E93-4122-950B-0287C64E7E00}" destId="{55CE1C91-58A7-4FD4-86EE-26622EF07DF3}" srcOrd="4" destOrd="0" presId="urn:microsoft.com/office/officeart/2005/8/layout/hierarchy3"/>
    <dgm:cxn modelId="{19BDD52D-F6AB-4507-8E34-0241641AC8A6}" type="presParOf" srcId="{ABF0D8E4-5E93-4122-950B-0287C64E7E00}" destId="{2747B9FB-319E-4006-A500-0E79D539374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00B65F-B770-4533-9743-A8EABAF11F51}">
      <dsp:nvSpPr>
        <dsp:cNvPr id="0" name=""/>
        <dsp:cNvSpPr/>
      </dsp:nvSpPr>
      <dsp:spPr>
        <a:xfrm rot="5400000">
          <a:off x="4781479" y="-2045078"/>
          <a:ext cx="1061766" cy="5417431"/>
        </a:xfrm>
        <a:prstGeom prst="round2SameRect">
          <a:avLst/>
        </a:prstGeom>
        <a:solidFill>
          <a:schemeClr val="accent5">
            <a:tint val="40000"/>
            <a:alpha val="90000"/>
            <a:hueOff val="0"/>
            <a:satOff val="0"/>
            <a:lumOff val="0"/>
            <a:alphaOff val="0"/>
          </a:schemeClr>
        </a:solidFill>
        <a:ln w="25400" cap="flat" cmpd="sng" algn="ctr">
          <a:solidFill>
            <a:schemeClr val="accent5">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游戏，视频，社交，电子邮件，购物，网店，</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网银，无现金支付，数字钱包，数字货币，</a:t>
          </a:r>
          <a:r>
            <a:rPr lang="en-US" altLang="en-US"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84585"/>
        <a:ext cx="5365600" cy="958104"/>
      </dsp:txXfrm>
    </dsp:sp>
    <dsp:sp modelId="{A8F7779F-E35A-4E50-A04D-CB1AA6356A21}">
      <dsp:nvSpPr>
        <dsp:cNvPr id="0" name=""/>
        <dsp:cNvSpPr/>
      </dsp:nvSpPr>
      <dsp:spPr>
        <a:xfrm>
          <a:off x="454058" y="33"/>
          <a:ext cx="2159990" cy="1327208"/>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应用和服务</a:t>
          </a:r>
        </a:p>
      </dsp:txBody>
      <dsp:txXfrm>
        <a:off x="518847" y="64822"/>
        <a:ext cx="2030412" cy="1197630"/>
      </dsp:txXfrm>
    </dsp:sp>
    <dsp:sp modelId="{6AEF0EF9-F4C4-41ED-9DA7-A897E4EBD001}">
      <dsp:nvSpPr>
        <dsp:cNvPr id="0" name=""/>
        <dsp:cNvSpPr/>
      </dsp:nvSpPr>
      <dsp:spPr>
        <a:xfrm rot="5400000">
          <a:off x="4781479" y="-651509"/>
          <a:ext cx="1061766" cy="5417431"/>
        </a:xfrm>
        <a:prstGeom prst="round2SameRect">
          <a:avLst/>
        </a:prstGeom>
        <a:solidFill>
          <a:schemeClr val="accent5">
            <a:tint val="40000"/>
            <a:alpha val="90000"/>
            <a:hueOff val="-10740482"/>
            <a:satOff val="48253"/>
            <a:lumOff val="3317"/>
            <a:alphaOff val="0"/>
          </a:schemeClr>
        </a:solidFill>
        <a:ln w="25400" cap="flat" cmpd="sng" algn="ctr">
          <a:solidFill>
            <a:schemeClr val="accent5">
              <a:tint val="40000"/>
              <a:alpha val="90000"/>
              <a:hueOff val="-10740482"/>
              <a:satOff val="48253"/>
              <a:lumOff val="3317"/>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互连结构，交换技术，</a:t>
          </a:r>
        </a:p>
        <a:p>
          <a:pPr marL="171450" lvl="1" indent="-171450" algn="l" defTabSz="800100">
            <a:lnSpc>
              <a:spcPct val="90000"/>
            </a:lnSpc>
            <a:spcBef>
              <a:spcPct val="0"/>
            </a:spcBef>
            <a:spcAft>
              <a:spcPct val="15000"/>
            </a:spcAft>
            <a:buChar char="•"/>
          </a:pPr>
          <a:r>
            <a:rPr lang="en-US" altLang="zh-CN" sz="1800" b="1" kern="1200" dirty="0">
              <a:latin typeface="微软雅黑" panose="020B0503020204020204" pitchFamily="34" charset="-122"/>
              <a:ea typeface="微软雅黑" panose="020B0503020204020204" pitchFamily="34" charset="-122"/>
            </a:rPr>
            <a:t>TCP/IP </a:t>
          </a:r>
          <a:r>
            <a:rPr lang="zh-CN" altLang="en-US" sz="1800" b="1" kern="1200" dirty="0">
              <a:latin typeface="微软雅黑" panose="020B0503020204020204" pitchFamily="34" charset="-122"/>
              <a:ea typeface="微软雅黑" panose="020B0503020204020204" pitchFamily="34" charset="-122"/>
            </a:rPr>
            <a:t>体系结构与协议，</a:t>
          </a:r>
          <a:r>
            <a:rPr lang="en-US" altLang="zh-CN"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578154"/>
        <a:ext cx="5365600" cy="958104"/>
      </dsp:txXfrm>
    </dsp:sp>
    <dsp:sp modelId="{46CFA115-E89F-48DD-8ECE-95299141CF01}">
      <dsp:nvSpPr>
        <dsp:cNvPr id="0" name=""/>
        <dsp:cNvSpPr/>
      </dsp:nvSpPr>
      <dsp:spPr>
        <a:xfrm>
          <a:off x="443657" y="1393602"/>
          <a:ext cx="2159990" cy="1327208"/>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工作原理</a:t>
          </a:r>
        </a:p>
      </dsp:txBody>
      <dsp:txXfrm>
        <a:off x="508446" y="1458391"/>
        <a:ext cx="2030412" cy="11976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0E1915-9D9D-42CA-B042-4CD43E01EB46}">
      <dsp:nvSpPr>
        <dsp:cNvPr id="0" name=""/>
        <dsp:cNvSpPr/>
      </dsp:nvSpPr>
      <dsp:spPr>
        <a:xfrm>
          <a:off x="31" y="8094"/>
          <a:ext cx="3056109" cy="662425"/>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连通性 </a:t>
          </a:r>
          <a:r>
            <a:rPr lang="en-US" altLang="en-US" sz="1800" b="1" kern="1200" dirty="0">
              <a:latin typeface="微软雅黑" panose="020B0503020204020204" pitchFamily="34" charset="-122"/>
              <a:ea typeface="微软雅黑" panose="020B0503020204020204" pitchFamily="34" charset="-122"/>
            </a:rPr>
            <a:t>(connectivity)</a:t>
          </a:r>
          <a:endParaRPr lang="zh-CN" altLang="en-US" sz="1800" b="1" kern="1200" dirty="0">
            <a:latin typeface="微软雅黑" panose="020B0503020204020204" pitchFamily="34" charset="-122"/>
            <a:ea typeface="微软雅黑" panose="020B0503020204020204" pitchFamily="34" charset="-122"/>
          </a:endParaRPr>
        </a:p>
      </dsp:txBody>
      <dsp:txXfrm>
        <a:off x="31" y="8094"/>
        <a:ext cx="3056109" cy="662425"/>
      </dsp:txXfrm>
    </dsp:sp>
    <dsp:sp modelId="{95E3CB40-70C8-4251-9371-65AB16983D1B}">
      <dsp:nvSpPr>
        <dsp:cNvPr id="0" name=""/>
        <dsp:cNvSpPr/>
      </dsp:nvSpPr>
      <dsp:spPr>
        <a:xfrm>
          <a:off x="0" y="671624"/>
          <a:ext cx="3056109" cy="2093062"/>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使上网用户之间可以非常便捷、非常经济地交换各种信息</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好像这些用户终端都彼此直接连通一样。</a:t>
          </a:r>
        </a:p>
      </dsp:txBody>
      <dsp:txXfrm>
        <a:off x="0" y="671624"/>
        <a:ext cx="3056109" cy="2093062"/>
      </dsp:txXfrm>
    </dsp:sp>
    <dsp:sp modelId="{40C4515B-BD55-4381-85FB-4FE091B3440E}">
      <dsp:nvSpPr>
        <dsp:cNvPr id="0" name=""/>
        <dsp:cNvSpPr/>
      </dsp:nvSpPr>
      <dsp:spPr>
        <a:xfrm>
          <a:off x="3483996" y="8094"/>
          <a:ext cx="3056109" cy="662425"/>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资源共享 </a:t>
          </a:r>
          <a:r>
            <a:rPr lang="en-US" altLang="en-US" sz="1800" b="1" kern="1200" dirty="0">
              <a:latin typeface="微软雅黑" panose="020B0503020204020204" pitchFamily="34" charset="-122"/>
              <a:ea typeface="微软雅黑" panose="020B0503020204020204" pitchFamily="34" charset="-122"/>
            </a:rPr>
            <a:t>(Sharing)</a:t>
          </a:r>
          <a:endParaRPr lang="zh-CN" altLang="en-US" sz="1800" b="1" kern="1200" dirty="0">
            <a:latin typeface="微软雅黑" panose="020B0503020204020204" pitchFamily="34" charset="-122"/>
            <a:ea typeface="微软雅黑" panose="020B0503020204020204" pitchFamily="34" charset="-122"/>
          </a:endParaRPr>
        </a:p>
      </dsp:txBody>
      <dsp:txXfrm>
        <a:off x="3483996" y="8094"/>
        <a:ext cx="3056109" cy="662425"/>
      </dsp:txXfrm>
    </dsp:sp>
    <dsp:sp modelId="{91A65E31-AD27-4BEE-B472-DF1900C7D724}">
      <dsp:nvSpPr>
        <dsp:cNvPr id="0" name=""/>
        <dsp:cNvSpPr/>
      </dsp:nvSpPr>
      <dsp:spPr>
        <a:xfrm>
          <a:off x="3483996" y="671624"/>
          <a:ext cx="3056109" cy="2093062"/>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实现信息共享、软件共享、硬件共享。</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由于网络的存在，这些资源好像就在用户身边一样地方便使用。</a:t>
          </a:r>
        </a:p>
      </dsp:txBody>
      <dsp:txXfrm>
        <a:off x="3483996" y="671624"/>
        <a:ext cx="3056109" cy="20930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7450F4-F441-4296-8335-01351F8E1B2B}">
      <dsp:nvSpPr>
        <dsp:cNvPr id="0" name=""/>
        <dsp:cNvSpPr/>
      </dsp:nvSpPr>
      <dsp:spPr>
        <a:xfrm>
          <a:off x="2073320" y="597217"/>
          <a:ext cx="1487805" cy="1487805"/>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互联网</a:t>
          </a:r>
        </a:p>
      </dsp:txBody>
      <dsp:txXfrm>
        <a:off x="2291204" y="815101"/>
        <a:ext cx="1052037" cy="1052037"/>
      </dsp:txXfrm>
    </dsp:sp>
    <dsp:sp modelId="{CE8AFE2D-2AC2-45F0-88B8-B2568168C3FF}">
      <dsp:nvSpPr>
        <dsp:cNvPr id="0" name=""/>
        <dsp:cNvSpPr/>
      </dsp:nvSpPr>
      <dsp:spPr>
        <a:xfrm>
          <a:off x="2445271" y="265"/>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工业</a:t>
          </a:r>
        </a:p>
      </dsp:txBody>
      <dsp:txXfrm>
        <a:off x="2554213" y="109207"/>
        <a:ext cx="526018" cy="526018"/>
      </dsp:txXfrm>
    </dsp:sp>
    <dsp:sp modelId="{670A9751-EDA7-44BE-84F6-DA052AFC6D1C}">
      <dsp:nvSpPr>
        <dsp:cNvPr id="0" name=""/>
        <dsp:cNvSpPr/>
      </dsp:nvSpPr>
      <dsp:spPr>
        <a:xfrm>
          <a:off x="3130389" y="284050"/>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农业</a:t>
          </a:r>
        </a:p>
      </dsp:txBody>
      <dsp:txXfrm>
        <a:off x="3239331" y="392992"/>
        <a:ext cx="526018" cy="526018"/>
      </dsp:txXfrm>
    </dsp:sp>
    <dsp:sp modelId="{242A4B1B-E8FC-49C8-BFF1-60EED0B2A276}">
      <dsp:nvSpPr>
        <dsp:cNvPr id="0" name=""/>
        <dsp:cNvSpPr/>
      </dsp:nvSpPr>
      <dsp:spPr>
        <a:xfrm>
          <a:off x="3414174" y="969168"/>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教育</a:t>
          </a:r>
        </a:p>
      </dsp:txBody>
      <dsp:txXfrm>
        <a:off x="3523116" y="1078110"/>
        <a:ext cx="526018" cy="526018"/>
      </dsp:txXfrm>
    </dsp:sp>
    <dsp:sp modelId="{C0A173BA-2876-4F61-AAD1-FA50AD3DFDD0}">
      <dsp:nvSpPr>
        <dsp:cNvPr id="0" name=""/>
        <dsp:cNvSpPr/>
      </dsp:nvSpPr>
      <dsp:spPr>
        <a:xfrm>
          <a:off x="3130389" y="1654286"/>
          <a:ext cx="743902" cy="743902"/>
        </a:xfrm>
        <a:prstGeom prst="ellipse">
          <a:avLst/>
        </a:prstGeom>
        <a:gradFill rotWithShape="0">
          <a:gsLst>
            <a:gs pos="0">
              <a:schemeClr val="accent6">
                <a:alpha val="50000"/>
                <a:hueOff val="0"/>
                <a:satOff val="0"/>
                <a:lumOff val="0"/>
                <a:alphaOff val="0"/>
                <a:shade val="51000"/>
                <a:satMod val="130000"/>
              </a:schemeClr>
            </a:gs>
            <a:gs pos="80000">
              <a:schemeClr val="accent6">
                <a:alpha val="50000"/>
                <a:hueOff val="0"/>
                <a:satOff val="0"/>
                <a:lumOff val="0"/>
                <a:alphaOff val="0"/>
                <a:shade val="93000"/>
                <a:satMod val="130000"/>
              </a:schemeClr>
            </a:gs>
            <a:gs pos="100000">
              <a:schemeClr val="accent6">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医疗</a:t>
          </a:r>
        </a:p>
      </dsp:txBody>
      <dsp:txXfrm>
        <a:off x="3239331" y="1763228"/>
        <a:ext cx="526018" cy="526018"/>
      </dsp:txXfrm>
    </dsp:sp>
    <dsp:sp modelId="{D951B7E8-AF72-41D8-8F8D-E56CFF2EB951}">
      <dsp:nvSpPr>
        <dsp:cNvPr id="0" name=""/>
        <dsp:cNvSpPr/>
      </dsp:nvSpPr>
      <dsp:spPr>
        <a:xfrm>
          <a:off x="2445271" y="1938071"/>
          <a:ext cx="743902" cy="743902"/>
        </a:xfrm>
        <a:prstGeom prst="ellipse">
          <a:avLst/>
        </a:prstGeom>
        <a:gradFill rotWithShape="0">
          <a:gsLst>
            <a:gs pos="0">
              <a:schemeClr val="accent2">
                <a:alpha val="50000"/>
                <a:hueOff val="0"/>
                <a:satOff val="0"/>
                <a:lumOff val="0"/>
                <a:alphaOff val="0"/>
                <a:shade val="51000"/>
                <a:satMod val="130000"/>
              </a:schemeClr>
            </a:gs>
            <a:gs pos="80000">
              <a:schemeClr val="accent2">
                <a:alpha val="50000"/>
                <a:hueOff val="0"/>
                <a:satOff val="0"/>
                <a:lumOff val="0"/>
                <a:alphaOff val="0"/>
                <a:shade val="93000"/>
                <a:satMod val="130000"/>
              </a:schemeClr>
            </a:gs>
            <a:gs pos="100000">
              <a:schemeClr val="accent2">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商业</a:t>
          </a:r>
        </a:p>
      </dsp:txBody>
      <dsp:txXfrm>
        <a:off x="2554213" y="2047013"/>
        <a:ext cx="526018" cy="526018"/>
      </dsp:txXfrm>
    </dsp:sp>
    <dsp:sp modelId="{2343D8A9-7AEC-4D40-8773-498EA64A78FE}">
      <dsp:nvSpPr>
        <dsp:cNvPr id="0" name=""/>
        <dsp:cNvSpPr/>
      </dsp:nvSpPr>
      <dsp:spPr>
        <a:xfrm>
          <a:off x="1760153" y="1654286"/>
          <a:ext cx="743902" cy="743902"/>
        </a:xfrm>
        <a:prstGeom prst="ellipse">
          <a:avLst/>
        </a:prstGeom>
        <a:gradFill rotWithShape="0">
          <a:gsLst>
            <a:gs pos="0">
              <a:schemeClr val="accent3">
                <a:alpha val="50000"/>
                <a:hueOff val="0"/>
                <a:satOff val="0"/>
                <a:lumOff val="0"/>
                <a:alphaOff val="0"/>
                <a:shade val="51000"/>
                <a:satMod val="130000"/>
              </a:schemeClr>
            </a:gs>
            <a:gs pos="80000">
              <a:schemeClr val="accent3">
                <a:alpha val="50000"/>
                <a:hueOff val="0"/>
                <a:satOff val="0"/>
                <a:lumOff val="0"/>
                <a:alphaOff val="0"/>
                <a:shade val="93000"/>
                <a:satMod val="130000"/>
              </a:schemeClr>
            </a:gs>
            <a:gs pos="100000">
              <a:schemeClr val="accent3">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交通</a:t>
          </a:r>
        </a:p>
      </dsp:txBody>
      <dsp:txXfrm>
        <a:off x="1869095" y="1763228"/>
        <a:ext cx="526018" cy="526018"/>
      </dsp:txXfrm>
    </dsp:sp>
    <dsp:sp modelId="{4B8ABBE8-E9C9-4F6B-9525-8C9A18414CDE}">
      <dsp:nvSpPr>
        <dsp:cNvPr id="0" name=""/>
        <dsp:cNvSpPr/>
      </dsp:nvSpPr>
      <dsp:spPr>
        <a:xfrm>
          <a:off x="1476368" y="969168"/>
          <a:ext cx="743902" cy="743902"/>
        </a:xfrm>
        <a:prstGeom prst="ellipse">
          <a:avLst/>
        </a:prstGeom>
        <a:gradFill rotWithShape="0">
          <a:gsLst>
            <a:gs pos="0">
              <a:schemeClr val="accent4">
                <a:alpha val="50000"/>
                <a:hueOff val="0"/>
                <a:satOff val="0"/>
                <a:lumOff val="0"/>
                <a:alphaOff val="0"/>
                <a:shade val="51000"/>
                <a:satMod val="130000"/>
              </a:schemeClr>
            </a:gs>
            <a:gs pos="80000">
              <a:schemeClr val="accent4">
                <a:alpha val="50000"/>
                <a:hueOff val="0"/>
                <a:satOff val="0"/>
                <a:lumOff val="0"/>
                <a:alphaOff val="0"/>
                <a:shade val="93000"/>
                <a:satMod val="130000"/>
              </a:schemeClr>
            </a:gs>
            <a:gs pos="100000">
              <a:schemeClr val="accent4">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金融</a:t>
          </a:r>
          <a:endParaRPr lang="zh-CN" altLang="en-US" sz="1600" kern="1200" dirty="0"/>
        </a:p>
      </dsp:txBody>
      <dsp:txXfrm>
        <a:off x="1585310" y="1078110"/>
        <a:ext cx="526018" cy="526018"/>
      </dsp:txXfrm>
    </dsp:sp>
    <dsp:sp modelId="{C13D16A4-6F51-437B-A7BA-09AB4609C68B}">
      <dsp:nvSpPr>
        <dsp:cNvPr id="0" name=""/>
        <dsp:cNvSpPr/>
      </dsp:nvSpPr>
      <dsp:spPr>
        <a:xfrm>
          <a:off x="1760153" y="284050"/>
          <a:ext cx="743902" cy="743902"/>
        </a:xfrm>
        <a:prstGeom prst="ellipse">
          <a:avLst/>
        </a:prstGeom>
        <a:gradFill rotWithShape="0">
          <a:gsLst>
            <a:gs pos="0">
              <a:schemeClr val="accent5">
                <a:alpha val="50000"/>
                <a:hueOff val="0"/>
                <a:satOff val="0"/>
                <a:lumOff val="0"/>
                <a:alphaOff val="0"/>
                <a:shade val="51000"/>
                <a:satMod val="130000"/>
              </a:schemeClr>
            </a:gs>
            <a:gs pos="80000">
              <a:schemeClr val="accent5">
                <a:alpha val="50000"/>
                <a:hueOff val="0"/>
                <a:satOff val="0"/>
                <a:lumOff val="0"/>
                <a:alphaOff val="0"/>
                <a:shade val="93000"/>
                <a:satMod val="130000"/>
              </a:schemeClr>
            </a:gs>
            <a:gs pos="100000">
              <a:schemeClr val="accent5">
                <a:alpha val="50000"/>
                <a:hueOff val="0"/>
                <a:satOff val="0"/>
                <a:lumOff val="0"/>
                <a:alphaOff val="0"/>
                <a:shade val="94000"/>
                <a:satMod val="135000"/>
              </a:schemeClr>
            </a:gs>
          </a:gsLst>
          <a:lin ang="162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政务</a:t>
          </a:r>
        </a:p>
      </dsp:txBody>
      <dsp:txXfrm>
        <a:off x="1869095" y="392992"/>
        <a:ext cx="526018" cy="5260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634DBF-D9F5-4E0A-9541-5A67CB150864}">
      <dsp:nvSpPr>
        <dsp:cNvPr id="0" name=""/>
        <dsp:cNvSpPr/>
      </dsp:nvSpPr>
      <dsp:spPr>
        <a:xfrm rot="10800000">
          <a:off x="1065947" y="540"/>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传播病毒</a:t>
          </a:r>
        </a:p>
      </dsp:txBody>
      <dsp:txXfrm rot="10800000">
        <a:off x="1148423" y="540"/>
        <a:ext cx="3822052" cy="329904"/>
      </dsp:txXfrm>
    </dsp:sp>
    <dsp:sp modelId="{AB5BAA63-A84A-45D9-BE90-07814A821613}">
      <dsp:nvSpPr>
        <dsp:cNvPr id="0" name=""/>
        <dsp:cNvSpPr/>
      </dsp:nvSpPr>
      <dsp:spPr>
        <a:xfrm>
          <a:off x="900995" y="540"/>
          <a:ext cx="329904" cy="329904"/>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D0567C2-639F-4DB2-8F5D-E4A1F0FA8E3D}">
      <dsp:nvSpPr>
        <dsp:cNvPr id="0" name=""/>
        <dsp:cNvSpPr/>
      </dsp:nvSpPr>
      <dsp:spPr>
        <a:xfrm rot="10800000">
          <a:off x="1065947" y="428924"/>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窃取：数据，钱财等</a:t>
          </a:r>
        </a:p>
      </dsp:txBody>
      <dsp:txXfrm rot="10800000">
        <a:off x="1148423" y="428924"/>
        <a:ext cx="3822052" cy="329904"/>
      </dsp:txXfrm>
    </dsp:sp>
    <dsp:sp modelId="{04B9F40C-275B-47DA-8505-BDB99315D1A6}">
      <dsp:nvSpPr>
        <dsp:cNvPr id="0" name=""/>
        <dsp:cNvSpPr/>
      </dsp:nvSpPr>
      <dsp:spPr>
        <a:xfrm>
          <a:off x="900995" y="428924"/>
          <a:ext cx="329904" cy="329904"/>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2459D94-7759-4D01-B95F-2FAC20F969A3}">
      <dsp:nvSpPr>
        <dsp:cNvPr id="0" name=""/>
        <dsp:cNvSpPr/>
      </dsp:nvSpPr>
      <dsp:spPr>
        <a:xfrm rot="10800000">
          <a:off x="1065947" y="857307"/>
          <a:ext cx="3904528" cy="329904"/>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散布谣言</a:t>
          </a:r>
        </a:p>
      </dsp:txBody>
      <dsp:txXfrm rot="10800000">
        <a:off x="1148423" y="857307"/>
        <a:ext cx="3822052" cy="329904"/>
      </dsp:txXfrm>
    </dsp:sp>
    <dsp:sp modelId="{92DE488D-B3DE-493C-AC30-DA96AC1FFB62}">
      <dsp:nvSpPr>
        <dsp:cNvPr id="0" name=""/>
        <dsp:cNvSpPr/>
      </dsp:nvSpPr>
      <dsp:spPr>
        <a:xfrm>
          <a:off x="900995" y="857307"/>
          <a:ext cx="329904" cy="329904"/>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B7E7170-F4B7-4B0B-9000-4BF0206D9353}">
      <dsp:nvSpPr>
        <dsp:cNvPr id="0" name=""/>
        <dsp:cNvSpPr/>
      </dsp:nvSpPr>
      <dsp:spPr>
        <a:xfrm rot="10800000">
          <a:off x="1065947" y="1285691"/>
          <a:ext cx="3904528" cy="329904"/>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不良信息</a:t>
          </a:r>
        </a:p>
      </dsp:txBody>
      <dsp:txXfrm rot="10800000">
        <a:off x="1148423" y="1285691"/>
        <a:ext cx="3822052" cy="329904"/>
      </dsp:txXfrm>
    </dsp:sp>
    <dsp:sp modelId="{A6F09614-1B57-44CB-B907-F8E2D46EFEED}">
      <dsp:nvSpPr>
        <dsp:cNvPr id="0" name=""/>
        <dsp:cNvSpPr/>
      </dsp:nvSpPr>
      <dsp:spPr>
        <a:xfrm>
          <a:off x="900995" y="1285691"/>
          <a:ext cx="329904" cy="329904"/>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7B6737C-F129-4379-AF97-7E098CF82549}">
      <dsp:nvSpPr>
        <dsp:cNvPr id="0" name=""/>
        <dsp:cNvSpPr/>
      </dsp:nvSpPr>
      <dsp:spPr>
        <a:xfrm rot="10800000">
          <a:off x="1065947" y="1714075"/>
          <a:ext cx="3904528" cy="329904"/>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欺诈</a:t>
          </a:r>
        </a:p>
      </dsp:txBody>
      <dsp:txXfrm rot="10800000">
        <a:off x="1148423" y="1714075"/>
        <a:ext cx="3822052" cy="329904"/>
      </dsp:txXfrm>
    </dsp:sp>
    <dsp:sp modelId="{D61B7255-D308-44FB-979B-BD5549502A3A}">
      <dsp:nvSpPr>
        <dsp:cNvPr id="0" name=""/>
        <dsp:cNvSpPr/>
      </dsp:nvSpPr>
      <dsp:spPr>
        <a:xfrm>
          <a:off x="900995" y="1714075"/>
          <a:ext cx="329904" cy="329904"/>
        </a:xfrm>
        <a:prstGeom prst="ellipse">
          <a:avLst/>
        </a:prstGeom>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2B48CE5-911D-44D5-AFA1-377112EF11A6}">
      <dsp:nvSpPr>
        <dsp:cNvPr id="0" name=""/>
        <dsp:cNvSpPr/>
      </dsp:nvSpPr>
      <dsp:spPr>
        <a:xfrm rot="10800000">
          <a:off x="1065947" y="2142459"/>
          <a:ext cx="3904528" cy="329904"/>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网瘾</a:t>
          </a:r>
        </a:p>
      </dsp:txBody>
      <dsp:txXfrm rot="10800000">
        <a:off x="1148423" y="2142459"/>
        <a:ext cx="3822052" cy="329904"/>
      </dsp:txXfrm>
    </dsp:sp>
    <dsp:sp modelId="{9BF7EE4E-012F-4DF5-B272-EAA79ECA8C75}">
      <dsp:nvSpPr>
        <dsp:cNvPr id="0" name=""/>
        <dsp:cNvSpPr/>
      </dsp:nvSpPr>
      <dsp:spPr>
        <a:xfrm>
          <a:off x="900995" y="2142459"/>
          <a:ext cx="329904" cy="329904"/>
        </a:xfrm>
        <a:prstGeom prst="ellipse">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B384311-3D9B-45D7-AAED-45272C0B16D1}">
      <dsp:nvSpPr>
        <dsp:cNvPr id="0" name=""/>
        <dsp:cNvSpPr/>
      </dsp:nvSpPr>
      <dsp:spPr>
        <a:xfrm rot="10800000">
          <a:off x="1065947" y="2570843"/>
          <a:ext cx="3904528" cy="329904"/>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en-US" altLang="zh-CN" sz="1600" b="1" kern="1200">
              <a:solidFill>
                <a:schemeClr val="tx1"/>
              </a:solidFill>
              <a:latin typeface="微软雅黑" panose="020B0503020204020204" pitchFamily="34" charset="-122"/>
              <a:ea typeface="微软雅黑" panose="020B0503020204020204" pitchFamily="34" charset="-122"/>
            </a:rPr>
            <a:t>……</a:t>
          </a:r>
          <a:endParaRPr lang="zh-CN" altLang="en-US" sz="1600" b="1" kern="1200" dirty="0">
            <a:solidFill>
              <a:schemeClr val="tx1"/>
            </a:solidFill>
            <a:latin typeface="微软雅黑" panose="020B0503020204020204" pitchFamily="34" charset="-122"/>
            <a:ea typeface="微软雅黑" panose="020B0503020204020204" pitchFamily="34" charset="-122"/>
          </a:endParaRPr>
        </a:p>
      </dsp:txBody>
      <dsp:txXfrm rot="10800000">
        <a:off x="1148423" y="2570843"/>
        <a:ext cx="3822052" cy="329904"/>
      </dsp:txXfrm>
    </dsp:sp>
    <dsp:sp modelId="{4737311F-297D-4E95-B8C4-5619F0D22DF2}">
      <dsp:nvSpPr>
        <dsp:cNvPr id="0" name=""/>
        <dsp:cNvSpPr/>
      </dsp:nvSpPr>
      <dsp:spPr>
        <a:xfrm>
          <a:off x="900995" y="2570843"/>
          <a:ext cx="329904" cy="329904"/>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723FB-FD44-4790-9882-F784D01504C2}">
      <dsp:nvSpPr>
        <dsp:cNvPr id="0" name=""/>
        <dsp:cNvSpPr/>
      </dsp:nvSpPr>
      <dsp:spPr>
        <a:xfrm rot="5400000">
          <a:off x="892970" y="214491"/>
          <a:ext cx="928252" cy="2711653"/>
        </a:xfrm>
        <a:prstGeom prst="corner">
          <a:avLst>
            <a:gd name="adj1" fmla="val 16120"/>
            <a:gd name="adj2" fmla="val 1611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w="9525"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9606A409-0386-4958-AF71-520045418D02}">
      <dsp:nvSpPr>
        <dsp:cNvPr id="0" name=""/>
        <dsp:cNvSpPr/>
      </dsp:nvSpPr>
      <dsp:spPr>
        <a:xfrm>
          <a:off x="190854" y="1259522"/>
          <a:ext cx="2488800"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1969 – 1990</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从单个网络 </a:t>
          </a:r>
          <a:r>
            <a:rPr lang="en-US" altLang="en-US" sz="1800" b="1" kern="1200" dirty="0">
              <a:latin typeface="微软雅黑" panose="020B0503020204020204" pitchFamily="34" charset="-122"/>
              <a:ea typeface="微软雅黑" panose="020B0503020204020204" pitchFamily="34" charset="-122"/>
            </a:rPr>
            <a:t>ARPANET </a:t>
          </a:r>
          <a:r>
            <a:rPr lang="zh-CN" altLang="en-US" sz="1800" b="1" kern="1200" dirty="0">
              <a:latin typeface="微软雅黑" panose="020B0503020204020204" pitchFamily="34" charset="-122"/>
              <a:ea typeface="微软雅黑" panose="020B0503020204020204" pitchFamily="34" charset="-122"/>
            </a:rPr>
            <a:t>向互联网发展。</a:t>
          </a:r>
        </a:p>
      </dsp:txBody>
      <dsp:txXfrm>
        <a:off x="190854" y="1259522"/>
        <a:ext cx="2488800" cy="1222330"/>
      </dsp:txXfrm>
    </dsp:sp>
    <dsp:sp modelId="{01A2BA42-237A-44CF-A211-45BD14932625}">
      <dsp:nvSpPr>
        <dsp:cNvPr id="0" name=""/>
        <dsp:cNvSpPr/>
      </dsp:nvSpPr>
      <dsp:spPr>
        <a:xfrm>
          <a:off x="1869380" y="684308"/>
          <a:ext cx="263106" cy="263106"/>
        </a:xfrm>
        <a:prstGeom prst="triangle">
          <a:avLst>
            <a:gd name="adj" fmla="val 10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w="9525"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091C1B-882C-4A2B-868D-15AB708D584F}">
      <dsp:nvSpPr>
        <dsp:cNvPr id="0" name=""/>
        <dsp:cNvSpPr/>
      </dsp:nvSpPr>
      <dsp:spPr>
        <a:xfrm rot="5400000">
          <a:off x="3739067" y="-182963"/>
          <a:ext cx="928252" cy="2661716"/>
        </a:xfrm>
        <a:prstGeom prst="corner">
          <a:avLst>
            <a:gd name="adj1" fmla="val 16120"/>
            <a:gd name="adj2" fmla="val 1611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w="9525"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5DD1E37C-EDC3-41F4-891E-775C4AA49DFB}">
      <dsp:nvSpPr>
        <dsp:cNvPr id="0" name=""/>
        <dsp:cNvSpPr/>
      </dsp:nvSpPr>
      <dsp:spPr>
        <a:xfrm>
          <a:off x="3061382" y="837099"/>
          <a:ext cx="2178503"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1985 – 1993</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建成了三级结构的互联网 。</a:t>
          </a:r>
        </a:p>
      </dsp:txBody>
      <dsp:txXfrm>
        <a:off x="3061382" y="837099"/>
        <a:ext cx="2178503" cy="1222330"/>
      </dsp:txXfrm>
    </dsp:sp>
    <dsp:sp modelId="{2D8632D6-57D5-4C06-81CE-104155293B86}">
      <dsp:nvSpPr>
        <dsp:cNvPr id="0" name=""/>
        <dsp:cNvSpPr/>
      </dsp:nvSpPr>
      <dsp:spPr>
        <a:xfrm>
          <a:off x="4715477" y="261884"/>
          <a:ext cx="263106" cy="263106"/>
        </a:xfrm>
        <a:prstGeom prst="triangle">
          <a:avLst>
            <a:gd name="adj" fmla="val 10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w="9525"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0B75B0BF-1D47-48F1-94FD-0201A392E554}">
      <dsp:nvSpPr>
        <dsp:cNvPr id="0" name=""/>
        <dsp:cNvSpPr/>
      </dsp:nvSpPr>
      <dsp:spPr>
        <a:xfrm rot="5400000">
          <a:off x="6402878" y="-398133"/>
          <a:ext cx="928252" cy="2247210"/>
        </a:xfrm>
        <a:prstGeom prst="corner">
          <a:avLst>
            <a:gd name="adj1" fmla="val 16120"/>
            <a:gd name="adj2" fmla="val 1611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w="9525" cap="flat" cmpd="sng" algn="ctr">
          <a:solidFill>
            <a:schemeClr val="accent6">
              <a:hueOff val="0"/>
              <a:satOff val="0"/>
              <a:lumOff val="0"/>
              <a:alphaOff val="0"/>
            </a:schemeClr>
          </a:solidFill>
          <a:prstDash val="solid"/>
        </a:ln>
        <a:effectLst>
          <a:outerShdw blurRad="40000" dist="20000" dir="5400000" rotWithShape="0">
            <a:srgbClr val="000000">
              <a:alpha val="38000"/>
            </a:srgbClr>
          </a:outerShdw>
        </a:effectLst>
      </dsp:spPr>
      <dsp:style>
        <a:lnRef idx="1">
          <a:scrgbClr r="0" g="0" b="0"/>
        </a:lnRef>
        <a:fillRef idx="2">
          <a:scrgbClr r="0" g="0" b="0"/>
        </a:fillRef>
        <a:effectRef idx="1">
          <a:scrgbClr r="0" g="0" b="0"/>
        </a:effectRef>
        <a:fontRef idx="minor">
          <a:schemeClr val="dk1"/>
        </a:fontRef>
      </dsp:style>
    </dsp:sp>
    <dsp:sp modelId="{F0C4A08D-D529-4101-B85D-56E13A637234}">
      <dsp:nvSpPr>
        <dsp:cNvPr id="0" name=""/>
        <dsp:cNvSpPr/>
      </dsp:nvSpPr>
      <dsp:spPr>
        <a:xfrm>
          <a:off x="5938101" y="414676"/>
          <a:ext cx="2014124"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1993 –</a:t>
          </a:r>
          <a:r>
            <a:rPr lang="en-US" altLang="zh-CN" sz="1800" b="1" kern="1200" dirty="0">
              <a:solidFill>
                <a:srgbClr val="CC00CC"/>
              </a:solidFill>
              <a:latin typeface="微软雅黑" panose="020B0503020204020204" pitchFamily="34" charset="-122"/>
              <a:ea typeface="微软雅黑" panose="020B0503020204020204" pitchFamily="34" charset="-122"/>
            </a:rPr>
            <a:t> </a:t>
          </a:r>
          <a:r>
            <a:rPr lang="zh-CN" altLang="en-US" sz="1800" b="1" kern="1200" dirty="0">
              <a:solidFill>
                <a:srgbClr val="CC00CC"/>
              </a:solidFill>
              <a:latin typeface="微软雅黑" panose="020B0503020204020204" pitchFamily="34" charset="-122"/>
              <a:ea typeface="微软雅黑" panose="020B0503020204020204" pitchFamily="34" charset="-122"/>
            </a:rPr>
            <a:t>现在</a:t>
          </a:r>
          <a:endParaRPr lang="en-US" altLang="zh-CN" sz="1800" b="1" kern="1200" dirty="0">
            <a:solidFill>
              <a:srgbClr val="CC00CC"/>
            </a:solidFill>
            <a:latin typeface="微软雅黑" panose="020B0503020204020204" pitchFamily="34" charset="-122"/>
            <a:ea typeface="微软雅黑" panose="020B0503020204020204" pitchFamily="34" charset="-122"/>
          </a:endParaRPr>
        </a:p>
        <a:p>
          <a:pPr marL="0" lvl="0" indent="0" algn="l" defTabSz="800100">
            <a:lnSpc>
              <a:spcPts val="2800"/>
            </a:lnSpc>
            <a:spcBef>
              <a:spcPct val="0"/>
            </a:spcBef>
            <a:spcAft>
              <a:spcPts val="0"/>
            </a:spcAft>
            <a:buNone/>
          </a:pPr>
          <a:r>
            <a:rPr lang="zh-CN" altLang="zh-CN" sz="1800" b="1" kern="1200" dirty="0">
              <a:latin typeface="微软雅黑" panose="020B0503020204020204" pitchFamily="34" charset="-122"/>
              <a:ea typeface="微软雅黑" panose="020B0503020204020204" pitchFamily="34" charset="-122"/>
            </a:rPr>
            <a:t>全球范围的多层次</a:t>
          </a:r>
          <a:r>
            <a:rPr lang="en-US" altLang="zh-CN" sz="1800" b="1" kern="1200" dirty="0">
              <a:latin typeface="微软雅黑" panose="020B0503020204020204" pitchFamily="34" charset="-122"/>
              <a:ea typeface="微软雅黑" panose="020B0503020204020204" pitchFamily="34" charset="-122"/>
            </a:rPr>
            <a:t> ISP </a:t>
          </a:r>
          <a:r>
            <a:rPr lang="zh-CN" altLang="zh-CN" sz="1800" b="1" kern="1200" dirty="0">
              <a:latin typeface="微软雅黑" panose="020B0503020204020204" pitchFamily="34" charset="-122"/>
              <a:ea typeface="微软雅黑" panose="020B0503020204020204" pitchFamily="34" charset="-122"/>
            </a:rPr>
            <a:t>结构的互联网。</a:t>
          </a:r>
          <a:endParaRPr lang="zh-CN" altLang="en-US" sz="1800" b="1" kern="1200" dirty="0">
            <a:latin typeface="微软雅黑" panose="020B0503020204020204" pitchFamily="34" charset="-122"/>
            <a:ea typeface="微软雅黑" panose="020B0503020204020204" pitchFamily="34" charset="-122"/>
          </a:endParaRPr>
        </a:p>
      </dsp:txBody>
      <dsp:txXfrm>
        <a:off x="5938101" y="414676"/>
        <a:ext cx="2014124" cy="12223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7F835-55F0-4C61-A2A3-44AE2ED9D7FE}">
      <dsp:nvSpPr>
        <dsp:cNvPr id="0" name=""/>
        <dsp:cNvSpPr/>
      </dsp:nvSpPr>
      <dsp:spPr>
        <a:xfrm>
          <a:off x="32" y="5399"/>
          <a:ext cx="3092733" cy="720000"/>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w="9525" cap="flat" cmpd="sng" algn="ctr">
          <a:solidFill>
            <a:schemeClr val="accent5">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客户</a:t>
          </a:r>
          <a:r>
            <a:rPr lang="en-US" altLang="zh-CN" sz="1800" b="1" kern="1200" dirty="0">
              <a:latin typeface="微软雅黑" panose="020B0503020204020204" pitchFamily="34" charset="-122"/>
              <a:ea typeface="微软雅黑" panose="020B0503020204020204" pitchFamily="34" charset="-122"/>
            </a:rPr>
            <a:t>/</a:t>
          </a:r>
          <a:r>
            <a:rPr lang="zh-CN" altLang="en-US" sz="1800" b="1" kern="1200" dirty="0">
              <a:latin typeface="微软雅黑" panose="020B0503020204020204" pitchFamily="34" charset="-122"/>
              <a:ea typeface="微软雅黑" panose="020B0503020204020204" pitchFamily="34" charset="-122"/>
            </a:rPr>
            <a:t>服务器方式</a:t>
          </a:r>
          <a:endParaRPr lang="en-US" altLang="zh-CN" sz="1800" b="1" kern="1200" dirty="0">
            <a:latin typeface="微软雅黑" panose="020B0503020204020204" pitchFamily="34" charset="-122"/>
            <a:ea typeface="微软雅黑" panose="020B0503020204020204" pitchFamily="34" charset="-122"/>
          </a:endParaRPr>
        </a:p>
      </dsp:txBody>
      <dsp:txXfrm>
        <a:off x="32" y="5399"/>
        <a:ext cx="3092733" cy="720000"/>
      </dsp:txXfrm>
    </dsp:sp>
    <dsp:sp modelId="{ACB976F2-8BF8-4A70-91C5-C91BC345A4AF}">
      <dsp:nvSpPr>
        <dsp:cNvPr id="0" name=""/>
        <dsp:cNvSpPr/>
      </dsp:nvSpPr>
      <dsp:spPr>
        <a:xfrm>
          <a:off x="32" y="725399"/>
          <a:ext cx="3092733" cy="1098000"/>
        </a:xfrm>
        <a:prstGeom prst="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Client / Server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C/S </a:t>
          </a:r>
          <a:r>
            <a:rPr lang="zh-CN" altLang="en-US" sz="1800" b="1" kern="1200" dirty="0">
              <a:latin typeface="微软雅黑" panose="020B0503020204020204" pitchFamily="34" charset="-122"/>
              <a:ea typeface="微软雅黑" panose="020B0503020204020204" pitchFamily="34" charset="-122"/>
            </a:rPr>
            <a:t>方式</a:t>
          </a:r>
        </a:p>
      </dsp:txBody>
      <dsp:txXfrm>
        <a:off x="32" y="725399"/>
        <a:ext cx="3092733" cy="1098000"/>
      </dsp:txXfrm>
    </dsp:sp>
    <dsp:sp modelId="{FD082DEC-BD21-4E00-AA12-CC0ED5CBCB32}">
      <dsp:nvSpPr>
        <dsp:cNvPr id="0" name=""/>
        <dsp:cNvSpPr/>
      </dsp:nvSpPr>
      <dsp:spPr>
        <a:xfrm>
          <a:off x="3525748" y="5399"/>
          <a:ext cx="3092733" cy="720000"/>
        </a:xfrm>
        <a:prstGeom prst="rect">
          <a:avLst/>
        </a:prstGeom>
        <a:gradFill rotWithShape="0">
          <a:gsLst>
            <a:gs pos="0">
              <a:schemeClr val="accent5">
                <a:hueOff val="-9933876"/>
                <a:satOff val="39811"/>
                <a:lumOff val="8628"/>
                <a:alphaOff val="0"/>
                <a:shade val="51000"/>
                <a:satMod val="130000"/>
              </a:schemeClr>
            </a:gs>
            <a:gs pos="80000">
              <a:schemeClr val="accent5">
                <a:hueOff val="-9933876"/>
                <a:satOff val="39811"/>
                <a:lumOff val="8628"/>
                <a:alphaOff val="0"/>
                <a:shade val="93000"/>
                <a:satMod val="130000"/>
              </a:schemeClr>
            </a:gs>
            <a:gs pos="100000">
              <a:schemeClr val="accent5">
                <a:hueOff val="-9933876"/>
                <a:satOff val="39811"/>
                <a:lumOff val="8628"/>
                <a:alphaOff val="0"/>
                <a:shade val="94000"/>
                <a:satMod val="135000"/>
              </a:schemeClr>
            </a:gs>
          </a:gsLst>
          <a:lin ang="16200000" scaled="0"/>
        </a:gradFill>
        <a:ln w="9525" cap="flat" cmpd="sng" algn="ctr">
          <a:solidFill>
            <a:schemeClr val="accent5">
              <a:hueOff val="-9933876"/>
              <a:satOff val="39811"/>
              <a:lumOff val="8628"/>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对等方式</a:t>
          </a:r>
          <a:endParaRPr lang="en-US" altLang="zh-CN" sz="1800" b="1" kern="1200" dirty="0">
            <a:latin typeface="微软雅黑" panose="020B0503020204020204" pitchFamily="34" charset="-122"/>
            <a:ea typeface="微软雅黑" panose="020B0503020204020204" pitchFamily="34" charset="-122"/>
          </a:endParaRPr>
        </a:p>
      </dsp:txBody>
      <dsp:txXfrm>
        <a:off x="3525748" y="5399"/>
        <a:ext cx="3092733" cy="720000"/>
      </dsp:txXfrm>
    </dsp:sp>
    <dsp:sp modelId="{B62719DE-8DA5-4764-8561-2A4AB2C96331}">
      <dsp:nvSpPr>
        <dsp:cNvPr id="0" name=""/>
        <dsp:cNvSpPr/>
      </dsp:nvSpPr>
      <dsp:spPr>
        <a:xfrm>
          <a:off x="3525748" y="725399"/>
          <a:ext cx="3092733" cy="1098000"/>
        </a:xfrm>
        <a:prstGeom prst="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Peer to Peer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P2P </a:t>
          </a:r>
          <a:r>
            <a:rPr lang="zh-CN" altLang="en-US" sz="1800" b="1" kern="1200" dirty="0">
              <a:latin typeface="微软雅黑" panose="020B0503020204020204" pitchFamily="34" charset="-122"/>
              <a:ea typeface="微软雅黑" panose="020B0503020204020204" pitchFamily="34" charset="-122"/>
            </a:rPr>
            <a:t>方式</a:t>
          </a:r>
        </a:p>
      </dsp:txBody>
      <dsp:txXfrm>
        <a:off x="3525748" y="725399"/>
        <a:ext cx="3092733" cy="1098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AB91ED-304D-4E30-917D-DB8A5D6E9F4E}">
      <dsp:nvSpPr>
        <dsp:cNvPr id="0" name=""/>
        <dsp:cNvSpPr/>
      </dsp:nvSpPr>
      <dsp:spPr>
        <a:xfrm>
          <a:off x="2262053" y="1042101"/>
          <a:ext cx="1189624" cy="1189616"/>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重要性能指标</a:t>
          </a:r>
        </a:p>
      </dsp:txBody>
      <dsp:txXfrm>
        <a:off x="2436269" y="1216316"/>
        <a:ext cx="841192" cy="841186"/>
      </dsp:txXfrm>
    </dsp:sp>
    <dsp:sp modelId="{C041081D-BE3D-40E6-B560-6CCAEF685BB2}">
      <dsp:nvSpPr>
        <dsp:cNvPr id="0" name=""/>
        <dsp:cNvSpPr/>
      </dsp:nvSpPr>
      <dsp:spPr>
        <a:xfrm rot="16200000">
          <a:off x="2746112" y="918472"/>
          <a:ext cx="221506" cy="25751"/>
        </a:xfrm>
        <a:custGeom>
          <a:avLst/>
          <a:gdLst/>
          <a:ahLst/>
          <a:cxnLst/>
          <a:rect l="0" t="0" r="0" b="0"/>
          <a:pathLst>
            <a:path>
              <a:moveTo>
                <a:pt x="0" y="12875"/>
              </a:moveTo>
              <a:lnTo>
                <a:pt x="221506"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2851327" y="925810"/>
        <a:ext cx="11075" cy="11075"/>
      </dsp:txXfrm>
    </dsp:sp>
    <dsp:sp modelId="{402F23A3-1405-4E62-9B6B-1BAD6AF3B058}">
      <dsp:nvSpPr>
        <dsp:cNvPr id="0" name=""/>
        <dsp:cNvSpPr/>
      </dsp:nvSpPr>
      <dsp:spPr>
        <a:xfrm>
          <a:off x="2448144" y="3152"/>
          <a:ext cx="817442" cy="817442"/>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速率</a:t>
          </a:r>
        </a:p>
      </dsp:txBody>
      <dsp:txXfrm>
        <a:off x="2567856" y="122864"/>
        <a:ext cx="578018" cy="578018"/>
      </dsp:txXfrm>
    </dsp:sp>
    <dsp:sp modelId="{1A688BA9-9980-46CE-92DD-5B540F6B173C}">
      <dsp:nvSpPr>
        <dsp:cNvPr id="0" name=""/>
        <dsp:cNvSpPr/>
      </dsp:nvSpPr>
      <dsp:spPr>
        <a:xfrm rot="19285714">
          <a:off x="3297744"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177800">
            <a:lnSpc>
              <a:spcPct val="80000"/>
            </a:lnSpc>
            <a:spcBef>
              <a:spcPts val="0"/>
            </a:spcBef>
            <a:spcAft>
              <a:spcPts val="0"/>
            </a:spcAft>
            <a:buNone/>
          </a:pPr>
          <a:endParaRPr lang="zh-CN" altLang="en-US" sz="400" kern="1200"/>
        </a:p>
      </dsp:txBody>
      <dsp:txXfrm>
        <a:off x="3402958" y="1191461"/>
        <a:ext cx="11075" cy="11075"/>
      </dsp:txXfrm>
    </dsp:sp>
    <dsp:sp modelId="{9EB9B65F-4393-4612-9918-4B6EE32BE2B5}">
      <dsp:nvSpPr>
        <dsp:cNvPr id="0" name=""/>
        <dsp:cNvSpPr/>
      </dsp:nvSpPr>
      <dsp:spPr>
        <a:xfrm>
          <a:off x="3405915" y="464391"/>
          <a:ext cx="817442" cy="817442"/>
        </a:xfrm>
        <a:prstGeom prst="ellipse">
          <a:avLst/>
        </a:prstGeom>
        <a:gradFill rotWithShape="0">
          <a:gsLst>
            <a:gs pos="0">
              <a:schemeClr val="accent3">
                <a:hueOff val="1875044"/>
                <a:satOff val="-2813"/>
                <a:lumOff val="-458"/>
                <a:alphaOff val="0"/>
                <a:shade val="51000"/>
                <a:satMod val="130000"/>
              </a:schemeClr>
            </a:gs>
            <a:gs pos="80000">
              <a:schemeClr val="accent3">
                <a:hueOff val="1875044"/>
                <a:satOff val="-2813"/>
                <a:lumOff val="-458"/>
                <a:alphaOff val="0"/>
                <a:shade val="93000"/>
                <a:satMod val="130000"/>
              </a:schemeClr>
            </a:gs>
            <a:gs pos="100000">
              <a:schemeClr val="accent3">
                <a:hueOff val="1875044"/>
                <a:satOff val="-2813"/>
                <a:lumOff val="-45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itchFamily="34" charset="-122"/>
              <a:ea typeface="微软雅黑" pitchFamily="34" charset="-122"/>
            </a:rPr>
            <a:t>带宽</a:t>
          </a:r>
        </a:p>
      </dsp:txBody>
      <dsp:txXfrm>
        <a:off x="3525627" y="584103"/>
        <a:ext cx="578018" cy="578018"/>
      </dsp:txXfrm>
    </dsp:sp>
    <dsp:sp modelId="{CA2997A6-1A9D-4195-A4F9-95CB281E15D5}">
      <dsp:nvSpPr>
        <dsp:cNvPr id="0" name=""/>
        <dsp:cNvSpPr/>
      </dsp:nvSpPr>
      <dsp:spPr>
        <a:xfrm rot="771429">
          <a:off x="3433987"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539201" y="1788374"/>
        <a:ext cx="11075" cy="11075"/>
      </dsp:txXfrm>
    </dsp:sp>
    <dsp:sp modelId="{AA805C1A-016A-4092-AC58-C8C9626E154E}">
      <dsp:nvSpPr>
        <dsp:cNvPr id="0" name=""/>
        <dsp:cNvSpPr/>
      </dsp:nvSpPr>
      <dsp:spPr>
        <a:xfrm>
          <a:off x="3642465" y="1500784"/>
          <a:ext cx="817442" cy="817442"/>
        </a:xfrm>
        <a:prstGeom prst="ellipse">
          <a:avLst/>
        </a:prstGeom>
        <a:gradFill rotWithShape="0">
          <a:gsLst>
            <a:gs pos="0">
              <a:schemeClr val="accent3">
                <a:hueOff val="3750088"/>
                <a:satOff val="-5627"/>
                <a:lumOff val="-915"/>
                <a:alphaOff val="0"/>
                <a:shade val="51000"/>
                <a:satMod val="130000"/>
              </a:schemeClr>
            </a:gs>
            <a:gs pos="80000">
              <a:schemeClr val="accent3">
                <a:hueOff val="3750088"/>
                <a:satOff val="-5627"/>
                <a:lumOff val="-915"/>
                <a:alphaOff val="0"/>
                <a:shade val="93000"/>
                <a:satMod val="130000"/>
              </a:schemeClr>
            </a:gs>
            <a:gs pos="100000">
              <a:schemeClr val="accent3">
                <a:hueOff val="3750088"/>
                <a:satOff val="-5627"/>
                <a:lumOff val="-91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吞吐率</a:t>
          </a:r>
        </a:p>
      </dsp:txBody>
      <dsp:txXfrm>
        <a:off x="3762177" y="1620496"/>
        <a:ext cx="578018" cy="578018"/>
      </dsp:txXfrm>
    </dsp:sp>
    <dsp:sp modelId="{96B1DAAE-F63C-47BA-8420-AE7C9945D5FC}">
      <dsp:nvSpPr>
        <dsp:cNvPr id="0" name=""/>
        <dsp:cNvSpPr/>
      </dsp:nvSpPr>
      <dsp:spPr>
        <a:xfrm rot="3857143">
          <a:off x="3052244"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157459" y="2267061"/>
        <a:ext cx="11075" cy="11075"/>
      </dsp:txXfrm>
    </dsp:sp>
    <dsp:sp modelId="{3E830754-EFA7-4138-9FA6-3C9E92E74104}">
      <dsp:nvSpPr>
        <dsp:cNvPr id="0" name=""/>
        <dsp:cNvSpPr/>
      </dsp:nvSpPr>
      <dsp:spPr>
        <a:xfrm>
          <a:off x="2979667" y="2331907"/>
          <a:ext cx="817442" cy="817442"/>
        </a:xfrm>
        <a:prstGeom prst="ellipse">
          <a:avLst/>
        </a:prstGeom>
        <a:gradFill rotWithShape="0">
          <a:gsLst>
            <a:gs pos="0">
              <a:schemeClr val="accent3">
                <a:hueOff val="5625132"/>
                <a:satOff val="-8440"/>
                <a:lumOff val="-1373"/>
                <a:alphaOff val="0"/>
                <a:shade val="51000"/>
                <a:satMod val="130000"/>
              </a:schemeClr>
            </a:gs>
            <a:gs pos="80000">
              <a:schemeClr val="accent3">
                <a:hueOff val="5625132"/>
                <a:satOff val="-8440"/>
                <a:lumOff val="-1373"/>
                <a:alphaOff val="0"/>
                <a:shade val="93000"/>
                <a:satMod val="130000"/>
              </a:schemeClr>
            </a:gs>
            <a:gs pos="100000">
              <a:schemeClr val="accent3">
                <a:hueOff val="5625132"/>
                <a:satOff val="-8440"/>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时延</a:t>
          </a:r>
        </a:p>
      </dsp:txBody>
      <dsp:txXfrm>
        <a:off x="3099379" y="2451619"/>
        <a:ext cx="578018" cy="578018"/>
      </dsp:txXfrm>
    </dsp:sp>
    <dsp:sp modelId="{78B2782A-5A1E-4DB7-8A32-C245B5326F9D}">
      <dsp:nvSpPr>
        <dsp:cNvPr id="0" name=""/>
        <dsp:cNvSpPr/>
      </dsp:nvSpPr>
      <dsp:spPr>
        <a:xfrm rot="6942857">
          <a:off x="2439981" y="2259722"/>
          <a:ext cx="221505" cy="25751"/>
        </a:xfrm>
        <a:custGeom>
          <a:avLst/>
          <a:gdLst/>
          <a:ahLst/>
          <a:cxnLst/>
          <a:rect l="0" t="0" r="0" b="0"/>
          <a:pathLst>
            <a:path>
              <a:moveTo>
                <a:pt x="0" y="12875"/>
              </a:moveTo>
              <a:lnTo>
                <a:pt x="221505"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545196" y="2267061"/>
        <a:ext cx="11075" cy="11075"/>
      </dsp:txXfrm>
    </dsp:sp>
    <dsp:sp modelId="{8473F692-BDED-4FE3-8EFA-3135EC8A8BE4}">
      <dsp:nvSpPr>
        <dsp:cNvPr id="0" name=""/>
        <dsp:cNvSpPr/>
      </dsp:nvSpPr>
      <dsp:spPr>
        <a:xfrm>
          <a:off x="1916620" y="2331907"/>
          <a:ext cx="817442" cy="817442"/>
        </a:xfrm>
        <a:prstGeom prst="ellipse">
          <a:avLst/>
        </a:prstGeom>
        <a:gradFill rotWithShape="0">
          <a:gsLst>
            <a:gs pos="0">
              <a:schemeClr val="accent3">
                <a:hueOff val="7500176"/>
                <a:satOff val="-11253"/>
                <a:lumOff val="-1830"/>
                <a:alphaOff val="0"/>
                <a:shade val="51000"/>
                <a:satMod val="130000"/>
              </a:schemeClr>
            </a:gs>
            <a:gs pos="80000">
              <a:schemeClr val="accent3">
                <a:hueOff val="7500176"/>
                <a:satOff val="-11253"/>
                <a:lumOff val="-1830"/>
                <a:alphaOff val="0"/>
                <a:shade val="93000"/>
                <a:satMod val="130000"/>
              </a:schemeClr>
            </a:gs>
            <a:gs pos="100000">
              <a:schemeClr val="accent3">
                <a:hueOff val="7500176"/>
                <a:satOff val="-11253"/>
                <a:lumOff val="-183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时延带宽积</a:t>
          </a:r>
        </a:p>
      </dsp:txBody>
      <dsp:txXfrm>
        <a:off x="2036332" y="2451619"/>
        <a:ext cx="578018" cy="578018"/>
      </dsp:txXfrm>
    </dsp:sp>
    <dsp:sp modelId="{8BB81BB8-E393-4F1D-8B7B-020AC5C16F2F}">
      <dsp:nvSpPr>
        <dsp:cNvPr id="0" name=""/>
        <dsp:cNvSpPr/>
      </dsp:nvSpPr>
      <dsp:spPr>
        <a:xfrm rot="10028571">
          <a:off x="2058241" y="1781036"/>
          <a:ext cx="221502" cy="25751"/>
        </a:xfrm>
        <a:custGeom>
          <a:avLst/>
          <a:gdLst/>
          <a:ahLst/>
          <a:cxnLst/>
          <a:rect l="0" t="0" r="0" b="0"/>
          <a:pathLst>
            <a:path>
              <a:moveTo>
                <a:pt x="0" y="12875"/>
              </a:moveTo>
              <a:lnTo>
                <a:pt x="221502"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163454" y="1788374"/>
        <a:ext cx="11075" cy="11075"/>
      </dsp:txXfrm>
    </dsp:sp>
    <dsp:sp modelId="{E239F5DF-E3F9-42F3-9ADB-15CF35E6CE45}">
      <dsp:nvSpPr>
        <dsp:cNvPr id="0" name=""/>
        <dsp:cNvSpPr/>
      </dsp:nvSpPr>
      <dsp:spPr>
        <a:xfrm>
          <a:off x="1253822" y="1500784"/>
          <a:ext cx="817442" cy="817442"/>
        </a:xfrm>
        <a:prstGeom prst="ellipse">
          <a:avLst/>
        </a:prstGeom>
        <a:gradFill rotWithShape="0">
          <a:gsLst>
            <a:gs pos="0">
              <a:schemeClr val="accent3">
                <a:hueOff val="9375220"/>
                <a:satOff val="-14067"/>
                <a:lumOff val="-2288"/>
                <a:alphaOff val="0"/>
                <a:shade val="51000"/>
                <a:satMod val="130000"/>
              </a:schemeClr>
            </a:gs>
            <a:gs pos="80000">
              <a:schemeClr val="accent3">
                <a:hueOff val="9375220"/>
                <a:satOff val="-14067"/>
                <a:lumOff val="-2288"/>
                <a:alphaOff val="0"/>
                <a:shade val="93000"/>
                <a:satMod val="130000"/>
              </a:schemeClr>
            </a:gs>
            <a:gs pos="100000">
              <a:schemeClr val="accent3">
                <a:hueOff val="9375220"/>
                <a:satOff val="-14067"/>
                <a:lumOff val="-2288"/>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往返</a:t>
          </a:r>
          <a:endParaRPr lang="en-US" altLang="zh-CN" sz="1400" b="1" kern="1200" dirty="0">
            <a:latin typeface="微软雅黑" panose="020B0503020204020204" pitchFamily="34" charset="-122"/>
            <a:ea typeface="微软雅黑" panose="020B0503020204020204" pitchFamily="34" charset="-122"/>
          </a:endParaRPr>
        </a:p>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时间</a:t>
          </a:r>
        </a:p>
      </dsp:txBody>
      <dsp:txXfrm>
        <a:off x="1373534" y="1620496"/>
        <a:ext cx="578018" cy="578018"/>
      </dsp:txXfrm>
    </dsp:sp>
    <dsp:sp modelId="{AF33E670-42AA-4676-8C3F-58C9EF27EB34}">
      <dsp:nvSpPr>
        <dsp:cNvPr id="0" name=""/>
        <dsp:cNvSpPr/>
      </dsp:nvSpPr>
      <dsp:spPr>
        <a:xfrm rot="13114286">
          <a:off x="2194482" y="1184122"/>
          <a:ext cx="221503" cy="25751"/>
        </a:xfrm>
        <a:custGeom>
          <a:avLst/>
          <a:gdLst/>
          <a:ahLst/>
          <a:cxnLst/>
          <a:rect l="0" t="0" r="0" b="0"/>
          <a:pathLst>
            <a:path>
              <a:moveTo>
                <a:pt x="0" y="12875"/>
              </a:moveTo>
              <a:lnTo>
                <a:pt x="221503" y="12875"/>
              </a:lnTo>
            </a:path>
          </a:pathLst>
        </a:custGeom>
        <a:noFill/>
        <a:ln w="19050" cap="flat" cmpd="sng" algn="ctr">
          <a:solidFill>
            <a:scrgbClr r="0" g="0" b="0">
              <a:shade val="95000"/>
              <a:satMod val="105000"/>
            </a:scrgbClr>
          </a:solidFill>
          <a:prstDash val="solid"/>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299696" y="1191461"/>
        <a:ext cx="11075" cy="11075"/>
      </dsp:txXfrm>
    </dsp:sp>
    <dsp:sp modelId="{26B2A20A-D83E-4FB4-8289-8E75F18D9F17}">
      <dsp:nvSpPr>
        <dsp:cNvPr id="0" name=""/>
        <dsp:cNvSpPr/>
      </dsp:nvSpPr>
      <dsp:spPr>
        <a:xfrm>
          <a:off x="1490372" y="464391"/>
          <a:ext cx="817442" cy="817442"/>
        </a:xfrm>
        <a:prstGeom prst="ellipse">
          <a:avLst/>
        </a:prstGeom>
        <a:gradFill rotWithShape="0">
          <a:gsLst>
            <a:gs pos="0">
              <a:schemeClr val="accent3">
                <a:hueOff val="11250264"/>
                <a:satOff val="-16880"/>
                <a:lumOff val="-2745"/>
                <a:alphaOff val="0"/>
                <a:shade val="51000"/>
                <a:satMod val="130000"/>
              </a:schemeClr>
            </a:gs>
            <a:gs pos="80000">
              <a:schemeClr val="accent3">
                <a:hueOff val="11250264"/>
                <a:satOff val="-16880"/>
                <a:lumOff val="-2745"/>
                <a:alphaOff val="0"/>
                <a:shade val="93000"/>
                <a:satMod val="130000"/>
              </a:schemeClr>
            </a:gs>
            <a:gs pos="100000">
              <a:schemeClr val="accent3">
                <a:hueOff val="11250264"/>
                <a:satOff val="-16880"/>
                <a:lumOff val="-2745"/>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利用率</a:t>
          </a:r>
        </a:p>
      </dsp:txBody>
      <dsp:txXfrm>
        <a:off x="1610084" y="584103"/>
        <a:ext cx="578018" cy="57801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322834-D555-4278-B09F-615875E565CE}">
      <dsp:nvSpPr>
        <dsp:cNvPr id="0" name=""/>
        <dsp:cNvSpPr/>
      </dsp:nvSpPr>
      <dsp:spPr>
        <a:xfrm rot="5400000">
          <a:off x="4078914" y="-2631000"/>
          <a:ext cx="934555" cy="6430253"/>
        </a:xfrm>
        <a:prstGeom prst="round2Same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某个信号具有的</a:t>
          </a:r>
          <a:r>
            <a:rPr lang="zh-CN" altLang="en-US" sz="1600" b="1" kern="1200" dirty="0">
              <a:solidFill>
                <a:srgbClr val="0000FF"/>
              </a:solidFill>
              <a:latin typeface="微软雅黑" panose="020B0503020204020204" pitchFamily="34" charset="-122"/>
              <a:ea typeface="微软雅黑" panose="020B0503020204020204" pitchFamily="34" charset="-122"/>
            </a:rPr>
            <a:t>频带宽度。</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单位是</a:t>
          </a:r>
          <a:r>
            <a:rPr lang="zh-CN" altLang="en-US" sz="1600" b="1" kern="1200" dirty="0">
              <a:solidFill>
                <a:srgbClr val="0000FF"/>
              </a:solidFill>
              <a:latin typeface="微软雅黑" panose="020B0503020204020204" pitchFamily="34" charset="-122"/>
              <a:ea typeface="微软雅黑" panose="020B0503020204020204" pitchFamily="34" charset="-122"/>
            </a:rPr>
            <a:t>赫</a:t>
          </a:r>
          <a:r>
            <a:rPr lang="zh-CN" altLang="en-US" sz="1600" b="1" kern="1200" dirty="0">
              <a:latin typeface="微软雅黑" panose="020B0503020204020204" pitchFamily="34" charset="-122"/>
              <a:ea typeface="微软雅黑" panose="020B0503020204020204" pitchFamily="34" charset="-122"/>
            </a:rPr>
            <a:t>（或千赫、兆赫、吉赫等）。</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某信道允许通过的信号频带范围称为该</a:t>
          </a:r>
          <a:r>
            <a:rPr lang="zh-CN" altLang="en-US" sz="1600" b="1" kern="1200" dirty="0">
              <a:solidFill>
                <a:srgbClr val="0000FF"/>
              </a:solidFill>
              <a:latin typeface="微软雅黑" panose="020B0503020204020204" pitchFamily="34" charset="-122"/>
              <a:ea typeface="微软雅黑" panose="020B0503020204020204" pitchFamily="34" charset="-122"/>
            </a:rPr>
            <a:t>信道的带宽</a:t>
          </a:r>
          <a:r>
            <a:rPr lang="zh-CN" altLang="en-US" sz="1600" b="1" kern="1200" dirty="0">
              <a:latin typeface="微软雅黑" panose="020B0503020204020204" pitchFamily="34" charset="-122"/>
              <a:ea typeface="微软雅黑" panose="020B0503020204020204" pitchFamily="34" charset="-122"/>
            </a:rPr>
            <a:t>（或通频带）。</a:t>
          </a:r>
        </a:p>
      </dsp:txBody>
      <dsp:txXfrm rot="-5400000">
        <a:off x="1331066" y="162469"/>
        <a:ext cx="6384632" cy="843313"/>
      </dsp:txXfrm>
    </dsp:sp>
    <dsp:sp modelId="{12490A3D-6938-465D-B09D-05FD246C6E9E}">
      <dsp:nvSpPr>
        <dsp:cNvPr id="0" name=""/>
        <dsp:cNvSpPr/>
      </dsp:nvSpPr>
      <dsp:spPr>
        <a:xfrm>
          <a:off x="137354" y="29"/>
          <a:ext cx="1193710" cy="1168193"/>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频域</a:t>
          </a:r>
        </a:p>
      </dsp:txBody>
      <dsp:txXfrm>
        <a:off x="194380" y="57055"/>
        <a:ext cx="1079658" cy="1054141"/>
      </dsp:txXfrm>
    </dsp:sp>
    <dsp:sp modelId="{4EADB46F-8684-4B72-97FE-D18AEB647819}">
      <dsp:nvSpPr>
        <dsp:cNvPr id="0" name=""/>
        <dsp:cNvSpPr/>
      </dsp:nvSpPr>
      <dsp:spPr>
        <a:xfrm rot="5400000">
          <a:off x="4078914" y="-1438246"/>
          <a:ext cx="934555" cy="6430253"/>
        </a:xfrm>
        <a:prstGeom prst="round2Same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kern="1200" dirty="0">
              <a:solidFill>
                <a:srgbClr val="0000FF"/>
              </a:solidFill>
              <a:latin typeface="微软雅黑" panose="020B0503020204020204" pitchFamily="34" charset="-122"/>
              <a:ea typeface="微软雅黑" panose="020B0503020204020204" pitchFamily="34" charset="-122"/>
            </a:rPr>
            <a:t>“最高数据率”。</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单位就是数据率的单位 </a:t>
          </a:r>
          <a:r>
            <a:rPr lang="en-US" altLang="en-US" sz="1600" b="1" kern="1200" dirty="0">
              <a:latin typeface="微软雅黑" panose="020B0503020204020204" pitchFamily="34" charset="-122"/>
              <a:ea typeface="微软雅黑" panose="020B0503020204020204" pitchFamily="34" charset="-122"/>
            </a:rPr>
            <a:t>bit/s</a:t>
          </a:r>
          <a:r>
            <a:rPr lang="zh-CN" altLang="en-US" sz="1600" b="1" kern="1200" dirty="0">
              <a:latin typeface="微软雅黑" panose="020B0503020204020204" pitchFamily="34" charset="-122"/>
              <a:ea typeface="微软雅黑" panose="020B0503020204020204" pitchFamily="34" charset="-122"/>
            </a:rPr>
            <a:t>。</a:t>
          </a:r>
        </a:p>
      </dsp:txBody>
      <dsp:txXfrm rot="-5400000">
        <a:off x="1331066" y="1355223"/>
        <a:ext cx="6384632" cy="843313"/>
      </dsp:txXfrm>
    </dsp:sp>
    <dsp:sp modelId="{90C011AE-3F91-416D-B2FD-433B35EC17A6}">
      <dsp:nvSpPr>
        <dsp:cNvPr id="0" name=""/>
        <dsp:cNvSpPr/>
      </dsp:nvSpPr>
      <dsp:spPr>
        <a:xfrm>
          <a:off x="137354" y="1192766"/>
          <a:ext cx="1193710" cy="1168193"/>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时域</a:t>
          </a:r>
        </a:p>
      </dsp:txBody>
      <dsp:txXfrm>
        <a:off x="194380" y="1249792"/>
        <a:ext cx="1079658" cy="105414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8D618-F8FC-4C90-851C-0B5A61F1FAD0}">
      <dsp:nvSpPr>
        <dsp:cNvPr id="0" name=""/>
        <dsp:cNvSpPr/>
      </dsp:nvSpPr>
      <dsp:spPr>
        <a:xfrm>
          <a:off x="29" y="3808"/>
          <a:ext cx="2848570" cy="527464"/>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w="9525" cap="flat" cmpd="sng" algn="ctr">
          <a:solidFill>
            <a:schemeClr val="accent2">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信道利用率</a:t>
          </a:r>
        </a:p>
      </dsp:txBody>
      <dsp:txXfrm>
        <a:off x="29" y="3808"/>
        <a:ext cx="2848570" cy="527464"/>
      </dsp:txXfrm>
    </dsp:sp>
    <dsp:sp modelId="{DD1A8C17-AB8B-4CDA-9C06-E3F6B80DFAB1}">
      <dsp:nvSpPr>
        <dsp:cNvPr id="0" name=""/>
        <dsp:cNvSpPr/>
      </dsp:nvSpPr>
      <dsp:spPr>
        <a:xfrm>
          <a:off x="29" y="531272"/>
          <a:ext cx="2848570" cy="208619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某信道有百分之几的时间是被利用的（即有数据通过）。</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完全空闲的信道的利用率是零。</a:t>
          </a:r>
        </a:p>
      </dsp:txBody>
      <dsp:txXfrm>
        <a:off x="29" y="531272"/>
        <a:ext cx="2848570" cy="2086199"/>
      </dsp:txXfrm>
    </dsp:sp>
    <dsp:sp modelId="{95E674E6-30C0-4846-A33C-8435093FF952}">
      <dsp:nvSpPr>
        <dsp:cNvPr id="0" name=""/>
        <dsp:cNvSpPr/>
      </dsp:nvSpPr>
      <dsp:spPr>
        <a:xfrm>
          <a:off x="3247399" y="3808"/>
          <a:ext cx="2848570" cy="527464"/>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网络利用率</a:t>
          </a:r>
        </a:p>
      </dsp:txBody>
      <dsp:txXfrm>
        <a:off x="3247399" y="3808"/>
        <a:ext cx="2848570" cy="527464"/>
      </dsp:txXfrm>
    </dsp:sp>
    <dsp:sp modelId="{D5B1C811-7FFB-4E90-B609-AF3320FECF06}">
      <dsp:nvSpPr>
        <dsp:cNvPr id="0" name=""/>
        <dsp:cNvSpPr/>
      </dsp:nvSpPr>
      <dsp:spPr>
        <a:xfrm>
          <a:off x="3247399" y="531272"/>
          <a:ext cx="2848570" cy="2086199"/>
        </a:xfrm>
        <a:prstGeom prst="rect">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全网络的信道利用率的加权平均值。</a:t>
          </a:r>
        </a:p>
      </dsp:txBody>
      <dsp:txXfrm>
        <a:off x="3247399" y="531272"/>
        <a:ext cx="2848570" cy="208619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zh-CN" altLang="en-US" sz="1500" b="1" kern="1200" dirty="0">
              <a:solidFill>
                <a:schemeClr val="tx1"/>
              </a:solidFill>
              <a:latin typeface="微软雅黑" panose="020B0503020204020204" pitchFamily="34" charset="-122"/>
              <a:ea typeface="微软雅黑" panose="020B0503020204020204" pitchFamily="34" charset="-122"/>
            </a:rPr>
            <a:t>管理和维护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2141853"/>
        <a:ext cx="691870" cy="79525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oundRect">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法律上的 </a:t>
          </a:r>
          <a:r>
            <a:rPr lang="en-US" altLang="en-US" sz="2000" b="1" kern="1200" dirty="0">
              <a:latin typeface="微软雅黑" panose="020B0503020204020204" pitchFamily="34" charset="-122"/>
              <a:ea typeface="微软雅黑" panose="020B0503020204020204" pitchFamily="34" charset="-122"/>
            </a:rPr>
            <a:t>(de jure)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OSI</a:t>
          </a:r>
          <a:endParaRPr lang="zh-CN" altLang="en-US" sz="2000" b="1" kern="1200" dirty="0">
            <a:latin typeface="微软雅黑" panose="020B0503020204020204" pitchFamily="34" charset="-122"/>
            <a:ea typeface="微软雅黑" panose="020B0503020204020204" pitchFamily="34" charset="-122"/>
          </a:endParaRPr>
        </a:p>
      </dsp:txBody>
      <dsp:txXfrm>
        <a:off x="34726" y="43914"/>
        <a:ext cx="4894433" cy="641908"/>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oundRect">
          <a:avLst/>
        </a:prstGeom>
        <a:gradFill rotWithShape="0">
          <a:gsLst>
            <a:gs pos="0">
              <a:schemeClr val="accent4">
                <a:hueOff val="-4464770"/>
                <a:satOff val="26899"/>
                <a:lumOff val="2156"/>
                <a:alphaOff val="0"/>
                <a:tint val="50000"/>
                <a:satMod val="300000"/>
              </a:schemeClr>
            </a:gs>
            <a:gs pos="35000">
              <a:schemeClr val="accent4">
                <a:hueOff val="-4464770"/>
                <a:satOff val="26899"/>
                <a:lumOff val="2156"/>
                <a:alphaOff val="0"/>
                <a:tint val="37000"/>
                <a:satMod val="300000"/>
              </a:schemeClr>
            </a:gs>
            <a:gs pos="100000">
              <a:schemeClr val="accent4">
                <a:hueOff val="-4464770"/>
                <a:satOff val="26899"/>
                <a:lumOff val="215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事实上的 </a:t>
          </a:r>
          <a:r>
            <a:rPr lang="en-US" altLang="en-US" sz="2000" b="1" kern="1200" dirty="0">
              <a:latin typeface="微软雅黑" panose="020B0503020204020204" pitchFamily="34" charset="-122"/>
              <a:ea typeface="微软雅黑" panose="020B0503020204020204" pitchFamily="34" charset="-122"/>
            </a:rPr>
            <a:t>(de facto)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TCP/IP</a:t>
          </a:r>
          <a:endParaRPr lang="zh-CN" altLang="en-US" sz="2000" b="1" kern="1200" dirty="0">
            <a:latin typeface="微软雅黑" panose="020B0503020204020204" pitchFamily="34" charset="-122"/>
            <a:ea typeface="微软雅黑" panose="020B0503020204020204" pitchFamily="34" charset="-122"/>
          </a:endParaRPr>
        </a:p>
      </dsp:txBody>
      <dsp:txXfrm>
        <a:off x="34726" y="1384555"/>
        <a:ext cx="4894433" cy="641908"/>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获得了最广泛的应用。</a:t>
          </a:r>
        </a:p>
      </dsp:txBody>
      <dsp:txXfrm>
        <a:off x="0" y="2061189"/>
        <a:ext cx="4963885" cy="62928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55ABF-AFD4-4429-AC0C-B179A1BF75DA}">
      <dsp:nvSpPr>
        <dsp:cNvPr id="0" name=""/>
        <dsp:cNvSpPr/>
      </dsp:nvSpPr>
      <dsp:spPr>
        <a:xfrm>
          <a:off x="0" y="746775"/>
          <a:ext cx="8128000" cy="1209600"/>
        </a:xfrm>
        <a:prstGeom prst="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1788D26-F979-4FB7-8A96-4711D82825B8}">
      <dsp:nvSpPr>
        <dsp:cNvPr id="0" name=""/>
        <dsp:cNvSpPr/>
      </dsp:nvSpPr>
      <dsp:spPr>
        <a:xfrm>
          <a:off x="406400" y="38295"/>
          <a:ext cx="5689600" cy="141696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文字描述：便于人来阅读和理解。</a:t>
          </a:r>
        </a:p>
      </dsp:txBody>
      <dsp:txXfrm>
        <a:off x="475570" y="107465"/>
        <a:ext cx="5551260" cy="1278620"/>
      </dsp:txXfrm>
    </dsp:sp>
    <dsp:sp modelId="{3072F165-7A76-46AC-BCC0-0FC97CA5F9F5}">
      <dsp:nvSpPr>
        <dsp:cNvPr id="0" name=""/>
        <dsp:cNvSpPr/>
      </dsp:nvSpPr>
      <dsp:spPr>
        <a:xfrm>
          <a:off x="0" y="2924055"/>
          <a:ext cx="8128000" cy="1209600"/>
        </a:xfrm>
        <a:prstGeom prst="rect">
          <a:avLst/>
        </a:prstGeom>
        <a:solidFill>
          <a:schemeClr val="lt1">
            <a:alpha val="90000"/>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F367B3BE-A2DF-4CEA-8C18-99C09218A893}">
      <dsp:nvSpPr>
        <dsp:cNvPr id="0" name=""/>
        <dsp:cNvSpPr/>
      </dsp:nvSpPr>
      <dsp:spPr>
        <a:xfrm>
          <a:off x="406400" y="2215575"/>
          <a:ext cx="5689600" cy="1416960"/>
        </a:xfrm>
        <a:prstGeom prst="roundRect">
          <a:avLst/>
        </a:prstGeom>
        <a:solidFill>
          <a:schemeClr val="accent5">
            <a:hueOff val="-9933876"/>
            <a:satOff val="39811"/>
            <a:lumOff val="862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rgbClr val="000066"/>
              </a:solidFill>
              <a:latin typeface="微软雅黑" panose="020B0503020204020204" pitchFamily="34" charset="-122"/>
              <a:ea typeface="微软雅黑" panose="020B0503020204020204" pitchFamily="34" charset="-122"/>
            </a:rPr>
            <a:t>程序代码：让计算机能够理解。</a:t>
          </a:r>
        </a:p>
      </dsp:txBody>
      <dsp:txXfrm>
        <a:off x="475570" y="2284745"/>
        <a:ext cx="5551260" cy="127862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33D2C-A9D6-4FB9-868E-7A2772597538}">
      <dsp:nvSpPr>
        <dsp:cNvPr id="0" name=""/>
        <dsp:cNvSpPr/>
      </dsp:nvSpPr>
      <dsp:spPr>
        <a:xfrm>
          <a:off x="285727" y="396795"/>
          <a:ext cx="5524544" cy="1891150"/>
        </a:xfrm>
        <a:prstGeom prst="rect">
          <a:avLst/>
        </a:prstGeom>
        <a:solidFill>
          <a:schemeClr val="tx2">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F411F94-BA29-40FB-AB99-7CD7DB1CFA05}">
      <dsp:nvSpPr>
        <dsp:cNvPr id="0" name=""/>
        <dsp:cNvSpPr/>
      </dsp:nvSpPr>
      <dsp:spPr>
        <a:xfrm>
          <a:off x="803796" y="582892"/>
          <a:ext cx="2089139" cy="1617856"/>
        </a:xfrm>
        <a:prstGeom prst="rect">
          <a:avLst/>
        </a:prstGeom>
        <a:gradFill rotWithShape="1">
          <a:gsLst>
            <a:gs pos="0">
              <a:schemeClr val="accent2">
                <a:tint val="50000"/>
                <a:satMod val="300000"/>
              </a:schemeClr>
            </a:gs>
            <a:gs pos="35000">
              <a:schemeClr val="accent2">
                <a:tint val="37000"/>
                <a:satMod val="300000"/>
              </a:schemeClr>
            </a:gs>
            <a:gs pos="100000">
              <a:schemeClr val="accent2">
                <a:tint val="15000"/>
                <a:satMod val="350000"/>
              </a:schemeClr>
            </a:gs>
          </a:gsLst>
          <a:lin ang="16200000" scaled="1"/>
        </a:gradFill>
        <a:ln w="9525" cap="flat" cmpd="sng" algn="ctr">
          <a:solidFill>
            <a:schemeClr val="accent2">
              <a:shade val="95000"/>
              <a:satMod val="105000"/>
            </a:schemeClr>
          </a:solidFill>
          <a:prstDash val="solid"/>
        </a:ln>
        <a:effectLst>
          <a:outerShdw blurRad="40000" dist="20000" dir="5400000" rotWithShape="0">
            <a:srgbClr val="000000">
              <a:alpha val="38000"/>
            </a:srgbClr>
          </a:outerShdw>
        </a:effectLst>
      </dsp:spPr>
      <dsp:style>
        <a:lnRef idx="1">
          <a:schemeClr val="accent2"/>
        </a:lnRef>
        <a:fillRef idx="2">
          <a:schemeClr val="accent2"/>
        </a:fillRef>
        <a:effectRef idx="1">
          <a:schemeClr val="accent2"/>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各层之间是独立的。</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灵活性好。</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结构上可分割开。</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易于实现和维护</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能促进标准化工作。</a:t>
          </a:r>
        </a:p>
      </dsp:txBody>
      <dsp:txXfrm>
        <a:off x="803796" y="582892"/>
        <a:ext cx="2089139" cy="1617856"/>
      </dsp:txXfrm>
    </dsp:sp>
    <dsp:sp modelId="{CB7DDDF6-2C8B-4B30-A06C-1EA5DB141FBA}">
      <dsp:nvSpPr>
        <dsp:cNvPr id="0" name=""/>
        <dsp:cNvSpPr/>
      </dsp:nvSpPr>
      <dsp:spPr>
        <a:xfrm>
          <a:off x="3201159" y="580999"/>
          <a:ext cx="2110466" cy="1617856"/>
        </a:xfrm>
        <a:prstGeom prst="rect">
          <a:avLst/>
        </a:prstGeom>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atMod val="105000"/>
            </a:schemeClr>
          </a:solidFill>
          <a:prstDash val="solid"/>
        </a:ln>
        <a:effectLst>
          <a:outerShdw blurRad="40000" dist="20000" dir="5400000" rotWithShape="0">
            <a:srgbClr val="000000">
              <a:alpha val="38000"/>
            </a:srgbClr>
          </a:outerShdw>
        </a:effectLst>
      </dsp:spPr>
      <dsp:style>
        <a:lnRef idx="1">
          <a:schemeClr val="accent3"/>
        </a:lnRef>
        <a:fillRef idx="2">
          <a:schemeClr val="accent3"/>
        </a:fillRef>
        <a:effectRef idx="1">
          <a:schemeClr val="accent3"/>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有些功能会重复出现，因而产生了额外开销。</a:t>
          </a:r>
          <a:endParaRPr lang="en-US" altLang="zh-CN" sz="1600" b="1" kern="1200" dirty="0">
            <a:latin typeface="微软雅黑" panose="020B0503020204020204" pitchFamily="34" charset="-122"/>
            <a:ea typeface="微软雅黑" panose="020B0503020204020204" pitchFamily="34" charset="-122"/>
          </a:endParaRPr>
        </a:p>
      </dsp:txBody>
      <dsp:txXfrm>
        <a:off x="3201159" y="580999"/>
        <a:ext cx="2110466" cy="1617856"/>
      </dsp:txXfrm>
    </dsp:sp>
    <dsp:sp modelId="{DF706164-FCCA-4F26-8B31-EABB82ABC165}">
      <dsp:nvSpPr>
        <dsp:cNvPr id="0" name=""/>
        <dsp:cNvSpPr/>
      </dsp:nvSpPr>
      <dsp:spPr>
        <a:xfrm>
          <a:off x="0" y="18334"/>
          <a:ext cx="715053" cy="715053"/>
        </a:xfrm>
        <a:prstGeom prst="plus">
          <a:avLst>
            <a:gd name="adj" fmla="val 32810"/>
          </a:avLst>
        </a:prstGeom>
        <a:solidFill>
          <a:srgbClr val="990033"/>
        </a:solidFill>
        <a:ln w="25400" cap="flat" cmpd="sng" algn="ctr">
          <a:solidFill>
            <a:srgbClr val="990033"/>
          </a:solidFill>
          <a:prstDash val="solid"/>
        </a:ln>
        <a:effectLst/>
      </dsp:spPr>
      <dsp:style>
        <a:lnRef idx="2">
          <a:scrgbClr r="0" g="0" b="0"/>
        </a:lnRef>
        <a:fillRef idx="1">
          <a:scrgbClr r="0" g="0" b="0"/>
        </a:fillRef>
        <a:effectRef idx="0">
          <a:scrgbClr r="0" g="0" b="0"/>
        </a:effectRef>
        <a:fontRef idx="minor">
          <a:schemeClr val="lt1"/>
        </a:fontRef>
      </dsp:style>
    </dsp:sp>
    <dsp:sp modelId="{93B3F9F7-5DFA-451D-8AF0-C886EF2184F0}">
      <dsp:nvSpPr>
        <dsp:cNvPr id="0" name=""/>
        <dsp:cNvSpPr/>
      </dsp:nvSpPr>
      <dsp:spPr>
        <a:xfrm>
          <a:off x="5416478" y="257945"/>
          <a:ext cx="672991" cy="230628"/>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CF821AC-F873-42D9-B901-FF50109FC337}">
      <dsp:nvSpPr>
        <dsp:cNvPr id="0" name=""/>
        <dsp:cNvSpPr/>
      </dsp:nvSpPr>
      <dsp:spPr>
        <a:xfrm>
          <a:off x="3047999" y="621427"/>
          <a:ext cx="420" cy="1545208"/>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0F44A1-54FE-446F-9390-56E51903722C}">
      <dsp:nvSpPr>
        <dsp:cNvPr id="0" name=""/>
        <dsp:cNvSpPr/>
      </dsp:nvSpPr>
      <dsp:spPr>
        <a:xfrm>
          <a:off x="0" y="335984"/>
          <a:ext cx="1250156" cy="625078"/>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a:latin typeface="微软雅黑" panose="020B0503020204020204" pitchFamily="34" charset="-122"/>
              <a:ea typeface="微软雅黑" panose="020B0503020204020204" pitchFamily="34" charset="-122"/>
            </a:rPr>
            <a:t>协议</a:t>
          </a:r>
          <a:endParaRPr lang="zh-CN" altLang="en-US" sz="2000" b="1" kern="1200" dirty="0">
            <a:latin typeface="微软雅黑" panose="020B0503020204020204" pitchFamily="34" charset="-122"/>
            <a:ea typeface="微软雅黑" panose="020B0503020204020204" pitchFamily="34" charset="-122"/>
          </a:endParaRPr>
        </a:p>
      </dsp:txBody>
      <dsp:txXfrm>
        <a:off x="18308" y="354292"/>
        <a:ext cx="1213540" cy="588462"/>
      </dsp:txXfrm>
    </dsp:sp>
    <dsp:sp modelId="{5F5FD024-96B9-4927-9522-4793C366CCDF}">
      <dsp:nvSpPr>
        <dsp:cNvPr id="0" name=""/>
        <dsp:cNvSpPr/>
      </dsp:nvSpPr>
      <dsp:spPr>
        <a:xfrm>
          <a:off x="0" y="961062"/>
          <a:ext cx="125015" cy="564183"/>
        </a:xfrm>
        <a:custGeom>
          <a:avLst/>
          <a:gdLst/>
          <a:ahLst/>
          <a:cxnLst/>
          <a:rect l="0" t="0" r="0" b="0"/>
          <a:pathLst>
            <a:path>
              <a:moveTo>
                <a:pt x="125015" y="0"/>
              </a:moveTo>
              <a:lnTo>
                <a:pt x="0" y="564183"/>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271D559-F991-45A8-861F-E02D43E73A7A}">
      <dsp:nvSpPr>
        <dsp:cNvPr id="0" name=""/>
        <dsp:cNvSpPr/>
      </dsp:nvSpPr>
      <dsp:spPr>
        <a:xfrm>
          <a:off x="0" y="1082027"/>
          <a:ext cx="3781032" cy="886435"/>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其实现保证了能够向上一层提供服务。</a:t>
          </a:r>
        </a:p>
      </dsp:txBody>
      <dsp:txXfrm>
        <a:off x="25963" y="1107990"/>
        <a:ext cx="3729106" cy="834509"/>
      </dsp:txXfrm>
    </dsp:sp>
    <dsp:sp modelId="{D504C716-6CF6-4108-8639-E75778C37519}">
      <dsp:nvSpPr>
        <dsp:cNvPr id="0" name=""/>
        <dsp:cNvSpPr/>
      </dsp:nvSpPr>
      <dsp:spPr>
        <a:xfrm>
          <a:off x="0" y="961062"/>
          <a:ext cx="125015" cy="1645218"/>
        </a:xfrm>
        <a:custGeom>
          <a:avLst/>
          <a:gdLst/>
          <a:ahLst/>
          <a:cxnLst/>
          <a:rect l="0" t="0" r="0" b="0"/>
          <a:pathLst>
            <a:path>
              <a:moveTo>
                <a:pt x="125015" y="0"/>
              </a:moveTo>
              <a:lnTo>
                <a:pt x="0" y="1645218"/>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B24467C9-0F5C-4007-8028-B7B163F30ADF}">
      <dsp:nvSpPr>
        <dsp:cNvPr id="0" name=""/>
        <dsp:cNvSpPr/>
      </dsp:nvSpPr>
      <dsp:spPr>
        <a:xfrm>
          <a:off x="0" y="2160037"/>
          <a:ext cx="3781032" cy="892486"/>
        </a:xfrm>
        <a:prstGeom prst="roundRect">
          <a:avLst>
            <a:gd name="adj" fmla="val 10000"/>
          </a:avLst>
        </a:prstGeom>
        <a:solidFill>
          <a:schemeClr val="lt1">
            <a:alpha val="90000"/>
            <a:hueOff val="0"/>
            <a:satOff val="0"/>
            <a:lumOff val="0"/>
            <a:alphaOff val="0"/>
          </a:schemeClr>
        </a:solidFill>
        <a:ln w="9525" cap="flat" cmpd="sng" algn="ctr">
          <a:solidFill>
            <a:schemeClr val="accent3">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对上面的服务用户是透明的。 </a:t>
          </a:r>
        </a:p>
      </dsp:txBody>
      <dsp:txXfrm>
        <a:off x="26140" y="2186177"/>
        <a:ext cx="3728752" cy="840206"/>
      </dsp:txXfrm>
    </dsp:sp>
    <dsp:sp modelId="{9164C2E8-A8A5-4BDA-B5B7-3599D5C7C4A2}">
      <dsp:nvSpPr>
        <dsp:cNvPr id="0" name=""/>
        <dsp:cNvSpPr/>
      </dsp:nvSpPr>
      <dsp:spPr>
        <a:xfrm>
          <a:off x="0" y="961062"/>
          <a:ext cx="125015" cy="2560269"/>
        </a:xfrm>
        <a:custGeom>
          <a:avLst/>
          <a:gdLst/>
          <a:ahLst/>
          <a:cxnLst/>
          <a:rect l="0" t="0" r="0" b="0"/>
          <a:pathLst>
            <a:path>
              <a:moveTo>
                <a:pt x="125015" y="0"/>
              </a:moveTo>
              <a:lnTo>
                <a:pt x="0" y="2560269"/>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8A735DB-4E1F-4605-8178-66A449AC1BB2}">
      <dsp:nvSpPr>
        <dsp:cNvPr id="0" name=""/>
        <dsp:cNvSpPr/>
      </dsp:nvSpPr>
      <dsp:spPr>
        <a:xfrm>
          <a:off x="0" y="3208793"/>
          <a:ext cx="3781032" cy="625078"/>
        </a:xfrm>
        <a:prstGeom prst="roundRect">
          <a:avLst>
            <a:gd name="adj" fmla="val 10000"/>
          </a:avLst>
        </a:prstGeom>
        <a:solidFill>
          <a:schemeClr val="lt1">
            <a:alpha val="90000"/>
            <a:hueOff val="0"/>
            <a:satOff val="0"/>
            <a:lumOff val="0"/>
            <a:alphaOff val="0"/>
          </a:schemeClr>
        </a:solidFill>
        <a:ln w="9525" cap="flat" cmpd="sng" algn="ctr">
          <a:solidFill>
            <a:schemeClr val="accent4">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是“水平的”</a:t>
          </a:r>
        </a:p>
      </dsp:txBody>
      <dsp:txXfrm>
        <a:off x="18308" y="3227101"/>
        <a:ext cx="3744416" cy="588462"/>
      </dsp:txXfrm>
    </dsp:sp>
    <dsp:sp modelId="{CF6D9EBE-6D4F-45DB-B63C-66E318350665}">
      <dsp:nvSpPr>
        <dsp:cNvPr id="0" name=""/>
        <dsp:cNvSpPr/>
      </dsp:nvSpPr>
      <dsp:spPr>
        <a:xfrm>
          <a:off x="4094563" y="335984"/>
          <a:ext cx="1250156" cy="625078"/>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服务</a:t>
          </a:r>
          <a:endParaRPr lang="zh-CN" altLang="en-US" sz="1400" b="1" kern="1200" dirty="0">
            <a:latin typeface="微软雅黑" panose="020B0503020204020204" pitchFamily="34" charset="-122"/>
            <a:ea typeface="微软雅黑" panose="020B0503020204020204" pitchFamily="34" charset="-122"/>
          </a:endParaRPr>
        </a:p>
      </dsp:txBody>
      <dsp:txXfrm>
        <a:off x="4112871" y="354292"/>
        <a:ext cx="1213540" cy="588462"/>
      </dsp:txXfrm>
    </dsp:sp>
    <dsp:sp modelId="{D73DB642-839F-46E4-BEFB-357122DA8B2A}">
      <dsp:nvSpPr>
        <dsp:cNvPr id="0" name=""/>
        <dsp:cNvSpPr/>
      </dsp:nvSpPr>
      <dsp:spPr>
        <a:xfrm>
          <a:off x="4219579" y="961062"/>
          <a:ext cx="126007" cy="600534"/>
        </a:xfrm>
        <a:custGeom>
          <a:avLst/>
          <a:gdLst/>
          <a:ahLst/>
          <a:cxnLst/>
          <a:rect l="0" t="0" r="0" b="0"/>
          <a:pathLst>
            <a:path>
              <a:moveTo>
                <a:pt x="0" y="0"/>
              </a:moveTo>
              <a:lnTo>
                <a:pt x="0" y="600534"/>
              </a:lnTo>
              <a:lnTo>
                <a:pt x="126007" y="600534"/>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66E8205-074B-465F-84D3-7E9C2A4B087A}">
      <dsp:nvSpPr>
        <dsp:cNvPr id="0" name=""/>
        <dsp:cNvSpPr/>
      </dsp:nvSpPr>
      <dsp:spPr>
        <a:xfrm>
          <a:off x="4345587" y="1117332"/>
          <a:ext cx="3782412" cy="888529"/>
        </a:xfrm>
        <a:prstGeom prst="roundRect">
          <a:avLst>
            <a:gd name="adj" fmla="val 10000"/>
          </a:avLst>
        </a:prstGeom>
        <a:solidFill>
          <a:schemeClr val="lt1">
            <a:alpha val="90000"/>
            <a:hueOff val="0"/>
            <a:satOff val="0"/>
            <a:lumOff val="0"/>
            <a:alphaOff val="0"/>
          </a:schemeClr>
        </a:solidFill>
        <a:ln w="9525" cap="flat" cmpd="sng" algn="ctr">
          <a:solidFill>
            <a:schemeClr val="accent5">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上层使用服务原语获得下层所提供的服务。</a:t>
          </a:r>
        </a:p>
      </dsp:txBody>
      <dsp:txXfrm>
        <a:off x="4371611" y="1143356"/>
        <a:ext cx="3730364" cy="836481"/>
      </dsp:txXfrm>
    </dsp:sp>
    <dsp:sp modelId="{C7786CBF-29A7-4F46-ACE1-BFAF2ED2906F}">
      <dsp:nvSpPr>
        <dsp:cNvPr id="0" name=""/>
        <dsp:cNvSpPr/>
      </dsp:nvSpPr>
      <dsp:spPr>
        <a:xfrm>
          <a:off x="4219579" y="961062"/>
          <a:ext cx="126007" cy="1647312"/>
        </a:xfrm>
        <a:custGeom>
          <a:avLst/>
          <a:gdLst/>
          <a:ahLst/>
          <a:cxnLst/>
          <a:rect l="0" t="0" r="0" b="0"/>
          <a:pathLst>
            <a:path>
              <a:moveTo>
                <a:pt x="0" y="0"/>
              </a:moveTo>
              <a:lnTo>
                <a:pt x="0" y="1647312"/>
              </a:lnTo>
              <a:lnTo>
                <a:pt x="126007" y="1647312"/>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4FAB220-39C0-4BB8-B879-AEB1A16B7CDC}">
      <dsp:nvSpPr>
        <dsp:cNvPr id="0" name=""/>
        <dsp:cNvSpPr/>
      </dsp:nvSpPr>
      <dsp:spPr>
        <a:xfrm>
          <a:off x="4345587" y="2162131"/>
          <a:ext cx="3782412" cy="892486"/>
        </a:xfrm>
        <a:prstGeom prst="roundRect">
          <a:avLst>
            <a:gd name="adj" fmla="val 10000"/>
          </a:avLst>
        </a:prstGeom>
        <a:solidFill>
          <a:schemeClr val="lt1">
            <a:alpha val="90000"/>
            <a:hueOff val="0"/>
            <a:satOff val="0"/>
            <a:lumOff val="0"/>
            <a:alphaOff val="0"/>
          </a:schemeClr>
        </a:solidFill>
        <a:ln w="9525" cap="flat" cmpd="sng" algn="ctr">
          <a:solidFill>
            <a:schemeClr val="accent6">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上面的服务用户只能看见服务，无法看见下面的协议。</a:t>
          </a:r>
        </a:p>
      </dsp:txBody>
      <dsp:txXfrm>
        <a:off x="4371727" y="2188271"/>
        <a:ext cx="3730132" cy="840206"/>
      </dsp:txXfrm>
    </dsp:sp>
    <dsp:sp modelId="{55CE1C91-58A7-4FD4-86EE-26622EF07DF3}">
      <dsp:nvSpPr>
        <dsp:cNvPr id="0" name=""/>
        <dsp:cNvSpPr/>
      </dsp:nvSpPr>
      <dsp:spPr>
        <a:xfrm>
          <a:off x="4219579" y="961062"/>
          <a:ext cx="126007" cy="2562364"/>
        </a:xfrm>
        <a:custGeom>
          <a:avLst/>
          <a:gdLst/>
          <a:ahLst/>
          <a:cxnLst/>
          <a:rect l="0" t="0" r="0" b="0"/>
          <a:pathLst>
            <a:path>
              <a:moveTo>
                <a:pt x="0" y="0"/>
              </a:moveTo>
              <a:lnTo>
                <a:pt x="0" y="2562364"/>
              </a:lnTo>
              <a:lnTo>
                <a:pt x="126007" y="2562364"/>
              </a:lnTo>
            </a:path>
          </a:pathLst>
        </a:custGeom>
        <a:noFill/>
        <a:ln w="25400" cap="flat" cmpd="sng" algn="ctr">
          <a:solidFill>
            <a:schemeClr val="accent2">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747B9FB-319E-4006-A500-0E79D539374F}">
      <dsp:nvSpPr>
        <dsp:cNvPr id="0" name=""/>
        <dsp:cNvSpPr/>
      </dsp:nvSpPr>
      <dsp:spPr>
        <a:xfrm>
          <a:off x="4345587" y="3210887"/>
          <a:ext cx="3782412" cy="625078"/>
        </a:xfrm>
        <a:prstGeom prst="roundRect">
          <a:avLst>
            <a:gd name="adj" fmla="val 10000"/>
          </a:avLst>
        </a:prstGeom>
        <a:solidFill>
          <a:schemeClr val="lt1">
            <a:alpha val="90000"/>
            <a:hueOff val="0"/>
            <a:satOff val="0"/>
            <a:lumOff val="0"/>
            <a:alphaOff val="0"/>
          </a:schemeClr>
        </a:solidFill>
        <a:ln w="9525" cap="flat"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是“垂直的”</a:t>
          </a:r>
        </a:p>
      </dsp:txBody>
      <dsp:txXfrm>
        <a:off x="4363895" y="3229195"/>
        <a:ext cx="3745796" cy="588462"/>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1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defRPr>
            </a:lvl1pPr>
          </a:lstStyle>
          <a:p>
            <a:pPr>
              <a:defRPr/>
            </a:pPr>
            <a:fld id="{FA4006E8-8395-4ADA-895B-2208204B7025}" type="datetimeFigureOut">
              <a:rPr lang="zh-CN" altLang="en-US"/>
              <a:pPr>
                <a:defRPr/>
              </a:pPr>
              <a:t>2025/11/29</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defRPr>
            </a:lvl1pPr>
          </a:lstStyle>
          <a:p>
            <a:pPr>
              <a:defRPr/>
            </a:pPr>
            <a:fld id="{CD1CD96A-A6EF-4B0B-9885-C22D65D2CD20}" type="slidenum">
              <a:rPr lang="zh-CN" altLang="en-US"/>
              <a:pPr>
                <a:defRPr/>
              </a:pPr>
              <a:t>‹#›</a:t>
            </a:fld>
            <a:endParaRPr lang="zh-CN" altLang="en-US"/>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pPr fontAlgn="base">
                <a:spcBef>
                  <a:spcPct val="0"/>
                </a:spcBef>
                <a:spcAft>
                  <a:spcPct val="0"/>
                </a:spcAft>
              </a:pPr>
              <a:t>2</a:t>
            </a:fld>
            <a:endParaRPr lang="zh-CN" altLang="en-US"/>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169285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34437511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49</a:t>
            </a:fld>
            <a:endParaRPr lang="zh-CN" altLang="en-US"/>
          </a:p>
        </p:txBody>
      </p:sp>
    </p:spTree>
    <p:extLst>
      <p:ext uri="{BB962C8B-B14F-4D97-AF65-F5344CB8AC3E}">
        <p14:creationId xmlns:p14="http://schemas.microsoft.com/office/powerpoint/2010/main" val="3395758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50</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89</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1770678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42192800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118</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138</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139</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145</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sp>
        <p:nvSpPr>
          <p:cNvPr id="4" name="AutoShape 5"/>
          <p:cNvSpPr>
            <a:spLocks noChangeArrowheads="1"/>
          </p:cNvSpPr>
          <p:nvPr userDrawn="1"/>
        </p:nvSpPr>
        <p:spPr bwMode="auto">
          <a:xfrm>
            <a:off x="0" y="142544"/>
            <a:ext cx="9144000" cy="354012"/>
          </a:xfrm>
          <a:prstGeom prst="rect">
            <a:avLst/>
          </a:prstGeom>
          <a:solidFill>
            <a:srgbClr val="0089FA"/>
          </a:solidFill>
          <a:ln>
            <a:noFill/>
          </a:ln>
          <a:effectLst/>
        </p:spPr>
        <p:txBody>
          <a:bodyPr wrap="none" anchor="ctr"/>
          <a:lstStyle/>
          <a:p>
            <a:endParaRPr lang="zh-CN" altLang="en-US" dirty="0"/>
          </a:p>
        </p:txBody>
      </p:sp>
      <p:sp>
        <p:nvSpPr>
          <p:cNvPr id="8" name="内容占位符 7"/>
          <p:cNvSpPr>
            <a:spLocks noGrp="1"/>
          </p:cNvSpPr>
          <p:nvPr>
            <p:ph sz="quarter" idx="10" hasCustomPrompt="1"/>
          </p:nvPr>
        </p:nvSpPr>
        <p:spPr>
          <a:xfrm>
            <a:off x="466344" y="504285"/>
            <a:ext cx="8129016" cy="4172489"/>
          </a:xfrm>
          <a:prstGeom prst="rect">
            <a:avLst/>
          </a:prstGeom>
        </p:spPr>
        <p:txBody>
          <a:bodyPr/>
          <a:lstStyle>
            <a:lvl1pPr marL="0" indent="-180000">
              <a:lnSpc>
                <a:spcPct val="150000"/>
              </a:lnSpc>
              <a:spcBef>
                <a:spcPts val="0"/>
              </a:spcBef>
              <a:buClrTx/>
              <a:buFont typeface="Wingdings" panose="05000000000000000000" pitchFamily="2" charset="2"/>
              <a:buChar char="§"/>
              <a:defRPr lang="zh-CN" altLang="en-US" sz="1600" b="0" kern="1200" baseline="0" dirty="0" smtClean="0">
                <a:solidFill>
                  <a:schemeClr val="tx1"/>
                </a:solidFill>
                <a:latin typeface="Montserrat" panose="00000500000000000000" pitchFamily="2" charset="0"/>
                <a:ea typeface="微软雅黑" pitchFamily="34" charset="-122"/>
                <a:cs typeface="+mn-cs"/>
              </a:defRPr>
            </a:lvl1pPr>
            <a:lvl2pPr marL="360000" indent="-180000">
              <a:lnSpc>
                <a:spcPct val="150000"/>
              </a:lnSpc>
              <a:spcBef>
                <a:spcPts val="0"/>
              </a:spcBef>
              <a:buClrTx/>
              <a:buFont typeface="Wingdings" panose="05000000000000000000" pitchFamily="2" charset="2"/>
              <a:buChar char=""/>
              <a:defRPr sz="1400" b="0" baseline="0">
                <a:latin typeface="Montserrat" panose="00000500000000000000" pitchFamily="2" charset="0"/>
                <a:ea typeface="微软雅黑" panose="020B0503020204020204" pitchFamily="34" charset="-122"/>
              </a:defRPr>
            </a:lvl2pPr>
            <a:lvl3pPr marL="540000" indent="-180000">
              <a:lnSpc>
                <a:spcPct val="150000"/>
              </a:lnSpc>
              <a:spcBef>
                <a:spcPts val="0"/>
              </a:spcBef>
              <a:buClrTx/>
              <a:buFont typeface="Montserrat" panose="00000500000000000000" pitchFamily="2" charset="0"/>
              <a:buChar char="‐"/>
              <a:defRPr sz="1200" b="0" baseline="0">
                <a:latin typeface="Montserrat" panose="00000500000000000000" pitchFamily="2" charset="0"/>
                <a:ea typeface="微软雅黑" panose="020B0503020204020204" pitchFamily="34" charset="-122"/>
              </a:defRPr>
            </a:lvl3pPr>
            <a:lvl4pPr marL="720000" indent="-180000">
              <a:lnSpc>
                <a:spcPct val="150000"/>
              </a:lnSpc>
              <a:spcBef>
                <a:spcPts val="0"/>
              </a:spcBef>
              <a:defRPr sz="1200" b="0" baseline="0">
                <a:latin typeface="Montserrat" panose="00000500000000000000" pitchFamily="2" charset="0"/>
                <a:ea typeface="微软雅黑" panose="020B0503020204020204" pitchFamily="34" charset="-122"/>
              </a:defRPr>
            </a:lvl4pPr>
            <a:lvl5pPr marL="900000" indent="-180000">
              <a:lnSpc>
                <a:spcPct val="150000"/>
              </a:lnSpc>
              <a:spcBef>
                <a:spcPts val="0"/>
              </a:spcBef>
              <a:defRPr sz="1200" b="0" baseline="0">
                <a:latin typeface="Montserrat" panose="00000500000000000000" pitchFamily="2" charset="0"/>
                <a:ea typeface="微软雅黑" panose="020B0503020204020204" pitchFamily="34" charset="-122"/>
              </a:defRPr>
            </a:lvl5pPr>
          </a:lstStyle>
          <a:p>
            <a:pPr lvl="0"/>
            <a:r>
              <a:rPr lang="zh-CN" altLang="en-US" dirty="0"/>
              <a:t>编辑母版文本样式</a:t>
            </a:r>
          </a:p>
          <a:p>
            <a:pPr lvl="1"/>
            <a:r>
              <a:rPr lang="zh-CN" altLang="en-US" dirty="0"/>
              <a:t>第二级</a:t>
            </a:r>
          </a:p>
          <a:p>
            <a:pPr lvl="2"/>
            <a:r>
              <a:rPr lang="zh-CN" altLang="en-US" dirty="0"/>
              <a:t>第三级</a:t>
            </a:r>
          </a:p>
        </p:txBody>
      </p:sp>
      <p:sp>
        <p:nvSpPr>
          <p:cNvPr id="6" name="文本占位符 11"/>
          <p:cNvSpPr>
            <a:spLocks noGrp="1"/>
          </p:cNvSpPr>
          <p:nvPr>
            <p:ph type="body" sz="quarter" idx="11" hasCustomPrompt="1"/>
          </p:nvPr>
        </p:nvSpPr>
        <p:spPr>
          <a:xfrm>
            <a:off x="0" y="150273"/>
            <a:ext cx="6632575" cy="338554"/>
          </a:xfrm>
          <a:prstGeom prst="rect">
            <a:avLst/>
          </a:prstGeom>
        </p:spPr>
        <p:txBody>
          <a:bodyPr anchor="ctr">
            <a:spAutoFit/>
          </a:bodyPr>
          <a:lstStyle>
            <a:lvl1pPr marL="0" indent="0" algn="l">
              <a:buFontTx/>
              <a:buNone/>
              <a:defRPr sz="1600" b="0" baseline="0">
                <a:solidFill>
                  <a:schemeClr val="bg1"/>
                </a:solidFill>
                <a:latin typeface="Montserrat" panose="00000500000000000000" pitchFamily="2" charset="0"/>
                <a:ea typeface="微软雅黑" panose="020B0503020204020204" pitchFamily="34" charset="-122"/>
              </a:defRPr>
            </a:lvl1pPr>
          </a:lstStyle>
          <a:p>
            <a:pPr lvl="0"/>
            <a:r>
              <a:rPr lang="zh-CN" altLang="en-US" dirty="0"/>
              <a:t>编辑母版文本样式</a:t>
            </a:r>
          </a:p>
        </p:txBody>
      </p:sp>
    </p:spTree>
    <p:extLst>
      <p:ext uri="{BB962C8B-B14F-4D97-AF65-F5344CB8AC3E}">
        <p14:creationId xmlns:p14="http://schemas.microsoft.com/office/powerpoint/2010/main" val="81862355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716237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9" name="Line 3"/>
          <p:cNvSpPr>
            <a:spLocks noChangeShapeType="1"/>
          </p:cNvSpPr>
          <p:nvPr userDrawn="1"/>
        </p:nvSpPr>
        <p:spPr bwMode="auto">
          <a:xfrm>
            <a:off x="72000" y="4895750"/>
            <a:ext cx="2808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1" name="Rectangle 5"/>
          <p:cNvSpPr>
            <a:spLocks noChangeArrowheads="1"/>
          </p:cNvSpPr>
          <p:nvPr userDrawn="1"/>
        </p:nvSpPr>
        <p:spPr bwMode="auto">
          <a:xfrm>
            <a:off x="2900111" y="4764945"/>
            <a:ext cx="149271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0070C0"/>
                </a:solidFill>
                <a:latin typeface="微软雅黑 Light" panose="020B0502040204020203" pitchFamily="34" charset="-122"/>
                <a:ea typeface="微软雅黑 Light" panose="020B0502040204020203" pitchFamily="34" charset="-122"/>
              </a:rPr>
              <a:t>计算机网络 </a:t>
            </a:r>
            <a:r>
              <a:rPr lang="en-US" altLang="zh-CN" sz="1100" b="0" dirty="0">
                <a:solidFill>
                  <a:srgbClr val="0070C0"/>
                </a:solidFill>
                <a:latin typeface="微软雅黑 Light" panose="020B0502040204020203" pitchFamily="34" charset="-122"/>
                <a:ea typeface="微软雅黑 Light" panose="020B0502040204020203" pitchFamily="34" charset="-122"/>
              </a:rPr>
              <a:t>(</a:t>
            </a:r>
            <a:r>
              <a:rPr lang="zh-CN" altLang="en-US" sz="1100" b="0" dirty="0">
                <a:solidFill>
                  <a:srgbClr val="0070C0"/>
                </a:solidFill>
                <a:latin typeface="微软雅黑 Light" panose="020B0502040204020203" pitchFamily="34" charset="-122"/>
                <a:ea typeface="微软雅黑 Light" panose="020B0502040204020203" pitchFamily="34" charset="-122"/>
              </a:rPr>
              <a:t>第 </a:t>
            </a:r>
            <a:r>
              <a:rPr lang="en-US" altLang="zh-CN" sz="1100" b="0" dirty="0">
                <a:solidFill>
                  <a:srgbClr val="0070C0"/>
                </a:solidFill>
                <a:latin typeface="微软雅黑 Light" panose="020B0502040204020203" pitchFamily="34" charset="-122"/>
                <a:ea typeface="微软雅黑 Light" panose="020B0502040204020203" pitchFamily="34" charset="-122"/>
              </a:rPr>
              <a:t>8 </a:t>
            </a:r>
            <a:r>
              <a:rPr lang="zh-CN" altLang="en-US" sz="1100" b="0" dirty="0">
                <a:solidFill>
                  <a:srgbClr val="0070C0"/>
                </a:solidFill>
                <a:latin typeface="微软雅黑 Light" panose="020B0502040204020203" pitchFamily="34" charset="-122"/>
                <a:ea typeface="微软雅黑 Light" panose="020B0502040204020203" pitchFamily="34" charset="-122"/>
              </a:rPr>
              <a:t>版</a:t>
            </a:r>
            <a:r>
              <a:rPr lang="en-US" altLang="zh-CN" sz="1100" b="0" dirty="0">
                <a:solidFill>
                  <a:srgbClr val="0070C0"/>
                </a:solidFill>
                <a:latin typeface="微软雅黑 Light" panose="020B0502040204020203" pitchFamily="34" charset="-122"/>
                <a:ea typeface="微软雅黑 Light" panose="020B0502040204020203" pitchFamily="34" charset="-122"/>
              </a:rPr>
              <a:t>)</a:t>
            </a:r>
            <a:endParaRPr lang="fr-FR" altLang="zh-CN" sz="1100" b="0" dirty="0">
              <a:solidFill>
                <a:srgbClr val="0070C0"/>
              </a:solidFill>
              <a:latin typeface="微软雅黑 Light" panose="020B0502040204020203" pitchFamily="34" charset="-122"/>
              <a:ea typeface="微软雅黑 Light" panose="020B0502040204020203" pitchFamily="34" charset="-122"/>
            </a:endParaRPr>
          </a:p>
        </p:txBody>
      </p:sp>
      <p:sp>
        <p:nvSpPr>
          <p:cNvPr id="1032" name="椭圆 11"/>
          <p:cNvSpPr>
            <a:spLocks noChangeArrowheads="1"/>
          </p:cNvSpPr>
          <p:nvPr userDrawn="1"/>
        </p:nvSpPr>
        <p:spPr bwMode="auto">
          <a:xfrm>
            <a:off x="2794275" y="4852888"/>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sp>
        <p:nvSpPr>
          <p:cNvPr id="1033" name="Line 3"/>
          <p:cNvSpPr>
            <a:spLocks noChangeShapeType="1"/>
          </p:cNvSpPr>
          <p:nvPr userDrawn="1"/>
        </p:nvSpPr>
        <p:spPr bwMode="auto">
          <a:xfrm>
            <a:off x="6264000" y="4895750"/>
            <a:ext cx="2808000" cy="0"/>
          </a:xfrm>
          <a:prstGeom prst="line">
            <a:avLst/>
          </a:prstGeom>
          <a:noFill/>
          <a:ln w="12700" algn="ctr">
            <a:solidFill>
              <a:srgbClr val="84CFF5"/>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34" name="椭圆 13"/>
          <p:cNvSpPr>
            <a:spLocks noChangeArrowheads="1"/>
          </p:cNvSpPr>
          <p:nvPr userDrawn="1"/>
        </p:nvSpPr>
        <p:spPr bwMode="auto">
          <a:xfrm>
            <a:off x="6264000" y="4852888"/>
            <a:ext cx="85725" cy="85725"/>
          </a:xfrm>
          <a:prstGeom prst="ellipse">
            <a:avLst/>
          </a:prstGeom>
          <a:solidFill>
            <a:schemeClr val="bg1"/>
          </a:solidFill>
          <a:ln w="12700" algn="ctr">
            <a:solidFill>
              <a:srgbClr val="84CFF5"/>
            </a:solidFill>
            <a:round/>
            <a:headEnd/>
            <a:tailEnd/>
          </a:ln>
        </p:spPr>
        <p:txBody>
          <a:bodyPr/>
          <a:lstStyle/>
          <a:p>
            <a:endParaRPr lang="zh-CN" altLang="en-US">
              <a:latin typeface="Arial" charset="0"/>
            </a:endParaRPr>
          </a:p>
        </p:txBody>
      </p:sp>
      <p:pic>
        <p:nvPicPr>
          <p:cNvPr id="3" name="图片 2">
            <a:extLst>
              <a:ext uri="{FF2B5EF4-FFF2-40B4-BE49-F238E27FC236}">
                <a16:creationId xmlns:a16="http://schemas.microsoft.com/office/drawing/2014/main" id="{8E3144E1-1803-95B9-DE8E-6A9ECBCDA13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356000" y="4679750"/>
            <a:ext cx="432000" cy="432000"/>
          </a:xfrm>
          <a:prstGeom prst="ellipse">
            <a:avLst/>
          </a:prstGeom>
          <a:ln w="63500" cap="rnd">
            <a:no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5" name="文本框 4">
            <a:extLst>
              <a:ext uri="{FF2B5EF4-FFF2-40B4-BE49-F238E27FC236}">
                <a16:creationId xmlns:a16="http://schemas.microsoft.com/office/drawing/2014/main" id="{052DE74B-43FD-1E4B-6CE9-35E2A02D260B}"/>
              </a:ext>
            </a:extLst>
          </p:cNvPr>
          <p:cNvSpPr txBox="1"/>
          <p:nvPr userDrawn="1"/>
        </p:nvSpPr>
        <p:spPr>
          <a:xfrm>
            <a:off x="4751173" y="4764945"/>
            <a:ext cx="1532792"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dirty="0"/>
              <a:t>glplaman.github.io</a:t>
            </a:r>
            <a:endParaRPr lang="fr-FR" altLang="zh-CN" dirty="0"/>
          </a:p>
        </p:txBody>
      </p:sp>
    </p:spTree>
  </p:cSld>
  <p:clrMap bg1="lt1" tx1="dk1" bg2="lt2" tx2="dk2" accent1="accent1" accent2="accent2" accent3="accent3" accent4="accent4" accent5="accent5" accent6="accent6" hlink="hlink" folHlink="folHlink"/>
  <p:sldLayoutIdLst>
    <p:sldLayoutId id="2147483682" r:id="rId1"/>
    <p:sldLayoutId id="2147483675" r:id="rId2"/>
  </p:sldLayoutIdLst>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xStyles>
    <p:titleStyle>
      <a:lvl1pPr algn="ctr" rtl="0" fontAlgn="base">
        <a:spcBef>
          <a:spcPct val="0"/>
        </a:spcBef>
        <a:spcAft>
          <a:spcPct val="0"/>
        </a:spcAft>
        <a:defRPr sz="4400" kern="1200">
          <a:solidFill>
            <a:schemeClr val="tx1"/>
          </a:solidFill>
          <a:latin typeface="+mj-lt"/>
          <a:ea typeface="+mj-ea"/>
          <a:cs typeface="+mj-cs"/>
        </a:defRPr>
      </a:lvl1pPr>
      <a:lvl2pPr algn="ctr" rtl="0" fontAlgn="base">
        <a:spcBef>
          <a:spcPct val="0"/>
        </a:spcBef>
        <a:spcAft>
          <a:spcPct val="0"/>
        </a:spcAft>
        <a:defRPr sz="4400">
          <a:solidFill>
            <a:schemeClr val="tx1"/>
          </a:solidFill>
          <a:latin typeface="Calibri" pitchFamily="34" charset="0"/>
          <a:ea typeface="宋体" charset="-122"/>
        </a:defRPr>
      </a:lvl2pPr>
      <a:lvl3pPr algn="ctr" rtl="0" fontAlgn="base">
        <a:spcBef>
          <a:spcPct val="0"/>
        </a:spcBef>
        <a:spcAft>
          <a:spcPct val="0"/>
        </a:spcAft>
        <a:defRPr sz="4400">
          <a:solidFill>
            <a:schemeClr val="tx1"/>
          </a:solidFill>
          <a:latin typeface="Calibri" pitchFamily="34" charset="0"/>
          <a:ea typeface="宋体" charset="-122"/>
        </a:defRPr>
      </a:lvl3pPr>
      <a:lvl4pPr algn="ctr" rtl="0" fontAlgn="base">
        <a:spcBef>
          <a:spcPct val="0"/>
        </a:spcBef>
        <a:spcAft>
          <a:spcPct val="0"/>
        </a:spcAft>
        <a:defRPr sz="4400">
          <a:solidFill>
            <a:schemeClr val="tx1"/>
          </a:solidFill>
          <a:latin typeface="Calibri" pitchFamily="34" charset="0"/>
          <a:ea typeface="宋体" charset="-122"/>
        </a:defRPr>
      </a:lvl4pPr>
      <a:lvl5pPr algn="ctr" rtl="0" fontAlgn="base">
        <a:spcBef>
          <a:spcPct val="0"/>
        </a:spcBef>
        <a:spcAft>
          <a:spcPct val="0"/>
        </a:spcAft>
        <a:defRPr sz="4400">
          <a:solidFill>
            <a:schemeClr val="tx1"/>
          </a:solidFill>
          <a:latin typeface="Calibri" pitchFamily="34" charset="0"/>
          <a:ea typeface="宋体" charset="-122"/>
        </a:defRPr>
      </a:lvl5pPr>
      <a:lvl6pPr marL="457200" algn="ctr" rtl="0" fontAlgn="base">
        <a:spcBef>
          <a:spcPct val="0"/>
        </a:spcBef>
        <a:spcAft>
          <a:spcPct val="0"/>
        </a:spcAft>
        <a:defRPr sz="4400">
          <a:solidFill>
            <a:schemeClr val="tx1"/>
          </a:solidFill>
          <a:latin typeface="Calibri" pitchFamily="34" charset="0"/>
          <a:ea typeface="宋体" charset="-122"/>
        </a:defRPr>
      </a:lvl6pPr>
      <a:lvl7pPr marL="914400" algn="ctr" rtl="0" fontAlgn="base">
        <a:spcBef>
          <a:spcPct val="0"/>
        </a:spcBef>
        <a:spcAft>
          <a:spcPct val="0"/>
        </a:spcAft>
        <a:defRPr sz="4400">
          <a:solidFill>
            <a:schemeClr val="tx1"/>
          </a:solidFill>
          <a:latin typeface="Calibri" pitchFamily="34" charset="0"/>
          <a:ea typeface="宋体" charset="-122"/>
        </a:defRPr>
      </a:lvl7pPr>
      <a:lvl8pPr marL="1371600" algn="ctr" rtl="0" fontAlgn="base">
        <a:spcBef>
          <a:spcPct val="0"/>
        </a:spcBef>
        <a:spcAft>
          <a:spcPct val="0"/>
        </a:spcAft>
        <a:defRPr sz="4400">
          <a:solidFill>
            <a:schemeClr val="tx1"/>
          </a:solidFill>
          <a:latin typeface="Calibri" pitchFamily="34" charset="0"/>
          <a:ea typeface="宋体" charset="-122"/>
        </a:defRPr>
      </a:lvl8pPr>
      <a:lvl9pPr marL="1828800" algn="ctr" rtl="0" fontAlgn="base">
        <a:spcBef>
          <a:spcPct val="0"/>
        </a:spcBef>
        <a:spcAft>
          <a:spcPct val="0"/>
        </a:spcAft>
        <a:defRPr sz="4400">
          <a:solidFill>
            <a:schemeClr val="tx1"/>
          </a:solidFill>
          <a:latin typeface="Calibri" pitchFamily="34" charset="0"/>
          <a:ea typeface="宋体" charset="-122"/>
        </a:defRPr>
      </a:lvl9pPr>
    </p:titleStyle>
    <p:bodyStyle>
      <a:lvl1pPr marL="342900" indent="-342900" algn="l" rtl="0" fontAlgn="base">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fontAlgn="base">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fontAlgn="base">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fontAlgn="base">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fontAlgn="base">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wmf"/><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4.wmf"/></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wmf"/></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1.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45.jpe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44.png"/><Relationship Id="rId5" Type="http://schemas.microsoft.com/office/2007/relationships/hdphoto" Target="../media/hdphoto2.wdp"/><Relationship Id="rId4" Type="http://schemas.openxmlformats.org/officeDocument/2006/relationships/image" Target="../media/image43.png"/></Relationships>
</file>

<file path=ppt/slides/_rels/slide6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6.pn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2.png"/><Relationship Id="rId4" Type="http://schemas.openxmlformats.org/officeDocument/2006/relationships/image" Target="../media/image47.png"/><Relationship Id="rId9" Type="http://schemas.openxmlformats.org/officeDocument/2006/relationships/image" Target="../media/image5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6.wmf"/><Relationship Id="rId7"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image" Target="../media/image59.png"/><Relationship Id="rId5" Type="http://schemas.openxmlformats.org/officeDocument/2006/relationships/image" Target="../media/image54.png"/><Relationship Id="rId10" Type="http://schemas.openxmlformats.org/officeDocument/2006/relationships/image" Target="../media/image58.png"/><Relationship Id="rId4" Type="http://schemas.openxmlformats.org/officeDocument/2006/relationships/image" Target="../media/image53.png"/><Relationship Id="rId9"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1.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0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1.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image" Target="../media/image17.wmf"/><Relationship Id="rId5" Type="http://schemas.openxmlformats.org/officeDocument/2006/relationships/image" Target="../media/image37.png"/><Relationship Id="rId4" Type="http://schemas.openxmlformats.org/officeDocument/2006/relationships/image" Target="../media/image61.wmf"/></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2.bin"/><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sp>
        <p:nvSpPr>
          <p:cNvPr id="13" name="矩形 6"/>
          <p:cNvSpPr>
            <a:spLocks noChangeArrowheads="1"/>
          </p:cNvSpPr>
          <p:nvPr/>
        </p:nvSpPr>
        <p:spPr bwMode="auto">
          <a:xfrm>
            <a:off x="5226050" y="2219325"/>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5565775" y="1736725"/>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175" y="100330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1654175" y="14843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1654175" y="197485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7" name="Rectangle 12"/>
          <p:cNvSpPr>
            <a:spLocks noChangeArrowheads="1"/>
          </p:cNvSpPr>
          <p:nvPr/>
        </p:nvSpPr>
        <p:spPr bwMode="auto">
          <a:xfrm>
            <a:off x="1654175" y="24622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 name="Rectangle 13"/>
          <p:cNvSpPr>
            <a:spLocks noChangeArrowheads="1"/>
          </p:cNvSpPr>
          <p:nvPr/>
        </p:nvSpPr>
        <p:spPr bwMode="auto">
          <a:xfrm>
            <a:off x="1654175" y="294322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 name="Rectangle 14"/>
          <p:cNvSpPr>
            <a:spLocks noChangeArrowheads="1"/>
          </p:cNvSpPr>
          <p:nvPr/>
        </p:nvSpPr>
        <p:spPr bwMode="auto">
          <a:xfrm>
            <a:off x="1654175" y="343693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0" name="Rectangle 15"/>
          <p:cNvSpPr>
            <a:spLocks noChangeArrowheads="1"/>
          </p:cNvSpPr>
          <p:nvPr/>
        </p:nvSpPr>
        <p:spPr bwMode="auto">
          <a:xfrm>
            <a:off x="1652588" y="392747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12297" name="Line 16"/>
          <p:cNvSpPr>
            <a:spLocks noChangeShapeType="1"/>
          </p:cNvSpPr>
          <p:nvPr/>
        </p:nvSpPr>
        <p:spPr bwMode="auto">
          <a:xfrm>
            <a:off x="2401888" y="822325"/>
            <a:ext cx="0" cy="391795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2298" name="Rectangle 17"/>
          <p:cNvSpPr>
            <a:spLocks noChangeArrowheads="1"/>
          </p:cNvSpPr>
          <p:nvPr/>
        </p:nvSpPr>
        <p:spPr bwMode="auto">
          <a:xfrm>
            <a:off x="1685925" y="968375"/>
            <a:ext cx="578235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fr-FR" altLang="zh-CN" sz="2000" b="1" dirty="0">
                <a:solidFill>
                  <a:schemeClr val="bg1"/>
                </a:solidFill>
                <a:latin typeface="微软雅黑" pitchFamily="34" charset="-122"/>
                <a:ea typeface="微软雅黑" pitchFamily="34" charset="-122"/>
              </a:rPr>
              <a:t>1.1                     </a:t>
            </a:r>
            <a:r>
              <a:rPr lang="zh-CN" altLang="en-US" sz="2000" b="1" dirty="0">
                <a:solidFill>
                  <a:schemeClr val="bg1"/>
                </a:solidFill>
                <a:latin typeface="微软雅黑" pitchFamily="34" charset="-122"/>
                <a:ea typeface="微软雅黑" pitchFamily="34" charset="-122"/>
              </a:rPr>
              <a:t>计算机网络在信息时代中的作用</a:t>
            </a:r>
            <a:endParaRPr lang="fr-FR" sz="2000" b="1" dirty="0">
              <a:solidFill>
                <a:schemeClr val="bg1"/>
              </a:solidFill>
              <a:latin typeface="微软雅黑" pitchFamily="34" charset="-122"/>
              <a:ea typeface="微软雅黑" pitchFamily="34" charset="-122"/>
            </a:endParaRPr>
          </a:p>
        </p:txBody>
      </p:sp>
      <p:sp>
        <p:nvSpPr>
          <p:cNvPr id="12299" name="Rectangle 18"/>
          <p:cNvSpPr>
            <a:spLocks noChangeArrowheads="1"/>
          </p:cNvSpPr>
          <p:nvPr/>
        </p:nvSpPr>
        <p:spPr bwMode="auto">
          <a:xfrm>
            <a:off x="1685925" y="1449388"/>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1.2                                                  </a:t>
            </a:r>
            <a:r>
              <a:rPr lang="fr-FR" sz="2000" b="1" dirty="0">
                <a:solidFill>
                  <a:schemeClr val="bg1"/>
                </a:solidFill>
                <a:latin typeface="微软雅黑" pitchFamily="34" charset="-122"/>
                <a:ea typeface="微软雅黑" pitchFamily="34" charset="-122"/>
              </a:rPr>
              <a:t>互联网概述</a:t>
            </a:r>
          </a:p>
        </p:txBody>
      </p:sp>
      <p:sp>
        <p:nvSpPr>
          <p:cNvPr id="12300" name="Rectangle 19"/>
          <p:cNvSpPr>
            <a:spLocks noChangeArrowheads="1"/>
          </p:cNvSpPr>
          <p:nvPr/>
        </p:nvSpPr>
        <p:spPr bwMode="auto">
          <a:xfrm>
            <a:off x="1685925" y="1939925"/>
            <a:ext cx="58372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1.3                                               </a:t>
            </a:r>
            <a:r>
              <a:rPr lang="fr-FR" sz="2000" b="1">
                <a:solidFill>
                  <a:schemeClr val="bg1"/>
                </a:solidFill>
                <a:latin typeface="微软雅黑" pitchFamily="34" charset="-122"/>
                <a:ea typeface="微软雅黑" pitchFamily="34" charset="-122"/>
              </a:rPr>
              <a:t>互联网的组成</a:t>
            </a:r>
          </a:p>
        </p:txBody>
      </p:sp>
      <p:sp>
        <p:nvSpPr>
          <p:cNvPr id="12301" name="Rectangle 20"/>
          <p:cNvSpPr>
            <a:spLocks noChangeArrowheads="1"/>
          </p:cNvSpPr>
          <p:nvPr/>
        </p:nvSpPr>
        <p:spPr bwMode="auto">
          <a:xfrm>
            <a:off x="1685925" y="2422525"/>
            <a:ext cx="57229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1.4                              </a:t>
            </a:r>
            <a:r>
              <a:rPr lang="fr-FR" sz="2000" b="1" dirty="0">
                <a:solidFill>
                  <a:schemeClr val="bg1"/>
                </a:solidFill>
                <a:latin typeface="微软雅黑" pitchFamily="34" charset="-122"/>
                <a:ea typeface="微软雅黑" pitchFamily="34" charset="-122"/>
              </a:rPr>
              <a:t>计算机网络在我国的发展</a:t>
            </a:r>
          </a:p>
        </p:txBody>
      </p:sp>
      <p:sp>
        <p:nvSpPr>
          <p:cNvPr id="12302" name="Rectangle 21"/>
          <p:cNvSpPr>
            <a:spLocks noChangeArrowheads="1"/>
          </p:cNvSpPr>
          <p:nvPr/>
        </p:nvSpPr>
        <p:spPr bwMode="auto">
          <a:xfrm>
            <a:off x="1685925" y="2901950"/>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1.5                                        </a:t>
            </a:r>
            <a:r>
              <a:rPr lang="fr-FR" sz="2000" b="1">
                <a:solidFill>
                  <a:schemeClr val="bg1"/>
                </a:solidFill>
                <a:latin typeface="微软雅黑" pitchFamily="34" charset="-122"/>
                <a:ea typeface="微软雅黑" pitchFamily="34" charset="-122"/>
              </a:rPr>
              <a:t>计算机网络的类别</a:t>
            </a:r>
          </a:p>
        </p:txBody>
      </p:sp>
      <p:sp>
        <p:nvSpPr>
          <p:cNvPr id="12303" name="Rectangle 22"/>
          <p:cNvSpPr>
            <a:spLocks noChangeArrowheads="1"/>
          </p:cNvSpPr>
          <p:nvPr/>
        </p:nvSpPr>
        <p:spPr bwMode="auto">
          <a:xfrm>
            <a:off x="1685925" y="3402013"/>
            <a:ext cx="582612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1.6                                        </a:t>
            </a:r>
            <a:r>
              <a:rPr lang="fr-FR" sz="2000" b="1" dirty="0">
                <a:solidFill>
                  <a:schemeClr val="bg1"/>
                </a:solidFill>
                <a:latin typeface="微软雅黑" pitchFamily="34" charset="-122"/>
                <a:ea typeface="微软雅黑" pitchFamily="34" charset="-122"/>
              </a:rPr>
              <a:t>计算机网络的性能</a:t>
            </a:r>
          </a:p>
        </p:txBody>
      </p:sp>
      <p:sp>
        <p:nvSpPr>
          <p:cNvPr id="12304" name="Rectangle 23"/>
          <p:cNvSpPr>
            <a:spLocks noChangeArrowheads="1"/>
          </p:cNvSpPr>
          <p:nvPr/>
        </p:nvSpPr>
        <p:spPr bwMode="auto">
          <a:xfrm>
            <a:off x="1685925" y="3892550"/>
            <a:ext cx="574357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1.7                                 </a:t>
            </a:r>
            <a:r>
              <a:rPr lang="fr-FR" sz="2000" b="1" dirty="0">
                <a:solidFill>
                  <a:schemeClr val="bg1"/>
                </a:solidFill>
                <a:latin typeface="微软雅黑" pitchFamily="34" charset="-122"/>
                <a:ea typeface="微软雅黑" pitchFamily="34" charset="-122"/>
              </a:rPr>
              <a:t>计算机网络的体系结构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297991"/>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04416"/>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43991"/>
            <a:ext cx="5625515"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1.1.1                                    </a:t>
            </a:r>
            <a:r>
              <a:rPr lang="zh-CN" altLang="en-US" sz="2000" b="1" dirty="0">
                <a:solidFill>
                  <a:schemeClr val="bg1"/>
                </a:solidFill>
                <a:latin typeface="微软雅黑" pitchFamily="34" charset="-122"/>
                <a:ea typeface="微软雅黑" pitchFamily="34" charset="-122"/>
              </a:rPr>
              <a:t>计算机网络的定义</a:t>
            </a:r>
            <a:r>
              <a:rPr lang="en-US" altLang="zh-CN" sz="2000" b="1" dirty="0">
                <a:solidFill>
                  <a:schemeClr val="bg1"/>
                </a:solidFill>
                <a:latin typeface="微软雅黑" pitchFamily="34" charset="-122"/>
                <a:ea typeface="微软雅黑" pitchFamily="34" charset="-122"/>
              </a:rPr>
              <a:t>1.1.2                                    </a:t>
            </a:r>
            <a:r>
              <a:rPr lang="zh-CN" altLang="en-US" sz="2000" b="1" dirty="0">
                <a:solidFill>
                  <a:schemeClr val="bg1"/>
                </a:solidFill>
                <a:latin typeface="微软雅黑" pitchFamily="34" charset="-122"/>
                <a:ea typeface="微软雅黑" pitchFamily="34" charset="-122"/>
              </a:rPr>
              <a:t>计算机网络的特点</a:t>
            </a:r>
            <a:endParaRPr lang="en-US" altLang="zh-CN"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29767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393241"/>
            <a:ext cx="1627187"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1.1</a:t>
            </a:r>
          </a:p>
          <a:p>
            <a:pPr eaLnBrk="0" hangingPunct="0"/>
            <a:r>
              <a:rPr lang="zh-CN" altLang="en-US" sz="2000" b="1" dirty="0">
                <a:solidFill>
                  <a:schemeClr val="bg1"/>
                </a:solidFill>
                <a:latin typeface="微软雅黑" pitchFamily="34" charset="-122"/>
                <a:ea typeface="微软雅黑" pitchFamily="34" charset="-122"/>
              </a:rPr>
              <a:t>计算机网络在信息时代中的作用</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326541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585760"/>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3027878" y="1151890"/>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信息时代：以网络为核心</a:t>
              </a:r>
              <a:endParaRPr lang="fr-FR" altLang="zh-CN" sz="2000" b="1" dirty="0">
                <a:solidFill>
                  <a:schemeClr val="bg1"/>
                </a:solidFill>
                <a:latin typeface="微软雅黑" pitchFamily="34" charset="-122"/>
                <a:ea typeface="微软雅黑" pitchFamily="34" charset="-122"/>
              </a:endParaRPr>
            </a:p>
          </p:txBody>
        </p:sp>
      </p:grpSp>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228262" y="1029104"/>
            <a:ext cx="6426572" cy="3488812"/>
          </a:xfrm>
          <a:prstGeom prst="rect">
            <a:avLst/>
          </a:prstGeom>
        </p:spPr>
      </p:pic>
      <p:sp>
        <p:nvSpPr>
          <p:cNvPr id="11" name="矩形 10"/>
          <p:cNvSpPr/>
          <p:nvPr/>
        </p:nvSpPr>
        <p:spPr>
          <a:xfrm>
            <a:off x="215783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万物联网</a:t>
            </a:r>
          </a:p>
        </p:txBody>
      </p:sp>
      <p:sp>
        <p:nvSpPr>
          <p:cNvPr id="12" name="矩形 11"/>
          <p:cNvSpPr/>
          <p:nvPr/>
        </p:nvSpPr>
        <p:spPr>
          <a:xfrm>
            <a:off x="535969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人人用网</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3809354" y="1109843"/>
            <a:ext cx="1261884" cy="1198413"/>
            <a:chOff x="3809354" y="1151665"/>
            <a:chExt cx="1261884" cy="1198413"/>
          </a:xfrm>
        </p:grpSpPr>
        <p:pic>
          <p:nvPicPr>
            <p:cNvPr id="7" name="图片 6"/>
            <p:cNvPicPr>
              <a:picLocks noChangeAspect="1"/>
            </p:cNvPicPr>
            <p:nvPr/>
          </p:nvPicPr>
          <p:blipFill rotWithShape="1">
            <a:blip r:embed="rId2" cstate="print">
              <a:extLst>
                <a:ext uri="{28A0092B-C50C-407E-A947-70E740481C1C}">
                  <a14:useLocalDpi xmlns:a14="http://schemas.microsoft.com/office/drawing/2010/main" val="0"/>
                </a:ext>
              </a:extLst>
            </a:blip>
            <a:srcRect l="36426" t="20817" r="35548" b="30525"/>
            <a:stretch/>
          </p:blipFill>
          <p:spPr>
            <a:xfrm>
              <a:off x="3950913" y="1394200"/>
              <a:ext cx="978767" cy="955878"/>
            </a:xfrm>
            <a:prstGeom prst="rect">
              <a:avLst/>
            </a:prstGeom>
          </p:spPr>
        </p:pic>
        <p:sp>
          <p:nvSpPr>
            <p:cNvPr id="5" name="矩形 4"/>
            <p:cNvSpPr/>
            <p:nvPr/>
          </p:nvSpPr>
          <p:spPr>
            <a:xfrm>
              <a:off x="3809354" y="1151665"/>
              <a:ext cx="1261884" cy="307777"/>
            </a:xfrm>
            <a:prstGeom prst="rect">
              <a:avLst/>
            </a:prstGeom>
          </p:spPr>
          <p:txBody>
            <a:bodyPr wrap="none">
              <a:spAutoFit/>
            </a:bodyPr>
            <a:lstStyle/>
            <a:p>
              <a:pPr algn="ctr"/>
              <a:r>
                <a:rPr lang="fr-FR" altLang="zh-CN" sz="1400" b="1" dirty="0">
                  <a:latin typeface="微软雅黑" pitchFamily="34" charset="-122"/>
                  <a:ea typeface="微软雅黑" pitchFamily="34" charset="-122"/>
                </a:rPr>
                <a:t>有线电视网络</a:t>
              </a:r>
              <a:endParaRPr lang="zh-CN" altLang="en-US" sz="1400" dirty="0"/>
            </a:p>
          </p:txBody>
        </p:sp>
      </p:grpSp>
      <p:grpSp>
        <p:nvGrpSpPr>
          <p:cNvPr id="18" name="组合 17"/>
          <p:cNvGrpSpPr/>
          <p:nvPr/>
        </p:nvGrpSpPr>
        <p:grpSpPr>
          <a:xfrm>
            <a:off x="1200583" y="1109843"/>
            <a:ext cx="1013414" cy="1214992"/>
            <a:chOff x="1200583" y="1151665"/>
            <a:chExt cx="1013414" cy="1214992"/>
          </a:xfrm>
        </p:grpSpPr>
        <p:pic>
          <p:nvPicPr>
            <p:cNvPr id="3" name="图片 2"/>
            <p:cNvPicPr>
              <a:picLocks noChangeAspect="1"/>
            </p:cNvPicPr>
            <p:nvPr/>
          </p:nvPicPr>
          <p:blipFill rotWithShape="1">
            <a:blip r:embed="rId2" cstate="print">
              <a:extLst>
                <a:ext uri="{28A0092B-C50C-407E-A947-70E740481C1C}">
                  <a14:useLocalDpi xmlns:a14="http://schemas.microsoft.com/office/drawing/2010/main" val="0"/>
                </a:ext>
              </a:extLst>
            </a:blip>
            <a:srcRect l="4184" t="20817" r="66798" b="29681"/>
            <a:stretch/>
          </p:blipFill>
          <p:spPr>
            <a:xfrm>
              <a:off x="1200583" y="1394200"/>
              <a:ext cx="1013414" cy="972457"/>
            </a:xfrm>
            <a:prstGeom prst="rect">
              <a:avLst/>
            </a:prstGeom>
          </p:spPr>
        </p:pic>
        <p:sp>
          <p:nvSpPr>
            <p:cNvPr id="11" name="矩形 10"/>
            <p:cNvSpPr/>
            <p:nvPr/>
          </p:nvSpPr>
          <p:spPr>
            <a:xfrm>
              <a:off x="1262220" y="1151665"/>
              <a:ext cx="902811"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电信</a:t>
              </a:r>
              <a:r>
                <a:rPr lang="fr-FR" altLang="zh-CN" sz="1400" b="1" dirty="0">
                  <a:latin typeface="微软雅黑" pitchFamily="34" charset="-122"/>
                  <a:ea typeface="微软雅黑" pitchFamily="34" charset="-122"/>
                </a:rPr>
                <a:t>网络</a:t>
              </a:r>
              <a:endParaRPr lang="zh-CN" altLang="en-US" sz="1400" dirty="0"/>
            </a:p>
          </p:txBody>
        </p:sp>
      </p:grpSp>
      <p:grpSp>
        <p:nvGrpSpPr>
          <p:cNvPr id="17" name="组合 16"/>
          <p:cNvGrpSpPr/>
          <p:nvPr/>
        </p:nvGrpSpPr>
        <p:grpSpPr>
          <a:xfrm>
            <a:off x="6704357" y="1109843"/>
            <a:ext cx="1082348" cy="1191148"/>
            <a:chOff x="6704357" y="1151665"/>
            <a:chExt cx="1082348" cy="1191148"/>
          </a:xfrm>
        </p:grpSpPr>
        <p:pic>
          <p:nvPicPr>
            <p:cNvPr id="8" name="图片 7"/>
            <p:cNvPicPr>
              <a:picLocks noChangeAspect="1"/>
            </p:cNvPicPr>
            <p:nvPr/>
          </p:nvPicPr>
          <p:blipFill rotWithShape="1">
            <a:blip r:embed="rId3" cstate="print">
              <a:extLst>
                <a:ext uri="{28A0092B-C50C-407E-A947-70E740481C1C}">
                  <a14:useLocalDpi xmlns:a14="http://schemas.microsoft.com/office/drawing/2010/main" val="0"/>
                </a:ext>
              </a:extLst>
            </a:blip>
            <a:srcRect l="67179" t="20817" r="4051" b="30894"/>
            <a:stretch/>
          </p:blipFill>
          <p:spPr>
            <a:xfrm>
              <a:off x="6741634" y="1394200"/>
              <a:ext cx="1004753" cy="948613"/>
            </a:xfrm>
            <a:prstGeom prst="rect">
              <a:avLst/>
            </a:prstGeom>
          </p:spPr>
        </p:pic>
        <p:sp>
          <p:nvSpPr>
            <p:cNvPr id="12" name="矩形 11"/>
            <p:cNvSpPr/>
            <p:nvPr/>
          </p:nvSpPr>
          <p:spPr>
            <a:xfrm>
              <a:off x="6704357" y="1151665"/>
              <a:ext cx="1082348"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计算机</a:t>
              </a:r>
              <a:r>
                <a:rPr lang="fr-FR" altLang="zh-CN" sz="1400" b="1" dirty="0">
                  <a:latin typeface="微软雅黑" pitchFamily="34" charset="-122"/>
                  <a:ea typeface="微软雅黑" pitchFamily="34" charset="-122"/>
                </a:rPr>
                <a:t>网络</a:t>
              </a:r>
              <a:endParaRPr lang="zh-CN" altLang="en-US" sz="1400" dirty="0"/>
            </a:p>
          </p:txBody>
        </p:sp>
      </p:grpSp>
      <p:sp>
        <p:nvSpPr>
          <p:cNvPr id="13" name="矩形 12"/>
          <p:cNvSpPr/>
          <p:nvPr/>
        </p:nvSpPr>
        <p:spPr>
          <a:xfrm>
            <a:off x="835424" y="2267079"/>
            <a:ext cx="2023890"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提供电话、电报及传真等服务</a:t>
            </a:r>
            <a:r>
              <a:rPr lang="zh-CN" altLang="en-US" sz="2000" b="1" dirty="0">
                <a:latin typeface="微软雅黑" pitchFamily="34" charset="-122"/>
                <a:ea typeface="微软雅黑" pitchFamily="34" charset="-122"/>
              </a:rPr>
              <a:t>。</a:t>
            </a:r>
            <a:endParaRPr lang="fr-FR" altLang="zh-CN" sz="2000" b="1" dirty="0">
              <a:latin typeface="微软雅黑" pitchFamily="34" charset="-122"/>
              <a:ea typeface="微软雅黑" pitchFamily="34" charset="-122"/>
            </a:endParaRPr>
          </a:p>
        </p:txBody>
      </p:sp>
      <p:sp>
        <p:nvSpPr>
          <p:cNvPr id="14" name="矩形 13"/>
          <p:cNvSpPr/>
          <p:nvPr/>
        </p:nvSpPr>
        <p:spPr>
          <a:xfrm>
            <a:off x="3470291" y="2267079"/>
            <a:ext cx="1940009" cy="810478"/>
          </a:xfrm>
          <a:prstGeom prst="rect">
            <a:avLst/>
          </a:prstGeom>
        </p:spPr>
        <p:txBody>
          <a:bodyPr wrap="square">
            <a:spAutoFit/>
          </a:bodyPr>
          <a:lstStyle/>
          <a:p>
            <a:pPr algn="ctr">
              <a:lnSpc>
                <a:spcPts val="2800"/>
              </a:lnSpc>
            </a:pPr>
            <a:r>
              <a:rPr lang="fr-FR" altLang="zh-CN" sz="2000" b="1" dirty="0">
                <a:latin typeface="微软雅黑" pitchFamily="34" charset="-122"/>
                <a:ea typeface="微软雅黑" pitchFamily="34" charset="-122"/>
              </a:rPr>
              <a:t>向用户传送各种电视节目</a:t>
            </a:r>
            <a:r>
              <a:rPr lang="zh-CN" altLang="en-US" sz="2000" b="1" dirty="0">
                <a:latin typeface="微软雅黑" pitchFamily="34" charset="-122"/>
                <a:ea typeface="微软雅黑" pitchFamily="34" charset="-122"/>
              </a:rPr>
              <a:t>。</a:t>
            </a:r>
          </a:p>
        </p:txBody>
      </p:sp>
      <p:sp>
        <p:nvSpPr>
          <p:cNvPr id="15" name="矩形 14"/>
          <p:cNvSpPr/>
          <p:nvPr/>
        </p:nvSpPr>
        <p:spPr>
          <a:xfrm>
            <a:off x="6097828" y="2267079"/>
            <a:ext cx="2465598"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使用户能在计算机之间传送数据文件</a:t>
            </a:r>
            <a:r>
              <a:rPr lang="zh-CN" altLang="en-US" sz="2000" b="1" dirty="0">
                <a:latin typeface="微软雅黑" pitchFamily="34" charset="-122"/>
                <a:ea typeface="微软雅黑" pitchFamily="34" charset="-122"/>
              </a:rPr>
              <a:t>。</a:t>
            </a:r>
          </a:p>
        </p:txBody>
      </p:sp>
      <p:grpSp>
        <p:nvGrpSpPr>
          <p:cNvPr id="25" name="组合 24"/>
          <p:cNvGrpSpPr>
            <a:grpSpLocks/>
          </p:cNvGrpSpPr>
          <p:nvPr/>
        </p:nvGrpSpPr>
        <p:grpSpPr bwMode="auto">
          <a:xfrm>
            <a:off x="938463" y="3267883"/>
            <a:ext cx="7355306" cy="685800"/>
            <a:chOff x="944499" y="4852174"/>
            <a:chExt cx="7009644" cy="809625"/>
          </a:xfrm>
        </p:grpSpPr>
        <p:sp>
          <p:nvSpPr>
            <p:cNvPr id="26" name="Rectangle 118"/>
            <p:cNvSpPr>
              <a:spLocks noChangeArrowheads="1"/>
            </p:cNvSpPr>
            <p:nvPr/>
          </p:nvSpPr>
          <p:spPr bwMode="auto">
            <a:xfrm>
              <a:off x="944499" y="4852174"/>
              <a:ext cx="7009644" cy="809625"/>
            </a:xfrm>
            <a:prstGeom prst="rect">
              <a:avLst/>
            </a:prstGeom>
            <a:solidFill>
              <a:srgbClr val="0098F6"/>
            </a:solidFill>
            <a:ln w="9525" algn="ctr">
              <a:noFill/>
              <a:miter lim="10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7" name="矩形 6"/>
            <p:cNvSpPr>
              <a:spLocks noChangeArrowheads="1"/>
            </p:cNvSpPr>
            <p:nvPr/>
          </p:nvSpPr>
          <p:spPr bwMode="auto">
            <a:xfrm>
              <a:off x="1874707" y="5054045"/>
              <a:ext cx="5064530" cy="436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lnSpc>
                  <a:spcPct val="90000"/>
                </a:lnSpc>
              </a:pPr>
              <a:r>
                <a:rPr lang="zh-CN" altLang="en-US" sz="2000" b="1" dirty="0">
                  <a:solidFill>
                    <a:schemeClr val="bg1"/>
                  </a:solidFill>
                  <a:latin typeface="微软雅黑" pitchFamily="34" charset="-122"/>
                  <a:ea typeface="微软雅黑" pitchFamily="34" charset="-122"/>
                </a:rPr>
                <a:t>发展最快的并起到核心作用的是</a:t>
              </a:r>
              <a:r>
                <a:rPr lang="zh-CN" altLang="en-US" sz="2000" b="1" dirty="0">
                  <a:solidFill>
                    <a:srgbClr val="FFFF00"/>
                  </a:solidFill>
                  <a:latin typeface="微软雅黑" pitchFamily="34" charset="-122"/>
                  <a:ea typeface="微软雅黑" pitchFamily="34" charset="-122"/>
                </a:rPr>
                <a:t>计算机网络。</a:t>
              </a:r>
              <a:endParaRPr lang="en-US" altLang="zh-CN" sz="2000" b="1" dirty="0">
                <a:solidFill>
                  <a:srgbClr val="FFFF00"/>
                </a:solidFill>
                <a:latin typeface="微软雅黑" pitchFamily="34" charset="-122"/>
                <a:ea typeface="微软雅黑" pitchFamily="34" charset="-122"/>
              </a:endParaRPr>
            </a:p>
          </p:txBody>
        </p:sp>
      </p:grpSp>
      <p:sp>
        <p:nvSpPr>
          <p:cNvPr id="20" name="矩形 19"/>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21" name="矩形 20"/>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22" name="组合 21"/>
          <p:cNvGrpSpPr/>
          <p:nvPr/>
        </p:nvGrpSpPr>
        <p:grpSpPr>
          <a:xfrm>
            <a:off x="466344" y="585760"/>
            <a:ext cx="8129016" cy="400110"/>
            <a:chOff x="466344" y="1151890"/>
            <a:chExt cx="8129016" cy="400110"/>
          </a:xfrm>
        </p:grpSpPr>
        <p:sp>
          <p:nvSpPr>
            <p:cNvPr id="23"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Rectangle 6"/>
            <p:cNvSpPr>
              <a:spLocks noChangeArrowheads="1"/>
            </p:cNvSpPr>
            <p:nvPr/>
          </p:nvSpPr>
          <p:spPr bwMode="auto">
            <a:xfrm>
              <a:off x="3156118" y="1151890"/>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大众熟悉的三大类网络</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6146516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4772" y="1024759"/>
            <a:ext cx="5852160" cy="3291840"/>
          </a:xfrm>
          <a:prstGeom prst="rect">
            <a:avLst/>
          </a:prstGeom>
        </p:spPr>
      </p:pic>
      <p:sp>
        <p:nvSpPr>
          <p:cNvPr id="7" name="矩形 6"/>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8" name="矩形 7"/>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9" name="组合 8"/>
          <p:cNvGrpSpPr/>
          <p:nvPr/>
        </p:nvGrpSpPr>
        <p:grpSpPr>
          <a:xfrm>
            <a:off x="466344" y="585760"/>
            <a:ext cx="8129016" cy="400110"/>
            <a:chOff x="466344" y="1151890"/>
            <a:chExt cx="8129016" cy="400110"/>
          </a:xfrm>
        </p:grpSpPr>
        <p:sp>
          <p:nvSpPr>
            <p:cNvPr id="10"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Rectangle 6"/>
            <p:cNvSpPr>
              <a:spLocks noChangeArrowheads="1"/>
            </p:cNvSpPr>
            <p:nvPr/>
          </p:nvSpPr>
          <p:spPr bwMode="auto">
            <a:xfrm>
              <a:off x="2130197" y="1151890"/>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pitchFamily="34" charset="-122"/>
                  <a:ea typeface="微软雅黑" pitchFamily="34" charset="-122"/>
                </a:rPr>
                <a:t>“三网融合”：融入现代计算机网络技术</a:t>
              </a:r>
              <a:endParaRPr lang="fr-FR" altLang="zh-CN" sz="2000" b="1" dirty="0">
                <a:solidFill>
                  <a:schemeClr val="bg1"/>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633886"/>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Rectangle 6"/>
            <p:cNvSpPr>
              <a:spLocks noChangeArrowheads="1"/>
            </p:cNvSpPr>
            <p:nvPr/>
          </p:nvSpPr>
          <p:spPr bwMode="auto">
            <a:xfrm>
              <a:off x="4438491"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sp>
        <p:nvSpPr>
          <p:cNvPr id="11" name="内容占位符 10"/>
          <p:cNvSpPr>
            <a:spLocks noGrp="1"/>
          </p:cNvSpPr>
          <p:nvPr>
            <p:ph sz="quarter" idx="10"/>
          </p:nvPr>
        </p:nvSpPr>
        <p:spPr>
          <a:xfrm>
            <a:off x="466344" y="504285"/>
            <a:ext cx="8129016" cy="4172489"/>
          </a:xfrm>
        </p:spPr>
        <p:txBody>
          <a:bodyPr/>
          <a:lstStyle/>
          <a:p>
            <a:r>
              <a:rPr lang="zh-CN" altLang="en-US" dirty="0"/>
              <a:t>如何称呼 </a:t>
            </a:r>
            <a:r>
              <a:rPr lang="en-US" altLang="zh-CN" dirty="0"/>
              <a:t>Internet</a:t>
            </a:r>
            <a:r>
              <a:rPr lang="zh-CN" altLang="en-US" dirty="0"/>
              <a:t>？</a:t>
            </a:r>
          </a:p>
          <a:p>
            <a:r>
              <a:rPr lang="zh-CN" altLang="en-US" dirty="0"/>
              <a:t>因特网：推荐，但却长期未得到推广。</a:t>
            </a:r>
          </a:p>
          <a:p>
            <a:r>
              <a:rPr lang="zh-CN" altLang="en-US" dirty="0"/>
              <a:t>互联网：目前流行最广，事实上的标准译名。</a:t>
            </a:r>
          </a:p>
          <a:p>
            <a:r>
              <a:rPr lang="zh-CN" altLang="en-US" dirty="0"/>
              <a:t>互联网 ≠互连网。</a:t>
            </a:r>
          </a:p>
          <a:p>
            <a:pPr lvl="1"/>
            <a:r>
              <a:rPr lang="zh-CN" altLang="en-US" dirty="0"/>
              <a:t>互连网：局部范围互连起来的计算机网络。</a:t>
            </a:r>
          </a:p>
          <a:p>
            <a:endParaRPr lang="zh-CN" altLang="en-US" dirty="0"/>
          </a:p>
        </p:txBody>
      </p:sp>
      <p:sp>
        <p:nvSpPr>
          <p:cNvPr id="4" name="文本占位符 3">
            <a:extLst>
              <a:ext uri="{FF2B5EF4-FFF2-40B4-BE49-F238E27FC236}">
                <a16:creationId xmlns:a16="http://schemas.microsoft.com/office/drawing/2014/main" id="{9BE7D319-83DF-6D21-678D-2BEA661776D4}"/>
              </a:ext>
            </a:extLst>
          </p:cNvPr>
          <p:cNvSpPr>
            <a:spLocks noGrp="1"/>
          </p:cNvSpPr>
          <p:nvPr>
            <p:ph type="body" sz="quarter" idx="11"/>
          </p:nvPr>
        </p:nvSpPr>
        <p:spPr>
          <a:xfrm>
            <a:off x="0" y="150273"/>
            <a:ext cx="6632575" cy="338554"/>
          </a:xfrm>
        </p:spPr>
        <p:txBody>
          <a:bodyPr/>
          <a:lstStyle/>
          <a:p>
            <a:r>
              <a:rPr lang="en-US" altLang="zh-CN" dirty="0"/>
              <a:t>Internet</a:t>
            </a:r>
            <a:r>
              <a:rPr lang="zh-CN" altLang="en-US" dirty="0"/>
              <a:t>：全球最大、最重要的计算机网络</a:t>
            </a:r>
            <a:endParaRPr lang="fr-FR" altLang="zh-CN" dirty="0"/>
          </a:p>
        </p:txBody>
      </p:sp>
      <p:sp>
        <p:nvSpPr>
          <p:cNvPr id="3" name="矩形 2"/>
          <p:cNvSpPr/>
          <p:nvPr/>
        </p:nvSpPr>
        <p:spPr>
          <a:xfrm>
            <a:off x="923118" y="3133186"/>
            <a:ext cx="7114894" cy="810478"/>
          </a:xfrm>
          <a:prstGeom prst="rect">
            <a:avLst/>
          </a:prstGeom>
          <a:solidFill>
            <a:srgbClr val="0066FF"/>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思考：它们说的是哪个网？</a:t>
            </a:r>
            <a:endParaRPr lang="en-US" altLang="zh-CN" sz="2000" b="1" dirty="0">
              <a:latin typeface="微软雅黑" panose="020B0503020204020204" pitchFamily="34" charset="-122"/>
              <a:ea typeface="微软雅黑" panose="020B0503020204020204" pitchFamily="34" charset="-122"/>
            </a:endParaRPr>
          </a:p>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上网，联网，网民，网吧，网银，网购，网管，知网。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1512883145"/>
              </p:ext>
            </p:extLst>
          </p:nvPr>
        </p:nvGraphicFramePr>
        <p:xfrm>
          <a:off x="304796" y="1067257"/>
          <a:ext cx="8464736" cy="27208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框 3">
            <a:extLst>
              <a:ext uri="{FF2B5EF4-FFF2-40B4-BE49-F238E27FC236}">
                <a16:creationId xmlns:a16="http://schemas.microsoft.com/office/drawing/2014/main" id="{74F7360A-6A13-7B51-045E-792CE16A5B52}"/>
              </a:ext>
            </a:extLst>
          </p:cNvPr>
          <p:cNvSpPr txBox="1"/>
          <p:nvPr/>
        </p:nvSpPr>
        <p:spPr>
          <a:xfrm>
            <a:off x="2289942" y="2389054"/>
            <a:ext cx="4579882" cy="369332"/>
          </a:xfrm>
          <a:prstGeom prst="rect">
            <a:avLst/>
          </a:prstGeom>
          <a:noFill/>
        </p:spPr>
        <p:txBody>
          <a:bodyPr wrap="square">
            <a:spAutoFit/>
          </a:bodyPr>
          <a:lstStyle/>
          <a:p>
            <a:pPr algn="ctr" eaLnBrk="0" hangingPunct="0"/>
            <a:r>
              <a:rPr lang="zh-CN" altLang="en-US" sz="1800" b="1" dirty="0">
                <a:solidFill>
                  <a:schemeClr val="bg1"/>
                </a:solidFill>
                <a:latin typeface="微软雅黑" pitchFamily="34" charset="-122"/>
                <a:ea typeface="微软雅黑" pitchFamily="34" charset="-122"/>
              </a:rPr>
              <a:t>互联网是什么？</a:t>
            </a:r>
            <a:endParaRPr lang="fr-FR" altLang="zh-CN" sz="1800" b="1" dirty="0">
              <a:solidFill>
                <a:schemeClr val="bg1"/>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77F8431C-15C0-EE38-7D4E-AF7ADD660DD1}"/>
              </a:ext>
            </a:extLst>
          </p:cNvPr>
          <p:cNvSpPr>
            <a:spLocks noGrp="1"/>
          </p:cNvSpPr>
          <p:nvPr>
            <p:ph sz="quarter" idx="10"/>
          </p:nvPr>
        </p:nvSpPr>
        <p:spPr/>
        <p:txBody>
          <a:bodyPr/>
          <a:lstStyle/>
          <a:p>
            <a:endParaRPr lang="zh-CN" altLang="en-US"/>
          </a:p>
        </p:txBody>
      </p:sp>
      <p:sp>
        <p:nvSpPr>
          <p:cNvPr id="17" name="文本占位符 16">
            <a:extLst>
              <a:ext uri="{FF2B5EF4-FFF2-40B4-BE49-F238E27FC236}">
                <a16:creationId xmlns:a16="http://schemas.microsoft.com/office/drawing/2014/main" id="{23F7F340-BA41-7E93-05F4-E8E394399412}"/>
              </a:ext>
            </a:extLst>
          </p:cNvPr>
          <p:cNvSpPr>
            <a:spLocks noGrp="1"/>
          </p:cNvSpPr>
          <p:nvPr>
            <p:ph type="body" sz="quarter" idx="11"/>
          </p:nvPr>
        </p:nvSpPr>
        <p:spPr>
          <a:xfrm>
            <a:off x="0" y="150273"/>
            <a:ext cx="6632575" cy="338554"/>
          </a:xfrm>
        </p:spPr>
        <p:txBody>
          <a:bodyPr/>
          <a:lstStyle/>
          <a:p>
            <a:r>
              <a:rPr lang="zh-CN" altLang="en-US" dirty="0"/>
              <a:t>互联网是什么？</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3379243481"/>
              </p:ext>
            </p:extLst>
          </p:nvPr>
        </p:nvGraphicFramePr>
        <p:xfrm>
          <a:off x="1288868" y="1022337"/>
          <a:ext cx="6540138" cy="2845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矩形 13"/>
          <p:cNvSpPr/>
          <p:nvPr/>
        </p:nvSpPr>
        <p:spPr>
          <a:xfrm>
            <a:off x="1288868" y="3989627"/>
            <a:ext cx="6540138" cy="369332"/>
          </a:xfrm>
          <a:prstGeom prst="rect">
            <a:avLst/>
          </a:prstGeom>
          <a:solidFill>
            <a:srgbClr val="0066FF"/>
          </a:solidFill>
        </p:spPr>
        <p:style>
          <a:lnRef idx="1">
            <a:schemeClr val="accent1"/>
          </a:lnRef>
          <a:fillRef idx="3">
            <a:schemeClr val="accent1"/>
          </a:fillRef>
          <a:effectRef idx="2">
            <a:schemeClr val="accent1"/>
          </a:effectRef>
          <a:fontRef idx="minor">
            <a:schemeClr val="lt1"/>
          </a:fontRef>
        </p:style>
        <p:txBody>
          <a:bodyPr wrap="square">
            <a:spAutoFit/>
          </a:bodyPr>
          <a:lstStyle/>
          <a:p>
            <a:pPr algn="ctr"/>
            <a:r>
              <a:rPr lang="zh-CN" altLang="en-US" b="1" dirty="0">
                <a:latin typeface="微软雅黑" panose="020B0503020204020204" pitchFamily="34" charset="-122"/>
                <a:ea typeface="微软雅黑" panose="020B0503020204020204" pitchFamily="34" charset="-122"/>
              </a:rPr>
              <a:t>是 </a:t>
            </a:r>
            <a:r>
              <a:rPr lang="en-US" altLang="zh-CN" b="1" dirty="0">
                <a:latin typeface="微软雅黑" panose="020B0503020204020204" pitchFamily="34" charset="-122"/>
                <a:ea typeface="微软雅黑" panose="020B0503020204020204" pitchFamily="34" charset="-122"/>
              </a:rPr>
              <a:t>Internet </a:t>
            </a:r>
            <a:r>
              <a:rPr lang="zh-CN" altLang="en-US" b="1" dirty="0">
                <a:latin typeface="微软雅黑" panose="020B0503020204020204" pitchFamily="34" charset="-122"/>
                <a:ea typeface="微软雅黑" panose="020B0503020204020204" pitchFamily="34" charset="-122"/>
              </a:rPr>
              <a:t>提供许多服务的基础。</a:t>
            </a:r>
          </a:p>
        </p:txBody>
      </p:sp>
      <p:sp>
        <p:nvSpPr>
          <p:cNvPr id="20" name="内容占位符 19">
            <a:extLst>
              <a:ext uri="{FF2B5EF4-FFF2-40B4-BE49-F238E27FC236}">
                <a16:creationId xmlns:a16="http://schemas.microsoft.com/office/drawing/2014/main" id="{FE00A667-699F-B885-6CBF-9633618D31E1}"/>
              </a:ext>
            </a:extLst>
          </p:cNvPr>
          <p:cNvSpPr>
            <a:spLocks noGrp="1"/>
          </p:cNvSpPr>
          <p:nvPr>
            <p:ph sz="quarter" idx="10"/>
          </p:nvPr>
        </p:nvSpPr>
        <p:spPr/>
        <p:txBody>
          <a:bodyPr/>
          <a:lstStyle/>
          <a:p>
            <a:endParaRPr lang="zh-CN" altLang="en-US"/>
          </a:p>
        </p:txBody>
      </p:sp>
      <p:sp>
        <p:nvSpPr>
          <p:cNvPr id="15" name="文本占位符 14">
            <a:extLst>
              <a:ext uri="{FF2B5EF4-FFF2-40B4-BE49-F238E27FC236}">
                <a16:creationId xmlns:a16="http://schemas.microsoft.com/office/drawing/2014/main" id="{156B56AE-57B1-3ADA-BE88-AD58D642C4BB}"/>
              </a:ext>
            </a:extLst>
          </p:cNvPr>
          <p:cNvSpPr>
            <a:spLocks noGrp="1"/>
          </p:cNvSpPr>
          <p:nvPr>
            <p:ph type="body" sz="quarter" idx="11"/>
          </p:nvPr>
        </p:nvSpPr>
        <p:spPr>
          <a:xfrm>
            <a:off x="0" y="150273"/>
            <a:ext cx="6632575" cy="338554"/>
          </a:xfrm>
        </p:spPr>
        <p:txBody>
          <a:bodyPr/>
          <a:lstStyle/>
          <a:p>
            <a:r>
              <a:rPr lang="zh-CN" altLang="en-US" dirty="0"/>
              <a:t>互联网的 </a:t>
            </a:r>
            <a:r>
              <a:rPr lang="en-US" altLang="zh-CN" dirty="0"/>
              <a:t>2 </a:t>
            </a:r>
            <a:r>
              <a:rPr lang="zh-CN" altLang="en-US" dirty="0"/>
              <a:t>个重要基本特点</a:t>
            </a:r>
          </a:p>
        </p:txBody>
      </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12" name="组合 11"/>
          <p:cNvGrpSpPr>
            <a:grpSpLocks noChangeAspect="1"/>
          </p:cNvGrpSpPr>
          <p:nvPr/>
        </p:nvGrpSpPr>
        <p:grpSpPr>
          <a:xfrm>
            <a:off x="1358544" y="1292186"/>
            <a:ext cx="6295066" cy="581639"/>
            <a:chOff x="1950729" y="2654620"/>
            <a:chExt cx="5259967" cy="486000"/>
          </a:xfrm>
        </p:grpSpPr>
        <p:sp>
          <p:nvSpPr>
            <p:cNvPr id="10" name="五边形 9"/>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已经融入人们的生活、工作、学习和交往。</a:t>
              </a:r>
            </a:p>
          </p:txBody>
        </p:sp>
        <p:sp>
          <p:nvSpPr>
            <p:cNvPr id="11" name="椭圆 10"/>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grpSp>
        <p:nvGrpSpPr>
          <p:cNvPr id="18" name="组合 17"/>
          <p:cNvGrpSpPr>
            <a:grpSpLocks noChangeAspect="1"/>
          </p:cNvGrpSpPr>
          <p:nvPr/>
        </p:nvGrpSpPr>
        <p:grpSpPr>
          <a:xfrm>
            <a:off x="1358544" y="2061874"/>
            <a:ext cx="6295066" cy="581639"/>
            <a:chOff x="1950729" y="2654620"/>
            <a:chExt cx="5259967" cy="486000"/>
          </a:xfrm>
        </p:grpSpPr>
        <p:sp>
          <p:nvSpPr>
            <p:cNvPr id="19" name="五边形 18"/>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已经成为社会最为重要的基础设施之一。</a:t>
              </a:r>
            </a:p>
          </p:txBody>
        </p:sp>
        <p:sp>
          <p:nvSpPr>
            <p:cNvPr id="20" name="椭圆 19"/>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sp>
        <p:nvSpPr>
          <p:cNvPr id="23" name="内容占位符 22">
            <a:extLst>
              <a:ext uri="{FF2B5EF4-FFF2-40B4-BE49-F238E27FC236}">
                <a16:creationId xmlns:a16="http://schemas.microsoft.com/office/drawing/2014/main" id="{105993F4-168A-C306-43C5-D8DA14C387B8}"/>
              </a:ext>
            </a:extLst>
          </p:cNvPr>
          <p:cNvSpPr>
            <a:spLocks noGrp="1"/>
          </p:cNvSpPr>
          <p:nvPr>
            <p:ph sz="quarter" idx="10"/>
          </p:nvPr>
        </p:nvSpPr>
        <p:spPr/>
        <p:txBody>
          <a:bodyPr/>
          <a:lstStyle/>
          <a:p>
            <a:endParaRPr lang="zh-CN" altLang="en-US"/>
          </a:p>
        </p:txBody>
      </p:sp>
      <p:sp>
        <p:nvSpPr>
          <p:cNvPr id="15" name="文本占位符 14">
            <a:extLst>
              <a:ext uri="{FF2B5EF4-FFF2-40B4-BE49-F238E27FC236}">
                <a16:creationId xmlns:a16="http://schemas.microsoft.com/office/drawing/2014/main" id="{F242E8F1-FABF-9992-E3F0-9E9FD521B51B}"/>
              </a:ext>
            </a:extLst>
          </p:cNvPr>
          <p:cNvSpPr>
            <a:spLocks noGrp="1"/>
          </p:cNvSpPr>
          <p:nvPr>
            <p:ph type="body" sz="quarter" idx="11"/>
          </p:nvPr>
        </p:nvSpPr>
        <p:spPr>
          <a:xfrm>
            <a:off x="0" y="150273"/>
            <a:ext cx="6632575" cy="338554"/>
          </a:xfrm>
        </p:spPr>
        <p:txBody>
          <a:bodyPr/>
          <a:lstStyle/>
          <a:p>
            <a:r>
              <a:rPr lang="zh-CN" altLang="en-US" dirty="0"/>
              <a:t>互联网在生活中地位</a:t>
            </a:r>
          </a:p>
        </p:txBody>
      </p:sp>
    </p:spTree>
    <p:extLst>
      <p:ext uri="{BB962C8B-B14F-4D97-AF65-F5344CB8AC3E}">
        <p14:creationId xmlns:p14="http://schemas.microsoft.com/office/powerpoint/2010/main" val="20872555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3" name="内容占位符 2"/>
          <p:cNvSpPr>
            <a:spLocks noGrp="1"/>
          </p:cNvSpPr>
          <p:nvPr>
            <p:ph sz="quarter" idx="10"/>
          </p:nvPr>
        </p:nvSpPr>
        <p:spPr>
          <a:xfrm>
            <a:off x="466344" y="504285"/>
            <a:ext cx="8129016" cy="4172489"/>
          </a:xfrm>
        </p:spPr>
        <p:txBody>
          <a:bodyPr/>
          <a:lstStyle/>
          <a:p>
            <a:r>
              <a:rPr lang="zh-CN" altLang="en-US" dirty="0"/>
              <a:t>指“互联网</a:t>
            </a:r>
            <a:r>
              <a:rPr lang="en-US" altLang="zh-CN" dirty="0"/>
              <a:t>+</a:t>
            </a:r>
            <a:r>
              <a:rPr lang="zh-CN" altLang="en-US" dirty="0"/>
              <a:t>各个传统行业”。</a:t>
            </a:r>
            <a:endParaRPr lang="en-US" altLang="zh-CN" dirty="0"/>
          </a:p>
          <a:p>
            <a:r>
              <a:rPr lang="zh-CN" altLang="en-US" dirty="0"/>
              <a:t>把互联网的创新成果深度融合于经济社会各领域。</a:t>
            </a:r>
            <a:endParaRPr lang="en-US" altLang="zh-CN" dirty="0"/>
          </a:p>
          <a:p>
            <a:endParaRPr lang="zh-CN" altLang="en-US" dirty="0"/>
          </a:p>
        </p:txBody>
      </p:sp>
      <p:sp>
        <p:nvSpPr>
          <p:cNvPr id="2" name="文本占位符 1">
            <a:extLst>
              <a:ext uri="{FF2B5EF4-FFF2-40B4-BE49-F238E27FC236}">
                <a16:creationId xmlns:a16="http://schemas.microsoft.com/office/drawing/2014/main" id="{38AD80B0-AD8F-42B4-A232-B0A49791FAA3}"/>
              </a:ext>
            </a:extLst>
          </p:cNvPr>
          <p:cNvSpPr>
            <a:spLocks noGrp="1"/>
          </p:cNvSpPr>
          <p:nvPr>
            <p:ph type="body" sz="quarter" idx="11"/>
          </p:nvPr>
        </p:nvSpPr>
        <p:spPr>
          <a:xfrm>
            <a:off x="0" y="150273"/>
            <a:ext cx="6632575" cy="338554"/>
          </a:xfrm>
        </p:spPr>
        <p:txBody>
          <a:bodyPr/>
          <a:lstStyle/>
          <a:p>
            <a:r>
              <a:rPr lang="zh-CN" altLang="en-US" dirty="0"/>
              <a:t>互联网</a:t>
            </a:r>
            <a:r>
              <a:rPr lang="en-US" altLang="zh-CN" dirty="0"/>
              <a:t>+</a:t>
            </a:r>
            <a:r>
              <a:rPr lang="zh-CN" altLang="en-US" dirty="0"/>
              <a:t>：新的经济形态</a:t>
            </a:r>
            <a:endParaRPr lang="fr-FR" altLang="zh-CN" dirty="0"/>
          </a:p>
        </p:txBody>
      </p:sp>
      <p:graphicFrame>
        <p:nvGraphicFramePr>
          <p:cNvPr id="13" name="图示 12"/>
          <p:cNvGraphicFramePr/>
          <p:nvPr>
            <p:extLst>
              <p:ext uri="{D42A27DB-BD31-4B8C-83A1-F6EECF244321}">
                <p14:modId xmlns:p14="http://schemas.microsoft.com/office/powerpoint/2010/main" val="3708377587"/>
              </p:ext>
            </p:extLst>
          </p:nvPr>
        </p:nvGraphicFramePr>
        <p:xfrm>
          <a:off x="1524000" y="1801069"/>
          <a:ext cx="5634446" cy="2682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28340574"/>
              </p:ext>
            </p:extLst>
          </p:nvPr>
        </p:nvGraphicFramePr>
        <p:xfrm>
          <a:off x="1670151" y="1109315"/>
          <a:ext cx="5871472" cy="29012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矩形 10"/>
          <p:cNvSpPr/>
          <p:nvPr/>
        </p:nvSpPr>
        <p:spPr>
          <a:xfrm>
            <a:off x="1957137" y="4098681"/>
            <a:ext cx="5510463" cy="400110"/>
          </a:xfrm>
          <a:prstGeom prst="rect">
            <a:avLst/>
          </a:prstGeom>
          <a:solidFill>
            <a:schemeClr val="accent2">
              <a:lumMod val="60000"/>
              <a:lumOff val="40000"/>
            </a:schemeClr>
          </a:solidFill>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需要加强</a:t>
            </a:r>
            <a:r>
              <a:rPr kumimoji="0" lang="zh-CN" altLang="zh-CN"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对互联网的管理</a:t>
            </a: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a:t>
            </a:r>
          </a:p>
        </p:txBody>
      </p:sp>
      <p:sp>
        <p:nvSpPr>
          <p:cNvPr id="14" name="内容占位符 13">
            <a:extLst>
              <a:ext uri="{FF2B5EF4-FFF2-40B4-BE49-F238E27FC236}">
                <a16:creationId xmlns:a16="http://schemas.microsoft.com/office/drawing/2014/main" id="{67CB6BFB-DAC7-4020-D5C2-C7A6AB37D5C0}"/>
              </a:ext>
            </a:extLst>
          </p:cNvPr>
          <p:cNvSpPr>
            <a:spLocks noGrp="1"/>
          </p:cNvSpPr>
          <p:nvPr>
            <p:ph sz="quarter" idx="10"/>
          </p:nvPr>
        </p:nvSpPr>
        <p:spPr/>
        <p:txBody>
          <a:bodyPr/>
          <a:lstStyle/>
          <a:p>
            <a:endParaRPr lang="zh-CN" altLang="en-US"/>
          </a:p>
        </p:txBody>
      </p:sp>
      <p:sp>
        <p:nvSpPr>
          <p:cNvPr id="7" name="文本占位符 6">
            <a:extLst>
              <a:ext uri="{FF2B5EF4-FFF2-40B4-BE49-F238E27FC236}">
                <a16:creationId xmlns:a16="http://schemas.microsoft.com/office/drawing/2014/main" id="{DFBA8CA5-BD40-248B-F503-0A3E4FFFFC03}"/>
              </a:ext>
            </a:extLst>
          </p:cNvPr>
          <p:cNvSpPr>
            <a:spLocks noGrp="1"/>
          </p:cNvSpPr>
          <p:nvPr>
            <p:ph type="body" sz="quarter" idx="11"/>
          </p:nvPr>
        </p:nvSpPr>
        <p:spPr>
          <a:xfrm>
            <a:off x="0" y="150273"/>
            <a:ext cx="6632575" cy="338554"/>
          </a:xfrm>
        </p:spPr>
        <p:txBody>
          <a:bodyPr/>
          <a:lstStyle/>
          <a:p>
            <a:r>
              <a:rPr lang="zh-CN" altLang="en-US" dirty="0"/>
              <a:t>互联网的负面影响</a:t>
            </a:r>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330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36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6" name="Rectangle 11"/>
          <p:cNvSpPr>
            <a:spLocks noChangeArrowheads="1"/>
          </p:cNvSpPr>
          <p:nvPr/>
        </p:nvSpPr>
        <p:spPr bwMode="auto">
          <a:xfrm>
            <a:off x="2628900" y="2554037"/>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charset="-122"/>
              <a:ea typeface="+mn-ea"/>
            </a:endParaRPr>
          </a:p>
        </p:txBody>
      </p:sp>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25606" name="Rectangle 8"/>
          <p:cNvSpPr>
            <a:spLocks noChangeArrowheads="1"/>
          </p:cNvSpPr>
          <p:nvPr/>
        </p:nvSpPr>
        <p:spPr bwMode="auto">
          <a:xfrm>
            <a:off x="2700337" y="1076075"/>
            <a:ext cx="564155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1.2.1                                              </a:t>
            </a:r>
            <a:r>
              <a:rPr lang="zh-CN" altLang="en-US" sz="2000" b="1" dirty="0">
                <a:solidFill>
                  <a:schemeClr val="bg1"/>
                </a:solidFill>
                <a:latin typeface="微软雅黑" pitchFamily="34" charset="-122"/>
                <a:ea typeface="微软雅黑" pitchFamily="34" charset="-122"/>
              </a:rPr>
              <a:t>网络的网络</a:t>
            </a:r>
            <a:r>
              <a:rPr lang="en-US" altLang="zh-CN" sz="2000" b="1" dirty="0">
                <a:solidFill>
                  <a:schemeClr val="bg1"/>
                </a:solidFill>
                <a:latin typeface="微软雅黑" pitchFamily="34" charset="-122"/>
                <a:ea typeface="微软雅黑" pitchFamily="34" charset="-122"/>
              </a:rPr>
              <a:t>1.2.2                </a:t>
            </a:r>
            <a:r>
              <a:rPr lang="zh-CN" altLang="zh-CN" sz="2000" b="1" dirty="0">
                <a:solidFill>
                  <a:schemeClr val="bg1"/>
                </a:solidFill>
                <a:latin typeface="微软雅黑" pitchFamily="34" charset="-122"/>
                <a:ea typeface="微软雅黑" pitchFamily="34" charset="-122"/>
              </a:rPr>
              <a:t>互联网基础结构发展的三个阶段</a:t>
            </a:r>
          </a:p>
          <a:p>
            <a:pPr eaLnBrk="0" hangingPunct="0">
              <a:lnSpc>
                <a:spcPct val="200000"/>
              </a:lnSpc>
            </a:pPr>
            <a:r>
              <a:rPr lang="en-US" altLang="zh-CN" sz="2000" b="1" dirty="0">
                <a:solidFill>
                  <a:schemeClr val="bg1"/>
                </a:solidFill>
                <a:latin typeface="微软雅黑" pitchFamily="34" charset="-122"/>
                <a:ea typeface="微软雅黑" pitchFamily="34" charset="-122"/>
              </a:rPr>
              <a:t>1.2.3                                 </a:t>
            </a:r>
            <a:r>
              <a:rPr lang="zh-CN" altLang="zh-CN" sz="2000" b="1" dirty="0">
                <a:solidFill>
                  <a:schemeClr val="bg1"/>
                </a:solidFill>
                <a:latin typeface="微软雅黑" pitchFamily="34" charset="-122"/>
                <a:ea typeface="微软雅黑" pitchFamily="34" charset="-122"/>
              </a:rPr>
              <a:t>互联网的标准化工作</a:t>
            </a:r>
            <a:endParaRPr lang="fr-FR"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3297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25610" name="Rectangle 29"/>
          <p:cNvSpPr>
            <a:spLocks noChangeArrowheads="1"/>
          </p:cNvSpPr>
          <p:nvPr/>
        </p:nvSpPr>
        <p:spPr bwMode="auto">
          <a:xfrm>
            <a:off x="649288" y="1425325"/>
            <a:ext cx="1627187" cy="708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1.2</a:t>
            </a:r>
          </a:p>
          <a:p>
            <a:pPr eaLnBrk="0" hangingPunct="0"/>
            <a:r>
              <a:rPr lang="zh-CN" altLang="fr-FR" sz="2000" b="1">
                <a:solidFill>
                  <a:schemeClr val="bg1"/>
                </a:solidFill>
                <a:latin typeface="微软雅黑" pitchFamily="34" charset="-122"/>
                <a:ea typeface="微软雅黑" pitchFamily="34" charset="-122"/>
              </a:rPr>
              <a:t>互联网概述</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节点可以是计算机、集线器、交换机或路由器等。</a:t>
            </a:r>
          </a:p>
        </p:txBody>
      </p:sp>
      <p:sp>
        <p:nvSpPr>
          <p:cNvPr id="10" name="文本占位符 9"/>
          <p:cNvSpPr>
            <a:spLocks noGrp="1"/>
          </p:cNvSpPr>
          <p:nvPr>
            <p:ph type="body" sz="quarter" idx="11"/>
          </p:nvPr>
        </p:nvSpPr>
        <p:spPr>
          <a:xfrm>
            <a:off x="0" y="150273"/>
            <a:ext cx="6632575" cy="338554"/>
          </a:xfrm>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97318" y="3771091"/>
            <a:ext cx="203292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(a) </a:t>
            </a:r>
            <a:r>
              <a:rPr kumimoji="1" lang="zh-CN" altLang="en-US" sz="1600" b="1" dirty="0">
                <a:latin typeface="Times New Roman" pitchFamily="18" charset="0"/>
                <a:ea typeface="微软雅黑" pitchFamily="34" charset="-122"/>
              </a:rPr>
              <a:t>简单的网络</a:t>
            </a:r>
          </a:p>
        </p:txBody>
      </p:sp>
      <p:grpSp>
        <p:nvGrpSpPr>
          <p:cNvPr id="8" name="Group 1282"/>
          <p:cNvGrpSpPr>
            <a:grpSpLocks/>
          </p:cNvGrpSpPr>
          <p:nvPr/>
        </p:nvGrpSpPr>
        <p:grpSpPr bwMode="auto">
          <a:xfrm>
            <a:off x="4810169" y="1237641"/>
            <a:ext cx="3360987" cy="2299844"/>
            <a:chOff x="1680" y="240"/>
            <a:chExt cx="2529" cy="1270"/>
          </a:xfrm>
          <a:scene3d>
            <a:camera prst="orthographicFront">
              <a:rot lat="0" lon="0" rev="0"/>
            </a:camera>
            <a:lightRig rig="contrasting" dir="t">
              <a:rot lat="0" lon="0" rev="7800000"/>
            </a:lightRig>
          </a:scene3d>
        </p:grpSpPr>
        <p:sp>
          <p:nvSpPr>
            <p:cNvPr id="9"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3"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0" name="组合 19"/>
          <p:cNvGrpSpPr/>
          <p:nvPr/>
        </p:nvGrpSpPr>
        <p:grpSpPr>
          <a:xfrm>
            <a:off x="5273288" y="1482278"/>
            <a:ext cx="2573344" cy="1809582"/>
            <a:chOff x="1137102" y="1439863"/>
            <a:chExt cx="2573344" cy="1809582"/>
          </a:xfrm>
        </p:grpSpPr>
        <p:sp>
          <p:nvSpPr>
            <p:cNvPr id="21"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4" name="Group 204"/>
            <p:cNvGrpSpPr>
              <a:grpSpLocks/>
            </p:cNvGrpSpPr>
            <p:nvPr/>
          </p:nvGrpSpPr>
          <p:grpSpPr bwMode="auto">
            <a:xfrm>
              <a:off x="2173744" y="1439863"/>
              <a:ext cx="800099" cy="695325"/>
              <a:chOff x="1148" y="1715"/>
              <a:chExt cx="504" cy="438"/>
            </a:xfrm>
          </p:grpSpPr>
          <p:sp>
            <p:nvSpPr>
              <p:cNvPr id="34"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5" name="Group 194"/>
            <p:cNvGrpSpPr>
              <a:grpSpLocks/>
            </p:cNvGrpSpPr>
            <p:nvPr/>
          </p:nvGrpSpPr>
          <p:grpSpPr bwMode="auto">
            <a:xfrm>
              <a:off x="2000702" y="2620229"/>
              <a:ext cx="646113" cy="629216"/>
              <a:chOff x="975" y="2584"/>
              <a:chExt cx="407" cy="438"/>
            </a:xfrm>
          </p:grpSpPr>
          <p:sp>
            <p:nvSpPr>
              <p:cNvPr id="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3"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6" name="Group 195"/>
            <p:cNvGrpSpPr>
              <a:grpSpLocks/>
            </p:cNvGrpSpPr>
            <p:nvPr/>
          </p:nvGrpSpPr>
          <p:grpSpPr bwMode="auto">
            <a:xfrm>
              <a:off x="1137102" y="2091591"/>
              <a:ext cx="646113" cy="629216"/>
              <a:chOff x="975" y="2584"/>
              <a:chExt cx="407" cy="438"/>
            </a:xfrm>
          </p:grpSpPr>
          <p:sp>
            <p:nvSpPr>
              <p:cNvPr id="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7" name="Group 198"/>
            <p:cNvGrpSpPr>
              <a:grpSpLocks/>
            </p:cNvGrpSpPr>
            <p:nvPr/>
          </p:nvGrpSpPr>
          <p:grpSpPr bwMode="auto">
            <a:xfrm>
              <a:off x="3064333" y="2404329"/>
              <a:ext cx="646113" cy="629216"/>
              <a:chOff x="975" y="2584"/>
              <a:chExt cx="407" cy="438"/>
            </a:xfrm>
          </p:grpSpPr>
          <p:sp>
            <p:nvSpPr>
              <p:cNvPr id="2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6" name="Text Box 1185"/>
          <p:cNvSpPr txBox="1">
            <a:spLocks noChangeArrowheads="1"/>
          </p:cNvSpPr>
          <p:nvPr/>
        </p:nvSpPr>
        <p:spPr bwMode="auto">
          <a:xfrm>
            <a:off x="7068791" y="1588398"/>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37" name="Text Box 1524"/>
          <p:cNvSpPr txBox="1">
            <a:spLocks noChangeArrowheads="1"/>
          </p:cNvSpPr>
          <p:nvPr/>
        </p:nvSpPr>
        <p:spPr bwMode="auto">
          <a:xfrm>
            <a:off x="7144372" y="202588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nvGrpSpPr>
          <p:cNvPr id="105" name="组合 104"/>
          <p:cNvGrpSpPr/>
          <p:nvPr/>
        </p:nvGrpSpPr>
        <p:grpSpPr>
          <a:xfrm>
            <a:off x="4046005" y="3283357"/>
            <a:ext cx="1223325" cy="762765"/>
            <a:chOff x="4148066" y="3740075"/>
            <a:chExt cx="1223325" cy="762765"/>
          </a:xfrm>
        </p:grpSpPr>
        <p:sp>
          <p:nvSpPr>
            <p:cNvPr id="84" name="Text Box 1482"/>
            <p:cNvSpPr txBox="1">
              <a:spLocks noChangeArrowheads="1"/>
            </p:cNvSpPr>
            <p:nvPr/>
          </p:nvSpPr>
          <p:spPr bwMode="auto">
            <a:xfrm>
              <a:off x="4148066" y="3740075"/>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85" name="Text Box 1484"/>
            <p:cNvSpPr txBox="1">
              <a:spLocks noChangeArrowheads="1"/>
            </p:cNvSpPr>
            <p:nvPr/>
          </p:nvSpPr>
          <p:spPr bwMode="auto">
            <a:xfrm>
              <a:off x="4874988" y="3795652"/>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86" name="Picture 148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4588148" y="4035207"/>
              <a:ext cx="298627" cy="189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 name="Text Box 1486"/>
            <p:cNvSpPr txBox="1">
              <a:spLocks noChangeArrowheads="1"/>
            </p:cNvSpPr>
            <p:nvPr/>
          </p:nvSpPr>
          <p:spPr bwMode="auto">
            <a:xfrm>
              <a:off x="4874988" y="4030016"/>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9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11724" y="3786032"/>
              <a:ext cx="263264" cy="214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Rectangle 254"/>
            <p:cNvSpPr>
              <a:spLocks noChangeArrowheads="1"/>
            </p:cNvSpPr>
            <p:nvPr/>
          </p:nvSpPr>
          <p:spPr bwMode="auto">
            <a:xfrm>
              <a:off x="4159854" y="3746215"/>
              <a:ext cx="1211537" cy="756625"/>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92" name="Group 1356"/>
            <p:cNvGrpSpPr>
              <a:grpSpLocks/>
            </p:cNvGrpSpPr>
            <p:nvPr/>
          </p:nvGrpSpPr>
          <p:grpSpPr bwMode="auto">
            <a:xfrm rot="20527939">
              <a:off x="4611289" y="4296111"/>
              <a:ext cx="270310" cy="142136"/>
              <a:chOff x="2949" y="196"/>
              <a:chExt cx="941" cy="598"/>
            </a:xfrm>
            <a:solidFill>
              <a:schemeClr val="bg1"/>
            </a:solidFill>
          </p:grpSpPr>
          <p:sp>
            <p:nvSpPr>
              <p:cNvPr id="94"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5"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6"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7"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8"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99"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0"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101"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10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10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104"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93" name="Text Box 1488"/>
            <p:cNvSpPr txBox="1">
              <a:spLocks noChangeArrowheads="1"/>
            </p:cNvSpPr>
            <p:nvPr/>
          </p:nvSpPr>
          <p:spPr bwMode="auto">
            <a:xfrm>
              <a:off x="4874988" y="4279218"/>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互连网 </a:t>
            </a:r>
            <a:r>
              <a:rPr lang="en-US" altLang="zh-CN" dirty="0"/>
              <a:t>(internetwork </a:t>
            </a:r>
            <a:r>
              <a:rPr lang="zh-CN" altLang="en-US" dirty="0"/>
              <a:t>或 </a:t>
            </a:r>
            <a:r>
              <a:rPr lang="en-US" altLang="zh-CN" dirty="0"/>
              <a:t>internet)</a:t>
            </a:r>
            <a:r>
              <a:rPr lang="zh-CN" altLang="en-US" dirty="0"/>
              <a:t>：</a:t>
            </a:r>
            <a:endParaRPr lang="en-US" altLang="zh-CN" dirty="0"/>
          </a:p>
          <a:p>
            <a:pPr lvl="1"/>
            <a:r>
              <a:rPr lang="zh-CN" altLang="en-US" dirty="0"/>
              <a:t>多个网络通过一些路由器相互连接起来，构成了一个覆盖范围更大的计算机网络。</a:t>
            </a:r>
            <a:endParaRPr lang="en-US" altLang="zh-CN" dirty="0"/>
          </a:p>
          <a:p>
            <a:pPr lvl="1"/>
            <a:r>
              <a:rPr lang="zh-CN" altLang="en-US" dirty="0"/>
              <a:t>“网络的网络”</a:t>
            </a:r>
            <a:r>
              <a:rPr lang="en-US" altLang="zh-CN" dirty="0"/>
              <a:t>(network of networks)</a:t>
            </a:r>
            <a:r>
              <a:rPr lang="zh-CN" altLang="en-US" dirty="0"/>
              <a:t>。</a:t>
            </a:r>
          </a:p>
        </p:txBody>
      </p:sp>
      <p:sp>
        <p:nvSpPr>
          <p:cNvPr id="10" name="文本占位符 9"/>
          <p:cNvSpPr>
            <a:spLocks noGrp="1"/>
          </p:cNvSpPr>
          <p:nvPr>
            <p:ph type="body" sz="quarter" idx="11"/>
          </p:nvPr>
        </p:nvSpPr>
        <p:spPr>
          <a:xfrm>
            <a:off x="0" y="150273"/>
            <a:ext cx="6632575" cy="338554"/>
          </a:xfrm>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04113" y="3818798"/>
            <a:ext cx="2864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(b) </a:t>
            </a:r>
            <a:r>
              <a:rPr kumimoji="1" lang="zh-CN" altLang="en-US" sz="1600" b="1" dirty="0">
                <a:latin typeface="Times New Roman" pitchFamily="18" charset="0"/>
                <a:ea typeface="微软雅黑" pitchFamily="34" charset="-122"/>
              </a:rPr>
              <a:t>由网络构成的互连网</a:t>
            </a:r>
          </a:p>
        </p:txBody>
      </p:sp>
      <p:grpSp>
        <p:nvGrpSpPr>
          <p:cNvPr id="5" name="组合 4"/>
          <p:cNvGrpSpPr/>
          <p:nvPr/>
        </p:nvGrpSpPr>
        <p:grpSpPr>
          <a:xfrm>
            <a:off x="4369194" y="1224482"/>
            <a:ext cx="4408248" cy="2462968"/>
            <a:chOff x="2133597" y="1913604"/>
            <a:chExt cx="4408248" cy="2462968"/>
          </a:xfrm>
        </p:grpSpPr>
        <p:grpSp>
          <p:nvGrpSpPr>
            <p:cNvPr id="61"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62" name="Group 1505"/>
              <p:cNvGrpSpPr>
                <a:grpSpLocks/>
              </p:cNvGrpSpPr>
              <p:nvPr/>
            </p:nvGrpSpPr>
            <p:grpSpPr bwMode="auto">
              <a:xfrm>
                <a:off x="109" y="1226"/>
                <a:ext cx="2516" cy="1675"/>
                <a:chOff x="109" y="1226"/>
                <a:chExt cx="2516" cy="1675"/>
              </a:xfrm>
            </p:grpSpPr>
            <p:grpSp>
              <p:nvGrpSpPr>
                <p:cNvPr id="64" name="Group 1506"/>
                <p:cNvGrpSpPr>
                  <a:grpSpLocks/>
                </p:cNvGrpSpPr>
                <p:nvPr/>
              </p:nvGrpSpPr>
              <p:grpSpPr bwMode="auto">
                <a:xfrm>
                  <a:off x="109" y="1226"/>
                  <a:ext cx="2516" cy="1675"/>
                  <a:chOff x="109" y="1226"/>
                  <a:chExt cx="2516" cy="1675"/>
                </a:xfrm>
              </p:grpSpPr>
              <p:sp>
                <p:nvSpPr>
                  <p:cNvPr id="66"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7"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8"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9"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0"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1"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2"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5"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3"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4" name="组合 3"/>
            <p:cNvGrpSpPr/>
            <p:nvPr/>
          </p:nvGrpSpPr>
          <p:grpSpPr>
            <a:xfrm>
              <a:off x="2388737" y="2148716"/>
              <a:ext cx="3733232" cy="2102118"/>
              <a:chOff x="2388737" y="2148716"/>
              <a:chExt cx="3733232" cy="2102118"/>
            </a:xfrm>
          </p:grpSpPr>
          <p:sp>
            <p:nvSpPr>
              <p:cNvPr id="74"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5"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6"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7"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8"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9"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0"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1"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2"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3"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4"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5"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6"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7"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88" name="Group 1320"/>
              <p:cNvGrpSpPr>
                <a:grpSpLocks/>
              </p:cNvGrpSpPr>
              <p:nvPr/>
            </p:nvGrpSpPr>
            <p:grpSpPr bwMode="auto">
              <a:xfrm>
                <a:off x="3497051" y="2228552"/>
                <a:ext cx="527667" cy="346016"/>
                <a:chOff x="2949" y="196"/>
                <a:chExt cx="941" cy="598"/>
              </a:xfrm>
            </p:grpSpPr>
            <p:sp>
              <p:nvSpPr>
                <p:cNvPr id="195"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6"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7"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8"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9"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0"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1"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2"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03"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4"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05"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89"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90"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3"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6" name="Group 1468"/>
              <p:cNvGrpSpPr>
                <a:grpSpLocks/>
              </p:cNvGrpSpPr>
              <p:nvPr/>
            </p:nvGrpSpPr>
            <p:grpSpPr bwMode="auto">
              <a:xfrm rot="20933218">
                <a:off x="3942533" y="2848396"/>
                <a:ext cx="518589" cy="472972"/>
                <a:chOff x="2949" y="196"/>
                <a:chExt cx="941" cy="598"/>
              </a:xfrm>
            </p:grpSpPr>
            <p:sp>
              <p:nvSpPr>
                <p:cNvPr id="184"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5"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6"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7"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8"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9"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0"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1"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92"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3"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94"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97"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98"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99"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0" name="Group 1428"/>
              <p:cNvGrpSpPr>
                <a:grpSpLocks/>
              </p:cNvGrpSpPr>
              <p:nvPr/>
            </p:nvGrpSpPr>
            <p:grpSpPr bwMode="auto">
              <a:xfrm rot="20745072">
                <a:off x="3438042" y="3118668"/>
                <a:ext cx="468659" cy="482929"/>
                <a:chOff x="2949" y="196"/>
                <a:chExt cx="941" cy="598"/>
              </a:xfrm>
            </p:grpSpPr>
            <p:sp>
              <p:nvSpPr>
                <p:cNvPr id="17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7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8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8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8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1"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2" name="Group 198"/>
              <p:cNvGrpSpPr>
                <a:grpSpLocks/>
              </p:cNvGrpSpPr>
              <p:nvPr/>
            </p:nvGrpSpPr>
            <p:grpSpPr bwMode="auto">
              <a:xfrm>
                <a:off x="2972193" y="3488983"/>
                <a:ext cx="381369" cy="419031"/>
                <a:chOff x="975" y="2584"/>
                <a:chExt cx="407" cy="438"/>
              </a:xfrm>
            </p:grpSpPr>
            <p:sp>
              <p:nvSpPr>
                <p:cNvPr id="17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7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3"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4" name="Group 1356"/>
              <p:cNvGrpSpPr>
                <a:grpSpLocks/>
              </p:cNvGrpSpPr>
              <p:nvPr/>
            </p:nvGrpSpPr>
            <p:grpSpPr bwMode="auto">
              <a:xfrm rot="20527939">
                <a:off x="2965494" y="2653873"/>
                <a:ext cx="549228" cy="414472"/>
                <a:chOff x="2949" y="196"/>
                <a:chExt cx="941" cy="598"/>
              </a:xfrm>
            </p:grpSpPr>
            <p:sp>
              <p:nvSpPr>
                <p:cNvPr id="160"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1"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2"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3"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4"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5"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6"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67"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68"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69"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70"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5"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6" name="Group 198"/>
              <p:cNvGrpSpPr>
                <a:grpSpLocks/>
              </p:cNvGrpSpPr>
              <p:nvPr/>
            </p:nvGrpSpPr>
            <p:grpSpPr bwMode="auto">
              <a:xfrm>
                <a:off x="2388737" y="2850667"/>
                <a:ext cx="381369" cy="419031"/>
                <a:chOff x="975" y="2584"/>
                <a:chExt cx="407" cy="438"/>
              </a:xfrm>
            </p:grpSpPr>
            <p:sp>
              <p:nvSpPr>
                <p:cNvPr id="15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7"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8" name="Group 1416"/>
              <p:cNvGrpSpPr>
                <a:grpSpLocks/>
              </p:cNvGrpSpPr>
              <p:nvPr/>
            </p:nvGrpSpPr>
            <p:grpSpPr bwMode="auto">
              <a:xfrm rot="282232">
                <a:off x="5170838" y="2926987"/>
                <a:ext cx="460716" cy="346016"/>
                <a:chOff x="2949" y="196"/>
                <a:chExt cx="941" cy="598"/>
              </a:xfrm>
            </p:grpSpPr>
            <p:sp>
              <p:nvSpPr>
                <p:cNvPr id="147"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8"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9"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0"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1"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2"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3"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4"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55"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6"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57"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09"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0" name="Group 198"/>
              <p:cNvGrpSpPr>
                <a:grpSpLocks/>
              </p:cNvGrpSpPr>
              <p:nvPr/>
            </p:nvGrpSpPr>
            <p:grpSpPr bwMode="auto">
              <a:xfrm>
                <a:off x="5740600" y="3297577"/>
                <a:ext cx="381369" cy="419031"/>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2" name="Group 1344"/>
              <p:cNvGrpSpPr>
                <a:grpSpLocks/>
              </p:cNvGrpSpPr>
              <p:nvPr/>
            </p:nvGrpSpPr>
            <p:grpSpPr bwMode="auto">
              <a:xfrm>
                <a:off x="4431781" y="2228552"/>
                <a:ext cx="527667" cy="484173"/>
                <a:chOff x="2949" y="196"/>
                <a:chExt cx="941" cy="598"/>
              </a:xfrm>
            </p:grpSpPr>
            <p:sp>
              <p:nvSpPr>
                <p:cNvPr id="134"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8"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9"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0"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1"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42"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3"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44"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3"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4" name="Group 198"/>
              <p:cNvGrpSpPr>
                <a:grpSpLocks/>
              </p:cNvGrpSpPr>
              <p:nvPr/>
            </p:nvGrpSpPr>
            <p:grpSpPr bwMode="auto">
              <a:xfrm>
                <a:off x="5205901" y="2196963"/>
                <a:ext cx="381369" cy="419031"/>
                <a:chOff x="975" y="2584"/>
                <a:chExt cx="407" cy="438"/>
              </a:xfrm>
            </p:grpSpPr>
            <p:sp>
              <p:nvSpPr>
                <p:cNvPr id="1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5"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6" name="Group 198"/>
              <p:cNvGrpSpPr>
                <a:grpSpLocks/>
              </p:cNvGrpSpPr>
              <p:nvPr/>
            </p:nvGrpSpPr>
            <p:grpSpPr bwMode="auto">
              <a:xfrm>
                <a:off x="4726460" y="3831803"/>
                <a:ext cx="381369" cy="419031"/>
                <a:chOff x="975" y="2584"/>
                <a:chExt cx="407" cy="438"/>
              </a:xfrm>
            </p:grpSpPr>
            <p:sp>
              <p:nvSpPr>
                <p:cNvPr id="1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3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17" name="Group 1404"/>
              <p:cNvGrpSpPr>
                <a:grpSpLocks/>
              </p:cNvGrpSpPr>
              <p:nvPr/>
            </p:nvGrpSpPr>
            <p:grpSpPr bwMode="auto">
              <a:xfrm rot="20933218">
                <a:off x="4477820" y="3396224"/>
                <a:ext cx="436886" cy="410739"/>
                <a:chOff x="2949" y="196"/>
                <a:chExt cx="941" cy="598"/>
              </a:xfrm>
            </p:grpSpPr>
            <p:sp>
              <p:nvSpPr>
                <p:cNvPr id="119"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6"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7"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9"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118"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grpSp>
        <p:nvGrpSpPr>
          <p:cNvPr id="209" name="组合 208"/>
          <p:cNvGrpSpPr/>
          <p:nvPr/>
        </p:nvGrpSpPr>
        <p:grpSpPr>
          <a:xfrm>
            <a:off x="4075877" y="3651844"/>
            <a:ext cx="1223325" cy="943886"/>
            <a:chOff x="178755" y="3409311"/>
            <a:chExt cx="1482726" cy="1402008"/>
          </a:xfrm>
        </p:grpSpPr>
        <p:sp>
          <p:nvSpPr>
            <p:cNvPr id="210" name="Text Box 1482"/>
            <p:cNvSpPr txBox="1">
              <a:spLocks noChangeArrowheads="1"/>
            </p:cNvSpPr>
            <p:nvPr/>
          </p:nvSpPr>
          <p:spPr bwMode="auto">
            <a:xfrm>
              <a:off x="178755" y="3409311"/>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211" name="Text Box 1484"/>
            <p:cNvSpPr txBox="1">
              <a:spLocks noChangeArrowheads="1"/>
            </p:cNvSpPr>
            <p:nvPr/>
          </p:nvSpPr>
          <p:spPr bwMode="auto">
            <a:xfrm>
              <a:off x="1059818" y="3491862"/>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212" name="Picture 148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20640517">
              <a:off x="712155" y="3847688"/>
              <a:ext cx="36195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 name="Text Box 1486"/>
            <p:cNvSpPr txBox="1">
              <a:spLocks noChangeArrowheads="1"/>
            </p:cNvSpPr>
            <p:nvPr/>
          </p:nvSpPr>
          <p:spPr bwMode="auto">
            <a:xfrm>
              <a:off x="1059818" y="3839977"/>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214" name="Picture 148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0418" y="4224152"/>
              <a:ext cx="2540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 name="Text Box 1488"/>
            <p:cNvSpPr txBox="1">
              <a:spLocks noChangeArrowheads="1"/>
            </p:cNvSpPr>
            <p:nvPr/>
          </p:nvSpPr>
          <p:spPr bwMode="auto">
            <a:xfrm>
              <a:off x="1059818" y="4195351"/>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路由器</a:t>
              </a:r>
            </a:p>
          </p:txBody>
        </p:sp>
        <p:pic>
          <p:nvPicPr>
            <p:cNvPr id="216"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730" y="3477574"/>
              <a:ext cx="31908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 name="Rectangle 254"/>
            <p:cNvSpPr>
              <a:spLocks noChangeArrowheads="1"/>
            </p:cNvSpPr>
            <p:nvPr/>
          </p:nvSpPr>
          <p:spPr bwMode="auto">
            <a:xfrm>
              <a:off x="193043" y="3418431"/>
              <a:ext cx="1468438" cy="1392888"/>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grpSp>
          <p:nvGrpSpPr>
            <p:cNvPr id="218" name="Group 1356"/>
            <p:cNvGrpSpPr>
              <a:grpSpLocks/>
            </p:cNvGrpSpPr>
            <p:nvPr/>
          </p:nvGrpSpPr>
          <p:grpSpPr bwMode="auto">
            <a:xfrm rot="20527939">
              <a:off x="740202" y="4528170"/>
              <a:ext cx="327628" cy="211123"/>
              <a:chOff x="2949" y="196"/>
              <a:chExt cx="941" cy="598"/>
            </a:xfrm>
            <a:solidFill>
              <a:schemeClr val="bg1"/>
            </a:solidFill>
          </p:grpSpPr>
          <p:sp>
            <p:nvSpPr>
              <p:cNvPr id="220"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1"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2"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3"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4"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5"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6"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a:solidFill>
                    <a:srgbClr val="000000"/>
                  </a:solidFill>
                </a:endParaRPr>
              </a:p>
            </p:txBody>
          </p:sp>
          <p:sp>
            <p:nvSpPr>
              <p:cNvPr id="227"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a:solidFill>
                    <a:srgbClr val="000000"/>
                  </a:solidFill>
                </a:endParaRPr>
              </a:p>
            </p:txBody>
          </p:sp>
          <p:sp>
            <p:nvSpPr>
              <p:cNvPr id="228"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a:p>
            </p:txBody>
          </p:sp>
          <p:sp>
            <p:nvSpPr>
              <p:cNvPr id="229"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a:p>
            </p:txBody>
          </p:sp>
          <p:sp>
            <p:nvSpPr>
              <p:cNvPr id="23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a:p>
            </p:txBody>
          </p:sp>
        </p:grpSp>
        <p:sp>
          <p:nvSpPr>
            <p:cNvPr id="219" name="Text Box 1488"/>
            <p:cNvSpPr txBox="1">
              <a:spLocks noChangeArrowheads="1"/>
            </p:cNvSpPr>
            <p:nvPr/>
          </p:nvSpPr>
          <p:spPr bwMode="auto">
            <a:xfrm>
              <a:off x="1059818" y="4503078"/>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组合 229"/>
          <p:cNvGrpSpPr/>
          <p:nvPr/>
        </p:nvGrpSpPr>
        <p:grpSpPr>
          <a:xfrm>
            <a:off x="567494" y="1376748"/>
            <a:ext cx="3360987" cy="2299844"/>
            <a:chOff x="1998820" y="1760370"/>
            <a:chExt cx="3360987" cy="2299844"/>
          </a:xfrm>
        </p:grpSpPr>
        <p:grpSp>
          <p:nvGrpSpPr>
            <p:cNvPr id="231" name="Group 1282"/>
            <p:cNvGrpSpPr>
              <a:grpSpLocks/>
            </p:cNvGrpSpPr>
            <p:nvPr/>
          </p:nvGrpSpPr>
          <p:grpSpPr bwMode="auto">
            <a:xfrm>
              <a:off x="1998820" y="1760370"/>
              <a:ext cx="3360987" cy="2299844"/>
              <a:chOff x="1680" y="240"/>
              <a:chExt cx="2529" cy="1270"/>
            </a:xfrm>
            <a:scene3d>
              <a:camera prst="orthographicFront">
                <a:rot lat="0" lon="0" rev="0"/>
              </a:camera>
              <a:lightRig rig="contrasting" dir="t">
                <a:rot lat="0" lon="0" rev="7800000"/>
              </a:lightRig>
            </a:scene3d>
          </p:grpSpPr>
          <p:sp>
            <p:nvSpPr>
              <p:cNvPr id="250"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1"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6"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7"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8"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9"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0"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1"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2"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32" name="组合 231"/>
            <p:cNvGrpSpPr/>
            <p:nvPr/>
          </p:nvGrpSpPr>
          <p:grpSpPr>
            <a:xfrm>
              <a:off x="2461939" y="2005007"/>
              <a:ext cx="2573344" cy="1809582"/>
              <a:chOff x="1137102" y="1439863"/>
              <a:chExt cx="2573344" cy="1809582"/>
            </a:xfrm>
          </p:grpSpPr>
          <p:sp>
            <p:nvSpPr>
              <p:cNvPr id="235"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6"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7"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38" name="Group 204"/>
              <p:cNvGrpSpPr>
                <a:grpSpLocks/>
              </p:cNvGrpSpPr>
              <p:nvPr/>
            </p:nvGrpSpPr>
            <p:grpSpPr bwMode="auto">
              <a:xfrm>
                <a:off x="2173744" y="1439863"/>
                <a:ext cx="800099" cy="695325"/>
                <a:chOff x="1148" y="1715"/>
                <a:chExt cx="504" cy="438"/>
              </a:xfrm>
            </p:grpSpPr>
            <p:sp>
              <p:nvSpPr>
                <p:cNvPr id="248"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9"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9" name="Group 194"/>
              <p:cNvGrpSpPr>
                <a:grpSpLocks/>
              </p:cNvGrpSpPr>
              <p:nvPr/>
            </p:nvGrpSpPr>
            <p:grpSpPr bwMode="auto">
              <a:xfrm>
                <a:off x="2000702" y="2620229"/>
                <a:ext cx="646113" cy="629216"/>
                <a:chOff x="975" y="2584"/>
                <a:chExt cx="407" cy="438"/>
              </a:xfrm>
            </p:grpSpPr>
            <p:sp>
              <p:nvSpPr>
                <p:cNvPr id="24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7"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0" name="Group 195"/>
              <p:cNvGrpSpPr>
                <a:grpSpLocks/>
              </p:cNvGrpSpPr>
              <p:nvPr/>
            </p:nvGrpSpPr>
            <p:grpSpPr bwMode="auto">
              <a:xfrm>
                <a:off x="1137102" y="2091591"/>
                <a:ext cx="646113" cy="629216"/>
                <a:chOff x="975" y="2584"/>
                <a:chExt cx="407" cy="438"/>
              </a:xfrm>
            </p:grpSpPr>
            <p:sp>
              <p:nvSpPr>
                <p:cNvPr id="2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1" name="Group 198"/>
              <p:cNvGrpSpPr>
                <a:grpSpLocks/>
              </p:cNvGrpSpPr>
              <p:nvPr/>
            </p:nvGrpSpPr>
            <p:grpSpPr bwMode="auto">
              <a:xfrm>
                <a:off x="3064333" y="2404329"/>
                <a:ext cx="646113" cy="629216"/>
                <a:chOff x="975" y="2584"/>
                <a:chExt cx="407" cy="438"/>
              </a:xfrm>
            </p:grpSpPr>
            <p:sp>
              <p:nvSpPr>
                <p:cNvPr id="2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233" name="Text Box 1185"/>
            <p:cNvSpPr txBox="1">
              <a:spLocks noChangeArrowheads="1"/>
            </p:cNvSpPr>
            <p:nvPr/>
          </p:nvSpPr>
          <p:spPr bwMode="auto">
            <a:xfrm>
              <a:off x="4257442" y="2111127"/>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234" name="Text Box 1524"/>
            <p:cNvSpPr txBox="1">
              <a:spLocks noChangeArrowheads="1"/>
            </p:cNvSpPr>
            <p:nvPr/>
          </p:nvSpPr>
          <p:spPr bwMode="auto">
            <a:xfrm>
              <a:off x="4333023" y="254861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grpSp>
        <p:nvGrpSpPr>
          <p:cNvPr id="283" name="组合 282"/>
          <p:cNvGrpSpPr/>
          <p:nvPr/>
        </p:nvGrpSpPr>
        <p:grpSpPr>
          <a:xfrm>
            <a:off x="4075626" y="1399800"/>
            <a:ext cx="4408248" cy="2462968"/>
            <a:chOff x="2133597" y="1913604"/>
            <a:chExt cx="4408248" cy="2462968"/>
          </a:xfrm>
        </p:grpSpPr>
        <p:grpSp>
          <p:nvGrpSpPr>
            <p:cNvPr id="284"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418" name="Group 1505"/>
              <p:cNvGrpSpPr>
                <a:grpSpLocks/>
              </p:cNvGrpSpPr>
              <p:nvPr/>
            </p:nvGrpSpPr>
            <p:grpSpPr bwMode="auto">
              <a:xfrm>
                <a:off x="109" y="1226"/>
                <a:ext cx="2516" cy="1675"/>
                <a:chOff x="109" y="1226"/>
                <a:chExt cx="2516" cy="1675"/>
              </a:xfrm>
            </p:grpSpPr>
            <p:grpSp>
              <p:nvGrpSpPr>
                <p:cNvPr id="420" name="Group 1506"/>
                <p:cNvGrpSpPr>
                  <a:grpSpLocks/>
                </p:cNvGrpSpPr>
                <p:nvPr/>
              </p:nvGrpSpPr>
              <p:grpSpPr bwMode="auto">
                <a:xfrm>
                  <a:off x="109" y="1226"/>
                  <a:ext cx="2516" cy="1675"/>
                  <a:chOff x="109" y="1226"/>
                  <a:chExt cx="2516" cy="1675"/>
                </a:xfrm>
              </p:grpSpPr>
              <p:sp>
                <p:nvSpPr>
                  <p:cNvPr id="422"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3"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4"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5"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6"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7"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8"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21"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1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85" name="组合 284"/>
            <p:cNvGrpSpPr/>
            <p:nvPr/>
          </p:nvGrpSpPr>
          <p:grpSpPr>
            <a:xfrm>
              <a:off x="2388737" y="2148716"/>
              <a:ext cx="3733232" cy="2102118"/>
              <a:chOff x="2388737" y="2148716"/>
              <a:chExt cx="3733232" cy="2102118"/>
            </a:xfrm>
          </p:grpSpPr>
          <p:sp>
            <p:nvSpPr>
              <p:cNvPr id="286"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7"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8"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9"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0"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1"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2"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3"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4"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5"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6"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7"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8"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9"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00" name="Group 1320"/>
              <p:cNvGrpSpPr>
                <a:grpSpLocks/>
              </p:cNvGrpSpPr>
              <p:nvPr/>
            </p:nvGrpSpPr>
            <p:grpSpPr bwMode="auto">
              <a:xfrm>
                <a:off x="3497051" y="2228552"/>
                <a:ext cx="527667" cy="346016"/>
                <a:chOff x="2949" y="196"/>
                <a:chExt cx="941" cy="598"/>
              </a:xfrm>
            </p:grpSpPr>
            <p:sp>
              <p:nvSpPr>
                <p:cNvPr id="407"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8"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9"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0"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1"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2"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3"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4"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15"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6"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17"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1"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302"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3" name="Picture 14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4"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5" name="Picture 14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6"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 name="Picture 14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8" name="Group 1468"/>
              <p:cNvGrpSpPr>
                <a:grpSpLocks/>
              </p:cNvGrpSpPr>
              <p:nvPr/>
            </p:nvGrpSpPr>
            <p:grpSpPr bwMode="auto">
              <a:xfrm rot="20933218">
                <a:off x="3942533" y="2848396"/>
                <a:ext cx="518589" cy="472972"/>
                <a:chOff x="2949" y="196"/>
                <a:chExt cx="941" cy="598"/>
              </a:xfrm>
            </p:grpSpPr>
            <p:sp>
              <p:nvSpPr>
                <p:cNvPr id="396"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7"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8"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9"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0"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1"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2"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3"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404"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5"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06"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09"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310"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311"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2" name="Group 1428"/>
              <p:cNvGrpSpPr>
                <a:grpSpLocks/>
              </p:cNvGrpSpPr>
              <p:nvPr/>
            </p:nvGrpSpPr>
            <p:grpSpPr bwMode="auto">
              <a:xfrm rot="20745072">
                <a:off x="3438042" y="3118668"/>
                <a:ext cx="468659" cy="482929"/>
                <a:chOff x="2949" y="196"/>
                <a:chExt cx="941" cy="598"/>
              </a:xfrm>
            </p:grpSpPr>
            <p:sp>
              <p:nvSpPr>
                <p:cNvPr id="385"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6"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7"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8"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89"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0"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1"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92"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93"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4"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95"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3"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4" name="Group 198"/>
              <p:cNvGrpSpPr>
                <a:grpSpLocks/>
              </p:cNvGrpSpPr>
              <p:nvPr/>
            </p:nvGrpSpPr>
            <p:grpSpPr bwMode="auto">
              <a:xfrm>
                <a:off x="2972193" y="3488983"/>
                <a:ext cx="381369" cy="419031"/>
                <a:chOff x="975" y="2584"/>
                <a:chExt cx="407" cy="438"/>
              </a:xfrm>
            </p:grpSpPr>
            <p:sp>
              <p:nvSpPr>
                <p:cNvPr id="38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84"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5"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6" name="Group 1356"/>
              <p:cNvGrpSpPr>
                <a:grpSpLocks/>
              </p:cNvGrpSpPr>
              <p:nvPr/>
            </p:nvGrpSpPr>
            <p:grpSpPr bwMode="auto">
              <a:xfrm rot="20527939">
                <a:off x="2965494" y="2653873"/>
                <a:ext cx="549228" cy="414472"/>
                <a:chOff x="2949" y="196"/>
                <a:chExt cx="941" cy="598"/>
              </a:xfrm>
            </p:grpSpPr>
            <p:sp>
              <p:nvSpPr>
                <p:cNvPr id="37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7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38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8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17"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8" name="Group 198"/>
              <p:cNvGrpSpPr>
                <a:grpSpLocks/>
              </p:cNvGrpSpPr>
              <p:nvPr/>
            </p:nvGrpSpPr>
            <p:grpSpPr bwMode="auto">
              <a:xfrm>
                <a:off x="2388737" y="2850667"/>
                <a:ext cx="381369" cy="419031"/>
                <a:chOff x="975" y="2584"/>
                <a:chExt cx="407" cy="438"/>
              </a:xfrm>
            </p:grpSpPr>
            <p:sp>
              <p:nvSpPr>
                <p:cNvPr id="37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71"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9"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0" name="Group 1416"/>
              <p:cNvGrpSpPr>
                <a:grpSpLocks/>
              </p:cNvGrpSpPr>
              <p:nvPr/>
            </p:nvGrpSpPr>
            <p:grpSpPr bwMode="auto">
              <a:xfrm rot="282232">
                <a:off x="5170838" y="2926987"/>
                <a:ext cx="460716" cy="346016"/>
                <a:chOff x="2949" y="196"/>
                <a:chExt cx="941" cy="598"/>
              </a:xfrm>
            </p:grpSpPr>
            <p:sp>
              <p:nvSpPr>
                <p:cNvPr id="35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6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6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1"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2" name="Group 198"/>
              <p:cNvGrpSpPr>
                <a:grpSpLocks/>
              </p:cNvGrpSpPr>
              <p:nvPr/>
            </p:nvGrpSpPr>
            <p:grpSpPr bwMode="auto">
              <a:xfrm>
                <a:off x="5740600" y="3297577"/>
                <a:ext cx="381369" cy="419031"/>
                <a:chOff x="975" y="2584"/>
                <a:chExt cx="407" cy="438"/>
              </a:xfrm>
            </p:grpSpPr>
            <p:sp>
              <p:nvSpPr>
                <p:cNvPr id="3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58"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3"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4" name="Group 1344"/>
              <p:cNvGrpSpPr>
                <a:grpSpLocks/>
              </p:cNvGrpSpPr>
              <p:nvPr/>
            </p:nvGrpSpPr>
            <p:grpSpPr bwMode="auto">
              <a:xfrm>
                <a:off x="4431781" y="2228552"/>
                <a:ext cx="527667" cy="484173"/>
                <a:chOff x="2949" y="196"/>
                <a:chExt cx="941" cy="598"/>
              </a:xfrm>
            </p:grpSpPr>
            <p:sp>
              <p:nvSpPr>
                <p:cNvPr id="346"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7"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8"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49"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0"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1"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2"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3"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54"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5"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56"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25"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6" name="Group 198"/>
              <p:cNvGrpSpPr>
                <a:grpSpLocks/>
              </p:cNvGrpSpPr>
              <p:nvPr/>
            </p:nvGrpSpPr>
            <p:grpSpPr bwMode="auto">
              <a:xfrm>
                <a:off x="5205901" y="2196963"/>
                <a:ext cx="381369" cy="419031"/>
                <a:chOff x="975" y="2584"/>
                <a:chExt cx="407" cy="438"/>
              </a:xfrm>
            </p:grpSpPr>
            <p:sp>
              <p:nvSpPr>
                <p:cNvPr id="3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5"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8" name="Group 198"/>
              <p:cNvGrpSpPr>
                <a:grpSpLocks/>
              </p:cNvGrpSpPr>
              <p:nvPr/>
            </p:nvGrpSpPr>
            <p:grpSpPr bwMode="auto">
              <a:xfrm>
                <a:off x="4726460" y="3831803"/>
                <a:ext cx="381369" cy="419031"/>
                <a:chOff x="975" y="2584"/>
                <a:chExt cx="407" cy="438"/>
              </a:xfrm>
            </p:grpSpPr>
            <p:sp>
              <p:nvSpPr>
                <p:cNvPr id="3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343"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329" name="Group 1404"/>
              <p:cNvGrpSpPr>
                <a:grpSpLocks/>
              </p:cNvGrpSpPr>
              <p:nvPr/>
            </p:nvGrpSpPr>
            <p:grpSpPr bwMode="auto">
              <a:xfrm rot="20933218">
                <a:off x="4477820" y="3396224"/>
                <a:ext cx="436886" cy="410739"/>
                <a:chOff x="2949" y="196"/>
                <a:chExt cx="941" cy="598"/>
              </a:xfrm>
            </p:grpSpPr>
            <p:sp>
              <p:nvSpPr>
                <p:cNvPr id="331"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2"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3"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4"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5"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6"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7"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8"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339"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0"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341"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330"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sp>
        <p:nvSpPr>
          <p:cNvPr id="9" name="内容占位符 8">
            <a:extLst>
              <a:ext uri="{FF2B5EF4-FFF2-40B4-BE49-F238E27FC236}">
                <a16:creationId xmlns:a16="http://schemas.microsoft.com/office/drawing/2014/main" id="{209EF4C3-D1F8-E050-74EB-4FC71872A77F}"/>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用“云”表示网络：主机在“云”里</a:t>
            </a:r>
          </a:p>
        </p:txBody>
      </p: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837224" y="1469260"/>
            <a:ext cx="5091729" cy="2789231"/>
            <a:chOff x="1944797" y="1469260"/>
            <a:chExt cx="5091729" cy="2789231"/>
          </a:xfrm>
        </p:grpSpPr>
        <p:grpSp>
          <p:nvGrpSpPr>
            <p:cNvPr id="15" name="Group 1504"/>
            <p:cNvGrpSpPr>
              <a:grpSpLocks/>
            </p:cNvGrpSpPr>
            <p:nvPr/>
          </p:nvGrpSpPr>
          <p:grpSpPr bwMode="auto">
            <a:xfrm>
              <a:off x="2587241" y="1469260"/>
              <a:ext cx="3787245" cy="2524447"/>
              <a:chOff x="109" y="1226"/>
              <a:chExt cx="2516" cy="1675"/>
            </a:xfrm>
            <a:scene3d>
              <a:camera prst="orthographicFront">
                <a:rot lat="0" lon="0" rev="0"/>
              </a:camera>
              <a:lightRig rig="contrasting" dir="t">
                <a:rot lat="0" lon="0" rev="7800000"/>
              </a:lightRig>
            </a:scene3d>
          </p:grpSpPr>
          <p:grpSp>
            <p:nvGrpSpPr>
              <p:cNvPr id="16" name="Group 1505"/>
              <p:cNvGrpSpPr>
                <a:grpSpLocks/>
              </p:cNvGrpSpPr>
              <p:nvPr/>
            </p:nvGrpSpPr>
            <p:grpSpPr bwMode="auto">
              <a:xfrm>
                <a:off x="109" y="1226"/>
                <a:ext cx="2516" cy="1675"/>
                <a:chOff x="109" y="1226"/>
                <a:chExt cx="2516" cy="1675"/>
              </a:xfrm>
            </p:grpSpPr>
            <p:grpSp>
              <p:nvGrpSpPr>
                <p:cNvPr id="18" name="Group 1506"/>
                <p:cNvGrpSpPr>
                  <a:grpSpLocks/>
                </p:cNvGrpSpPr>
                <p:nvPr/>
              </p:nvGrpSpPr>
              <p:grpSpPr bwMode="auto">
                <a:xfrm>
                  <a:off x="109" y="1226"/>
                  <a:ext cx="2516" cy="1675"/>
                  <a:chOff x="109" y="1226"/>
                  <a:chExt cx="2516" cy="1675"/>
                </a:xfrm>
              </p:grpSpPr>
              <p:sp>
                <p:nvSpPr>
                  <p:cNvPr id="20"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1"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2"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3"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4"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6"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9"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7"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11" name="Line 1453"/>
            <p:cNvSpPr>
              <a:spLocks noChangeShapeType="1"/>
            </p:cNvSpPr>
            <p:nvPr/>
          </p:nvSpPr>
          <p:spPr bwMode="auto">
            <a:xfrm flipH="1">
              <a:off x="2229229" y="2536991"/>
              <a:ext cx="907434"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2" name="Line 1443"/>
            <p:cNvSpPr>
              <a:spLocks noChangeShapeType="1"/>
            </p:cNvSpPr>
            <p:nvPr/>
          </p:nvSpPr>
          <p:spPr bwMode="auto">
            <a:xfrm>
              <a:off x="5734567" y="2749994"/>
              <a:ext cx="1014678" cy="7863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3" name="Line 1452"/>
            <p:cNvSpPr>
              <a:spLocks noChangeShapeType="1"/>
            </p:cNvSpPr>
            <p:nvPr/>
          </p:nvSpPr>
          <p:spPr bwMode="auto">
            <a:xfrm flipV="1">
              <a:off x="5044324" y="1866368"/>
              <a:ext cx="1532263" cy="23713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4" name="Line 1443"/>
            <p:cNvSpPr>
              <a:spLocks noChangeShapeType="1"/>
            </p:cNvSpPr>
            <p:nvPr/>
          </p:nvSpPr>
          <p:spPr bwMode="auto">
            <a:xfrm flipH="1">
              <a:off x="4141598" y="3279132"/>
              <a:ext cx="830808" cy="76014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95" name="Line 1443"/>
            <p:cNvSpPr>
              <a:spLocks noChangeShapeType="1"/>
            </p:cNvSpPr>
            <p:nvPr/>
          </p:nvSpPr>
          <p:spPr bwMode="auto">
            <a:xfrm flipV="1">
              <a:off x="5751228" y="2650297"/>
              <a:ext cx="1055660" cy="8283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 name="组合 1"/>
            <p:cNvGrpSpPr/>
            <p:nvPr/>
          </p:nvGrpSpPr>
          <p:grpSpPr>
            <a:xfrm>
              <a:off x="2668371" y="1727739"/>
              <a:ext cx="3359225" cy="1889284"/>
              <a:chOff x="2826813" y="1437329"/>
              <a:chExt cx="4042416" cy="2405378"/>
            </a:xfrm>
          </p:grpSpPr>
          <p:sp>
            <p:nvSpPr>
              <p:cNvPr id="27"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1"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2"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1"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27684"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6"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7"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8"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8" y="153984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9"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7690" name="Group 1468"/>
              <p:cNvGrpSpPr>
                <a:grpSpLocks/>
              </p:cNvGrpSpPr>
              <p:nvPr/>
            </p:nvGrpSpPr>
            <p:grpSpPr bwMode="auto">
              <a:xfrm rot="20933218">
                <a:off x="4506350" y="2466491"/>
                <a:ext cx="725487" cy="603250"/>
                <a:chOff x="2949" y="196"/>
                <a:chExt cx="941" cy="598"/>
              </a:xfrm>
            </p:grpSpPr>
            <p:sp>
              <p:nvSpPr>
                <p:cNvPr id="27718"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19"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0"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1"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2"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3"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4"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5"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26"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7"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28"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2"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210"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9" name="Group 1356"/>
              <p:cNvGrpSpPr>
                <a:grpSpLocks/>
              </p:cNvGrpSpPr>
              <p:nvPr/>
            </p:nvGrpSpPr>
            <p:grpSpPr bwMode="auto">
              <a:xfrm rot="20527939">
                <a:off x="3139508" y="2218388"/>
                <a:ext cx="768350" cy="528637"/>
                <a:chOff x="2949" y="196"/>
                <a:chExt cx="941" cy="598"/>
              </a:xfrm>
            </p:grpSpPr>
            <p:sp>
              <p:nvSpPr>
                <p:cNvPr id="2776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6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7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7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6"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27678" name="Group 1344"/>
              <p:cNvGrpSpPr>
                <a:grpSpLocks/>
              </p:cNvGrpSpPr>
              <p:nvPr/>
            </p:nvGrpSpPr>
            <p:grpSpPr bwMode="auto">
              <a:xfrm>
                <a:off x="5190791" y="1675914"/>
                <a:ext cx="738187" cy="617537"/>
                <a:chOff x="2949" y="196"/>
                <a:chExt cx="941" cy="598"/>
              </a:xfrm>
            </p:grpSpPr>
            <p:sp>
              <p:nvSpPr>
                <p:cNvPr id="27773"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4"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5"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6"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7"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8"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79"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0"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1"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2"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83"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5"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2" name="Group 1404"/>
              <p:cNvGrpSpPr>
                <a:grpSpLocks/>
              </p:cNvGrpSpPr>
              <p:nvPr/>
            </p:nvGrpSpPr>
            <p:grpSpPr bwMode="auto">
              <a:xfrm rot="20933218">
                <a:off x="5255197" y="3165217"/>
                <a:ext cx="611187" cy="523875"/>
                <a:chOff x="2949" y="196"/>
                <a:chExt cx="941" cy="598"/>
              </a:xfrm>
            </p:grpSpPr>
            <p:sp>
              <p:nvSpPr>
                <p:cNvPr id="27740"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1"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2"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3"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4"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5"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6"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7"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48"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49"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50"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8"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3" name="Group 1416"/>
              <p:cNvGrpSpPr>
                <a:grpSpLocks/>
              </p:cNvGrpSpPr>
              <p:nvPr/>
            </p:nvGrpSpPr>
            <p:grpSpPr bwMode="auto">
              <a:xfrm rot="282232">
                <a:off x="6224704" y="2566730"/>
                <a:ext cx="644525" cy="441325"/>
                <a:chOff x="2949" y="196"/>
                <a:chExt cx="941" cy="598"/>
              </a:xfrm>
            </p:grpSpPr>
            <p:sp>
              <p:nvSpPr>
                <p:cNvPr id="2772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3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3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3"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196" name="Line 1453"/>
              <p:cNvSpPr>
                <a:spLocks noChangeShapeType="1"/>
              </p:cNvSpPr>
              <p:nvPr/>
            </p:nvSpPr>
            <p:spPr bwMode="auto">
              <a:xfrm flipH="1" flipV="1">
                <a:off x="2826813" y="1437329"/>
                <a:ext cx="1358429" cy="43670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7" name="Group 1320"/>
              <p:cNvGrpSpPr>
                <a:grpSpLocks/>
              </p:cNvGrpSpPr>
              <p:nvPr/>
            </p:nvGrpSpPr>
            <p:grpSpPr bwMode="auto">
              <a:xfrm>
                <a:off x="3883138" y="1675914"/>
                <a:ext cx="738187" cy="441325"/>
                <a:chOff x="2949" y="196"/>
                <a:chExt cx="941" cy="598"/>
              </a:xfrm>
            </p:grpSpPr>
            <p:sp>
              <p:nvSpPr>
                <p:cNvPr id="2778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8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9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9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7"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0" name="Group 1428"/>
              <p:cNvGrpSpPr>
                <a:grpSpLocks/>
              </p:cNvGrpSpPr>
              <p:nvPr/>
            </p:nvGrpSpPr>
            <p:grpSpPr bwMode="auto">
              <a:xfrm rot="20745072">
                <a:off x="3800586" y="2811209"/>
                <a:ext cx="655637" cy="615950"/>
                <a:chOff x="2949" y="196"/>
                <a:chExt cx="941" cy="598"/>
              </a:xfrm>
            </p:grpSpPr>
            <p:sp>
              <p:nvSpPr>
                <p:cNvPr id="27751"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2"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3"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4"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5"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6"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7"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27758"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27759"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0"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27761"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27694"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97" name="Text Box 1524"/>
            <p:cNvSpPr txBox="1">
              <a:spLocks noChangeArrowheads="1"/>
            </p:cNvSpPr>
            <p:nvPr/>
          </p:nvSpPr>
          <p:spPr bwMode="auto">
            <a:xfrm>
              <a:off x="6585210" y="2857687"/>
              <a:ext cx="451316" cy="24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主机</a:t>
              </a:r>
            </a:p>
          </p:txBody>
        </p:sp>
        <p:grpSp>
          <p:nvGrpSpPr>
            <p:cNvPr id="200" name="Group 198"/>
            <p:cNvGrpSpPr>
              <a:grpSpLocks/>
            </p:cNvGrpSpPr>
            <p:nvPr/>
          </p:nvGrpSpPr>
          <p:grpSpPr bwMode="auto">
            <a:xfrm>
              <a:off x="2528565" y="3407083"/>
              <a:ext cx="443354" cy="419781"/>
              <a:chOff x="975" y="2584"/>
              <a:chExt cx="407" cy="438"/>
            </a:xfrm>
          </p:grpSpPr>
          <p:sp>
            <p:nvSpPr>
              <p:cNvPr id="20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8" name="Group 198"/>
            <p:cNvGrpSpPr>
              <a:grpSpLocks/>
            </p:cNvGrpSpPr>
            <p:nvPr/>
          </p:nvGrpSpPr>
          <p:grpSpPr bwMode="auto">
            <a:xfrm>
              <a:off x="1944797" y="2316570"/>
              <a:ext cx="443354" cy="419781"/>
              <a:chOff x="975" y="2584"/>
              <a:chExt cx="407" cy="438"/>
            </a:xfrm>
          </p:grpSpPr>
          <p:sp>
            <p:nvSpPr>
              <p:cNvPr id="18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6" name="Group 198"/>
            <p:cNvGrpSpPr>
              <a:grpSpLocks/>
            </p:cNvGrpSpPr>
            <p:nvPr/>
          </p:nvGrpSpPr>
          <p:grpSpPr bwMode="auto">
            <a:xfrm>
              <a:off x="6354911" y="1642580"/>
              <a:ext cx="443354" cy="419781"/>
              <a:chOff x="975" y="2584"/>
              <a:chExt cx="407" cy="438"/>
            </a:xfrm>
          </p:grpSpPr>
          <p:sp>
            <p:nvSpPr>
              <p:cNvPr id="2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15" name="Group 198"/>
            <p:cNvGrpSpPr>
              <a:grpSpLocks/>
            </p:cNvGrpSpPr>
            <p:nvPr/>
          </p:nvGrpSpPr>
          <p:grpSpPr bwMode="auto">
            <a:xfrm>
              <a:off x="3909107" y="3838710"/>
              <a:ext cx="443354" cy="419781"/>
              <a:chOff x="975" y="2584"/>
              <a:chExt cx="407" cy="438"/>
            </a:xfrm>
          </p:grpSpPr>
          <p:sp>
            <p:nvSpPr>
              <p:cNvPr id="21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17"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92" name="Group 198"/>
            <p:cNvGrpSpPr>
              <a:grpSpLocks/>
            </p:cNvGrpSpPr>
            <p:nvPr/>
          </p:nvGrpSpPr>
          <p:grpSpPr bwMode="auto">
            <a:xfrm>
              <a:off x="6501622" y="3263500"/>
              <a:ext cx="443354" cy="419781"/>
              <a:chOff x="975" y="2584"/>
              <a:chExt cx="407" cy="438"/>
            </a:xfrm>
          </p:grpSpPr>
          <p:sp>
            <p:nvSpPr>
              <p:cNvPr id="19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4"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3" name="Group 198"/>
            <p:cNvGrpSpPr>
              <a:grpSpLocks/>
            </p:cNvGrpSpPr>
            <p:nvPr/>
          </p:nvGrpSpPr>
          <p:grpSpPr bwMode="auto">
            <a:xfrm>
              <a:off x="6585210" y="2407614"/>
              <a:ext cx="443354" cy="419781"/>
              <a:chOff x="975" y="2584"/>
              <a:chExt cx="407" cy="438"/>
            </a:xfrm>
          </p:grpSpPr>
          <p:sp>
            <p:nvSpPr>
              <p:cNvPr id="20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20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6" name="Group 198"/>
            <p:cNvGrpSpPr>
              <a:grpSpLocks/>
            </p:cNvGrpSpPr>
            <p:nvPr/>
          </p:nvGrpSpPr>
          <p:grpSpPr bwMode="auto">
            <a:xfrm>
              <a:off x="2349839" y="1522967"/>
              <a:ext cx="443354" cy="419781"/>
              <a:chOff x="975" y="2584"/>
              <a:chExt cx="407" cy="438"/>
            </a:xfrm>
          </p:grpSpPr>
          <p:sp>
            <p:nvSpPr>
              <p:cNvPr id="18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9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9" name="内容占位符 8">
            <a:extLst>
              <a:ext uri="{FF2B5EF4-FFF2-40B4-BE49-F238E27FC236}">
                <a16:creationId xmlns:a16="http://schemas.microsoft.com/office/drawing/2014/main" id="{EE16495E-A2E7-E9A6-C2BD-0F84E73DCEE9}"/>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用“云”表示网络：主机在“云”外</a:t>
            </a:r>
          </a:p>
        </p:txBody>
      </p:sp>
    </p:spTree>
    <p:extLst>
      <p:ext uri="{BB962C8B-B14F-4D97-AF65-F5344CB8AC3E}">
        <p14:creationId xmlns:p14="http://schemas.microsoft.com/office/powerpoint/2010/main" val="2998722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3"/>
          <p:cNvSpPr>
            <a:spLocks noChangeArrowheads="1"/>
          </p:cNvSpPr>
          <p:nvPr/>
        </p:nvSpPr>
        <p:spPr bwMode="auto">
          <a:xfrm>
            <a:off x="497958" y="1288874"/>
            <a:ext cx="8088693" cy="1967673"/>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4" name="矩形 3"/>
          <p:cNvSpPr/>
          <p:nvPr/>
        </p:nvSpPr>
        <p:spPr>
          <a:xfrm>
            <a:off x="661851" y="1390536"/>
            <a:ext cx="7752233" cy="1631216"/>
          </a:xfrm>
          <a:prstGeom prst="rect">
            <a:avLst/>
          </a:prstGeom>
        </p:spPr>
        <p:txBody>
          <a:bodyPr wrap="square">
            <a:spAutoFit/>
          </a:bodyPr>
          <a:lstStyle/>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网络：</a:t>
            </a:r>
            <a:r>
              <a:rPr lang="zh-CN" altLang="en-US" sz="2000" b="1" dirty="0">
                <a:solidFill>
                  <a:schemeClr val="bg1"/>
                </a:solidFill>
                <a:latin typeface="微软雅黑" pitchFamily="34" charset="-122"/>
                <a:ea typeface="微软雅黑" pitchFamily="34" charset="-122"/>
              </a:rPr>
              <a:t>把许多计算机连接在一起。</a:t>
            </a:r>
            <a:endParaRPr lang="en-US" altLang="zh-CN" sz="2000" b="1" dirty="0">
              <a:solidFill>
                <a:schemeClr val="bg1"/>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rgbClr val="FFFF00"/>
                </a:solidFill>
                <a:latin typeface="微软雅黑" pitchFamily="34" charset="-122"/>
                <a:ea typeface="微软雅黑" pitchFamily="34" charset="-122"/>
              </a:rPr>
              <a:t>互连网：</a:t>
            </a:r>
            <a:r>
              <a:rPr lang="zh-CN" altLang="en-US" sz="2000" b="1" dirty="0">
                <a:solidFill>
                  <a:schemeClr val="bg1"/>
                </a:solidFill>
                <a:latin typeface="微软雅黑" pitchFamily="34" charset="-122"/>
                <a:ea typeface="微软雅黑" pitchFamily="34" charset="-122"/>
              </a:rPr>
              <a:t>把许多网络通过一些路由器连接在一起。与网络相连的计算机常称为</a:t>
            </a:r>
            <a:r>
              <a:rPr lang="zh-CN" altLang="en-US" sz="2000" b="1" dirty="0">
                <a:solidFill>
                  <a:srgbClr val="FFC000"/>
                </a:solidFill>
                <a:latin typeface="微软雅黑" pitchFamily="34" charset="-122"/>
                <a:ea typeface="微软雅黑" pitchFamily="34" charset="-122"/>
              </a:rPr>
              <a:t>主机。</a:t>
            </a:r>
            <a:endParaRPr lang="en-US" altLang="zh-CN" sz="2000" b="1" dirty="0">
              <a:solidFill>
                <a:srgbClr val="FFC000"/>
              </a:solidFill>
              <a:latin typeface="微软雅黑" pitchFamily="34" charset="-122"/>
              <a:ea typeface="微软雅黑" pitchFamily="34" charset="-122"/>
            </a:endParaRPr>
          </a:p>
          <a:p>
            <a:pPr marL="342900" indent="-342900" eaLnBrk="0" fontAlgn="auto" hangingPunct="0">
              <a:lnSpc>
                <a:spcPts val="3000"/>
              </a:lnSpc>
              <a:spcBef>
                <a:spcPts val="0"/>
              </a:spcBef>
              <a:spcAft>
                <a:spcPts val="0"/>
              </a:spcAft>
              <a:buFont typeface="Wingdings" panose="05000000000000000000" pitchFamily="2" charset="2"/>
              <a:buChar char="l"/>
            </a:pPr>
            <a:r>
              <a:rPr lang="zh-CN" altLang="en-US" sz="2000" b="1" dirty="0">
                <a:solidFill>
                  <a:schemeClr val="bg1"/>
                </a:solidFill>
                <a:latin typeface="微软雅黑" pitchFamily="34" charset="-122"/>
                <a:ea typeface="微软雅黑" pitchFamily="34" charset="-122"/>
              </a:rPr>
              <a:t>互连网 </a:t>
            </a:r>
            <a:r>
              <a:rPr lang="en-US" altLang="zh-CN" sz="2000" b="1" dirty="0">
                <a:solidFill>
                  <a:schemeClr val="bg1"/>
                </a:solidFill>
                <a:latin typeface="微软雅黑" pitchFamily="34" charset="-122"/>
                <a:ea typeface="微软雅黑" pitchFamily="34" charset="-122"/>
              </a:rPr>
              <a:t>(internet)</a:t>
            </a:r>
            <a:r>
              <a:rPr lang="zh-CN" altLang="en-US" sz="2000" b="1" dirty="0">
                <a:solidFill>
                  <a:schemeClr val="bg1"/>
                </a:solidFill>
                <a:latin typeface="微软雅黑" pitchFamily="34" charset="-122"/>
                <a:ea typeface="微软雅黑" pitchFamily="34" charset="-122"/>
              </a:rPr>
              <a:t> </a:t>
            </a:r>
            <a:r>
              <a:rPr lang="zh-CN" altLang="en-US" sz="2000" b="1" dirty="0">
                <a:solidFill>
                  <a:srgbClr val="FFFF00"/>
                </a:solidFill>
                <a:latin typeface="微软雅黑" pitchFamily="34" charset="-122"/>
                <a:ea typeface="微软雅黑" pitchFamily="34" charset="-122"/>
              </a:rPr>
              <a:t>≠</a:t>
            </a:r>
            <a:r>
              <a:rPr lang="zh-CN" altLang="en-US" sz="2000" b="1" dirty="0">
                <a:solidFill>
                  <a:schemeClr val="bg1"/>
                </a:solidFill>
                <a:latin typeface="微软雅黑" pitchFamily="34" charset="-122"/>
                <a:ea typeface="微软雅黑" pitchFamily="34" charset="-122"/>
              </a:rPr>
              <a:t> 互联网 </a:t>
            </a:r>
            <a:r>
              <a:rPr lang="en-US" altLang="zh-CN" sz="2000" b="1" dirty="0">
                <a:solidFill>
                  <a:schemeClr val="bg1"/>
                </a:solidFill>
                <a:latin typeface="微软雅黑" pitchFamily="34" charset="-122"/>
                <a:ea typeface="微软雅黑" pitchFamily="34" charset="-122"/>
              </a:rPr>
              <a:t>(Internet)</a:t>
            </a:r>
            <a:endParaRPr lang="zh-CN" altLang="zh-CN" sz="2000" b="1" dirty="0">
              <a:solidFill>
                <a:schemeClr val="bg1"/>
              </a:solidFill>
              <a:latin typeface="微软雅黑" pitchFamily="34" charset="-122"/>
              <a:ea typeface="微软雅黑" pitchFamily="34" charset="-122"/>
            </a:endParaRPr>
          </a:p>
        </p:txBody>
      </p:sp>
      <p:sp>
        <p:nvSpPr>
          <p:cNvPr id="11" name="内容占位符 10">
            <a:extLst>
              <a:ext uri="{FF2B5EF4-FFF2-40B4-BE49-F238E27FC236}">
                <a16:creationId xmlns:a16="http://schemas.microsoft.com/office/drawing/2014/main" id="{BF870DD6-8622-7BCC-0357-1E3087C4C8D6}"/>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网络与互连网</a:t>
            </a:r>
          </a:p>
        </p:txBody>
      </p:sp>
    </p:spTree>
    <p:extLst>
      <p:ext uri="{BB962C8B-B14F-4D97-AF65-F5344CB8AC3E}">
        <p14:creationId xmlns:p14="http://schemas.microsoft.com/office/powerpoint/2010/main" val="4155289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C5377833-70E9-A734-C6DA-DEC631897067}"/>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en-US" altLang="zh-CN" dirty="0"/>
              <a:t>1.2.2  </a:t>
            </a:r>
            <a:r>
              <a:rPr lang="zh-CN" altLang="en-US" dirty="0"/>
              <a:t>互联网基础结构发展的三个阶段</a:t>
            </a:r>
          </a:p>
        </p:txBody>
      </p:sp>
      <p:graphicFrame>
        <p:nvGraphicFramePr>
          <p:cNvPr id="7" name="图示 6"/>
          <p:cNvGraphicFramePr/>
          <p:nvPr>
            <p:extLst>
              <p:ext uri="{D42A27DB-BD31-4B8C-83A1-F6EECF244321}">
                <p14:modId xmlns:p14="http://schemas.microsoft.com/office/powerpoint/2010/main" val="1302312913"/>
              </p:ext>
            </p:extLst>
          </p:nvPr>
        </p:nvGraphicFramePr>
        <p:xfrm>
          <a:off x="525103" y="1210493"/>
          <a:ext cx="7991880" cy="2743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ARPANET</a:t>
            </a:r>
            <a:r>
              <a:rPr lang="zh-CN" altLang="en-US" dirty="0"/>
              <a:t>：最初只是一个单个的分组交换网，不是一个互连网。 </a:t>
            </a:r>
          </a:p>
          <a:p>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r>
              <a:rPr lang="zh-CN" altLang="zh-CN" dirty="0"/>
              <a:t>使得所有使用</a:t>
            </a:r>
            <a:r>
              <a:rPr lang="en-US" altLang="zh-CN" dirty="0"/>
              <a:t> TCP/IP </a:t>
            </a:r>
            <a:r>
              <a:rPr lang="zh-CN" altLang="zh-CN" dirty="0"/>
              <a:t>协议的计算机都能利用互连网相互通信</a:t>
            </a:r>
            <a:r>
              <a:rPr lang="zh-CN" altLang="en-US" dirty="0"/>
              <a:t>。</a:t>
            </a:r>
          </a:p>
          <a:p>
            <a:r>
              <a:rPr lang="zh-CN" altLang="en-US" dirty="0"/>
              <a:t>人们把 </a:t>
            </a:r>
            <a:r>
              <a:rPr lang="en-US" altLang="zh-CN" dirty="0"/>
              <a:t>1983 </a:t>
            </a:r>
            <a:r>
              <a:rPr lang="zh-CN" altLang="en-US" dirty="0"/>
              <a:t>年作为互联网的诞生时间。</a:t>
            </a:r>
            <a:endParaRPr lang="en-US" altLang="zh-CN" dirty="0"/>
          </a:p>
          <a:p>
            <a:r>
              <a:rPr lang="en-US" altLang="zh-CN" dirty="0"/>
              <a:t>1990 </a:t>
            </a:r>
            <a:r>
              <a:rPr lang="zh-CN" altLang="zh-CN" dirty="0"/>
              <a:t>年</a:t>
            </a:r>
            <a:r>
              <a:rPr lang="zh-CN" altLang="en-US" dirty="0"/>
              <a:t>，</a:t>
            </a:r>
            <a:r>
              <a:rPr lang="en-US" altLang="zh-CN" dirty="0"/>
              <a:t>ARPANET </a:t>
            </a:r>
            <a:r>
              <a:rPr lang="zh-CN" altLang="zh-CN" dirty="0"/>
              <a:t>正式宣布关闭</a:t>
            </a:r>
            <a:r>
              <a:rPr lang="zh-CN" altLang="en-US" dirty="0"/>
              <a:t>。</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第一阶段：</a:t>
            </a:r>
            <a:r>
              <a:rPr lang="en-US" altLang="zh-CN" dirty="0"/>
              <a:t>1969 – 1990 </a:t>
            </a:r>
            <a:endParaRPr lang="zh-CN" altLang="en-US" dirty="0"/>
          </a:p>
        </p:txBody>
      </p:sp>
      <p:grpSp>
        <p:nvGrpSpPr>
          <p:cNvPr id="36" name="组合 35"/>
          <p:cNvGrpSpPr/>
          <p:nvPr/>
        </p:nvGrpSpPr>
        <p:grpSpPr>
          <a:xfrm>
            <a:off x="5763014" y="1231687"/>
            <a:ext cx="2369638" cy="2239778"/>
            <a:chOff x="5512528" y="1295507"/>
            <a:chExt cx="2369638" cy="2239778"/>
          </a:xfrm>
        </p:grpSpPr>
        <p:sp>
          <p:nvSpPr>
            <p:cNvPr id="2" name="椭圆 1"/>
            <p:cNvSpPr/>
            <p:nvPr/>
          </p:nvSpPr>
          <p:spPr>
            <a:xfrm>
              <a:off x="6584585"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SRI</a:t>
              </a:r>
              <a:endParaRPr lang="zh-CN" altLang="en-US" sz="1600" b="1" dirty="0">
                <a:solidFill>
                  <a:schemeClr val="tx1"/>
                </a:solidFill>
              </a:endParaRPr>
            </a:p>
          </p:txBody>
        </p:sp>
        <p:sp>
          <p:nvSpPr>
            <p:cNvPr id="4" name="椭圆 3"/>
            <p:cNvSpPr/>
            <p:nvPr/>
          </p:nvSpPr>
          <p:spPr>
            <a:xfrm>
              <a:off x="6723923"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6070777" y="2301158"/>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6723923" y="304348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7577367"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p:cNvCxnSpPr>
              <a:stCxn id="4" idx="3"/>
              <a:endCxn id="6" idx="7"/>
            </p:cNvCxnSpPr>
            <p:nvPr/>
          </p:nvCxnSpPr>
          <p:spPr>
            <a:xfrm flipH="1">
              <a:off x="6271475" y="1759532"/>
              <a:ext cx="486882" cy="57606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a:stCxn id="6" idx="5"/>
              <a:endCxn id="7" idx="1"/>
            </p:cNvCxnSpPr>
            <p:nvPr/>
          </p:nvCxnSpPr>
          <p:spPr>
            <a:xfrm>
              <a:off x="6271475" y="2501856"/>
              <a:ext cx="486882" cy="576062"/>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a:stCxn id="8" idx="2"/>
              <a:endCxn id="4" idx="6"/>
            </p:cNvCxnSpPr>
            <p:nvPr/>
          </p:nvCxnSpPr>
          <p:spPr>
            <a:xfrm flipH="1">
              <a:off x="6959055" y="1676400"/>
              <a:ext cx="61831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a:stCxn id="7" idx="0"/>
              <a:endCxn id="4" idx="4"/>
            </p:cNvCxnSpPr>
            <p:nvPr/>
          </p:nvCxnSpPr>
          <p:spPr>
            <a:xfrm flipV="1">
              <a:off x="6841489" y="1793966"/>
              <a:ext cx="0" cy="1249518"/>
            </a:xfrm>
            <a:prstGeom prst="line">
              <a:avLst/>
            </a:prstGeom>
            <a:ln w="19050"/>
          </p:spPr>
          <p:style>
            <a:lnRef idx="1">
              <a:schemeClr val="dk1"/>
            </a:lnRef>
            <a:fillRef idx="0">
              <a:schemeClr val="dk1"/>
            </a:fillRef>
            <a:effectRef idx="0">
              <a:schemeClr val="dk1"/>
            </a:effectRef>
            <a:fontRef idx="minor">
              <a:schemeClr val="tx1"/>
            </a:fontRef>
          </p:style>
        </p:cxnSp>
        <p:sp>
          <p:nvSpPr>
            <p:cNvPr id="21" name="椭圆 20"/>
            <p:cNvSpPr/>
            <p:nvPr/>
          </p:nvSpPr>
          <p:spPr>
            <a:xfrm>
              <a:off x="5512528" y="227140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UCSB</a:t>
              </a:r>
              <a:endParaRPr lang="zh-CN" altLang="en-US" sz="1600" b="1" dirty="0">
                <a:solidFill>
                  <a:schemeClr val="tx1"/>
                </a:solidFill>
              </a:endParaRPr>
            </a:p>
          </p:txBody>
        </p:sp>
        <p:sp>
          <p:nvSpPr>
            <p:cNvPr id="22" name="椭圆 21"/>
            <p:cNvSpPr/>
            <p:nvPr/>
          </p:nvSpPr>
          <p:spPr>
            <a:xfrm>
              <a:off x="6564990" y="324064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UCLA</a:t>
              </a:r>
              <a:endParaRPr lang="zh-CN" altLang="en-US" sz="1600" b="1" dirty="0">
                <a:solidFill>
                  <a:schemeClr val="tx1"/>
                </a:solidFill>
              </a:endParaRPr>
            </a:p>
          </p:txBody>
        </p:sp>
        <p:sp>
          <p:nvSpPr>
            <p:cNvPr id="23" name="椭圆 22"/>
            <p:cNvSpPr/>
            <p:nvPr/>
          </p:nvSpPr>
          <p:spPr>
            <a:xfrm>
              <a:off x="7438029"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UTAH</a:t>
              </a:r>
              <a:endParaRPr lang="zh-CN" altLang="en-US" sz="1600" b="1" dirty="0">
                <a:solidFill>
                  <a:schemeClr val="tx1"/>
                </a:solidFill>
              </a:endParaRPr>
            </a:p>
          </p:txBody>
        </p:sp>
      </p:grpSp>
      <p:sp>
        <p:nvSpPr>
          <p:cNvPr id="37" name="矩形 36"/>
          <p:cNvSpPr/>
          <p:nvPr/>
        </p:nvSpPr>
        <p:spPr>
          <a:xfrm>
            <a:off x="6099319" y="3464914"/>
            <a:ext cx="227748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kumimoji="1" lang="en-US" altLang="zh-CN" sz="1600" b="1" dirty="0">
                <a:latin typeface="微软雅黑" panose="020B0503020204020204" pitchFamily="34" charset="-122"/>
                <a:ea typeface="微软雅黑" panose="020B0503020204020204" pitchFamily="34" charset="-122"/>
              </a:rPr>
              <a:t>1969 </a:t>
            </a:r>
            <a:r>
              <a:rPr kumimoji="1" lang="zh-CN" altLang="en-US" sz="1600" b="1" dirty="0">
                <a:latin typeface="微软雅黑" panose="020B0503020204020204" pitchFamily="34" charset="-122"/>
                <a:ea typeface="微软雅黑" panose="020B0503020204020204" pitchFamily="34" charset="-122"/>
              </a:rPr>
              <a:t>年的 </a:t>
            </a:r>
            <a:r>
              <a:rPr kumimoji="1" lang="en-US" altLang="zh-CN" sz="1600" b="1" dirty="0">
                <a:latin typeface="微软雅黑" panose="020B0503020204020204" pitchFamily="34" charset="-122"/>
                <a:ea typeface="微软雅黑" panose="020B0503020204020204" pitchFamily="34" charset="-122"/>
              </a:rPr>
              <a:t>ARPANET </a:t>
            </a:r>
            <a:endParaRPr kumimoji="1" lang="zh-CN" altLang="en-US"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国家科学基金网 </a:t>
            </a:r>
            <a:r>
              <a:rPr lang="en-US" altLang="zh-CN" dirty="0"/>
              <a:t>NSFNET</a:t>
            </a:r>
            <a:r>
              <a:rPr lang="zh-CN" altLang="en-US" dirty="0"/>
              <a:t>。</a:t>
            </a:r>
            <a:endParaRPr lang="en-US" altLang="zh-CN" dirty="0"/>
          </a:p>
          <a:p>
            <a:r>
              <a:rPr lang="zh-CN" altLang="en-US" dirty="0"/>
              <a:t>三级结构：主干网、地区网和校园网（或企业网）。</a:t>
            </a:r>
            <a:endParaRPr lang="en-US" altLang="zh-CN" dirty="0"/>
          </a:p>
          <a:p>
            <a:r>
              <a:rPr lang="zh-CN" altLang="en-US" dirty="0"/>
              <a:t>覆盖了全美国主要的大学和研究所，并且成为互联网中的主要组成部分。</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第二阶段：</a:t>
            </a:r>
            <a:r>
              <a:rPr lang="en-US" altLang="zh-CN" dirty="0"/>
              <a:t>1985 – 1993 </a:t>
            </a:r>
            <a:endParaRPr lang="zh-CN" altLang="en-US" dirty="0"/>
          </a:p>
        </p:txBody>
      </p:sp>
      <p:grpSp>
        <p:nvGrpSpPr>
          <p:cNvPr id="4" name="组合 96"/>
          <p:cNvGrpSpPr>
            <a:grpSpLocks/>
          </p:cNvGrpSpPr>
          <p:nvPr/>
        </p:nvGrpSpPr>
        <p:grpSpPr bwMode="auto">
          <a:xfrm>
            <a:off x="4298722" y="1252665"/>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出现了互联网服务提供者 </a:t>
            </a:r>
            <a:r>
              <a:rPr lang="en-US" altLang="zh-CN" dirty="0"/>
              <a:t>ISP (Internet Service Provider)</a:t>
            </a:r>
            <a:r>
              <a:rPr lang="zh-CN" altLang="en-US" dirty="0"/>
              <a:t>：</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r>
              <a:rPr lang="zh-CN" altLang="en-US" dirty="0"/>
              <a:t>。</a:t>
            </a:r>
            <a:endParaRPr lang="en-US" altLang="zh-CN" dirty="0"/>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组合 133"/>
          <p:cNvGrpSpPr/>
          <p:nvPr/>
        </p:nvGrpSpPr>
        <p:grpSpPr>
          <a:xfrm>
            <a:off x="1149531" y="4128718"/>
            <a:ext cx="6879772" cy="321069"/>
            <a:chOff x="1776552" y="4257054"/>
            <a:chExt cx="6387156" cy="321069"/>
          </a:xfrm>
        </p:grpSpPr>
        <p:sp>
          <p:nvSpPr>
            <p:cNvPr id="45" name="Text Box 273"/>
            <p:cNvSpPr txBox="1">
              <a:spLocks noChangeArrowheads="1"/>
            </p:cNvSpPr>
            <p:nvPr/>
          </p:nvSpPr>
          <p:spPr bwMode="auto">
            <a:xfrm>
              <a:off x="1785262" y="4291361"/>
              <a:ext cx="63649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ct val="15000"/>
                </a:spcBef>
                <a:spcAft>
                  <a:spcPct val="15000"/>
                </a:spcAft>
                <a:buClrTx/>
                <a:buSzTx/>
                <a:buFontTx/>
                <a:buNone/>
                <a:tabLst/>
                <a:defRPr/>
              </a:pPr>
              <a:r>
                <a:rPr lang="zh-CN" altLang="en-US" sz="1200" b="1" kern="0" dirty="0">
                  <a:solidFill>
                    <a:srgbClr val="000000"/>
                  </a:solidFill>
                  <a:latin typeface="微软雅黑" panose="020B0503020204020204" pitchFamily="34" charset="-122"/>
                  <a:ea typeface="微软雅黑" panose="020B0503020204020204" pitchFamily="34" charset="-122"/>
                </a:rPr>
                <a:t>通信</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举例：主机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A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主干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B</a:t>
              </a:r>
            </a:p>
          </p:txBody>
        </p:sp>
        <p:sp>
          <p:nvSpPr>
            <p:cNvPr id="46" name="Rectangle 274"/>
            <p:cNvSpPr>
              <a:spLocks noChangeArrowheads="1"/>
            </p:cNvSpPr>
            <p:nvPr/>
          </p:nvSpPr>
          <p:spPr bwMode="auto">
            <a:xfrm>
              <a:off x="1776552" y="4257054"/>
              <a:ext cx="6387156" cy="321069"/>
            </a:xfrm>
            <a:prstGeom prst="rect">
              <a:avLst/>
            </a:prstGeom>
            <a:noFill/>
            <a:ln w="38100" cmpd="dbl">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36" name="组合 135"/>
          <p:cNvGrpSpPr/>
          <p:nvPr/>
        </p:nvGrpSpPr>
        <p:grpSpPr>
          <a:xfrm>
            <a:off x="1550122" y="1064051"/>
            <a:ext cx="6172145" cy="2971789"/>
            <a:chOff x="2063931" y="1515290"/>
            <a:chExt cx="6172145"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42" name="Text Box 268"/>
            <p:cNvSpPr txBox="1">
              <a:spLocks noChangeArrowheads="1"/>
            </p:cNvSpPr>
            <p:nvPr/>
          </p:nvSpPr>
          <p:spPr bwMode="auto">
            <a:xfrm>
              <a:off x="4930326" y="3737529"/>
              <a:ext cx="29046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a:t>
              </a:r>
            </a:p>
          </p:txBody>
        </p:sp>
        <p:sp>
          <p:nvSpPr>
            <p:cNvPr id="44" name="Text Box 271"/>
            <p:cNvSpPr txBox="1">
              <a:spLocks noChangeArrowheads="1"/>
            </p:cNvSpPr>
            <p:nvPr/>
          </p:nvSpPr>
          <p:spPr bwMode="auto">
            <a:xfrm>
              <a:off x="7955230" y="3722370"/>
              <a:ext cx="28084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1" name="Text Box 342"/>
            <p:cNvSpPr txBox="1">
              <a:spLocks noChangeArrowheads="1"/>
            </p:cNvSpPr>
            <p:nvPr/>
          </p:nvSpPr>
          <p:spPr bwMode="auto">
            <a:xfrm>
              <a:off x="4850155" y="2298778"/>
              <a:ext cx="6463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3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7" name="Text Box 374"/>
            <p:cNvSpPr txBox="1">
              <a:spLocks noChangeArrowheads="1"/>
            </p:cNvSpPr>
            <p:nvPr/>
          </p:nvSpPr>
          <p:spPr bwMode="auto">
            <a:xfrm>
              <a:off x="3055709" y="3024716"/>
              <a:ext cx="441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20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75" name="Text Box 405"/>
            <p:cNvSpPr txBox="1">
              <a:spLocks noChangeArrowheads="1"/>
            </p:cNvSpPr>
            <p:nvPr/>
          </p:nvSpPr>
          <p:spPr bwMode="auto">
            <a:xfrm>
              <a:off x="5345409" y="3611831"/>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6" name="Text Box 406"/>
            <p:cNvSpPr txBox="1">
              <a:spLocks noChangeArrowheads="1"/>
            </p:cNvSpPr>
            <p:nvPr/>
          </p:nvSpPr>
          <p:spPr bwMode="auto">
            <a:xfrm>
              <a:off x="6067816"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内容提供者</a:t>
              </a:r>
              <a:endPar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nvGrpSpPr>
            <p:cNvPr id="92" name="组合 91"/>
            <p:cNvGrpSpPr/>
            <p:nvPr/>
          </p:nvGrpSpPr>
          <p:grpSpPr>
            <a:xfrm>
              <a:off x="6411686" y="2589558"/>
              <a:ext cx="425498" cy="267294"/>
              <a:chOff x="3320162" y="2589558"/>
              <a:chExt cx="425498" cy="26729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87487"/>
              <a:chOff x="2206814" y="2569365"/>
              <a:chExt cx="5656498" cy="287487"/>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grpSp>
            <p:nvGrpSpPr>
              <p:cNvPr id="91" name="组合 90"/>
              <p:cNvGrpSpPr/>
              <p:nvPr/>
            </p:nvGrpSpPr>
            <p:grpSpPr>
              <a:xfrm>
                <a:off x="3320162" y="2589558"/>
                <a:ext cx="425498" cy="267294"/>
                <a:chOff x="3320162" y="2589558"/>
                <a:chExt cx="425498" cy="267294"/>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3" name="内容占位符 12">
            <a:extLst>
              <a:ext uri="{FF2B5EF4-FFF2-40B4-BE49-F238E27FC236}">
                <a16:creationId xmlns:a16="http://schemas.microsoft.com/office/drawing/2014/main" id="{A4098E63-8BA9-BE40-983A-9C021E7D003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 </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互联网交换点 </a:t>
            </a:r>
            <a:r>
              <a:rPr lang="en-US" altLang="zh-CN" dirty="0"/>
              <a:t>IXP (Internet </a:t>
            </a:r>
            <a:r>
              <a:rPr lang="en-US" altLang="zh-CN" dirty="0" err="1"/>
              <a:t>eXchange</a:t>
            </a:r>
            <a:r>
              <a:rPr lang="en-US" altLang="zh-CN" dirty="0"/>
              <a:t> Point)</a:t>
            </a:r>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r>
              <a:rPr lang="zh-CN" altLang="en-US" dirty="0"/>
              <a:t>：在互联网上向所有用户提供视频等内容的公司。不向用户提供互联网的转接服务。</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万维网 </a:t>
            </a:r>
            <a:r>
              <a:rPr lang="en-US" altLang="zh-CN" dirty="0"/>
              <a:t>WWW  (World Wide Web)</a:t>
            </a:r>
            <a:r>
              <a:rPr lang="zh-CN" altLang="en-US" dirty="0"/>
              <a:t>：</a:t>
            </a:r>
            <a:endParaRPr lang="en-US" altLang="zh-CN" dirty="0"/>
          </a:p>
          <a:p>
            <a:pPr lvl="1"/>
            <a:r>
              <a:rPr lang="zh-CN" altLang="en-US" dirty="0"/>
              <a:t>由欧洲原子核研究组织 </a:t>
            </a:r>
            <a:r>
              <a:rPr lang="en-US" altLang="zh-CN" dirty="0"/>
              <a:t>CERN </a:t>
            </a:r>
            <a:r>
              <a:rPr lang="zh-CN" altLang="en-US" dirty="0"/>
              <a:t>开发。</a:t>
            </a:r>
          </a:p>
          <a:p>
            <a:pPr lvl="1"/>
            <a:r>
              <a:rPr lang="zh-CN" altLang="en-US" dirty="0"/>
              <a:t>成为互联网指数级增长的主要驱动力。</a:t>
            </a:r>
          </a:p>
          <a:p>
            <a:pPr lvl="1"/>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endParaRPr lang="en-US" altLang="zh-CN"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20 </a:t>
            </a:r>
            <a:r>
              <a:rPr lang="zh-CN" altLang="en-US" dirty="0"/>
              <a:t>世纪 </a:t>
            </a:r>
            <a:r>
              <a:rPr lang="en-US" altLang="zh-CN" dirty="0"/>
              <a:t>90 </a:t>
            </a:r>
            <a:r>
              <a:rPr lang="zh-CN" altLang="en-US" dirty="0"/>
              <a:t>年代：万维网 </a:t>
            </a:r>
            <a:r>
              <a:rPr lang="en-US" altLang="zh-CN" dirty="0"/>
              <a:t>WWW </a:t>
            </a:r>
            <a:r>
              <a:rPr lang="zh-CN" altLang="en-US" dirty="0"/>
              <a:t>的问世</a:t>
            </a:r>
          </a:p>
        </p:txBody>
      </p:sp>
      <p:sp>
        <p:nvSpPr>
          <p:cNvPr id="5" name="内容占位符 1"/>
          <p:cNvSpPr txBox="1">
            <a:spLocks/>
          </p:cNvSpPr>
          <p:nvPr/>
        </p:nvSpPr>
        <p:spPr>
          <a:xfrm>
            <a:off x="318299" y="1350004"/>
            <a:ext cx="3924187" cy="2562969"/>
          </a:xfrm>
          <a:prstGeom prst="rect">
            <a:avLst/>
          </a:prstGeom>
        </p:spPr>
        <p:txBody>
          <a:bodyPr/>
          <a:lstStyle>
            <a:lvl1pPr marL="342900" indent="-342900" algn="l" rtl="0" fontAlgn="base">
              <a:lnSpc>
                <a:spcPts val="28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28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28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lnSpc>
                <a:spcPts val="3000"/>
              </a:lnSpc>
            </a:pPr>
            <a:endParaRPr lang="zh-CN" altLang="en-US" dirty="0"/>
          </a:p>
        </p:txBody>
      </p:sp>
      <p:pic>
        <p:nvPicPr>
          <p:cNvPr id="9" name="图片 8"/>
          <p:cNvPicPr>
            <a:picLocks noChangeAspect="1"/>
          </p:cNvPicPr>
          <p:nvPr/>
        </p:nvPicPr>
        <p:blipFill>
          <a:blip r:embed="rId2"/>
          <a:stretch>
            <a:fillRect/>
          </a:stretch>
        </p:blipFill>
        <p:spPr>
          <a:xfrm>
            <a:off x="9249434" y="1145942"/>
            <a:ext cx="2755620" cy="2247392"/>
          </a:xfrm>
          <a:prstGeom prst="rect">
            <a:avLst/>
          </a:prstGeom>
        </p:spPr>
      </p:pic>
      <p:pic>
        <p:nvPicPr>
          <p:cNvPr id="8" name="图片 7"/>
          <p:cNvPicPr>
            <a:picLocks noChangeAspect="1"/>
          </p:cNvPicPr>
          <p:nvPr/>
        </p:nvPicPr>
        <p:blipFill>
          <a:blip r:embed="rId3"/>
          <a:stretch>
            <a:fillRect/>
          </a:stretch>
        </p:blipFill>
        <p:spPr>
          <a:xfrm>
            <a:off x="4361084" y="1474912"/>
            <a:ext cx="4190133" cy="2661060"/>
          </a:xfrm>
          <a:prstGeom prst="rect">
            <a:avLst/>
          </a:prstGeom>
        </p:spPr>
      </p:pic>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44"/>
          <p:cNvSpPr>
            <a:spLocks noChangeArrowheads="1"/>
          </p:cNvSpPr>
          <p:nvPr/>
        </p:nvSpPr>
        <p:spPr bwMode="auto">
          <a:xfrm>
            <a:off x="5116595" y="2513371"/>
            <a:ext cx="2774284"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6" name="AutoShape 43"/>
          <p:cNvSpPr>
            <a:spLocks noChangeArrowheads="1"/>
          </p:cNvSpPr>
          <p:nvPr/>
        </p:nvSpPr>
        <p:spPr bwMode="auto">
          <a:xfrm>
            <a:off x="1985559" y="2513371"/>
            <a:ext cx="2834003"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41999" name="Line 6"/>
          <p:cNvSpPr>
            <a:spLocks noChangeShapeType="1"/>
          </p:cNvSpPr>
          <p:nvPr/>
        </p:nvSpPr>
        <p:spPr bwMode="auto">
          <a:xfrm>
            <a:off x="3660511" y="3387409"/>
            <a:ext cx="425707"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0" name="Line 8"/>
          <p:cNvSpPr>
            <a:spLocks noChangeShapeType="1"/>
          </p:cNvSpPr>
          <p:nvPr/>
        </p:nvSpPr>
        <p:spPr bwMode="auto">
          <a:xfrm flipH="1">
            <a:off x="2918870" y="3387409"/>
            <a:ext cx="424369"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1" name="Line 18"/>
          <p:cNvSpPr>
            <a:spLocks noChangeShapeType="1"/>
          </p:cNvSpPr>
          <p:nvPr/>
        </p:nvSpPr>
        <p:spPr bwMode="auto">
          <a:xfrm flipV="1">
            <a:off x="5880918" y="3368670"/>
            <a:ext cx="101741" cy="137866"/>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2" name="Line 19"/>
          <p:cNvSpPr>
            <a:spLocks noChangeShapeType="1"/>
          </p:cNvSpPr>
          <p:nvPr/>
        </p:nvSpPr>
        <p:spPr bwMode="auto">
          <a:xfrm>
            <a:off x="6826042" y="3367332"/>
            <a:ext cx="164661" cy="107080"/>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3" name="Line 24"/>
          <p:cNvSpPr>
            <a:spLocks noChangeShapeType="1"/>
          </p:cNvSpPr>
          <p:nvPr/>
        </p:nvSpPr>
        <p:spPr bwMode="auto">
          <a:xfrm flipH="1">
            <a:off x="5504743" y="3683217"/>
            <a:ext cx="211515"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4" name="Line 25"/>
          <p:cNvSpPr>
            <a:spLocks noChangeShapeType="1"/>
          </p:cNvSpPr>
          <p:nvPr/>
        </p:nvSpPr>
        <p:spPr bwMode="auto">
          <a:xfrm>
            <a:off x="5876902" y="3683217"/>
            <a:ext cx="318611"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5" name="Line 26"/>
          <p:cNvSpPr>
            <a:spLocks noChangeShapeType="1"/>
          </p:cNvSpPr>
          <p:nvPr/>
        </p:nvSpPr>
        <p:spPr bwMode="auto">
          <a:xfrm flipH="1">
            <a:off x="6619882"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6" name="Line 27"/>
          <p:cNvSpPr>
            <a:spLocks noChangeShapeType="1"/>
          </p:cNvSpPr>
          <p:nvPr/>
        </p:nvSpPr>
        <p:spPr bwMode="auto">
          <a:xfrm>
            <a:off x="7044250"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2007" name="Freeform 4"/>
          <p:cNvSpPr>
            <a:spLocks/>
          </p:cNvSpPr>
          <p:nvPr/>
        </p:nvSpPr>
        <p:spPr bwMode="auto">
          <a:xfrm>
            <a:off x="4031789"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42009" name="Text Box 12"/>
          <p:cNvSpPr txBox="1">
            <a:spLocks noChangeArrowheads="1"/>
          </p:cNvSpPr>
          <p:nvPr/>
        </p:nvSpPr>
        <p:spPr bwMode="auto">
          <a:xfrm>
            <a:off x="2212271" y="2588935"/>
            <a:ext cx="22365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互联网研究部 </a:t>
            </a:r>
            <a:r>
              <a:rPr kumimoji="1" lang="en-US" altLang="zh-CN" sz="1600" b="1" dirty="0">
                <a:solidFill>
                  <a:schemeClr val="bg1"/>
                </a:solidFill>
                <a:latin typeface="微软雅黑" pitchFamily="34" charset="-122"/>
                <a:ea typeface="微软雅黑" pitchFamily="34" charset="-122"/>
              </a:rPr>
              <a:t>IRTF </a:t>
            </a:r>
          </a:p>
        </p:txBody>
      </p:sp>
      <p:sp>
        <p:nvSpPr>
          <p:cNvPr id="42010" name="Text Box 13"/>
          <p:cNvSpPr txBox="1">
            <a:spLocks noChangeArrowheads="1"/>
          </p:cNvSpPr>
          <p:nvPr/>
        </p:nvSpPr>
        <p:spPr bwMode="auto">
          <a:xfrm>
            <a:off x="5582387" y="2588935"/>
            <a:ext cx="213774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互联网工程部 </a:t>
            </a:r>
            <a:r>
              <a:rPr kumimoji="1" lang="en-US" altLang="zh-CN" sz="1600" b="1" dirty="0">
                <a:solidFill>
                  <a:schemeClr val="bg1"/>
                </a:solidFill>
                <a:latin typeface="微软雅黑" pitchFamily="34" charset="-122"/>
                <a:ea typeface="微软雅黑" pitchFamily="34" charset="-122"/>
              </a:rPr>
              <a:t>IETF </a:t>
            </a:r>
          </a:p>
        </p:txBody>
      </p:sp>
      <p:sp>
        <p:nvSpPr>
          <p:cNvPr id="42012" name="Text Box 17"/>
          <p:cNvSpPr txBox="1">
            <a:spLocks noChangeArrowheads="1"/>
          </p:cNvSpPr>
          <p:nvPr/>
        </p:nvSpPr>
        <p:spPr bwMode="auto">
          <a:xfrm>
            <a:off x="6228981" y="3386071"/>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3" name="Rectangle 20"/>
          <p:cNvSpPr>
            <a:spLocks noChangeArrowheads="1"/>
          </p:cNvSpPr>
          <p:nvPr/>
        </p:nvSpPr>
        <p:spPr bwMode="auto">
          <a:xfrm>
            <a:off x="2759564" y="3754157"/>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4" name="Rectangle 21"/>
          <p:cNvSpPr>
            <a:spLocks noChangeArrowheads="1"/>
          </p:cNvSpPr>
          <p:nvPr/>
        </p:nvSpPr>
        <p:spPr bwMode="auto">
          <a:xfrm>
            <a:off x="7250410"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15" name="Text Box 22"/>
          <p:cNvSpPr txBox="1">
            <a:spLocks noChangeArrowheads="1"/>
          </p:cNvSpPr>
          <p:nvPr/>
        </p:nvSpPr>
        <p:spPr bwMode="auto">
          <a:xfrm>
            <a:off x="5712242"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6" name="Text Box 23"/>
          <p:cNvSpPr txBox="1">
            <a:spLocks noChangeArrowheads="1"/>
          </p:cNvSpPr>
          <p:nvPr/>
        </p:nvSpPr>
        <p:spPr bwMode="auto">
          <a:xfrm>
            <a:off x="6921089" y="3711325"/>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7" name="Rectangle 28"/>
          <p:cNvSpPr>
            <a:spLocks noChangeArrowheads="1"/>
          </p:cNvSpPr>
          <p:nvPr/>
        </p:nvSpPr>
        <p:spPr bwMode="auto">
          <a:xfrm>
            <a:off x="3926912" y="3754157"/>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8" name="Text Box 29"/>
          <p:cNvSpPr txBox="1">
            <a:spLocks noChangeArrowheads="1"/>
          </p:cNvSpPr>
          <p:nvPr/>
        </p:nvSpPr>
        <p:spPr bwMode="auto">
          <a:xfrm>
            <a:off x="3300399" y="3730064"/>
            <a:ext cx="326643" cy="283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a:solidFill>
                  <a:schemeClr val="bg1"/>
                </a:solidFill>
                <a:latin typeface="Arial" charset="0"/>
                <a:ea typeface="黑体" pitchFamily="49" charset="-122"/>
              </a:rPr>
              <a:t>…</a:t>
            </a:r>
          </a:p>
        </p:txBody>
      </p:sp>
      <p:sp>
        <p:nvSpPr>
          <p:cNvPr id="42019" name="Rectangle 30"/>
          <p:cNvSpPr>
            <a:spLocks noChangeArrowheads="1"/>
          </p:cNvSpPr>
          <p:nvPr/>
        </p:nvSpPr>
        <p:spPr bwMode="auto">
          <a:xfrm>
            <a:off x="5669404"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0" name="Rectangle 31"/>
          <p:cNvSpPr>
            <a:spLocks noChangeArrowheads="1"/>
          </p:cNvSpPr>
          <p:nvPr/>
        </p:nvSpPr>
        <p:spPr bwMode="auto">
          <a:xfrm>
            <a:off x="6874235"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4" name="Rectangle 33"/>
          <p:cNvSpPr>
            <a:spLocks noChangeArrowheads="1"/>
          </p:cNvSpPr>
          <p:nvPr/>
        </p:nvSpPr>
        <p:spPr bwMode="auto">
          <a:xfrm>
            <a:off x="6504754"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5" name="Rectangle 34"/>
          <p:cNvSpPr>
            <a:spLocks noChangeArrowheads="1"/>
          </p:cNvSpPr>
          <p:nvPr/>
        </p:nvSpPr>
        <p:spPr bwMode="auto">
          <a:xfrm>
            <a:off x="6006756"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6" name="Rectangle 35"/>
          <p:cNvSpPr>
            <a:spLocks noChangeArrowheads="1"/>
          </p:cNvSpPr>
          <p:nvPr/>
        </p:nvSpPr>
        <p:spPr bwMode="auto">
          <a:xfrm>
            <a:off x="5333389" y="3780927"/>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cxnSp>
        <p:nvCxnSpPr>
          <p:cNvPr id="42027" name="AutoShape 45"/>
          <p:cNvCxnSpPr>
            <a:cxnSpLocks noChangeShapeType="1"/>
          </p:cNvCxnSpPr>
          <p:nvPr/>
        </p:nvCxnSpPr>
        <p:spPr bwMode="auto">
          <a:xfrm>
            <a:off x="5096479" y="2332674"/>
            <a:ext cx="804138"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a:off x="4937907" y="1674062"/>
            <a:ext cx="0" cy="190816"/>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p:cNvCxnSpPr>
          <p:nvPr/>
        </p:nvCxnSpPr>
        <p:spPr bwMode="auto">
          <a:xfrm flipH="1">
            <a:off x="4031790" y="2332674"/>
            <a:ext cx="737037"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4003493" y="1864878"/>
            <a:ext cx="1868827" cy="480522"/>
          </a:xfrm>
          <a:prstGeom prst="rect">
            <a:avLst/>
          </a:prstGeom>
          <a:solidFill>
            <a:srgbClr val="FF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互联网体系结构</a:t>
            </a:r>
          </a:p>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研究委员会 </a:t>
            </a:r>
            <a:r>
              <a:rPr kumimoji="1" lang="en-US" altLang="zh-CN" sz="1400" b="1" dirty="0">
                <a:solidFill>
                  <a:srgbClr val="0033CC"/>
                </a:solidFill>
                <a:latin typeface="微软雅黑" pitchFamily="34" charset="-122"/>
                <a:ea typeface="微软雅黑" pitchFamily="34" charset="-122"/>
              </a:rPr>
              <a:t>IAB </a:t>
            </a:r>
          </a:p>
        </p:txBody>
      </p:sp>
      <p:sp>
        <p:nvSpPr>
          <p:cNvPr id="42008" name="Rectangle 10"/>
          <p:cNvSpPr>
            <a:spLocks noChangeArrowheads="1"/>
          </p:cNvSpPr>
          <p:nvPr/>
        </p:nvSpPr>
        <p:spPr bwMode="auto">
          <a:xfrm>
            <a:off x="2455830" y="2981845"/>
            <a:ext cx="189009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互联网研究指导小组</a:t>
            </a:r>
          </a:p>
          <a:p>
            <a:pPr algn="ctr" eaLnBrk="0" hangingPunct="0"/>
            <a:r>
              <a:rPr kumimoji="1" lang="en-US" altLang="zh-CN" sz="1200" b="1" dirty="0">
                <a:solidFill>
                  <a:srgbClr val="000099"/>
                </a:solidFill>
                <a:latin typeface="微软雅黑" pitchFamily="34" charset="-122"/>
                <a:ea typeface="微软雅黑" pitchFamily="34" charset="-122"/>
              </a:rPr>
              <a:t>IRSG </a:t>
            </a:r>
          </a:p>
        </p:txBody>
      </p:sp>
      <p:sp>
        <p:nvSpPr>
          <p:cNvPr id="42011" name="Rectangle 16"/>
          <p:cNvSpPr>
            <a:spLocks noChangeArrowheads="1"/>
          </p:cNvSpPr>
          <p:nvPr/>
        </p:nvSpPr>
        <p:spPr bwMode="auto">
          <a:xfrm>
            <a:off x="5582387" y="2981845"/>
            <a:ext cx="184071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互联网工程指导小组</a:t>
            </a:r>
          </a:p>
          <a:p>
            <a:pPr algn="ctr" eaLnBrk="0" hangingPunct="0"/>
            <a:r>
              <a:rPr kumimoji="1" lang="en-US" altLang="zh-CN" sz="1200" b="1" dirty="0">
                <a:solidFill>
                  <a:srgbClr val="000099"/>
                </a:solidFill>
                <a:latin typeface="微软雅黑" pitchFamily="34" charset="-122"/>
                <a:ea typeface="微软雅黑" pitchFamily="34" charset="-122"/>
              </a:rPr>
              <a:t>IESG </a:t>
            </a:r>
          </a:p>
        </p:txBody>
      </p:sp>
      <p:sp>
        <p:nvSpPr>
          <p:cNvPr id="43" name="Rectangle 5"/>
          <p:cNvSpPr>
            <a:spLocks noChangeArrowheads="1"/>
          </p:cNvSpPr>
          <p:nvPr/>
        </p:nvSpPr>
        <p:spPr bwMode="auto">
          <a:xfrm>
            <a:off x="4003493" y="1244565"/>
            <a:ext cx="1868827" cy="429497"/>
          </a:xfrm>
          <a:prstGeom prst="rect">
            <a:avLst/>
          </a:prstGeom>
          <a:solidFill>
            <a:srgbClr val="33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chemeClr val="bg1"/>
                </a:solidFill>
                <a:latin typeface="微软雅黑" pitchFamily="34" charset="-122"/>
                <a:ea typeface="微软雅黑" pitchFamily="34" charset="-122"/>
              </a:rPr>
              <a:t>互联网协会 </a:t>
            </a:r>
            <a:r>
              <a:rPr kumimoji="1" lang="en-US" altLang="zh-CN" sz="1400" b="1" dirty="0">
                <a:solidFill>
                  <a:schemeClr val="bg1"/>
                </a:solidFill>
                <a:latin typeface="微软雅黑" pitchFamily="34" charset="-122"/>
                <a:ea typeface="微软雅黑" pitchFamily="34" charset="-122"/>
              </a:rPr>
              <a:t>ISOC</a:t>
            </a:r>
          </a:p>
        </p:txBody>
      </p:sp>
      <p:sp>
        <p:nvSpPr>
          <p:cNvPr id="2" name="内容占位符 1"/>
          <p:cNvSpPr>
            <a:spLocks noGrp="1"/>
          </p:cNvSpPr>
          <p:nvPr>
            <p:ph sz="quarter" idx="10"/>
          </p:nvPr>
        </p:nvSpPr>
        <p:spPr>
          <a:xfrm>
            <a:off x="466344" y="504285"/>
            <a:ext cx="8129016" cy="4172489"/>
          </a:xfrm>
        </p:spPr>
        <p:txBody>
          <a:bodyPr/>
          <a:lstStyle/>
          <a:p>
            <a:r>
              <a:rPr lang="zh-CN" altLang="en-US" dirty="0"/>
              <a:t>互联网的标准化工作对互联网的发展起到了非常重要的作用。</a:t>
            </a:r>
          </a:p>
        </p:txBody>
      </p:sp>
      <p:sp>
        <p:nvSpPr>
          <p:cNvPr id="3" name="文本占位符 2"/>
          <p:cNvSpPr>
            <a:spLocks noGrp="1"/>
          </p:cNvSpPr>
          <p:nvPr>
            <p:ph type="body" sz="quarter" idx="11"/>
          </p:nvPr>
        </p:nvSpPr>
        <p:spPr>
          <a:xfrm>
            <a:off x="0" y="150273"/>
            <a:ext cx="6632575" cy="338554"/>
          </a:xfrm>
        </p:spPr>
        <p:txBody>
          <a:bodyPr/>
          <a:lstStyle/>
          <a:p>
            <a:r>
              <a:rPr lang="en-US" altLang="zh-CN" dirty="0"/>
              <a:t>1.2.3  </a:t>
            </a:r>
            <a:r>
              <a:rPr lang="zh-CN" altLang="en-US" dirty="0"/>
              <a:t>互联网的标准化工作</a:t>
            </a:r>
          </a:p>
        </p:txBody>
      </p:sp>
      <p:sp>
        <p:nvSpPr>
          <p:cNvPr id="37" name="Rectangle 8"/>
          <p:cNvSpPr>
            <a:spLocks noChangeArrowheads="1"/>
          </p:cNvSpPr>
          <p:nvPr/>
        </p:nvSpPr>
        <p:spPr bwMode="auto">
          <a:xfrm>
            <a:off x="3400878" y="4392488"/>
            <a:ext cx="3131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1600" b="1" dirty="0">
                <a:ea typeface="微软雅黑" pitchFamily="34" charset="-122"/>
              </a:rPr>
              <a:t>组织架构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en-US" altLang="zh-CN" dirty="0"/>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标准发表：以 </a:t>
            </a:r>
            <a:r>
              <a:rPr lang="en-US" altLang="zh-CN" dirty="0"/>
              <a:t>RFC </a:t>
            </a:r>
            <a:r>
              <a:rPr lang="zh-CN" altLang="en-US" dirty="0"/>
              <a:t>的形式</a:t>
            </a:r>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1143116" y="1041242"/>
            <a:ext cx="6731727" cy="3473765"/>
            <a:chOff x="1143116" y="1087304"/>
            <a:chExt cx="6731727" cy="3473765"/>
          </a:xfrm>
        </p:grpSpPr>
        <p:sp>
          <p:nvSpPr>
            <p:cNvPr id="27" name="圆角矩形 26"/>
            <p:cNvSpPr/>
            <p:nvPr/>
          </p:nvSpPr>
          <p:spPr>
            <a:xfrm>
              <a:off x="1143116" y="1657386"/>
              <a:ext cx="6731727" cy="2903683"/>
            </a:xfrm>
            <a:prstGeom prst="roundRect">
              <a:avLst>
                <a:gd name="adj" fmla="val 3266"/>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zh-CN" altLang="en-US" sz="1400" dirty="0"/>
            </a:p>
          </p:txBody>
        </p:sp>
        <p:sp>
          <p:nvSpPr>
            <p:cNvPr id="28" name="文本框 27"/>
            <p:cNvSpPr txBox="1"/>
            <p:nvPr/>
          </p:nvSpPr>
          <p:spPr>
            <a:xfrm>
              <a:off x="3139910" y="1616294"/>
              <a:ext cx="1369070" cy="307777"/>
            </a:xfrm>
            <a:prstGeom prst="rect">
              <a:avLst/>
            </a:prstGeom>
            <a:noFill/>
          </p:spPr>
          <p:txBody>
            <a:bodyPr wrap="square" rtlCol="0">
              <a:spAutoFit/>
            </a:bodyPr>
            <a:lstStyle/>
            <a:p>
              <a:pPr algn="r"/>
              <a:r>
                <a:rPr lang="en-US" altLang="zh-CN" sz="1400" b="1" dirty="0" err="1">
                  <a:latin typeface="微软雅黑" panose="020B0503020204020204" pitchFamily="34" charset="-122"/>
                  <a:ea typeface="微软雅黑" panose="020B0503020204020204" pitchFamily="34" charset="-122"/>
                </a:rPr>
                <a:t>RFCxxxx</a:t>
              </a:r>
              <a:endParaRPr lang="zh-CN" altLang="en-US" sz="1400" b="1" dirty="0">
                <a:latin typeface="微软雅黑" panose="020B0503020204020204" pitchFamily="34" charset="-122"/>
                <a:ea typeface="微软雅黑" panose="020B0503020204020204" pitchFamily="34" charset="-122"/>
              </a:endParaRPr>
            </a:p>
          </p:txBody>
        </p:sp>
        <p:cxnSp>
          <p:nvCxnSpPr>
            <p:cNvPr id="43021" name="直接箭头连接符 43020"/>
            <p:cNvCxnSpPr/>
            <p:nvPr/>
          </p:nvCxnSpPr>
          <p:spPr>
            <a:xfrm flipH="1">
              <a:off x="2717895" y="1904139"/>
              <a:ext cx="3595815" cy="0"/>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4528448" y="1491288"/>
              <a:ext cx="0" cy="408414"/>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87304"/>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00FFFF"/>
            </a:solidFill>
            <a:ln>
              <a:no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互联网草案</a:t>
              </a:r>
              <a:endParaRPr lang="en-US" altLang="zh-CN" sz="12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 </a:t>
              </a:r>
              <a:r>
                <a:rPr lang="en-US" altLang="en-US" sz="1200" b="1" kern="1200" dirty="0">
                  <a:latin typeface="微软雅黑" panose="020B0503020204020204" pitchFamily="34" charset="-122"/>
                  <a:ea typeface="微软雅黑" panose="020B0503020204020204" pitchFamily="34" charset="-122"/>
                </a:rPr>
                <a:t>(Internet Draft)</a:t>
              </a:r>
              <a:endParaRPr lang="zh-CN" altLang="en-US" sz="1200" b="1" kern="1200" dirty="0">
                <a:latin typeface="微软雅黑" panose="020B0503020204020204" pitchFamily="34" charset="-122"/>
                <a:ea typeface="微软雅黑" panose="020B0503020204020204" pitchFamily="34" charset="-122"/>
              </a:endParaRPr>
            </a:p>
          </p:txBody>
        </p:sp>
        <p:sp>
          <p:nvSpPr>
            <p:cNvPr id="7" name="圆角矩形 6"/>
            <p:cNvSpPr/>
            <p:nvPr/>
          </p:nvSpPr>
          <p:spPr>
            <a:xfrm>
              <a:off x="1454345" y="2011680"/>
              <a:ext cx="2542903"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任意多边形 32"/>
            <p:cNvSpPr/>
            <p:nvPr/>
          </p:nvSpPr>
          <p:spPr>
            <a:xfrm>
              <a:off x="1755952" y="2395071"/>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92D050"/>
            </a:solidFill>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建议标准 </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en-US" altLang="en-US" sz="1100" b="1" kern="1200" dirty="0">
                  <a:latin typeface="微软雅黑" panose="020B0503020204020204" pitchFamily="34" charset="-122"/>
                  <a:ea typeface="微软雅黑" panose="020B0503020204020204" pitchFamily="34" charset="-122"/>
                </a:rPr>
                <a:t>(Proposed Standard)</a:t>
              </a:r>
              <a:endParaRPr lang="zh-CN" altLang="en-US" sz="1100" b="1" kern="1200" dirty="0">
                <a:latin typeface="微软雅黑" panose="020B0503020204020204" pitchFamily="34" charset="-122"/>
                <a:ea typeface="微软雅黑" panose="020B0503020204020204" pitchFamily="34" charset="-122"/>
              </a:endParaRPr>
            </a:p>
          </p:txBody>
        </p:sp>
        <p:sp>
          <p:nvSpPr>
            <p:cNvPr id="34" name="任意多边形 33"/>
            <p:cNvSpPr/>
            <p:nvPr/>
          </p:nvSpPr>
          <p:spPr>
            <a:xfrm>
              <a:off x="1755952" y="3699085"/>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FF9900"/>
            </a:solidFill>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互联网标准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kern="1200" dirty="0">
                  <a:latin typeface="微软雅黑" panose="020B0503020204020204" pitchFamily="34" charset="-122"/>
                  <a:ea typeface="微软雅黑" panose="020B0503020204020204" pitchFamily="34" charset="-122"/>
                </a:rPr>
                <a:t>(Internet Standard)</a:t>
              </a:r>
            </a:p>
            <a:p>
              <a:pPr lvl="0" algn="ctr" defTabSz="800100">
                <a:spcAft>
                  <a:spcPts val="0"/>
                </a:spcAft>
              </a:pPr>
              <a:r>
                <a:rPr lang="en-US" altLang="zh-CN" sz="1100" b="1" dirty="0">
                  <a:latin typeface="微软雅黑" panose="020B0503020204020204" pitchFamily="34" charset="-122"/>
                  <a:ea typeface="微软雅黑" panose="020B0503020204020204" pitchFamily="34" charset="-122"/>
                </a:rPr>
                <a:t>(</a:t>
              </a:r>
              <a:r>
                <a:rPr lang="zh-CN" altLang="en-US" sz="1100" b="1" dirty="0">
                  <a:latin typeface="微软雅黑" panose="020B0503020204020204" pitchFamily="34" charset="-122"/>
                  <a:ea typeface="微软雅黑" panose="020B0503020204020204" pitchFamily="34" charset="-122"/>
                </a:rPr>
                <a:t>记为 </a:t>
              </a:r>
              <a:r>
                <a:rPr lang="en-US" altLang="zh-CN" sz="1100" b="1" dirty="0" err="1">
                  <a:latin typeface="微软雅黑" panose="020B0503020204020204" pitchFamily="34" charset="-122"/>
                  <a:ea typeface="微软雅黑" panose="020B0503020204020204" pitchFamily="34" charset="-122"/>
                </a:rPr>
                <a:t>STDxx</a:t>
              </a:r>
              <a:r>
                <a:rPr lang="en-US" altLang="zh-CN" sz="1100" b="1"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5" name="任意多边形 34"/>
            <p:cNvSpPr/>
            <p:nvPr/>
          </p:nvSpPr>
          <p:spPr>
            <a:xfrm>
              <a:off x="2194579" y="3067623"/>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tx2">
                <a:lumMod val="60000"/>
                <a:lumOff val="40000"/>
              </a:schemeClr>
            </a:solidFill>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草案标准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(Draft </a:t>
              </a:r>
              <a:r>
                <a:rPr lang="en-US" altLang="en-US" sz="1100" b="1" kern="1200" dirty="0">
                  <a:latin typeface="微软雅黑" panose="020B0503020204020204" pitchFamily="34" charset="-122"/>
                  <a:ea typeface="微软雅黑" panose="020B0503020204020204" pitchFamily="34" charset="-122"/>
                </a:rPr>
                <a:t>Standard)</a:t>
              </a:r>
              <a:endParaRPr lang="zh-CN" altLang="en-US" sz="1100" b="1" kern="1200" dirty="0">
                <a:latin typeface="微软雅黑" panose="020B0503020204020204" pitchFamily="34" charset="-122"/>
                <a:ea typeface="微软雅黑" panose="020B0503020204020204" pitchFamily="34" charset="-122"/>
              </a:endParaRPr>
            </a:p>
          </p:txBody>
        </p:sp>
        <p:cxnSp>
          <p:nvCxnSpPr>
            <p:cNvPr id="133" name="直接箭头连接符 132"/>
            <p:cNvCxnSpPr/>
            <p:nvPr/>
          </p:nvCxnSpPr>
          <p:spPr>
            <a:xfrm>
              <a:off x="2717890" y="2845397"/>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87961"/>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845397"/>
              <a:ext cx="0" cy="852467"/>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2020455"/>
              <a:ext cx="902811"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标准轨道</a:t>
              </a:r>
            </a:p>
          </p:txBody>
        </p:sp>
        <p:cxnSp>
          <p:nvCxnSpPr>
            <p:cNvPr id="40" name="直接箭头连接符 39"/>
            <p:cNvCxnSpPr/>
            <p:nvPr/>
          </p:nvCxnSpPr>
          <p:spPr>
            <a:xfrm>
              <a:off x="3693384" y="2621552"/>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83408"/>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4032355"/>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627817"/>
              <a:ext cx="0" cy="1404261"/>
            </a:xfrm>
            <a:prstGeom prst="straightConnector1">
              <a:avLst/>
            </a:prstGeom>
            <a:ln w="1905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2011680"/>
              <a:ext cx="2542903"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05318" y="2020455"/>
              <a:ext cx="1083909" cy="276999"/>
            </a:xfrm>
            <a:prstGeom prst="rect">
              <a:avLst/>
            </a:prstGeom>
            <a:noFill/>
          </p:spPr>
          <p:txBody>
            <a:bodyPr wrap="square" rtlCol="0">
              <a:spAutoFit/>
            </a:bodyPr>
            <a:lstStyle/>
            <a:p>
              <a:pPr algn="r"/>
              <a:r>
                <a:rPr lang="zh-CN" altLang="en-US" sz="1200" b="1" dirty="0">
                  <a:latin typeface="微软雅黑" panose="020B0503020204020204" pitchFamily="34" charset="-122"/>
                  <a:ea typeface="微软雅黑" panose="020B0503020204020204" pitchFamily="34" charset="-122"/>
                </a:rPr>
                <a:t>非标准轨道</a:t>
              </a:r>
            </a:p>
          </p:txBody>
        </p:sp>
        <p:sp>
          <p:nvSpPr>
            <p:cNvPr id="36" name="任意多边形 35"/>
            <p:cNvSpPr/>
            <p:nvPr/>
          </p:nvSpPr>
          <p:spPr>
            <a:xfrm>
              <a:off x="5354664" y="3804703"/>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历史</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kern="1200" dirty="0">
                  <a:latin typeface="微软雅黑" panose="020B0503020204020204" pitchFamily="34" charset="-122"/>
                  <a:ea typeface="微软雅黑" panose="020B0503020204020204" pitchFamily="34" charset="-122"/>
                </a:rPr>
                <a:t>(</a:t>
              </a:r>
              <a:r>
                <a:rPr lang="en-US" altLang="zh-CN" sz="1100" b="1" kern="1200" dirty="0">
                  <a:latin typeface="微软雅黑" panose="020B0503020204020204" pitchFamily="34" charset="-122"/>
                  <a:ea typeface="微软雅黑" panose="020B0503020204020204" pitchFamily="34" charset="-122"/>
                </a:rPr>
                <a:t>Historic</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7" name="任意多边形 36"/>
            <p:cNvSpPr/>
            <p:nvPr/>
          </p:nvSpPr>
          <p:spPr>
            <a:xfrm>
              <a:off x="5354664" y="3109228"/>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信息</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dirty="0">
                  <a:latin typeface="微软雅黑" panose="020B0503020204020204" pitchFamily="34" charset="-122"/>
                  <a:ea typeface="微软雅黑" panose="020B0503020204020204" pitchFamily="34" charset="-122"/>
                </a:rPr>
                <a:t>(Informational)</a:t>
              </a:r>
              <a:endParaRPr lang="zh-CN" altLang="en-US" sz="1100" b="1" kern="1200" dirty="0">
                <a:latin typeface="微软雅黑" panose="020B0503020204020204" pitchFamily="34" charset="-122"/>
                <a:ea typeface="微软雅黑" panose="020B0503020204020204" pitchFamily="34" charset="-122"/>
              </a:endParaRPr>
            </a:p>
          </p:txBody>
        </p:sp>
        <p:sp>
          <p:nvSpPr>
            <p:cNvPr id="38" name="任意多边形 37"/>
            <p:cNvSpPr/>
            <p:nvPr/>
          </p:nvSpPr>
          <p:spPr>
            <a:xfrm>
              <a:off x="5359902" y="2395071"/>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dirty="0">
                  <a:latin typeface="微软雅黑" panose="020B0503020204020204" pitchFamily="34" charset="-122"/>
                  <a:ea typeface="微软雅黑" panose="020B0503020204020204" pitchFamily="34" charset="-122"/>
                </a:rPr>
                <a:t>实验</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a:t>
              </a:r>
              <a:r>
                <a:rPr lang="en-US" altLang="zh-CN" sz="1100" b="1" dirty="0">
                  <a:latin typeface="微软雅黑" panose="020B0503020204020204" pitchFamily="34" charset="-122"/>
                  <a:ea typeface="微软雅黑" panose="020B0503020204020204" pitchFamily="34" charset="-122"/>
                </a:rPr>
                <a:t>Experimental</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cxnSp>
          <p:nvCxnSpPr>
            <p:cNvPr id="135" name="直接箭头连接符 134"/>
            <p:cNvCxnSpPr/>
            <p:nvPr/>
          </p:nvCxnSpPr>
          <p:spPr>
            <a:xfrm>
              <a:off x="631371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4032078"/>
              <a:ext cx="1181084"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grpSp>
      <p:sp>
        <p:nvSpPr>
          <p:cNvPr id="8" name="内容占位符 7">
            <a:extLst>
              <a:ext uri="{FF2B5EF4-FFF2-40B4-BE49-F238E27FC236}">
                <a16:creationId xmlns:a16="http://schemas.microsoft.com/office/drawing/2014/main" id="{B4C9F5C1-F5DD-1F25-BA10-5790DCE66E0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7"/>
          <p:cNvSpPr>
            <a:spLocks noChangeArrowheads="1"/>
          </p:cNvSpPr>
          <p:nvPr/>
        </p:nvSpPr>
        <p:spPr bwMode="auto">
          <a:xfrm>
            <a:off x="639730" y="12736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45061" name="Rectangle 29"/>
          <p:cNvSpPr>
            <a:spLocks noChangeArrowheads="1"/>
          </p:cNvSpPr>
          <p:nvPr/>
        </p:nvSpPr>
        <p:spPr bwMode="auto">
          <a:xfrm>
            <a:off x="649288" y="136917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anose="020B0503020204020204" pitchFamily="34" charset="-122"/>
                <a:ea typeface="微软雅黑" panose="020B0503020204020204" pitchFamily="34" charset="-122"/>
              </a:rPr>
              <a:t>1.3</a:t>
            </a:r>
          </a:p>
          <a:p>
            <a:pPr eaLnBrk="0" hangingPunct="0"/>
            <a:r>
              <a:rPr lang="zh-CN" altLang="fr-FR" sz="2000" b="1">
                <a:solidFill>
                  <a:schemeClr val="bg1"/>
                </a:solidFill>
                <a:latin typeface="微软雅黑" panose="020B0503020204020204" pitchFamily="34" charset="-122"/>
                <a:ea typeface="微软雅黑" panose="020B0503020204020204" pitchFamily="34" charset="-122"/>
              </a:rPr>
              <a:t>互联网的</a:t>
            </a:r>
            <a:endParaRPr lang="en-US" altLang="zh-CN" sz="2000" b="1">
              <a:solidFill>
                <a:schemeClr val="bg1"/>
              </a:solidFill>
              <a:latin typeface="微软雅黑" panose="020B0503020204020204" pitchFamily="34" charset="-122"/>
              <a:ea typeface="微软雅黑" panose="020B0503020204020204" pitchFamily="34" charset="-122"/>
            </a:endParaRPr>
          </a:p>
          <a:p>
            <a:pPr eaLnBrk="0" hangingPunct="0"/>
            <a:r>
              <a:rPr lang="zh-CN" altLang="fr-FR" sz="2000" b="1">
                <a:solidFill>
                  <a:schemeClr val="bg1"/>
                </a:solidFill>
                <a:latin typeface="微软雅黑" panose="020B0503020204020204" pitchFamily="34" charset="-122"/>
                <a:ea typeface="微软雅黑" panose="020B0503020204020204" pitchFamily="34" charset="-122"/>
              </a:rPr>
              <a:t>组成</a:t>
            </a:r>
          </a:p>
        </p:txBody>
      </p:sp>
      <p:sp>
        <p:nvSpPr>
          <p:cNvPr id="8" name="Rectangle 9"/>
          <p:cNvSpPr>
            <a:spLocks noChangeArrowheads="1"/>
          </p:cNvSpPr>
          <p:nvPr/>
        </p:nvSpPr>
        <p:spPr bwMode="auto">
          <a:xfrm>
            <a:off x="2628900" y="127392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9" name="Rectangle 10"/>
          <p:cNvSpPr>
            <a:spLocks noChangeArrowheads="1"/>
          </p:cNvSpPr>
          <p:nvPr/>
        </p:nvSpPr>
        <p:spPr bwMode="auto">
          <a:xfrm>
            <a:off x="2628900" y="188035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45065" name="Rectangle 8"/>
          <p:cNvSpPr>
            <a:spLocks noChangeArrowheads="1"/>
          </p:cNvSpPr>
          <p:nvPr/>
        </p:nvSpPr>
        <p:spPr bwMode="auto">
          <a:xfrm>
            <a:off x="2700337" y="1019928"/>
            <a:ext cx="5641557"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1.3.1                                    </a:t>
            </a:r>
            <a:r>
              <a:rPr lang="zh-CN" altLang="zh-CN" sz="2000" b="1" dirty="0">
                <a:solidFill>
                  <a:schemeClr val="bg1"/>
                </a:solidFill>
                <a:ea typeface="微软雅黑" panose="020B0503020204020204" pitchFamily="34" charset="-122"/>
              </a:rPr>
              <a:t>互联网的边缘部分</a:t>
            </a:r>
            <a:endParaRPr lang="en-US" altLang="zh-CN" sz="2000" b="1" dirty="0">
              <a:solidFill>
                <a:schemeClr val="bg1"/>
              </a:solidFill>
              <a:latin typeface="微软雅黑" panose="020B0503020204020204" pitchFamily="34" charset="-122"/>
              <a:ea typeface="微软雅黑" panose="020B0503020204020204" pitchFamily="34" charset="-122"/>
            </a:endParaRPr>
          </a:p>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1.3.2                                    </a:t>
            </a:r>
            <a:r>
              <a:rPr lang="zh-CN" altLang="zh-CN" sz="2000" b="1" dirty="0">
                <a:solidFill>
                  <a:schemeClr val="bg1"/>
                </a:solidFill>
                <a:ea typeface="微软雅黑" panose="020B0503020204020204" pitchFamily="34" charset="-122"/>
              </a:rPr>
              <a:t>互联网的核心部分</a:t>
            </a:r>
            <a:endParaRPr lang="fr-FR" altLang="zh-CN"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a:t>从互联网的工作方式上看，可以划分为两大块：</a:t>
            </a:r>
            <a:endParaRPr lang="en-US" altLang="zh-CN"/>
          </a:p>
          <a:p>
            <a:r>
              <a:rPr lang="zh-CN" altLang="en-US"/>
              <a:t>边缘部分： 由所有连接在互联网上的主机组成，由用户直接使用，用来进行通信（传送数据、音频或视频）和资源共享。</a:t>
            </a:r>
          </a:p>
          <a:p>
            <a:r>
              <a:rPr lang="zh-CN" altLang="en-US"/>
              <a:t>核心部分：由大量网络和连接这些网络的路由器组成，为边缘部分提供服务（提供连通性和交换）。</a:t>
            </a:r>
            <a:endParaRPr lang="en-US" altLang="zh-CN"/>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fr-FR" altLang="zh-CN"/>
              <a:t>1.3  </a:t>
            </a:r>
            <a:r>
              <a:rPr lang="zh-CN" altLang="en-US"/>
              <a:t>互联网的组成</a:t>
            </a:r>
            <a:endParaRPr lang="zh-CN" altLang="en-US" dirty="0"/>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65A808D5-03DC-F7D8-CBFC-7440A67991A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fr-FR" altLang="zh-CN" dirty="0"/>
              <a:t>1.3  </a:t>
            </a:r>
            <a:r>
              <a:rPr lang="zh-CN" altLang="en-US" dirty="0"/>
              <a:t>互联网的组成</a:t>
            </a:r>
          </a:p>
        </p:txBody>
      </p:sp>
      <p:grpSp>
        <p:nvGrpSpPr>
          <p:cNvPr id="5" name="Group 174"/>
          <p:cNvGrpSpPr/>
          <p:nvPr/>
        </p:nvGrpSpPr>
        <p:grpSpPr bwMode="auto">
          <a:xfrm>
            <a:off x="1385888" y="1263429"/>
            <a:ext cx="6299200" cy="3198812"/>
            <a:chOff x="411" y="1240"/>
            <a:chExt cx="4856" cy="2466"/>
          </a:xfrm>
        </p:grpSpPr>
        <p:sp>
          <p:nvSpPr>
            <p:cNvPr id="6"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pic>
          <p:nvPicPr>
            <p:cNvPr id="8"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 name="Group 124"/>
            <p:cNvGrpSpPr/>
            <p:nvPr/>
          </p:nvGrpSpPr>
          <p:grpSpPr bwMode="auto">
            <a:xfrm>
              <a:off x="1385" y="2250"/>
              <a:ext cx="568" cy="309"/>
              <a:chOff x="130" y="1123"/>
              <a:chExt cx="568" cy="309"/>
            </a:xfrm>
          </p:grpSpPr>
          <p:sp>
            <p:nvSpPr>
              <p:cNvPr id="74"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0"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1"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2"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3"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4"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10"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15"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6"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17" name="Picture 115"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16"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9" name="Picture 117"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8"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119"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20"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21"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25"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26" name="Group 126"/>
            <p:cNvGrpSpPr/>
            <p:nvPr/>
          </p:nvGrpSpPr>
          <p:grpSpPr bwMode="auto">
            <a:xfrm>
              <a:off x="2182" y="2681"/>
              <a:ext cx="568" cy="309"/>
              <a:chOff x="130" y="1123"/>
              <a:chExt cx="568" cy="309"/>
            </a:xfrm>
          </p:grpSpPr>
          <p:sp>
            <p:nvSpPr>
              <p:cNvPr id="63"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9"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0"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1"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2"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3"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7" name="Group 138"/>
            <p:cNvGrpSpPr/>
            <p:nvPr/>
          </p:nvGrpSpPr>
          <p:grpSpPr bwMode="auto">
            <a:xfrm>
              <a:off x="3243" y="2659"/>
              <a:ext cx="568" cy="309"/>
              <a:chOff x="130" y="1123"/>
              <a:chExt cx="568" cy="309"/>
            </a:xfrm>
          </p:grpSpPr>
          <p:sp>
            <p:nvSpPr>
              <p:cNvPr id="5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8" name="Group 150"/>
            <p:cNvGrpSpPr/>
            <p:nvPr/>
          </p:nvGrpSpPr>
          <p:grpSpPr bwMode="auto">
            <a:xfrm>
              <a:off x="3706" y="2216"/>
              <a:ext cx="568" cy="309"/>
              <a:chOff x="130" y="1123"/>
              <a:chExt cx="568" cy="309"/>
            </a:xfrm>
          </p:grpSpPr>
          <p:sp>
            <p:nvSpPr>
              <p:cNvPr id="4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62"/>
            <p:cNvGrpSpPr/>
            <p:nvPr/>
          </p:nvGrpSpPr>
          <p:grpSpPr bwMode="auto">
            <a:xfrm>
              <a:off x="2643" y="1933"/>
              <a:ext cx="568" cy="309"/>
              <a:chOff x="130" y="1123"/>
              <a:chExt cx="568" cy="309"/>
            </a:xfrm>
          </p:grpSpPr>
          <p:sp>
            <p:nvSpPr>
              <p:cNvPr id="3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3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Tree>
    <p:extLst>
      <p:ext uri="{BB962C8B-B14F-4D97-AF65-F5344CB8AC3E}">
        <p14:creationId xmlns:p14="http://schemas.microsoft.com/office/powerpoint/2010/main" val="260232260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处在互联网边缘部分的就是连接在互联网上的所有的主机。这些主机又称为端系统 </a:t>
            </a:r>
            <a:r>
              <a:rPr lang="en-US" altLang="zh-CN" dirty="0"/>
              <a:t>(end system)</a:t>
            </a:r>
            <a:r>
              <a:rPr lang="zh-CN" altLang="en-US" dirty="0"/>
              <a:t>。</a:t>
            </a:r>
            <a:endParaRPr lang="en-US" altLang="zh-CN" dirty="0"/>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r>
              <a:rPr lang="zh-CN" altLang="en-US" dirty="0"/>
              <a:t>。</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1.3.1  </a:t>
            </a:r>
            <a:r>
              <a:rPr lang="zh-CN" altLang="en-US" dirty="0"/>
              <a:t>互联网的边缘部分</a:t>
            </a:r>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内容占位符 32">
            <a:extLst>
              <a:ext uri="{FF2B5EF4-FFF2-40B4-BE49-F238E27FC236}">
                <a16:creationId xmlns:a16="http://schemas.microsoft.com/office/drawing/2014/main" id="{F7A1579D-6E6B-7D41-8B46-6162BB548273}"/>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1.3.1  </a:t>
            </a:r>
            <a:r>
              <a:rPr lang="zh-CN" altLang="en-US" dirty="0"/>
              <a:t>互联网的边缘部分</a:t>
            </a:r>
          </a:p>
        </p:txBody>
      </p:sp>
      <p:sp>
        <p:nvSpPr>
          <p:cNvPr id="6" name="Oval 4"/>
          <p:cNvSpPr>
            <a:spLocks noChangeArrowheads="1"/>
          </p:cNvSpPr>
          <p:nvPr/>
        </p:nvSpPr>
        <p:spPr bwMode="auto">
          <a:xfrm>
            <a:off x="1385888"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401595"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a:solidFill>
                <a:srgbClr val="368AD6"/>
              </a:solidFill>
            </a:endParaRPr>
          </a:p>
        </p:txBody>
      </p:sp>
      <p:sp>
        <p:nvSpPr>
          <p:cNvPr id="8" name="Text Box 78"/>
          <p:cNvSpPr txBox="1">
            <a:spLocks noChangeArrowheads="1"/>
          </p:cNvSpPr>
          <p:nvPr/>
        </p:nvSpPr>
        <p:spPr bwMode="auto">
          <a:xfrm>
            <a:off x="3711766" y="2664631"/>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a:solidFill>
                  <a:srgbClr val="CC00CC"/>
                </a:solidFill>
                <a:latin typeface="Times New Roman" pitchFamily="18" charset="0"/>
                <a:ea typeface="微软雅黑" pitchFamily="34" charset="-122"/>
              </a:rPr>
              <a:t>互联网的核心部分</a:t>
            </a:r>
          </a:p>
        </p:txBody>
      </p:sp>
      <p:sp>
        <p:nvSpPr>
          <p:cNvPr id="9" name="Text Box 79"/>
          <p:cNvSpPr txBox="1">
            <a:spLocks noChangeArrowheads="1"/>
          </p:cNvSpPr>
          <p:nvPr/>
        </p:nvSpPr>
        <p:spPr bwMode="auto">
          <a:xfrm>
            <a:off x="3693606" y="1485507"/>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互联网的边缘部分</a:t>
            </a:r>
          </a:p>
        </p:txBody>
      </p:sp>
      <p:pic>
        <p:nvPicPr>
          <p:cNvPr id="10" name="Picture 115"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8424" y="1602974"/>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1" name="组合 10"/>
          <p:cNvGrpSpPr/>
          <p:nvPr/>
        </p:nvGrpSpPr>
        <p:grpSpPr>
          <a:xfrm>
            <a:off x="2064845" y="1706027"/>
            <a:ext cx="492936" cy="652481"/>
            <a:chOff x="2352292" y="1506329"/>
            <a:chExt cx="492936" cy="652481"/>
          </a:xfrm>
        </p:grpSpPr>
        <p:sp>
          <p:nvSpPr>
            <p:cNvPr id="12" name="Text Box 1523"/>
            <p:cNvSpPr txBox="1">
              <a:spLocks noChangeArrowheads="1"/>
            </p:cNvSpPr>
            <p:nvPr/>
          </p:nvSpPr>
          <p:spPr bwMode="auto">
            <a:xfrm>
              <a:off x="2352292" y="1506329"/>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主机</a:t>
              </a:r>
            </a:p>
          </p:txBody>
        </p:sp>
        <p:pic>
          <p:nvPicPr>
            <p:cNvPr id="13" name="Picture 11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099" y="174760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2617"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1153"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8570"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334851" y="3126229"/>
            <a:ext cx="800220" cy="338554"/>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5921" y="3779710"/>
            <a:ext cx="1427543" cy="545087"/>
          </a:xfrm>
          <a:prstGeom prst="rect">
            <a:avLst/>
          </a:prstGeom>
        </p:spPr>
      </p:pic>
      <p:grpSp>
        <p:nvGrpSpPr>
          <p:cNvPr id="19" name="组合 18"/>
          <p:cNvGrpSpPr/>
          <p:nvPr/>
        </p:nvGrpSpPr>
        <p:grpSpPr>
          <a:xfrm>
            <a:off x="1737913" y="2404333"/>
            <a:ext cx="748923" cy="614889"/>
            <a:chOff x="1598523" y="2132245"/>
            <a:chExt cx="748923" cy="614889"/>
          </a:xfrm>
        </p:grpSpPr>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13758" y="2345811"/>
              <a:ext cx="254205" cy="401323"/>
            </a:xfrm>
            <a:prstGeom prst="rect">
              <a:avLst/>
            </a:prstGeom>
          </p:spPr>
        </p:pic>
        <p:sp>
          <p:nvSpPr>
            <p:cNvPr id="21" name="Text Box 1523"/>
            <p:cNvSpPr txBox="1">
              <a:spLocks noChangeArrowheads="1"/>
            </p:cNvSpPr>
            <p:nvPr/>
          </p:nvSpPr>
          <p:spPr bwMode="auto">
            <a:xfrm>
              <a:off x="1598523" y="2132245"/>
              <a:ext cx="74892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050" b="1" dirty="0">
                  <a:solidFill>
                    <a:srgbClr val="0000FF"/>
                  </a:solidFill>
                  <a:latin typeface="Times New Roman" pitchFamily="18" charset="0"/>
                  <a:ea typeface="微软雅黑" pitchFamily="34" charset="-122"/>
                </a:rPr>
                <a:t>智能手机</a:t>
              </a:r>
            </a:p>
          </p:txBody>
        </p:sp>
      </p:grpSp>
      <p:grpSp>
        <p:nvGrpSpPr>
          <p:cNvPr id="22" name="组合 21"/>
          <p:cNvGrpSpPr/>
          <p:nvPr/>
        </p:nvGrpSpPr>
        <p:grpSpPr>
          <a:xfrm>
            <a:off x="1850822" y="3045231"/>
            <a:ext cx="800219" cy="672111"/>
            <a:chOff x="1958668" y="2963511"/>
            <a:chExt cx="800219" cy="672111"/>
          </a:xfrm>
        </p:grpSpPr>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2536" y="3167808"/>
              <a:ext cx="350861" cy="467814"/>
            </a:xfrm>
            <a:prstGeom prst="rect">
              <a:avLst/>
            </a:prstGeom>
          </p:spPr>
        </p:pic>
        <p:sp>
          <p:nvSpPr>
            <p:cNvPr id="24" name="Text Box 1523"/>
            <p:cNvSpPr txBox="1">
              <a:spLocks noChangeArrowheads="1"/>
            </p:cNvSpPr>
            <p:nvPr/>
          </p:nvSpPr>
          <p:spPr bwMode="auto">
            <a:xfrm>
              <a:off x="1958668" y="2963511"/>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en-US" altLang="zh-CN" sz="1200" b="1" dirty="0">
                  <a:solidFill>
                    <a:srgbClr val="0000FF"/>
                  </a:solidFill>
                  <a:latin typeface="Times New Roman" pitchFamily="18" charset="0"/>
                  <a:ea typeface="微软雅黑" pitchFamily="34" charset="-122"/>
                </a:rPr>
                <a:t>IP</a:t>
              </a:r>
              <a:r>
                <a:rPr kumimoji="1" lang="zh-CN" altLang="en-US" sz="1200" b="1" dirty="0">
                  <a:solidFill>
                    <a:srgbClr val="0000FF"/>
                  </a:solidFill>
                  <a:latin typeface="Times New Roman" pitchFamily="18" charset="0"/>
                  <a:ea typeface="微软雅黑" pitchFamily="34" charset="-122"/>
                </a:rPr>
                <a:t>摄像头</a:t>
              </a:r>
            </a:p>
          </p:txBody>
        </p:sp>
      </p:grpSp>
      <p:sp>
        <p:nvSpPr>
          <p:cNvPr id="25" name="Text Box 1523"/>
          <p:cNvSpPr txBox="1">
            <a:spLocks noChangeArrowheads="1"/>
          </p:cNvSpPr>
          <p:nvPr/>
        </p:nvSpPr>
        <p:spPr bwMode="auto">
          <a:xfrm>
            <a:off x="2688612" y="3602648"/>
            <a:ext cx="14157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大型或超级计算机</a:t>
            </a:r>
          </a:p>
        </p:txBody>
      </p:sp>
      <p:cxnSp>
        <p:nvCxnSpPr>
          <p:cNvPr id="26" name="直接箭头连接符 25"/>
          <p:cNvCxnSpPr>
            <a:stCxn id="17" idx="3"/>
          </p:cNvCxnSpPr>
          <p:nvPr/>
        </p:nvCxnSpPr>
        <p:spPr>
          <a:xfrm flipV="1">
            <a:off x="1135071"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7" idx="3"/>
          </p:cNvCxnSpPr>
          <p:nvPr/>
        </p:nvCxnSpPr>
        <p:spPr>
          <a:xfrm flipV="1">
            <a:off x="1135071"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7" idx="3"/>
          </p:cNvCxnSpPr>
          <p:nvPr/>
        </p:nvCxnSpPr>
        <p:spPr>
          <a:xfrm>
            <a:off x="1135071"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3"/>
          </p:cNvCxnSpPr>
          <p:nvPr/>
        </p:nvCxnSpPr>
        <p:spPr>
          <a:xfrm>
            <a:off x="1135071"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631675"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533780" y="3088127"/>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服务器</a:t>
            </a:r>
          </a:p>
        </p:txBody>
      </p:sp>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3"/>
          <p:cNvSpPr>
            <a:spLocks noChangeArrowheads="1"/>
          </p:cNvSpPr>
          <p:nvPr/>
        </p:nvSpPr>
        <p:spPr bwMode="auto">
          <a:xfrm>
            <a:off x="1077985" y="1168086"/>
            <a:ext cx="6804181" cy="1117915"/>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8" name="矩形 7"/>
          <p:cNvSpPr/>
          <p:nvPr/>
        </p:nvSpPr>
        <p:spPr>
          <a:xfrm>
            <a:off x="1241880" y="1325894"/>
            <a:ext cx="6495908" cy="759182"/>
          </a:xfrm>
          <a:prstGeom prst="rect">
            <a:avLst/>
          </a:prstGeom>
        </p:spPr>
        <p:txBody>
          <a:bodyPr wrap="square">
            <a:spAutoFit/>
          </a:bodyPr>
          <a:lstStyle/>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实际上是指：</a:t>
            </a:r>
            <a:endParaRPr lang="en-US" altLang="zh-CN" sz="2000" b="1" dirty="0">
              <a:solidFill>
                <a:schemeClr val="bg1"/>
              </a:solidFill>
              <a:latin typeface="微软雅黑" pitchFamily="34" charset="-122"/>
              <a:ea typeface="微软雅黑" pitchFamily="34" charset="-122"/>
            </a:endParaRPr>
          </a:p>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主机 </a:t>
            </a:r>
            <a:r>
              <a:rPr lang="en-US" altLang="zh-CN" sz="2000" b="1" dirty="0">
                <a:solidFill>
                  <a:schemeClr val="bg1"/>
                </a:solidFill>
                <a:latin typeface="微软雅黑" pitchFamily="34" charset="-122"/>
                <a:ea typeface="微软雅黑" pitchFamily="34" charset="-122"/>
              </a:rPr>
              <a:t>A </a:t>
            </a:r>
            <a:r>
              <a:rPr lang="zh-CN" altLang="en-US" sz="2000" b="1" dirty="0">
                <a:solidFill>
                  <a:schemeClr val="bg1"/>
                </a:solidFill>
                <a:latin typeface="微软雅黑" pitchFamily="34" charset="-122"/>
                <a:ea typeface="微软雅黑" pitchFamily="34" charset="-122"/>
              </a:rPr>
              <a:t>的某个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和主机 </a:t>
            </a:r>
            <a:r>
              <a:rPr lang="en-US" altLang="zh-CN" sz="2000" b="1" dirty="0">
                <a:solidFill>
                  <a:schemeClr val="bg1"/>
                </a:solidFill>
                <a:latin typeface="微软雅黑" pitchFamily="34" charset="-122"/>
                <a:ea typeface="微软雅黑" pitchFamily="34" charset="-122"/>
              </a:rPr>
              <a:t>B </a:t>
            </a:r>
            <a:r>
              <a:rPr lang="zh-CN" altLang="en-US" sz="2000" b="1" dirty="0">
                <a:solidFill>
                  <a:schemeClr val="bg1"/>
                </a:solidFill>
                <a:latin typeface="微软雅黑" pitchFamily="34" charset="-122"/>
                <a:ea typeface="微软雅黑" pitchFamily="34" charset="-122"/>
              </a:rPr>
              <a:t>上的另一个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进行通信。</a:t>
            </a:r>
          </a:p>
        </p:txBody>
      </p:sp>
      <p:sp>
        <p:nvSpPr>
          <p:cNvPr id="9" name="内容占位符 8">
            <a:extLst>
              <a:ext uri="{FF2B5EF4-FFF2-40B4-BE49-F238E27FC236}">
                <a16:creationId xmlns:a16="http://schemas.microsoft.com/office/drawing/2014/main" id="{379DE981-301F-7852-0238-93BC922C241C}"/>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“计算机之间通信”的含义</a:t>
            </a:r>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882279671"/>
              </p:ext>
            </p:extLst>
          </p:nvPr>
        </p:nvGraphicFramePr>
        <p:xfrm>
          <a:off x="1195343" y="1213012"/>
          <a:ext cx="6618514" cy="1828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内容占位符 7">
            <a:extLst>
              <a:ext uri="{FF2B5EF4-FFF2-40B4-BE49-F238E27FC236}">
                <a16:creationId xmlns:a16="http://schemas.microsoft.com/office/drawing/2014/main" id="{B3E06066-EB0C-AFCF-A8D6-9CE9F8AC3246}"/>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端系统之间的两种通信方式</a:t>
            </a:r>
          </a:p>
        </p:txBody>
      </p:sp>
    </p:spTree>
    <p:extLst>
      <p:ext uri="{BB962C8B-B14F-4D97-AF65-F5344CB8AC3E}">
        <p14:creationId xmlns:p14="http://schemas.microsoft.com/office/powerpoint/2010/main" val="2362936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5" name="Oval 4"/>
          <p:cNvSpPr>
            <a:spLocks noChangeArrowheads="1"/>
          </p:cNvSpPr>
          <p:nvPr/>
        </p:nvSpPr>
        <p:spPr bwMode="auto">
          <a:xfrm>
            <a:off x="3970351" y="1149927"/>
            <a:ext cx="4240165" cy="296856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4419387" y="2552134"/>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flipH="1">
            <a:off x="6869127" y="2843733"/>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flipH="1">
            <a:off x="6445265" y="1638820"/>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flipH="1" flipV="1">
            <a:off x="6384940" y="3116783"/>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0"/>
          <p:cNvSpPr>
            <a:spLocks noChangeShapeType="1"/>
          </p:cNvSpPr>
          <p:nvPr/>
        </p:nvSpPr>
        <p:spPr bwMode="auto">
          <a:xfrm>
            <a:off x="5243527" y="1732483"/>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Line 11"/>
          <p:cNvSpPr>
            <a:spLocks noChangeShapeType="1"/>
          </p:cNvSpPr>
          <p:nvPr/>
        </p:nvSpPr>
        <p:spPr bwMode="auto">
          <a:xfrm flipV="1">
            <a:off x="5429265" y="3058045"/>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Text Box 16"/>
          <p:cNvSpPr txBox="1">
            <a:spLocks noChangeArrowheads="1"/>
          </p:cNvSpPr>
          <p:nvPr/>
        </p:nvSpPr>
        <p:spPr bwMode="auto">
          <a:xfrm>
            <a:off x="3437745" y="1669001"/>
            <a:ext cx="822325"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endParaRPr kumimoji="1" lang="en-US" altLang="zh-CN" sz="1200" b="1" dirty="0">
              <a:latin typeface="微软雅黑" panose="020B0503020204020204" pitchFamily="34" charset="-122"/>
              <a:ea typeface="微软雅黑" panose="020B0503020204020204" pitchFamily="34" charset="-122"/>
            </a:endParaRPr>
          </a:p>
          <a:p>
            <a:pPr algn="ctr"/>
            <a:r>
              <a:rPr kumimoji="1" lang="zh-CN" altLang="en-US" sz="1200" b="1" dirty="0">
                <a:latin typeface="微软雅黑" panose="020B0503020204020204" pitchFamily="34" charset="-122"/>
                <a:ea typeface="微软雅黑" panose="020B0503020204020204" pitchFamily="34" charset="-122"/>
              </a:rPr>
              <a:t>客户程序</a:t>
            </a:r>
          </a:p>
        </p:txBody>
      </p:sp>
      <p:grpSp>
        <p:nvGrpSpPr>
          <p:cNvPr id="14" name="Group 18"/>
          <p:cNvGrpSpPr/>
          <p:nvPr/>
        </p:nvGrpSpPr>
        <p:grpSpPr bwMode="auto">
          <a:xfrm>
            <a:off x="4869334" y="1839086"/>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a:solidFill>
                  <a:srgbClr val="368AD6"/>
                </a:solidFill>
                <a:latin typeface="+mn-lt"/>
                <a:ea typeface="黑体" panose="02010609060101010101" pitchFamily="2" charset="-122"/>
              </a:endParaRPr>
            </a:p>
          </p:txBody>
        </p:sp>
      </p:grpSp>
      <p:sp>
        <p:nvSpPr>
          <p:cNvPr id="24" name="Text Box 28"/>
          <p:cNvSpPr txBox="1">
            <a:spLocks noChangeArrowheads="1"/>
          </p:cNvSpPr>
          <p:nvPr/>
        </p:nvSpPr>
        <p:spPr bwMode="auto">
          <a:xfrm>
            <a:off x="5622940" y="1387995"/>
            <a:ext cx="9032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25" name="Text Box 29"/>
          <p:cNvSpPr txBox="1">
            <a:spLocks noChangeArrowheads="1"/>
          </p:cNvSpPr>
          <p:nvPr/>
        </p:nvSpPr>
        <p:spPr bwMode="auto">
          <a:xfrm>
            <a:off x="5677456" y="2983414"/>
            <a:ext cx="903288" cy="307975"/>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26" name="Text Box 31"/>
          <p:cNvSpPr txBox="1">
            <a:spLocks noChangeArrowheads="1"/>
          </p:cNvSpPr>
          <p:nvPr/>
        </p:nvSpPr>
        <p:spPr bwMode="auto">
          <a:xfrm>
            <a:off x="7968539" y="1549250"/>
            <a:ext cx="10160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p>
          <a:p>
            <a:pPr algn="ctr"/>
            <a:r>
              <a:rPr kumimoji="1" lang="zh-CN" altLang="en-US" sz="1200" b="1" dirty="0">
                <a:latin typeface="微软雅黑" panose="020B0503020204020204" pitchFamily="34" charset="-122"/>
                <a:ea typeface="微软雅黑" panose="020B0503020204020204" pitchFamily="34" charset="-122"/>
              </a:rPr>
              <a:t>服务器程序</a:t>
            </a:r>
          </a:p>
        </p:txBody>
      </p:sp>
      <p:sp>
        <p:nvSpPr>
          <p:cNvPr id="27" name="Line 33"/>
          <p:cNvSpPr>
            <a:spLocks noChangeShapeType="1"/>
          </p:cNvSpPr>
          <p:nvPr/>
        </p:nvSpPr>
        <p:spPr bwMode="auto">
          <a:xfrm>
            <a:off x="3946182" y="2113339"/>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Line 34"/>
          <p:cNvSpPr>
            <a:spLocks noChangeShapeType="1"/>
          </p:cNvSpPr>
          <p:nvPr/>
        </p:nvSpPr>
        <p:spPr bwMode="auto">
          <a:xfrm flipH="1">
            <a:off x="7647002" y="2045472"/>
            <a:ext cx="643075" cy="6283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Text Box 35"/>
          <p:cNvSpPr txBox="1">
            <a:spLocks noChangeArrowheads="1"/>
          </p:cNvSpPr>
          <p:nvPr/>
        </p:nvSpPr>
        <p:spPr bwMode="auto">
          <a:xfrm>
            <a:off x="4286265" y="2131227"/>
            <a:ext cx="30956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A</a:t>
            </a:r>
          </a:p>
        </p:txBody>
      </p:sp>
      <p:sp>
        <p:nvSpPr>
          <p:cNvPr id="30" name="Text Box 36"/>
          <p:cNvSpPr txBox="1">
            <a:spLocks noChangeArrowheads="1"/>
          </p:cNvSpPr>
          <p:nvPr/>
        </p:nvSpPr>
        <p:spPr bwMode="auto">
          <a:xfrm>
            <a:off x="7575565" y="1924570"/>
            <a:ext cx="300037"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FF"/>
                </a:solidFill>
                <a:ea typeface="黑体" panose="02010609060101010101" pitchFamily="2" charset="-122"/>
              </a:rPr>
              <a:t>B</a:t>
            </a:r>
          </a:p>
        </p:txBody>
      </p:sp>
      <p:grpSp>
        <p:nvGrpSpPr>
          <p:cNvPr id="31" name="组合 30"/>
          <p:cNvGrpSpPr/>
          <p:nvPr/>
        </p:nvGrpSpPr>
        <p:grpSpPr bwMode="auto">
          <a:xfrm>
            <a:off x="4686315" y="2222436"/>
            <a:ext cx="2667000" cy="351413"/>
            <a:chOff x="2799680" y="2545502"/>
            <a:chExt cx="3658879" cy="1012182"/>
          </a:xfrm>
        </p:grpSpPr>
        <p:sp>
          <p:nvSpPr>
            <p:cNvPr id="32" name="Freeform 32"/>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Text Box 39"/>
            <p:cNvSpPr txBox="1">
              <a:spLocks noChangeArrowheads="1"/>
            </p:cNvSpPr>
            <p:nvPr/>
          </p:nvSpPr>
          <p:spPr bwMode="auto">
            <a:xfrm rot="240000">
              <a:off x="4031413" y="2545502"/>
              <a:ext cx="1373076" cy="380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grpSp>
      <p:sp>
        <p:nvSpPr>
          <p:cNvPr id="34" name="Text Box 41"/>
          <p:cNvSpPr txBox="1">
            <a:spLocks noChangeArrowheads="1"/>
          </p:cNvSpPr>
          <p:nvPr/>
        </p:nvSpPr>
        <p:spPr bwMode="auto">
          <a:xfrm>
            <a:off x="4218002" y="2737652"/>
            <a:ext cx="4921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客户</a:t>
            </a:r>
          </a:p>
        </p:txBody>
      </p:sp>
      <p:sp>
        <p:nvSpPr>
          <p:cNvPr id="35" name="Text Box 42"/>
          <p:cNvSpPr txBox="1">
            <a:spLocks noChangeArrowheads="1"/>
          </p:cNvSpPr>
          <p:nvPr/>
        </p:nvSpPr>
        <p:spPr bwMode="auto">
          <a:xfrm>
            <a:off x="7364427" y="3005658"/>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服务器</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452" y="239210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6365" y="1418158"/>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5940" y="1365770"/>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965" y="3466033"/>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3527" y="351842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67602" y="2148408"/>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4498583" y="4146385"/>
            <a:ext cx="343170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向服务器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发出请求服务，</a:t>
            </a:r>
            <a:endParaRPr lang="en-US" altLang="zh-CN" sz="1600" b="1" dirty="0">
              <a:solidFill>
                <a:srgbClr val="0000FF"/>
              </a:solidFill>
              <a:latin typeface="微软雅黑" panose="020B0503020204020204" pitchFamily="34" charset="-122"/>
              <a:ea typeface="微软雅黑" panose="020B0503020204020204" pitchFamily="34" charset="-122"/>
            </a:endParaRPr>
          </a:p>
          <a:p>
            <a:r>
              <a:rPr lang="zh-CN" altLang="en-US" sz="1600" b="1" dirty="0">
                <a:solidFill>
                  <a:srgbClr val="0000FF"/>
                </a:solidFill>
                <a:latin typeface="微软雅黑" panose="020B0503020204020204" pitchFamily="34" charset="-122"/>
                <a:ea typeface="微软雅黑" panose="020B0503020204020204" pitchFamily="34" charset="-122"/>
              </a:rPr>
              <a:t>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向客户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提供服务。</a:t>
            </a:r>
          </a:p>
        </p:txBody>
      </p:sp>
      <p:grpSp>
        <p:nvGrpSpPr>
          <p:cNvPr id="44" name="组合 43"/>
          <p:cNvGrpSpPr/>
          <p:nvPr/>
        </p:nvGrpSpPr>
        <p:grpSpPr bwMode="auto">
          <a:xfrm rot="-60000">
            <a:off x="4638201" y="2580481"/>
            <a:ext cx="2665413" cy="303219"/>
            <a:chOff x="2717737" y="3239081"/>
            <a:chExt cx="3658879" cy="639036"/>
          </a:xfrm>
        </p:grpSpPr>
        <p:sp>
          <p:nvSpPr>
            <p:cNvPr id="45" name="Text Box 40"/>
            <p:cNvSpPr txBox="1">
              <a:spLocks noChangeArrowheads="1"/>
            </p:cNvSpPr>
            <p:nvPr/>
          </p:nvSpPr>
          <p:spPr bwMode="auto">
            <a:xfrm rot="300000">
              <a:off x="3965549" y="3498003"/>
              <a:ext cx="1373075" cy="380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47" name="对角圆角矩形 46"/>
          <p:cNvSpPr/>
          <p:nvPr/>
        </p:nvSpPr>
        <p:spPr>
          <a:xfrm>
            <a:off x="458322" y="3021356"/>
            <a:ext cx="3515160" cy="1350118"/>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581106" y="3176458"/>
            <a:ext cx="332660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zh-CN" b="1" dirty="0">
                <a:solidFill>
                  <a:schemeClr val="bg1"/>
                </a:solidFill>
                <a:latin typeface="微软雅黑" panose="020B0503020204020204" pitchFamily="34" charset="-122"/>
                <a:ea typeface="微软雅黑" panose="020B0503020204020204" pitchFamily="34" charset="-122"/>
              </a:rPr>
              <a:t>客户与服务器的通信关系建立后，通信可以是</a:t>
            </a:r>
            <a:r>
              <a:rPr lang="zh-CN" altLang="zh-CN" b="1" dirty="0">
                <a:solidFill>
                  <a:srgbClr val="FFFF00"/>
                </a:solidFill>
                <a:latin typeface="微软雅黑" panose="020B0503020204020204" pitchFamily="34" charset="-122"/>
                <a:ea typeface="微软雅黑" panose="020B0503020204020204" pitchFamily="34" charset="-122"/>
              </a:rPr>
              <a:t>双向</a:t>
            </a:r>
            <a:r>
              <a:rPr lang="zh-CN" altLang="zh-CN" b="1" dirty="0">
                <a:solidFill>
                  <a:schemeClr val="bg1"/>
                </a:solidFill>
                <a:latin typeface="微软雅黑" panose="020B0503020204020204" pitchFamily="34" charset="-122"/>
                <a:ea typeface="微软雅黑" panose="020B0503020204020204" pitchFamily="34" charset="-122"/>
              </a:rPr>
              <a:t>的，客户和服务器都可发送和接收数据。</a:t>
            </a: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2000"/>
                                        <p:tgtEl>
                                          <p:spTgt spid="31"/>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44"/>
                                        </p:tgtEl>
                                        <p:attrNameLst>
                                          <p:attrName>style.visibility</p:attrName>
                                        </p:attrNameLst>
                                      </p:cBhvr>
                                      <p:to>
                                        <p:strVal val="visible"/>
                                      </p:to>
                                    </p:set>
                                    <p:animEffect transition="in" filter="wipe(right)">
                                      <p:cBhvr>
                                        <p:cTn id="11" dur="2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Line 8">
            <a:extLst>
              <a:ext uri="{FF2B5EF4-FFF2-40B4-BE49-F238E27FC236}">
                <a16:creationId xmlns:a16="http://schemas.microsoft.com/office/drawing/2014/main" id="{0ABE8FA8-2297-1B85-6B83-FF49B9BB6209}"/>
              </a:ext>
            </a:extLst>
          </p:cNvPr>
          <p:cNvSpPr>
            <a:spLocks noChangeShapeType="1"/>
          </p:cNvSpPr>
          <p:nvPr/>
        </p:nvSpPr>
        <p:spPr bwMode="auto">
          <a:xfrm flipH="1">
            <a:off x="4926831" y="1632426"/>
            <a:ext cx="503237" cy="7223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7" name="Line 9">
            <a:extLst>
              <a:ext uri="{FF2B5EF4-FFF2-40B4-BE49-F238E27FC236}">
                <a16:creationId xmlns:a16="http://schemas.microsoft.com/office/drawing/2014/main" id="{3485A611-C76F-5DD8-F3A3-F05D2537EA83}"/>
              </a:ext>
            </a:extLst>
          </p:cNvPr>
          <p:cNvSpPr>
            <a:spLocks noChangeShapeType="1"/>
          </p:cNvSpPr>
          <p:nvPr/>
        </p:nvSpPr>
        <p:spPr bwMode="auto">
          <a:xfrm flipH="1" flipV="1">
            <a:off x="4866506" y="3110389"/>
            <a:ext cx="320675" cy="3683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8" name="Line 10">
            <a:extLst>
              <a:ext uri="{FF2B5EF4-FFF2-40B4-BE49-F238E27FC236}">
                <a16:creationId xmlns:a16="http://schemas.microsoft.com/office/drawing/2014/main" id="{74878562-692A-216E-4D11-03110357921C}"/>
              </a:ext>
            </a:extLst>
          </p:cNvPr>
          <p:cNvSpPr>
            <a:spLocks noChangeShapeType="1"/>
          </p:cNvSpPr>
          <p:nvPr/>
        </p:nvSpPr>
        <p:spPr bwMode="auto">
          <a:xfrm>
            <a:off x="3725093" y="1726089"/>
            <a:ext cx="320675" cy="5302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9" name="Line 11">
            <a:extLst>
              <a:ext uri="{FF2B5EF4-FFF2-40B4-BE49-F238E27FC236}">
                <a16:creationId xmlns:a16="http://schemas.microsoft.com/office/drawing/2014/main" id="{8499D1FE-552D-8CC9-5DD0-043BE3DE71BF}"/>
              </a:ext>
            </a:extLst>
          </p:cNvPr>
          <p:cNvSpPr>
            <a:spLocks noChangeShapeType="1"/>
          </p:cNvSpPr>
          <p:nvPr/>
        </p:nvSpPr>
        <p:spPr bwMode="auto">
          <a:xfrm flipV="1">
            <a:off x="3910831" y="3051651"/>
            <a:ext cx="166687" cy="46037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4" name="Line 10">
            <a:extLst>
              <a:ext uri="{FF2B5EF4-FFF2-40B4-BE49-F238E27FC236}">
                <a16:creationId xmlns:a16="http://schemas.microsoft.com/office/drawing/2014/main" id="{E9624C06-C0E7-4466-549C-0F660F13D185}"/>
              </a:ext>
            </a:extLst>
          </p:cNvPr>
          <p:cNvSpPr>
            <a:spLocks noChangeShapeType="1"/>
          </p:cNvSpPr>
          <p:nvPr/>
        </p:nvSpPr>
        <p:spPr bwMode="auto">
          <a:xfrm>
            <a:off x="3080738" y="2649372"/>
            <a:ext cx="547250" cy="15091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5" name="Line 10">
            <a:extLst>
              <a:ext uri="{FF2B5EF4-FFF2-40B4-BE49-F238E27FC236}">
                <a16:creationId xmlns:a16="http://schemas.microsoft.com/office/drawing/2014/main" id="{825BFFE7-E8CA-A0B7-57E0-EEF9F82D7D7B}"/>
              </a:ext>
            </a:extLst>
          </p:cNvPr>
          <p:cNvSpPr>
            <a:spLocks noChangeShapeType="1"/>
          </p:cNvSpPr>
          <p:nvPr/>
        </p:nvSpPr>
        <p:spPr bwMode="auto">
          <a:xfrm flipV="1">
            <a:off x="5457804" y="2823553"/>
            <a:ext cx="503573" cy="84518"/>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42" name="椭圆 41">
            <a:extLst>
              <a:ext uri="{FF2B5EF4-FFF2-40B4-BE49-F238E27FC236}">
                <a16:creationId xmlns:a16="http://schemas.microsoft.com/office/drawing/2014/main" id="{4035F411-5E2F-52A4-F9A5-D3B332C91570}"/>
              </a:ext>
            </a:extLst>
          </p:cNvPr>
          <p:cNvSpPr/>
          <p:nvPr/>
        </p:nvSpPr>
        <p:spPr>
          <a:xfrm>
            <a:off x="2529303" y="1003171"/>
            <a:ext cx="4162726" cy="3146048"/>
          </a:xfrm>
          <a:prstGeom prst="ellipse">
            <a:avLst/>
          </a:prstGeom>
          <a:no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0" name="Text Box 16">
            <a:extLst>
              <a:ext uri="{FF2B5EF4-FFF2-40B4-BE49-F238E27FC236}">
                <a16:creationId xmlns:a16="http://schemas.microsoft.com/office/drawing/2014/main" id="{008F0C81-C623-BD93-5247-63BB6F94A356}"/>
              </a:ext>
            </a:extLst>
          </p:cNvPr>
          <p:cNvSpPr txBox="1">
            <a:spLocks noChangeArrowheads="1"/>
          </p:cNvSpPr>
          <p:nvPr/>
        </p:nvSpPr>
        <p:spPr bwMode="auto">
          <a:xfrm>
            <a:off x="2089174" y="1632426"/>
            <a:ext cx="822325"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Montserrat" panose="00000500000000000000" pitchFamily="2" charset="0"/>
                <a:ea typeface="微软雅黑 Light" panose="020B0502040204020203" pitchFamily="34" charset="-122"/>
              </a:rPr>
              <a:t>运行</a:t>
            </a:r>
            <a:endParaRPr kumimoji="1" lang="en-US" altLang="zh-CN" sz="1200" dirty="0">
              <a:latin typeface="Montserrat" panose="00000500000000000000" pitchFamily="2" charset="0"/>
              <a:ea typeface="微软雅黑 Light" panose="020B0502040204020203" pitchFamily="34" charset="-122"/>
            </a:endParaRPr>
          </a:p>
          <a:p>
            <a:pPr algn="ctr"/>
            <a:r>
              <a:rPr kumimoji="1" lang="zh-CN" altLang="en-US" sz="1200" dirty="0">
                <a:latin typeface="Montserrat" panose="00000500000000000000" pitchFamily="2" charset="0"/>
                <a:ea typeface="微软雅黑 Light" panose="020B0502040204020203" pitchFamily="34" charset="-122"/>
              </a:rPr>
              <a:t>客户程序</a:t>
            </a:r>
          </a:p>
        </p:txBody>
      </p:sp>
      <p:grpSp>
        <p:nvGrpSpPr>
          <p:cNvPr id="11" name="Group 18">
            <a:extLst>
              <a:ext uri="{FF2B5EF4-FFF2-40B4-BE49-F238E27FC236}">
                <a16:creationId xmlns:a16="http://schemas.microsoft.com/office/drawing/2014/main" id="{A36DC129-3C50-B87D-1119-F295DC840939}"/>
              </a:ext>
            </a:extLst>
          </p:cNvPr>
          <p:cNvGrpSpPr/>
          <p:nvPr/>
        </p:nvGrpSpPr>
        <p:grpSpPr bwMode="auto">
          <a:xfrm>
            <a:off x="3318694" y="1806393"/>
            <a:ext cx="2307127" cy="1602670"/>
            <a:chOff x="1680" y="240"/>
            <a:chExt cx="2529" cy="1270"/>
          </a:xfrm>
          <a:solidFill>
            <a:schemeClr val="bg1">
              <a:lumMod val="95000"/>
            </a:schemeClr>
          </a:solidFill>
        </p:grpSpPr>
        <p:sp>
          <p:nvSpPr>
            <p:cNvPr id="12" name="Oval 19">
              <a:extLst>
                <a:ext uri="{FF2B5EF4-FFF2-40B4-BE49-F238E27FC236}">
                  <a16:creationId xmlns:a16="http://schemas.microsoft.com/office/drawing/2014/main" id="{A192A28D-E5C7-AA6E-EEE9-08AE97FD03FB}"/>
                </a:ext>
              </a:extLst>
            </p:cNvPr>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3" name="Oval 20">
              <a:extLst>
                <a:ext uri="{FF2B5EF4-FFF2-40B4-BE49-F238E27FC236}">
                  <a16:creationId xmlns:a16="http://schemas.microsoft.com/office/drawing/2014/main" id="{D37B424C-D580-AB8C-61C0-C4EBF6048C03}"/>
                </a:ext>
              </a:extLst>
            </p:cNvPr>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4" name="Oval 21">
              <a:extLst>
                <a:ext uri="{FF2B5EF4-FFF2-40B4-BE49-F238E27FC236}">
                  <a16:creationId xmlns:a16="http://schemas.microsoft.com/office/drawing/2014/main" id="{4913907E-8004-2A7A-CF42-E4CB908464E0}"/>
                </a:ext>
              </a:extLst>
            </p:cNvPr>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5" name="Oval 22">
              <a:extLst>
                <a:ext uri="{FF2B5EF4-FFF2-40B4-BE49-F238E27FC236}">
                  <a16:creationId xmlns:a16="http://schemas.microsoft.com/office/drawing/2014/main" id="{D5AFE93A-E91C-3105-485E-00F1A5A6E8CB}"/>
                </a:ext>
              </a:extLst>
            </p:cNvPr>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6" name="Oval 23">
              <a:extLst>
                <a:ext uri="{FF2B5EF4-FFF2-40B4-BE49-F238E27FC236}">
                  <a16:creationId xmlns:a16="http://schemas.microsoft.com/office/drawing/2014/main" id="{7B25EA15-92F5-FFBD-2F8F-45E4F5A21D2F}"/>
                </a:ext>
              </a:extLst>
            </p:cNvPr>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7" name="Oval 24">
              <a:extLst>
                <a:ext uri="{FF2B5EF4-FFF2-40B4-BE49-F238E27FC236}">
                  <a16:creationId xmlns:a16="http://schemas.microsoft.com/office/drawing/2014/main" id="{3523D4B4-458C-16D2-73C4-80C30F6DB0B2}"/>
                </a:ext>
              </a:extLst>
            </p:cNvPr>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8" name="Oval 25">
              <a:extLst>
                <a:ext uri="{FF2B5EF4-FFF2-40B4-BE49-F238E27FC236}">
                  <a16:creationId xmlns:a16="http://schemas.microsoft.com/office/drawing/2014/main" id="{47BB6E0D-517A-8C56-7324-BA92D51D2CFB}"/>
                </a:ext>
              </a:extLst>
            </p:cNvPr>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19" name="Oval 26">
              <a:extLst>
                <a:ext uri="{FF2B5EF4-FFF2-40B4-BE49-F238E27FC236}">
                  <a16:creationId xmlns:a16="http://schemas.microsoft.com/office/drawing/2014/main" id="{732126B5-35F3-6B79-2FDB-A3CE13D3244D}"/>
                </a:ext>
              </a:extLst>
            </p:cNvPr>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sp>
          <p:nvSpPr>
            <p:cNvPr id="20" name="Oval 27">
              <a:extLst>
                <a:ext uri="{FF2B5EF4-FFF2-40B4-BE49-F238E27FC236}">
                  <a16:creationId xmlns:a16="http://schemas.microsoft.com/office/drawing/2014/main" id="{700ABE70-59EB-58F3-4376-84BCB09AD0DD}"/>
                </a:ext>
              </a:extLst>
            </p:cNvPr>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a:solidFill>
                  <a:srgbClr val="368AD6"/>
                </a:solidFill>
                <a:latin typeface="Montserrat" panose="00000500000000000000" pitchFamily="2" charset="0"/>
                <a:ea typeface="微软雅黑 Light" panose="020B0502040204020203" pitchFamily="34" charset="-122"/>
              </a:endParaRPr>
            </a:p>
          </p:txBody>
        </p:sp>
      </p:grpSp>
      <p:sp>
        <p:nvSpPr>
          <p:cNvPr id="21" name="Text Box 28">
            <a:extLst>
              <a:ext uri="{FF2B5EF4-FFF2-40B4-BE49-F238E27FC236}">
                <a16:creationId xmlns:a16="http://schemas.microsoft.com/office/drawing/2014/main" id="{9268A4DE-0E70-F3C4-B153-7CDD9DEF401F}"/>
              </a:ext>
            </a:extLst>
          </p:cNvPr>
          <p:cNvSpPr txBox="1">
            <a:spLocks noChangeArrowheads="1"/>
          </p:cNvSpPr>
          <p:nvPr/>
        </p:nvSpPr>
        <p:spPr bwMode="auto">
          <a:xfrm>
            <a:off x="4139431" y="1085678"/>
            <a:ext cx="903287" cy="307975"/>
          </a:xfrm>
          <a:prstGeom prst="rect">
            <a:avLst/>
          </a:prstGeom>
          <a:noFill/>
          <a:ln>
            <a:noFill/>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网络边缘</a:t>
            </a:r>
          </a:p>
        </p:txBody>
      </p:sp>
      <p:sp>
        <p:nvSpPr>
          <p:cNvPr id="22" name="Text Box 29">
            <a:extLst>
              <a:ext uri="{FF2B5EF4-FFF2-40B4-BE49-F238E27FC236}">
                <a16:creationId xmlns:a16="http://schemas.microsoft.com/office/drawing/2014/main" id="{1786653C-90C5-304F-2ABA-DF7EA74D00CE}"/>
              </a:ext>
            </a:extLst>
          </p:cNvPr>
          <p:cNvSpPr txBox="1">
            <a:spLocks noChangeArrowheads="1"/>
          </p:cNvSpPr>
          <p:nvPr/>
        </p:nvSpPr>
        <p:spPr bwMode="auto">
          <a:xfrm>
            <a:off x="4159022" y="2977020"/>
            <a:ext cx="903288" cy="307975"/>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网络核心</a:t>
            </a:r>
          </a:p>
        </p:txBody>
      </p:sp>
      <p:sp>
        <p:nvSpPr>
          <p:cNvPr id="23" name="Text Box 31">
            <a:extLst>
              <a:ext uri="{FF2B5EF4-FFF2-40B4-BE49-F238E27FC236}">
                <a16:creationId xmlns:a16="http://schemas.microsoft.com/office/drawing/2014/main" id="{17BF7221-D14C-A883-3DF8-FD8A0C3419A2}"/>
              </a:ext>
            </a:extLst>
          </p:cNvPr>
          <p:cNvSpPr txBox="1">
            <a:spLocks noChangeArrowheads="1"/>
          </p:cNvSpPr>
          <p:nvPr/>
        </p:nvSpPr>
        <p:spPr bwMode="auto">
          <a:xfrm>
            <a:off x="6212117" y="1510671"/>
            <a:ext cx="1016000"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Montserrat" panose="00000500000000000000" pitchFamily="2" charset="0"/>
                <a:ea typeface="微软雅黑 Light" panose="020B0502040204020203" pitchFamily="34" charset="-122"/>
              </a:rPr>
              <a:t>运行</a:t>
            </a:r>
          </a:p>
          <a:p>
            <a:pPr algn="ctr"/>
            <a:r>
              <a:rPr kumimoji="1" lang="zh-CN" altLang="en-US" sz="1200" dirty="0">
                <a:latin typeface="Montserrat" panose="00000500000000000000" pitchFamily="2" charset="0"/>
                <a:ea typeface="微软雅黑 Light" panose="020B0502040204020203" pitchFamily="34" charset="-122"/>
              </a:rPr>
              <a:t>服务器程序</a:t>
            </a:r>
          </a:p>
        </p:txBody>
      </p:sp>
      <p:sp>
        <p:nvSpPr>
          <p:cNvPr id="24" name="Line 33">
            <a:extLst>
              <a:ext uri="{FF2B5EF4-FFF2-40B4-BE49-F238E27FC236}">
                <a16:creationId xmlns:a16="http://schemas.microsoft.com/office/drawing/2014/main" id="{13DD4DD3-CACA-EC7E-4F6C-34A5A4703726}"/>
              </a:ext>
            </a:extLst>
          </p:cNvPr>
          <p:cNvSpPr>
            <a:spLocks noChangeShapeType="1"/>
          </p:cNvSpPr>
          <p:nvPr/>
        </p:nvSpPr>
        <p:spPr bwMode="auto">
          <a:xfrm>
            <a:off x="2427749" y="2106945"/>
            <a:ext cx="305590" cy="325665"/>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5" name="Line 34">
            <a:extLst>
              <a:ext uri="{FF2B5EF4-FFF2-40B4-BE49-F238E27FC236}">
                <a16:creationId xmlns:a16="http://schemas.microsoft.com/office/drawing/2014/main" id="{EB64DE9D-4B96-EC63-3E4F-B1E95ECF2FDF}"/>
              </a:ext>
            </a:extLst>
          </p:cNvPr>
          <p:cNvSpPr>
            <a:spLocks noChangeShapeType="1"/>
          </p:cNvSpPr>
          <p:nvPr/>
        </p:nvSpPr>
        <p:spPr bwMode="auto">
          <a:xfrm flipH="1">
            <a:off x="6463184" y="2000734"/>
            <a:ext cx="228455" cy="354006"/>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6" name="Text Box 35">
            <a:extLst>
              <a:ext uri="{FF2B5EF4-FFF2-40B4-BE49-F238E27FC236}">
                <a16:creationId xmlns:a16="http://schemas.microsoft.com/office/drawing/2014/main" id="{DD16C0AC-24DC-58D0-F9C5-B4C5C5D5C083}"/>
              </a:ext>
            </a:extLst>
          </p:cNvPr>
          <p:cNvSpPr txBox="1">
            <a:spLocks noChangeArrowheads="1"/>
          </p:cNvSpPr>
          <p:nvPr/>
        </p:nvSpPr>
        <p:spPr bwMode="auto">
          <a:xfrm>
            <a:off x="2767831" y="2124833"/>
            <a:ext cx="3129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Montserrat" panose="00000500000000000000" pitchFamily="2" charset="0"/>
                <a:ea typeface="微软雅黑 Light" panose="020B0502040204020203" pitchFamily="34" charset="-122"/>
              </a:rPr>
              <a:t>A</a:t>
            </a:r>
          </a:p>
        </p:txBody>
      </p:sp>
      <p:sp>
        <p:nvSpPr>
          <p:cNvPr id="27" name="Text Box 36">
            <a:extLst>
              <a:ext uri="{FF2B5EF4-FFF2-40B4-BE49-F238E27FC236}">
                <a16:creationId xmlns:a16="http://schemas.microsoft.com/office/drawing/2014/main" id="{D36EB674-5C4D-601A-42F9-AC624276AB94}"/>
              </a:ext>
            </a:extLst>
          </p:cNvPr>
          <p:cNvSpPr txBox="1">
            <a:spLocks noChangeArrowheads="1"/>
          </p:cNvSpPr>
          <p:nvPr/>
        </p:nvSpPr>
        <p:spPr bwMode="auto">
          <a:xfrm>
            <a:off x="6057131" y="191817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a:latin typeface="Montserrat" panose="00000500000000000000" pitchFamily="2" charset="0"/>
                <a:ea typeface="微软雅黑 Light" panose="020B0502040204020203" pitchFamily="34" charset="-122"/>
              </a:rPr>
              <a:t>B</a:t>
            </a:r>
          </a:p>
        </p:txBody>
      </p:sp>
      <p:grpSp>
        <p:nvGrpSpPr>
          <p:cNvPr id="28" name="组合 27">
            <a:extLst>
              <a:ext uri="{FF2B5EF4-FFF2-40B4-BE49-F238E27FC236}">
                <a16:creationId xmlns:a16="http://schemas.microsoft.com/office/drawing/2014/main" id="{B175E06A-0AE5-2B25-5586-965354501F71}"/>
              </a:ext>
            </a:extLst>
          </p:cNvPr>
          <p:cNvGrpSpPr/>
          <p:nvPr/>
        </p:nvGrpSpPr>
        <p:grpSpPr bwMode="auto">
          <a:xfrm>
            <a:off x="3167881" y="2143528"/>
            <a:ext cx="2667000" cy="423927"/>
            <a:chOff x="2799680" y="2336638"/>
            <a:chExt cx="3658879" cy="1221046"/>
          </a:xfrm>
        </p:grpSpPr>
        <p:sp>
          <p:nvSpPr>
            <p:cNvPr id="29" name="Freeform 32">
              <a:extLst>
                <a:ext uri="{FF2B5EF4-FFF2-40B4-BE49-F238E27FC236}">
                  <a16:creationId xmlns:a16="http://schemas.microsoft.com/office/drawing/2014/main" id="{67BBF368-2C27-1747-4CD4-1DCADBA35D53}"/>
                </a:ext>
              </a:extLst>
            </p:cNvPr>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0" name="Text Box 39">
              <a:extLst>
                <a:ext uri="{FF2B5EF4-FFF2-40B4-BE49-F238E27FC236}">
                  <a16:creationId xmlns:a16="http://schemas.microsoft.com/office/drawing/2014/main" id="{F0FE440A-8F64-D32F-E212-941B588859DF}"/>
                </a:ext>
              </a:extLst>
            </p:cNvPr>
            <p:cNvSpPr txBox="1">
              <a:spLocks noChangeArrowheads="1"/>
            </p:cNvSpPr>
            <p:nvPr/>
          </p:nvSpPr>
          <p:spPr bwMode="auto">
            <a:xfrm rot="240000">
              <a:off x="4032689" y="2336638"/>
              <a:ext cx="1370524" cy="797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Montserrat" panose="00000500000000000000" pitchFamily="2" charset="0"/>
                  <a:ea typeface="微软雅黑 Light" panose="020B0502040204020203" pitchFamily="34" charset="-122"/>
                </a:rPr>
                <a:t>① </a:t>
              </a:r>
              <a:r>
                <a:rPr kumimoji="1" lang="zh-CN" altLang="en-US" sz="1200" dirty="0">
                  <a:solidFill>
                    <a:srgbClr val="CC00CC"/>
                  </a:solidFill>
                  <a:latin typeface="Montserrat" panose="00000500000000000000" pitchFamily="2" charset="0"/>
                  <a:ea typeface="微软雅黑 Light" panose="020B0502040204020203" pitchFamily="34" charset="-122"/>
                </a:rPr>
                <a:t>请求服务</a:t>
              </a:r>
            </a:p>
          </p:txBody>
        </p:sp>
      </p:grpSp>
      <p:sp>
        <p:nvSpPr>
          <p:cNvPr id="31" name="Text Box 41">
            <a:extLst>
              <a:ext uri="{FF2B5EF4-FFF2-40B4-BE49-F238E27FC236}">
                <a16:creationId xmlns:a16="http://schemas.microsoft.com/office/drawing/2014/main" id="{67AA46C4-D112-2567-0594-208F63ED50D4}"/>
              </a:ext>
            </a:extLst>
          </p:cNvPr>
          <p:cNvSpPr txBox="1">
            <a:spLocks noChangeArrowheads="1"/>
          </p:cNvSpPr>
          <p:nvPr/>
        </p:nvSpPr>
        <p:spPr bwMode="auto">
          <a:xfrm>
            <a:off x="2626472" y="2731258"/>
            <a:ext cx="6383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32" name="Text Box 42">
            <a:extLst>
              <a:ext uri="{FF2B5EF4-FFF2-40B4-BE49-F238E27FC236}">
                <a16:creationId xmlns:a16="http://schemas.microsoft.com/office/drawing/2014/main" id="{B6407FC2-C9A6-A9DB-131D-334C52CBA559}"/>
              </a:ext>
            </a:extLst>
          </p:cNvPr>
          <p:cNvSpPr txBox="1">
            <a:spLocks noChangeArrowheads="1"/>
          </p:cNvSpPr>
          <p:nvPr/>
        </p:nvSpPr>
        <p:spPr bwMode="auto">
          <a:xfrm>
            <a:off x="5833861" y="2999264"/>
            <a:ext cx="6703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pic>
        <p:nvPicPr>
          <p:cNvPr id="33" name="Picture 246" descr="jisuanji">
            <a:extLst>
              <a:ext uri="{FF2B5EF4-FFF2-40B4-BE49-F238E27FC236}">
                <a16:creationId xmlns:a16="http://schemas.microsoft.com/office/drawing/2014/main" id="{35ED9904-7CBF-8486-004D-B1A3F03E1C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4018" y="238570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 name="Picture 246" descr="jisuanji">
            <a:extLst>
              <a:ext uri="{FF2B5EF4-FFF2-40B4-BE49-F238E27FC236}">
                <a16:creationId xmlns:a16="http://schemas.microsoft.com/office/drawing/2014/main" id="{0267D68E-5B4F-F25D-7596-0603554BA1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7931" y="1411764"/>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 name="Picture 246" descr="jisuanji">
            <a:extLst>
              <a:ext uri="{FF2B5EF4-FFF2-40B4-BE49-F238E27FC236}">
                <a16:creationId xmlns:a16="http://schemas.microsoft.com/office/drawing/2014/main" id="{3F51AF50-996E-809C-5AAB-93533E8615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7506" y="1359376"/>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 name="Picture 246" descr="jisuanji">
            <a:extLst>
              <a:ext uri="{FF2B5EF4-FFF2-40B4-BE49-F238E27FC236}">
                <a16:creationId xmlns:a16="http://schemas.microsoft.com/office/drawing/2014/main" id="{86F2BFFD-9A86-65FD-FFB2-069D65F36C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531" y="3459639"/>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a:extLst>
              <a:ext uri="{FF2B5EF4-FFF2-40B4-BE49-F238E27FC236}">
                <a16:creationId xmlns:a16="http://schemas.microsoft.com/office/drawing/2014/main" id="{0F7B8B99-FF5E-29F7-FBC5-42F6EB8C7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5093" y="351202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图片 39">
            <a:extLst>
              <a:ext uri="{FF2B5EF4-FFF2-40B4-BE49-F238E27FC236}">
                <a16:creationId xmlns:a16="http://schemas.microsoft.com/office/drawing/2014/main" id="{490C5749-F961-7A53-BE55-B6D0BE38049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49168" y="214201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 name="组合 38">
            <a:extLst>
              <a:ext uri="{FF2B5EF4-FFF2-40B4-BE49-F238E27FC236}">
                <a16:creationId xmlns:a16="http://schemas.microsoft.com/office/drawing/2014/main" id="{DFC830C1-7891-7ADC-EF9C-702E356CA026}"/>
              </a:ext>
            </a:extLst>
          </p:cNvPr>
          <p:cNvGrpSpPr/>
          <p:nvPr/>
        </p:nvGrpSpPr>
        <p:grpSpPr bwMode="auto">
          <a:xfrm rot="-60000">
            <a:off x="3120189" y="2574082"/>
            <a:ext cx="2665413" cy="351538"/>
            <a:chOff x="2717737" y="3239081"/>
            <a:chExt cx="3658879" cy="740869"/>
          </a:xfrm>
        </p:grpSpPr>
        <p:sp>
          <p:nvSpPr>
            <p:cNvPr id="40" name="Text Box 40">
              <a:extLst>
                <a:ext uri="{FF2B5EF4-FFF2-40B4-BE49-F238E27FC236}">
                  <a16:creationId xmlns:a16="http://schemas.microsoft.com/office/drawing/2014/main" id="{06DEF53B-6417-4CD0-E184-D6A951D523F8}"/>
                </a:ext>
              </a:extLst>
            </p:cNvPr>
            <p:cNvSpPr txBox="1">
              <a:spLocks noChangeArrowheads="1"/>
            </p:cNvSpPr>
            <p:nvPr/>
          </p:nvSpPr>
          <p:spPr bwMode="auto">
            <a:xfrm rot="300000">
              <a:off x="3966416" y="3396173"/>
              <a:ext cx="1371340" cy="583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Montserrat" panose="00000500000000000000" pitchFamily="2" charset="0"/>
                  <a:ea typeface="微软雅黑 Light" panose="020B0502040204020203" pitchFamily="34" charset="-122"/>
                </a:rPr>
                <a:t>② </a:t>
              </a:r>
              <a:r>
                <a:rPr kumimoji="1" lang="zh-CN" altLang="en-US" sz="1200" dirty="0">
                  <a:solidFill>
                    <a:srgbClr val="CC00CC"/>
                  </a:solidFill>
                  <a:latin typeface="Montserrat" panose="00000500000000000000" pitchFamily="2" charset="0"/>
                  <a:ea typeface="微软雅黑 Light" panose="020B0502040204020203" pitchFamily="34" charset="-122"/>
                </a:rPr>
                <a:t>得到服务</a:t>
              </a:r>
            </a:p>
          </p:txBody>
        </p:sp>
        <p:sp>
          <p:nvSpPr>
            <p:cNvPr id="41" name="Freeform 38">
              <a:extLst>
                <a:ext uri="{FF2B5EF4-FFF2-40B4-BE49-F238E27FC236}">
                  <a16:creationId xmlns:a16="http://schemas.microsoft.com/office/drawing/2014/main" id="{540F7992-F37E-D0E3-9783-E55B59475AA4}"/>
                </a:ext>
              </a:extLst>
            </p:cNvPr>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grpSp>
      <p:sp>
        <p:nvSpPr>
          <p:cNvPr id="5" name="内容占位符 4">
            <a:extLst>
              <a:ext uri="{FF2B5EF4-FFF2-40B4-BE49-F238E27FC236}">
                <a16:creationId xmlns:a16="http://schemas.microsoft.com/office/drawing/2014/main" id="{63707B6B-7AB4-B745-890D-2E3C51E03879}"/>
              </a:ext>
            </a:extLst>
          </p:cNvPr>
          <p:cNvSpPr>
            <a:spLocks noGrp="1"/>
          </p:cNvSpPr>
          <p:nvPr>
            <p:ph sz="quarter" idx="10"/>
          </p:nvPr>
        </p:nvSpPr>
        <p:spPr/>
        <p:txBody>
          <a:bodyPr/>
          <a:lstStyle/>
          <a:p>
            <a:endParaRPr lang="zh-CN" altLang="en-US"/>
          </a:p>
        </p:txBody>
      </p:sp>
      <p:sp>
        <p:nvSpPr>
          <p:cNvPr id="3" name="文本占位符 2">
            <a:extLst>
              <a:ext uri="{FF2B5EF4-FFF2-40B4-BE49-F238E27FC236}">
                <a16:creationId xmlns:a16="http://schemas.microsoft.com/office/drawing/2014/main" id="{3A1ACF09-39B1-A63E-B926-9761B2A68577}"/>
              </a:ext>
            </a:extLst>
          </p:cNvPr>
          <p:cNvSpPr>
            <a:spLocks noGrp="1"/>
          </p:cNvSpPr>
          <p:nvPr>
            <p:ph type="body" sz="quarter" idx="11"/>
          </p:nvPr>
        </p:nvSpPr>
        <p:spPr>
          <a:xfrm>
            <a:off x="0" y="150273"/>
            <a:ext cx="6632575" cy="338554"/>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Tree>
    <p:extLst>
      <p:ext uri="{BB962C8B-B14F-4D97-AF65-F5344CB8AC3E}">
        <p14:creationId xmlns:p14="http://schemas.microsoft.com/office/powerpoint/2010/main" val="10816101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2000"/>
                                        <p:tgtEl>
                                          <p:spTgt spid="28"/>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39"/>
                                        </p:tgtEl>
                                        <p:attrNameLst>
                                          <p:attrName>style.visibility</p:attrName>
                                        </p:attrNameLst>
                                      </p:cBhvr>
                                      <p:to>
                                        <p:strVal val="visible"/>
                                      </p:to>
                                    </p:set>
                                    <p:animEffect transition="in" filter="wipe(right)">
                                      <p:cBhvr>
                                        <p:cTn id="1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466344" y="504285"/>
            <a:ext cx="8129016" cy="4172489"/>
          </a:xfrm>
        </p:spPr>
        <p:txBody>
          <a:bodyPr/>
          <a:lstStyle/>
          <a:p>
            <a:r>
              <a:rPr lang="zh-CN" altLang="en-US" dirty="0"/>
              <a:t>客户程序</a:t>
            </a:r>
            <a:endParaRPr lang="en-US" altLang="zh-CN" dirty="0"/>
          </a:p>
          <a:p>
            <a:pPr lvl="1"/>
            <a:r>
              <a:rPr lang="zh-CN" altLang="en-US" dirty="0"/>
              <a:t>被用户调用后运行，需主动向远地服务器发起通信（请求服务）。必须知道服务器程序的地址。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a:t>
            </a:r>
          </a:p>
          <a:p>
            <a:pPr lvl="1"/>
            <a:r>
              <a:rPr lang="zh-CN" altLang="en-US" dirty="0"/>
              <a:t>一直不断地运行着，被动地等待并接受来自各地的客户的通信请求。不需要知道客户程序的地址。</a:t>
            </a:r>
          </a:p>
          <a:p>
            <a:pPr lvl="1"/>
            <a:r>
              <a:rPr lang="zh-CN" altLang="en-US" dirty="0"/>
              <a:t>一般需要强大的硬件和高级的操作系统支持。</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客户程序和服务器程序主要特点</a:t>
            </a:r>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p>
        </p:txBody>
      </p:sp>
      <p:sp>
        <p:nvSpPr>
          <p:cNvPr id="4" name="文本占位符 3"/>
          <p:cNvSpPr>
            <a:spLocks noGrp="1"/>
          </p:cNvSpPr>
          <p:nvPr>
            <p:ph type="body" sz="quarter" idx="11"/>
          </p:nvPr>
        </p:nvSpPr>
        <p:spPr/>
        <p:txBody>
          <a:bodyPr/>
          <a:lstStyle/>
          <a:p>
            <a:r>
              <a:rPr lang="en-US" altLang="zh-CN" dirty="0"/>
              <a:t>2. </a:t>
            </a:r>
            <a:r>
              <a:rPr lang="zh-CN" altLang="en-US" dirty="0"/>
              <a:t>对等连接方式（</a:t>
            </a:r>
            <a:r>
              <a:rPr lang="en-US" altLang="zh-CN" dirty="0"/>
              <a:t>P2P </a:t>
            </a:r>
            <a:r>
              <a:rPr lang="zh-CN" altLang="en-US" dirty="0"/>
              <a:t>方式）</a:t>
            </a:r>
          </a:p>
        </p:txBody>
      </p:sp>
      <p:sp>
        <p:nvSpPr>
          <p:cNvPr id="47" name="对角圆角矩形 46"/>
          <p:cNvSpPr/>
          <p:nvPr/>
        </p:nvSpPr>
        <p:spPr>
          <a:xfrm>
            <a:off x="466344" y="3043575"/>
            <a:ext cx="3575703" cy="1432010"/>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673767" y="3103186"/>
            <a:ext cx="3352127"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chemeClr val="bg1"/>
                </a:solidFill>
                <a:latin typeface="微软雅黑" panose="020B0503020204020204" pitchFamily="34" charset="-122"/>
                <a:ea typeface="微软雅黑" panose="020B0503020204020204" pitchFamily="34" charset="-122"/>
              </a:rPr>
              <a:t>对等连接方式从本质上看仍然是使用客户服务器方式，只是对等连接中的每一个主机</a:t>
            </a:r>
            <a:r>
              <a:rPr lang="zh-CN" altLang="en-US" b="1" dirty="0">
                <a:solidFill>
                  <a:srgbClr val="FFFF00"/>
                </a:solidFill>
                <a:latin typeface="微软雅黑" panose="020B0503020204020204" pitchFamily="34" charset="-122"/>
                <a:ea typeface="微软雅黑" panose="020B0503020204020204" pitchFamily="34" charset="-122"/>
              </a:rPr>
              <a:t>既是客户又是服务器。</a:t>
            </a:r>
          </a:p>
        </p:txBody>
      </p:sp>
      <p:sp>
        <p:nvSpPr>
          <p:cNvPr id="49" name="Oval 4"/>
          <p:cNvSpPr>
            <a:spLocks noChangeArrowheads="1"/>
          </p:cNvSpPr>
          <p:nvPr/>
        </p:nvSpPr>
        <p:spPr bwMode="auto">
          <a:xfrm>
            <a:off x="4093027" y="1165157"/>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977095" y="2890233"/>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 name="Line 6"/>
          <p:cNvSpPr>
            <a:spLocks noChangeShapeType="1"/>
          </p:cNvSpPr>
          <p:nvPr/>
        </p:nvSpPr>
        <p:spPr bwMode="auto">
          <a:xfrm flipH="1" flipV="1">
            <a:off x="4727213" y="2334227"/>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7"/>
          <p:cNvSpPr>
            <a:spLocks noChangeShapeType="1"/>
          </p:cNvSpPr>
          <p:nvPr/>
        </p:nvSpPr>
        <p:spPr bwMode="auto">
          <a:xfrm flipH="1">
            <a:off x="7155734" y="2612821"/>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 name="Line 8"/>
          <p:cNvSpPr>
            <a:spLocks noChangeShapeType="1"/>
          </p:cNvSpPr>
          <p:nvPr/>
        </p:nvSpPr>
        <p:spPr bwMode="auto">
          <a:xfrm flipH="1">
            <a:off x="6635152" y="1666913"/>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 name="Line 9"/>
          <p:cNvSpPr>
            <a:spLocks noChangeShapeType="1"/>
          </p:cNvSpPr>
          <p:nvPr/>
        </p:nvSpPr>
        <p:spPr bwMode="auto">
          <a:xfrm flipH="1" flipV="1">
            <a:off x="6630429" y="3083294"/>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5" name="Line 10"/>
          <p:cNvSpPr>
            <a:spLocks noChangeShapeType="1"/>
          </p:cNvSpPr>
          <p:nvPr/>
        </p:nvSpPr>
        <p:spPr bwMode="auto">
          <a:xfrm>
            <a:off x="5316072" y="1761107"/>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 name="Line 11"/>
          <p:cNvSpPr>
            <a:spLocks noChangeShapeType="1"/>
          </p:cNvSpPr>
          <p:nvPr/>
        </p:nvSpPr>
        <p:spPr bwMode="auto">
          <a:xfrm flipV="1">
            <a:off x="5707527" y="3039086"/>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7" name="Group 17"/>
          <p:cNvGrpSpPr/>
          <p:nvPr/>
        </p:nvGrpSpPr>
        <p:grpSpPr bwMode="auto">
          <a:xfrm>
            <a:off x="5258040" y="1947503"/>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grpSp>
      <p:sp>
        <p:nvSpPr>
          <p:cNvPr id="67" name="Text Box 27"/>
          <p:cNvSpPr txBox="1">
            <a:spLocks noChangeArrowheads="1"/>
          </p:cNvSpPr>
          <p:nvPr/>
        </p:nvSpPr>
        <p:spPr bwMode="auto">
          <a:xfrm>
            <a:off x="5640252" y="1381948"/>
            <a:ext cx="11803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68" name="Text Box 28"/>
          <p:cNvSpPr txBox="1">
            <a:spLocks noChangeArrowheads="1"/>
          </p:cNvSpPr>
          <p:nvPr/>
        </p:nvSpPr>
        <p:spPr bwMode="auto">
          <a:xfrm>
            <a:off x="5884044" y="2577967"/>
            <a:ext cx="1090078" cy="307777"/>
          </a:xfrm>
          <a:prstGeom prst="rect">
            <a:avLst/>
          </a:prstGeom>
          <a:solidFill>
            <a:schemeClr val="bg1"/>
          </a:solidFill>
          <a:ln>
            <a:noFill/>
          </a:ln>
          <a:effectLst/>
          <a:extLs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69" name="Text Box 30"/>
          <p:cNvSpPr txBox="1">
            <a:spLocks noChangeArrowheads="1"/>
          </p:cNvSpPr>
          <p:nvPr/>
        </p:nvSpPr>
        <p:spPr bwMode="auto">
          <a:xfrm>
            <a:off x="7189671" y="1738140"/>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0" name="Text Box 31"/>
          <p:cNvSpPr txBox="1">
            <a:spLocks noChangeArrowheads="1"/>
          </p:cNvSpPr>
          <p:nvPr/>
        </p:nvSpPr>
        <p:spPr bwMode="auto">
          <a:xfrm>
            <a:off x="7309650" y="308916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1" name="Line 32"/>
          <p:cNvSpPr>
            <a:spLocks noChangeShapeType="1"/>
          </p:cNvSpPr>
          <p:nvPr/>
        </p:nvSpPr>
        <p:spPr bwMode="auto">
          <a:xfrm flipH="1">
            <a:off x="7105061" y="1855231"/>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 name="Line 33"/>
          <p:cNvSpPr>
            <a:spLocks noChangeShapeType="1"/>
          </p:cNvSpPr>
          <p:nvPr/>
        </p:nvSpPr>
        <p:spPr bwMode="auto">
          <a:xfrm flipH="1" flipV="1">
            <a:off x="7224507" y="1672751"/>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 name="Line 34"/>
          <p:cNvSpPr>
            <a:spLocks noChangeShapeType="1"/>
          </p:cNvSpPr>
          <p:nvPr/>
        </p:nvSpPr>
        <p:spPr bwMode="auto">
          <a:xfrm flipH="1">
            <a:off x="7199702" y="3449107"/>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 name="Text Box 35"/>
          <p:cNvSpPr txBox="1">
            <a:spLocks noChangeArrowheads="1"/>
          </p:cNvSpPr>
          <p:nvPr/>
        </p:nvSpPr>
        <p:spPr bwMode="auto">
          <a:xfrm>
            <a:off x="6648512" y="3459924"/>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D</a:t>
            </a:r>
          </a:p>
        </p:txBody>
      </p:sp>
      <p:sp>
        <p:nvSpPr>
          <p:cNvPr id="75" name="Text Box 36"/>
          <p:cNvSpPr txBox="1">
            <a:spLocks noChangeArrowheads="1"/>
          </p:cNvSpPr>
          <p:nvPr/>
        </p:nvSpPr>
        <p:spPr bwMode="auto">
          <a:xfrm>
            <a:off x="7207428" y="1384781"/>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C</a:t>
            </a:r>
          </a:p>
        </p:txBody>
      </p:sp>
      <p:sp>
        <p:nvSpPr>
          <p:cNvPr id="76" name="Line 38"/>
          <p:cNvSpPr>
            <a:spLocks noChangeShapeType="1"/>
          </p:cNvSpPr>
          <p:nvPr/>
        </p:nvSpPr>
        <p:spPr bwMode="auto">
          <a:xfrm flipH="1">
            <a:off x="5071118" y="1925375"/>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 name="Text Box 39"/>
          <p:cNvSpPr txBox="1">
            <a:spLocks noChangeArrowheads="1"/>
          </p:cNvSpPr>
          <p:nvPr/>
        </p:nvSpPr>
        <p:spPr bwMode="auto">
          <a:xfrm>
            <a:off x="4989076" y="1390091"/>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E</a:t>
            </a:r>
          </a:p>
        </p:txBody>
      </p:sp>
      <p:sp>
        <p:nvSpPr>
          <p:cNvPr id="78" name="Text Box 40"/>
          <p:cNvSpPr txBox="1">
            <a:spLocks noChangeArrowheads="1"/>
          </p:cNvSpPr>
          <p:nvPr/>
        </p:nvSpPr>
        <p:spPr bwMode="auto">
          <a:xfrm>
            <a:off x="4669949" y="3169789"/>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ea typeface="黑体" panose="02010609060101010101" pitchFamily="2" charset="-122"/>
              </a:rPr>
              <a:t>F</a:t>
            </a:r>
          </a:p>
        </p:txBody>
      </p:sp>
      <p:sp>
        <p:nvSpPr>
          <p:cNvPr id="79" name="Text Box 41"/>
          <p:cNvSpPr txBox="1">
            <a:spLocks noChangeArrowheads="1"/>
          </p:cNvSpPr>
          <p:nvPr/>
        </p:nvSpPr>
        <p:spPr bwMode="auto">
          <a:xfrm>
            <a:off x="4357491" y="172089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0" name="Text Box 42"/>
          <p:cNvSpPr txBox="1">
            <a:spLocks noChangeArrowheads="1"/>
          </p:cNvSpPr>
          <p:nvPr/>
        </p:nvSpPr>
        <p:spPr bwMode="auto">
          <a:xfrm>
            <a:off x="4181616" y="2586777"/>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1" name="Line 43"/>
          <p:cNvSpPr>
            <a:spLocks noChangeShapeType="1"/>
          </p:cNvSpPr>
          <p:nvPr/>
        </p:nvSpPr>
        <p:spPr bwMode="auto">
          <a:xfrm flipV="1">
            <a:off x="4975609" y="1681236"/>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2" name="Line 44"/>
          <p:cNvSpPr>
            <a:spLocks noChangeShapeType="1"/>
          </p:cNvSpPr>
          <p:nvPr/>
        </p:nvSpPr>
        <p:spPr bwMode="auto">
          <a:xfrm>
            <a:off x="4727214" y="2974119"/>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3" name="Line 45"/>
          <p:cNvSpPr>
            <a:spLocks noChangeShapeType="1"/>
          </p:cNvSpPr>
          <p:nvPr/>
        </p:nvSpPr>
        <p:spPr bwMode="auto">
          <a:xfrm flipH="1">
            <a:off x="5181679" y="1757553"/>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05034" y="1563606"/>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6048" y="2290852"/>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4085" y="2205950"/>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7237" y="306382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2688" y="3381371"/>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00840" y="3449185"/>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66004" y="14904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endParaRPr lang="zh-CN" altLang="en-US" dirty="0"/>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1.3.2  </a:t>
            </a:r>
            <a:r>
              <a:rPr lang="zh-CN" altLang="en-US" dirty="0"/>
              <a:t>互联网的核心部分</a:t>
            </a:r>
          </a:p>
        </p:txBody>
      </p:sp>
      <p:grpSp>
        <p:nvGrpSpPr>
          <p:cNvPr id="6" name="组合 5"/>
          <p:cNvGrpSpPr/>
          <p:nvPr/>
        </p:nvGrpSpPr>
        <p:grpSpPr>
          <a:xfrm>
            <a:off x="4180122" y="1948891"/>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a:solidFill>
                  <a:srgbClr val="368AD6"/>
                </a:solidFill>
              </a:endParaRPr>
            </a:p>
          </p:txBody>
        </p:sp>
        <p:sp>
          <p:nvSpPr>
            <p:cNvPr id="9" name="Text Box 79"/>
            <p:cNvSpPr txBox="1">
              <a:spLocks noChangeArrowheads="1"/>
            </p:cNvSpPr>
            <p:nvPr/>
          </p:nvSpPr>
          <p:spPr bwMode="auto">
            <a:xfrm>
              <a:off x="3300774" y="1240001"/>
              <a:ext cx="2505488" cy="467507"/>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CC00CC"/>
                  </a:solidFill>
                  <a:latin typeface="Times New Roman" panose="02020603050405020304" pitchFamily="18" charset="0"/>
                  <a:ea typeface="微软雅黑" panose="020B0503020204020204" pitchFamily="34" charset="-122"/>
                </a:rPr>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sp>
          <p:nvSpPr>
            <p:cNvPr id="34" name="Text Box 1523"/>
            <p:cNvSpPr txBox="1">
              <a:spLocks noChangeArrowheads="1"/>
            </p:cNvSpPr>
            <p:nvPr/>
          </p:nvSpPr>
          <p:spPr bwMode="auto">
            <a:xfrm>
              <a:off x="2632854"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a:solidFill>
                    <a:srgbClr val="368AD6"/>
                  </a:solidFill>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在网络核心部分起特殊作用的是</a:t>
            </a:r>
            <a:r>
              <a:rPr lang="zh-CN" altLang="en-US" sz="2000" b="1" dirty="0">
                <a:solidFill>
                  <a:srgbClr val="C00000"/>
                </a:solidFill>
                <a:latin typeface="微软雅黑" pitchFamily="34" charset="-122"/>
                <a:ea typeface="微软雅黑" pitchFamily="34" charset="-122"/>
              </a:rPr>
              <a:t>路由器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(router)</a:t>
            </a:r>
            <a:r>
              <a:rPr lang="zh-CN" altLang="en-US" sz="2000" b="1" dirty="0">
                <a:latin typeface="微软雅黑" pitchFamily="34" charset="-122"/>
                <a:ea typeface="微软雅黑" pitchFamily="34" charset="-122"/>
              </a:rPr>
              <a:t>。</a:t>
            </a:r>
          </a:p>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路由器是实现</a:t>
            </a:r>
            <a:r>
              <a:rPr lang="zh-CN" altLang="en-US" sz="2000" b="1" dirty="0">
                <a:solidFill>
                  <a:srgbClr val="C00000"/>
                </a:solidFill>
                <a:latin typeface="微软雅黑" pitchFamily="34" charset="-122"/>
                <a:ea typeface="微软雅黑" pitchFamily="34" charset="-122"/>
              </a:rPr>
              <a:t>分组交换</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(packet switching) </a:t>
            </a:r>
            <a:r>
              <a:rPr lang="zh-CN" altLang="en-US" sz="2000" b="1" dirty="0">
                <a:latin typeface="微软雅黑" pitchFamily="34" charset="-122"/>
                <a:ea typeface="微软雅黑" pitchFamily="34" charset="-122"/>
              </a:rPr>
              <a:t>的关键构件，其任务是</a:t>
            </a:r>
            <a:r>
              <a:rPr lang="zh-CN" altLang="en-US" sz="2000" b="1" dirty="0">
                <a:solidFill>
                  <a:srgbClr val="C00000"/>
                </a:solidFill>
                <a:latin typeface="微软雅黑" pitchFamily="34" charset="-122"/>
                <a:ea typeface="微软雅黑" pitchFamily="34" charset="-122"/>
              </a:rPr>
              <a:t>转发</a:t>
            </a:r>
            <a:r>
              <a:rPr lang="zh-CN" altLang="en-US" sz="2000" b="1" dirty="0">
                <a:latin typeface="微软雅黑" pitchFamily="34" charset="-122"/>
                <a:ea typeface="微软雅黑" pitchFamily="34" charset="-122"/>
              </a:rPr>
              <a:t>收到的分组。</a:t>
            </a:r>
          </a:p>
        </p:txBody>
      </p:sp>
      <p:sp>
        <p:nvSpPr>
          <p:cNvPr id="95" name="对角圆角矩形 94"/>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96" name="矩形 5"/>
          <p:cNvSpPr>
            <a:spLocks noChangeArrowheads="1"/>
          </p:cNvSpPr>
          <p:nvPr/>
        </p:nvSpPr>
        <p:spPr bwMode="auto">
          <a:xfrm>
            <a:off x="2702601" y="4327005"/>
            <a:ext cx="41452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分组转发</a:t>
            </a:r>
            <a:r>
              <a:rPr lang="zh-CN" altLang="en-US" b="1" dirty="0">
                <a:solidFill>
                  <a:schemeClr val="bg1"/>
                </a:solidFill>
                <a:latin typeface="微软雅黑" panose="020B0503020204020204" pitchFamily="34" charset="-122"/>
                <a:ea typeface="微软雅黑" panose="020B0503020204020204" pitchFamily="34" charset="-122"/>
              </a:rPr>
              <a:t>是网络核心部分最重要的功能。</a:t>
            </a: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典型交换技术包括：</a:t>
            </a:r>
          </a:p>
          <a:p>
            <a:pPr lvl="1"/>
            <a:r>
              <a:rPr lang="zh-CN" altLang="en-US" dirty="0"/>
              <a:t>电路交换</a:t>
            </a:r>
          </a:p>
          <a:p>
            <a:pPr lvl="1"/>
            <a:r>
              <a:rPr lang="zh-CN" altLang="en-US" dirty="0"/>
              <a:t>分组交换</a:t>
            </a:r>
          </a:p>
          <a:p>
            <a:pPr lvl="1"/>
            <a:r>
              <a:rPr lang="zh-CN" altLang="en-US" dirty="0"/>
              <a:t>报文交换 等。</a:t>
            </a:r>
          </a:p>
          <a:p>
            <a:r>
              <a:rPr lang="zh-CN" altLang="en-US" dirty="0"/>
              <a:t>互联网的核心部分采用分组交换技术。</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1.3.2  </a:t>
            </a:r>
            <a:r>
              <a:rPr lang="zh-CN" altLang="en-US" dirty="0"/>
              <a:t>互联网的核心部分</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504285"/>
            <a:ext cx="8129016" cy="4172489"/>
          </a:xfrm>
        </p:spPr>
        <p:txBody>
          <a:bodyPr/>
          <a:lstStyle/>
          <a:p>
            <a:r>
              <a:rPr lang="zh-CN" altLang="en-US" dirty="0"/>
              <a:t>电线对的数量与电话机数量的平方（</a:t>
            </a:r>
            <a:r>
              <a:rPr lang="en-US" altLang="zh-CN" dirty="0"/>
              <a:t>N2</a:t>
            </a:r>
            <a:r>
              <a:rPr lang="zh-CN" altLang="en-US" dirty="0"/>
              <a:t>）成正比。</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电路交换的主要特点</a:t>
            </a:r>
          </a:p>
        </p:txBody>
      </p:sp>
      <p:sp>
        <p:nvSpPr>
          <p:cNvPr id="11" name="圆角矩形 10"/>
          <p:cNvSpPr/>
          <p:nvPr/>
        </p:nvSpPr>
        <p:spPr>
          <a:xfrm>
            <a:off x="525694" y="1451791"/>
            <a:ext cx="7992897" cy="2178532"/>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grpSp>
        <p:nvGrpSpPr>
          <p:cNvPr id="6" name="组合 5"/>
          <p:cNvGrpSpPr/>
          <p:nvPr/>
        </p:nvGrpSpPr>
        <p:grpSpPr>
          <a:xfrm>
            <a:off x="749161" y="2205186"/>
            <a:ext cx="1709659" cy="476704"/>
            <a:chOff x="1490663" y="2400300"/>
            <a:chExt cx="4064009" cy="825500"/>
          </a:xfrm>
        </p:grpSpPr>
        <p:cxnSp>
          <p:nvCxnSpPr>
            <p:cNvPr id="7" name="直接连接符 6"/>
            <p:cNvCxnSpPr/>
            <p:nvPr/>
          </p:nvCxnSpPr>
          <p:spPr>
            <a:xfrm>
              <a:off x="1970811" y="2802885"/>
              <a:ext cx="3147991"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8" name="组合 11"/>
            <p:cNvGrpSpPr/>
            <p:nvPr/>
          </p:nvGrpSpPr>
          <p:grpSpPr bwMode="auto">
            <a:xfrm>
              <a:off x="1490663" y="2400300"/>
              <a:ext cx="4064009" cy="825500"/>
              <a:chOff x="115860" y="3847459"/>
              <a:chExt cx="4014114" cy="824998"/>
            </a:xfrm>
          </p:grpSpPr>
          <p:pic>
            <p:nvPicPr>
              <p:cNvPr id="9" name="图片 1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860" y="3867779"/>
                <a:ext cx="914408" cy="804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5568" y="3847459"/>
                <a:ext cx="914406" cy="804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18" name="组合 23"/>
          <p:cNvGrpSpPr/>
          <p:nvPr/>
        </p:nvGrpSpPr>
        <p:grpSpPr bwMode="auto">
          <a:xfrm>
            <a:off x="5646033" y="1511100"/>
            <a:ext cx="2540225" cy="2093096"/>
            <a:chOff x="2607464" y="2947482"/>
            <a:chExt cx="3757622" cy="3145044"/>
          </a:xfrm>
        </p:grpSpPr>
        <p:cxnSp>
          <p:nvCxnSpPr>
            <p:cNvPr id="19" name="直接连接符 18"/>
            <p:cNvCxnSpPr/>
            <p:nvPr/>
          </p:nvCxnSpPr>
          <p:spPr>
            <a:xfrm>
              <a:off x="3594891" y="5320950"/>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909090" y="4520798"/>
              <a:ext cx="319723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594891" y="3693656"/>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615529"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5476084"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4531519" y="3188798"/>
              <a:ext cx="0" cy="260208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flipH="1">
              <a:off x="3686967" y="3188798"/>
              <a:ext cx="649290" cy="427066"/>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a:off x="4623594" y="5400331"/>
              <a:ext cx="741365" cy="4223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623594" y="3174510"/>
              <a:ext cx="852490" cy="44135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909090" y="3693656"/>
              <a:ext cx="576264" cy="7953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flipV="1">
              <a:off x="2894803" y="4557312"/>
              <a:ext cx="517526" cy="72077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flipV="1">
              <a:off x="3525041" y="5400331"/>
              <a:ext cx="884240" cy="46516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5560221" y="3765099"/>
              <a:ext cx="628652" cy="7652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560221" y="4557312"/>
              <a:ext cx="546101" cy="72394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flipV="1">
              <a:off x="3615529" y="3693656"/>
              <a:ext cx="1846266" cy="162411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V="1">
              <a:off x="3615529" y="3765099"/>
              <a:ext cx="1758954" cy="151616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H="1" flipV="1">
              <a:off x="2894803" y="4485871"/>
              <a:ext cx="2479681" cy="79538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3686967" y="3693656"/>
              <a:ext cx="2287593" cy="86842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3615529" y="3261828"/>
              <a:ext cx="792164" cy="201625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4550569" y="3188798"/>
              <a:ext cx="911227" cy="21289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615529" y="4549375"/>
              <a:ext cx="2490793" cy="72871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2986878" y="3693656"/>
              <a:ext cx="2500318" cy="83666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V="1">
              <a:off x="4552157" y="3723821"/>
              <a:ext cx="909639" cy="20575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flipV="1">
              <a:off x="3615529" y="3693656"/>
              <a:ext cx="871539" cy="20559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flipV="1">
              <a:off x="4623594" y="4485871"/>
              <a:ext cx="1482729" cy="126373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flipH="1" flipV="1">
              <a:off x="2986878" y="4504922"/>
              <a:ext cx="1565279" cy="128595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V="1">
              <a:off x="2967828" y="3261828"/>
              <a:ext cx="1368428" cy="13002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flipV="1">
              <a:off x="4552157" y="3188798"/>
              <a:ext cx="1422403" cy="13605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9" name="组合 54"/>
            <p:cNvGrpSpPr/>
            <p:nvPr/>
          </p:nvGrpSpPr>
          <p:grpSpPr bwMode="auto">
            <a:xfrm>
              <a:off x="2607464" y="4292409"/>
              <a:ext cx="3757622" cy="455190"/>
              <a:chOff x="2627784" y="4149080"/>
              <a:chExt cx="3757622" cy="455190"/>
            </a:xfrm>
          </p:grpSpPr>
          <p:pic>
            <p:nvPicPr>
              <p:cNvPr id="55" name="图片 60"/>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6814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2778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0" name="图片 55"/>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 name="组合 57"/>
            <p:cNvGrpSpPr/>
            <p:nvPr/>
          </p:nvGrpSpPr>
          <p:grpSpPr bwMode="auto">
            <a:xfrm>
              <a:off x="4227644" y="2947482"/>
              <a:ext cx="517262" cy="3145044"/>
              <a:chOff x="4311758" y="2755370"/>
              <a:chExt cx="517262" cy="3145044"/>
            </a:xfrm>
          </p:grpSpPr>
          <p:pic>
            <p:nvPicPr>
              <p:cNvPr id="53" name="图片 5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275537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5445224"/>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cxnSp>
        <p:nvCxnSpPr>
          <p:cNvPr id="57" name="直接连接符 56"/>
          <p:cNvCxnSpPr/>
          <p:nvPr/>
        </p:nvCxnSpPr>
        <p:spPr>
          <a:xfrm>
            <a:off x="3174604" y="2260324"/>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V="1">
            <a:off x="3174604" y="1742726"/>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flipV="1">
            <a:off x="4171531" y="1746837"/>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4578591" y="2209699"/>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3194494" y="2274903"/>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511909" y="3143611"/>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3498141" y="1696234"/>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flipV="1">
            <a:off x="4114121" y="1598838"/>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flipV="1">
            <a:off x="3139401" y="2249095"/>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3608845" y="2217546"/>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67" name="组合 17"/>
          <p:cNvGrpSpPr/>
          <p:nvPr/>
        </p:nvGrpSpPr>
        <p:grpSpPr bwMode="auto">
          <a:xfrm>
            <a:off x="2908065" y="1525876"/>
            <a:ext cx="2308081" cy="1894664"/>
            <a:chOff x="2699792" y="2433478"/>
            <a:chExt cx="3602460" cy="2855140"/>
          </a:xfrm>
        </p:grpSpPr>
        <p:pic>
          <p:nvPicPr>
            <p:cNvPr id="68" name="图片 18"/>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64078" y="2433478"/>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99792" y="3284984"/>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0112" y="321297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419872"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4048"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4" name="矩形 103"/>
          <p:cNvSpPr/>
          <p:nvPr/>
        </p:nvSpPr>
        <p:spPr>
          <a:xfrm>
            <a:off x="2969621" y="3603649"/>
            <a:ext cx="2177143"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5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对电线。</a:t>
            </a:r>
          </a:p>
        </p:txBody>
      </p:sp>
      <p:sp>
        <p:nvSpPr>
          <p:cNvPr id="105" name="矩形 104"/>
          <p:cNvSpPr/>
          <p:nvPr/>
        </p:nvSpPr>
        <p:spPr>
          <a:xfrm>
            <a:off x="5724414" y="3603649"/>
            <a:ext cx="2524139"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N(N –1)/2  </a:t>
            </a:r>
            <a:r>
              <a:rPr lang="zh-CN" altLang="en-US" sz="1600" b="1" dirty="0">
                <a:latin typeface="微软雅黑" panose="020B0503020204020204" pitchFamily="34" charset="-122"/>
                <a:ea typeface="微软雅黑" panose="020B0503020204020204" pitchFamily="34" charset="-122"/>
              </a:rPr>
              <a:t>对电线。</a:t>
            </a:r>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内容占位符 102"/>
          <p:cNvSpPr>
            <a:spLocks noGrp="1"/>
          </p:cNvSpPr>
          <p:nvPr>
            <p:ph sz="quarter" idx="10"/>
          </p:nvPr>
        </p:nvSpPr>
        <p:spPr>
          <a:xfrm>
            <a:off x="466344" y="504285"/>
            <a:ext cx="8129016" cy="4172489"/>
          </a:xfrm>
        </p:spPr>
        <p:txBody>
          <a:bodyPr/>
          <a:lstStyle/>
          <a:p>
            <a:r>
              <a:rPr lang="zh-CN" altLang="en-US" dirty="0"/>
              <a:t>当电话机的数量增多时，使用电话交换机将这些电话连接起来。</a:t>
            </a:r>
          </a:p>
        </p:txBody>
      </p:sp>
      <p:sp>
        <p:nvSpPr>
          <p:cNvPr id="5" name="文本占位符 4"/>
          <p:cNvSpPr>
            <a:spLocks noGrp="1"/>
          </p:cNvSpPr>
          <p:nvPr>
            <p:ph type="body" sz="quarter" idx="11"/>
          </p:nvPr>
        </p:nvSpPr>
        <p:spPr>
          <a:xfrm>
            <a:off x="0" y="150273"/>
            <a:ext cx="6632575" cy="338554"/>
          </a:xfrm>
        </p:spPr>
        <p:txBody>
          <a:bodyPr/>
          <a:lstStyle/>
          <a:p>
            <a:r>
              <a:rPr lang="zh-CN" altLang="en-US" dirty="0"/>
              <a:t>使用交换机</a:t>
            </a:r>
          </a:p>
        </p:txBody>
      </p:sp>
      <p:sp>
        <p:nvSpPr>
          <p:cNvPr id="73" name="圆角矩形 72"/>
          <p:cNvSpPr/>
          <p:nvPr/>
        </p:nvSpPr>
        <p:spPr>
          <a:xfrm>
            <a:off x="558922" y="1514328"/>
            <a:ext cx="4492050" cy="2710243"/>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cxnSp>
        <p:nvCxnSpPr>
          <p:cNvPr id="74" name="直接连接符 73"/>
          <p:cNvCxnSpPr/>
          <p:nvPr/>
        </p:nvCxnSpPr>
        <p:spPr>
          <a:xfrm>
            <a:off x="1874459" y="2044142"/>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1164846" y="2650567"/>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1672846" y="2896630"/>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2563434" y="2980767"/>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3079371" y="2956955"/>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92" idx="1"/>
          </p:cNvCxnSpPr>
          <p:nvPr/>
        </p:nvCxnSpPr>
        <p:spPr>
          <a:xfrm flipV="1">
            <a:off x="2719009" y="1804430"/>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3174621" y="1928255"/>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92" idx="5"/>
          </p:cNvCxnSpPr>
          <p:nvPr/>
        </p:nvCxnSpPr>
        <p:spPr>
          <a:xfrm flipV="1">
            <a:off x="3306384" y="2525155"/>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4131246" y="2930828"/>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6084" y="24743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8996" y="33109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23721" y="366021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57209" y="32220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5371" y="17631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3434" y="1588530"/>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8471" y="1701242"/>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74734" y="2287030"/>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1" name="组合 90"/>
          <p:cNvGrpSpPr/>
          <p:nvPr/>
        </p:nvGrpSpPr>
        <p:grpSpPr>
          <a:xfrm>
            <a:off x="2286091" y="2457234"/>
            <a:ext cx="1020162" cy="614353"/>
            <a:chOff x="2495198" y="3865333"/>
            <a:chExt cx="1020162" cy="614353"/>
          </a:xfrm>
          <a:solidFill>
            <a:srgbClr val="0000FF"/>
          </a:solidFill>
        </p:grpSpPr>
        <p:sp>
          <p:nvSpPr>
            <p:cNvPr id="92" name="立方体 91"/>
            <p:cNvSpPr/>
            <p:nvPr/>
          </p:nvSpPr>
          <p:spPr>
            <a:xfrm>
              <a:off x="2495198" y="3865333"/>
              <a:ext cx="1020162" cy="614353"/>
            </a:xfrm>
            <a:prstGeom prst="cube">
              <a:avLst/>
            </a:prstGeom>
            <a:grp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3" name="矩形 92"/>
            <p:cNvSpPr/>
            <p:nvPr/>
          </p:nvSpPr>
          <p:spPr>
            <a:xfrm>
              <a:off x="2593495" y="4082725"/>
              <a:ext cx="723275" cy="307777"/>
            </a:xfrm>
            <a:prstGeom prst="rect">
              <a:avLst/>
            </a:prstGeom>
            <a:grpFill/>
            <a:ln>
              <a:noFill/>
            </a:ln>
          </p:spPr>
          <p:txBody>
            <a:bodyPr wrap="none">
              <a:spAutoFit/>
            </a:bodyPr>
            <a:lstStyle/>
            <a:p>
              <a:pPr algn="ctr" fontAlgn="auto">
                <a:spcBef>
                  <a:spcPts val="0"/>
                </a:spcBef>
                <a:spcAft>
                  <a:spcPts val="0"/>
                </a:spcAft>
                <a:defRPr/>
              </a:pPr>
              <a:r>
                <a:rPr kumimoji="1" lang="zh-CN" altLang="en-US" sz="1400" b="1" dirty="0">
                  <a:solidFill>
                    <a:prstClr val="white"/>
                  </a:solidFill>
                  <a:latin typeface="微软雅黑" panose="020B0503020204020204" pitchFamily="34" charset="-122"/>
                  <a:ea typeface="微软雅黑" panose="020B0503020204020204" pitchFamily="34" charset="-122"/>
                </a:rPr>
                <a:t>交换机</a:t>
              </a:r>
            </a:p>
          </p:txBody>
        </p:sp>
      </p:grpSp>
      <p:grpSp>
        <p:nvGrpSpPr>
          <p:cNvPr id="94" name="组合 25"/>
          <p:cNvGrpSpPr/>
          <p:nvPr/>
        </p:nvGrpSpPr>
        <p:grpSpPr bwMode="auto">
          <a:xfrm>
            <a:off x="5398134" y="1514328"/>
            <a:ext cx="3128501" cy="2423320"/>
            <a:chOff x="5342542" y="2445544"/>
            <a:chExt cx="2801549" cy="2576158"/>
          </a:xfrm>
        </p:grpSpPr>
        <p:sp>
          <p:nvSpPr>
            <p:cNvPr id="95" name="对角圆角矩形 94"/>
            <p:cNvSpPr/>
            <p:nvPr/>
          </p:nvSpPr>
          <p:spPr>
            <a:xfrm>
              <a:off x="5342542" y="2445544"/>
              <a:ext cx="2801549" cy="25761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6" name="矩形 27"/>
            <p:cNvSpPr>
              <a:spLocks noChangeArrowheads="1"/>
            </p:cNvSpPr>
            <p:nvPr/>
          </p:nvSpPr>
          <p:spPr bwMode="auto">
            <a:xfrm>
              <a:off x="5438561" y="2674897"/>
              <a:ext cx="2654203" cy="2061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300"/>
                </a:lnSpc>
                <a:spcBef>
                  <a:spcPts val="600"/>
                </a:spcBef>
              </a:pPr>
              <a:r>
                <a:rPr lang="zh-CN" altLang="zh-CN" b="1" dirty="0">
                  <a:solidFill>
                    <a:prstClr val="white"/>
                  </a:solidFill>
                  <a:latin typeface="微软雅黑" panose="020B0503020204020204" pitchFamily="34" charset="-122"/>
                  <a:ea typeface="微软雅黑" panose="020B0503020204020204" pitchFamily="34" charset="-122"/>
                </a:rPr>
                <a:t>每一部电话都</a:t>
              </a:r>
              <a:r>
                <a:rPr lang="zh-CN" altLang="en-US" b="1" dirty="0">
                  <a:solidFill>
                    <a:prstClr val="white"/>
                  </a:solidFill>
                  <a:latin typeface="微软雅黑" panose="020B0503020204020204" pitchFamily="34" charset="-122"/>
                  <a:ea typeface="微软雅黑" panose="020B0503020204020204" pitchFamily="34" charset="-122"/>
                </a:rPr>
                <a:t>直接</a:t>
              </a:r>
              <a:r>
                <a:rPr lang="zh-CN" altLang="zh-CN" b="1" dirty="0">
                  <a:solidFill>
                    <a:prstClr val="white"/>
                  </a:solidFill>
                  <a:latin typeface="微软雅黑" panose="020B0503020204020204" pitchFamily="34" charset="-122"/>
                  <a:ea typeface="微软雅黑" panose="020B0503020204020204" pitchFamily="34" charset="-122"/>
                </a:rPr>
                <a:t>连接到交换机上，而交换机使用</a:t>
              </a:r>
              <a:r>
                <a:rPr lang="zh-CN" altLang="zh-CN" b="1" dirty="0">
                  <a:solidFill>
                    <a:srgbClr val="FFFF00"/>
                  </a:solidFill>
                  <a:latin typeface="微软雅黑" panose="020B0503020204020204" pitchFamily="34" charset="-122"/>
                  <a:ea typeface="微软雅黑" panose="020B0503020204020204" pitchFamily="34" charset="-122"/>
                </a:rPr>
                <a:t>交换</a:t>
              </a:r>
              <a:r>
                <a:rPr lang="zh-CN" altLang="zh-CN" b="1" dirty="0">
                  <a:solidFill>
                    <a:prstClr val="white"/>
                  </a:solidFill>
                  <a:latin typeface="微软雅黑" panose="020B0503020204020204" pitchFamily="34" charset="-122"/>
                  <a:ea typeface="微软雅黑" panose="020B0503020204020204" pitchFamily="34" charset="-122"/>
                </a:rPr>
                <a:t>的方法，让电话用户彼此之间可以很方便地通信。</a:t>
              </a:r>
              <a:r>
                <a:rPr lang="zh-CN" altLang="en-US" b="1" dirty="0">
                  <a:solidFill>
                    <a:prstClr val="white"/>
                  </a:solidFill>
                  <a:latin typeface="微软雅黑" panose="020B0503020204020204" pitchFamily="34" charset="-122"/>
                  <a:ea typeface="微软雅黑" panose="020B0503020204020204" pitchFamily="34" charset="-122"/>
                </a:rPr>
                <a:t> </a:t>
              </a:r>
              <a:endParaRPr lang="en-US" altLang="zh-CN" b="1" dirty="0">
                <a:solidFill>
                  <a:prstClr val="white"/>
                </a:solidFill>
                <a:latin typeface="微软雅黑" panose="020B0503020204020204" pitchFamily="34" charset="-122"/>
                <a:ea typeface="微软雅黑" panose="020B0503020204020204" pitchFamily="34" charset="-122"/>
              </a:endParaRPr>
            </a:p>
            <a:p>
              <a:pPr>
                <a:lnSpc>
                  <a:spcPts val="2300"/>
                </a:lnSpc>
                <a:spcBef>
                  <a:spcPts val="600"/>
                </a:spcBef>
              </a:pPr>
              <a:r>
                <a:rPr lang="zh-CN" altLang="en-US" b="1" dirty="0">
                  <a:solidFill>
                    <a:prstClr val="white"/>
                  </a:solidFill>
                  <a:latin typeface="微软雅黑" panose="020B0503020204020204" pitchFamily="34" charset="-122"/>
                  <a:ea typeface="微软雅黑" panose="020B0503020204020204" pitchFamily="34" charset="-122"/>
                </a:rPr>
                <a:t>这种</a:t>
              </a:r>
              <a:r>
                <a:rPr lang="zh-CN" altLang="zh-CN" b="1" dirty="0">
                  <a:solidFill>
                    <a:prstClr val="white"/>
                  </a:solidFill>
                  <a:latin typeface="微软雅黑" panose="020B0503020204020204" pitchFamily="34" charset="-122"/>
                  <a:ea typeface="微软雅黑" panose="020B0503020204020204" pitchFamily="34" charset="-122"/>
                </a:rPr>
                <a:t>交换方式</a:t>
              </a:r>
              <a:r>
                <a:rPr lang="zh-CN" altLang="en-US" b="1" dirty="0">
                  <a:solidFill>
                    <a:prstClr val="white"/>
                  </a:solidFill>
                  <a:latin typeface="微软雅黑" panose="020B0503020204020204" pitchFamily="34" charset="-122"/>
                  <a:ea typeface="微软雅黑" panose="020B0503020204020204" pitchFamily="34" charset="-122"/>
                </a:rPr>
                <a:t>就</a:t>
              </a:r>
              <a:r>
                <a:rPr lang="zh-CN" altLang="zh-CN" b="1" dirty="0">
                  <a:solidFill>
                    <a:prstClr val="white"/>
                  </a:solidFill>
                  <a:latin typeface="微软雅黑" panose="020B0503020204020204" pitchFamily="34" charset="-122"/>
                  <a:ea typeface="微软雅黑" panose="020B0503020204020204" pitchFamily="34" charset="-122"/>
                </a:rPr>
                <a:t>是</a:t>
              </a:r>
              <a:r>
                <a:rPr lang="zh-CN" altLang="zh-CN" b="1" dirty="0">
                  <a:solidFill>
                    <a:srgbClr val="FFFF00"/>
                  </a:solidFill>
                  <a:latin typeface="微软雅黑" panose="020B0503020204020204" pitchFamily="34" charset="-122"/>
                  <a:ea typeface="微软雅黑" panose="020B0503020204020204" pitchFamily="34" charset="-122"/>
                </a:rPr>
                <a:t>电路交换</a:t>
              </a:r>
              <a:r>
                <a:rPr lang="en-US" altLang="zh-CN" b="1" dirty="0">
                  <a:solidFill>
                    <a:srgbClr val="FFFF00"/>
                  </a:solidFill>
                  <a:latin typeface="微软雅黑" panose="020B0503020204020204" pitchFamily="34" charset="-122"/>
                  <a:ea typeface="微软雅黑" panose="020B0503020204020204" pitchFamily="34" charset="-122"/>
                </a:rPr>
                <a:t> (circuit switching)</a:t>
              </a:r>
              <a:r>
                <a:rPr lang="zh-CN" altLang="en-US" b="1" dirty="0">
                  <a:solidFill>
                    <a:srgbClr val="FFFF00"/>
                  </a:solidFill>
                  <a:latin typeface="微软雅黑" panose="020B0503020204020204" pitchFamily="34" charset="-122"/>
                  <a:ea typeface="微软雅黑" panose="020B0503020204020204" pitchFamily="34" charset="-122"/>
                </a:rPr>
                <a:t>。</a:t>
              </a:r>
            </a:p>
          </p:txBody>
        </p:sp>
      </p:gr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转接：把一条电话线转接到另一条电话线，使它们连通起来。</a:t>
            </a:r>
          </a:p>
          <a:p>
            <a:r>
              <a:rPr lang="zh-CN" altLang="en-US" dirty="0"/>
              <a:t>从通信资源的分配角度来看，就是按照某种方式动态地分配传输线路的资源。</a:t>
            </a:r>
          </a:p>
        </p:txBody>
      </p:sp>
      <p:sp>
        <p:nvSpPr>
          <p:cNvPr id="5" name="文本占位符 4"/>
          <p:cNvSpPr>
            <a:spLocks noGrp="1"/>
          </p:cNvSpPr>
          <p:nvPr>
            <p:ph type="body" sz="quarter" idx="11"/>
          </p:nvPr>
        </p:nvSpPr>
        <p:spPr>
          <a:xfrm>
            <a:off x="0" y="150273"/>
            <a:ext cx="6632575" cy="338554"/>
          </a:xfrm>
        </p:spPr>
        <p:txBody>
          <a:bodyPr/>
          <a:lstStyle/>
          <a:p>
            <a:r>
              <a:rPr lang="zh-CN" altLang="en-US" dirty="0"/>
              <a:t>“交换 </a:t>
            </a:r>
            <a:r>
              <a:rPr lang="en-US" altLang="zh-CN" dirty="0"/>
              <a:t>(switching)</a:t>
            </a:r>
            <a:r>
              <a:rPr lang="zh-CN" altLang="en-US" dirty="0"/>
              <a:t>”的含义</a:t>
            </a:r>
          </a:p>
        </p:txBody>
      </p:sp>
      <p:sp>
        <p:nvSpPr>
          <p:cNvPr id="29" name="圆角矩形 28"/>
          <p:cNvSpPr/>
          <p:nvPr/>
        </p:nvSpPr>
        <p:spPr>
          <a:xfrm>
            <a:off x="4458789" y="1111034"/>
            <a:ext cx="4148217" cy="2823835"/>
          </a:xfrm>
          <a:prstGeom prst="roundRect">
            <a:avLst/>
          </a:prstGeom>
          <a:solidFill>
            <a:srgbClr val="0070C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30" name="直接连接符 29"/>
          <p:cNvCxnSpPr/>
          <p:nvPr/>
        </p:nvCxnSpPr>
        <p:spPr>
          <a:xfrm>
            <a:off x="5649285" y="1707013"/>
            <a:ext cx="412223" cy="35003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939672" y="2313438"/>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5447672" y="2559501"/>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6338260" y="2884938"/>
            <a:ext cx="224277" cy="6667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flipV="1">
            <a:off x="6854197" y="2619826"/>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46" idx="1"/>
          </p:cNvCxnSpPr>
          <p:nvPr/>
        </p:nvCxnSpPr>
        <p:spPr>
          <a:xfrm flipV="1">
            <a:off x="6450568" y="1383224"/>
            <a:ext cx="111969" cy="846884"/>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6949447" y="1591126"/>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a:stCxn id="46" idx="5"/>
          </p:cNvCxnSpPr>
          <p:nvPr/>
        </p:nvCxnSpPr>
        <p:spPr>
          <a:xfrm flipV="1">
            <a:off x="7273297" y="2103948"/>
            <a:ext cx="738628" cy="23610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38"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80910" y="21372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23822" y="29738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98547" y="332308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2035" y="2884938"/>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30197" y="1426026"/>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38260" y="1251401"/>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73297" y="1364113"/>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49560" y="1949901"/>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立方体 45"/>
          <p:cNvSpPr/>
          <p:nvPr/>
        </p:nvSpPr>
        <p:spPr>
          <a:xfrm>
            <a:off x="5847723" y="2010237"/>
            <a:ext cx="1425574" cy="879535"/>
          </a:xfrm>
          <a:prstGeom prst="cube">
            <a:avLst/>
          </a:prstGeom>
          <a:solidFill>
            <a:srgbClr val="0000FF"/>
          </a:solid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47" name="直接连接符 46"/>
          <p:cNvCxnSpPr/>
          <p:nvPr/>
        </p:nvCxnSpPr>
        <p:spPr>
          <a:xfrm>
            <a:off x="6026718" y="2034816"/>
            <a:ext cx="1047661" cy="75372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464636" y="2010237"/>
            <a:ext cx="808661" cy="31575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5847722" y="2405513"/>
            <a:ext cx="714815" cy="479425"/>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flipV="1">
            <a:off x="5938962" y="2010237"/>
            <a:ext cx="1135417" cy="834580"/>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6044972" y="2056269"/>
            <a:ext cx="517565" cy="828669"/>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593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750"/>
                                  </p:stCondLst>
                                  <p:childTnLst>
                                    <p:set>
                                      <p:cBhvr>
                                        <p:cTn id="6" dur="1" fill="hold">
                                          <p:stCondLst>
                                            <p:cond delay="0"/>
                                          </p:stCondLst>
                                        </p:cTn>
                                        <p:tgtEl>
                                          <p:spTgt spid="48"/>
                                        </p:tgtEl>
                                        <p:attrNameLst>
                                          <p:attrName>style.visibility</p:attrName>
                                        </p:attrNameLst>
                                      </p:cBhvr>
                                      <p:to>
                                        <p:strVal val="visible"/>
                                      </p:to>
                                    </p:set>
                                    <p:animEffect transition="in" filter="wipe(right)">
                                      <p:cBhvr>
                                        <p:cTn id="7" dur="1000"/>
                                        <p:tgtEl>
                                          <p:spTgt spid="48"/>
                                        </p:tgtEl>
                                      </p:cBhvr>
                                    </p:animEffect>
                                  </p:childTnLst>
                                </p:cTn>
                              </p:par>
                            </p:childTnLst>
                          </p:cTn>
                        </p:par>
                        <p:par>
                          <p:cTn id="8" fill="hold">
                            <p:stCondLst>
                              <p:cond delay="1750"/>
                            </p:stCondLst>
                            <p:childTnLst>
                              <p:par>
                                <p:cTn id="9" presetID="22" presetClass="entr" presetSubtype="8" fill="hold" nodeType="afterEffect">
                                  <p:stCondLst>
                                    <p:cond delay="50"/>
                                  </p:stCondLst>
                                  <p:childTnLst>
                                    <p:set>
                                      <p:cBhvr>
                                        <p:cTn id="10" dur="1" fill="hold">
                                          <p:stCondLst>
                                            <p:cond delay="0"/>
                                          </p:stCondLst>
                                        </p:cTn>
                                        <p:tgtEl>
                                          <p:spTgt spid="47"/>
                                        </p:tgtEl>
                                        <p:attrNameLst>
                                          <p:attrName>style.visibility</p:attrName>
                                        </p:attrNameLst>
                                      </p:cBhvr>
                                      <p:to>
                                        <p:strVal val="visible"/>
                                      </p:to>
                                    </p:set>
                                    <p:animEffect transition="in" filter="wipe(left)">
                                      <p:cBhvr>
                                        <p:cTn id="11" dur="1000"/>
                                        <p:tgtEl>
                                          <p:spTgt spid="47"/>
                                        </p:tgtEl>
                                      </p:cBhvr>
                                    </p:animEffect>
                                  </p:childTnLst>
                                </p:cTn>
                              </p:par>
                            </p:childTnLst>
                          </p:cTn>
                        </p:par>
                        <p:par>
                          <p:cTn id="12" fill="hold">
                            <p:stCondLst>
                              <p:cond delay="2800"/>
                            </p:stCondLst>
                            <p:childTnLst>
                              <p:par>
                                <p:cTn id="13" presetID="22" presetClass="entr" presetSubtype="8"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wipe(left)">
                                      <p:cBhvr>
                                        <p:cTn id="15" dur="1000"/>
                                        <p:tgtEl>
                                          <p:spTgt spid="49"/>
                                        </p:tgtEl>
                                      </p:cBhvr>
                                    </p:animEffect>
                                  </p:childTnLst>
                                </p:cTn>
                              </p:par>
                            </p:childTnLst>
                          </p:cTn>
                        </p:par>
                        <p:par>
                          <p:cTn id="16" fill="hold">
                            <p:stCondLst>
                              <p:cond delay="3800"/>
                            </p:stCondLst>
                            <p:childTnLst>
                              <p:par>
                                <p:cTn id="17" presetID="22" presetClass="entr" presetSubtype="4" fill="hold" nodeType="after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wipe(down)">
                                      <p:cBhvr>
                                        <p:cTn id="19" dur="1000"/>
                                        <p:tgtEl>
                                          <p:spTgt spid="50"/>
                                        </p:tgtEl>
                                      </p:cBhvr>
                                    </p:animEffect>
                                  </p:childTnLst>
                                </p:cTn>
                              </p:par>
                            </p:childTnLst>
                          </p:cTn>
                        </p:par>
                        <p:par>
                          <p:cTn id="20" fill="hold">
                            <p:stCondLst>
                              <p:cond delay="4800"/>
                            </p:stCondLst>
                            <p:childTnLst>
                              <p:par>
                                <p:cTn id="21" presetID="22" presetClass="exit" presetSubtype="4" fill="hold" nodeType="afterEffect">
                                  <p:stCondLst>
                                    <p:cond delay="0"/>
                                  </p:stCondLst>
                                  <p:childTnLst>
                                    <p:animEffect transition="out" filter="wipe(down)">
                                      <p:cBhvr>
                                        <p:cTn id="22" dur="1000"/>
                                        <p:tgtEl>
                                          <p:spTgt spid="49"/>
                                        </p:tgtEl>
                                      </p:cBhvr>
                                    </p:animEffect>
                                    <p:set>
                                      <p:cBhvr>
                                        <p:cTn id="23" dur="1" fill="hold">
                                          <p:stCondLst>
                                            <p:cond delay="999"/>
                                          </p:stCondLst>
                                        </p:cTn>
                                        <p:tgtEl>
                                          <p:spTgt spid="49"/>
                                        </p:tgtEl>
                                        <p:attrNameLst>
                                          <p:attrName>style.visibility</p:attrName>
                                        </p:attrNameLst>
                                      </p:cBhvr>
                                      <p:to>
                                        <p:strVal val="hidden"/>
                                      </p:to>
                                    </p:set>
                                  </p:childTnLst>
                                </p:cTn>
                              </p:par>
                            </p:childTnLst>
                          </p:cTn>
                        </p:par>
                        <p:par>
                          <p:cTn id="24" fill="hold">
                            <p:stCondLst>
                              <p:cond delay="5800"/>
                            </p:stCondLst>
                            <p:childTnLst>
                              <p:par>
                                <p:cTn id="25" presetID="22" presetClass="exit" presetSubtype="1" fill="hold" nodeType="afterEffect">
                                  <p:stCondLst>
                                    <p:cond delay="0"/>
                                  </p:stCondLst>
                                  <p:childTnLst>
                                    <p:animEffect transition="out" filter="wipe(up)">
                                      <p:cBhvr>
                                        <p:cTn id="26" dur="1000"/>
                                        <p:tgtEl>
                                          <p:spTgt spid="47"/>
                                        </p:tgtEl>
                                      </p:cBhvr>
                                    </p:animEffect>
                                    <p:set>
                                      <p:cBhvr>
                                        <p:cTn id="27" dur="1" fill="hold">
                                          <p:stCondLst>
                                            <p:cond delay="999"/>
                                          </p:stCondLst>
                                        </p:cTn>
                                        <p:tgtEl>
                                          <p:spTgt spid="47"/>
                                        </p:tgtEl>
                                        <p:attrNameLst>
                                          <p:attrName>style.visibility</p:attrName>
                                        </p:attrNameLst>
                                      </p:cBhvr>
                                      <p:to>
                                        <p:strVal val="hidden"/>
                                      </p:to>
                                    </p:set>
                                  </p:childTnLst>
                                </p:cTn>
                              </p:par>
                            </p:childTnLst>
                          </p:cTn>
                        </p:par>
                        <p:par>
                          <p:cTn id="28" fill="hold">
                            <p:stCondLst>
                              <p:cond delay="6800"/>
                            </p:stCondLst>
                            <p:childTnLst>
                              <p:par>
                                <p:cTn id="29" presetID="22" presetClass="entr" presetSubtype="1"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1000"/>
                                        <p:tgtEl>
                                          <p:spTgt spid="51"/>
                                        </p:tgtEl>
                                      </p:cBhvr>
                                    </p:animEffect>
                                  </p:childTnLst>
                                </p:cTn>
                              </p:par>
                            </p:childTnLst>
                          </p:cTn>
                        </p:par>
                        <p:par>
                          <p:cTn id="32" fill="hold">
                            <p:stCondLst>
                              <p:cond delay="7800"/>
                            </p:stCondLst>
                            <p:childTnLst>
                              <p:par>
                                <p:cTn id="33" presetID="22" presetClass="exit" presetSubtype="4" fill="hold" nodeType="afterEffect">
                                  <p:stCondLst>
                                    <p:cond delay="0"/>
                                  </p:stCondLst>
                                  <p:childTnLst>
                                    <p:animEffect transition="out" filter="wipe(down)">
                                      <p:cBhvr>
                                        <p:cTn id="34" dur="750"/>
                                        <p:tgtEl>
                                          <p:spTgt spid="50"/>
                                        </p:tgtEl>
                                      </p:cBhvr>
                                    </p:animEffect>
                                    <p:set>
                                      <p:cBhvr>
                                        <p:cTn id="35" dur="1" fill="hold">
                                          <p:stCondLst>
                                            <p:cond delay="74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分为三个阶段：</a:t>
            </a:r>
          </a:p>
          <a:p>
            <a:r>
              <a:rPr lang="zh-CN" altLang="en-US" dirty="0"/>
              <a:t>建立连接：建立一条专用的物理通路（占用通信资源）。</a:t>
            </a:r>
            <a:endParaRPr lang="en-US" altLang="zh-CN" dirty="0"/>
          </a:p>
          <a:p>
            <a:r>
              <a:rPr lang="zh-CN" altLang="en-US" dirty="0"/>
              <a:t>通话：主叫和被叫双方互相通电话（一直占用通信资源）。</a:t>
            </a:r>
          </a:p>
          <a:p>
            <a:r>
              <a:rPr lang="zh-CN" altLang="en-US" dirty="0"/>
              <a:t>释放连接：释放刚才使用的专用的物理通路（归还通信资源）。</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电路交换特点</a:t>
            </a:r>
          </a:p>
        </p:txBody>
      </p:sp>
      <p:sp>
        <p:nvSpPr>
          <p:cNvPr id="5" name="圆角矩形 3"/>
          <p:cNvSpPr>
            <a:spLocks noChangeArrowheads="1"/>
          </p:cNvSpPr>
          <p:nvPr/>
        </p:nvSpPr>
        <p:spPr bwMode="auto">
          <a:xfrm>
            <a:off x="574766" y="2681948"/>
            <a:ext cx="7855131" cy="1095967"/>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6" name="矩形 5"/>
          <p:cNvSpPr/>
          <p:nvPr/>
        </p:nvSpPr>
        <p:spPr>
          <a:xfrm>
            <a:off x="827313" y="2835078"/>
            <a:ext cx="7445829" cy="730777"/>
          </a:xfrm>
          <a:prstGeom prst="rect">
            <a:avLst/>
          </a:prstGeom>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这种必须经过“建立连接（占用通信资源）、通话（一直占用通信资源）、释放连接（归还通信资源）”三个步骤的交换方式称为</a:t>
            </a:r>
            <a:r>
              <a:rPr lang="zh-CN" altLang="en-US" b="1" dirty="0">
                <a:solidFill>
                  <a:srgbClr val="FFFF00"/>
                </a:solidFill>
                <a:latin typeface="微软雅黑" panose="020B0503020204020204" pitchFamily="34" charset="-122"/>
                <a:ea typeface="微软雅黑" panose="020B0503020204020204" pitchFamily="34" charset="-122"/>
              </a:rPr>
              <a:t>电路交换。</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6"/>
          <p:cNvGrpSpPr/>
          <p:nvPr/>
        </p:nvGrpSpPr>
        <p:grpSpPr bwMode="auto">
          <a:xfrm>
            <a:off x="2421663" y="1114692"/>
            <a:ext cx="4343919" cy="2238103"/>
            <a:chOff x="1680" y="240"/>
            <a:chExt cx="2529" cy="1270"/>
          </a:xfrm>
          <a:solidFill>
            <a:srgbClr val="0098F6"/>
          </a:solidFill>
        </p:grpSpPr>
        <p:sp>
          <p:nvSpPr>
            <p:cNvPr id="6" name="Oval 7"/>
            <p:cNvSpPr>
              <a:spLocks noChangeArrowheads="1"/>
            </p:cNvSpPr>
            <p:nvPr/>
          </p:nvSpPr>
          <p:spPr bwMode="auto">
            <a:xfrm>
              <a:off x="2554" y="240"/>
              <a:ext cx="1088"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Oval 8"/>
            <p:cNvSpPr>
              <a:spLocks noChangeArrowheads="1"/>
            </p:cNvSpPr>
            <p:nvPr/>
          </p:nvSpPr>
          <p:spPr bwMode="auto">
            <a:xfrm>
              <a:off x="1941" y="381"/>
              <a:ext cx="827"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Oval 9"/>
            <p:cNvSpPr>
              <a:spLocks noChangeArrowheads="1"/>
            </p:cNvSpPr>
            <p:nvPr/>
          </p:nvSpPr>
          <p:spPr bwMode="auto">
            <a:xfrm>
              <a:off x="1680" y="702"/>
              <a:ext cx="552" cy="411"/>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9" name="Oval 10"/>
            <p:cNvSpPr>
              <a:spLocks noChangeArrowheads="1"/>
            </p:cNvSpPr>
            <p:nvPr/>
          </p:nvSpPr>
          <p:spPr bwMode="auto">
            <a:xfrm>
              <a:off x="1849" y="894"/>
              <a:ext cx="842" cy="450"/>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0" name="Oval 11"/>
            <p:cNvSpPr>
              <a:spLocks noChangeArrowheads="1"/>
            </p:cNvSpPr>
            <p:nvPr/>
          </p:nvSpPr>
          <p:spPr bwMode="auto">
            <a:xfrm>
              <a:off x="2462" y="971"/>
              <a:ext cx="1272" cy="539"/>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1" name="Oval 12"/>
            <p:cNvSpPr>
              <a:spLocks noChangeArrowheads="1"/>
            </p:cNvSpPr>
            <p:nvPr/>
          </p:nvSpPr>
          <p:spPr bwMode="auto">
            <a:xfrm>
              <a:off x="3289" y="394"/>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2" name="Oval 13"/>
            <p:cNvSpPr>
              <a:spLocks noChangeArrowheads="1"/>
            </p:cNvSpPr>
            <p:nvPr/>
          </p:nvSpPr>
          <p:spPr bwMode="auto">
            <a:xfrm>
              <a:off x="3412" y="663"/>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3" name="Oval 14"/>
            <p:cNvSpPr>
              <a:spLocks noChangeArrowheads="1"/>
            </p:cNvSpPr>
            <p:nvPr/>
          </p:nvSpPr>
          <p:spPr bwMode="auto">
            <a:xfrm>
              <a:off x="3335" y="753"/>
              <a:ext cx="797" cy="668"/>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4" name="Oval 15"/>
            <p:cNvSpPr>
              <a:spLocks noChangeArrowheads="1"/>
            </p:cNvSpPr>
            <p:nvPr/>
          </p:nvSpPr>
          <p:spPr bwMode="auto">
            <a:xfrm>
              <a:off x="2140" y="548"/>
              <a:ext cx="1640" cy="667"/>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15" name="Line 23"/>
          <p:cNvSpPr>
            <a:spLocks noChangeShapeType="1"/>
          </p:cNvSpPr>
          <p:nvPr/>
        </p:nvSpPr>
        <p:spPr bwMode="auto">
          <a:xfrm>
            <a:off x="3001310" y="2305489"/>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6" name="Text Box 24"/>
          <p:cNvSpPr txBox="1">
            <a:spLocks noChangeArrowheads="1"/>
          </p:cNvSpPr>
          <p:nvPr/>
        </p:nvSpPr>
        <p:spPr bwMode="auto">
          <a:xfrm>
            <a:off x="1278872" y="1786377"/>
            <a:ext cx="338138"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A</a:t>
            </a:r>
          </a:p>
        </p:txBody>
      </p:sp>
      <p:sp>
        <p:nvSpPr>
          <p:cNvPr id="17" name="Text Box 25"/>
          <p:cNvSpPr txBox="1">
            <a:spLocks noChangeArrowheads="1"/>
          </p:cNvSpPr>
          <p:nvPr/>
        </p:nvSpPr>
        <p:spPr bwMode="auto">
          <a:xfrm>
            <a:off x="7351060" y="1786377"/>
            <a:ext cx="325437"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B</a:t>
            </a:r>
          </a:p>
        </p:txBody>
      </p:sp>
      <p:sp>
        <p:nvSpPr>
          <p:cNvPr id="18" name="Line 26"/>
          <p:cNvSpPr>
            <a:spLocks noChangeShapeType="1"/>
          </p:cNvSpPr>
          <p:nvPr/>
        </p:nvSpPr>
        <p:spPr bwMode="auto">
          <a:xfrm>
            <a:off x="1563035" y="2305489"/>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9" name="Line 27"/>
          <p:cNvSpPr>
            <a:spLocks noChangeShapeType="1"/>
          </p:cNvSpPr>
          <p:nvPr/>
        </p:nvSpPr>
        <p:spPr bwMode="auto">
          <a:xfrm>
            <a:off x="6084235" y="2305489"/>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28"/>
          <p:cNvSpPr txBox="1">
            <a:spLocks noChangeArrowheads="1"/>
          </p:cNvSpPr>
          <p:nvPr/>
        </p:nvSpPr>
        <p:spPr bwMode="auto">
          <a:xfrm>
            <a:off x="4449110" y="1269352"/>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latin typeface="微软雅黑" panose="020B0503020204020204" pitchFamily="34" charset="-122"/>
                <a:ea typeface="微软雅黑" panose="020B0503020204020204" pitchFamily="34" charset="-122"/>
              </a:rPr>
              <a:t>电信网</a:t>
            </a:r>
          </a:p>
        </p:txBody>
      </p:sp>
      <p:sp>
        <p:nvSpPr>
          <p:cNvPr id="21" name="Text Box 29"/>
          <p:cNvSpPr txBox="1">
            <a:spLocks noChangeArrowheads="1"/>
          </p:cNvSpPr>
          <p:nvPr/>
        </p:nvSpPr>
        <p:spPr bwMode="auto">
          <a:xfrm>
            <a:off x="2979085" y="1732402"/>
            <a:ext cx="723900"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2" name="Text Box 30"/>
          <p:cNvSpPr txBox="1">
            <a:spLocks noChangeArrowheads="1"/>
          </p:cNvSpPr>
          <p:nvPr/>
        </p:nvSpPr>
        <p:spPr bwMode="auto">
          <a:xfrm>
            <a:off x="37728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3" name="Text Box 31"/>
          <p:cNvSpPr txBox="1">
            <a:spLocks noChangeArrowheads="1"/>
          </p:cNvSpPr>
          <p:nvPr/>
        </p:nvSpPr>
        <p:spPr bwMode="auto">
          <a:xfrm>
            <a:off x="4733272" y="17482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4" name="Text Box 32"/>
          <p:cNvSpPr txBox="1">
            <a:spLocks noChangeArrowheads="1"/>
          </p:cNvSpPr>
          <p:nvPr/>
        </p:nvSpPr>
        <p:spPr bwMode="auto">
          <a:xfrm>
            <a:off x="56143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5" name="Text Box 34"/>
          <p:cNvSpPr txBox="1">
            <a:spLocks noChangeArrowheads="1"/>
          </p:cNvSpPr>
          <p:nvPr/>
        </p:nvSpPr>
        <p:spPr bwMode="auto">
          <a:xfrm>
            <a:off x="4176060" y="2908828"/>
            <a:ext cx="8001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dirty="0">
                <a:latin typeface="微软雅黑" panose="020B0503020204020204" pitchFamily="34" charset="-122"/>
                <a:ea typeface="微软雅黑" panose="020B0503020204020204" pitchFamily="34" charset="-122"/>
              </a:rPr>
              <a:t>中继线</a:t>
            </a:r>
          </a:p>
        </p:txBody>
      </p:sp>
      <p:sp>
        <p:nvSpPr>
          <p:cNvPr id="26" name="Line 35"/>
          <p:cNvSpPr>
            <a:spLocks noChangeShapeType="1"/>
          </p:cNvSpPr>
          <p:nvPr/>
        </p:nvSpPr>
        <p:spPr bwMode="auto">
          <a:xfrm>
            <a:off x="3442635" y="2324539"/>
            <a:ext cx="820689" cy="607285"/>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Line 36"/>
          <p:cNvSpPr>
            <a:spLocks noChangeShapeType="1"/>
          </p:cNvSpPr>
          <p:nvPr/>
        </p:nvSpPr>
        <p:spPr bwMode="auto">
          <a:xfrm>
            <a:off x="4568172" y="2338827"/>
            <a:ext cx="0" cy="577850"/>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8" name="Line 37"/>
          <p:cNvSpPr>
            <a:spLocks noChangeShapeType="1"/>
          </p:cNvSpPr>
          <p:nvPr/>
        </p:nvSpPr>
        <p:spPr bwMode="auto">
          <a:xfrm flipH="1">
            <a:off x="4869845" y="2346005"/>
            <a:ext cx="825223" cy="591332"/>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9" name="Line 38"/>
          <p:cNvSpPr>
            <a:spLocks noChangeShapeType="1"/>
          </p:cNvSpPr>
          <p:nvPr/>
        </p:nvSpPr>
        <p:spPr bwMode="auto">
          <a:xfrm flipH="1">
            <a:off x="2163110" y="2313427"/>
            <a:ext cx="231775" cy="404812"/>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39"/>
          <p:cNvSpPr>
            <a:spLocks noChangeShapeType="1"/>
          </p:cNvSpPr>
          <p:nvPr/>
        </p:nvSpPr>
        <p:spPr bwMode="auto">
          <a:xfrm>
            <a:off x="6887510" y="2313427"/>
            <a:ext cx="114300" cy="3905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Text Box 40"/>
          <p:cNvSpPr txBox="1">
            <a:spLocks noChangeArrowheads="1"/>
          </p:cNvSpPr>
          <p:nvPr/>
        </p:nvSpPr>
        <p:spPr bwMode="auto">
          <a:xfrm>
            <a:off x="1802747" y="27261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sp>
        <p:nvSpPr>
          <p:cNvPr id="32" name="Text Box 41"/>
          <p:cNvSpPr txBox="1">
            <a:spLocks noChangeArrowheads="1"/>
          </p:cNvSpPr>
          <p:nvPr/>
        </p:nvSpPr>
        <p:spPr bwMode="auto">
          <a:xfrm>
            <a:off x="6662085" y="271823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grpSp>
        <p:nvGrpSpPr>
          <p:cNvPr id="33" name="Group 56"/>
          <p:cNvGrpSpPr/>
          <p:nvPr/>
        </p:nvGrpSpPr>
        <p:grpSpPr bwMode="auto">
          <a:xfrm flipH="1">
            <a:off x="6330297" y="2079355"/>
            <a:ext cx="863600" cy="131762"/>
            <a:chOff x="1519" y="2160"/>
            <a:chExt cx="953" cy="227"/>
          </a:xfrm>
        </p:grpSpPr>
        <p:sp>
          <p:nvSpPr>
            <p:cNvPr id="34"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5"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6"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7"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8" name="Line 61"/>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39" name="Group 64"/>
          <p:cNvGrpSpPr/>
          <p:nvPr/>
        </p:nvGrpSpPr>
        <p:grpSpPr bwMode="auto">
          <a:xfrm>
            <a:off x="1748772" y="2053955"/>
            <a:ext cx="863600" cy="131762"/>
            <a:chOff x="1519" y="2160"/>
            <a:chExt cx="953" cy="227"/>
          </a:xfrm>
        </p:grpSpPr>
        <p:sp>
          <p:nvSpPr>
            <p:cNvPr id="40"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1"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2"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3"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4" name="Line 69"/>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45" name="Freeform 71"/>
          <p:cNvSpPr/>
          <p:nvPr/>
        </p:nvSpPr>
        <p:spPr bwMode="auto">
          <a:xfrm>
            <a:off x="322832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72"/>
          <p:cNvSpPr/>
          <p:nvPr/>
        </p:nvSpPr>
        <p:spPr bwMode="auto">
          <a:xfrm>
            <a:off x="427607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73"/>
          <p:cNvSpPr/>
          <p:nvPr/>
        </p:nvSpPr>
        <p:spPr bwMode="auto">
          <a:xfrm>
            <a:off x="5263497"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立方体 47"/>
          <p:cNvSpPr/>
          <p:nvPr/>
        </p:nvSpPr>
        <p:spPr>
          <a:xfrm>
            <a:off x="2796522"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立方体 48"/>
          <p:cNvSpPr/>
          <p:nvPr/>
        </p:nvSpPr>
        <p:spPr>
          <a:xfrm>
            <a:off x="3879197"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立方体 49"/>
          <p:cNvSpPr/>
          <p:nvPr/>
        </p:nvSpPr>
        <p:spPr>
          <a:xfrm>
            <a:off x="4880910" y="2057839"/>
            <a:ext cx="388937"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立方体 50"/>
          <p:cNvSpPr/>
          <p:nvPr/>
        </p:nvSpPr>
        <p:spPr>
          <a:xfrm>
            <a:off x="5882622" y="2057839"/>
            <a:ext cx="388938"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Text Box 24"/>
          <p:cNvSpPr txBox="1">
            <a:spLocks noChangeArrowheads="1"/>
          </p:cNvSpPr>
          <p:nvPr/>
        </p:nvSpPr>
        <p:spPr bwMode="auto">
          <a:xfrm>
            <a:off x="2763185" y="24053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dirty="0">
                <a:solidFill>
                  <a:srgbClr val="0000FF"/>
                </a:solidFill>
                <a:latin typeface="微软雅黑" panose="020B0503020204020204" pitchFamily="34" charset="-122"/>
                <a:ea typeface="微软雅黑" panose="020B0503020204020204" pitchFamily="34" charset="-122"/>
              </a:rPr>
              <a:t>C</a:t>
            </a:r>
          </a:p>
        </p:txBody>
      </p:sp>
      <p:sp>
        <p:nvSpPr>
          <p:cNvPr id="53" name="Text Box 24"/>
          <p:cNvSpPr txBox="1">
            <a:spLocks noChangeArrowheads="1"/>
          </p:cNvSpPr>
          <p:nvPr/>
        </p:nvSpPr>
        <p:spPr bwMode="auto">
          <a:xfrm>
            <a:off x="3842685" y="2405354"/>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54" name="Text Box 24"/>
          <p:cNvSpPr txBox="1">
            <a:spLocks noChangeArrowheads="1"/>
          </p:cNvSpPr>
          <p:nvPr/>
        </p:nvSpPr>
        <p:spPr bwMode="auto">
          <a:xfrm>
            <a:off x="4861860" y="2405354"/>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55" name="Text Box 24"/>
          <p:cNvSpPr txBox="1">
            <a:spLocks noChangeArrowheads="1"/>
          </p:cNvSpPr>
          <p:nvPr/>
        </p:nvSpPr>
        <p:spPr bwMode="auto">
          <a:xfrm>
            <a:off x="5879447" y="240535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F</a:t>
            </a:r>
          </a:p>
        </p:txBody>
      </p:sp>
      <p:sp>
        <p:nvSpPr>
          <p:cNvPr id="56" name="Line 26"/>
          <p:cNvSpPr>
            <a:spLocks noChangeShapeType="1"/>
          </p:cNvSpPr>
          <p:nvPr/>
        </p:nvSpPr>
        <p:spPr bwMode="auto">
          <a:xfrm>
            <a:off x="1563035" y="2260529"/>
            <a:ext cx="5788025" cy="0"/>
          </a:xfrm>
          <a:prstGeom prst="line">
            <a:avLst/>
          </a:prstGeom>
          <a:noFill/>
          <a:ln w="38100">
            <a:solidFill>
              <a:srgbClr val="C00000"/>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57" name="图片 4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10" y="2078477"/>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图片 4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20885" y="2078477"/>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 name="圆角矩形 3"/>
          <p:cNvSpPr>
            <a:spLocks noChangeArrowheads="1"/>
          </p:cNvSpPr>
          <p:nvPr/>
        </p:nvSpPr>
        <p:spPr bwMode="auto">
          <a:xfrm>
            <a:off x="957945" y="3417211"/>
            <a:ext cx="7110090" cy="1163498"/>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pPr>
            <a:endParaRPr lang="zh-CN" altLang="zh-CN" sz="2400" b="1" dirty="0">
              <a:solidFill>
                <a:schemeClr val="bg1"/>
              </a:solidFill>
              <a:latin typeface="微软雅黑" pitchFamily="34" charset="-122"/>
              <a:ea typeface="微软雅黑" pitchFamily="34" charset="-122"/>
            </a:endParaRPr>
          </a:p>
        </p:txBody>
      </p:sp>
      <p:sp>
        <p:nvSpPr>
          <p:cNvPr id="61" name="矩形 60"/>
          <p:cNvSpPr/>
          <p:nvPr/>
        </p:nvSpPr>
        <p:spPr>
          <a:xfrm>
            <a:off x="1132116" y="3504796"/>
            <a:ext cx="6778499" cy="1015663"/>
          </a:xfrm>
          <a:prstGeom prst="rect">
            <a:avLst/>
          </a:prstGeom>
        </p:spPr>
        <p:txBody>
          <a:bodyPr wrap="square">
            <a:spAutoFit/>
          </a:bodyPr>
          <a:lstStyle/>
          <a:p>
            <a:pPr>
              <a:lnSpc>
                <a:spcPts val="2400"/>
              </a:lnSpc>
            </a:pPr>
            <a:r>
              <a:rPr lang="zh-CN" altLang="en-US" sz="1700" b="1" dirty="0">
                <a:solidFill>
                  <a:schemeClr val="bg1"/>
                </a:solidFill>
                <a:latin typeface="微软雅黑" panose="020B0503020204020204" pitchFamily="34" charset="-122"/>
                <a:ea typeface="微软雅黑" panose="020B0503020204020204" pitchFamily="34" charset="-122"/>
              </a:rPr>
              <a:t>计算机数据具有</a:t>
            </a:r>
            <a:r>
              <a:rPr lang="zh-CN" altLang="en-US" sz="1700" b="1" dirty="0">
                <a:solidFill>
                  <a:srgbClr val="FFFF00"/>
                </a:solidFill>
                <a:latin typeface="微软雅黑" panose="020B0503020204020204" pitchFamily="34" charset="-122"/>
                <a:ea typeface="微软雅黑" panose="020B0503020204020204" pitchFamily="34" charset="-122"/>
              </a:rPr>
              <a:t>突发性，</a:t>
            </a:r>
            <a:r>
              <a:rPr lang="zh-CN" altLang="en-US" sz="1700" b="1" dirty="0">
                <a:solidFill>
                  <a:schemeClr val="bg1"/>
                </a:solidFill>
                <a:latin typeface="微软雅黑" panose="020B0503020204020204" pitchFamily="34" charset="-122"/>
                <a:ea typeface="微软雅黑" panose="020B0503020204020204" pitchFamily="34" charset="-122"/>
              </a:rPr>
              <a:t>这导致在传送数据时，通信线路的利用率很低，真正用来传送数据的时间往往不到 </a:t>
            </a:r>
            <a:r>
              <a:rPr lang="en-US" altLang="zh-CN" sz="1700" b="1" dirty="0">
                <a:solidFill>
                  <a:schemeClr val="bg1"/>
                </a:solidFill>
                <a:latin typeface="微软雅黑" panose="020B0503020204020204" pitchFamily="34" charset="-122"/>
                <a:ea typeface="微软雅黑" panose="020B0503020204020204" pitchFamily="34" charset="-122"/>
              </a:rPr>
              <a:t>10%</a:t>
            </a:r>
            <a:r>
              <a:rPr lang="zh-CN" altLang="en-US" sz="1700" b="1" dirty="0">
                <a:solidFill>
                  <a:schemeClr val="bg1"/>
                </a:solidFill>
                <a:latin typeface="微软雅黑" panose="020B0503020204020204" pitchFamily="34" charset="-122"/>
                <a:ea typeface="微软雅黑" panose="020B0503020204020204" pitchFamily="34" charset="-122"/>
              </a:rPr>
              <a:t>，甚至不到 </a:t>
            </a:r>
            <a:r>
              <a:rPr lang="en-US" altLang="zh-CN" sz="1700" b="1" dirty="0">
                <a:solidFill>
                  <a:schemeClr val="bg1"/>
                </a:solidFill>
                <a:latin typeface="微软雅黑" panose="020B0503020204020204" pitchFamily="34" charset="-122"/>
                <a:ea typeface="微软雅黑" panose="020B0503020204020204" pitchFamily="34" charset="-122"/>
              </a:rPr>
              <a:t>1%</a:t>
            </a:r>
            <a:r>
              <a:rPr lang="zh-CN" altLang="en-US" sz="1700" b="1" dirty="0">
                <a:solidFill>
                  <a:schemeClr val="bg1"/>
                </a:solidFill>
                <a:latin typeface="微软雅黑" panose="020B0503020204020204" pitchFamily="34" charset="-122"/>
                <a:ea typeface="微软雅黑" panose="020B0503020204020204" pitchFamily="34" charset="-122"/>
              </a:rPr>
              <a:t>，已被用户占用的通信线路资源在绝大部分时间里都是空闲的。</a:t>
            </a:r>
            <a:endParaRPr lang="zh-CN" altLang="en-US" sz="1700" b="1" dirty="0">
              <a:solidFill>
                <a:srgbClr val="800000"/>
              </a:solidFill>
              <a:latin typeface="微软雅黑" panose="020B0503020204020204" pitchFamily="34" charset="-122"/>
              <a:ea typeface="微软雅黑" panose="020B0503020204020204" pitchFamily="34" charset="-122"/>
            </a:endParaRPr>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电路交换特点：通话的两个用户始终占用端到端的通信资源</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4000"/>
                                        <p:tgtEl>
                                          <p:spTgt spid="56"/>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56"/>
                                        </p:tgtEl>
                                      </p:cBhvr>
                                    </p:animEffect>
                                    <p:set>
                                      <p:cBhvr>
                                        <p:cTn id="14" dur="1" fill="hold">
                                          <p:stCondLst>
                                            <p:cond delay="2999"/>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6" grpId="2"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采用存储转发技术。</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2. </a:t>
            </a:r>
            <a:r>
              <a:rPr lang="zh-CN" altLang="en-US" dirty="0"/>
              <a:t>分组交换的主要特点</a:t>
            </a:r>
          </a:p>
        </p:txBody>
      </p:sp>
      <p:sp>
        <p:nvSpPr>
          <p:cNvPr id="4" name="Line 8"/>
          <p:cNvSpPr>
            <a:spLocks noChangeShapeType="1"/>
          </p:cNvSpPr>
          <p:nvPr/>
        </p:nvSpPr>
        <p:spPr bwMode="auto">
          <a:xfrm>
            <a:off x="1511345" y="1936752"/>
            <a:ext cx="5616575"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Text Box 9"/>
          <p:cNvSpPr txBox="1">
            <a:spLocks noChangeArrowheads="1"/>
          </p:cNvSpPr>
          <p:nvPr/>
        </p:nvSpPr>
        <p:spPr bwMode="auto">
          <a:xfrm>
            <a:off x="4008482" y="1785940"/>
            <a:ext cx="593725" cy="3381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a:latin typeface="微软雅黑" panose="020B0503020204020204" pitchFamily="34" charset="-122"/>
                <a:ea typeface="微软雅黑" panose="020B0503020204020204" pitchFamily="34" charset="-122"/>
              </a:rPr>
              <a:t>报文</a:t>
            </a:r>
          </a:p>
        </p:txBody>
      </p:sp>
      <p:sp>
        <p:nvSpPr>
          <p:cNvPr id="6" name="Rectangle 74"/>
          <p:cNvSpPr>
            <a:spLocks noChangeArrowheads="1"/>
          </p:cNvSpPr>
          <p:nvPr/>
        </p:nvSpPr>
        <p:spPr bwMode="auto">
          <a:xfrm>
            <a:off x="1511345" y="2152652"/>
            <a:ext cx="5747242" cy="431800"/>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ndParaRPr>
          </a:p>
        </p:txBody>
      </p:sp>
      <p:cxnSp>
        <p:nvCxnSpPr>
          <p:cNvPr id="10" name="直接连接符 10"/>
          <p:cNvCxnSpPr>
            <a:cxnSpLocks noChangeShapeType="1"/>
          </p:cNvCxnSpPr>
          <p:nvPr/>
        </p:nvCxnSpPr>
        <p:spPr bwMode="auto">
          <a:xfrm>
            <a:off x="1512932"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1"/>
          <p:cNvCxnSpPr>
            <a:cxnSpLocks noChangeShapeType="1"/>
          </p:cNvCxnSpPr>
          <p:nvPr/>
        </p:nvCxnSpPr>
        <p:spPr bwMode="auto">
          <a:xfrm>
            <a:off x="7242675"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76"/>
          <p:cNvSpPr txBox="1">
            <a:spLocks noChangeArrowheads="1"/>
          </p:cNvSpPr>
          <p:nvPr/>
        </p:nvSpPr>
        <p:spPr bwMode="auto">
          <a:xfrm>
            <a:off x="1476510" y="2164581"/>
            <a:ext cx="590835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2100" b="1" dirty="0">
                <a:solidFill>
                  <a:srgbClr val="0000FF"/>
                </a:solidFill>
              </a:rPr>
              <a:t>110100011010101011010101110001001101001011</a:t>
            </a:r>
          </a:p>
        </p:txBody>
      </p:sp>
      <p:grpSp>
        <p:nvGrpSpPr>
          <p:cNvPr id="13" name="组合 12"/>
          <p:cNvGrpSpPr/>
          <p:nvPr/>
        </p:nvGrpSpPr>
        <p:grpSpPr>
          <a:xfrm>
            <a:off x="1587729" y="2210760"/>
            <a:ext cx="5637534" cy="323557"/>
            <a:chOff x="1909947" y="3247087"/>
            <a:chExt cx="5637534" cy="323557"/>
          </a:xfrm>
        </p:grpSpPr>
        <p:sp>
          <p:nvSpPr>
            <p:cNvPr id="14" name="矩形 13"/>
            <p:cNvSpPr/>
            <p:nvPr/>
          </p:nvSpPr>
          <p:spPr>
            <a:xfrm>
              <a:off x="1909947" y="3247087"/>
              <a:ext cx="1993503"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3903450" y="3247087"/>
              <a:ext cx="192661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5827281" y="3247087"/>
              <a:ext cx="172020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p:cNvSpPr/>
          <p:nvPr/>
        </p:nvSpPr>
        <p:spPr>
          <a:xfrm>
            <a:off x="1511345" y="2788339"/>
            <a:ext cx="57472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在发送端，先把较长的报文划分成更小的等长数据段。 </a:t>
            </a:r>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nodeType="afterEffect">
                                  <p:stCondLst>
                                    <p:cond delay="0"/>
                                  </p:stCondLst>
                                  <p:childTnLst>
                                    <p:anim calcmode="discrete" valueType="str">
                                      <p:cBhvr>
                                        <p:cTn id="6"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2"/>
          <p:cNvSpPr>
            <a:spLocks noChangeArrowheads="1"/>
          </p:cNvSpPr>
          <p:nvPr/>
        </p:nvSpPr>
        <p:spPr bwMode="auto">
          <a:xfrm>
            <a:off x="2009821" y="1517097"/>
            <a:ext cx="1870075"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0" name="Rectangle 13"/>
          <p:cNvSpPr>
            <a:spLocks noChangeArrowheads="1"/>
          </p:cNvSpPr>
          <p:nvPr/>
        </p:nvSpPr>
        <p:spPr bwMode="auto">
          <a:xfrm>
            <a:off x="388148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1" name="Rectangle 14"/>
          <p:cNvSpPr>
            <a:spLocks noChangeArrowheads="1"/>
          </p:cNvSpPr>
          <p:nvPr/>
        </p:nvSpPr>
        <p:spPr bwMode="auto">
          <a:xfrm>
            <a:off x="575473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dirty="0">
                <a:solidFill>
                  <a:prstClr val="black"/>
                </a:solidFill>
                <a:latin typeface="微软雅黑" panose="020B0503020204020204" pitchFamily="34" charset="-122"/>
                <a:ea typeface="微软雅黑" panose="020B0503020204020204" pitchFamily="34" charset="-122"/>
              </a:rPr>
              <a:t>数     据</a:t>
            </a:r>
          </a:p>
        </p:txBody>
      </p:sp>
      <p:sp>
        <p:nvSpPr>
          <p:cNvPr id="22" name="Rectangle 16"/>
          <p:cNvSpPr>
            <a:spLocks noChangeArrowheads="1"/>
          </p:cNvSpPr>
          <p:nvPr/>
        </p:nvSpPr>
        <p:spPr bwMode="auto">
          <a:xfrm>
            <a:off x="1384346" y="2125110"/>
            <a:ext cx="623887"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3" name="Rectangle 19"/>
          <p:cNvSpPr>
            <a:spLocks noChangeArrowheads="1"/>
          </p:cNvSpPr>
          <p:nvPr/>
        </p:nvSpPr>
        <p:spPr bwMode="auto">
          <a:xfrm>
            <a:off x="3256008" y="2852185"/>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4" name="Rectangle 20"/>
          <p:cNvSpPr>
            <a:spLocks noChangeArrowheads="1"/>
          </p:cNvSpPr>
          <p:nvPr/>
        </p:nvSpPr>
        <p:spPr bwMode="auto">
          <a:xfrm>
            <a:off x="5135608" y="3526872"/>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grpSp>
        <p:nvGrpSpPr>
          <p:cNvPr id="25" name="Group 25"/>
          <p:cNvGrpSpPr/>
          <p:nvPr/>
        </p:nvGrpSpPr>
        <p:grpSpPr bwMode="auto">
          <a:xfrm>
            <a:off x="1373233" y="1648726"/>
            <a:ext cx="2495550" cy="431800"/>
            <a:chOff x="2063" y="2574"/>
            <a:chExt cx="1451" cy="272"/>
          </a:xfrm>
        </p:grpSpPr>
        <p:sp>
          <p:nvSpPr>
            <p:cNvPr id="26" name="AutoShape 21"/>
            <p:cNvSpPr/>
            <p:nvPr/>
          </p:nvSpPr>
          <p:spPr bwMode="auto">
            <a:xfrm rot="5400000">
              <a:off x="2744" y="2075"/>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7" name="Text Box 24"/>
            <p:cNvSpPr txBox="1">
              <a:spLocks noChangeArrowheads="1"/>
            </p:cNvSpPr>
            <p:nvPr/>
          </p:nvSpPr>
          <p:spPr bwMode="auto">
            <a:xfrm>
              <a:off x="2627" y="2574"/>
              <a:ext cx="411" cy="19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nvGrpSpPr>
          <p:cNvPr id="28" name="Group 26"/>
          <p:cNvGrpSpPr/>
          <p:nvPr/>
        </p:nvGrpSpPr>
        <p:grpSpPr bwMode="auto">
          <a:xfrm>
            <a:off x="3256008" y="2387047"/>
            <a:ext cx="2495550" cy="425450"/>
            <a:chOff x="1973" y="2524"/>
            <a:chExt cx="1451" cy="268"/>
          </a:xfrm>
        </p:grpSpPr>
        <p:sp>
          <p:nvSpPr>
            <p:cNvPr id="29" name="AutoShape 27"/>
            <p:cNvSpPr/>
            <p:nvPr/>
          </p:nvSpPr>
          <p:spPr bwMode="auto">
            <a:xfrm rot="5400000">
              <a:off x="2654" y="2021"/>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0" name="Text Box 28"/>
            <p:cNvSpPr txBox="1">
              <a:spLocks noChangeArrowheads="1"/>
            </p:cNvSpPr>
            <p:nvPr/>
          </p:nvSpPr>
          <p:spPr bwMode="auto">
            <a:xfrm>
              <a:off x="2513" y="252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2</a:t>
              </a:r>
            </a:p>
          </p:txBody>
        </p:sp>
      </p:grpSp>
      <p:grpSp>
        <p:nvGrpSpPr>
          <p:cNvPr id="31" name="Group 29"/>
          <p:cNvGrpSpPr/>
          <p:nvPr/>
        </p:nvGrpSpPr>
        <p:grpSpPr bwMode="auto">
          <a:xfrm>
            <a:off x="5129258" y="3066497"/>
            <a:ext cx="2495550" cy="422275"/>
            <a:chOff x="1883" y="2394"/>
            <a:chExt cx="1451" cy="266"/>
          </a:xfrm>
        </p:grpSpPr>
        <p:sp>
          <p:nvSpPr>
            <p:cNvPr id="32" name="AutoShape 30"/>
            <p:cNvSpPr/>
            <p:nvPr/>
          </p:nvSpPr>
          <p:spPr bwMode="auto">
            <a:xfrm rot="5400000">
              <a:off x="2564" y="188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33" name="Text Box 31"/>
            <p:cNvSpPr txBox="1">
              <a:spLocks noChangeArrowheads="1"/>
            </p:cNvSpPr>
            <p:nvPr/>
          </p:nvSpPr>
          <p:spPr bwMode="auto">
            <a:xfrm>
              <a:off x="2411" y="239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3</a:t>
              </a:r>
            </a:p>
          </p:txBody>
        </p:sp>
      </p:grpSp>
      <p:grpSp>
        <p:nvGrpSpPr>
          <p:cNvPr id="34" name="组合 33"/>
          <p:cNvGrpSpPr/>
          <p:nvPr/>
        </p:nvGrpSpPr>
        <p:grpSpPr bwMode="auto">
          <a:xfrm>
            <a:off x="2009821" y="1166260"/>
            <a:ext cx="5616575" cy="307975"/>
            <a:chOff x="1898781" y="2727667"/>
            <a:chExt cx="5616840" cy="307975"/>
          </a:xfrm>
        </p:grpSpPr>
        <p:grpSp>
          <p:nvGrpSpPr>
            <p:cNvPr id="35" name="Group 15"/>
            <p:cNvGrpSpPr/>
            <p:nvPr/>
          </p:nvGrpSpPr>
          <p:grpSpPr bwMode="auto">
            <a:xfrm>
              <a:off x="1898781" y="2727667"/>
              <a:ext cx="5616840" cy="307975"/>
              <a:chOff x="1247" y="1803"/>
              <a:chExt cx="3266" cy="194"/>
            </a:xfrm>
          </p:grpSpPr>
          <p:sp>
            <p:nvSpPr>
              <p:cNvPr id="38" name="Line 2"/>
              <p:cNvSpPr>
                <a:spLocks noChangeShapeType="1"/>
              </p:cNvSpPr>
              <p:nvPr/>
            </p:nvSpPr>
            <p:spPr bwMode="auto">
              <a:xfrm>
                <a:off x="1247" y="1888"/>
                <a:ext cx="3266"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9" name="Text Box 3"/>
              <p:cNvSpPr txBox="1">
                <a:spLocks noChangeArrowheads="1"/>
              </p:cNvSpPr>
              <p:nvPr/>
            </p:nvSpPr>
            <p:spPr bwMode="auto">
              <a:xfrm>
                <a:off x="2699" y="1803"/>
                <a:ext cx="316" cy="194"/>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prstClr val="black"/>
                    </a:solidFill>
                    <a:latin typeface="微软雅黑" panose="020B0503020204020204" pitchFamily="34" charset="-122"/>
                    <a:ea typeface="微软雅黑" panose="020B0503020204020204" pitchFamily="34" charset="-122"/>
                  </a:rPr>
                  <a:t>报文</a:t>
                </a:r>
              </a:p>
            </p:txBody>
          </p:sp>
        </p:grpSp>
        <p:cxnSp>
          <p:nvCxnSpPr>
            <p:cNvPr id="36" name="直接连接符 21"/>
            <p:cNvCxnSpPr>
              <a:cxnSpLocks noChangeShapeType="1"/>
            </p:cNvCxnSpPr>
            <p:nvPr/>
          </p:nvCxnSpPr>
          <p:spPr bwMode="auto">
            <a:xfrm>
              <a:off x="1900501"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22"/>
            <p:cNvCxnSpPr>
              <a:cxnSpLocks noChangeShapeType="1"/>
            </p:cNvCxnSpPr>
            <p:nvPr/>
          </p:nvCxnSpPr>
          <p:spPr bwMode="auto">
            <a:xfrm>
              <a:off x="7500522"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 name="Text Box 33"/>
          <p:cNvSpPr txBox="1">
            <a:spLocks noChangeArrowheads="1"/>
          </p:cNvSpPr>
          <p:nvPr/>
        </p:nvSpPr>
        <p:spPr bwMode="auto">
          <a:xfrm>
            <a:off x="981335" y="3558106"/>
            <a:ext cx="24929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CC"/>
                </a:solidFill>
                <a:latin typeface="微软雅黑" panose="020B0503020204020204" pitchFamily="34" charset="-122"/>
                <a:ea typeface="微软雅黑" panose="020B0503020204020204" pitchFamily="34" charset="-122"/>
              </a:rPr>
              <a:t>注意：左边是“前面”</a:t>
            </a:r>
          </a:p>
        </p:txBody>
      </p:sp>
      <p:sp>
        <p:nvSpPr>
          <p:cNvPr id="41" name="矩形 40"/>
          <p:cNvSpPr/>
          <p:nvPr/>
        </p:nvSpPr>
        <p:spPr>
          <a:xfrm>
            <a:off x="1045030" y="4142276"/>
            <a:ext cx="6914204" cy="400110"/>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分组又称为“包”，而分组的首部也可称为“包头”。</a:t>
            </a:r>
          </a:p>
        </p:txBody>
      </p:sp>
      <p:sp>
        <p:nvSpPr>
          <p:cNvPr id="7" name="内容占位符 6">
            <a:extLst>
              <a:ext uri="{FF2B5EF4-FFF2-40B4-BE49-F238E27FC236}">
                <a16:creationId xmlns:a16="http://schemas.microsoft.com/office/drawing/2014/main" id="{E99AFC31-CC54-25C1-BAD8-84E514083D3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数据段前面添加首部就构成了分组 </a:t>
            </a:r>
            <a:r>
              <a:rPr lang="en-US" altLang="zh-CN" dirty="0"/>
              <a:t>(packet)</a:t>
            </a:r>
          </a:p>
        </p:txBody>
      </p:sp>
    </p:spTree>
    <p:extLst>
      <p:ext uri="{BB962C8B-B14F-4D97-AF65-F5344CB8AC3E}">
        <p14:creationId xmlns:p14="http://schemas.microsoft.com/office/powerpoint/2010/main" val="13814291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1000"/>
                                  </p:stCondLst>
                                  <p:childTnLst>
                                    <p:set>
                                      <p:cBhvr>
                                        <p:cTn id="6" dur="1" fill="hold">
                                          <p:stCondLst>
                                            <p:cond delay="0"/>
                                          </p:stCondLst>
                                        </p:cTn>
                                        <p:tgtEl>
                                          <p:spTgt spid="34"/>
                                        </p:tgtEl>
                                        <p:attrNameLst>
                                          <p:attrName>style.visibility</p:attrName>
                                        </p:attrNameLst>
                                      </p:cBhvr>
                                      <p:to>
                                        <p:strVal val="hidden"/>
                                      </p:to>
                                    </p:set>
                                  </p:childTnLst>
                                </p:cTn>
                              </p:par>
                            </p:childTnLst>
                          </p:cTn>
                        </p:par>
                        <p:par>
                          <p:cTn id="7" fill="hold">
                            <p:stCondLst>
                              <p:cond delay="1000"/>
                            </p:stCondLst>
                            <p:childTnLst>
                              <p:par>
                                <p:cTn id="8" presetID="42" presetClass="path" presetSubtype="0" accel="50000" decel="50000" fill="hold" grpId="0" nodeType="afterEffect">
                                  <p:stCondLst>
                                    <p:cond delay="0"/>
                                  </p:stCondLst>
                                  <p:childTnLst>
                                    <p:animMotion origin="layout" path="M 1.38889E-6 2.96296E-6 L 1.38889E-6 0.11852 " pathEditMode="relative" rAng="0" ptsTypes="AA">
                                      <p:cBhvr>
                                        <p:cTn id="9" dur="2000" fill="hold"/>
                                        <p:tgtEl>
                                          <p:spTgt spid="19"/>
                                        </p:tgtEl>
                                        <p:attrNameLst>
                                          <p:attrName>ppt_x</p:attrName>
                                          <p:attrName>ppt_y</p:attrName>
                                        </p:attrNameLst>
                                      </p:cBhvr>
                                      <p:rCtr x="0" y="5926"/>
                                    </p:animMotion>
                                  </p:childTnLst>
                                </p:cTn>
                              </p:par>
                            </p:childTnLst>
                          </p:cTn>
                        </p:par>
                        <p:par>
                          <p:cTn id="10" fill="hold">
                            <p:stCondLst>
                              <p:cond delay="3000"/>
                            </p:stCondLst>
                            <p:childTnLst>
                              <p:par>
                                <p:cTn id="11" presetID="1" presetClass="entr" presetSubtype="0" fill="hold" grpId="0" nodeType="afterEffect">
                                  <p:stCondLst>
                                    <p:cond delay="500"/>
                                  </p:stCondLst>
                                  <p:childTnLst>
                                    <p:set>
                                      <p:cBhvr>
                                        <p:cTn id="12" dur="1" fill="hold">
                                          <p:stCondLst>
                                            <p:cond delay="0"/>
                                          </p:stCondLst>
                                        </p:cTn>
                                        <p:tgtEl>
                                          <p:spTgt spid="22"/>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500"/>
                                  </p:stCondLst>
                                  <p:childTnLst>
                                    <p:set>
                                      <p:cBhvr>
                                        <p:cTn id="15" dur="1" fill="hold">
                                          <p:stCondLst>
                                            <p:cond delay="0"/>
                                          </p:stCondLst>
                                        </p:cTn>
                                        <p:tgtEl>
                                          <p:spTgt spid="25"/>
                                        </p:tgtEl>
                                        <p:attrNameLst>
                                          <p:attrName>style.visibility</p:attrName>
                                        </p:attrNameLst>
                                      </p:cBhvr>
                                      <p:to>
                                        <p:strVal val="visible"/>
                                      </p:to>
                                    </p:set>
                                  </p:childTnLst>
                                </p:cTn>
                              </p:par>
                            </p:childTnLst>
                          </p:cTn>
                        </p:par>
                        <p:par>
                          <p:cTn id="16" fill="hold">
                            <p:stCondLst>
                              <p:cond delay="4000"/>
                            </p:stCondLst>
                            <p:childTnLst>
                              <p:par>
                                <p:cTn id="17" presetID="42" presetClass="path" presetSubtype="0" accel="50000" decel="50000" fill="hold" grpId="0" nodeType="afterEffect">
                                  <p:stCondLst>
                                    <p:cond delay="500"/>
                                  </p:stCondLst>
                                  <p:childTnLst>
                                    <p:animMotion origin="layout" path="M 3.88889E-6 2.96296E-6 L 3.88889E-6 0.2608 " pathEditMode="relative" rAng="0" ptsTypes="AA">
                                      <p:cBhvr>
                                        <p:cTn id="18" dur="2000" fill="hold"/>
                                        <p:tgtEl>
                                          <p:spTgt spid="20"/>
                                        </p:tgtEl>
                                        <p:attrNameLst>
                                          <p:attrName>ppt_x</p:attrName>
                                          <p:attrName>ppt_y</p:attrName>
                                        </p:attrNameLst>
                                      </p:cBhvr>
                                      <p:rCtr x="0" y="13025"/>
                                    </p:animMotion>
                                  </p:childTnLst>
                                </p:cTn>
                              </p:par>
                            </p:childTnLst>
                          </p:cTn>
                        </p:par>
                        <p:par>
                          <p:cTn id="19" fill="hold">
                            <p:stCondLst>
                              <p:cond delay="6500"/>
                            </p:stCondLst>
                            <p:childTnLst>
                              <p:par>
                                <p:cTn id="20" presetID="1" presetClass="entr" presetSubtype="0"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7000"/>
                            </p:stCondLst>
                            <p:childTnLst>
                              <p:par>
                                <p:cTn id="23" presetID="1" presetClass="entr" presetSubtype="0" fill="hold" nodeType="afterEffect">
                                  <p:stCondLst>
                                    <p:cond delay="500"/>
                                  </p:stCondLst>
                                  <p:childTnLst>
                                    <p:set>
                                      <p:cBhvr>
                                        <p:cTn id="24" dur="1" fill="hold">
                                          <p:stCondLst>
                                            <p:cond delay="0"/>
                                          </p:stCondLst>
                                        </p:cTn>
                                        <p:tgtEl>
                                          <p:spTgt spid="28"/>
                                        </p:tgtEl>
                                        <p:attrNameLst>
                                          <p:attrName>style.visibility</p:attrName>
                                        </p:attrNameLst>
                                      </p:cBhvr>
                                      <p:to>
                                        <p:strVal val="visible"/>
                                      </p:to>
                                    </p:set>
                                  </p:childTnLst>
                                </p:cTn>
                              </p:par>
                            </p:childTnLst>
                          </p:cTn>
                        </p:par>
                        <p:par>
                          <p:cTn id="25" fill="hold">
                            <p:stCondLst>
                              <p:cond delay="7500"/>
                            </p:stCondLst>
                            <p:childTnLst>
                              <p:par>
                                <p:cTn id="26" presetID="42" presetClass="path" presetSubtype="0" accel="50000" decel="50000" fill="hold" grpId="0" nodeType="afterEffect">
                                  <p:stCondLst>
                                    <p:cond delay="500"/>
                                  </p:stCondLst>
                                  <p:childTnLst>
                                    <p:animMotion origin="layout" path="M 2.77778E-6 2.96296E-6 L 2.77778E-6 0.39105 " pathEditMode="relative" rAng="0" ptsTypes="AA">
                                      <p:cBhvr>
                                        <p:cTn id="27" dur="2000" fill="hold"/>
                                        <p:tgtEl>
                                          <p:spTgt spid="21"/>
                                        </p:tgtEl>
                                        <p:attrNameLst>
                                          <p:attrName>ppt_x</p:attrName>
                                          <p:attrName>ppt_y</p:attrName>
                                        </p:attrNameLst>
                                      </p:cBhvr>
                                      <p:rCtr x="0" y="19537"/>
                                    </p:animMotion>
                                  </p:childTnLst>
                                </p:cTn>
                              </p:par>
                            </p:childTnLst>
                          </p:cTn>
                        </p:par>
                        <p:par>
                          <p:cTn id="28" fill="hold">
                            <p:stCondLst>
                              <p:cond delay="10000"/>
                            </p:stCondLst>
                            <p:childTnLst>
                              <p:par>
                                <p:cTn id="29" presetID="1" presetClass="entr" presetSubtype="0" fill="hold" grpId="0" nodeType="afterEffect">
                                  <p:stCondLst>
                                    <p:cond delay="500"/>
                                  </p:stCondLst>
                                  <p:childTnLst>
                                    <p:set>
                                      <p:cBhvr>
                                        <p:cTn id="30" dur="1" fill="hold">
                                          <p:stCondLst>
                                            <p:cond delay="0"/>
                                          </p:stCondLst>
                                        </p:cTn>
                                        <p:tgtEl>
                                          <p:spTgt spid="24"/>
                                        </p:tgtEl>
                                        <p:attrNameLst>
                                          <p:attrName>style.visibility</p:attrName>
                                        </p:attrNameLst>
                                      </p:cBhvr>
                                      <p:to>
                                        <p:strVal val="visible"/>
                                      </p:to>
                                    </p:set>
                                  </p:childTnLst>
                                </p:cTn>
                              </p:par>
                            </p:childTnLst>
                          </p:cTn>
                        </p:par>
                        <p:par>
                          <p:cTn id="31" fill="hold">
                            <p:stCondLst>
                              <p:cond delay="10500"/>
                            </p:stCondLst>
                            <p:childTnLst>
                              <p:par>
                                <p:cTn id="32" presetID="1" presetClass="entr" presetSubtype="0" fill="hold" nodeType="afterEffect">
                                  <p:stCondLst>
                                    <p:cond delay="500"/>
                                  </p:stCondLst>
                                  <p:childTnLst>
                                    <p:set>
                                      <p:cBhvr>
                                        <p:cTn id="33" dur="1" fill="hold">
                                          <p:stCondLst>
                                            <p:cond delay="0"/>
                                          </p:stCondLst>
                                        </p:cTn>
                                        <p:tgtEl>
                                          <p:spTgt spid="31"/>
                                        </p:tgtEl>
                                        <p:attrNameLst>
                                          <p:attrName>style.visibility</p:attrName>
                                        </p:attrNameLst>
                                      </p:cBhvr>
                                      <p:to>
                                        <p:strVal val="visible"/>
                                      </p:to>
                                    </p:set>
                                  </p:childTnLst>
                                </p:cTn>
                              </p:par>
                            </p:childTnLst>
                          </p:cTn>
                        </p:par>
                        <p:par>
                          <p:cTn id="34" fill="hold">
                            <p:stCondLst>
                              <p:cond delay="11000"/>
                            </p:stCondLst>
                            <p:childTnLst>
                              <p:par>
                                <p:cTn id="35" presetID="1" presetClass="entr" presetSubtype="0" fill="hold" grpId="0" nodeType="after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par>
                          <p:cTn id="37" fill="hold">
                            <p:stCondLst>
                              <p:cond delay="11000"/>
                            </p:stCondLst>
                            <p:childTnLst>
                              <p:par>
                                <p:cTn id="38" presetID="35" presetClass="emph" presetSubtype="0" repeatCount="3000" fill="hold" grpId="1" nodeType="afterEffect">
                                  <p:stCondLst>
                                    <p:cond delay="0"/>
                                  </p:stCondLst>
                                  <p:childTnLst>
                                    <p:anim calcmode="discrete" valueType="str">
                                      <p:cBhvr>
                                        <p:cTn id="39" dur="1000" fill="hold"/>
                                        <p:tgtEl>
                                          <p:spTgt spid="40"/>
                                        </p:tgtEl>
                                        <p:attrNameLst>
                                          <p:attrName>style.visibility</p:attrName>
                                        </p:attrNameLst>
                                      </p:cBhvr>
                                      <p:tavLst>
                                        <p:tav tm="0">
                                          <p:val>
                                            <p:strVal val="hidden"/>
                                          </p:val>
                                        </p:tav>
                                        <p:tav tm="50000">
                                          <p:val>
                                            <p:strVal val="visible"/>
                                          </p:val>
                                        </p:tav>
                                      </p:tavLst>
                                    </p:anim>
                                  </p:childTnLst>
                                </p:cTn>
                              </p:par>
                            </p:childTnLst>
                          </p:cTn>
                        </p:par>
                        <p:par>
                          <p:cTn id="40" fill="hold">
                            <p:stCondLst>
                              <p:cond delay="14000"/>
                            </p:stCondLst>
                            <p:childTnLst>
                              <p:par>
                                <p:cTn id="41" presetID="1" presetClass="entr" presetSubtype="0" fill="hold" grpId="0" nodeType="after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40" grpId="0"/>
      <p:bldP spid="40" grpId="1"/>
      <p:bldP spid="41"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内容占位符 22"/>
          <p:cNvSpPr>
            <a:spLocks noGrp="1"/>
          </p:cNvSpPr>
          <p:nvPr>
            <p:ph sz="quarter" idx="10"/>
          </p:nvPr>
        </p:nvSpPr>
        <p:spPr>
          <a:xfrm>
            <a:off x="466344" y="504285"/>
            <a:ext cx="8129016" cy="4172489"/>
          </a:xfrm>
        </p:spPr>
        <p:txBody>
          <a:bodyPr/>
          <a:lstStyle/>
          <a:p>
            <a:r>
              <a:rPr lang="zh-CN" altLang="en-US" dirty="0"/>
              <a:t>互联网采用分组交换技术。分组是在互联网中传送的数据单元。</a:t>
            </a:r>
          </a:p>
          <a:p>
            <a:r>
              <a:rPr lang="zh-CN" altLang="en-US" dirty="0"/>
              <a:t>发送端依次把各分组发送到接收端。</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分组交换以“分组”作为数据传输单元</a:t>
            </a:r>
          </a:p>
        </p:txBody>
      </p:sp>
      <p:grpSp>
        <p:nvGrpSpPr>
          <p:cNvPr id="3" name="组合 2"/>
          <p:cNvGrpSpPr/>
          <p:nvPr/>
        </p:nvGrpSpPr>
        <p:grpSpPr bwMode="auto">
          <a:xfrm>
            <a:off x="1016000" y="2208805"/>
            <a:ext cx="2136775" cy="842743"/>
            <a:chOff x="2040721" y="2921091"/>
            <a:chExt cx="2135660" cy="841771"/>
          </a:xfrm>
        </p:grpSpPr>
        <p:sp>
          <p:nvSpPr>
            <p:cNvPr id="4" name="Rectangle 2"/>
            <p:cNvSpPr>
              <a:spLocks noChangeArrowheads="1"/>
            </p:cNvSpPr>
            <p:nvPr/>
          </p:nvSpPr>
          <p:spPr bwMode="auto">
            <a:xfrm>
              <a:off x="2574636" y="3393568"/>
              <a:ext cx="1600274"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5" name="Rectangle 10"/>
            <p:cNvSpPr>
              <a:spLocks noChangeArrowheads="1"/>
            </p:cNvSpPr>
            <p:nvPr/>
          </p:nvSpPr>
          <p:spPr bwMode="auto">
            <a:xfrm>
              <a:off x="2040721" y="3393568"/>
              <a:ext cx="533915"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6" name="Group 13"/>
            <p:cNvGrpSpPr/>
            <p:nvPr/>
          </p:nvGrpSpPr>
          <p:grpSpPr bwMode="auto">
            <a:xfrm>
              <a:off x="2042192" y="2921091"/>
              <a:ext cx="2134189" cy="410025"/>
              <a:chOff x="1973" y="2538"/>
              <a:chExt cx="1451" cy="302"/>
            </a:xfrm>
          </p:grpSpPr>
          <p:sp>
            <p:nvSpPr>
              <p:cNvPr id="7" name="AutoShape 14"/>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8" name="Text Box 15"/>
              <p:cNvSpPr txBox="1">
                <a:spLocks noChangeArrowheads="1"/>
              </p:cNvSpPr>
              <p:nvPr/>
            </p:nvSpPr>
            <p:spPr bwMode="auto">
              <a:xfrm>
                <a:off x="2489" y="2538"/>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grpSp>
        <p:nvGrpSpPr>
          <p:cNvPr id="9" name="组合 8"/>
          <p:cNvGrpSpPr/>
          <p:nvPr/>
        </p:nvGrpSpPr>
        <p:grpSpPr bwMode="auto">
          <a:xfrm>
            <a:off x="3516313" y="2694359"/>
            <a:ext cx="2133600" cy="849312"/>
            <a:chOff x="3642465" y="3652888"/>
            <a:chExt cx="2134187" cy="849919"/>
          </a:xfrm>
        </p:grpSpPr>
        <p:sp>
          <p:nvSpPr>
            <p:cNvPr id="10" name="Rectangle 3"/>
            <p:cNvSpPr>
              <a:spLocks noChangeArrowheads="1"/>
            </p:cNvSpPr>
            <p:nvPr/>
          </p:nvSpPr>
          <p:spPr bwMode="auto">
            <a:xfrm>
              <a:off x="4176379" y="4133513"/>
              <a:ext cx="1600273"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1" name="Rectangle 11"/>
            <p:cNvSpPr>
              <a:spLocks noChangeArrowheads="1"/>
            </p:cNvSpPr>
            <p:nvPr/>
          </p:nvSpPr>
          <p:spPr bwMode="auto">
            <a:xfrm>
              <a:off x="3642465" y="4133513"/>
              <a:ext cx="533914"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2" name="Group 16"/>
            <p:cNvGrpSpPr/>
            <p:nvPr/>
          </p:nvGrpSpPr>
          <p:grpSpPr bwMode="auto">
            <a:xfrm>
              <a:off x="3642465" y="3652888"/>
              <a:ext cx="2134187" cy="418171"/>
              <a:chOff x="1973" y="2532"/>
              <a:chExt cx="1451" cy="308"/>
            </a:xfrm>
          </p:grpSpPr>
          <p:sp>
            <p:nvSpPr>
              <p:cNvPr id="13" name="AutoShape 17"/>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14" name="Text Box 18"/>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2</a:t>
                </a:r>
              </a:p>
            </p:txBody>
          </p:sp>
        </p:grpSp>
      </p:grpSp>
      <p:grpSp>
        <p:nvGrpSpPr>
          <p:cNvPr id="15" name="组合 14"/>
          <p:cNvGrpSpPr/>
          <p:nvPr/>
        </p:nvGrpSpPr>
        <p:grpSpPr bwMode="auto">
          <a:xfrm>
            <a:off x="6062663" y="3249984"/>
            <a:ext cx="2139950" cy="839787"/>
            <a:chOff x="5242738" y="4391485"/>
            <a:chExt cx="2140071" cy="839059"/>
          </a:xfrm>
        </p:grpSpPr>
        <p:sp>
          <p:nvSpPr>
            <p:cNvPr id="16" name="Rectangle 4"/>
            <p:cNvSpPr>
              <a:spLocks noChangeArrowheads="1"/>
            </p:cNvSpPr>
            <p:nvPr/>
          </p:nvSpPr>
          <p:spPr bwMode="auto">
            <a:xfrm>
              <a:off x="5782536" y="4861249"/>
              <a:ext cx="1600273" cy="369295"/>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7" name="Rectangle 12"/>
            <p:cNvSpPr>
              <a:spLocks noChangeArrowheads="1"/>
            </p:cNvSpPr>
            <p:nvPr/>
          </p:nvSpPr>
          <p:spPr bwMode="auto">
            <a:xfrm>
              <a:off x="5242738" y="4859892"/>
              <a:ext cx="533915" cy="370652"/>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8" name="Group 19"/>
            <p:cNvGrpSpPr/>
            <p:nvPr/>
          </p:nvGrpSpPr>
          <p:grpSpPr bwMode="auto">
            <a:xfrm>
              <a:off x="5242738" y="4391485"/>
              <a:ext cx="2134188" cy="418172"/>
              <a:chOff x="1973" y="2532"/>
              <a:chExt cx="1451" cy="308"/>
            </a:xfrm>
          </p:grpSpPr>
          <p:sp>
            <p:nvSpPr>
              <p:cNvPr id="19" name="AutoShape 20"/>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99"/>
                  </a:solidFill>
                  <a:ea typeface="宋体" panose="02010600030101010101" pitchFamily="2" charset="-122"/>
                </a:endParaRPr>
              </a:p>
            </p:txBody>
          </p:sp>
          <p:sp>
            <p:nvSpPr>
              <p:cNvPr id="20" name="Text Box 21"/>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3</a:t>
                </a:r>
              </a:p>
            </p:txBody>
          </p:sp>
        </p:grpSp>
      </p:grpSp>
    </p:spTree>
    <p:extLst>
      <p:ext uri="{BB962C8B-B14F-4D97-AF65-F5344CB8AC3E}">
        <p14:creationId xmlns:p14="http://schemas.microsoft.com/office/powerpoint/2010/main" val="30905559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par>
                          <p:cTn id="11" fill="hold">
                            <p:stCondLst>
                              <p:cond delay="0"/>
                            </p:stCondLst>
                            <p:childTnLst>
                              <p:par>
                                <p:cTn id="12" presetID="2" presetClass="exit" presetSubtype="8" fill="hold" nodeType="afterEffect">
                                  <p:stCondLst>
                                    <p:cond delay="1000"/>
                                  </p:stCondLst>
                                  <p:childTnLst>
                                    <p:anim calcmode="lin" valueType="num">
                                      <p:cBhvr additive="base">
                                        <p:cTn id="13" dur="2000"/>
                                        <p:tgtEl>
                                          <p:spTgt spid="3"/>
                                        </p:tgtEl>
                                        <p:attrNameLst>
                                          <p:attrName>ppt_x</p:attrName>
                                        </p:attrNameLst>
                                      </p:cBhvr>
                                      <p:tavLst>
                                        <p:tav tm="0">
                                          <p:val>
                                            <p:strVal val="ppt_x"/>
                                          </p:val>
                                        </p:tav>
                                        <p:tav tm="100000">
                                          <p:val>
                                            <p:strVal val="0-ppt_w/2"/>
                                          </p:val>
                                        </p:tav>
                                      </p:tavLst>
                                    </p:anim>
                                    <p:anim calcmode="lin" valueType="num">
                                      <p:cBhvr additive="base">
                                        <p:cTn id="14" dur="2000"/>
                                        <p:tgtEl>
                                          <p:spTgt spid="3"/>
                                        </p:tgtEl>
                                        <p:attrNameLst>
                                          <p:attrName>ppt_y</p:attrName>
                                        </p:attrNameLst>
                                      </p:cBhvr>
                                      <p:tavLst>
                                        <p:tav tm="0">
                                          <p:val>
                                            <p:strVal val="ppt_y"/>
                                          </p:val>
                                        </p:tav>
                                        <p:tav tm="100000">
                                          <p:val>
                                            <p:strVal val="ppt_y"/>
                                          </p:val>
                                        </p:tav>
                                      </p:tavLst>
                                    </p:anim>
                                    <p:set>
                                      <p:cBhvr>
                                        <p:cTn id="15" dur="1" fill="hold">
                                          <p:stCondLst>
                                            <p:cond delay="1999"/>
                                          </p:stCondLst>
                                        </p:cTn>
                                        <p:tgtEl>
                                          <p:spTgt spid="3"/>
                                        </p:tgtEl>
                                        <p:attrNameLst>
                                          <p:attrName>style.visibility</p:attrName>
                                        </p:attrNameLst>
                                      </p:cBhvr>
                                      <p:to>
                                        <p:strVal val="hidden"/>
                                      </p:to>
                                    </p:set>
                                  </p:childTnLst>
                                </p:cTn>
                              </p:par>
                            </p:childTnLst>
                          </p:cTn>
                        </p:par>
                        <p:par>
                          <p:cTn id="16" fill="hold">
                            <p:stCondLst>
                              <p:cond delay="3000"/>
                            </p:stCondLst>
                            <p:childTnLst>
                              <p:par>
                                <p:cTn id="17" presetID="2" presetClass="exit" presetSubtype="8" fill="hold" nodeType="afterEffect">
                                  <p:stCondLst>
                                    <p:cond delay="250"/>
                                  </p:stCondLst>
                                  <p:childTnLst>
                                    <p:anim calcmode="lin" valueType="num">
                                      <p:cBhvr additive="base">
                                        <p:cTn id="18" dur="2000"/>
                                        <p:tgtEl>
                                          <p:spTgt spid="9"/>
                                        </p:tgtEl>
                                        <p:attrNameLst>
                                          <p:attrName>ppt_x</p:attrName>
                                        </p:attrNameLst>
                                      </p:cBhvr>
                                      <p:tavLst>
                                        <p:tav tm="0">
                                          <p:val>
                                            <p:strVal val="ppt_x"/>
                                          </p:val>
                                        </p:tav>
                                        <p:tav tm="100000">
                                          <p:val>
                                            <p:strVal val="0-ppt_w/2"/>
                                          </p:val>
                                        </p:tav>
                                      </p:tavLst>
                                    </p:anim>
                                    <p:anim calcmode="lin" valueType="num">
                                      <p:cBhvr additive="base">
                                        <p:cTn id="19" dur="2000"/>
                                        <p:tgtEl>
                                          <p:spTgt spid="9"/>
                                        </p:tgtEl>
                                        <p:attrNameLst>
                                          <p:attrName>ppt_y</p:attrName>
                                        </p:attrNameLst>
                                      </p:cBhvr>
                                      <p:tavLst>
                                        <p:tav tm="0">
                                          <p:val>
                                            <p:strVal val="ppt_y"/>
                                          </p:val>
                                        </p:tav>
                                        <p:tav tm="100000">
                                          <p:val>
                                            <p:strVal val="ppt_y"/>
                                          </p:val>
                                        </p:tav>
                                      </p:tavLst>
                                    </p:anim>
                                    <p:set>
                                      <p:cBhvr>
                                        <p:cTn id="20" dur="1" fill="hold">
                                          <p:stCondLst>
                                            <p:cond delay="1999"/>
                                          </p:stCondLst>
                                        </p:cTn>
                                        <p:tgtEl>
                                          <p:spTgt spid="9"/>
                                        </p:tgtEl>
                                        <p:attrNameLst>
                                          <p:attrName>style.visibility</p:attrName>
                                        </p:attrNameLst>
                                      </p:cBhvr>
                                      <p:to>
                                        <p:strVal val="hidden"/>
                                      </p:to>
                                    </p:set>
                                  </p:childTnLst>
                                </p:cTn>
                              </p:par>
                            </p:childTnLst>
                          </p:cTn>
                        </p:par>
                        <p:par>
                          <p:cTn id="21" fill="hold">
                            <p:stCondLst>
                              <p:cond delay="5250"/>
                            </p:stCondLst>
                            <p:childTnLst>
                              <p:par>
                                <p:cTn id="22" presetID="2" presetClass="exit" presetSubtype="8" fill="hold" nodeType="afterEffect">
                                  <p:stCondLst>
                                    <p:cond delay="250"/>
                                  </p:stCondLst>
                                  <p:childTnLst>
                                    <p:anim calcmode="lin" valueType="num">
                                      <p:cBhvr additive="base">
                                        <p:cTn id="23" dur="2000"/>
                                        <p:tgtEl>
                                          <p:spTgt spid="15"/>
                                        </p:tgtEl>
                                        <p:attrNameLst>
                                          <p:attrName>ppt_x</p:attrName>
                                        </p:attrNameLst>
                                      </p:cBhvr>
                                      <p:tavLst>
                                        <p:tav tm="0">
                                          <p:val>
                                            <p:strVal val="ppt_x"/>
                                          </p:val>
                                        </p:tav>
                                        <p:tav tm="100000">
                                          <p:val>
                                            <p:strVal val="0-ppt_w/2"/>
                                          </p:val>
                                        </p:tav>
                                      </p:tavLst>
                                    </p:anim>
                                    <p:anim calcmode="lin" valueType="num">
                                      <p:cBhvr additive="base">
                                        <p:cTn id="24" dur="2000"/>
                                        <p:tgtEl>
                                          <p:spTgt spid="15"/>
                                        </p:tgtEl>
                                        <p:attrNameLst>
                                          <p:attrName>ppt_y</p:attrName>
                                        </p:attrNameLst>
                                      </p:cBhvr>
                                      <p:tavLst>
                                        <p:tav tm="0">
                                          <p:val>
                                            <p:strVal val="ppt_y"/>
                                          </p:val>
                                        </p:tav>
                                        <p:tav tm="100000">
                                          <p:val>
                                            <p:strVal val="ppt_y"/>
                                          </p:val>
                                        </p:tav>
                                      </p:tavLst>
                                    </p:anim>
                                    <p:set>
                                      <p:cBhvr>
                                        <p:cTn id="25" dur="1" fill="hold">
                                          <p:stCondLst>
                                            <p:cond delay="1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181013" y="1478417"/>
            <a:ext cx="191551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5" name="Rectangle 10"/>
          <p:cNvSpPr>
            <a:spLocks noChangeArrowheads="1"/>
          </p:cNvSpPr>
          <p:nvPr/>
        </p:nvSpPr>
        <p:spPr bwMode="auto">
          <a:xfrm>
            <a:off x="1647613" y="147841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6" name="Group 13"/>
          <p:cNvGrpSpPr>
            <a:grpSpLocks/>
          </p:cNvGrpSpPr>
          <p:nvPr/>
        </p:nvGrpSpPr>
        <p:grpSpPr bwMode="auto">
          <a:xfrm>
            <a:off x="1666609" y="1006931"/>
            <a:ext cx="2429157" cy="433780"/>
            <a:chOff x="1973" y="2532"/>
            <a:chExt cx="1652" cy="320"/>
          </a:xfrm>
        </p:grpSpPr>
        <p:sp>
          <p:nvSpPr>
            <p:cNvPr id="7" name="AutoShape 14"/>
            <p:cNvSpPr>
              <a:spLocks/>
            </p:cNvSpPr>
            <p:nvPr/>
          </p:nvSpPr>
          <p:spPr bwMode="auto">
            <a:xfrm rot="5400000">
              <a:off x="2748" y="1975"/>
              <a:ext cx="102"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8" name="Text Box 15"/>
            <p:cNvSpPr txBox="1">
              <a:spLocks noChangeArrowheads="1"/>
            </p:cNvSpPr>
            <p:nvPr/>
          </p:nvSpPr>
          <p:spPr bwMode="auto">
            <a:xfrm>
              <a:off x="2561"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1</a:t>
              </a:r>
            </a:p>
          </p:txBody>
        </p:sp>
      </p:grpSp>
      <p:sp>
        <p:nvSpPr>
          <p:cNvPr id="9" name="Rectangle 3"/>
          <p:cNvSpPr>
            <a:spLocks noChangeArrowheads="1"/>
          </p:cNvSpPr>
          <p:nvPr/>
        </p:nvSpPr>
        <p:spPr bwMode="auto">
          <a:xfrm>
            <a:off x="4097123" y="2121577"/>
            <a:ext cx="191543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0" name="Rectangle 11"/>
          <p:cNvSpPr>
            <a:spLocks noChangeArrowheads="1"/>
          </p:cNvSpPr>
          <p:nvPr/>
        </p:nvSpPr>
        <p:spPr bwMode="auto">
          <a:xfrm>
            <a:off x="3563723" y="212157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1" name="Group 16"/>
          <p:cNvGrpSpPr>
            <a:grpSpLocks/>
          </p:cNvGrpSpPr>
          <p:nvPr/>
        </p:nvGrpSpPr>
        <p:grpSpPr bwMode="auto">
          <a:xfrm>
            <a:off x="3565193" y="1640571"/>
            <a:ext cx="2429157" cy="457201"/>
            <a:chOff x="1974" y="2532"/>
            <a:chExt cx="1652" cy="336"/>
          </a:xfrm>
        </p:grpSpPr>
        <p:sp>
          <p:nvSpPr>
            <p:cNvPr id="12" name="AutoShape 17"/>
            <p:cNvSpPr>
              <a:spLocks/>
            </p:cNvSpPr>
            <p:nvPr/>
          </p:nvSpPr>
          <p:spPr bwMode="auto">
            <a:xfrm rot="5400000">
              <a:off x="2734" y="1977"/>
              <a:ext cx="131"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3" name="Text Box 18"/>
            <p:cNvSpPr txBox="1">
              <a:spLocks noChangeArrowheads="1"/>
            </p:cNvSpPr>
            <p:nvPr/>
          </p:nvSpPr>
          <p:spPr bwMode="auto">
            <a:xfrm>
              <a:off x="254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2</a:t>
              </a:r>
            </a:p>
          </p:txBody>
        </p:sp>
      </p:grpSp>
      <p:sp>
        <p:nvSpPr>
          <p:cNvPr id="14" name="Rectangle 4"/>
          <p:cNvSpPr>
            <a:spLocks noChangeArrowheads="1"/>
          </p:cNvSpPr>
          <p:nvPr/>
        </p:nvSpPr>
        <p:spPr bwMode="auto">
          <a:xfrm>
            <a:off x="6000583" y="2735394"/>
            <a:ext cx="1915512" cy="369888"/>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5" name="Rectangle 12"/>
          <p:cNvSpPr>
            <a:spLocks noChangeArrowheads="1"/>
          </p:cNvSpPr>
          <p:nvPr/>
        </p:nvSpPr>
        <p:spPr bwMode="auto">
          <a:xfrm>
            <a:off x="5460833" y="2733807"/>
            <a:ext cx="533400" cy="371475"/>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6" name="Group 19"/>
          <p:cNvGrpSpPr>
            <a:grpSpLocks/>
          </p:cNvGrpSpPr>
          <p:nvPr/>
        </p:nvGrpSpPr>
        <p:grpSpPr bwMode="auto">
          <a:xfrm>
            <a:off x="5460833" y="2265497"/>
            <a:ext cx="2455262" cy="437795"/>
            <a:chOff x="1973" y="2532"/>
            <a:chExt cx="1451" cy="327"/>
          </a:xfrm>
        </p:grpSpPr>
        <p:sp>
          <p:nvSpPr>
            <p:cNvPr id="17" name="AutoShape 20"/>
            <p:cNvSpPr>
              <a:spLocks/>
            </p:cNvSpPr>
            <p:nvPr/>
          </p:nvSpPr>
          <p:spPr bwMode="auto">
            <a:xfrm rot="5400000">
              <a:off x="2644" y="2079"/>
              <a:ext cx="109" cy="1451"/>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99"/>
                </a:solidFill>
              </a:endParaRPr>
            </a:p>
          </p:txBody>
        </p:sp>
        <p:sp>
          <p:nvSpPr>
            <p:cNvPr id="18" name="Text Box 21"/>
            <p:cNvSpPr txBox="1">
              <a:spLocks noChangeArrowheads="1"/>
            </p:cNvSpPr>
            <p:nvPr/>
          </p:nvSpPr>
          <p:spPr bwMode="auto">
            <a:xfrm>
              <a:off x="2504" y="2532"/>
              <a:ext cx="483" cy="22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3</a:t>
              </a:r>
            </a:p>
          </p:txBody>
        </p:sp>
      </p:grpSp>
      <p:grpSp>
        <p:nvGrpSpPr>
          <p:cNvPr id="22" name="组合 21"/>
          <p:cNvGrpSpPr/>
          <p:nvPr/>
        </p:nvGrpSpPr>
        <p:grpSpPr bwMode="auto">
          <a:xfrm>
            <a:off x="2095472" y="3904552"/>
            <a:ext cx="5907387" cy="830208"/>
            <a:chOff x="1757943" y="3576228"/>
            <a:chExt cx="5908307" cy="830260"/>
          </a:xfrm>
        </p:grpSpPr>
        <p:grpSp>
          <p:nvGrpSpPr>
            <p:cNvPr id="23" name="组合 8"/>
            <p:cNvGrpSpPr/>
            <p:nvPr/>
          </p:nvGrpSpPr>
          <p:grpSpPr bwMode="auto">
            <a:xfrm>
              <a:off x="1843809" y="3576228"/>
              <a:ext cx="5741101" cy="830260"/>
              <a:chOff x="1843809" y="3576228"/>
              <a:chExt cx="5741101" cy="830260"/>
            </a:xfrm>
          </p:grpSpPr>
          <p:cxnSp>
            <p:nvCxnSpPr>
              <p:cNvPr id="25" name="直接连接符 10"/>
              <p:cNvCxnSpPr>
                <a:cxnSpLocks noChangeShapeType="1"/>
              </p:cNvCxnSpPr>
              <p:nvPr/>
            </p:nvCxnSpPr>
            <p:spPr bwMode="auto">
              <a:xfrm>
                <a:off x="1845529" y="3997434"/>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11"/>
              <p:cNvCxnSpPr>
                <a:cxnSpLocks noChangeShapeType="1"/>
              </p:cNvCxnSpPr>
              <p:nvPr/>
            </p:nvCxnSpPr>
            <p:spPr bwMode="auto">
              <a:xfrm>
                <a:off x="7584910" y="3997437"/>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 name="Group 5"/>
              <p:cNvGrpSpPr/>
              <p:nvPr/>
            </p:nvGrpSpPr>
            <p:grpSpPr bwMode="auto">
              <a:xfrm>
                <a:off x="1843809" y="4068350"/>
                <a:ext cx="5740664" cy="338138"/>
                <a:chOff x="1247" y="2334"/>
                <a:chExt cx="3338" cy="213"/>
              </a:xfrm>
            </p:grpSpPr>
            <p:sp>
              <p:nvSpPr>
                <p:cNvPr id="33" name="Line 6"/>
                <p:cNvSpPr>
                  <a:spLocks noChangeShapeType="1"/>
                </p:cNvSpPr>
                <p:nvPr/>
              </p:nvSpPr>
              <p:spPr bwMode="auto">
                <a:xfrm>
                  <a:off x="1247" y="2428"/>
                  <a:ext cx="3338" cy="0"/>
                </a:xfrm>
                <a:prstGeom prst="line">
                  <a:avLst/>
                </a:prstGeom>
                <a:noFill/>
                <a:ln w="28575">
                  <a:solidFill>
                    <a:srgbClr val="00B05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34" name="Text Box 7"/>
                <p:cNvSpPr txBox="1">
                  <a:spLocks noChangeArrowheads="1"/>
                </p:cNvSpPr>
                <p:nvPr/>
              </p:nvSpPr>
              <p:spPr bwMode="auto">
                <a:xfrm>
                  <a:off x="2874" y="2334"/>
                  <a:ext cx="346" cy="2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prstClr val="black"/>
                      </a:solidFill>
                      <a:latin typeface="微软雅黑" panose="020B0503020204020204" pitchFamily="34" charset="-122"/>
                      <a:ea typeface="微软雅黑" panose="020B0503020204020204" pitchFamily="34" charset="-122"/>
                    </a:rPr>
                    <a:t>报文</a:t>
                  </a:r>
                </a:p>
              </p:txBody>
            </p:sp>
          </p:grpSp>
          <p:grpSp>
            <p:nvGrpSpPr>
              <p:cNvPr id="28" name="Group 24"/>
              <p:cNvGrpSpPr/>
              <p:nvPr/>
            </p:nvGrpSpPr>
            <p:grpSpPr bwMode="auto">
              <a:xfrm>
                <a:off x="1843809" y="3576228"/>
                <a:ext cx="5740664" cy="431800"/>
                <a:chOff x="1247" y="2931"/>
                <a:chExt cx="3338" cy="272"/>
              </a:xfrm>
            </p:grpSpPr>
            <p:sp>
              <p:nvSpPr>
                <p:cNvPr id="29" name="Rectangle 25"/>
                <p:cNvSpPr>
                  <a:spLocks noChangeArrowheads="1"/>
                </p:cNvSpPr>
                <p:nvPr/>
              </p:nvSpPr>
              <p:spPr bwMode="auto">
                <a:xfrm>
                  <a:off x="1248"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0" name="Rectangle 26"/>
                <p:cNvSpPr>
                  <a:spLocks noChangeArrowheads="1"/>
                </p:cNvSpPr>
                <p:nvPr/>
              </p:nvSpPr>
              <p:spPr bwMode="auto">
                <a:xfrm>
                  <a:off x="2336"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1" name="Rectangle 27"/>
                <p:cNvSpPr>
                  <a:spLocks noChangeArrowheads="1"/>
                </p:cNvSpPr>
                <p:nvPr/>
              </p:nvSpPr>
              <p:spPr bwMode="auto">
                <a:xfrm>
                  <a:off x="3425" y="2931"/>
                  <a:ext cx="1088" cy="272"/>
                </a:xfrm>
                <a:prstGeom prst="rect">
                  <a:avLst/>
                </a:prstGeom>
                <a:solidFill>
                  <a:srgbClr val="CDF3CD"/>
                </a:solidFill>
                <a:ln w="19050">
                  <a:solidFill>
                    <a:srgbClr val="00CC00"/>
                  </a:solidFill>
                  <a:miter lim="800000"/>
                </a:ln>
              </p:spPr>
              <p:txBody>
                <a:bodyPr wrap="none" anchor="ctr"/>
                <a:lstStyle/>
                <a:p>
                  <a:endParaRPr lang="zh-CN" altLang="zh-CN" b="1">
                    <a:solidFill>
                      <a:srgbClr val="000099"/>
                    </a:solidFill>
                    <a:ea typeface="宋体" panose="02010600030101010101" pitchFamily="2" charset="-122"/>
                  </a:endParaRPr>
                </a:p>
              </p:txBody>
            </p:sp>
            <p:sp>
              <p:nvSpPr>
                <p:cNvPr id="32" name="Rectangle 28"/>
                <p:cNvSpPr>
                  <a:spLocks noChangeArrowheads="1"/>
                </p:cNvSpPr>
                <p:nvPr/>
              </p:nvSpPr>
              <p:spPr bwMode="auto">
                <a:xfrm>
                  <a:off x="1247" y="2931"/>
                  <a:ext cx="3338" cy="272"/>
                </a:xfrm>
                <a:prstGeom prst="rect">
                  <a:avLst/>
                </a:prstGeom>
                <a:solidFill>
                  <a:srgbClr val="CDF3CD"/>
                </a:solidFill>
                <a:ln w="19050">
                  <a:solidFill>
                    <a:srgbClr val="00CC00"/>
                  </a:solidFill>
                  <a:miter lim="800000"/>
                </a:ln>
              </p:spPr>
              <p:txBody>
                <a:bodyPr wrap="none" anchor="ctr"/>
                <a:lstStyle/>
                <a:p>
                  <a:endParaRPr lang="zh-CN" altLang="en-US" b="1">
                    <a:solidFill>
                      <a:srgbClr val="000099"/>
                    </a:solidFill>
                    <a:ea typeface="宋体" panose="02010600030101010101" pitchFamily="2" charset="-122"/>
                  </a:endParaRPr>
                </a:p>
              </p:txBody>
            </p:sp>
          </p:grpSp>
        </p:grpSp>
        <p:sp>
          <p:nvSpPr>
            <p:cNvPr id="24" name="Text Box 29"/>
            <p:cNvSpPr txBox="1">
              <a:spLocks noChangeArrowheads="1"/>
            </p:cNvSpPr>
            <p:nvPr/>
          </p:nvSpPr>
          <p:spPr bwMode="auto">
            <a:xfrm>
              <a:off x="1757943" y="3596866"/>
              <a:ext cx="5908307" cy="41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en-US" altLang="zh-CN" sz="2100" b="1" dirty="0">
                  <a:solidFill>
                    <a:srgbClr val="0000FF"/>
                  </a:solidFill>
                </a:rPr>
                <a:t>110100011010101011010101110001001101001011</a:t>
              </a:r>
            </a:p>
          </p:txBody>
        </p:sp>
      </p:grpSp>
      <p:sp>
        <p:nvSpPr>
          <p:cNvPr id="41" name="下箭头 40"/>
          <p:cNvSpPr/>
          <p:nvPr/>
        </p:nvSpPr>
        <p:spPr>
          <a:xfrm>
            <a:off x="4987699" y="3662950"/>
            <a:ext cx="220039" cy="203063"/>
          </a:xfrm>
          <a:prstGeom prst="downArrow">
            <a:avLst/>
          </a:prstGeom>
          <a:solidFill>
            <a:srgbClr val="CC6600"/>
          </a:solidFill>
          <a:ln>
            <a:solidFill>
              <a:srgbClr val="CC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56478" y="2070415"/>
            <a:ext cx="2076133"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假定分组在传输过程中没有出现差错，在转发时也没有被丢弃。</a:t>
            </a:r>
          </a:p>
        </p:txBody>
      </p:sp>
      <p:sp>
        <p:nvSpPr>
          <p:cNvPr id="20" name="内容占位符 19">
            <a:extLst>
              <a:ext uri="{FF2B5EF4-FFF2-40B4-BE49-F238E27FC236}">
                <a16:creationId xmlns:a16="http://schemas.microsoft.com/office/drawing/2014/main" id="{3A9B0836-AD58-D4D1-3C33-9D7C4FE45C9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接收端收到分组后剥去首部，还原成原来的报文</a:t>
            </a:r>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par>
                          <p:cTn id="7" fill="hold">
                            <p:stCondLst>
                              <p:cond delay="0"/>
                            </p:stCondLst>
                            <p:childTnLst>
                              <p:par>
                                <p:cTn id="8" presetID="12" presetClass="exit" presetSubtype="8" fill="hold" grpId="0" nodeType="afterEffect">
                                  <p:stCondLst>
                                    <p:cond delay="500"/>
                                  </p:stCondLst>
                                  <p:childTnLst>
                                    <p:anim calcmode="lin" valueType="num">
                                      <p:cBhvr additive="base">
                                        <p:cTn id="9" dur="500"/>
                                        <p:tgtEl>
                                          <p:spTgt spid="5"/>
                                        </p:tgtEl>
                                        <p:attrNameLst>
                                          <p:attrName>ppt_x</p:attrName>
                                        </p:attrNameLst>
                                      </p:cBhvr>
                                      <p:tavLst>
                                        <p:tav tm="0">
                                          <p:val>
                                            <p:strVal val="#ppt_x"/>
                                          </p:val>
                                        </p:tav>
                                        <p:tav tm="100000">
                                          <p:val>
                                            <p:strVal val="#ppt_x-#ppt_w*1.125000"/>
                                          </p:val>
                                        </p:tav>
                                      </p:tavLst>
                                    </p:anim>
                                    <p:animEffect transition="out" filter="wipe(left)">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par>
                          <p:cTn id="12" fill="hold">
                            <p:stCondLst>
                              <p:cond delay="1000"/>
                            </p:stCondLst>
                            <p:childTnLst>
                              <p:par>
                                <p:cTn id="13" presetID="42" presetClass="path" presetSubtype="0" accel="50000" decel="50000" fill="hold" grpId="0" nodeType="afterEffect">
                                  <p:stCondLst>
                                    <p:cond delay="250"/>
                                  </p:stCondLst>
                                  <p:childTnLst>
                                    <p:animMotion origin="layout" path="M 8.33333E-7 1.85185E-6 L 8.33333E-7 0.33889 " pathEditMode="relative" rAng="0" ptsTypes="AA">
                                      <p:cBhvr>
                                        <p:cTn id="14" dur="2000" fill="hold"/>
                                        <p:tgtEl>
                                          <p:spTgt spid="4"/>
                                        </p:tgtEl>
                                        <p:attrNameLst>
                                          <p:attrName>ppt_x</p:attrName>
                                          <p:attrName>ppt_y</p:attrName>
                                        </p:attrNameLst>
                                      </p:cBhvr>
                                      <p:rCtr x="0" y="16944"/>
                                    </p:animMotion>
                                  </p:childTnLst>
                                </p:cTn>
                              </p:par>
                            </p:childTnLst>
                          </p:cTn>
                        </p:par>
                        <p:par>
                          <p:cTn id="15" fill="hold">
                            <p:stCondLst>
                              <p:cond delay="3250"/>
                            </p:stCondLst>
                            <p:childTnLst>
                              <p:par>
                                <p:cTn id="16" presetID="1" presetClass="exit" presetSubtype="0" fill="hold" nodeType="afterEffect">
                                  <p:stCondLst>
                                    <p:cond delay="500"/>
                                  </p:stCondLst>
                                  <p:childTnLst>
                                    <p:set>
                                      <p:cBhvr>
                                        <p:cTn id="17" dur="1" fill="hold">
                                          <p:stCondLst>
                                            <p:cond delay="0"/>
                                          </p:stCondLst>
                                        </p:cTn>
                                        <p:tgtEl>
                                          <p:spTgt spid="11"/>
                                        </p:tgtEl>
                                        <p:attrNameLst>
                                          <p:attrName>style.visibility</p:attrName>
                                        </p:attrNameLst>
                                      </p:cBhvr>
                                      <p:to>
                                        <p:strVal val="hidden"/>
                                      </p:to>
                                    </p:set>
                                  </p:childTnLst>
                                </p:cTn>
                              </p:par>
                            </p:childTnLst>
                          </p:cTn>
                        </p:par>
                        <p:par>
                          <p:cTn id="18" fill="hold">
                            <p:stCondLst>
                              <p:cond delay="3750"/>
                            </p:stCondLst>
                            <p:childTnLst>
                              <p:par>
                                <p:cTn id="19" presetID="12" presetClass="exit" presetSubtype="8" fill="hold" grpId="0" nodeType="afterEffect">
                                  <p:stCondLst>
                                    <p:cond delay="500"/>
                                  </p:stCondLst>
                                  <p:childTnLst>
                                    <p:anim calcmode="lin" valueType="num">
                                      <p:cBhvr additive="base">
                                        <p:cTn id="20" dur="500"/>
                                        <p:tgtEl>
                                          <p:spTgt spid="10"/>
                                        </p:tgtEl>
                                        <p:attrNameLst>
                                          <p:attrName>ppt_x</p:attrName>
                                        </p:attrNameLst>
                                      </p:cBhvr>
                                      <p:tavLst>
                                        <p:tav tm="0">
                                          <p:val>
                                            <p:strVal val="#ppt_x"/>
                                          </p:val>
                                        </p:tav>
                                        <p:tav tm="100000">
                                          <p:val>
                                            <p:strVal val="#ppt_x-#ppt_w*1.125000"/>
                                          </p:val>
                                        </p:tav>
                                      </p:tavLst>
                                    </p:anim>
                                    <p:animEffect transition="out" filter="wipe(left)">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childTnLst>
                          </p:cTn>
                        </p:par>
                        <p:par>
                          <p:cTn id="23" fill="hold">
                            <p:stCondLst>
                              <p:cond delay="4750"/>
                            </p:stCondLst>
                            <p:childTnLst>
                              <p:par>
                                <p:cTn id="24" presetID="42" presetClass="path" presetSubtype="0" accel="50000" decel="50000" fill="hold" grpId="0" nodeType="afterEffect">
                                  <p:stCondLst>
                                    <p:cond delay="250"/>
                                  </p:stCondLst>
                                  <p:childTnLst>
                                    <p:animMotion origin="layout" path="M 2.22222E-6 1.85185E-6 L 2.22222E-6 0.21389 " pathEditMode="relative" rAng="0" ptsTypes="AA">
                                      <p:cBhvr>
                                        <p:cTn id="25" dur="2000" fill="hold"/>
                                        <p:tgtEl>
                                          <p:spTgt spid="9"/>
                                        </p:tgtEl>
                                        <p:attrNameLst>
                                          <p:attrName>ppt_x</p:attrName>
                                          <p:attrName>ppt_y</p:attrName>
                                        </p:attrNameLst>
                                      </p:cBhvr>
                                      <p:rCtr x="0" y="10679"/>
                                    </p:animMotion>
                                  </p:childTnLst>
                                </p:cTn>
                              </p:par>
                            </p:childTnLst>
                          </p:cTn>
                        </p:par>
                        <p:par>
                          <p:cTn id="26" fill="hold">
                            <p:stCondLst>
                              <p:cond delay="7000"/>
                            </p:stCondLst>
                            <p:childTnLst>
                              <p:par>
                                <p:cTn id="27" presetID="1" presetClass="exit" presetSubtype="0" fill="hold" nodeType="afterEffect">
                                  <p:stCondLst>
                                    <p:cond delay="500"/>
                                  </p:stCondLst>
                                  <p:childTnLst>
                                    <p:set>
                                      <p:cBhvr>
                                        <p:cTn id="28" dur="1" fill="hold">
                                          <p:stCondLst>
                                            <p:cond delay="0"/>
                                          </p:stCondLst>
                                        </p:cTn>
                                        <p:tgtEl>
                                          <p:spTgt spid="16"/>
                                        </p:tgtEl>
                                        <p:attrNameLst>
                                          <p:attrName>style.visibility</p:attrName>
                                        </p:attrNameLst>
                                      </p:cBhvr>
                                      <p:to>
                                        <p:strVal val="hidden"/>
                                      </p:to>
                                    </p:set>
                                  </p:childTnLst>
                                </p:cTn>
                              </p:par>
                            </p:childTnLst>
                          </p:cTn>
                        </p:par>
                        <p:par>
                          <p:cTn id="29" fill="hold">
                            <p:stCondLst>
                              <p:cond delay="7500"/>
                            </p:stCondLst>
                            <p:childTnLst>
                              <p:par>
                                <p:cTn id="30" presetID="12" presetClass="exit" presetSubtype="8" fill="hold" grpId="0" nodeType="afterEffect">
                                  <p:stCondLst>
                                    <p:cond delay="500"/>
                                  </p:stCondLst>
                                  <p:childTnLst>
                                    <p:anim calcmode="lin" valueType="num">
                                      <p:cBhvr additive="base">
                                        <p:cTn id="31" dur="500"/>
                                        <p:tgtEl>
                                          <p:spTgt spid="15"/>
                                        </p:tgtEl>
                                        <p:attrNameLst>
                                          <p:attrName>ppt_x</p:attrName>
                                        </p:attrNameLst>
                                      </p:cBhvr>
                                      <p:tavLst>
                                        <p:tav tm="0">
                                          <p:val>
                                            <p:strVal val="#ppt_x"/>
                                          </p:val>
                                        </p:tav>
                                        <p:tav tm="100000">
                                          <p:val>
                                            <p:strVal val="#ppt_x-#ppt_w*1.125000"/>
                                          </p:val>
                                        </p:tav>
                                      </p:tavLst>
                                    </p:anim>
                                    <p:animEffect transition="out" filter="wipe(left)">
                                      <p:cBhvr>
                                        <p:cTn id="32" dur="500"/>
                                        <p:tgtEl>
                                          <p:spTgt spid="15"/>
                                        </p:tgtEl>
                                      </p:cBhvr>
                                    </p:animEffect>
                                    <p:set>
                                      <p:cBhvr>
                                        <p:cTn id="33" dur="1" fill="hold">
                                          <p:stCondLst>
                                            <p:cond delay="499"/>
                                          </p:stCondLst>
                                        </p:cTn>
                                        <p:tgtEl>
                                          <p:spTgt spid="15"/>
                                        </p:tgtEl>
                                        <p:attrNameLst>
                                          <p:attrName>style.visibility</p:attrName>
                                        </p:attrNameLst>
                                      </p:cBhvr>
                                      <p:to>
                                        <p:strVal val="hidden"/>
                                      </p:to>
                                    </p:set>
                                  </p:childTnLst>
                                </p:cTn>
                              </p:par>
                            </p:childTnLst>
                          </p:cTn>
                        </p:par>
                        <p:par>
                          <p:cTn id="34" fill="hold">
                            <p:stCondLst>
                              <p:cond delay="8500"/>
                            </p:stCondLst>
                            <p:childTnLst>
                              <p:par>
                                <p:cTn id="35" presetID="42" presetClass="path" presetSubtype="0" accel="50000" decel="50000" fill="hold" grpId="0" nodeType="afterEffect">
                                  <p:stCondLst>
                                    <p:cond delay="250"/>
                                  </p:stCondLst>
                                  <p:childTnLst>
                                    <p:animMotion origin="layout" path="M 2.5E-6 -2.59259E-6 L 2.5E-6 0.09445 " pathEditMode="relative" rAng="0" ptsTypes="AA">
                                      <p:cBhvr>
                                        <p:cTn id="36" dur="2000" fill="hold"/>
                                        <p:tgtEl>
                                          <p:spTgt spid="14"/>
                                        </p:tgtEl>
                                        <p:attrNameLst>
                                          <p:attrName>ppt_x</p:attrName>
                                          <p:attrName>ppt_y</p:attrName>
                                        </p:attrNameLst>
                                      </p:cBhvr>
                                      <p:rCtr x="0" y="4722"/>
                                    </p:animMotion>
                                  </p:childTnLst>
                                </p:cTn>
                              </p:par>
                            </p:childTnLst>
                          </p:cTn>
                        </p:par>
                        <p:par>
                          <p:cTn id="37" fill="hold">
                            <p:stCondLst>
                              <p:cond delay="10750"/>
                            </p:stCondLst>
                            <p:childTnLst>
                              <p:par>
                                <p:cTn id="38" presetID="22" presetClass="entr" presetSubtype="1" fill="hold" grpId="0" nodeType="after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wipe(up)">
                                      <p:cBhvr>
                                        <p:cTn id="40" dur="500"/>
                                        <p:tgtEl>
                                          <p:spTgt spid="41"/>
                                        </p:tgtEl>
                                      </p:cBhvr>
                                    </p:animEffect>
                                  </p:childTnLst>
                                </p:cTn>
                              </p:par>
                            </p:childTnLst>
                          </p:cTn>
                        </p:par>
                        <p:par>
                          <p:cTn id="41" fill="hold">
                            <p:stCondLst>
                              <p:cond delay="11250"/>
                            </p:stCondLst>
                            <p:childTnLst>
                              <p:par>
                                <p:cTn id="42" presetID="10" presetClass="entr" presetSubtype="0" fill="hold" nodeType="afterEffect">
                                  <p:stCondLst>
                                    <p:cond delay="5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9" grpId="0" animBg="1"/>
      <p:bldP spid="10" grpId="0" animBg="1"/>
      <p:bldP spid="14" grpId="0" animBg="1"/>
      <p:bldP spid="15" grpId="0" animBg="1"/>
      <p:bldP spid="41"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根据首部中包含的目的地址、源地址等重要控制信息进行转发。</a:t>
            </a:r>
            <a:endParaRPr lang="en-US" altLang="zh-CN" dirty="0"/>
          </a:p>
          <a:p>
            <a:r>
              <a:rPr lang="zh-CN" altLang="en-US" dirty="0"/>
              <a:t>每一个分组在互联网中独立选择传输路径。</a:t>
            </a:r>
            <a:endParaRPr lang="en-US" altLang="zh-CN" dirty="0"/>
          </a:p>
          <a:p>
            <a:r>
              <a:rPr lang="zh-CN" altLang="en-US" dirty="0"/>
              <a:t>位于网络核心部分的路由器负责转发分组，即进行分组交换。</a:t>
            </a:r>
            <a:endParaRPr lang="en-US" altLang="zh-CN" dirty="0"/>
          </a:p>
          <a:p>
            <a:r>
              <a:rPr lang="zh-CN" altLang="en-US" dirty="0"/>
              <a:t>路由器要创建和动态维护转发表。</a:t>
            </a:r>
            <a:endParaRPr lang="en-US" altLang="zh-CN" dirty="0"/>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分组在互联网中的转发</a:t>
            </a:r>
          </a:p>
        </p:txBody>
      </p:sp>
      <p:grpSp>
        <p:nvGrpSpPr>
          <p:cNvPr id="4" name="组合 3"/>
          <p:cNvGrpSpPr/>
          <p:nvPr/>
        </p:nvGrpSpPr>
        <p:grpSpPr>
          <a:xfrm>
            <a:off x="5286100" y="1171805"/>
            <a:ext cx="2682240" cy="3126677"/>
            <a:chOff x="5286100" y="1171805"/>
            <a:chExt cx="2682240" cy="3126677"/>
          </a:xfrm>
        </p:grpSpPr>
        <p:sp>
          <p:nvSpPr>
            <p:cNvPr id="5" name="圆角矩形 4"/>
            <p:cNvSpPr/>
            <p:nvPr/>
          </p:nvSpPr>
          <p:spPr>
            <a:xfrm>
              <a:off x="5286100" y="1171805"/>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暂存收到的分组。</a:t>
              </a:r>
            </a:p>
          </p:txBody>
        </p:sp>
        <p:sp>
          <p:nvSpPr>
            <p:cNvPr id="6" name="圆角矩形 5"/>
            <p:cNvSpPr/>
            <p:nvPr/>
          </p:nvSpPr>
          <p:spPr>
            <a:xfrm>
              <a:off x="5286100" y="1822612"/>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检查分组首部。</a:t>
              </a:r>
            </a:p>
          </p:txBody>
        </p:sp>
        <p:sp>
          <p:nvSpPr>
            <p:cNvPr id="7" name="圆角矩形 6"/>
            <p:cNvSpPr/>
            <p:nvPr/>
          </p:nvSpPr>
          <p:spPr>
            <a:xfrm>
              <a:off x="5286100" y="2488504"/>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查找转发表。</a:t>
              </a:r>
            </a:p>
          </p:txBody>
        </p:sp>
        <p:sp>
          <p:nvSpPr>
            <p:cNvPr id="8" name="圆角矩形 7"/>
            <p:cNvSpPr/>
            <p:nvPr/>
          </p:nvSpPr>
          <p:spPr>
            <a:xfrm>
              <a:off x="5286100" y="3154397"/>
              <a:ext cx="2682240" cy="664814"/>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r>
                <a:rPr lang="zh-CN" altLang="en-US" sz="1600" b="1" dirty="0">
                  <a:solidFill>
                    <a:srgbClr val="000099"/>
                  </a:solidFill>
                  <a:latin typeface="微软雅黑" panose="020B0503020204020204" pitchFamily="34" charset="-122"/>
                  <a:ea typeface="微软雅黑" panose="020B0503020204020204" pitchFamily="34" charset="-122"/>
                </a:rPr>
                <a:t>按照首部中的目的地址，找到合适的接口转发出去。</a:t>
              </a:r>
            </a:p>
          </p:txBody>
        </p:sp>
        <p:cxnSp>
          <p:nvCxnSpPr>
            <p:cNvPr id="10" name="直接箭头连接符 9"/>
            <p:cNvCxnSpPr>
              <a:stCxn id="5" idx="2"/>
              <a:endCxn id="6" idx="0"/>
            </p:cNvCxnSpPr>
            <p:nvPr/>
          </p:nvCxnSpPr>
          <p:spPr>
            <a:xfrm>
              <a:off x="6627220" y="1554982"/>
              <a:ext cx="0" cy="267630"/>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a:stCxn id="6" idx="2"/>
              <a:endCxn id="7" idx="0"/>
            </p:cNvCxnSpPr>
            <p:nvPr/>
          </p:nvCxnSpPr>
          <p:spPr>
            <a:xfrm>
              <a:off x="6627220" y="2205789"/>
              <a:ext cx="0" cy="282715"/>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a:stCxn id="7" idx="2"/>
              <a:endCxn id="8" idx="0"/>
            </p:cNvCxnSpPr>
            <p:nvPr/>
          </p:nvCxnSpPr>
          <p:spPr>
            <a:xfrm>
              <a:off x="6627220" y="2871681"/>
              <a:ext cx="0" cy="282716"/>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zh-CN" altLang="en-US" sz="1600" b="1" dirty="0">
                  <a:latin typeface="微软雅黑" panose="020B0503020204020204" pitchFamily="34" charset="-122"/>
                  <a:ea typeface="微软雅黑" panose="020B0503020204020204" pitchFamily="34" charset="-122"/>
                </a:rPr>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4"/>
            <a:ext cx="8133857" cy="355688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4758" name="矩形 3"/>
          <p:cNvSpPr>
            <a:spLocks noChangeArrowheads="1"/>
          </p:cNvSpPr>
          <p:nvPr/>
        </p:nvSpPr>
        <p:spPr bwMode="auto">
          <a:xfrm>
            <a:off x="2773349" y="4276262"/>
            <a:ext cx="406320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(a) </a:t>
            </a:r>
            <a:r>
              <a:rPr kumimoji="1" lang="zh-CN" altLang="zh-CN" sz="1600" b="1" dirty="0">
                <a:latin typeface="微软雅黑" panose="020B0503020204020204" pitchFamily="34" charset="-122"/>
                <a:ea typeface="微软雅黑" panose="020B0503020204020204" pitchFamily="34" charset="-122"/>
              </a:rPr>
              <a:t>核心部分的路由器把网络互连起来</a:t>
            </a:r>
            <a:endParaRPr kumimoji="1" lang="zh-CN" altLang="en-US" sz="1600" b="1"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ln w="12700">
                  <a:solidFill>
                    <a:prstClr val="black"/>
                  </a:solidFill>
                </a:ln>
                <a:solidFill>
                  <a:srgbClr val="000099"/>
                </a:solidFill>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3"/>
            <a:ext cx="8133857" cy="35390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5782" name="矩形 3"/>
          <p:cNvSpPr>
            <a:spLocks noChangeArrowheads="1"/>
          </p:cNvSpPr>
          <p:nvPr/>
        </p:nvSpPr>
        <p:spPr bwMode="auto">
          <a:xfrm>
            <a:off x="2806002" y="4265099"/>
            <a:ext cx="38250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(b) </a:t>
            </a:r>
            <a:r>
              <a:rPr kumimoji="1" lang="zh-CN" altLang="zh-CN" sz="1600" b="1" dirty="0">
                <a:latin typeface="微软雅黑" panose="020B0503020204020204" pitchFamily="34" charset="-122"/>
                <a:ea typeface="微软雅黑" panose="020B0503020204020204" pitchFamily="34" charset="-122"/>
              </a:rPr>
              <a:t>核心部分</a:t>
            </a:r>
            <a:r>
              <a:rPr kumimoji="1" lang="zh-CN" altLang="en-US" sz="1600" b="1" dirty="0">
                <a:latin typeface="微软雅黑" panose="020B0503020204020204" pitchFamily="34" charset="-122"/>
                <a:ea typeface="微软雅黑" panose="020B0503020204020204" pitchFamily="34" charset="-122"/>
              </a:rPr>
              <a:t>中</a:t>
            </a:r>
            <a:r>
              <a:rPr kumimoji="1" lang="zh-CN" altLang="zh-CN" sz="1600" b="1" dirty="0">
                <a:latin typeface="微软雅黑" panose="020B0503020204020204" pitchFamily="34" charset="-122"/>
                <a:ea typeface="微软雅黑" panose="020B0503020204020204" pitchFamily="34" charset="-122"/>
              </a:rPr>
              <a:t>的</a:t>
            </a:r>
            <a:r>
              <a:rPr kumimoji="1" lang="zh-CN" altLang="en-US" sz="1600" b="1" dirty="0">
                <a:latin typeface="微软雅黑" panose="020B0503020204020204" pitchFamily="34" charset="-122"/>
                <a:ea typeface="微软雅黑" panose="020B0503020204020204" pitchFamily="34" charset="-122"/>
              </a:rPr>
              <a:t>网络</a:t>
            </a:r>
            <a:r>
              <a:rPr kumimoji="1" lang="zh-CN" altLang="zh-CN" sz="1600" b="1" dirty="0">
                <a:latin typeface="微软雅黑" panose="020B0503020204020204" pitchFamily="34" charset="-122"/>
                <a:ea typeface="微软雅黑" panose="020B0503020204020204" pitchFamily="34" charset="-122"/>
              </a:rPr>
              <a:t>可用一条链路表示</a:t>
            </a:r>
            <a:endParaRPr kumimoji="1" lang="zh-CN" altLang="en-US" sz="1600" b="1" dirty="0">
              <a:latin typeface="微软雅黑" panose="020B0503020204020204" pitchFamily="34" charset="-122"/>
              <a:ea typeface="微软雅黑" panose="020B0503020204020204" pitchFamily="34" charset="-122"/>
            </a:endParaRPr>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3" y="1143000"/>
            <a:ext cx="8133856"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1</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向 </a:t>
            </a:r>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5</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发送分组</a:t>
            </a:r>
          </a:p>
        </p:txBody>
      </p:sp>
      <p:sp>
        <p:nvSpPr>
          <p:cNvPr id="7" name="Text Box 99"/>
          <p:cNvSpPr txBox="1">
            <a:spLocks noChangeArrowheads="1"/>
          </p:cNvSpPr>
          <p:nvPr/>
        </p:nvSpPr>
        <p:spPr bwMode="auto">
          <a:xfrm>
            <a:off x="1000125" y="3690871"/>
            <a:ext cx="1899879" cy="338554"/>
          </a:xfrm>
          <a:prstGeom prst="rect">
            <a:avLst/>
          </a:prstGeom>
          <a:solidFill>
            <a:schemeClr val="bg1"/>
          </a:solidFill>
          <a:ln w="19050">
            <a:solidFill>
              <a:srgbClr val="339933"/>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2</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向 </a:t>
            </a:r>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6</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a:solidFill>
                  <a:srgbClr val="000099"/>
                </a:solidFill>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a:solidFill>
                  <a:schemeClr val="bg1"/>
                </a:solidFill>
                <a:latin typeface="Arial" panose="020B0604020202020204" pitchFamily="34" charset="0"/>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a:solidFill>
                <a:srgbClr val="00CC00"/>
              </a:solidFill>
              <a:latin typeface="Arial" panose="020B0604020202020204" pitchFamily="34" charset="0"/>
            </a:endParaRPr>
          </a:p>
        </p:txBody>
      </p:sp>
      <p:sp>
        <p:nvSpPr>
          <p:cNvPr id="9" name="内容占位符 8">
            <a:extLst>
              <a:ext uri="{FF2B5EF4-FFF2-40B4-BE49-F238E27FC236}">
                <a16:creationId xmlns:a16="http://schemas.microsoft.com/office/drawing/2014/main" id="{CD82D48E-807A-FFB6-7637-03390FC0B0A8}"/>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2" y="1179576"/>
            <a:ext cx="8133857"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4" name="Text Box 25"/>
          <p:cNvSpPr txBox="1">
            <a:spLocks noChangeArrowheads="1"/>
          </p:cNvSpPr>
          <p:nvPr/>
        </p:nvSpPr>
        <p:spPr bwMode="auto">
          <a:xfrm>
            <a:off x="1714500" y="2860675"/>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1</a:t>
            </a:r>
            <a:endParaRPr kumimoji="1" lang="en-US" altLang="zh-CN" b="1"/>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a:solidFill>
                  <a:srgbClr val="000099"/>
                </a:solidFill>
              </a:rPr>
              <a:t>C</a:t>
            </a:r>
          </a:p>
        </p:txBody>
      </p:sp>
      <p:sp>
        <p:nvSpPr>
          <p:cNvPr id="77851" name="Text Box 39"/>
          <p:cNvSpPr txBox="1">
            <a:spLocks noChangeArrowheads="1"/>
          </p:cNvSpPr>
          <p:nvPr/>
        </p:nvSpPr>
        <p:spPr bwMode="auto">
          <a:xfrm>
            <a:off x="6267450" y="3432175"/>
            <a:ext cx="407988"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5</a:t>
            </a:r>
            <a:endParaRPr kumimoji="1" lang="en-US" altLang="zh-CN" b="1"/>
          </a:p>
        </p:txBody>
      </p:sp>
      <p:sp>
        <p:nvSpPr>
          <p:cNvPr id="77852" name="Text Box 40"/>
          <p:cNvSpPr txBox="1">
            <a:spLocks noChangeArrowheads="1"/>
          </p:cNvSpPr>
          <p:nvPr/>
        </p:nvSpPr>
        <p:spPr bwMode="auto">
          <a:xfrm>
            <a:off x="6788150" y="2039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6</a:t>
            </a:r>
            <a:endParaRPr kumimoji="1" lang="en-US" altLang="zh-CN" b="1"/>
          </a:p>
        </p:txBody>
      </p:sp>
      <p:sp>
        <p:nvSpPr>
          <p:cNvPr id="77853" name="Text Box 42"/>
          <p:cNvSpPr txBox="1">
            <a:spLocks noChangeArrowheads="1"/>
          </p:cNvSpPr>
          <p:nvPr/>
        </p:nvSpPr>
        <p:spPr bwMode="auto">
          <a:xfrm>
            <a:off x="3360738" y="1277938"/>
            <a:ext cx="4095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2</a:t>
            </a:r>
            <a:endParaRPr kumimoji="1" lang="en-US" altLang="zh-CN" b="1"/>
          </a:p>
        </p:txBody>
      </p:sp>
      <p:sp>
        <p:nvSpPr>
          <p:cNvPr id="77854" name="Text Box 43"/>
          <p:cNvSpPr txBox="1">
            <a:spLocks noChangeArrowheads="1"/>
          </p:cNvSpPr>
          <p:nvPr/>
        </p:nvSpPr>
        <p:spPr bwMode="auto">
          <a:xfrm>
            <a:off x="5367338" y="3902075"/>
            <a:ext cx="409575" cy="3698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3</a:t>
            </a:r>
            <a:endParaRPr kumimoji="1" lang="en-US" altLang="zh-CN" b="1"/>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09575" cy="369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a:t>H</a:t>
            </a:r>
            <a:r>
              <a:rPr kumimoji="1" lang="en-US" altLang="zh-CN" b="1" baseline="-25000"/>
              <a:t>4</a:t>
            </a:r>
            <a:endParaRPr kumimoji="1" lang="en-US" altLang="zh-CN" b="1"/>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a:solidFill>
                <a:srgbClr val="000099"/>
              </a:solidFill>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6" name="内容占位符 5">
            <a:extLst>
              <a:ext uri="{FF2B5EF4-FFF2-40B4-BE49-F238E27FC236}">
                <a16:creationId xmlns:a16="http://schemas.microsoft.com/office/drawing/2014/main" id="{B78B1967-BC39-138A-7946-FFCBF00159DD}"/>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327712808"/>
              </p:ext>
            </p:extLst>
          </p:nvPr>
        </p:nvGraphicFramePr>
        <p:xfrm>
          <a:off x="505865" y="1082269"/>
          <a:ext cx="8133857" cy="2760664"/>
        </p:xfrm>
        <a:graphic>
          <a:graphicData uri="http://schemas.openxmlformats.org/drawingml/2006/table">
            <a:tbl>
              <a:tblPr firstRow="1" firstCol="1" bandRow="1" bandCol="1">
                <a:tableStyleId>{93296810-A885-4BE3-A3E7-6D5BEEA58F35}</a:tableStyleId>
              </a:tblPr>
              <a:tblGrid>
                <a:gridCol w="1017418">
                  <a:extLst>
                    <a:ext uri="{9D8B030D-6E8A-4147-A177-3AD203B41FA5}">
                      <a16:colId xmlns:a16="http://schemas.microsoft.com/office/drawing/2014/main" val="20000"/>
                    </a:ext>
                  </a:extLst>
                </a:gridCol>
                <a:gridCol w="7116439">
                  <a:extLst>
                    <a:ext uri="{9D8B030D-6E8A-4147-A177-3AD203B41FA5}">
                      <a16:colId xmlns:a16="http://schemas.microsoft.com/office/drawing/2014/main" val="20001"/>
                    </a:ext>
                  </a:extLst>
                </a:gridCol>
              </a:tblGrid>
              <a:tr h="47283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优点</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107997" marR="107997" marT="72025" marB="720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所采用的手段</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extLst>
                  <a:ext uri="{0D108BD9-81ED-4DB2-BD59-A6C34878D82A}">
                    <a16:rowId xmlns:a16="http://schemas.microsoft.com/office/drawing/2014/main" val="10000"/>
                  </a:ext>
                </a:extLst>
              </a:tr>
              <a:tr h="46702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高效</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在分组传输的过程中</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rPr>
                        <a:t>动态分配</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传输带宽，对通信链路是</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逐段</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占用</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35881">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灵活</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为每一个分组</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独立</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地选择最合适的转发路由</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9519">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迅速</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以分组作为传送单位，可以</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不先建立连接</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就能向其他主机发送分组</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5406">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可靠</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保证可靠性的网络协议；分布式多路由的分组交换网，使网络有很好的生存性</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内容占位符 5">
            <a:extLst>
              <a:ext uri="{FF2B5EF4-FFF2-40B4-BE49-F238E27FC236}">
                <a16:creationId xmlns:a16="http://schemas.microsoft.com/office/drawing/2014/main" id="{01ED319D-F88E-E936-CA56-D6A7488C7B05}"/>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分组交换的优点</a:t>
            </a:r>
          </a:p>
        </p:txBody>
      </p:sp>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排队延迟：分组在各路由器存储转发时需要排队。</a:t>
            </a:r>
            <a:endParaRPr lang="en-US" altLang="zh-CN" dirty="0"/>
          </a:p>
          <a:p>
            <a:r>
              <a:rPr lang="zh-CN" altLang="en-US" dirty="0"/>
              <a:t>不保证带宽：</a:t>
            </a:r>
            <a:r>
              <a:rPr lang="zh-CN" altLang="zh-CN" dirty="0"/>
              <a:t>动态分配</a:t>
            </a:r>
            <a:r>
              <a:rPr lang="zh-CN" altLang="en-US" dirty="0"/>
              <a:t>。</a:t>
            </a:r>
            <a:endParaRPr lang="en-US" altLang="zh-CN" dirty="0"/>
          </a:p>
          <a:p>
            <a:r>
              <a:rPr lang="zh-CN" altLang="en-US" dirty="0"/>
              <a:t>增加开销：各分组必须携带控制信息；路由器要暂存分组，维护转发表等。</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分组交换带来的问题</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r>
              <a:rPr lang="en-US" altLang="zh-CN" dirty="0"/>
              <a:t>(message switching)</a:t>
            </a:r>
            <a:r>
              <a:rPr lang="zh-CN" altLang="en-US" dirty="0"/>
              <a:t>。 </a:t>
            </a:r>
          </a:p>
          <a:p>
            <a:r>
              <a:rPr lang="zh-CN" altLang="en-US" dirty="0"/>
              <a:t>但报文交换的时延较长，从几分钟到几小时不等。</a:t>
            </a:r>
            <a:endParaRPr lang="en-US" altLang="zh-CN" dirty="0"/>
          </a:p>
          <a:p>
            <a:r>
              <a:rPr lang="zh-CN" altLang="en-US" dirty="0"/>
              <a:t>现在报文交换已经很少有人使用了。 </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报文交换</a:t>
            </a:r>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123405" y="1000176"/>
            <a:ext cx="6923315" cy="3448594"/>
          </a:xfrm>
          <a:prstGeom prst="roundRect">
            <a:avLst>
              <a:gd name="adj" fmla="val 1297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ea typeface="黑体" panose="02010609060101010101" pitchFamily="2"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内容占位符 23">
            <a:extLst>
              <a:ext uri="{FF2B5EF4-FFF2-40B4-BE49-F238E27FC236}">
                <a16:creationId xmlns:a16="http://schemas.microsoft.com/office/drawing/2014/main" id="{C7974A0D-F6F1-2D55-A9E9-08C922E47A60}"/>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三种交换方式的比较</a:t>
            </a:r>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a:t>
            </a:r>
            <a:r>
              <a:rPr lang="en-US" altLang="zh-CN" dirty="0" err="1"/>
              <a:t>kbit</a:t>
            </a:r>
            <a:r>
              <a:rPr lang="en-US" altLang="zh-CN" dirty="0"/>
              <a: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月，中国科学院高能物理研究所设立了我国的第一个万维网服务器。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到目前为止，我国陆续建造了基于互联网技术的并能够和互联网互连的多个全国范围的公用计算机网络，其中规模最大的就是下面这五个：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1994 </a:t>
            </a:r>
            <a:r>
              <a:rPr lang="zh-CN" altLang="en-US" dirty="0"/>
              <a:t>年，中国教育和科研计算机网 </a:t>
            </a:r>
            <a:r>
              <a:rPr lang="en-US" altLang="zh-CN" dirty="0"/>
              <a:t>CERNET (China Education and Research </a:t>
            </a:r>
            <a:r>
              <a:rPr lang="en-US" altLang="zh-CN" dirty="0" err="1"/>
              <a:t>NETwork</a:t>
            </a:r>
            <a:r>
              <a:rPr lang="en-US" altLang="zh-CN" dirty="0"/>
              <a:t>)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               中国互联网络信息中心 </a:t>
            </a:r>
            <a:r>
              <a:rPr lang="en-US" altLang="zh-CN" dirty="0"/>
              <a:t>CNNIC (</a:t>
            </a:r>
            <a:r>
              <a:rPr lang="en-US" altLang="zh-CN" dirty="0" err="1"/>
              <a:t>ChiNa</a:t>
            </a:r>
            <a:r>
              <a:rPr lang="en-US" altLang="zh-CN" dirty="0"/>
              <a:t>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年底，我国的国际出口带宽已超过 </a:t>
            </a:r>
            <a:r>
              <a:rPr lang="en-US" altLang="zh-CN" dirty="0"/>
              <a:t>8.8 </a:t>
            </a:r>
            <a:r>
              <a:rPr lang="en-US" altLang="zh-CN" dirty="0" err="1"/>
              <a:t>Tbit</a:t>
            </a:r>
            <a:r>
              <a:rPr lang="en-US" altLang="zh-CN" dirty="0"/>
              <a:t>/s </a:t>
            </a:r>
            <a:r>
              <a:rPr lang="zh-CN" altLang="en-US" dirty="0"/>
              <a:t>（</a:t>
            </a:r>
            <a:r>
              <a:rPr lang="en-US" altLang="zh-CN" dirty="0"/>
              <a:t>1 </a:t>
            </a:r>
            <a:r>
              <a:rPr lang="en-US" altLang="zh-CN" dirty="0" err="1"/>
              <a:t>Tbit</a:t>
            </a:r>
            <a:r>
              <a:rPr lang="en-US" altLang="zh-CN" dirty="0"/>
              <a:t>/s = 103 </a:t>
            </a:r>
            <a:r>
              <a:rPr lang="en-US" altLang="zh-CN" dirty="0" err="1"/>
              <a:t>Gbit</a:t>
            </a:r>
            <a:r>
              <a:rPr lang="en-US" altLang="zh-CN" dirty="0"/>
              <a:t>/s</a:t>
            </a:r>
            <a:r>
              <a:rPr lang="zh-CN" altLang="en-US" dirty="0"/>
              <a:t>）。</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1.4  </a:t>
            </a:r>
            <a:r>
              <a:rPr lang="zh-CN" altLang="en-US" dirty="0"/>
              <a:t>计算机网络在我国的发展</a:t>
            </a:r>
          </a:p>
        </p:txBody>
      </p:sp>
      <p:pic>
        <p:nvPicPr>
          <p:cNvPr id="2" name="图片 1"/>
          <p:cNvPicPr>
            <a:picLocks noChangeAspect="1"/>
          </p:cNvPicPr>
          <p:nvPr/>
        </p:nvPicPr>
        <p:blipFill rotWithShape="1">
          <a:blip r:embed="rId2"/>
          <a:srcRect l="6500" t="16439" r="68843" b="15068"/>
          <a:stretch/>
        </p:blipFill>
        <p:spPr>
          <a:xfrm>
            <a:off x="899575" y="1098470"/>
            <a:ext cx="1114696" cy="387047"/>
          </a:xfrm>
          <a:prstGeom prst="rect">
            <a:avLst/>
          </a:prstGeom>
          <a:effectLst>
            <a:glow rad="63500">
              <a:schemeClr val="accent1">
                <a:satMod val="175000"/>
                <a:alpha val="40000"/>
              </a:schemeClr>
            </a:glow>
          </a:effectLst>
        </p:spPr>
      </p:pic>
      <p:pic>
        <p:nvPicPr>
          <p:cNvPr id="6" name="图片 5"/>
          <p:cNvPicPr>
            <a:picLocks noChangeAspect="1"/>
          </p:cNvPicPr>
          <p:nvPr/>
        </p:nvPicPr>
        <p:blipFill rotWithShape="1">
          <a:blip r:embed="rId3" cstate="print"/>
          <a:srcRect l="5940" t="20867" r="9032" b="12357"/>
          <a:stretch/>
        </p:blipFill>
        <p:spPr>
          <a:xfrm>
            <a:off x="899575" y="3235065"/>
            <a:ext cx="913183" cy="40213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1996 </a:t>
            </a:r>
            <a:r>
              <a:rPr lang="zh-CN" altLang="en-US" dirty="0"/>
              <a:t>年，张朝阳创立了中国第一家以风险投资资金建立的互联网公司</a:t>
            </a:r>
            <a:r>
              <a:rPr lang="en-US" altLang="zh-CN" dirty="0"/>
              <a:t>—</a:t>
            </a:r>
            <a:r>
              <a:rPr lang="zh-CN" altLang="en-US" dirty="0"/>
              <a:t>爱特信公司。两年后，爱特信公司推出“搜狐”产品，并更名为搜狐公司</a:t>
            </a:r>
            <a:r>
              <a:rPr lang="en-US" altLang="zh-CN" dirty="0"/>
              <a:t>(</a:t>
            </a:r>
            <a:r>
              <a:rPr lang="en-US" altLang="zh-CN" dirty="0" err="1"/>
              <a:t>Sohu</a:t>
            </a:r>
            <a:r>
              <a:rPr lang="en-US" altLang="zh-CN" dirty="0"/>
              <a:t>)</a:t>
            </a:r>
            <a:r>
              <a:rPr lang="zh-CN" altLang="en-US" dirty="0"/>
              <a:t>。搜狐网站</a:t>
            </a:r>
            <a:r>
              <a:rPr lang="en-US" altLang="zh-CN" dirty="0"/>
              <a:t>(Sohu.com) </a:t>
            </a:r>
            <a:r>
              <a:rPr lang="zh-CN" altLang="en-US" dirty="0"/>
              <a:t>是中国首家大型分类查询搜索引擎。</a:t>
            </a:r>
            <a:endParaRPr lang="en-US" altLang="zh-CN" dirty="0"/>
          </a:p>
          <a:p>
            <a:r>
              <a:rPr lang="en-US" altLang="zh-CN" dirty="0"/>
              <a:t>                  1997 </a:t>
            </a:r>
            <a:r>
              <a:rPr lang="zh-CN" altLang="en-US" dirty="0"/>
              <a:t>年，丁磊创立了网易公司</a:t>
            </a:r>
            <a:r>
              <a:rPr lang="en-US" altLang="zh-CN" dirty="0"/>
              <a:t>(</a:t>
            </a:r>
            <a:r>
              <a:rPr lang="en-US" altLang="zh-CN" dirty="0" err="1"/>
              <a:t>NetEase</a:t>
            </a:r>
            <a:r>
              <a:rPr lang="en-US" altLang="zh-CN" dirty="0"/>
              <a:t>)</a:t>
            </a:r>
            <a:r>
              <a:rPr lang="zh-CN" altLang="en-US" dirty="0"/>
              <a:t>，推出了中国第一家中文全文搜索引擎，开发的超大容量免费邮箱（如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                  1998 </a:t>
            </a:r>
            <a:r>
              <a:rPr lang="zh-CN" altLang="en-US" dirty="0"/>
              <a:t>年，王志东创立新浪网站</a:t>
            </a:r>
            <a:r>
              <a:rPr lang="en-US" altLang="zh-CN" dirty="0"/>
              <a:t>(Sina.com )</a:t>
            </a:r>
            <a:r>
              <a:rPr lang="zh-CN" altLang="en-US" dirty="0"/>
              <a:t> 。</a:t>
            </a:r>
            <a:endParaRPr lang="en-US" altLang="zh-CN" dirty="0"/>
          </a:p>
          <a:p>
            <a:r>
              <a:rPr lang="zh-CN" altLang="en-US" dirty="0"/>
              <a:t>      新浪的微博是全球使用最多的微博之一。</a:t>
            </a:r>
            <a:endParaRPr lang="en-US" altLang="zh-CN" dirty="0"/>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对我国互联网事业发展影响较大的人物和事件</a:t>
            </a:r>
          </a:p>
        </p:txBody>
      </p:sp>
      <p:pic>
        <p:nvPicPr>
          <p:cNvPr id="2" name="图片 1"/>
          <p:cNvPicPr>
            <a:picLocks noChangeAspect="1"/>
          </p:cNvPicPr>
          <p:nvPr/>
        </p:nvPicPr>
        <p:blipFill rotWithShape="1">
          <a:blip r:embed="rId2" cstate="print">
            <a:extLst>
              <a:ext uri="{BEBA8EAE-BF5A-486C-A8C5-ECC9F3942E4B}">
                <a14:imgProps xmlns:a14="http://schemas.microsoft.com/office/drawing/2010/main">
                  <a14:imgLayer r:embed="rId3">
                    <a14:imgEffect>
                      <a14:artisticMosiaicBubbles/>
                    </a14:imgEffect>
                  </a14:imgLayer>
                </a14:imgProps>
              </a:ext>
            </a:extLst>
          </a:blip>
          <a:srcRect l="6929" r="9066" b="-1941"/>
          <a:stretch/>
        </p:blipFill>
        <p:spPr>
          <a:xfrm>
            <a:off x="910530" y="1036453"/>
            <a:ext cx="830477" cy="421718"/>
          </a:xfrm>
          <a:prstGeom prst="rect">
            <a:avLst/>
          </a:prstGeom>
          <a:effectLst>
            <a:glow rad="63500">
              <a:schemeClr val="accent1">
                <a:satMod val="175000"/>
                <a:alpha val="40000"/>
              </a:schemeClr>
            </a:glow>
          </a:effectLst>
        </p:spPr>
      </p:pic>
      <p:pic>
        <p:nvPicPr>
          <p:cNvPr id="3" name="图片 2"/>
          <p:cNvPicPr>
            <a:picLocks noChangeAspect="1"/>
          </p:cNvPicPr>
          <p:nvPr/>
        </p:nvPicPr>
        <p:blipFill rotWithShape="1">
          <a:blip r:embed="rId4" cstate="print">
            <a:extLst>
              <a:ext uri="{BEBA8EAE-BF5A-486C-A8C5-ECC9F3942E4B}">
                <a14:imgProps xmlns:a14="http://schemas.microsoft.com/office/drawing/2010/main">
                  <a14:imgLayer r:embed="rId5">
                    <a14:imgEffect>
                      <a14:artisticMosiaicBubbles/>
                    </a14:imgEffect>
                  </a14:imgLayer>
                </a14:imgProps>
              </a:ext>
            </a:extLst>
          </a:blip>
          <a:srcRect l="9192" t="30767" r="7380" b="38525"/>
          <a:stretch/>
        </p:blipFill>
        <p:spPr>
          <a:xfrm>
            <a:off x="908692" y="2196059"/>
            <a:ext cx="1166948" cy="405465"/>
          </a:xfrm>
          <a:prstGeom prst="rect">
            <a:avLst/>
          </a:prstGeom>
          <a:effectLst>
            <a:glow rad="63500">
              <a:schemeClr val="accent1">
                <a:satMod val="175000"/>
                <a:alpha val="40000"/>
              </a:schemeClr>
            </a:glow>
          </a:effectLst>
        </p:spPr>
      </p:pic>
      <p:pic>
        <p:nvPicPr>
          <p:cNvPr id="6" name="图片 5"/>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908692" y="2943603"/>
            <a:ext cx="1123430" cy="39044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8" cstate="print"/>
          <a:stretch>
            <a:fillRect/>
          </a:stretch>
        </p:blipFill>
        <p:spPr>
          <a:xfrm flipH="1">
            <a:off x="909668" y="3398362"/>
            <a:ext cx="372291" cy="37229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en-US" altLang="zh-CN" dirty="0"/>
              <a:t>                    1998 </a:t>
            </a:r>
            <a:r>
              <a:rPr lang="zh-CN" altLang="en-US" dirty="0"/>
              <a:t>年，马化腾、张志东创立了腾讯公司 </a:t>
            </a:r>
            <a:r>
              <a:rPr lang="en-US" altLang="zh-CN" dirty="0"/>
              <a:t>(</a:t>
            </a:r>
            <a:r>
              <a:rPr lang="en-US" altLang="zh-CN" dirty="0" err="1"/>
              <a:t>Tencent</a:t>
            </a:r>
            <a:r>
              <a:rPr lang="en-US" altLang="zh-CN" dirty="0"/>
              <a:t>) </a:t>
            </a:r>
            <a:r>
              <a:rPr lang="zh-CN" altLang="en-US" dirty="0"/>
              <a:t>。</a:t>
            </a:r>
            <a:endParaRPr lang="en-US" altLang="zh-CN" dirty="0"/>
          </a:p>
          <a:p>
            <a:r>
              <a:rPr lang="en-US" altLang="zh-CN" dirty="0"/>
              <a:t>    1999 </a:t>
            </a:r>
            <a:r>
              <a:rPr lang="zh-CN" altLang="en-US" dirty="0"/>
              <a:t>年，腾讯就推出了用在 </a:t>
            </a:r>
            <a:r>
              <a:rPr lang="en-US" altLang="zh-CN" dirty="0"/>
              <a:t>PC </a:t>
            </a:r>
            <a:r>
              <a:rPr lang="zh-CN" altLang="en-US" dirty="0"/>
              <a:t>上的即时通信软件 </a:t>
            </a:r>
            <a:r>
              <a:rPr lang="en-US" altLang="zh-CN" dirty="0"/>
              <a:t>OICQ</a:t>
            </a:r>
            <a:r>
              <a:rPr lang="zh-CN" altLang="en-US" dirty="0"/>
              <a:t>，后改名为 </a:t>
            </a:r>
            <a:r>
              <a:rPr lang="en-US" altLang="zh-CN" dirty="0"/>
              <a:t>QQ</a:t>
            </a:r>
            <a:r>
              <a:rPr lang="zh-CN" altLang="en-US" dirty="0"/>
              <a:t>。</a:t>
            </a:r>
            <a:endParaRPr lang="en-US" altLang="zh-CN" dirty="0"/>
          </a:p>
          <a:p>
            <a:r>
              <a:rPr lang="en-US" altLang="zh-CN" dirty="0"/>
              <a:t>     2011 </a:t>
            </a:r>
            <a:r>
              <a:rPr lang="zh-CN" altLang="en-US" dirty="0"/>
              <a:t>年，腾讯推出了专门供智能手机使用的即时通信软件“微信”。</a:t>
            </a:r>
            <a:endParaRPr lang="en-US" altLang="zh-CN" dirty="0"/>
          </a:p>
          <a:p>
            <a:r>
              <a:rPr lang="en-US" altLang="zh-CN" dirty="0"/>
              <a:t>          2000 </a:t>
            </a:r>
            <a:r>
              <a:rPr lang="zh-CN" altLang="en-US" dirty="0"/>
              <a:t>年，李彦宏和徐勇创建了百度网站 </a:t>
            </a:r>
            <a:r>
              <a:rPr lang="en-US" altLang="zh-CN" dirty="0"/>
              <a:t>(Baidu.com)</a:t>
            </a:r>
            <a:r>
              <a:rPr lang="zh-CN" altLang="en-US" dirty="0"/>
              <a:t>，现在已成为全球最大的中文搜索引擎。</a:t>
            </a:r>
            <a:endParaRPr lang="en-US" altLang="zh-CN" dirty="0"/>
          </a:p>
          <a:p>
            <a:r>
              <a:rPr lang="en-US" altLang="zh-CN" dirty="0"/>
              <a:t>         1999 </a:t>
            </a:r>
            <a:r>
              <a:rPr lang="zh-CN" altLang="en-US" dirty="0"/>
              <a:t>年，马云创建了阿里巴巴网站 </a:t>
            </a:r>
            <a:r>
              <a:rPr lang="en-US" altLang="zh-CN" dirty="0"/>
              <a:t>(Alibaba.com)</a:t>
            </a:r>
            <a:r>
              <a:rPr lang="zh-CN" altLang="en-US" dirty="0"/>
              <a:t>。</a:t>
            </a:r>
            <a:endParaRPr lang="en-US" altLang="zh-CN" dirty="0"/>
          </a:p>
          <a:p>
            <a:r>
              <a:rPr lang="en-US" altLang="zh-CN" dirty="0"/>
              <a:t>     2003 </a:t>
            </a:r>
            <a:r>
              <a:rPr lang="zh-CN" altLang="en-US" dirty="0"/>
              <a:t>年，马云创立了个人网上贸易市场平台</a:t>
            </a:r>
            <a:r>
              <a:rPr lang="en-US" altLang="zh-CN" dirty="0"/>
              <a:t>—</a:t>
            </a:r>
            <a:r>
              <a:rPr lang="zh-CN" altLang="en-US" dirty="0"/>
              <a:t>淘宝网 </a:t>
            </a:r>
            <a:r>
              <a:rPr lang="en-US" altLang="zh-CN" dirty="0"/>
              <a:t>(Taobao.com)</a:t>
            </a:r>
            <a:r>
              <a:rPr lang="zh-CN" altLang="en-US" dirty="0"/>
              <a:t>。</a:t>
            </a:r>
            <a:endParaRPr lang="en-US" altLang="zh-CN" dirty="0"/>
          </a:p>
          <a:p>
            <a:r>
              <a:rPr lang="en-US" altLang="zh-CN" dirty="0"/>
              <a:t>            2004 </a:t>
            </a:r>
            <a:r>
              <a:rPr lang="zh-CN" altLang="en-US" dirty="0"/>
              <a:t>年，阿里巴巴集团创立了第三方支付平台</a:t>
            </a:r>
            <a:r>
              <a:rPr lang="en-US" altLang="zh-CN" dirty="0"/>
              <a:t>—</a:t>
            </a:r>
            <a:r>
              <a:rPr lang="zh-CN" altLang="en-US" dirty="0"/>
              <a:t>支付宝</a:t>
            </a:r>
            <a:r>
              <a:rPr lang="en-US" altLang="zh-CN" dirty="0"/>
              <a:t>(Alipay.com)</a:t>
            </a:r>
            <a:r>
              <a:rPr lang="zh-CN" altLang="en-US" dirty="0"/>
              <a:t>。</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对我国互联网事业发展影响较大的人物和事件</a:t>
            </a:r>
          </a:p>
        </p:txBody>
      </p:sp>
      <p:pic>
        <p:nvPicPr>
          <p:cNvPr id="6" name="图片 5"/>
          <p:cNvPicPr>
            <a:picLocks noChangeAspect="1"/>
          </p:cNvPicPr>
          <p:nvPr/>
        </p:nvPicPr>
        <p:blipFill rotWithShape="1">
          <a:blip r:embed="rId3" cstate="print"/>
          <a:srcRect t="34295" b="37765"/>
          <a:stretch/>
        </p:blipFill>
        <p:spPr>
          <a:xfrm>
            <a:off x="840766" y="1070486"/>
            <a:ext cx="1402572" cy="29672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4" cstate="print"/>
          <a:stretch>
            <a:fillRect/>
          </a:stretch>
        </p:blipFill>
        <p:spPr>
          <a:xfrm>
            <a:off x="840766" y="1432043"/>
            <a:ext cx="349251" cy="349251"/>
          </a:xfrm>
          <a:prstGeom prst="rect">
            <a:avLst/>
          </a:prstGeom>
          <a:effectLst>
            <a:glow rad="63500">
              <a:schemeClr val="accent1">
                <a:satMod val="175000"/>
                <a:alpha val="40000"/>
              </a:schemeClr>
            </a:glow>
          </a:effectLst>
        </p:spPr>
      </p:pic>
      <p:pic>
        <p:nvPicPr>
          <p:cNvPr id="8" name="图片 7"/>
          <p:cNvPicPr>
            <a:picLocks noChangeAspect="1"/>
          </p:cNvPicPr>
          <p:nvPr/>
        </p:nvPicPr>
        <p:blipFill>
          <a:blip r:embed="rId5" cstate="print"/>
          <a:stretch>
            <a:fillRect/>
          </a:stretch>
        </p:blipFill>
        <p:spPr>
          <a:xfrm>
            <a:off x="830662" y="1853717"/>
            <a:ext cx="338728" cy="338728"/>
          </a:xfrm>
          <a:prstGeom prst="rect">
            <a:avLst/>
          </a:prstGeom>
          <a:effectLst>
            <a:glow rad="63500">
              <a:schemeClr val="accent1">
                <a:satMod val="175000"/>
                <a:alpha val="40000"/>
              </a:schemeClr>
            </a:glow>
          </a:effectLst>
        </p:spPr>
      </p:pic>
      <p:pic>
        <p:nvPicPr>
          <p:cNvPr id="9" name="图片 8"/>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830662" y="2290635"/>
            <a:ext cx="638015" cy="337575"/>
          </a:xfrm>
          <a:prstGeom prst="rect">
            <a:avLst/>
          </a:prstGeom>
          <a:effectLst>
            <a:glow rad="63500">
              <a:schemeClr val="accent1">
                <a:satMod val="175000"/>
                <a:alpha val="40000"/>
              </a:schemeClr>
            </a:glow>
          </a:effectLst>
        </p:spPr>
      </p:pic>
      <p:pic>
        <p:nvPicPr>
          <p:cNvPr id="10" name="图片 9"/>
          <p:cNvPicPr>
            <a:picLocks noChangeAspect="1"/>
          </p:cNvPicPr>
          <p:nvPr/>
        </p:nvPicPr>
        <p:blipFill>
          <a:blip r:embed="rId8" cstate="print"/>
          <a:stretch>
            <a:fillRect/>
          </a:stretch>
        </p:blipFill>
        <p:spPr>
          <a:xfrm>
            <a:off x="830662" y="3115865"/>
            <a:ext cx="578960" cy="329578"/>
          </a:xfrm>
          <a:prstGeom prst="rect">
            <a:avLst/>
          </a:prstGeom>
          <a:effectLst>
            <a:glow rad="63500">
              <a:schemeClr val="accent1">
                <a:satMod val="175000"/>
                <a:alpha val="40000"/>
              </a:schemeClr>
            </a:glow>
          </a:effectLst>
        </p:spPr>
      </p:pic>
      <p:pic>
        <p:nvPicPr>
          <p:cNvPr id="11" name="图片 10"/>
          <p:cNvPicPr>
            <a:picLocks noChangeAspect="1"/>
          </p:cNvPicPr>
          <p:nvPr/>
        </p:nvPicPr>
        <p:blipFill>
          <a:blip r:embed="rId9" cstate="print"/>
          <a:stretch>
            <a:fillRect/>
          </a:stretch>
        </p:blipFill>
        <p:spPr>
          <a:xfrm>
            <a:off x="830176" y="3563134"/>
            <a:ext cx="319493" cy="319493"/>
          </a:xfrm>
          <a:prstGeom prst="rect">
            <a:avLst/>
          </a:prstGeom>
          <a:effectLst>
            <a:glow rad="63500">
              <a:schemeClr val="accent1">
                <a:satMod val="175000"/>
                <a:alpha val="40000"/>
              </a:schemeClr>
            </a:glow>
          </a:effectLst>
        </p:spPr>
      </p:pic>
      <p:pic>
        <p:nvPicPr>
          <p:cNvPr id="14" name="图片 13"/>
          <p:cNvPicPr>
            <a:picLocks noChangeAspect="1"/>
          </p:cNvPicPr>
          <p:nvPr/>
        </p:nvPicPr>
        <p:blipFill rotWithShape="1">
          <a:blip r:embed="rId10" cstate="print"/>
          <a:srcRect l="8877" t="1" r="6786" b="11025"/>
          <a:stretch/>
        </p:blipFill>
        <p:spPr>
          <a:xfrm>
            <a:off x="822870" y="3960723"/>
            <a:ext cx="853441" cy="34365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89093" name="Rectangle 29"/>
          <p:cNvSpPr>
            <a:spLocks noChangeArrowheads="1"/>
          </p:cNvSpPr>
          <p:nvPr/>
        </p:nvSpPr>
        <p:spPr bwMode="auto">
          <a:xfrm>
            <a:off x="649288" y="143859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1.5</a:t>
            </a:r>
          </a:p>
          <a:p>
            <a:r>
              <a:rPr lang="zh-CN" altLang="zh-CN" sz="2000" b="1">
                <a:solidFill>
                  <a:schemeClr val="bg1"/>
                </a:solidFill>
                <a:latin typeface="微软雅黑" pitchFamily="34" charset="-122"/>
                <a:ea typeface="微软雅黑" pitchFamily="34" charset="-122"/>
              </a:rPr>
              <a:t>计算机网络的类别</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9097" name="Rectangle 8"/>
          <p:cNvSpPr>
            <a:spLocks noChangeArrowheads="1"/>
          </p:cNvSpPr>
          <p:nvPr/>
        </p:nvSpPr>
        <p:spPr bwMode="auto">
          <a:xfrm>
            <a:off x="2700338" y="1308423"/>
            <a:ext cx="54721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itchFamily="34" charset="-122"/>
                <a:ea typeface="微软雅黑" pitchFamily="34" charset="-122"/>
              </a:rPr>
              <a:t>1.5.1                                 </a:t>
            </a:r>
            <a:r>
              <a:rPr lang="zh-CN" altLang="zh-CN" sz="2000" b="1" dirty="0">
                <a:solidFill>
                  <a:schemeClr val="bg1"/>
                </a:solidFill>
                <a:ea typeface="微软雅黑" pitchFamily="34" charset="-122"/>
              </a:rPr>
              <a:t>计算机网络的定义</a:t>
            </a:r>
            <a:endParaRPr lang="en-US" altLang="zh-CN" sz="2000" b="1" dirty="0">
              <a:solidFill>
                <a:schemeClr val="bg1"/>
              </a:solidFill>
              <a:ea typeface="微软雅黑" pitchFamily="34" charset="-122"/>
            </a:endParaRPr>
          </a:p>
          <a:p>
            <a:endParaRPr lang="zh-CN" altLang="zh-CN" sz="2000" b="1" dirty="0">
              <a:solidFill>
                <a:schemeClr val="bg1"/>
              </a:solidFill>
              <a:ea typeface="微软雅黑" pitchFamily="34" charset="-122"/>
            </a:endParaRPr>
          </a:p>
          <a:p>
            <a:r>
              <a:rPr lang="en-US" altLang="zh-CN" sz="2000" b="1" dirty="0">
                <a:solidFill>
                  <a:schemeClr val="bg1"/>
                </a:solidFill>
                <a:latin typeface="微软雅黑" pitchFamily="34" charset="-122"/>
                <a:ea typeface="微软雅黑" pitchFamily="34" charset="-122"/>
              </a:rPr>
              <a:t>1.5.2                     </a:t>
            </a:r>
            <a:r>
              <a:rPr lang="zh-CN" altLang="zh-CN" sz="2000" b="1" dirty="0">
                <a:solidFill>
                  <a:schemeClr val="bg1"/>
                </a:solidFill>
                <a:ea typeface="微软雅黑" pitchFamily="34" charset="-122"/>
              </a:rPr>
              <a:t>几种不同类别的</a:t>
            </a:r>
            <a:r>
              <a:rPr lang="zh-CN" altLang="en-US" sz="2000" b="1" dirty="0">
                <a:solidFill>
                  <a:schemeClr val="bg1"/>
                </a:solidFill>
                <a:ea typeface="微软雅黑" pitchFamily="34" charset="-122"/>
              </a:rPr>
              <a:t>计算机</a:t>
            </a:r>
            <a:r>
              <a:rPr lang="zh-CN" altLang="zh-CN" sz="2000" b="1" dirty="0">
                <a:solidFill>
                  <a:schemeClr val="bg1"/>
                </a:solidFill>
                <a:ea typeface="微软雅黑" pitchFamily="34" charset="-122"/>
              </a:rPr>
              <a:t>网络</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1.5.1  </a:t>
            </a:r>
            <a:r>
              <a:rPr lang="zh-CN" altLang="en-US" dirty="0"/>
              <a:t>计算机网络的定义</a:t>
            </a:r>
          </a:p>
        </p:txBody>
      </p:sp>
      <p:sp>
        <p:nvSpPr>
          <p:cNvPr id="4" name="矩形 3"/>
          <p:cNvSpPr/>
          <p:nvPr/>
        </p:nvSpPr>
        <p:spPr>
          <a:xfrm>
            <a:off x="874225" y="1926007"/>
            <a:ext cx="7242372" cy="152862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计算机网络主要是由一些通用的、可编程的硬件互连而成的，而这些硬件并非专门用来实现某一特定目的（例如，传送数据或视频信号）。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“可编程的硬件”表明：这种硬件一定包含有中央处理器 </a:t>
            </a:r>
            <a:r>
              <a:rPr lang="en-US" altLang="zh-CN" dirty="0"/>
              <a:t>CPU</a:t>
            </a:r>
            <a:r>
              <a:rPr lang="zh-CN" altLang="en-US" dirty="0"/>
              <a:t>。</a:t>
            </a:r>
            <a:endParaRPr lang="en-US" altLang="zh-CN" dirty="0"/>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 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
        <p:nvSpPr>
          <p:cNvPr id="5" name="文本占位符 4"/>
          <p:cNvSpPr>
            <a:spLocks noGrp="1"/>
          </p:cNvSpPr>
          <p:nvPr>
            <p:ph type="body" sz="quarter" idx="11"/>
          </p:nvPr>
        </p:nvSpPr>
        <p:spPr>
          <a:xfrm>
            <a:off x="0" y="150273"/>
            <a:ext cx="6632575" cy="338554"/>
          </a:xfrm>
        </p:spPr>
        <p:txBody>
          <a:bodyPr/>
          <a:lstStyle/>
          <a:p>
            <a:r>
              <a:rPr lang="zh-CN" altLang="en-US" dirty="0"/>
              <a:t>如何理解？</a:t>
            </a:r>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1.5.2  </a:t>
            </a:r>
            <a:r>
              <a:rPr lang="zh-CN" altLang="en-US" dirty="0"/>
              <a:t>几种不同类别的计算机网络</a:t>
            </a:r>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2928088497"/>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441843">
                  <a:extLst>
                    <a:ext uri="{9D8B030D-6E8A-4147-A177-3AD203B41FA5}">
                      <a16:colId xmlns:a16="http://schemas.microsoft.com/office/drawing/2014/main" val="2752561288"/>
                    </a:ext>
                  </a:extLst>
                </a:gridCol>
                <a:gridCol w="4352329">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3833287312"/>
                  </a:ext>
                </a:extLst>
              </a:tr>
              <a:tr h="473606">
                <a:tc>
                  <a:txBody>
                    <a:bodyPr/>
                    <a:lstStyle/>
                    <a:p>
                      <a:pPr algn="l"/>
                      <a:r>
                        <a:rPr lang="zh-CN" altLang="en-US" sz="1600" b="1" dirty="0">
                          <a:solidFill>
                            <a:srgbClr val="0000FF"/>
                          </a:solidFill>
                          <a:latin typeface="微软雅黑" panose="020B0503020204020204" pitchFamily="34" charset="-122"/>
                          <a:ea typeface="微软雅黑" panose="020B0503020204020204" pitchFamily="34" charset="-122"/>
                        </a:rPr>
                        <a:t>广域网 </a:t>
                      </a:r>
                      <a:r>
                        <a:rPr lang="en-US" altLang="zh-CN" sz="1600" b="1" dirty="0">
                          <a:solidFill>
                            <a:srgbClr val="0000FF"/>
                          </a:solidFill>
                          <a:latin typeface="微软雅黑" panose="020B0503020204020204" pitchFamily="34" charset="-122"/>
                          <a:ea typeface="微软雅黑" panose="020B0503020204020204" pitchFamily="34" charset="-122"/>
                        </a:rPr>
                        <a:t>WAN </a:t>
                      </a:r>
                    </a:p>
                    <a:p>
                      <a:pPr algn="l"/>
                      <a:r>
                        <a:rPr lang="en-US" altLang="zh-CN" sz="1600" b="1" dirty="0">
                          <a:latin typeface="微软雅黑" panose="020B0503020204020204" pitchFamily="34" charset="-122"/>
                          <a:ea typeface="微软雅黑" panose="020B0503020204020204" pitchFamily="34" charset="-122"/>
                        </a:rPr>
                        <a:t>(Wide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通常为几十到几千公里。有时也称为</a:t>
                      </a:r>
                      <a:r>
                        <a:rPr lang="zh-CN" altLang="en-US" sz="1600" b="1" dirty="0">
                          <a:solidFill>
                            <a:srgbClr val="0000FF"/>
                          </a:solidFill>
                          <a:latin typeface="微软雅黑" panose="020B0503020204020204" pitchFamily="34" charset="-122"/>
                          <a:ea typeface="微软雅黑" panose="020B0503020204020204" pitchFamily="34" charset="-122"/>
                        </a:rPr>
                        <a:t>远程网</a:t>
                      </a:r>
                      <a:r>
                        <a:rPr lang="en-US" altLang="zh-CN" sz="1600" b="1" dirty="0">
                          <a:latin typeface="微软雅黑" panose="020B0503020204020204" pitchFamily="34" charset="-122"/>
                          <a:ea typeface="微软雅黑" panose="020B0503020204020204" pitchFamily="34" charset="-122"/>
                        </a:rPr>
                        <a:t>(long haul network)</a:t>
                      </a:r>
                      <a:r>
                        <a:rPr lang="zh-CN" altLang="en-US" sz="1600" b="1" dirty="0">
                          <a:latin typeface="微软雅黑" panose="020B0503020204020204" pitchFamily="34" charset="-122"/>
                          <a:ea typeface="微软雅黑" panose="020B0503020204020204" pitchFamily="34" charset="-122"/>
                        </a:rPr>
                        <a:t>。是互联网的核心部分。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城域网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MAN </a:t>
                      </a:r>
                    </a:p>
                    <a:p>
                      <a:pPr algn="l"/>
                      <a:r>
                        <a:rPr lang="en-US" altLang="zh-CN" sz="1600" b="1" dirty="0">
                          <a:latin typeface="微软雅黑" panose="020B0503020204020204" pitchFamily="34" charset="-122"/>
                          <a:ea typeface="微软雅黑" panose="020B0503020204020204" pitchFamily="34" charset="-122"/>
                        </a:rPr>
                        <a:t>(Metropolitan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作用范围一般是一个城市，作用距离约为 </a:t>
                      </a:r>
                      <a:r>
                        <a:rPr lang="en-US" altLang="zh-CN" sz="1600" b="1" dirty="0">
                          <a:latin typeface="微软雅黑" panose="020B0503020204020204" pitchFamily="34" charset="-122"/>
                          <a:ea typeface="微软雅黑" panose="020B0503020204020204" pitchFamily="34" charset="-122"/>
                        </a:rPr>
                        <a:t>5~50 </a:t>
                      </a:r>
                      <a:r>
                        <a:rPr lang="zh-CN" altLang="en-US" sz="1600" b="1" dirty="0">
                          <a:latin typeface="微软雅黑" panose="020B0503020204020204" pitchFamily="34" charset="-122"/>
                          <a:ea typeface="微软雅黑" panose="020B0503020204020204" pitchFamily="34" charset="-122"/>
                        </a:rPr>
                        <a:t>公里。</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r h="473606">
                <a:tc>
                  <a:txBody>
                    <a:bodyPr/>
                    <a:lstStyle/>
                    <a:p>
                      <a:pPr marL="0" algn="l" defTabSz="914400" rtl="0" eaLnBrk="1" latinLnBrk="0" hangingPunct="1"/>
                      <a:r>
                        <a:rPr lang="zh-CN" altLang="en-US" sz="1600" b="1" kern="1200" dirty="0">
                          <a:solidFill>
                            <a:srgbClr val="0000FF"/>
                          </a:solidFill>
                          <a:latin typeface="微软雅黑" panose="020B0503020204020204" pitchFamily="34" charset="-122"/>
                          <a:ea typeface="微软雅黑" panose="020B0503020204020204" pitchFamily="34" charset="-122"/>
                          <a:cs typeface="+mn-cs"/>
                        </a:rPr>
                        <a:t>局域网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LAN </a:t>
                      </a:r>
                    </a:p>
                    <a:p>
                      <a:pPr algn="l"/>
                      <a:r>
                        <a:rPr lang="en-US" altLang="zh-CN" sz="1600" b="1" dirty="0">
                          <a:latin typeface="微软雅黑" panose="020B0503020204020204" pitchFamily="34" charset="-122"/>
                          <a:ea typeface="微软雅黑" panose="020B0503020204020204" pitchFamily="34" charset="-122"/>
                        </a:rPr>
                        <a:t>(Local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局限在较小的范围（如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公里左右）。通常采用高速通信线路。</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654821"/>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个人区域网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PAN </a:t>
                      </a:r>
                    </a:p>
                    <a:p>
                      <a:pPr algn="l"/>
                      <a:r>
                        <a:rPr lang="en-US" altLang="zh-CN" sz="1600" b="1" dirty="0">
                          <a:latin typeface="微软雅黑" panose="020B0503020204020204" pitchFamily="34" charset="-122"/>
                          <a:ea typeface="微软雅黑" panose="020B0503020204020204" pitchFamily="34" charset="-122"/>
                        </a:rPr>
                        <a:t>(Personal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范围很小，大约在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米左右。有时也称为</a:t>
                      </a:r>
                      <a:r>
                        <a:rPr lang="zh-CN" altLang="en-US" sz="1600" b="1" dirty="0">
                          <a:solidFill>
                            <a:srgbClr val="0000FF"/>
                          </a:solidFill>
                          <a:latin typeface="微软雅黑" panose="020B0503020204020204" pitchFamily="34" charset="-122"/>
                          <a:ea typeface="微软雅黑" panose="020B0503020204020204" pitchFamily="34" charset="-122"/>
                        </a:rPr>
                        <a:t>无线个人区域网</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WPAN (Wireless PAN)</a:t>
                      </a:r>
                      <a:r>
                        <a:rPr lang="zh-CN" altLang="en-US" sz="1600" b="1" dirty="0">
                          <a:latin typeface="微软雅黑" panose="020B0503020204020204" pitchFamily="34" charset="-122"/>
                          <a:ea typeface="微软雅黑" panose="020B0503020204020204" pitchFamily="34" charset="-122"/>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9985109"/>
                  </a:ext>
                </a:extLst>
              </a:tr>
            </a:tbl>
          </a:graphicData>
        </a:graphic>
      </p:graphicFrame>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按照网络的作用范围进行分类</a:t>
            </a:r>
          </a:p>
        </p:txBody>
      </p:sp>
      <p:sp>
        <p:nvSpPr>
          <p:cNvPr id="2" name="矩形 1"/>
          <p:cNvSpPr/>
          <p:nvPr/>
        </p:nvSpPr>
        <p:spPr>
          <a:xfrm>
            <a:off x="1327135" y="3791428"/>
            <a:ext cx="6196612"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若中央处理机之间的距离非常近（如仅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米甚至更小些），则一般就称之为</a:t>
            </a:r>
            <a:r>
              <a:rPr lang="zh-CN" altLang="en-US" b="1" dirty="0">
                <a:solidFill>
                  <a:srgbClr val="C00000"/>
                </a:solidFill>
                <a:latin typeface="微软雅黑" pitchFamily="34" charset="-122"/>
                <a:ea typeface="微软雅黑" pitchFamily="34" charset="-122"/>
              </a:rPr>
              <a:t>多处理机系统，</a:t>
            </a:r>
            <a:r>
              <a:rPr lang="zh-CN" altLang="en-US" b="1" dirty="0">
                <a:latin typeface="微软雅黑" pitchFamily="34" charset="-122"/>
                <a:ea typeface="微软雅黑" pitchFamily="34" charset="-122"/>
              </a:rPr>
              <a:t>而不称它为计算机网络。 </a:t>
            </a:r>
          </a:p>
        </p:txBody>
      </p:sp>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87201425"/>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108961">
                  <a:extLst>
                    <a:ext uri="{9D8B030D-6E8A-4147-A177-3AD203B41FA5}">
                      <a16:colId xmlns:a16="http://schemas.microsoft.com/office/drawing/2014/main" val="2752561288"/>
                    </a:ext>
                  </a:extLst>
                </a:gridCol>
                <a:gridCol w="4545874">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extLst>
                  <a:ext uri="{0D108BD9-81ED-4DB2-BD59-A6C34878D82A}">
                    <a16:rowId xmlns:a16="http://schemas.microsoft.com/office/drawing/2014/main" val="3833287312"/>
                  </a:ext>
                </a:extLst>
              </a:tr>
              <a:tr h="473606">
                <a:tc>
                  <a:txBody>
                    <a:bodyPr/>
                    <a:lstStyle/>
                    <a:p>
                      <a:pPr algn="l"/>
                      <a:r>
                        <a:rPr lang="zh-CN" altLang="en-US" sz="1600" b="1" kern="1200" dirty="0">
                          <a:solidFill>
                            <a:srgbClr val="0000FF"/>
                          </a:solidFill>
                          <a:latin typeface="微软雅黑" pitchFamily="34" charset="-122"/>
                          <a:ea typeface="微软雅黑" pitchFamily="34" charset="-122"/>
                          <a:cs typeface="+mn-cs"/>
                        </a:rPr>
                        <a:t>公用网 </a:t>
                      </a:r>
                      <a:endParaRPr lang="en-US" altLang="zh-CN" sz="1600" b="1" kern="1200" dirty="0">
                        <a:solidFill>
                          <a:srgbClr val="0000FF"/>
                        </a:solidFill>
                        <a:latin typeface="微软雅黑" pitchFamily="34" charset="-122"/>
                        <a:ea typeface="微软雅黑" pitchFamily="34" charset="-122"/>
                        <a:cs typeface="+mn-cs"/>
                      </a:endParaRPr>
                    </a:p>
                    <a:p>
                      <a:pPr algn="l"/>
                      <a:r>
                        <a:rPr lang="en-US" altLang="zh-CN" sz="1600" b="1" dirty="0">
                          <a:latin typeface="微软雅黑" panose="020B0503020204020204" pitchFamily="34" charset="-122"/>
                          <a:ea typeface="微软雅黑" panose="020B0503020204020204" pitchFamily="34" charset="-122"/>
                        </a:rPr>
                        <a:t>(public network)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按规定交纳费用的人都可以使用的网络。也可称为</a:t>
                      </a:r>
                      <a:r>
                        <a:rPr lang="zh-CN" altLang="en-US" sz="1600" b="1" dirty="0">
                          <a:solidFill>
                            <a:srgbClr val="0000FF"/>
                          </a:solidFill>
                          <a:latin typeface="微软雅黑" panose="020B0503020204020204" pitchFamily="34" charset="-122"/>
                          <a:ea typeface="微软雅黑" panose="020B0503020204020204" pitchFamily="34" charset="-122"/>
                        </a:rPr>
                        <a:t>公众网。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dirty="0">
                          <a:solidFill>
                            <a:srgbClr val="0000FF"/>
                          </a:solidFill>
                          <a:latin typeface="微软雅黑" pitchFamily="34" charset="-122"/>
                          <a:ea typeface="微软雅黑" pitchFamily="34" charset="-122"/>
                        </a:rPr>
                        <a:t>专用网</a:t>
                      </a:r>
                      <a:r>
                        <a:rPr lang="zh-CN" altLang="en-US" sz="1600" b="1" dirty="0">
                          <a:latin typeface="微软雅黑" pitchFamily="34" charset="-122"/>
                          <a:ea typeface="微软雅黑" pitchFamily="34" charset="-122"/>
                        </a:rPr>
                        <a:t> </a:t>
                      </a:r>
                      <a:endParaRPr lang="en-US" altLang="zh-CN" sz="1600" b="1" dirty="0">
                        <a:latin typeface="微软雅黑" pitchFamily="34" charset="-122"/>
                        <a:ea typeface="微软雅黑" pitchFamily="34" charset="-122"/>
                      </a:endParaRPr>
                    </a:p>
                    <a:p>
                      <a:pPr algn="l"/>
                      <a:r>
                        <a:rPr lang="en-US" altLang="zh-CN" sz="1600" b="1" dirty="0">
                          <a:latin typeface="微软雅黑" pitchFamily="34" charset="-122"/>
                          <a:ea typeface="微软雅黑" pitchFamily="34" charset="-122"/>
                        </a:rPr>
                        <a:t>(private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为特殊业务工作的需要而建造的网络。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bl>
          </a:graphicData>
        </a:graphic>
      </p:graphicFrame>
      <p:sp>
        <p:nvSpPr>
          <p:cNvPr id="5" name="文本占位符 4"/>
          <p:cNvSpPr>
            <a:spLocks noGrp="1"/>
          </p:cNvSpPr>
          <p:nvPr>
            <p:ph type="body" sz="quarter" idx="11"/>
          </p:nvPr>
        </p:nvSpPr>
        <p:spPr>
          <a:xfrm>
            <a:off x="0" y="150273"/>
            <a:ext cx="6632575" cy="338554"/>
          </a:xfrm>
        </p:spPr>
        <p:txBody>
          <a:bodyPr/>
          <a:lstStyle/>
          <a:p>
            <a:r>
              <a:rPr lang="en-US" altLang="zh-CN" dirty="0"/>
              <a:t>2. </a:t>
            </a:r>
            <a:r>
              <a:rPr lang="zh-CN" altLang="en-US" dirty="0"/>
              <a:t>按照网络的使用者进行分类</a:t>
            </a:r>
          </a:p>
        </p:txBody>
      </p:sp>
      <p:sp>
        <p:nvSpPr>
          <p:cNvPr id="2" name="矩形 1"/>
          <p:cNvSpPr/>
          <p:nvPr/>
        </p:nvSpPr>
        <p:spPr>
          <a:xfrm>
            <a:off x="1577947" y="2664629"/>
            <a:ext cx="5988105"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spcBef>
                <a:spcPts val="0"/>
              </a:spcBef>
            </a:pPr>
            <a:r>
              <a:rPr lang="zh-CN" altLang="en-US" b="1" dirty="0">
                <a:latin typeface="微软雅黑" pitchFamily="34" charset="-122"/>
                <a:ea typeface="微软雅黑" pitchFamily="34" charset="-122"/>
              </a:rPr>
              <a:t>公用网和专用网都可以传送多种业务。如传送的是计算机数据，则分别是</a:t>
            </a:r>
            <a:r>
              <a:rPr lang="zh-CN" altLang="en-US" b="1" dirty="0">
                <a:solidFill>
                  <a:srgbClr val="C00000"/>
                </a:solidFill>
                <a:latin typeface="微软雅黑" pitchFamily="34" charset="-122"/>
                <a:ea typeface="微软雅黑" pitchFamily="34" charset="-122"/>
              </a:rPr>
              <a:t>公用计算机网络</a:t>
            </a:r>
            <a:r>
              <a:rPr lang="zh-CN" altLang="en-US" b="1" dirty="0">
                <a:latin typeface="微软雅黑" pitchFamily="34" charset="-122"/>
                <a:ea typeface="微软雅黑" pitchFamily="34" charset="-122"/>
              </a:rPr>
              <a:t>和</a:t>
            </a:r>
            <a:r>
              <a:rPr lang="zh-CN" altLang="en-US" b="1" dirty="0">
                <a:solidFill>
                  <a:srgbClr val="C00000"/>
                </a:solidFill>
                <a:latin typeface="微软雅黑" pitchFamily="34" charset="-122"/>
                <a:ea typeface="微软雅黑" pitchFamily="34" charset="-122"/>
              </a:rPr>
              <a:t>专用计算机网络。 </a:t>
            </a:r>
          </a:p>
        </p:txBody>
      </p:sp>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3. </a:t>
            </a:r>
            <a:r>
              <a:rPr lang="zh-CN" altLang="en-US" dirty="0"/>
              <a:t>用来把用户接入到互联网的网络</a:t>
            </a:r>
          </a:p>
        </p:txBody>
      </p:sp>
      <p:grpSp>
        <p:nvGrpSpPr>
          <p:cNvPr id="74" name="组合 73"/>
          <p:cNvGrpSpPr/>
          <p:nvPr/>
        </p:nvGrpSpPr>
        <p:grpSpPr>
          <a:xfrm>
            <a:off x="5910047" y="1247574"/>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latin typeface="Arial" panose="020B0604020202020204" pitchFamily="34" charset="0"/>
                    <a:ea typeface="宋体" panose="02010600030101010101" pitchFamily="2"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a:solidFill>
                      <a:srgbClr val="000099"/>
                    </a:solidFill>
                    <a:ea typeface="宋体" panose="02010600030101010101" pitchFamily="2"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prstClr val="black"/>
                    </a:solidFill>
                    <a:ea typeface="宋体" panose="02010600030101010101" pitchFamily="2"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solidFill>
                      <a:prstClr val="black"/>
                    </a:solidFill>
                    <a:ea typeface="宋体" panose="02010600030101010101" pitchFamily="2"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charset="-122"/>
              <a:ea typeface="+mn-ea"/>
            </a:endParaRPr>
          </a:p>
        </p:txBody>
      </p:sp>
      <p:sp>
        <p:nvSpPr>
          <p:cNvPr id="97285" name="Rectangle 29"/>
          <p:cNvSpPr>
            <a:spLocks noChangeArrowheads="1"/>
          </p:cNvSpPr>
          <p:nvPr/>
        </p:nvSpPr>
        <p:spPr bwMode="auto">
          <a:xfrm>
            <a:off x="649288" y="1438599"/>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1.6</a:t>
            </a:r>
          </a:p>
          <a:p>
            <a:r>
              <a:rPr lang="zh-CN" altLang="zh-CN" sz="2000" b="1">
                <a:solidFill>
                  <a:schemeClr val="bg1"/>
                </a:solidFill>
                <a:latin typeface="微软雅黑" pitchFamily="34" charset="-122"/>
                <a:ea typeface="微软雅黑" pitchFamily="34" charset="-122"/>
              </a:rPr>
              <a:t>计算机网络的性能</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9"/>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5" name="Rectangle 10"/>
          <p:cNvSpPr>
            <a:spLocks noChangeArrowheads="1"/>
          </p:cNvSpPr>
          <p:nvPr/>
        </p:nvSpPr>
        <p:spPr bwMode="auto">
          <a:xfrm>
            <a:off x="2628900" y="1949774"/>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charset="-122"/>
              <a:ea typeface="+mn-ea"/>
            </a:endParaRPr>
          </a:p>
        </p:txBody>
      </p:sp>
      <p:sp>
        <p:nvSpPr>
          <p:cNvPr id="97288" name="Line 16"/>
          <p:cNvSpPr>
            <a:spLocks noChangeShapeType="1"/>
          </p:cNvSpPr>
          <p:nvPr/>
        </p:nvSpPr>
        <p:spPr bwMode="auto">
          <a:xfrm>
            <a:off x="3636963" y="1271911"/>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7289" name="Rectangle 8"/>
          <p:cNvSpPr>
            <a:spLocks noChangeArrowheads="1"/>
          </p:cNvSpPr>
          <p:nvPr/>
        </p:nvSpPr>
        <p:spPr bwMode="auto">
          <a:xfrm>
            <a:off x="2700338" y="1308424"/>
            <a:ext cx="5472112" cy="1016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a:solidFill>
                  <a:schemeClr val="bg1"/>
                </a:solidFill>
                <a:latin typeface="微软雅黑" pitchFamily="34" charset="-122"/>
                <a:ea typeface="微软雅黑" pitchFamily="34" charset="-122"/>
              </a:rPr>
              <a:t>1.6.1                           </a:t>
            </a:r>
            <a:r>
              <a:rPr lang="zh-CN" altLang="zh-CN" sz="2000" b="1">
                <a:solidFill>
                  <a:schemeClr val="bg1"/>
                </a:solidFill>
                <a:ea typeface="微软雅黑" pitchFamily="34" charset="-122"/>
              </a:rPr>
              <a:t>计算机网络的性能指标</a:t>
            </a:r>
            <a:endParaRPr lang="en-US" altLang="zh-CN" sz="2000" b="1">
              <a:solidFill>
                <a:schemeClr val="bg1"/>
              </a:solidFill>
              <a:ea typeface="微软雅黑" pitchFamily="34" charset="-122"/>
            </a:endParaRPr>
          </a:p>
          <a:p>
            <a:endParaRPr lang="zh-CN" altLang="zh-CN" sz="2000" b="1">
              <a:solidFill>
                <a:schemeClr val="bg1"/>
              </a:solidFill>
              <a:ea typeface="微软雅黑" pitchFamily="34" charset="-122"/>
            </a:endParaRPr>
          </a:p>
          <a:p>
            <a:r>
              <a:rPr lang="en-US" altLang="zh-CN" sz="2000" b="1">
                <a:solidFill>
                  <a:schemeClr val="bg1"/>
                </a:solidFill>
                <a:latin typeface="微软雅黑" pitchFamily="34" charset="-122"/>
                <a:ea typeface="微软雅黑" pitchFamily="34" charset="-122"/>
              </a:rPr>
              <a:t>1.6.2                        </a:t>
            </a:r>
            <a:r>
              <a:rPr lang="zh-CN" altLang="zh-CN" sz="2000" b="1">
                <a:solidFill>
                  <a:schemeClr val="bg1"/>
                </a:solidFill>
                <a:ea typeface="微软雅黑" pitchFamily="34" charset="-122"/>
              </a:rPr>
              <a:t>计算机网络的非性能特征</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466344" y="504285"/>
            <a:ext cx="8129016" cy="4172489"/>
          </a:xfrm>
        </p:spPr>
        <p:txBody>
          <a:bodyPr/>
          <a:lstStyle/>
          <a:p>
            <a:r>
              <a:rPr lang="zh-CN" altLang="en-US" dirty="0"/>
              <a:t>性能指标：</a:t>
            </a:r>
            <a:endParaRPr lang="en-US" altLang="zh-CN" dirty="0"/>
          </a:p>
          <a:p>
            <a:r>
              <a:rPr lang="zh-CN" altLang="en-US" dirty="0"/>
              <a:t>从不同的方面来度量计算机网络的性能。</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1.6.1  </a:t>
            </a:r>
            <a:r>
              <a:rPr lang="zh-CN" altLang="en-US" dirty="0"/>
              <a:t>计算机网络的性能指标</a:t>
            </a:r>
          </a:p>
        </p:txBody>
      </p:sp>
      <p:graphicFrame>
        <p:nvGraphicFramePr>
          <p:cNvPr id="5" name="图示 4"/>
          <p:cNvGraphicFramePr/>
          <p:nvPr>
            <p:extLst>
              <p:ext uri="{D42A27DB-BD31-4B8C-83A1-F6EECF244321}">
                <p14:modId xmlns:p14="http://schemas.microsoft.com/office/powerpoint/2010/main" val="4050962110"/>
              </p:ext>
            </p:extLst>
          </p:nvPr>
        </p:nvGraphicFramePr>
        <p:xfrm>
          <a:off x="3329234" y="1264394"/>
          <a:ext cx="5713731" cy="3152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最重要的一个性能指标。</a:t>
            </a:r>
            <a:endParaRPr lang="en-US" altLang="zh-CN" dirty="0"/>
          </a:p>
          <a:p>
            <a:r>
              <a:rPr lang="zh-CN" altLang="en-US" dirty="0"/>
              <a:t>指的是数据的传送速率，也称为数据率 </a:t>
            </a:r>
            <a:r>
              <a:rPr lang="en-US" altLang="zh-CN" dirty="0"/>
              <a:t>(data rate) </a:t>
            </a:r>
            <a:r>
              <a:rPr lang="zh-CN" altLang="en-US" dirty="0"/>
              <a:t>或比特率 </a:t>
            </a:r>
            <a:r>
              <a:rPr lang="en-US" altLang="zh-CN" dirty="0"/>
              <a:t>(bit rate)</a:t>
            </a:r>
            <a:r>
              <a:rPr lang="zh-CN" altLang="en-US" dirty="0"/>
              <a:t>。</a:t>
            </a:r>
          </a:p>
          <a:p>
            <a:r>
              <a:rPr lang="zh-CN" altLang="en-US" dirty="0"/>
              <a:t>单位：</a:t>
            </a:r>
            <a:r>
              <a:rPr lang="en-US" altLang="zh-CN" dirty="0"/>
              <a:t>bit/s</a:t>
            </a:r>
            <a:r>
              <a:rPr lang="zh-CN" altLang="en-US" dirty="0"/>
              <a:t>，或 </a:t>
            </a:r>
            <a:r>
              <a:rPr lang="en-US" altLang="zh-CN" dirty="0" err="1"/>
              <a:t>kbit</a:t>
            </a:r>
            <a:r>
              <a:rPr lang="en-US" altLang="zh-CN" dirty="0"/>
              <a:t>/s</a:t>
            </a:r>
            <a:r>
              <a:rPr lang="zh-CN" altLang="en-US" dirty="0"/>
              <a:t>、</a:t>
            </a:r>
            <a:r>
              <a:rPr lang="en-US" altLang="zh-CN" dirty="0"/>
              <a:t>Mbit/s</a:t>
            </a:r>
            <a:r>
              <a:rPr lang="zh-CN" altLang="en-US" dirty="0"/>
              <a:t>、 </a:t>
            </a:r>
            <a:r>
              <a:rPr lang="en-US" altLang="zh-CN" dirty="0" err="1"/>
              <a:t>Gbit</a:t>
            </a:r>
            <a:r>
              <a:rPr lang="en-US" altLang="zh-CN" dirty="0"/>
              <a:t>/s </a:t>
            </a:r>
            <a:r>
              <a:rPr lang="zh-CN" altLang="en-US" dirty="0"/>
              <a:t>等。</a:t>
            </a:r>
            <a:endParaRPr lang="en-US" altLang="zh-CN" dirty="0"/>
          </a:p>
          <a:p>
            <a:r>
              <a:rPr lang="en-US" altLang="zh-CN" dirty="0"/>
              <a:t>    </a:t>
            </a:r>
            <a:r>
              <a:rPr lang="zh-CN" altLang="en-US" dirty="0"/>
              <a:t>例如 </a:t>
            </a:r>
            <a:r>
              <a:rPr lang="en-US" altLang="zh-CN" dirty="0"/>
              <a:t>4 </a:t>
            </a:r>
            <a:r>
              <a:rPr lang="en-US" altLang="zh-CN" dirty="0">
                <a:sym typeface="Symbol" pitchFamily="18" charset="2"/>
              </a:rPr>
              <a:t></a:t>
            </a:r>
            <a:r>
              <a:rPr lang="en-US" altLang="zh-CN" dirty="0"/>
              <a:t> 1010  bit/s </a:t>
            </a:r>
            <a:r>
              <a:rPr lang="zh-CN" altLang="zh-CN" dirty="0"/>
              <a:t>的数据率就记为</a:t>
            </a:r>
            <a:r>
              <a:rPr lang="en-US" altLang="zh-CN" dirty="0"/>
              <a:t> 40 </a:t>
            </a:r>
            <a:r>
              <a:rPr lang="en-US" altLang="zh-CN" dirty="0" err="1"/>
              <a:t>Gbit</a:t>
            </a:r>
            <a:r>
              <a:rPr lang="en-US" altLang="zh-CN" dirty="0"/>
              <a:t>/s</a:t>
            </a:r>
            <a:r>
              <a:rPr lang="zh-CN" altLang="en-US" dirty="0"/>
              <a:t>。</a:t>
            </a:r>
          </a:p>
          <a:p>
            <a:r>
              <a:rPr lang="zh-CN" altLang="en-US" dirty="0"/>
              <a:t>速率往往是指额定速率或标称速率，非实际运行速率。</a:t>
            </a:r>
          </a:p>
        </p:txBody>
      </p:sp>
      <p:sp>
        <p:nvSpPr>
          <p:cNvPr id="5" name="文本占位符 4"/>
          <p:cNvSpPr>
            <a:spLocks noGrp="1"/>
          </p:cNvSpPr>
          <p:nvPr>
            <p:ph type="body" sz="quarter" idx="11"/>
          </p:nvPr>
        </p:nvSpPr>
        <p:spPr>
          <a:xfrm>
            <a:off x="0" y="150273"/>
            <a:ext cx="6632575" cy="338554"/>
          </a:xfrm>
        </p:spPr>
        <p:txBody>
          <a:bodyPr/>
          <a:lstStyle/>
          <a:p>
            <a:r>
              <a:rPr lang="en-US" altLang="zh-CN" dirty="0"/>
              <a:t>1. </a:t>
            </a:r>
            <a:r>
              <a:rPr lang="zh-CN" altLang="en-US" dirty="0"/>
              <a:t>速率</a:t>
            </a:r>
          </a:p>
        </p:txBody>
      </p:sp>
      <p:sp>
        <p:nvSpPr>
          <p:cNvPr id="6" name="圆角矩形 5"/>
          <p:cNvSpPr/>
          <p:nvPr/>
        </p:nvSpPr>
        <p:spPr>
          <a:xfrm>
            <a:off x="842879" y="3383779"/>
            <a:ext cx="7228116" cy="854669"/>
          </a:xfrm>
          <a:prstGeom prst="roundRect">
            <a:avLst/>
          </a:prstGeom>
          <a:solidFill>
            <a:schemeClr val="tx2">
              <a:lumMod val="20000"/>
              <a:lumOff val="80000"/>
            </a:schemeClr>
          </a:solidFill>
          <a:ln>
            <a:solidFill>
              <a:srgbClr val="000099"/>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dirty="0"/>
          </a:p>
        </p:txBody>
      </p:sp>
      <p:sp>
        <p:nvSpPr>
          <p:cNvPr id="7" name="文本框 6"/>
          <p:cNvSpPr txBox="1"/>
          <p:nvPr/>
        </p:nvSpPr>
        <p:spPr>
          <a:xfrm>
            <a:off x="918390" y="3428532"/>
            <a:ext cx="7021977" cy="759182"/>
          </a:xfrm>
          <a:prstGeom prst="rect">
            <a:avLst/>
          </a:prstGeom>
          <a:noFill/>
        </p:spPr>
        <p:txBody>
          <a:bodyPr wrap="square" rtlCol="0">
            <a:spAutoFit/>
          </a:bodyPr>
          <a:lstStyle/>
          <a:p>
            <a:pPr>
              <a:lnSpc>
                <a:spcPts val="2600"/>
              </a:lnSpc>
            </a:pPr>
            <a:r>
              <a:rPr lang="zh-CN" altLang="zh-CN" sz="1600" b="1" dirty="0">
                <a:latin typeface="微软雅黑" panose="020B0503020204020204" pitchFamily="34" charset="-122"/>
                <a:ea typeface="微软雅黑" panose="020B0503020204020204" pitchFamily="34" charset="-122"/>
              </a:rPr>
              <a:t>千</a:t>
            </a:r>
            <a:r>
              <a:rPr lang="en-US" altLang="zh-CN" sz="1600" b="1" dirty="0">
                <a:latin typeface="微软雅黑" panose="020B0503020204020204" pitchFamily="34" charset="-122"/>
                <a:ea typeface="微软雅黑" panose="020B0503020204020204" pitchFamily="34" charset="-122"/>
              </a:rPr>
              <a:t> = </a:t>
            </a:r>
            <a:r>
              <a:rPr lang="en-US" altLang="zh-CN" sz="1600" b="1" dirty="0">
                <a:solidFill>
                  <a:srgbClr val="C00000"/>
                </a:solidFill>
                <a:latin typeface="微软雅黑" panose="020B0503020204020204" pitchFamily="34" charset="-122"/>
                <a:ea typeface="微软雅黑" panose="020B0503020204020204" pitchFamily="34" charset="-122"/>
              </a:rPr>
              <a:t>K</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10</a:t>
            </a:r>
            <a:r>
              <a:rPr lang="en-US" altLang="zh-CN" sz="1600" b="1" dirty="0">
                <a:latin typeface="微软雅黑" panose="020B0503020204020204" pitchFamily="34" charset="-122"/>
                <a:ea typeface="微软雅黑" panose="020B0503020204020204" pitchFamily="34" charset="-122"/>
              </a:rPr>
              <a:t> = 1024</a:t>
            </a:r>
            <a:r>
              <a:rPr lang="zh-CN" altLang="zh-CN" sz="1600" b="1" dirty="0">
                <a:latin typeface="微软雅黑" panose="020B0503020204020204" pitchFamily="34" charset="-122"/>
                <a:ea typeface="微软雅黑" panose="020B0503020204020204" pitchFamily="34" charset="-122"/>
              </a:rPr>
              <a:t>，兆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M</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20 </a:t>
            </a:r>
            <a:r>
              <a:rPr lang="en-US" altLang="zh-CN" sz="1600" b="1" dirty="0">
                <a:latin typeface="微软雅黑" panose="020B0503020204020204" pitchFamily="34" charset="-122"/>
                <a:ea typeface="微软雅黑" panose="020B0503020204020204" pitchFamily="34" charset="-122"/>
              </a:rPr>
              <a:t>= 1024 K</a:t>
            </a:r>
            <a:r>
              <a:rPr lang="zh-CN" altLang="zh-CN" sz="1600" b="1" dirty="0">
                <a:latin typeface="微软雅黑" panose="020B0503020204020204" pitchFamily="34" charset="-122"/>
                <a:ea typeface="微软雅黑" panose="020B0503020204020204" pitchFamily="34" charset="-122"/>
              </a:rPr>
              <a:t>，吉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G</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30 </a:t>
            </a:r>
            <a:r>
              <a:rPr lang="en-US" altLang="zh-CN" sz="1600" b="1" dirty="0">
                <a:latin typeface="微软雅黑" panose="020B0503020204020204" pitchFamily="34" charset="-122"/>
                <a:ea typeface="微软雅黑" panose="020B0503020204020204" pitchFamily="34" charset="-122"/>
              </a:rPr>
              <a:t>= 1024 M</a:t>
            </a:r>
          </a:p>
          <a:p>
            <a:pPr>
              <a:lnSpc>
                <a:spcPts val="2600"/>
              </a:lnSpc>
            </a:pP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字节 </a:t>
            </a:r>
            <a:r>
              <a:rPr lang="en-US" altLang="zh-CN" sz="1600" b="1" dirty="0">
                <a:latin typeface="微软雅黑" panose="020B0503020204020204" pitchFamily="34" charset="-122"/>
                <a:ea typeface="微软雅黑" panose="020B0503020204020204" pitchFamily="34" charset="-122"/>
              </a:rPr>
              <a:t>(Byte) =  8 </a:t>
            </a:r>
            <a:r>
              <a:rPr lang="zh-CN" altLang="en-US" sz="1600" b="1" dirty="0">
                <a:latin typeface="微软雅黑" panose="020B0503020204020204" pitchFamily="34" charset="-122"/>
                <a:ea typeface="微软雅黑" panose="020B0503020204020204" pitchFamily="34" charset="-122"/>
              </a:rPr>
              <a:t>比特 </a:t>
            </a:r>
            <a:r>
              <a:rPr lang="en-US" altLang="zh-CN" sz="1600" b="1" dirty="0">
                <a:latin typeface="微软雅黑" panose="020B0503020204020204" pitchFamily="34" charset="-122"/>
                <a:ea typeface="微软雅黑" panose="020B0503020204020204" pitchFamily="34" charset="-122"/>
              </a:rPr>
              <a:t>(bit</a:t>
            </a:r>
            <a:r>
              <a:rPr lang="zh-CN" altLang="en-US" sz="1600"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2087418391"/>
              </p:ext>
            </p:extLst>
          </p:nvPr>
        </p:nvGraphicFramePr>
        <p:xfrm>
          <a:off x="548639" y="1085158"/>
          <a:ext cx="7898674" cy="2394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内容占位符 5">
            <a:extLst>
              <a:ext uri="{FF2B5EF4-FFF2-40B4-BE49-F238E27FC236}">
                <a16:creationId xmlns:a16="http://schemas.microsoft.com/office/drawing/2014/main" id="{E4FBA29D-7805-2129-1851-6A26519049E7}"/>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2. </a:t>
            </a:r>
            <a:r>
              <a:rPr lang="zh-CN" altLang="en-US" dirty="0"/>
              <a:t>带宽 </a:t>
            </a:r>
            <a:r>
              <a:rPr lang="en-US" altLang="zh-CN" dirty="0"/>
              <a:t>(bandwidth)</a:t>
            </a:r>
            <a:endParaRPr lang="zh-CN" altLang="en-US" dirty="0"/>
          </a:p>
        </p:txBody>
      </p:sp>
      <p:sp>
        <p:nvSpPr>
          <p:cNvPr id="3" name="矩形 2"/>
          <p:cNvSpPr/>
          <p:nvPr/>
        </p:nvSpPr>
        <p:spPr>
          <a:xfrm>
            <a:off x="2061198" y="3462849"/>
            <a:ext cx="5911728"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285750" indent="-285750">
              <a:lnSpc>
                <a:spcPts val="2600"/>
              </a:lnSpc>
              <a:spcBef>
                <a:spcPts val="0"/>
              </a:spcBef>
              <a:spcAft>
                <a:spcPts val="0"/>
              </a:spcAft>
              <a:buSzPct val="85000"/>
              <a:buFont typeface="Wingdings" panose="05000000000000000000" pitchFamily="2" charset="2"/>
              <a:buChar char="u"/>
            </a:pPr>
            <a:r>
              <a:rPr lang="zh-CN" altLang="en-US" b="1" dirty="0">
                <a:latin typeface="微软雅黑" pitchFamily="34" charset="-122"/>
                <a:ea typeface="微软雅黑" pitchFamily="34" charset="-122"/>
              </a:rPr>
              <a:t>两者</a:t>
            </a:r>
            <a:r>
              <a:rPr lang="zh-CN" altLang="zh-CN" b="1" dirty="0">
                <a:solidFill>
                  <a:srgbClr val="C00000"/>
                </a:solidFill>
                <a:latin typeface="微软雅黑" pitchFamily="34" charset="-122"/>
                <a:ea typeface="微软雅黑" pitchFamily="34" charset="-122"/>
              </a:rPr>
              <a:t>本质相同</a:t>
            </a:r>
            <a:r>
              <a:rPr lang="zh-CN" altLang="zh-CN"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285750" indent="-285750">
              <a:lnSpc>
                <a:spcPts val="2600"/>
              </a:lnSpc>
              <a:spcBef>
                <a:spcPts val="0"/>
              </a:spcBef>
              <a:spcAft>
                <a:spcPts val="0"/>
              </a:spcAft>
              <a:buSzPct val="85000"/>
              <a:buFont typeface="Wingdings" panose="05000000000000000000" pitchFamily="2" charset="2"/>
              <a:buChar char="u"/>
            </a:pPr>
            <a:r>
              <a:rPr lang="zh-CN" altLang="zh-CN" b="1" dirty="0">
                <a:latin typeface="微软雅黑" pitchFamily="34" charset="-122"/>
                <a:ea typeface="微软雅黑" pitchFamily="34" charset="-122"/>
              </a:rPr>
              <a:t>一条通信链路的“带宽”越宽，其所能传输的“最高数据率”也越高。</a:t>
            </a:r>
          </a:p>
        </p:txBody>
      </p:sp>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单位时间内通过某个网络（或信道、接口）的实际数据量。</a:t>
            </a:r>
            <a:endParaRPr lang="en-US" altLang="zh-CN" dirty="0"/>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
        <p:nvSpPr>
          <p:cNvPr id="3" name="文本占位符 2"/>
          <p:cNvSpPr>
            <a:spLocks noGrp="1"/>
          </p:cNvSpPr>
          <p:nvPr>
            <p:ph type="body" sz="quarter" idx="11"/>
          </p:nvPr>
        </p:nvSpPr>
        <p:spPr>
          <a:xfrm>
            <a:off x="0" y="150273"/>
            <a:ext cx="6632575" cy="338554"/>
          </a:xfrm>
        </p:spPr>
        <p:txBody>
          <a:bodyPr/>
          <a:lstStyle/>
          <a:p>
            <a:r>
              <a:rPr lang="en-US" altLang="zh-CN" dirty="0"/>
              <a:t>3. </a:t>
            </a:r>
            <a:r>
              <a:rPr lang="zh-CN" altLang="en-US" dirty="0"/>
              <a:t>吞吐量 </a:t>
            </a:r>
            <a:r>
              <a:rPr lang="en-US" altLang="zh-CN" dirty="0"/>
              <a:t>(throughput)</a:t>
            </a:r>
            <a:endParaRPr lang="zh-CN" altLang="en-US" dirty="0"/>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指数据（一个报文或分组，甚至比特）从网络（或链路）的一端传送到另一端所需的时间。</a:t>
            </a:r>
          </a:p>
          <a:p>
            <a:r>
              <a:rPr lang="zh-CN" altLang="en-US" dirty="0"/>
              <a:t>有时也称为延迟或迟延。</a:t>
            </a:r>
            <a:endParaRPr lang="en-US" altLang="zh-CN" dirty="0"/>
          </a:p>
          <a:p>
            <a:r>
              <a:rPr lang="zh-CN" altLang="en-US" dirty="0"/>
              <a:t>组成：</a:t>
            </a:r>
          </a:p>
          <a:p>
            <a:pPr lvl="1"/>
            <a:r>
              <a:rPr lang="zh-CN" altLang="en-US" dirty="0"/>
              <a:t>（</a:t>
            </a:r>
            <a:r>
              <a:rPr lang="en-US" altLang="zh-CN" dirty="0"/>
              <a:t>1</a:t>
            </a:r>
            <a:r>
              <a:rPr lang="zh-CN" altLang="en-US" dirty="0"/>
              <a:t>）发送时延</a:t>
            </a:r>
            <a:endParaRPr lang="en-US" altLang="zh-CN" dirty="0"/>
          </a:p>
          <a:p>
            <a:pPr lvl="1"/>
            <a:r>
              <a:rPr lang="zh-CN" altLang="en-US" dirty="0"/>
              <a:t>（</a:t>
            </a:r>
            <a:r>
              <a:rPr lang="en-US" altLang="zh-CN" dirty="0"/>
              <a:t>2</a:t>
            </a:r>
            <a:r>
              <a:rPr lang="zh-CN" altLang="en-US" dirty="0"/>
              <a:t>）传播时延</a:t>
            </a:r>
          </a:p>
          <a:p>
            <a:pPr lvl="1"/>
            <a:r>
              <a:rPr lang="zh-CN" altLang="en-US" dirty="0"/>
              <a:t>（</a:t>
            </a:r>
            <a:r>
              <a:rPr lang="en-US" altLang="zh-CN" dirty="0"/>
              <a:t>3</a:t>
            </a:r>
            <a:r>
              <a:rPr lang="zh-CN" altLang="en-US" dirty="0"/>
              <a:t>）处理时延</a:t>
            </a:r>
          </a:p>
          <a:p>
            <a:pPr lvl="1"/>
            <a:r>
              <a:rPr lang="zh-CN" altLang="en-US" dirty="0"/>
              <a:t>（</a:t>
            </a:r>
            <a:r>
              <a:rPr lang="en-US" altLang="zh-CN" dirty="0"/>
              <a:t>4</a:t>
            </a:r>
            <a:r>
              <a:rPr lang="zh-CN" altLang="en-US" dirty="0"/>
              <a:t>）排队时延</a:t>
            </a:r>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也称为传输时延。</a:t>
            </a:r>
          </a:p>
          <a:p>
            <a:r>
              <a:rPr lang="zh-CN" altLang="en-US" dirty="0"/>
              <a:t>是主机或路由器发送数据帧所需要的时间，也就是从发送数据帧的第一个比特算起，到该帧的最后一个比特发送完毕所需的时间。</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1</a:t>
            </a:r>
            <a:r>
              <a:rPr lang="zh-CN" altLang="en-US" dirty="0"/>
              <a:t>）发送时延</a:t>
            </a:r>
          </a:p>
        </p:txBody>
      </p:sp>
      <p:sp>
        <p:nvSpPr>
          <p:cNvPr id="5" name="Rectangle 14"/>
          <p:cNvSpPr>
            <a:spLocks noChangeArrowheads="1"/>
          </p:cNvSpPr>
          <p:nvPr/>
        </p:nvSpPr>
        <p:spPr bwMode="auto">
          <a:xfrm>
            <a:off x="934391" y="2254901"/>
            <a:ext cx="6729074"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6" name="组合 6"/>
          <p:cNvGrpSpPr>
            <a:grpSpLocks/>
          </p:cNvGrpSpPr>
          <p:nvPr/>
        </p:nvGrpSpPr>
        <p:grpSpPr bwMode="auto">
          <a:xfrm>
            <a:off x="1591895" y="2453050"/>
            <a:ext cx="5319251" cy="847785"/>
            <a:chOff x="2539747" y="4370700"/>
            <a:chExt cx="4467381" cy="847785"/>
          </a:xfrm>
        </p:grpSpPr>
        <p:sp>
          <p:nvSpPr>
            <p:cNvPr id="7" name="Text Box 9"/>
            <p:cNvSpPr txBox="1">
              <a:spLocks noChangeArrowheads="1"/>
            </p:cNvSpPr>
            <p:nvPr/>
          </p:nvSpPr>
          <p:spPr bwMode="auto">
            <a:xfrm>
              <a:off x="2539747" y="460247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发送时延 </a:t>
              </a:r>
              <a:r>
                <a:rPr lang="en-US" altLang="zh-CN" sz="2000" b="1" dirty="0">
                  <a:solidFill>
                    <a:srgbClr val="000066"/>
                  </a:solidFill>
                  <a:latin typeface="微软雅黑" pitchFamily="34" charset="-122"/>
                  <a:ea typeface="微软雅黑" pitchFamily="34" charset="-122"/>
                </a:rPr>
                <a:t>= </a:t>
              </a:r>
            </a:p>
          </p:txBody>
        </p:sp>
        <p:sp>
          <p:nvSpPr>
            <p:cNvPr id="8" name="Text Box 10"/>
            <p:cNvSpPr txBox="1">
              <a:spLocks noChangeArrowheads="1"/>
            </p:cNvSpPr>
            <p:nvPr/>
          </p:nvSpPr>
          <p:spPr bwMode="auto">
            <a:xfrm>
              <a:off x="4333881" y="4370700"/>
              <a:ext cx="195911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数据帧长度（</a:t>
              </a:r>
              <a:r>
                <a:rPr lang="en-US" altLang="zh-CN" sz="2000" b="1" dirty="0">
                  <a:solidFill>
                    <a:srgbClr val="000066"/>
                  </a:solidFill>
                  <a:latin typeface="微软雅黑" pitchFamily="34" charset="-122"/>
                  <a:ea typeface="微软雅黑" pitchFamily="34" charset="-122"/>
                </a:rPr>
                <a:t>bit</a:t>
              </a:r>
              <a:r>
                <a:rPr lang="zh-CN" altLang="en-US" sz="2000" b="1" dirty="0">
                  <a:solidFill>
                    <a:srgbClr val="000066"/>
                  </a:solidFill>
                  <a:latin typeface="微软雅黑" pitchFamily="34" charset="-122"/>
                  <a:ea typeface="微软雅黑" pitchFamily="34" charset="-122"/>
                </a:rPr>
                <a:t>）</a:t>
              </a:r>
            </a:p>
          </p:txBody>
        </p:sp>
        <p:sp>
          <p:nvSpPr>
            <p:cNvPr id="9" name="Text Box 11"/>
            <p:cNvSpPr txBox="1">
              <a:spLocks noChangeArrowheads="1"/>
            </p:cNvSpPr>
            <p:nvPr/>
          </p:nvSpPr>
          <p:spPr bwMode="auto">
            <a:xfrm>
              <a:off x="4337429" y="4818375"/>
              <a:ext cx="1952379"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发送速率（</a:t>
              </a:r>
              <a:r>
                <a:rPr lang="en-US" altLang="zh-CN" sz="2000" b="1" dirty="0">
                  <a:solidFill>
                    <a:srgbClr val="000066"/>
                  </a:solidFill>
                  <a:latin typeface="微软雅黑" pitchFamily="34" charset="-122"/>
                  <a:ea typeface="微软雅黑" pitchFamily="34" charset="-122"/>
                </a:rPr>
                <a:t>bit/s</a:t>
              </a:r>
              <a:r>
                <a:rPr lang="zh-CN" altLang="en-US" sz="2000" b="1" dirty="0">
                  <a:solidFill>
                    <a:srgbClr val="000066"/>
                  </a:solidFill>
                  <a:latin typeface="微软雅黑" pitchFamily="34" charset="-122"/>
                  <a:ea typeface="微软雅黑" pitchFamily="34" charset="-122"/>
                </a:rPr>
                <a:t>）</a:t>
              </a:r>
            </a:p>
          </p:txBody>
        </p:sp>
        <p:sp>
          <p:nvSpPr>
            <p:cNvPr id="10" name="Line 12"/>
            <p:cNvSpPr>
              <a:spLocks noChangeShapeType="1"/>
            </p:cNvSpPr>
            <p:nvPr/>
          </p:nvSpPr>
          <p:spPr bwMode="auto">
            <a:xfrm>
              <a:off x="3780428" y="4805675"/>
              <a:ext cx="3226700"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是电磁波在信道中传播一定的距离需要花费的时间。</a:t>
            </a:r>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zh-CN" altLang="en-US" dirty="0"/>
              <a:t>ⅹ</a:t>
            </a:r>
            <a:r>
              <a:rPr lang="en-US" altLang="zh-CN" dirty="0"/>
              <a:t> 105 km/s</a:t>
            </a:r>
          </a:p>
          <a:p>
            <a:pPr lvl="1"/>
            <a:r>
              <a:rPr lang="zh-CN" altLang="en-US" dirty="0"/>
              <a:t>在铜线电缆中的传播速率约 </a:t>
            </a:r>
            <a:r>
              <a:rPr lang="en-US" altLang="zh-CN" dirty="0"/>
              <a:t>= 2.3 </a:t>
            </a:r>
            <a:r>
              <a:rPr lang="zh-CN" altLang="en-US" dirty="0"/>
              <a:t>ⅹ</a:t>
            </a:r>
            <a:r>
              <a:rPr lang="en-US" altLang="zh-CN" dirty="0"/>
              <a:t> 105 km/s</a:t>
            </a:r>
          </a:p>
          <a:p>
            <a:pPr lvl="1"/>
            <a:r>
              <a:rPr lang="zh-CN" altLang="en-US" dirty="0"/>
              <a:t>在光纤中的传播速率约 </a:t>
            </a:r>
            <a:r>
              <a:rPr lang="en-US" altLang="zh-CN" dirty="0"/>
              <a:t>=</a:t>
            </a:r>
            <a:r>
              <a:rPr lang="zh-CN" altLang="en-US" dirty="0"/>
              <a:t> </a:t>
            </a:r>
            <a:r>
              <a:rPr lang="en-US" altLang="zh-CN" dirty="0"/>
              <a:t>2.0 </a:t>
            </a:r>
            <a:r>
              <a:rPr lang="zh-CN" altLang="en-US" dirty="0"/>
              <a:t>ⅹ </a:t>
            </a:r>
            <a:r>
              <a:rPr lang="en-US" altLang="zh-CN" dirty="0"/>
              <a:t>105 km/s</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2</a:t>
            </a:r>
            <a:r>
              <a:rPr lang="zh-CN" altLang="en-US" dirty="0"/>
              <a:t>）传播时延</a:t>
            </a:r>
          </a:p>
        </p:txBody>
      </p:sp>
      <p:sp>
        <p:nvSpPr>
          <p:cNvPr id="12" name="Rectangle 14"/>
          <p:cNvSpPr>
            <a:spLocks noChangeArrowheads="1"/>
          </p:cNvSpPr>
          <p:nvPr/>
        </p:nvSpPr>
        <p:spPr bwMode="auto">
          <a:xfrm>
            <a:off x="1012844" y="1515743"/>
            <a:ext cx="7103543"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latin typeface="+mn-lt"/>
              <a:ea typeface="黑体" pitchFamily="2" charset="-122"/>
            </a:endParaRPr>
          </a:p>
        </p:txBody>
      </p:sp>
      <p:grpSp>
        <p:nvGrpSpPr>
          <p:cNvPr id="13" name="组合 13"/>
          <p:cNvGrpSpPr>
            <a:grpSpLocks/>
          </p:cNvGrpSpPr>
          <p:nvPr/>
        </p:nvGrpSpPr>
        <p:grpSpPr bwMode="auto">
          <a:xfrm>
            <a:off x="1443748" y="1677408"/>
            <a:ext cx="6399421" cy="857019"/>
            <a:chOff x="2196085" y="4343452"/>
            <a:chExt cx="5374557" cy="857019"/>
          </a:xfrm>
        </p:grpSpPr>
        <p:sp>
          <p:nvSpPr>
            <p:cNvPr id="14" name="Text Box 9"/>
            <p:cNvSpPr txBox="1">
              <a:spLocks noChangeArrowheads="1"/>
            </p:cNvSpPr>
            <p:nvPr/>
          </p:nvSpPr>
          <p:spPr bwMode="auto">
            <a:xfrm>
              <a:off x="2196085" y="455468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传播时延 </a:t>
              </a:r>
              <a:r>
                <a:rPr lang="en-US" altLang="zh-CN" sz="2000" b="1" dirty="0">
                  <a:solidFill>
                    <a:srgbClr val="000066"/>
                  </a:solidFill>
                  <a:latin typeface="微软雅黑" pitchFamily="34" charset="-122"/>
                  <a:ea typeface="微软雅黑" pitchFamily="34" charset="-122"/>
                </a:rPr>
                <a:t>= </a:t>
              </a:r>
            </a:p>
          </p:txBody>
        </p:sp>
        <p:sp>
          <p:nvSpPr>
            <p:cNvPr id="15" name="Text Box 10"/>
            <p:cNvSpPr txBox="1">
              <a:spLocks noChangeArrowheads="1"/>
            </p:cNvSpPr>
            <p:nvPr/>
          </p:nvSpPr>
          <p:spPr bwMode="auto">
            <a:xfrm>
              <a:off x="4527837" y="4343452"/>
              <a:ext cx="1662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信道长度（米）</a:t>
              </a:r>
            </a:p>
          </p:txBody>
        </p:sp>
        <p:sp>
          <p:nvSpPr>
            <p:cNvPr id="16" name="Text Box 11"/>
            <p:cNvSpPr txBox="1">
              <a:spLocks noChangeArrowheads="1"/>
            </p:cNvSpPr>
            <p:nvPr/>
          </p:nvSpPr>
          <p:spPr bwMode="auto">
            <a:xfrm>
              <a:off x="3429460" y="4800361"/>
              <a:ext cx="414118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信号在信道上的传播速率（米</a:t>
              </a:r>
              <a:r>
                <a:rPr lang="en-US" altLang="zh-CN" sz="2000" b="1">
                  <a:solidFill>
                    <a:srgbClr val="000066"/>
                  </a:solidFill>
                  <a:latin typeface="微软雅黑" pitchFamily="34" charset="-122"/>
                  <a:ea typeface="微软雅黑" pitchFamily="34" charset="-122"/>
                </a:rPr>
                <a:t>/</a:t>
              </a:r>
              <a:r>
                <a:rPr lang="zh-CN" altLang="en-US" sz="2000" b="1">
                  <a:solidFill>
                    <a:srgbClr val="000066"/>
                  </a:solidFill>
                  <a:latin typeface="微软雅黑" pitchFamily="34" charset="-122"/>
                  <a:ea typeface="微软雅黑" pitchFamily="34" charset="-122"/>
                </a:rPr>
                <a:t>秒）</a:t>
              </a:r>
            </a:p>
          </p:txBody>
        </p:sp>
        <p:sp>
          <p:nvSpPr>
            <p:cNvPr id="17" name="Line 12"/>
            <p:cNvSpPr>
              <a:spLocks noChangeShapeType="1"/>
            </p:cNvSpPr>
            <p:nvPr/>
          </p:nvSpPr>
          <p:spPr bwMode="auto">
            <a:xfrm>
              <a:off x="3429459" y="4759955"/>
              <a:ext cx="3842413"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solidFill>
                  <a:srgbClr val="000099"/>
                </a:solidFill>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pPr lvl="1"/>
            <a:r>
              <a:rPr lang="zh-CN" altLang="en-US" dirty="0"/>
              <a:t>注意：发送时延与传播时延</a:t>
            </a:r>
            <a:r>
              <a:rPr lang="zh-CN" altLang="zh-CN" dirty="0"/>
              <a:t>有本质上的不同</a:t>
            </a:r>
            <a:r>
              <a:rPr lang="zh-CN" altLang="en-US" dirty="0"/>
              <a:t>。</a:t>
            </a:r>
            <a:endParaRPr lang="en-US" altLang="zh-CN" dirty="0"/>
          </a:p>
          <a:p>
            <a:pPr lvl="1"/>
            <a:r>
              <a:rPr lang="zh-CN" altLang="en-US" dirty="0"/>
              <a:t>发送时延发生在机器内部的发送器中，与传输信道的长度（或信号传送的距离）没有任何关系。</a:t>
            </a:r>
            <a:endParaRPr lang="en-US" altLang="zh-CN" dirty="0"/>
          </a:p>
          <a:p>
            <a:pPr lvl="1"/>
            <a:r>
              <a:rPr lang="zh-CN" altLang="en-US" dirty="0"/>
              <a:t>传播时延则发生在机器外部的传输信道媒体上，而与信号的发送速率无关。信号传送的距离越远，传播时延就越大。</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2</a:t>
            </a:r>
            <a:r>
              <a:rPr lang="zh-CN" altLang="en-US" dirty="0"/>
              <a:t>）传播时延</a:t>
            </a:r>
          </a:p>
        </p:txBody>
      </p:sp>
    </p:spTree>
    <p:extLst>
      <p:ext uri="{BB962C8B-B14F-4D97-AF65-F5344CB8AC3E}">
        <p14:creationId xmlns:p14="http://schemas.microsoft.com/office/powerpoint/2010/main" val="183324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a:t>
            </a:r>
            <a:r>
              <a:rPr lang="en-US" altLang="zh-CN" dirty="0"/>
              <a:t>3</a:t>
            </a:r>
            <a:r>
              <a:rPr lang="zh-CN" altLang="en-US" dirty="0"/>
              <a:t>）处理时延</a:t>
            </a:r>
            <a:endParaRPr lang="en-US" altLang="zh-CN" dirty="0"/>
          </a:p>
          <a:p>
            <a:pPr lvl="1"/>
            <a:r>
              <a:rPr lang="zh-CN" altLang="en-US" dirty="0"/>
              <a:t>主机或路由器在收到分组时，为处理分组（例如分析首部、提取数据、差错检验或查找路由）所花费的时间。 </a:t>
            </a:r>
          </a:p>
          <a:p>
            <a:r>
              <a:rPr lang="zh-CN" altLang="en-US" dirty="0"/>
              <a:t>（</a:t>
            </a:r>
            <a:r>
              <a:rPr lang="en-US" altLang="zh-CN" dirty="0"/>
              <a:t>4</a:t>
            </a:r>
            <a:r>
              <a:rPr lang="zh-CN" altLang="en-US" dirty="0"/>
              <a:t>）排队时延</a:t>
            </a:r>
            <a:endParaRPr lang="en-US" altLang="zh-CN" dirty="0"/>
          </a:p>
          <a:p>
            <a:pPr lvl="1"/>
            <a:r>
              <a:rPr lang="zh-CN" altLang="en-US" dirty="0"/>
              <a:t>分组在路由器输入输出队列中排队等待处理和转发所经历的时延。</a:t>
            </a:r>
          </a:p>
          <a:p>
            <a:pPr lvl="1"/>
            <a:r>
              <a:rPr lang="zh-CN" altLang="en-US" dirty="0"/>
              <a:t>排队时延的长短往往取决于网络中当时的通信量。当网络的通信量很大时会发生队列溢出，使分组丢失，这相当于排队时延为无穷大。</a:t>
            </a:r>
            <a:endParaRPr lang="en-US" altLang="zh-CN" dirty="0"/>
          </a:p>
          <a:p>
            <a:pPr lvl="1"/>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a:t>
            </a:r>
            <a:r>
              <a:rPr lang="en-US" altLang="zh-CN" dirty="0"/>
              <a:t>3</a:t>
            </a:r>
            <a:r>
              <a:rPr lang="zh-CN" altLang="en-US" dirty="0"/>
              <a:t>）处理时延 和（</a:t>
            </a:r>
            <a:r>
              <a:rPr lang="en-US" altLang="zh-CN" dirty="0"/>
              <a:t>4</a:t>
            </a:r>
            <a:r>
              <a:rPr lang="zh-CN" altLang="en-US" dirty="0"/>
              <a:t>）排队时延</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endParaRPr lang="en-US" altLang="zh-CN" dirty="0"/>
          </a:p>
          <a:p>
            <a:endParaRPr lang="en-US" altLang="zh-CN" dirty="0"/>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5" name="Rectangle 14"/>
          <p:cNvSpPr>
            <a:spLocks noChangeArrowheads="1"/>
          </p:cNvSpPr>
          <p:nvPr/>
        </p:nvSpPr>
        <p:spPr bwMode="auto">
          <a:xfrm>
            <a:off x="1116558" y="1239333"/>
            <a:ext cx="7147875" cy="815892"/>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a:solidFill>
                <a:schemeClr val="tx1"/>
              </a:solidFill>
              <a:latin typeface="+mn-lt"/>
              <a:ea typeface="黑体" pitchFamily="2" charset="-122"/>
            </a:endParaRPr>
          </a:p>
        </p:txBody>
      </p:sp>
      <p:sp>
        <p:nvSpPr>
          <p:cNvPr id="6" name="矩形 13"/>
          <p:cNvSpPr>
            <a:spLocks noChangeArrowheads="1"/>
          </p:cNvSpPr>
          <p:nvPr/>
        </p:nvSpPr>
        <p:spPr bwMode="auto">
          <a:xfrm>
            <a:off x="1410578" y="1454755"/>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
        <p:nvSpPr>
          <p:cNvPr id="4" name="矩形 3"/>
          <p:cNvSpPr/>
          <p:nvPr/>
        </p:nvSpPr>
        <p:spPr>
          <a:xfrm>
            <a:off x="2062069" y="3426545"/>
            <a:ext cx="4727219"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zh-CN" b="1" dirty="0">
                <a:latin typeface="微软雅黑" pitchFamily="34" charset="-122"/>
                <a:ea typeface="微软雅黑" pitchFamily="34" charset="-122"/>
              </a:rPr>
              <a:t>必须指出，在总时延中，究竟是哪一种时延</a:t>
            </a:r>
            <a:r>
              <a:rPr lang="zh-CN" altLang="zh-CN" b="1" dirty="0">
                <a:solidFill>
                  <a:srgbClr val="0000CC"/>
                </a:solidFill>
                <a:latin typeface="微软雅黑" pitchFamily="34" charset="-122"/>
                <a:ea typeface="微软雅黑" pitchFamily="34" charset="-122"/>
              </a:rPr>
              <a:t>占主导地位</a:t>
            </a:r>
            <a:r>
              <a:rPr lang="zh-CN" altLang="zh-CN" b="1" dirty="0">
                <a:latin typeface="微软雅黑" pitchFamily="34" charset="-122"/>
                <a:ea typeface="微软雅黑" pitchFamily="34" charset="-122"/>
              </a:rPr>
              <a:t>，必须具体分析</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75063" y="1008593"/>
            <a:ext cx="7323908" cy="298355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a:ea typeface="黑体" pitchFamily="49"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a:latin typeface="+mn-lt"/>
              <a:ea typeface="黑体" pitchFamily="2"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solidFill>
              <a:schemeClr val="folHlink"/>
            </a:solidFill>
            <a:round/>
            <a:headEnd/>
            <a:tailEnd/>
          </a:ln>
        </p:spPr>
        <p:txBody>
          <a:bodyPr wrap="none" anchor="ctr"/>
          <a:lstStyle/>
          <a:p>
            <a:endParaRPr lang="zh-CN" altLang="en-US" sz="1200" b="1">
              <a:ea typeface="黑体" pitchFamily="49" charset="-122"/>
            </a:endParaRPr>
          </a:p>
        </p:txBody>
      </p:sp>
      <p:grpSp>
        <p:nvGrpSpPr>
          <p:cNvPr id="108556" name="Group 11"/>
          <p:cNvGrpSpPr>
            <a:grpSpLocks/>
          </p:cNvGrpSpPr>
          <p:nvPr/>
        </p:nvGrpSpPr>
        <p:grpSpPr bwMode="auto">
          <a:xfrm>
            <a:off x="2374871" y="2949660"/>
            <a:ext cx="504825" cy="295275"/>
            <a:chOff x="1567" y="1056"/>
            <a:chExt cx="384" cy="336"/>
          </a:xfrm>
        </p:grpSpPr>
        <p:sp>
          <p:nvSpPr>
            <p:cNvPr id="11" name="Rectangle 12"/>
            <p:cNvSpPr>
              <a:spLocks noChangeArrowheads="1"/>
            </p:cNvSpPr>
            <p:nvPr/>
          </p:nvSpPr>
          <p:spPr bwMode="auto">
            <a:xfrm>
              <a:off x="1664" y="1056"/>
              <a:ext cx="287" cy="336"/>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黑体" pitchFamily="2" charset="-122"/>
              </a:endParaRPr>
            </a:p>
          </p:txBody>
        </p:sp>
        <p:sp>
          <p:nvSpPr>
            <p:cNvPr id="108579" name="Freeform 13"/>
            <p:cNvSpPr>
              <a:spLocks/>
            </p:cNvSpPr>
            <p:nvPr/>
          </p:nvSpPr>
          <p:spPr bwMode="auto">
            <a:xfrm>
              <a:off x="1567" y="1056"/>
              <a:ext cx="384" cy="336"/>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0" name="Line 14"/>
            <p:cNvSpPr>
              <a:spLocks noChangeShapeType="1"/>
            </p:cNvSpPr>
            <p:nvPr/>
          </p:nvSpPr>
          <p:spPr bwMode="auto">
            <a:xfrm>
              <a:off x="1855"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1" name="Line 15"/>
            <p:cNvSpPr>
              <a:spLocks noChangeShapeType="1"/>
            </p:cNvSpPr>
            <p:nvPr/>
          </p:nvSpPr>
          <p:spPr bwMode="auto">
            <a:xfrm>
              <a:off x="1759"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82" name="Line 16"/>
            <p:cNvSpPr>
              <a:spLocks noChangeShapeType="1"/>
            </p:cNvSpPr>
            <p:nvPr/>
          </p:nvSpPr>
          <p:spPr bwMode="auto">
            <a:xfrm>
              <a:off x="1663"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a:ea typeface="黑体" pitchFamily="49"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solidFill>
              <a:srgbClr val="000066"/>
            </a:solidFill>
          </a:ln>
        </p:spPr>
        <p:txBody>
          <a:bodyPr wrap="none" anchor="ctr"/>
          <a:lstStyle/>
          <a:p>
            <a:endParaRPr lang="zh-CN" altLang="en-US" sz="1200" b="1">
              <a:ea typeface="黑体" pitchFamily="49" charset="-122"/>
            </a:endParaRPr>
          </a:p>
        </p:txBody>
      </p:sp>
      <p:sp>
        <p:nvSpPr>
          <p:cNvPr id="108563" name="Text Box 29"/>
          <p:cNvSpPr txBox="1">
            <a:spLocks noChangeArrowheads="1"/>
          </p:cNvSpPr>
          <p:nvPr/>
        </p:nvSpPr>
        <p:spPr bwMode="auto">
          <a:xfrm>
            <a:off x="5473671" y="2882985"/>
            <a:ext cx="379412" cy="3444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en-US" altLang="zh-CN" sz="2000" b="1">
                <a:ea typeface="黑体" pitchFamily="49" charset="-122"/>
              </a:rPr>
              <a:t>…</a:t>
            </a:r>
          </a:p>
        </p:txBody>
      </p:sp>
      <p:sp>
        <p:nvSpPr>
          <p:cNvPr id="108564" name="Text Box 32"/>
          <p:cNvSpPr txBox="1">
            <a:spLocks noChangeArrowheads="1"/>
          </p:cNvSpPr>
          <p:nvPr/>
        </p:nvSpPr>
        <p:spPr bwMode="auto">
          <a:xfrm>
            <a:off x="3273396" y="337193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发送器</a:t>
            </a:r>
          </a:p>
        </p:txBody>
      </p:sp>
      <p:sp>
        <p:nvSpPr>
          <p:cNvPr id="108565" name="Text Box 34"/>
          <p:cNvSpPr txBox="1">
            <a:spLocks noChangeArrowheads="1"/>
          </p:cNvSpPr>
          <p:nvPr/>
        </p:nvSpPr>
        <p:spPr bwMode="auto">
          <a:xfrm>
            <a:off x="2389158" y="3217992"/>
            <a:ext cx="558800" cy="31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ea typeface="黑体" pitchFamily="49" charset="-122"/>
              </a:rPr>
              <a:t>队列</a:t>
            </a:r>
          </a:p>
        </p:txBody>
      </p:sp>
      <p:grpSp>
        <p:nvGrpSpPr>
          <p:cNvPr id="25" name="Group 45"/>
          <p:cNvGrpSpPr>
            <a:grpSpLocks/>
          </p:cNvGrpSpPr>
          <p:nvPr/>
        </p:nvGrpSpPr>
        <p:grpSpPr bwMode="auto">
          <a:xfrm>
            <a:off x="5110637" y="1883843"/>
            <a:ext cx="1644048" cy="1037594"/>
            <a:chOff x="3363" y="1933"/>
            <a:chExt cx="1486" cy="1016"/>
          </a:xfrm>
          <a:solidFill>
            <a:srgbClr val="0070C0"/>
          </a:solidFill>
        </p:grpSpPr>
        <p:sp>
          <p:nvSpPr>
            <p:cNvPr id="26" name="Line 33"/>
            <p:cNvSpPr>
              <a:spLocks noChangeShapeType="1"/>
            </p:cNvSpPr>
            <p:nvPr/>
          </p:nvSpPr>
          <p:spPr bwMode="auto">
            <a:xfrm flipH="1">
              <a:off x="3363" y="2369"/>
              <a:ext cx="322" cy="580"/>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ln>
                  <a:solidFill>
                    <a:srgbClr val="993300"/>
                  </a:solidFill>
                </a:ln>
                <a:solidFill>
                  <a:schemeClr val="accent3"/>
                </a:solidFill>
                <a:latin typeface="微软雅黑" pitchFamily="34" charset="-122"/>
                <a:ea typeface="微软雅黑" pitchFamily="34" charset="-122"/>
              </a:endParaRPr>
            </a:p>
          </p:txBody>
        </p:sp>
        <p:sp>
          <p:nvSpPr>
            <p:cNvPr id="27" name="Text Box 36"/>
            <p:cNvSpPr txBox="1">
              <a:spLocks noChangeArrowheads="1"/>
            </p:cNvSpPr>
            <p:nvPr/>
          </p:nvSpPr>
          <p:spPr bwMode="auto">
            <a:xfrm>
              <a:off x="3506" y="1933"/>
              <a:ext cx="1343" cy="512"/>
            </a:xfrm>
            <a:prstGeom prst="rect">
              <a:avLst/>
            </a:prstGeom>
            <a:solidFill>
              <a:srgbClr val="6633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在链路上产生</a:t>
              </a:r>
            </a:p>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传播时延</a:t>
              </a:r>
            </a:p>
          </p:txBody>
        </p:sp>
      </p:grpSp>
      <p:sp>
        <p:nvSpPr>
          <p:cNvPr id="108567" name="Text Box 37"/>
          <p:cNvSpPr txBox="1">
            <a:spLocks noChangeArrowheads="1"/>
          </p:cNvSpPr>
          <p:nvPr/>
        </p:nvSpPr>
        <p:spPr bwMode="auto">
          <a:xfrm>
            <a:off x="6891308" y="3560076"/>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8568" name="Text Box 38"/>
          <p:cNvSpPr txBox="1">
            <a:spLocks noChangeArrowheads="1"/>
          </p:cNvSpPr>
          <p:nvPr/>
        </p:nvSpPr>
        <p:spPr bwMode="auto">
          <a:xfrm>
            <a:off x="2208866" y="3555536"/>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nvGrpSpPr>
          <p:cNvPr id="30" name="Group 44"/>
          <p:cNvGrpSpPr>
            <a:grpSpLocks/>
          </p:cNvGrpSpPr>
          <p:nvPr/>
        </p:nvGrpSpPr>
        <p:grpSpPr bwMode="auto">
          <a:xfrm>
            <a:off x="2987414" y="1728274"/>
            <a:ext cx="2027954" cy="1379714"/>
            <a:chOff x="1118" y="1781"/>
            <a:chExt cx="1833" cy="1351"/>
          </a:xfrm>
          <a:solidFill>
            <a:srgbClr val="0070C0"/>
          </a:solidFill>
        </p:grpSpPr>
        <p:sp>
          <p:nvSpPr>
            <p:cNvPr id="32" name="Line 40"/>
            <p:cNvSpPr>
              <a:spLocks noChangeShapeType="1"/>
            </p:cNvSpPr>
            <p:nvPr/>
          </p:nvSpPr>
          <p:spPr bwMode="auto">
            <a:xfrm flipH="1">
              <a:off x="1118" y="2195"/>
              <a:ext cx="122" cy="937"/>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solidFill>
                  <a:schemeClr val="accent3"/>
                </a:solidFill>
                <a:latin typeface="微软雅黑" pitchFamily="34" charset="-122"/>
                <a:ea typeface="微软雅黑" pitchFamily="34" charset="-122"/>
              </a:endParaRPr>
            </a:p>
          </p:txBody>
        </p:sp>
        <p:sp>
          <p:nvSpPr>
            <p:cNvPr id="31" name="Text Box 24"/>
            <p:cNvSpPr txBox="1">
              <a:spLocks noChangeArrowheads="1"/>
            </p:cNvSpPr>
            <p:nvPr/>
          </p:nvSpPr>
          <p:spPr bwMode="auto">
            <a:xfrm>
              <a:off x="1161" y="1781"/>
              <a:ext cx="1790" cy="512"/>
            </a:xfrm>
            <a:prstGeom prst="rect">
              <a:avLst/>
            </a:prstGeom>
            <a:solidFill>
              <a:srgbClr val="0066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在发送器产生发送时延</a:t>
              </a:r>
            </a:p>
            <a:p>
              <a:pPr algn="ctr" fontAlgn="auto">
                <a:spcBef>
                  <a:spcPts val="0"/>
                </a:spcBef>
                <a:spcAft>
                  <a:spcPts val="0"/>
                </a:spcAft>
                <a:defRPr/>
              </a:pPr>
              <a:r>
                <a:rPr kumimoji="1" lang="en-US" altLang="zh-CN" sz="1400" b="1" dirty="0">
                  <a:solidFill>
                    <a:schemeClr val="bg1"/>
                  </a:solidFill>
                  <a:latin typeface="微软雅黑" pitchFamily="34" charset="-122"/>
                  <a:ea typeface="微软雅黑" pitchFamily="34" charset="-122"/>
                </a:rPr>
                <a:t>(</a:t>
              </a:r>
              <a:r>
                <a:rPr kumimoji="1" lang="zh-CN" altLang="en-US" sz="1400" b="1" dirty="0">
                  <a:solidFill>
                    <a:schemeClr val="bg1"/>
                  </a:solidFill>
                  <a:latin typeface="微软雅黑" pitchFamily="34" charset="-122"/>
                  <a:ea typeface="微软雅黑" pitchFamily="34" charset="-122"/>
                </a:rPr>
                <a:t>即传输时延</a:t>
              </a:r>
              <a:r>
                <a:rPr kumimoji="1" lang="en-US" altLang="zh-CN" sz="1400" b="1" dirty="0">
                  <a:solidFill>
                    <a:schemeClr val="bg1"/>
                  </a:solidFill>
                  <a:latin typeface="微软雅黑" pitchFamily="34" charset="-122"/>
                  <a:ea typeface="微软雅黑" pitchFamily="34" charset="-122"/>
                </a:rPr>
                <a:t>)</a:t>
              </a:r>
            </a:p>
          </p:txBody>
        </p:sp>
      </p:grpSp>
      <p:sp>
        <p:nvSpPr>
          <p:cNvPr id="108570" name="Line 41"/>
          <p:cNvSpPr>
            <a:spLocks noChangeShapeType="1"/>
          </p:cNvSpPr>
          <p:nvPr/>
        </p:nvSpPr>
        <p:spPr bwMode="auto">
          <a:xfrm flipH="1" flipV="1">
            <a:off x="3027332" y="3178260"/>
            <a:ext cx="280986" cy="365123"/>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108571" name="组合 40"/>
          <p:cNvGrpSpPr>
            <a:grpSpLocks/>
          </p:cNvGrpSpPr>
          <p:nvPr/>
        </p:nvGrpSpPr>
        <p:grpSpPr bwMode="auto">
          <a:xfrm>
            <a:off x="944534" y="1676855"/>
            <a:ext cx="1800225" cy="1384349"/>
            <a:chOff x="923708" y="1819146"/>
            <a:chExt cx="1800494" cy="1384449"/>
          </a:xfrm>
        </p:grpSpPr>
        <p:sp>
          <p:nvSpPr>
            <p:cNvPr id="108576" name="Line 39"/>
            <p:cNvSpPr>
              <a:spLocks noChangeShapeType="1"/>
            </p:cNvSpPr>
            <p:nvPr/>
          </p:nvSpPr>
          <p:spPr bwMode="auto">
            <a:xfrm>
              <a:off x="2011307" y="2293868"/>
              <a:ext cx="673995" cy="909727"/>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8577" name="Text Box 42"/>
            <p:cNvSpPr txBox="1">
              <a:spLocks noChangeArrowheads="1"/>
            </p:cNvSpPr>
            <p:nvPr/>
          </p:nvSpPr>
          <p:spPr bwMode="auto">
            <a:xfrm>
              <a:off x="923708" y="1819146"/>
              <a:ext cx="1800494" cy="523220"/>
            </a:xfrm>
            <a:prstGeom prst="rect">
              <a:avLst/>
            </a:prstGeom>
            <a:solidFill>
              <a:srgbClr val="000099"/>
            </a:solidFill>
            <a:ln>
              <a:noFill/>
            </a:ln>
            <a:extLst>
              <a:ext uri="{91240B29-F687-4F45-9708-019B960494DF}">
                <a14:hiddenLine xmlns:a14="http://schemas.microsoft.com/office/drawing/2010/main" w="76200" cmpd="tri">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微软雅黑" pitchFamily="34" charset="-122"/>
                  <a:ea typeface="微软雅黑" pitchFamily="34" charset="-122"/>
                </a:rPr>
                <a:t>在这里产生</a:t>
              </a:r>
            </a:p>
            <a:p>
              <a:pPr algn="ctr"/>
              <a:r>
                <a:rPr kumimoji="1" lang="zh-CN" altLang="en-US" sz="1400" b="1" dirty="0">
                  <a:solidFill>
                    <a:schemeClr val="bg1"/>
                  </a:solidFill>
                  <a:latin typeface="微软雅黑" pitchFamily="34" charset="-122"/>
                  <a:ea typeface="微软雅黑" pitchFamily="34" charset="-122"/>
                </a:rPr>
                <a:t>处理时延和排队时延</a:t>
              </a:r>
            </a:p>
          </p:txBody>
        </p:sp>
      </p:grpSp>
      <p:sp>
        <p:nvSpPr>
          <p:cNvPr id="108572" name="Text Box 46"/>
          <p:cNvSpPr txBox="1">
            <a:spLocks noChangeArrowheads="1"/>
          </p:cNvSpPr>
          <p:nvPr/>
        </p:nvSpPr>
        <p:spPr bwMode="auto">
          <a:xfrm>
            <a:off x="1665258" y="3244935"/>
            <a:ext cx="555625"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数据</a:t>
            </a:r>
          </a:p>
        </p:txBody>
      </p:sp>
      <p:sp>
        <p:nvSpPr>
          <p:cNvPr id="108573" name="Text Box 47"/>
          <p:cNvSpPr txBox="1">
            <a:spLocks noChangeArrowheads="1"/>
          </p:cNvSpPr>
          <p:nvPr/>
        </p:nvSpPr>
        <p:spPr bwMode="auto">
          <a:xfrm>
            <a:off x="2266589" y="1002436"/>
            <a:ext cx="4343217"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lnSpc>
                <a:spcPts val="2700"/>
              </a:lnSpc>
              <a:spcBef>
                <a:spcPts val="600"/>
              </a:spcBef>
            </a:pPr>
            <a:r>
              <a:rPr kumimoji="1" lang="zh-CN" altLang="en-US" b="1" dirty="0">
                <a:solidFill>
                  <a:srgbClr val="0000FF"/>
                </a:solidFill>
                <a:latin typeface="微软雅黑" pitchFamily="34" charset="-122"/>
                <a:ea typeface="微软雅黑" pitchFamily="34" charset="-122"/>
              </a:rPr>
              <a:t>假设从结点 </a:t>
            </a:r>
            <a:r>
              <a:rPr kumimoji="1" lang="en-US" altLang="zh-CN" b="1" dirty="0">
                <a:solidFill>
                  <a:srgbClr val="0000FF"/>
                </a:solidFill>
                <a:latin typeface="微软雅黑" pitchFamily="34" charset="-122"/>
                <a:ea typeface="微软雅黑" pitchFamily="34" charset="-122"/>
              </a:rPr>
              <a:t>A </a:t>
            </a:r>
            <a:r>
              <a:rPr kumimoji="1" lang="zh-CN" altLang="en-US" b="1" dirty="0">
                <a:solidFill>
                  <a:srgbClr val="0000FF"/>
                </a:solidFill>
                <a:latin typeface="微软雅黑" pitchFamily="34" charset="-122"/>
                <a:ea typeface="微软雅黑" pitchFamily="34" charset="-122"/>
              </a:rPr>
              <a:t>向结点 </a:t>
            </a:r>
            <a:r>
              <a:rPr kumimoji="1" lang="en-US" altLang="zh-CN" b="1" dirty="0">
                <a:solidFill>
                  <a:srgbClr val="0000FF"/>
                </a:solidFill>
                <a:latin typeface="微软雅黑" pitchFamily="34" charset="-122"/>
                <a:ea typeface="微软雅黑" pitchFamily="34" charset="-122"/>
              </a:rPr>
              <a:t>B </a:t>
            </a:r>
            <a:r>
              <a:rPr kumimoji="1" lang="zh-CN" altLang="en-US" b="1" dirty="0">
                <a:solidFill>
                  <a:srgbClr val="0000FF"/>
                </a:solidFill>
                <a:latin typeface="微软雅黑" pitchFamily="34" charset="-122"/>
                <a:ea typeface="微软雅黑" pitchFamily="34" charset="-122"/>
              </a:rPr>
              <a:t>发送数据</a:t>
            </a:r>
          </a:p>
        </p:txBody>
      </p:sp>
      <p:sp>
        <p:nvSpPr>
          <p:cNvPr id="108574" name="Text Box 48"/>
          <p:cNvSpPr txBox="1">
            <a:spLocks noChangeArrowheads="1"/>
          </p:cNvSpPr>
          <p:nvPr/>
        </p:nvSpPr>
        <p:spPr bwMode="auto">
          <a:xfrm>
            <a:off x="4552921" y="3230648"/>
            <a:ext cx="557212"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链路</a:t>
            </a:r>
          </a:p>
        </p:txBody>
      </p:sp>
      <p:sp>
        <p:nvSpPr>
          <p:cNvPr id="108575" name="矩形 38"/>
          <p:cNvSpPr>
            <a:spLocks noChangeArrowheads="1"/>
          </p:cNvSpPr>
          <p:nvPr/>
        </p:nvSpPr>
        <p:spPr bwMode="auto">
          <a:xfrm>
            <a:off x="2266589" y="4028885"/>
            <a:ext cx="457266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b="1" dirty="0">
                <a:latin typeface="微软雅黑" pitchFamily="34" charset="-122"/>
                <a:ea typeface="微软雅黑" pitchFamily="34" charset="-122"/>
              </a:rPr>
              <a:t>四</a:t>
            </a:r>
            <a:r>
              <a:rPr lang="zh-CN" altLang="zh-CN" b="1" dirty="0">
                <a:latin typeface="微软雅黑" pitchFamily="34" charset="-122"/>
                <a:ea typeface="微软雅黑" pitchFamily="34" charset="-122"/>
              </a:rPr>
              <a:t>种时延产生的地方不一样</a:t>
            </a:r>
            <a:endParaRPr lang="zh-CN" altLang="en-US" b="1" dirty="0">
              <a:latin typeface="微软雅黑" pitchFamily="34" charset="-122"/>
              <a:ea typeface="微软雅黑" pitchFamily="34" charset="-122"/>
            </a:endParaRPr>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5349"/>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90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7" name="内容占位符 6">
            <a:extLst>
              <a:ext uri="{FF2B5EF4-FFF2-40B4-BE49-F238E27FC236}">
                <a16:creationId xmlns:a16="http://schemas.microsoft.com/office/drawing/2014/main" id="{FA3C1124-F2E1-0B8D-34F0-3B01378F2B20}"/>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zh-CN" altLang="en-US" dirty="0"/>
              <a:t>四种时延产生的地方</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容易产生的错误概念</a:t>
            </a:r>
          </a:p>
        </p:txBody>
      </p:sp>
      <p:sp>
        <p:nvSpPr>
          <p:cNvPr id="2" name="矩形 1"/>
          <p:cNvSpPr/>
          <p:nvPr/>
        </p:nvSpPr>
        <p:spPr>
          <a:xfrm>
            <a:off x="1249590" y="1142351"/>
            <a:ext cx="6632575" cy="86177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以下说法是</a:t>
            </a:r>
            <a:r>
              <a:rPr lang="zh-CN" altLang="en-US" b="1" dirty="0">
                <a:solidFill>
                  <a:srgbClr val="C00000"/>
                </a:solidFill>
                <a:latin typeface="微软雅黑" pitchFamily="34" charset="-122"/>
                <a:ea typeface="微软雅黑" pitchFamily="34" charset="-122"/>
              </a:rPr>
              <a:t>错误</a:t>
            </a:r>
            <a:r>
              <a:rPr lang="zh-CN" altLang="en-US" b="1" dirty="0">
                <a:latin typeface="微软雅黑" pitchFamily="34" charset="-122"/>
                <a:ea typeface="微软雅黑" pitchFamily="34" charset="-122"/>
              </a:rPr>
              <a:t>的：</a:t>
            </a:r>
            <a:endParaRPr lang="en-US" altLang="zh-CN" b="1" dirty="0">
              <a:latin typeface="微软雅黑" pitchFamily="34" charset="-122"/>
              <a:ea typeface="微软雅黑" pitchFamily="34" charset="-122"/>
            </a:endParaRPr>
          </a:p>
          <a:p>
            <a:pPr>
              <a:lnSpc>
                <a:spcPts val="2700"/>
              </a:lnSpc>
              <a:spcBef>
                <a:spcPts val="600"/>
              </a:spcBef>
            </a:pP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要将一个数据块通过 </a:t>
            </a:r>
            <a:r>
              <a:rPr lang="en-US" altLang="zh-CN" dirty="0"/>
              <a:t>1000 km </a:t>
            </a:r>
            <a:r>
              <a:rPr lang="zh-CN" altLang="en-US" dirty="0"/>
              <a:t>的光纤链路发送给结点 </a:t>
            </a:r>
            <a:r>
              <a:rPr lang="en-US" altLang="zh-CN" dirty="0"/>
              <a:t>B</a:t>
            </a:r>
            <a:r>
              <a:rPr lang="zh-CN" altLang="en-US" dirty="0"/>
              <a:t>。假设忽略处理时延和排队时延。请分别计算下列情况时的总时延，并验证“数据的发送速率越高，其传送的总时延就越小”的说法是否正确。</a:t>
            </a:r>
            <a:endParaRPr lang="en-US" altLang="zh-CN" dirty="0"/>
          </a:p>
          <a:p>
            <a:pPr lvl="1"/>
            <a:r>
              <a:rPr lang="zh-CN" altLang="en-US" dirty="0"/>
              <a:t>（</a:t>
            </a:r>
            <a:r>
              <a:rPr lang="en-US" altLang="zh-CN" dirty="0"/>
              <a:t>1</a:t>
            </a:r>
            <a:r>
              <a:rPr lang="zh-CN" altLang="en-US" dirty="0"/>
              <a:t>）数据块大小为 </a:t>
            </a:r>
            <a:r>
              <a:rPr lang="en-US" altLang="zh-CN" dirty="0"/>
              <a:t>100 MB</a:t>
            </a:r>
            <a:r>
              <a:rPr lang="zh-CN" altLang="en-US" dirty="0"/>
              <a:t>，信道带宽为 </a:t>
            </a:r>
            <a:r>
              <a:rPr lang="en-US" altLang="zh-CN" dirty="0"/>
              <a:t>1 Mbit/s </a:t>
            </a:r>
          </a:p>
          <a:p>
            <a:pPr lvl="1"/>
            <a:r>
              <a:rPr lang="zh-CN" altLang="en-US" dirty="0"/>
              <a:t>（</a:t>
            </a:r>
            <a:r>
              <a:rPr lang="en-US" altLang="zh-CN" dirty="0"/>
              <a:t>2</a:t>
            </a:r>
            <a:r>
              <a:rPr lang="zh-CN" altLang="en-US" dirty="0"/>
              <a:t>）数据块大小为 </a:t>
            </a:r>
            <a:r>
              <a:rPr lang="en-US" altLang="zh-CN" dirty="0"/>
              <a:t>100 MB</a:t>
            </a:r>
            <a:r>
              <a:rPr lang="zh-CN" altLang="en-US" dirty="0"/>
              <a:t>，信道带宽为 </a:t>
            </a:r>
            <a:r>
              <a:rPr lang="en-US" altLang="zh-CN" dirty="0"/>
              <a:t>100 Mbit/s</a:t>
            </a:r>
          </a:p>
          <a:p>
            <a:pPr lvl="1"/>
            <a:r>
              <a:rPr lang="zh-CN" altLang="en-US" dirty="0"/>
              <a:t>（</a:t>
            </a:r>
            <a:r>
              <a:rPr lang="en-US" altLang="zh-CN" dirty="0"/>
              <a:t>3</a:t>
            </a:r>
            <a:r>
              <a:rPr lang="zh-CN" altLang="en-US" dirty="0"/>
              <a:t>）数据块大小为 </a:t>
            </a:r>
            <a:r>
              <a:rPr lang="en-US" altLang="zh-CN" dirty="0"/>
              <a:t>1 B</a:t>
            </a:r>
            <a:r>
              <a:rPr lang="zh-CN" altLang="en-US" dirty="0"/>
              <a:t>，信道带宽为 </a:t>
            </a:r>
            <a:r>
              <a:rPr lang="en-US" altLang="zh-CN" dirty="0"/>
              <a:t>1 Mbit/s </a:t>
            </a:r>
          </a:p>
          <a:p>
            <a:pPr lvl="1"/>
            <a:r>
              <a:rPr lang="zh-CN" altLang="en-US" dirty="0"/>
              <a:t>（</a:t>
            </a:r>
            <a:r>
              <a:rPr lang="en-US" altLang="zh-CN" dirty="0"/>
              <a:t>4</a:t>
            </a:r>
            <a:r>
              <a:rPr lang="zh-CN" altLang="en-US" dirty="0"/>
              <a:t>）数据块大小为 </a:t>
            </a:r>
            <a:r>
              <a:rPr lang="en-US" altLang="zh-CN" dirty="0"/>
              <a:t>1 B</a:t>
            </a:r>
            <a:r>
              <a:rPr lang="zh-CN" altLang="en-US" dirty="0"/>
              <a:t>，信道带宽为 </a:t>
            </a:r>
            <a:r>
              <a:rPr lang="en-US" altLang="zh-CN" dirty="0"/>
              <a:t>1 </a:t>
            </a:r>
            <a:r>
              <a:rPr lang="en-US" altLang="zh-CN" dirty="0" err="1"/>
              <a:t>Gbit</a:t>
            </a:r>
            <a:r>
              <a:rPr lang="en-US" altLang="zh-CN" dirty="0"/>
              <a:t>/s</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分析举例</a:t>
            </a:r>
          </a:p>
        </p:txBody>
      </p:sp>
      <p:grpSp>
        <p:nvGrpSpPr>
          <p:cNvPr id="14" name="组合 13"/>
          <p:cNvGrpSpPr/>
          <p:nvPr/>
        </p:nvGrpSpPr>
        <p:grpSpPr>
          <a:xfrm>
            <a:off x="2192277" y="1087097"/>
            <a:ext cx="4747202" cy="895466"/>
            <a:chOff x="2163416" y="1246399"/>
            <a:chExt cx="4747202" cy="895466"/>
          </a:xfrm>
        </p:grpSpPr>
        <p:sp>
          <p:nvSpPr>
            <p:cNvPr id="4" name="椭圆 3"/>
            <p:cNvSpPr/>
            <p:nvPr/>
          </p:nvSpPr>
          <p:spPr>
            <a:xfrm>
              <a:off x="2360014"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6287580"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4" idx="6"/>
              <a:endCxn id="5" idx="2"/>
            </p:cNvCxnSpPr>
            <p:nvPr/>
          </p:nvCxnSpPr>
          <p:spPr>
            <a:xfrm>
              <a:off x="2778022" y="1584953"/>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618544" y="1246399"/>
              <a:ext cx="2020105"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光纤链路 </a:t>
              </a:r>
              <a:r>
                <a:rPr lang="en-US" altLang="zh-CN" sz="1600" b="1" dirty="0">
                  <a:latin typeface="微软雅黑" panose="020B0503020204020204" pitchFamily="34" charset="-122"/>
                  <a:ea typeface="微软雅黑" panose="020B0503020204020204" pitchFamily="34" charset="-122"/>
                </a:rPr>
                <a:t>1000 km</a:t>
              </a:r>
              <a:endParaRPr lang="zh-CN" altLang="en-US" sz="1600" b="1" dirty="0">
                <a:latin typeface="微软雅黑" panose="020B0503020204020204" pitchFamily="34" charset="-122"/>
                <a:ea typeface="微软雅黑" panose="020B0503020204020204" pitchFamily="34" charset="-122"/>
              </a:endParaRPr>
            </a:p>
          </p:txBody>
        </p:sp>
        <p:sp>
          <p:nvSpPr>
            <p:cNvPr id="11" name="Text Box 37"/>
            <p:cNvSpPr txBox="1">
              <a:spLocks noChangeArrowheads="1"/>
            </p:cNvSpPr>
            <p:nvPr/>
          </p:nvSpPr>
          <p:spPr bwMode="auto">
            <a:xfrm>
              <a:off x="6113693" y="1803727"/>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2" name="Text Box 38"/>
            <p:cNvSpPr txBox="1">
              <a:spLocks noChangeArrowheads="1"/>
            </p:cNvSpPr>
            <p:nvPr/>
          </p:nvSpPr>
          <p:spPr bwMode="auto">
            <a:xfrm>
              <a:off x="2163416" y="1803727"/>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sz="quarter" idx="10"/>
          </p:nvPr>
        </p:nvSpPr>
        <p:spPr>
          <a:xfrm>
            <a:off x="466344" y="504285"/>
            <a:ext cx="8129016" cy="4172489"/>
          </a:xfrm>
        </p:spPr>
        <p:txBody>
          <a:bodyPr/>
          <a:lstStyle/>
          <a:p>
            <a:r>
              <a:rPr lang="zh-CN" altLang="en-US" dirty="0"/>
              <a:t>解：</a:t>
            </a:r>
            <a:endParaRPr lang="en-US" altLang="zh-CN" dirty="0"/>
          </a:p>
          <a:p>
            <a:pPr lvl="1"/>
            <a:r>
              <a:rPr lang="zh-CN" altLang="en-US" dirty="0"/>
              <a:t>     传播时延 </a:t>
            </a:r>
            <a:r>
              <a:rPr lang="en-US" altLang="zh-CN" dirty="0"/>
              <a:t>= 1000 km / 2.0 </a:t>
            </a:r>
            <a:r>
              <a:rPr lang="zh-CN" altLang="en-US" dirty="0"/>
              <a:t>ⅹ </a:t>
            </a:r>
            <a:r>
              <a:rPr lang="en-US" altLang="zh-CN" dirty="0"/>
              <a:t>105 km/s =</a:t>
            </a:r>
            <a:r>
              <a:rPr lang="zh-CN" altLang="en-US" dirty="0"/>
              <a:t> </a:t>
            </a:r>
            <a:r>
              <a:rPr lang="en-US" altLang="zh-CN" dirty="0"/>
              <a:t>5 </a:t>
            </a:r>
            <a:r>
              <a:rPr lang="en-US" altLang="zh-CN" dirty="0" err="1"/>
              <a:t>ms</a:t>
            </a:r>
            <a:r>
              <a:rPr lang="zh-CN" altLang="en-US" dirty="0"/>
              <a:t>。</a:t>
            </a:r>
            <a:endParaRPr lang="en-US" altLang="zh-CN" dirty="0"/>
          </a:p>
          <a:p>
            <a:r>
              <a:rPr lang="zh-CN" altLang="en-US" dirty="0"/>
              <a:t>（</a:t>
            </a:r>
            <a:r>
              <a:rPr lang="en-US" altLang="zh-CN" dirty="0"/>
              <a:t>1</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838.9 s</a:t>
            </a:r>
            <a:r>
              <a:rPr lang="zh-CN" altLang="en-US" dirty="0"/>
              <a:t>，</a:t>
            </a:r>
            <a:endParaRPr lang="en-US" altLang="zh-CN" dirty="0"/>
          </a:p>
          <a:p>
            <a:r>
              <a:rPr lang="en-US" altLang="zh-CN" dirty="0"/>
              <a:t>        </a:t>
            </a:r>
            <a:r>
              <a:rPr lang="zh-CN" altLang="en-US" dirty="0"/>
              <a:t>总时延 </a:t>
            </a:r>
            <a:r>
              <a:rPr lang="en-US" altLang="zh-CN" dirty="0"/>
              <a:t>= 838.9 + 0.005 ≈ 838.9 s</a:t>
            </a:r>
            <a:r>
              <a:rPr lang="zh-CN" altLang="en-US" dirty="0"/>
              <a:t>。</a:t>
            </a:r>
            <a:endParaRPr lang="zh-CN" altLang="zh-CN" dirty="0"/>
          </a:p>
          <a:p>
            <a:r>
              <a:rPr lang="zh-CN" altLang="en-US" dirty="0"/>
              <a:t>（</a:t>
            </a:r>
            <a:r>
              <a:rPr lang="en-US" altLang="zh-CN" dirty="0"/>
              <a:t>2</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108 = 8.389 s</a:t>
            </a:r>
          </a:p>
          <a:p>
            <a:r>
              <a:rPr lang="en-US" altLang="zh-CN" dirty="0"/>
              <a:t>        </a:t>
            </a:r>
            <a:r>
              <a:rPr lang="zh-CN" altLang="en-US" dirty="0"/>
              <a:t>总时延 </a:t>
            </a:r>
            <a:r>
              <a:rPr lang="en-US" altLang="zh-CN" dirty="0"/>
              <a:t>= 8.389 + 0.005</a:t>
            </a:r>
            <a:r>
              <a:rPr lang="zh-CN" altLang="en-US" dirty="0"/>
              <a:t> </a:t>
            </a:r>
            <a:r>
              <a:rPr lang="en-US" altLang="zh-CN" dirty="0"/>
              <a:t>= 8.394 s</a:t>
            </a:r>
            <a:r>
              <a:rPr lang="zh-CN" altLang="en-US" dirty="0"/>
              <a:t>。缩小到（</a:t>
            </a:r>
            <a:r>
              <a:rPr lang="en-US" altLang="zh-CN" dirty="0"/>
              <a:t>1</a:t>
            </a:r>
            <a:r>
              <a:rPr lang="zh-CN" altLang="en-US" dirty="0"/>
              <a:t>）的近 </a:t>
            </a:r>
            <a:r>
              <a:rPr lang="en-US" altLang="zh-CN" dirty="0"/>
              <a:t>1/100</a:t>
            </a:r>
            <a:r>
              <a:rPr lang="zh-CN" altLang="en-US" dirty="0"/>
              <a:t>。</a:t>
            </a:r>
            <a:endParaRPr lang="en-US" altLang="zh-CN" dirty="0"/>
          </a:p>
          <a:p>
            <a:r>
              <a:rPr lang="zh-CN" altLang="en-US" dirty="0"/>
              <a:t>（</a:t>
            </a:r>
            <a:r>
              <a:rPr lang="en-US" altLang="zh-CN" dirty="0"/>
              <a:t>3</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 </a:t>
            </a:r>
            <a:r>
              <a:rPr lang="en-US" altLang="zh-CN" dirty="0">
                <a:sym typeface="Symbol" panose="05050102010706020507" pitchFamily="18" charset="2"/>
              </a:rPr>
              <a:t></a:t>
            </a:r>
            <a:r>
              <a:rPr lang="en-US" altLang="zh-CN" dirty="0"/>
              <a:t> 10–6 s = 8 </a:t>
            </a:r>
            <a:r>
              <a:rPr lang="en-US" altLang="zh-CN" dirty="0">
                <a:sym typeface="Symbol" panose="05050102010706020507" pitchFamily="18" charset="2"/>
              </a:rPr>
              <a:t></a:t>
            </a:r>
            <a:r>
              <a:rPr lang="en-US" altLang="zh-CN" dirty="0"/>
              <a:t>s, </a:t>
            </a:r>
            <a:r>
              <a:rPr lang="zh-CN" altLang="en-US" dirty="0"/>
              <a:t> </a:t>
            </a:r>
            <a:endParaRPr lang="en-US" altLang="zh-CN" dirty="0"/>
          </a:p>
          <a:p>
            <a:r>
              <a:rPr lang="en-US" altLang="zh-CN" dirty="0"/>
              <a:t>        </a:t>
            </a:r>
            <a:r>
              <a:rPr lang="zh-CN" altLang="en-US" dirty="0"/>
              <a:t>总时延 </a:t>
            </a:r>
            <a:r>
              <a:rPr lang="en-US" altLang="zh-CN" dirty="0"/>
              <a:t>= 0.008 + 5 = 5.008 </a:t>
            </a:r>
            <a:r>
              <a:rPr lang="en-US" altLang="zh-CN" dirty="0" err="1"/>
              <a:t>ms</a:t>
            </a:r>
            <a:r>
              <a:rPr lang="zh-CN" altLang="en-US" dirty="0"/>
              <a:t>。</a:t>
            </a:r>
            <a:endParaRPr lang="en-US" altLang="zh-CN" dirty="0"/>
          </a:p>
          <a:p>
            <a:r>
              <a:rPr lang="zh-CN" altLang="en-US" dirty="0"/>
              <a:t>（</a:t>
            </a:r>
            <a:r>
              <a:rPr lang="en-US" altLang="zh-CN" dirty="0"/>
              <a:t>4</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109 = 8 </a:t>
            </a:r>
            <a:r>
              <a:rPr lang="en-US" altLang="zh-CN" dirty="0">
                <a:sym typeface="Symbol" panose="05050102010706020507" pitchFamily="18" charset="2"/>
              </a:rPr>
              <a:t></a:t>
            </a:r>
            <a:r>
              <a:rPr lang="en-US" altLang="zh-CN" dirty="0"/>
              <a:t> 10–9 s = 0.008 </a:t>
            </a:r>
            <a:r>
              <a:rPr lang="en-US" altLang="zh-CN" dirty="0">
                <a:sym typeface="Symbol" panose="05050102010706020507" pitchFamily="18" charset="2"/>
              </a:rPr>
              <a:t></a:t>
            </a:r>
            <a:r>
              <a:rPr lang="en-US" altLang="zh-CN" dirty="0"/>
              <a:t>s</a:t>
            </a:r>
            <a:endParaRPr lang="zh-CN" altLang="zh-CN" dirty="0"/>
          </a:p>
          <a:p>
            <a:r>
              <a:rPr lang="en-US" altLang="zh-CN" dirty="0"/>
              <a:t>        </a:t>
            </a:r>
            <a:r>
              <a:rPr lang="zh-CN" altLang="en-US" dirty="0"/>
              <a:t>总时延 </a:t>
            </a:r>
            <a:r>
              <a:rPr lang="en-US" altLang="zh-CN" dirty="0"/>
              <a:t>= 0.000008 + 5 = 5.000008 </a:t>
            </a:r>
            <a:r>
              <a:rPr lang="en-US" altLang="zh-CN" dirty="0" err="1"/>
              <a:t>ms</a:t>
            </a:r>
            <a:r>
              <a:rPr lang="zh-CN" altLang="en-US" dirty="0"/>
              <a:t>。与（</a:t>
            </a:r>
            <a:r>
              <a:rPr lang="en-US" altLang="zh-CN" dirty="0"/>
              <a:t>3</a:t>
            </a:r>
            <a:r>
              <a:rPr lang="zh-CN" altLang="en-US" dirty="0"/>
              <a:t>）相比没有明显减小。</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分析举例</a:t>
            </a:r>
          </a:p>
        </p:txBody>
      </p:sp>
      <p:sp>
        <p:nvSpPr>
          <p:cNvPr id="8" name="矩形 7"/>
          <p:cNvSpPr/>
          <p:nvPr/>
        </p:nvSpPr>
        <p:spPr>
          <a:xfrm>
            <a:off x="6009830" y="1366501"/>
            <a:ext cx="2730137" cy="1134734"/>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不能笼统地认为：“数据的发送速率越高，其传送的总时延就越小”。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010193" y="1016082"/>
            <a:ext cx="6749144" cy="226319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5" name="AutoShape 37"/>
          <p:cNvSpPr>
            <a:spLocks noChangeArrowheads="1"/>
          </p:cNvSpPr>
          <p:nvPr/>
        </p:nvSpPr>
        <p:spPr bwMode="auto">
          <a:xfrm rot="-5400000">
            <a:off x="4449423" y="84209"/>
            <a:ext cx="564106" cy="4572000"/>
          </a:xfrm>
          <a:prstGeom prst="can">
            <a:avLst>
              <a:gd name="adj" fmla="val 49784"/>
            </a:avLst>
          </a:prstGeom>
          <a:gradFill rotWithShape="1">
            <a:gsLst>
              <a:gs pos="0">
                <a:srgbClr val="004776"/>
              </a:gs>
              <a:gs pos="50000">
                <a:srgbClr val="0099FF"/>
              </a:gs>
              <a:gs pos="100000">
                <a:srgbClr val="004776"/>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594701" y="1935755"/>
            <a:ext cx="4273550" cy="0"/>
          </a:xfrm>
          <a:prstGeom prst="line">
            <a:avLst/>
          </a:prstGeom>
          <a:noFill/>
          <a:ln w="254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779520" y="1591267"/>
            <a:ext cx="252747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latin typeface="微软雅黑" pitchFamily="34" charset="-122"/>
                <a:ea typeface="微软雅黑" pitchFamily="34" charset="-122"/>
              </a:rPr>
              <a:t>（传播）时延（管道长度）</a:t>
            </a:r>
          </a:p>
        </p:txBody>
      </p:sp>
      <p:sp>
        <p:nvSpPr>
          <p:cNvPr id="8" name="Text Box 40"/>
          <p:cNvSpPr txBox="1">
            <a:spLocks noChangeArrowheads="1"/>
          </p:cNvSpPr>
          <p:nvPr/>
        </p:nvSpPr>
        <p:spPr bwMode="auto">
          <a:xfrm>
            <a:off x="4433026" y="2243730"/>
            <a:ext cx="655638"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600" b="1">
                <a:solidFill>
                  <a:schemeClr val="bg1"/>
                </a:solidFill>
                <a:latin typeface="微软雅黑" pitchFamily="34" charset="-122"/>
                <a:ea typeface="微软雅黑" pitchFamily="34" charset="-122"/>
              </a:rPr>
              <a:t>链 路</a:t>
            </a:r>
          </a:p>
        </p:txBody>
      </p:sp>
      <p:sp>
        <p:nvSpPr>
          <p:cNvPr id="9" name="Text Box 41"/>
          <p:cNvSpPr txBox="1">
            <a:spLocks noChangeArrowheads="1"/>
          </p:cNvSpPr>
          <p:nvPr/>
        </p:nvSpPr>
        <p:spPr bwMode="auto">
          <a:xfrm>
            <a:off x="1249591" y="1674145"/>
            <a:ext cx="134511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b="1" dirty="0">
                <a:latin typeface="微软雅黑" pitchFamily="34" charset="-122"/>
                <a:ea typeface="微软雅黑" pitchFamily="34" charset="-122"/>
              </a:rPr>
              <a:t>带宽</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（管道截面积）</a:t>
            </a:r>
          </a:p>
        </p:txBody>
      </p:sp>
      <p:sp>
        <p:nvSpPr>
          <p:cNvPr id="10" name="Line 42"/>
          <p:cNvSpPr>
            <a:spLocks noChangeShapeType="1"/>
          </p:cNvSpPr>
          <p:nvPr/>
        </p:nvSpPr>
        <p:spPr bwMode="auto">
          <a:xfrm>
            <a:off x="2229394" y="2197365"/>
            <a:ext cx="365307" cy="213052"/>
          </a:xfrm>
          <a:prstGeom prst="line">
            <a:avLst/>
          </a:prstGeom>
          <a:noFill/>
          <a:ln w="25400">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11" name="Text Box 43"/>
          <p:cNvSpPr txBox="1">
            <a:spLocks noChangeArrowheads="1"/>
          </p:cNvSpPr>
          <p:nvPr/>
        </p:nvSpPr>
        <p:spPr bwMode="auto">
          <a:xfrm>
            <a:off x="2695031" y="1099190"/>
            <a:ext cx="3650358" cy="400110"/>
          </a:xfrm>
          <a:prstGeom prst="rect">
            <a:avLst/>
          </a:prstGeom>
          <a:solidFill>
            <a:srgbClr val="FFCC66"/>
          </a:solidFill>
          <a:ln>
            <a:noFill/>
          </a:ln>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99"/>
                </a:solidFill>
                <a:latin typeface="微软雅黑" pitchFamily="34" charset="-122"/>
                <a:ea typeface="微软雅黑" pitchFamily="34" charset="-122"/>
              </a:rPr>
              <a:t>时延带宽积 </a:t>
            </a:r>
            <a:r>
              <a:rPr lang="en-US" altLang="zh-CN" sz="2000" b="1" dirty="0">
                <a:solidFill>
                  <a:srgbClr val="000099"/>
                </a:solidFill>
                <a:latin typeface="微软雅黑" pitchFamily="34" charset="-122"/>
                <a:ea typeface="微软雅黑" pitchFamily="34" charset="-122"/>
              </a:rPr>
              <a:t>= </a:t>
            </a:r>
            <a:r>
              <a:rPr lang="zh-CN" altLang="en-US" sz="2000" b="1" dirty="0">
                <a:solidFill>
                  <a:srgbClr val="000099"/>
                </a:solidFill>
                <a:latin typeface="微软雅黑" pitchFamily="34" charset="-122"/>
                <a:ea typeface="微软雅黑" pitchFamily="34" charset="-122"/>
              </a:rPr>
              <a:t>传播时延 </a:t>
            </a:r>
            <a:r>
              <a:rPr lang="zh-CN" altLang="en-US" sz="2000" b="1" dirty="0">
                <a:solidFill>
                  <a:srgbClr val="000099"/>
                </a:solidFill>
                <a:latin typeface="微软雅黑" pitchFamily="34" charset="-122"/>
                <a:ea typeface="微软雅黑" pitchFamily="34" charset="-122"/>
                <a:sym typeface="Symbol" pitchFamily="18" charset="2"/>
              </a:rPr>
              <a:t> 带宽</a:t>
            </a:r>
          </a:p>
        </p:txBody>
      </p:sp>
      <p:sp>
        <p:nvSpPr>
          <p:cNvPr id="12" name="矩形 12"/>
          <p:cNvSpPr>
            <a:spLocks noChangeArrowheads="1"/>
          </p:cNvSpPr>
          <p:nvPr/>
        </p:nvSpPr>
        <p:spPr bwMode="auto">
          <a:xfrm>
            <a:off x="1116738" y="3362387"/>
            <a:ext cx="6632575" cy="1092607"/>
          </a:xfrm>
          <a:prstGeom prst="rect">
            <a:avLst/>
          </a:prstGeom>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en-US" b="1" dirty="0">
                <a:solidFill>
                  <a:schemeClr val="tx1"/>
                </a:solidFill>
                <a:latin typeface="微软雅黑" pitchFamily="34" charset="-122"/>
                <a:ea typeface="微软雅黑" pitchFamily="34" charset="-122"/>
              </a:rPr>
              <a:t>链路的</a:t>
            </a:r>
            <a:r>
              <a:rPr lang="zh-CN" altLang="en-US" b="1" dirty="0">
                <a:solidFill>
                  <a:srgbClr val="C00000"/>
                </a:solidFill>
                <a:latin typeface="微软雅黑" pitchFamily="34" charset="-122"/>
                <a:ea typeface="微软雅黑" pitchFamily="34" charset="-122"/>
              </a:rPr>
              <a:t>时延带宽积</a:t>
            </a:r>
            <a:r>
              <a:rPr lang="zh-CN" altLang="en-US" b="1" dirty="0">
                <a:solidFill>
                  <a:schemeClr val="tx1"/>
                </a:solidFill>
                <a:latin typeface="微软雅黑" pitchFamily="34" charset="-122"/>
                <a:ea typeface="微软雅黑" pitchFamily="34" charset="-122"/>
              </a:rPr>
              <a:t>又称为以比特为单位的</a:t>
            </a:r>
            <a:r>
              <a:rPr lang="zh-CN" altLang="en-US" b="1" dirty="0">
                <a:solidFill>
                  <a:srgbClr val="C00000"/>
                </a:solidFill>
                <a:latin typeface="微软雅黑" pitchFamily="34" charset="-122"/>
                <a:ea typeface="微软雅黑" pitchFamily="34" charset="-122"/>
              </a:rPr>
              <a:t>链路长度。</a:t>
            </a:r>
            <a:endParaRPr lang="en-US" altLang="zh-CN" b="1" dirty="0">
              <a:solidFill>
                <a:srgbClr val="C00000"/>
              </a:solidFill>
              <a:latin typeface="微软雅黑" pitchFamily="34" charset="-122"/>
              <a:ea typeface="微软雅黑" pitchFamily="34" charset="-122"/>
            </a:endParaRPr>
          </a:p>
          <a:p>
            <a:pPr>
              <a:lnSpc>
                <a:spcPts val="2600"/>
              </a:lnSpc>
            </a:pPr>
            <a:r>
              <a:rPr lang="zh-CN" altLang="en-US" b="1" dirty="0">
                <a:solidFill>
                  <a:schemeClr val="tx1"/>
                </a:solidFill>
                <a:latin typeface="微软雅黑" pitchFamily="34" charset="-122"/>
                <a:ea typeface="微软雅黑" pitchFamily="34" charset="-122"/>
              </a:rPr>
              <a:t>管道中的比特数表示从发送端发出</a:t>
            </a:r>
            <a:r>
              <a:rPr lang="zh-CN" altLang="en-US" b="1" dirty="0">
                <a:solidFill>
                  <a:srgbClr val="0000CC"/>
                </a:solidFill>
                <a:latin typeface="微软雅黑" pitchFamily="34" charset="-122"/>
                <a:ea typeface="微软雅黑" pitchFamily="34" charset="-122"/>
              </a:rPr>
              <a:t>但尚未</a:t>
            </a:r>
            <a:r>
              <a:rPr lang="zh-CN" altLang="en-US" b="1" dirty="0">
                <a:solidFill>
                  <a:schemeClr val="tx1"/>
                </a:solidFill>
                <a:latin typeface="微软雅黑" pitchFamily="34" charset="-122"/>
                <a:ea typeface="微软雅黑" pitchFamily="34" charset="-122"/>
              </a:rPr>
              <a:t>到达接收端的比特数。</a:t>
            </a:r>
            <a:endParaRPr lang="en-US" altLang="zh-CN" b="1" dirty="0">
              <a:solidFill>
                <a:schemeClr val="tx1"/>
              </a:solidFill>
              <a:latin typeface="微软雅黑" pitchFamily="34" charset="-122"/>
              <a:ea typeface="微软雅黑" pitchFamily="34" charset="-122"/>
            </a:endParaRPr>
          </a:p>
          <a:p>
            <a:pPr>
              <a:lnSpc>
                <a:spcPts val="2600"/>
              </a:lnSpc>
            </a:pPr>
            <a:r>
              <a:rPr lang="zh-CN" altLang="zh-CN" b="1" dirty="0">
                <a:solidFill>
                  <a:schemeClr val="tx1"/>
                </a:solidFill>
                <a:latin typeface="微软雅黑" pitchFamily="34" charset="-122"/>
                <a:ea typeface="微软雅黑" pitchFamily="34" charset="-122"/>
              </a:rPr>
              <a:t>只有在代表链路的管道都充满比特时，链路才得到</a:t>
            </a:r>
            <a:r>
              <a:rPr lang="zh-CN" altLang="en-US" b="1" dirty="0">
                <a:solidFill>
                  <a:schemeClr val="tx1"/>
                </a:solidFill>
                <a:latin typeface="微软雅黑" pitchFamily="34" charset="-122"/>
                <a:ea typeface="微软雅黑" pitchFamily="34" charset="-122"/>
              </a:rPr>
              <a:t>了</a:t>
            </a:r>
            <a:r>
              <a:rPr lang="zh-CN" altLang="zh-CN" b="1" dirty="0">
                <a:solidFill>
                  <a:schemeClr val="tx1"/>
                </a:solidFill>
                <a:latin typeface="微软雅黑" pitchFamily="34" charset="-122"/>
                <a:ea typeface="微软雅黑" pitchFamily="34" charset="-122"/>
              </a:rPr>
              <a:t>充分利用</a:t>
            </a:r>
            <a:r>
              <a:rPr lang="zh-CN" altLang="en-US" b="1" dirty="0">
                <a:solidFill>
                  <a:schemeClr val="tx1"/>
                </a:solidFill>
                <a:latin typeface="微软雅黑" pitchFamily="34" charset="-122"/>
                <a:ea typeface="微软雅黑" pitchFamily="34" charset="-122"/>
              </a:rPr>
              <a:t>。</a:t>
            </a:r>
            <a:endParaRPr lang="en-US" altLang="zh-CN" b="1" dirty="0">
              <a:solidFill>
                <a:schemeClr val="tx1"/>
              </a:solidFill>
              <a:latin typeface="微软雅黑" pitchFamily="34" charset="-122"/>
              <a:ea typeface="微软雅黑" pitchFamily="34" charset="-122"/>
            </a:endParaRPr>
          </a:p>
        </p:txBody>
      </p:sp>
      <p:sp>
        <p:nvSpPr>
          <p:cNvPr id="13" name="矩形 13"/>
          <p:cNvSpPr>
            <a:spLocks noChangeArrowheads="1"/>
          </p:cNvSpPr>
          <p:nvPr/>
        </p:nvSpPr>
        <p:spPr bwMode="auto">
          <a:xfrm>
            <a:off x="3256689" y="2743110"/>
            <a:ext cx="30083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zh-CN" b="1" dirty="0">
                <a:latin typeface="微软雅黑" pitchFamily="34" charset="-122"/>
                <a:ea typeface="微软雅黑" pitchFamily="34" charset="-122"/>
              </a:rPr>
              <a:t>链路像一条空心管道</a:t>
            </a:r>
            <a:endParaRPr lang="zh-CN" altLang="en-US" b="1" dirty="0">
              <a:latin typeface="微软雅黑" pitchFamily="34" charset="-122"/>
              <a:ea typeface="微软雅黑" pitchFamily="34" charset="-122"/>
            </a:endParaRPr>
          </a:p>
        </p:txBody>
      </p:sp>
      <p:sp>
        <p:nvSpPr>
          <p:cNvPr id="15" name="内容占位符 14">
            <a:extLst>
              <a:ext uri="{FF2B5EF4-FFF2-40B4-BE49-F238E27FC236}">
                <a16:creationId xmlns:a16="http://schemas.microsoft.com/office/drawing/2014/main" id="{57ACEE6F-E303-4550-AC1B-8B6F660F3E3E}"/>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5. </a:t>
            </a:r>
            <a:r>
              <a:rPr lang="zh-CN" altLang="en-US" dirty="0"/>
              <a:t>时延带宽积</a:t>
            </a: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表示从发送方发送完数据，到发送方收到来自接收方的确认总共经历的时间。</a:t>
            </a:r>
            <a:r>
              <a:rPr lang="en-US" altLang="zh-CN" dirty="0"/>
              <a:t> </a:t>
            </a:r>
          </a:p>
          <a:p>
            <a:endParaRPr lang="zh-CN" altLang="en-US" dirty="0"/>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6. </a:t>
            </a:r>
            <a:r>
              <a:rPr lang="zh-CN" altLang="en-US" dirty="0"/>
              <a:t>往返时间 </a:t>
            </a:r>
            <a:r>
              <a:rPr lang="en-US" altLang="zh-CN" dirty="0"/>
              <a:t>RTT (Round-Trip Time)</a:t>
            </a:r>
            <a:endParaRPr lang="zh-CN" altLang="en-US" dirty="0"/>
          </a:p>
        </p:txBody>
      </p:sp>
      <p:sp>
        <p:nvSpPr>
          <p:cNvPr id="50" name="矩形 49"/>
          <p:cNvSpPr/>
          <p:nvPr/>
        </p:nvSpPr>
        <p:spPr>
          <a:xfrm>
            <a:off x="533945" y="2207531"/>
            <a:ext cx="4535216" cy="2246769"/>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往返时间 </a:t>
            </a:r>
            <a:r>
              <a:rPr lang="en-US" altLang="zh-CN" sz="1600" b="1" dirty="0">
                <a:latin typeface="微软雅黑" panose="020B0503020204020204" pitchFamily="34" charset="-122"/>
                <a:ea typeface="微软雅黑" panose="020B0503020204020204" pitchFamily="34" charset="-122"/>
              </a:rPr>
              <a:t>RTT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2 x </a:t>
            </a:r>
            <a:r>
              <a:rPr lang="zh-CN" altLang="en-US" sz="1600" b="1" dirty="0">
                <a:latin typeface="微软雅黑" panose="020B0503020204020204" pitchFamily="34" charset="-122"/>
                <a:ea typeface="微软雅黑" panose="020B0503020204020204" pitchFamily="34" charset="-122"/>
              </a:rPr>
              <a:t>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p:txBody>
      </p:sp>
      <p:grpSp>
        <p:nvGrpSpPr>
          <p:cNvPr id="66" name="组合 65"/>
          <p:cNvGrpSpPr/>
          <p:nvPr/>
        </p:nvGrpSpPr>
        <p:grpSpPr>
          <a:xfrm>
            <a:off x="5217132" y="1241434"/>
            <a:ext cx="4057502" cy="2781927"/>
            <a:chOff x="5217132" y="1241434"/>
            <a:chExt cx="4057502" cy="2781927"/>
          </a:xfrm>
        </p:grpSpPr>
        <p:cxnSp>
          <p:nvCxnSpPr>
            <p:cNvPr id="13" name="直接连接符 12"/>
            <p:cNvCxnSpPr/>
            <p:nvPr/>
          </p:nvCxnSpPr>
          <p:spPr>
            <a:xfrm flipH="1">
              <a:off x="6339846" y="2760145"/>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783982" y="2980344"/>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427623" y="3595848"/>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386361" y="3169710"/>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427623" y="1863424"/>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6026342" y="2324978"/>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383389" y="1241434"/>
              <a:ext cx="731290"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A</a:t>
              </a:r>
            </a:p>
          </p:txBody>
        </p:sp>
        <p:sp>
          <p:nvSpPr>
            <p:cNvPr id="24" name="矩形 23"/>
            <p:cNvSpPr/>
            <p:nvPr/>
          </p:nvSpPr>
          <p:spPr>
            <a:xfrm>
              <a:off x="8020716" y="1241434"/>
              <a:ext cx="720069"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B</a:t>
              </a:r>
            </a:p>
          </p:txBody>
        </p:sp>
        <p:grpSp>
          <p:nvGrpSpPr>
            <p:cNvPr id="65" name="组合 64"/>
            <p:cNvGrpSpPr/>
            <p:nvPr/>
          </p:nvGrpSpPr>
          <p:grpSpPr>
            <a:xfrm>
              <a:off x="6698428" y="1628504"/>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rot="911734">
                <a:off x="7271892" y="2153091"/>
                <a:ext cx="543739" cy="307777"/>
              </a:xfrm>
              <a:prstGeom prst="rect">
                <a:avLst/>
              </a:prstGeom>
            </p:spPr>
            <p:txBody>
              <a:bodyPr wrap="none">
                <a:spAutoFit/>
              </a:bodyPr>
              <a:lstStyle/>
              <a:p>
                <a:r>
                  <a:rPr kumimoji="1" lang="zh-CN" altLang="en-US" sz="1400" b="1" dirty="0">
                    <a:latin typeface="微软雅黑" pitchFamily="34" charset="-122"/>
                    <a:ea typeface="微软雅黑" pitchFamily="34" charset="-122"/>
                  </a:rPr>
                  <a:t>数据</a:t>
                </a:r>
                <a:endParaRPr kumimoji="1" lang="en-US" altLang="zh-CN" sz="1400" b="1" dirty="0">
                  <a:latin typeface="微软雅黑" pitchFamily="34" charset="-122"/>
                  <a:ea typeface="微软雅黑" pitchFamily="34" charset="-122"/>
                </a:endParaRPr>
              </a:p>
            </p:txBody>
          </p:sp>
          <p:sp>
            <p:nvSpPr>
              <p:cNvPr id="27" name="矩形 26"/>
              <p:cNvSpPr/>
              <p:nvPr/>
            </p:nvSpPr>
            <p:spPr>
              <a:xfrm rot="20641677">
                <a:off x="7315436" y="3156193"/>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确认</a:t>
                </a:r>
                <a:endParaRPr kumimoji="1" lang="en-US" altLang="zh-CN" sz="1200" b="1" dirty="0">
                  <a:latin typeface="微软雅黑" pitchFamily="34" charset="-122"/>
                  <a:ea typeface="微软雅黑" pitchFamily="34" charset="-122"/>
                </a:endParaRPr>
              </a:p>
            </p:txBody>
          </p:sp>
        </p:grpSp>
        <p:cxnSp>
          <p:nvCxnSpPr>
            <p:cNvPr id="29" name="直接箭头连接符 28"/>
            <p:cNvCxnSpPr/>
            <p:nvPr/>
          </p:nvCxnSpPr>
          <p:spPr>
            <a:xfrm>
              <a:off x="6561913" y="1863424"/>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561913" y="2308092"/>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561913" y="2771659"/>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6213573" y="2324978"/>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621492" y="3169710"/>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621492" y="2760145"/>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621492" y="2980344"/>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6100273" y="1898490"/>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TA</a:t>
              </a:r>
              <a:endParaRPr lang="zh-CN" altLang="en-US" sz="1400" b="1" baseline="-25000" dirty="0"/>
            </a:p>
          </p:txBody>
        </p:sp>
        <p:sp>
          <p:nvSpPr>
            <p:cNvPr id="44" name="文本框 43"/>
            <p:cNvSpPr txBox="1"/>
            <p:nvPr/>
          </p:nvSpPr>
          <p:spPr>
            <a:xfrm>
              <a:off x="6100273" y="2360573"/>
              <a:ext cx="461554" cy="338554"/>
            </a:xfrm>
            <a:prstGeom prst="rect">
              <a:avLst/>
            </a:prstGeom>
            <a:noFill/>
          </p:spPr>
          <p:txBody>
            <a:bodyPr wrap="square" rtlCol="0">
              <a:spAutoFit/>
            </a:bodyPr>
            <a:lstStyle/>
            <a:p>
              <a:pPr algn="r"/>
              <a:r>
                <a:rPr lang="en-US" altLang="zh-CN" sz="1600" dirty="0" err="1"/>
                <a:t>t</a:t>
              </a:r>
              <a:r>
                <a:rPr lang="en-US" altLang="zh-CN" sz="1400" b="1" baseline="-25000" dirty="0" err="1"/>
                <a:t>P</a:t>
              </a:r>
              <a:endParaRPr lang="zh-CN" altLang="en-US" sz="1400" b="1" baseline="-25000" dirty="0"/>
            </a:p>
          </p:txBody>
        </p:sp>
        <p:sp>
          <p:nvSpPr>
            <p:cNvPr id="45" name="文本框 44"/>
            <p:cNvSpPr txBox="1"/>
            <p:nvPr/>
          </p:nvSpPr>
          <p:spPr>
            <a:xfrm>
              <a:off x="8626506" y="3203786"/>
              <a:ext cx="461554" cy="338554"/>
            </a:xfrm>
            <a:prstGeom prst="rect">
              <a:avLst/>
            </a:prstGeom>
            <a:noFill/>
          </p:spPr>
          <p:txBody>
            <a:bodyPr wrap="square" rtlCol="0">
              <a:spAutoFit/>
            </a:bodyPr>
            <a:lstStyle/>
            <a:p>
              <a:r>
                <a:rPr lang="en-US" altLang="zh-CN" sz="1600" dirty="0" err="1"/>
                <a:t>t</a:t>
              </a:r>
              <a:r>
                <a:rPr lang="en-US" altLang="zh-CN" sz="1400" b="1" baseline="-25000" dirty="0" err="1"/>
                <a:t>P</a:t>
              </a:r>
              <a:endParaRPr lang="zh-CN" altLang="en-US" sz="1400" b="1" baseline="-25000" dirty="0"/>
            </a:p>
          </p:txBody>
        </p:sp>
        <p:sp>
          <p:nvSpPr>
            <p:cNvPr id="46" name="文本框 45"/>
            <p:cNvSpPr txBox="1"/>
            <p:nvPr/>
          </p:nvSpPr>
          <p:spPr>
            <a:xfrm>
              <a:off x="8626506" y="2687627"/>
              <a:ext cx="648128" cy="338554"/>
            </a:xfrm>
            <a:prstGeom prst="rect">
              <a:avLst/>
            </a:prstGeom>
            <a:noFill/>
          </p:spPr>
          <p:txBody>
            <a:bodyPr wrap="square" rtlCol="0">
              <a:spAutoFit/>
            </a:bodyPr>
            <a:lstStyle/>
            <a:p>
              <a:r>
                <a:rPr lang="en-US" altLang="zh-CN" sz="1600" dirty="0" err="1"/>
                <a:t>t</a:t>
              </a:r>
              <a:r>
                <a:rPr lang="en-US" altLang="zh-CN" sz="1600" baseline="-25000" dirty="0" err="1"/>
                <a:t>P</a:t>
              </a:r>
              <a:r>
                <a:rPr lang="en-US" altLang="zh-CN" sz="1400" b="1" baseline="-25000" dirty="0" err="1"/>
                <a:t>QB</a:t>
              </a:r>
              <a:endParaRPr lang="zh-CN" altLang="en-US" sz="1400" b="1" baseline="-25000" dirty="0"/>
            </a:p>
          </p:txBody>
        </p:sp>
        <p:sp>
          <p:nvSpPr>
            <p:cNvPr id="47" name="矩形 46"/>
            <p:cNvSpPr/>
            <p:nvPr/>
          </p:nvSpPr>
          <p:spPr>
            <a:xfrm>
              <a:off x="5747338" y="2592252"/>
              <a:ext cx="543739" cy="738664"/>
            </a:xfrm>
            <a:prstGeom prst="rect">
              <a:avLst/>
            </a:prstGeom>
          </p:spPr>
          <p:txBody>
            <a:bodyPr wrap="none">
              <a:spAutoFit/>
            </a:bodyPr>
            <a:lstStyle/>
            <a:p>
              <a:r>
                <a:rPr kumimoji="1" lang="zh-CN" altLang="en-US" sz="1400" b="1" dirty="0">
                  <a:latin typeface="微软雅黑" pitchFamily="34" charset="-122"/>
                  <a:ea typeface="微软雅黑" pitchFamily="34" charset="-122"/>
                </a:rPr>
                <a:t>往返</a:t>
              </a:r>
              <a:endParaRPr kumimoji="1" lang="en-US" altLang="zh-CN"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时间</a:t>
              </a:r>
              <a:endParaRPr kumimoji="1" lang="en-US" altLang="zh-CN" sz="1400" b="1" dirty="0">
                <a:latin typeface="微软雅黑" pitchFamily="34" charset="-122"/>
                <a:ea typeface="微软雅黑" pitchFamily="34" charset="-122"/>
              </a:endParaRPr>
            </a:p>
            <a:p>
              <a:r>
                <a:rPr kumimoji="1" lang="en-US" altLang="zh-CN" sz="1400" b="1" dirty="0">
                  <a:latin typeface="微软雅黑" pitchFamily="34" charset="-122"/>
                  <a:ea typeface="微软雅黑" pitchFamily="34" charset="-122"/>
                </a:rPr>
                <a:t>RTT</a:t>
              </a:r>
            </a:p>
          </p:txBody>
        </p:sp>
        <p:sp>
          <p:nvSpPr>
            <p:cNvPr id="49" name="文本框 48"/>
            <p:cNvSpPr txBox="1"/>
            <p:nvPr/>
          </p:nvSpPr>
          <p:spPr>
            <a:xfrm>
              <a:off x="8626504" y="2881624"/>
              <a:ext cx="461554" cy="338554"/>
            </a:xfrm>
            <a:prstGeom prst="rect">
              <a:avLst/>
            </a:prstGeom>
            <a:noFill/>
          </p:spPr>
          <p:txBody>
            <a:bodyPr wrap="square" rtlCol="0">
              <a:spAutoFit/>
            </a:bodyPr>
            <a:lstStyle/>
            <a:p>
              <a:r>
                <a:rPr lang="en-US" altLang="zh-CN" sz="1600" dirty="0" err="1"/>
                <a:t>t</a:t>
              </a:r>
              <a:r>
                <a:rPr lang="en-US" altLang="zh-CN" sz="1400" b="1" baseline="-25000" dirty="0" err="1"/>
                <a:t>TB</a:t>
              </a:r>
              <a:endParaRPr lang="zh-CN" altLang="en-US" sz="1400" b="1" baseline="-25000" dirty="0"/>
            </a:p>
          </p:txBody>
        </p:sp>
        <p:cxnSp>
          <p:nvCxnSpPr>
            <p:cNvPr id="59" name="直接箭头连接符 58"/>
            <p:cNvCxnSpPr/>
            <p:nvPr/>
          </p:nvCxnSpPr>
          <p:spPr>
            <a:xfrm>
              <a:off x="5687628" y="1863424"/>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217132" y="2272997"/>
              <a:ext cx="560425" cy="954107"/>
            </a:xfrm>
            <a:prstGeom prst="rect">
              <a:avLst/>
            </a:prstGeom>
          </p:spPr>
          <p:txBody>
            <a:bodyPr wrap="square">
              <a:spAutoFit/>
            </a:bodyPr>
            <a:lstStyle/>
            <a:p>
              <a:r>
                <a:rPr kumimoji="1" lang="zh-CN" altLang="en-US" sz="1400" b="1" dirty="0">
                  <a:latin typeface="微软雅黑" pitchFamily="34" charset="-122"/>
                  <a:ea typeface="微软雅黑" pitchFamily="34" charset="-122"/>
                </a:rPr>
                <a:t>成功发送的总时延</a:t>
              </a:r>
              <a:endParaRPr kumimoji="1"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 </a:t>
            </a:r>
            <a:r>
              <a:rPr lang="en-US" altLang="zh-CN" dirty="0"/>
              <a:t>100 MB </a:t>
            </a:r>
            <a:r>
              <a:rPr lang="zh-CN" altLang="en-US" dirty="0"/>
              <a:t>数据以 </a:t>
            </a:r>
            <a:r>
              <a:rPr lang="en-US" altLang="zh-CN" dirty="0"/>
              <a:t>100 Mbit/s </a:t>
            </a:r>
            <a:r>
              <a:rPr lang="zh-CN" altLang="en-US" dirty="0"/>
              <a:t>的速率发送给结点 </a:t>
            </a:r>
            <a:r>
              <a:rPr lang="en-US" altLang="zh-CN" dirty="0"/>
              <a:t>B</a:t>
            </a:r>
            <a:r>
              <a:rPr lang="zh-CN" altLang="en-US" dirty="0"/>
              <a:t>，</a:t>
            </a:r>
            <a:r>
              <a:rPr lang="en-US" altLang="zh-CN" dirty="0"/>
              <a:t>B </a:t>
            </a:r>
            <a:r>
              <a:rPr lang="zh-CN" altLang="en-US" dirty="0"/>
              <a:t>正确收完该数据后，就立即向 </a:t>
            </a:r>
            <a:r>
              <a:rPr lang="en-US" altLang="zh-CN" dirty="0"/>
              <a:t>A </a:t>
            </a:r>
            <a:r>
              <a:rPr lang="zh-CN" altLang="en-US" dirty="0"/>
              <a:t>发送确认。假定 </a:t>
            </a:r>
            <a:r>
              <a:rPr lang="en-US" altLang="zh-CN" dirty="0"/>
              <a:t>A </a:t>
            </a:r>
            <a:r>
              <a:rPr lang="zh-CN" altLang="en-US" dirty="0"/>
              <a:t>只有在收到 </a:t>
            </a:r>
            <a:r>
              <a:rPr lang="en-US" altLang="zh-CN" dirty="0"/>
              <a:t>B </a:t>
            </a:r>
            <a:r>
              <a:rPr lang="zh-CN" altLang="en-US" dirty="0"/>
              <a:t>的确认信息后，才能继续向 </a:t>
            </a:r>
            <a:r>
              <a:rPr lang="en-US" altLang="zh-CN" dirty="0"/>
              <a:t>B </a:t>
            </a:r>
            <a:r>
              <a:rPr lang="zh-CN" altLang="en-US" dirty="0"/>
              <a:t>发送数据，且确认信息很短。计算 </a:t>
            </a:r>
            <a:r>
              <a:rPr lang="en-US" altLang="zh-CN" dirty="0"/>
              <a:t>A </a:t>
            </a:r>
            <a:r>
              <a:rPr lang="zh-CN" altLang="en-US" dirty="0"/>
              <a:t>向 </a:t>
            </a:r>
            <a:r>
              <a:rPr lang="en-US" altLang="zh-CN" dirty="0"/>
              <a:t>B </a:t>
            </a:r>
            <a:r>
              <a:rPr lang="zh-CN" altLang="en-US" dirty="0"/>
              <a:t>发送数据的有效数据率。</a:t>
            </a:r>
          </a:p>
        </p:txBody>
      </p:sp>
      <p:sp>
        <p:nvSpPr>
          <p:cNvPr id="2" name="文本占位符 1"/>
          <p:cNvSpPr>
            <a:spLocks noGrp="1"/>
          </p:cNvSpPr>
          <p:nvPr>
            <p:ph type="body" sz="quarter" idx="11"/>
          </p:nvPr>
        </p:nvSpPr>
        <p:spPr>
          <a:xfrm>
            <a:off x="0" y="150273"/>
            <a:ext cx="6632575" cy="338554"/>
          </a:xfrm>
        </p:spPr>
        <p:txBody>
          <a:bodyPr/>
          <a:lstStyle/>
          <a:p>
            <a:r>
              <a:rPr lang="zh-CN" altLang="en-US" dirty="0"/>
              <a:t>分析举例</a:t>
            </a:r>
          </a:p>
        </p:txBody>
      </p:sp>
      <p:grpSp>
        <p:nvGrpSpPr>
          <p:cNvPr id="4" name="组合 3"/>
          <p:cNvGrpSpPr/>
          <p:nvPr/>
        </p:nvGrpSpPr>
        <p:grpSpPr>
          <a:xfrm>
            <a:off x="2163416" y="1098586"/>
            <a:ext cx="4747202" cy="895466"/>
            <a:chOff x="2163416" y="1139776"/>
            <a:chExt cx="4747202" cy="895466"/>
          </a:xfrm>
        </p:grpSpPr>
        <p:sp>
          <p:nvSpPr>
            <p:cNvPr id="17" name="椭圆 16"/>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 name="直接连接符 18"/>
            <p:cNvCxnSpPr>
              <a:stCxn id="17" idx="6"/>
              <a:endCxn id="18"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21"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22"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23" name="文本框 22"/>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解：</a:t>
            </a:r>
            <a:endParaRPr lang="en-US" altLang="zh-CN" dirty="0"/>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分析举例</a:t>
            </a:r>
          </a:p>
        </p:txBody>
      </p:sp>
      <p:grpSp>
        <p:nvGrpSpPr>
          <p:cNvPr id="9" name="组合 8"/>
          <p:cNvGrpSpPr/>
          <p:nvPr/>
        </p:nvGrpSpPr>
        <p:grpSpPr>
          <a:xfrm>
            <a:off x="809892" y="2673889"/>
            <a:ext cx="5537741" cy="738664"/>
            <a:chOff x="940526" y="2682598"/>
            <a:chExt cx="5537741" cy="738664"/>
          </a:xfrm>
        </p:grpSpPr>
        <p:sp>
          <p:nvSpPr>
            <p:cNvPr id="4" name="文本框 3"/>
            <p:cNvSpPr txBox="1"/>
            <p:nvPr/>
          </p:nvSpPr>
          <p:spPr>
            <a:xfrm>
              <a:off x="940526" y="2867264"/>
              <a:ext cx="1422184"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发送时延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2360014" y="2682598"/>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数据长度</a:t>
              </a:r>
            </a:p>
          </p:txBody>
        </p:sp>
        <p:sp>
          <p:nvSpPr>
            <p:cNvPr id="14" name="文本框 13"/>
            <p:cNvSpPr txBox="1"/>
            <p:nvPr/>
          </p:nvSpPr>
          <p:spPr>
            <a:xfrm>
              <a:off x="2360014" y="3051930"/>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3838954" y="2682598"/>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3871785" y="3051930"/>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100×10</a:t>
              </a:r>
              <a:r>
                <a:rPr lang="en-US" altLang="zh-CN" b="1" baseline="30000" dirty="0">
                  <a:latin typeface="微软雅黑" panose="020B0503020204020204" pitchFamily="34" charset="-122"/>
                  <a:ea typeface="微软雅黑" panose="020B0503020204020204" pitchFamily="34" charset="-122"/>
                </a:rPr>
                <a:t>6</a:t>
              </a:r>
              <a:endParaRPr lang="zh-CN" altLang="en-US" b="1" baseline="300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1106393"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8.39 s</a:t>
              </a:r>
              <a:endParaRPr lang="zh-CN" altLang="en-US" b="1" dirty="0">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809892" y="3532535"/>
            <a:ext cx="7351788" cy="738664"/>
            <a:chOff x="940526" y="3549953"/>
            <a:chExt cx="7351788" cy="738664"/>
          </a:xfrm>
        </p:grpSpPr>
        <p:sp>
          <p:nvSpPr>
            <p:cNvPr id="31" name="文本框 30"/>
            <p:cNvSpPr txBox="1"/>
            <p:nvPr/>
          </p:nvSpPr>
          <p:spPr>
            <a:xfrm>
              <a:off x="940526" y="3734619"/>
              <a:ext cx="1653017"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有效数据率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32" name="文本框 31"/>
            <p:cNvSpPr txBox="1"/>
            <p:nvPr/>
          </p:nvSpPr>
          <p:spPr>
            <a:xfrm>
              <a:off x="2560318" y="3549953"/>
              <a:ext cx="1811385" cy="369332"/>
            </a:xfrm>
            <a:prstGeom prst="rect">
              <a:avLst/>
            </a:prstGeom>
            <a:noFill/>
          </p:spPr>
          <p:txBody>
            <a:bodyPr wrap="square" rtlCol="0">
              <a:spAutoFit/>
            </a:bodyPr>
            <a:lstStyle/>
            <a:p>
              <a:pPr algn="ctr"/>
              <a:r>
                <a:rPr lang="zh-CN" altLang="en-US" b="1" dirty="0">
                  <a:latin typeface="微软雅黑" panose="020B0503020204020204" pitchFamily="34" charset="-122"/>
                  <a:ea typeface="微软雅黑" panose="020B0503020204020204" pitchFamily="34" charset="-122"/>
                </a:rPr>
                <a:t>数据长度</a:t>
              </a:r>
            </a:p>
          </p:txBody>
        </p:sp>
        <p:sp>
          <p:nvSpPr>
            <p:cNvPr id="33" name="文本框 32"/>
            <p:cNvSpPr txBox="1"/>
            <p:nvPr/>
          </p:nvSpPr>
          <p:spPr>
            <a:xfrm>
              <a:off x="2560319" y="3919285"/>
              <a:ext cx="18724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发送时间 </a:t>
              </a:r>
              <a:r>
                <a:rPr lang="en-US" altLang="zh-CN" b="1" dirty="0">
                  <a:latin typeface="微软雅黑" panose="020B0503020204020204" pitchFamily="34" charset="-122"/>
                  <a:ea typeface="微软雅黑" panose="020B0503020204020204" pitchFamily="34" charset="-122"/>
                </a:rPr>
                <a:t>+ RTT</a:t>
              </a:r>
              <a:endParaRPr lang="zh-CN" altLang="en-US" b="1" dirty="0">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36" name="文本框 35"/>
            <p:cNvSpPr txBox="1"/>
            <p:nvPr/>
          </p:nvSpPr>
          <p:spPr>
            <a:xfrm>
              <a:off x="4918826" y="3549953"/>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37" name="文本框 36"/>
            <p:cNvSpPr txBox="1"/>
            <p:nvPr/>
          </p:nvSpPr>
          <p:spPr>
            <a:xfrm>
              <a:off x="4951657" y="3919285"/>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8.39 + 2</a:t>
              </a:r>
              <a:endParaRPr lang="zh-CN" altLang="en-US" b="1" baseline="30000" dirty="0">
                <a:latin typeface="微软雅黑" panose="020B0503020204020204" pitchFamily="34" charset="-122"/>
                <a:ea typeface="微软雅黑" panose="020B0503020204020204" pitchFamily="34" charset="-122"/>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840568"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80.7 Mbit/s</a:t>
              </a:r>
              <a:endParaRPr lang="zh-CN" altLang="en-US" b="1" dirty="0">
                <a:latin typeface="微软雅黑" panose="020B0503020204020204" pitchFamily="34" charset="-122"/>
                <a:ea typeface="微软雅黑" panose="020B0503020204020204" pitchFamily="34" charset="-122"/>
              </a:endParaRPr>
            </a:p>
          </p:txBody>
        </p:sp>
      </p:grpSp>
      <p:grpSp>
        <p:nvGrpSpPr>
          <p:cNvPr id="40" name="组合 39"/>
          <p:cNvGrpSpPr/>
          <p:nvPr/>
        </p:nvGrpSpPr>
        <p:grpSpPr>
          <a:xfrm>
            <a:off x="2163416" y="1098586"/>
            <a:ext cx="4747202" cy="895466"/>
            <a:chOff x="2163416" y="1139776"/>
            <a:chExt cx="4747202" cy="895466"/>
          </a:xfrm>
        </p:grpSpPr>
        <p:sp>
          <p:nvSpPr>
            <p:cNvPr id="41" name="椭圆 40"/>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p:cNvCxnSpPr>
              <a:stCxn id="41" idx="6"/>
              <a:endCxn id="42"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文本框 43"/>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45"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46"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47" name="文本框 46"/>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endParaRPr lang="en-US" altLang="zh-CN" dirty="0"/>
          </a:p>
          <a:p>
            <a:endParaRPr lang="en-US" altLang="zh-CN" dirty="0"/>
          </a:p>
          <a:p>
            <a:endParaRPr lang="en-US" altLang="zh-CN" dirty="0"/>
          </a:p>
          <a:p>
            <a:r>
              <a:rPr lang="zh-CN" altLang="en-US" dirty="0"/>
              <a:t>在互联网中，往返时间还包括各中间结点的处理时延、排队时延以及转发数据时的发送时延。</a:t>
            </a:r>
          </a:p>
          <a:p>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a:p>
            <a:endParaRPr lang="zh-CN" altLang="en-US" dirty="0"/>
          </a:p>
        </p:txBody>
      </p:sp>
      <p:sp>
        <p:nvSpPr>
          <p:cNvPr id="2" name="文本占位符 1"/>
          <p:cNvSpPr>
            <a:spLocks noGrp="1"/>
          </p:cNvSpPr>
          <p:nvPr>
            <p:ph type="body" sz="quarter" idx="11"/>
          </p:nvPr>
        </p:nvSpPr>
        <p:spPr>
          <a:xfrm>
            <a:off x="0" y="150273"/>
            <a:ext cx="6632575" cy="338554"/>
          </a:xfrm>
        </p:spPr>
        <p:txBody>
          <a:bodyPr/>
          <a:lstStyle/>
          <a:p>
            <a:r>
              <a:rPr lang="en-US" altLang="zh-CN" dirty="0"/>
              <a:t>6. </a:t>
            </a:r>
            <a:r>
              <a:rPr lang="zh-CN" altLang="en-US" dirty="0"/>
              <a:t>往返时间 </a:t>
            </a:r>
            <a:r>
              <a:rPr lang="en-US" altLang="zh-CN" dirty="0"/>
              <a:t>RTT (Round-Trip Time)</a:t>
            </a:r>
            <a:endParaRPr lang="zh-CN" altLang="en-US" dirty="0"/>
          </a:p>
        </p:txBody>
      </p:sp>
      <p:grpSp>
        <p:nvGrpSpPr>
          <p:cNvPr id="15" name="组合 14"/>
          <p:cNvGrpSpPr/>
          <p:nvPr/>
        </p:nvGrpSpPr>
        <p:grpSpPr>
          <a:xfrm>
            <a:off x="1597353" y="1252099"/>
            <a:ext cx="6192832" cy="765917"/>
            <a:chOff x="1597353" y="1219186"/>
            <a:chExt cx="6192832" cy="765917"/>
          </a:xfrm>
        </p:grpSpPr>
        <p:sp>
          <p:nvSpPr>
            <p:cNvPr id="5" name="椭圆 4"/>
            <p:cNvSpPr/>
            <p:nvPr/>
          </p:nvSpPr>
          <p:spPr>
            <a:xfrm>
              <a:off x="1793951"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7167147"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5" idx="6"/>
              <a:endCxn id="6" idx="2"/>
            </p:cNvCxnSpPr>
            <p:nvPr/>
          </p:nvCxnSpPr>
          <p:spPr>
            <a:xfrm>
              <a:off x="2211959" y="1428191"/>
              <a:ext cx="495518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p:cNvSpPr txBox="1">
              <a:spLocks noChangeArrowheads="1"/>
            </p:cNvSpPr>
            <p:nvPr/>
          </p:nvSpPr>
          <p:spPr bwMode="auto">
            <a:xfrm>
              <a:off x="6993260" y="1646965"/>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 name="Text Box 38"/>
            <p:cNvSpPr txBox="1">
              <a:spLocks noChangeArrowheads="1"/>
            </p:cNvSpPr>
            <p:nvPr/>
          </p:nvSpPr>
          <p:spPr bwMode="auto">
            <a:xfrm>
              <a:off x="1597353" y="1646965"/>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12" name="椭圆 11"/>
            <p:cNvSpPr/>
            <p:nvPr/>
          </p:nvSpPr>
          <p:spPr>
            <a:xfrm>
              <a:off x="3265700"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4567642"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5808556"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p:cNvGraphicFramePr/>
          <p:nvPr>
            <p:extLst>
              <p:ext uri="{D42A27DB-BD31-4B8C-83A1-F6EECF244321}">
                <p14:modId xmlns:p14="http://schemas.microsoft.com/office/powerpoint/2010/main" val="2921566290"/>
              </p:ext>
            </p:extLst>
          </p:nvPr>
        </p:nvGraphicFramePr>
        <p:xfrm>
          <a:off x="1663337" y="1051733"/>
          <a:ext cx="6096000" cy="2621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矩形 6"/>
          <p:cNvSpPr/>
          <p:nvPr/>
        </p:nvSpPr>
        <p:spPr>
          <a:xfrm>
            <a:off x="2542902" y="3816799"/>
            <a:ext cx="4336869" cy="400110"/>
          </a:xfrm>
          <a:prstGeom prst="rect">
            <a:avLst/>
          </a:prstGeom>
          <a:solidFill>
            <a:srgbClr val="FFFF99"/>
          </a:solidFill>
          <a:ln>
            <a:solidFill>
              <a:srgbClr val="000066"/>
            </a:solid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2000" b="1" dirty="0">
                <a:solidFill>
                  <a:srgbClr val="0000CC"/>
                </a:solidFill>
                <a:latin typeface="微软雅黑" panose="020B0503020204020204" pitchFamily="34" charset="-122"/>
                <a:ea typeface="微软雅黑" panose="020B0503020204020204" pitchFamily="34" charset="-122"/>
              </a:rPr>
              <a:t>问题：信道利用率越高越好吗？</a:t>
            </a:r>
          </a:p>
        </p:txBody>
      </p:sp>
      <p:sp>
        <p:nvSpPr>
          <p:cNvPr id="5" name="内容占位符 4">
            <a:extLst>
              <a:ext uri="{FF2B5EF4-FFF2-40B4-BE49-F238E27FC236}">
                <a16:creationId xmlns:a16="http://schemas.microsoft.com/office/drawing/2014/main" id="{99CC3B82-3237-40F4-692D-481EAF98585E}"/>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7. </a:t>
            </a:r>
            <a:r>
              <a:rPr lang="zh-CN" altLang="en-US" dirty="0"/>
              <a:t>利用率</a:t>
            </a: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根据排队论，当某信道的利用率增大时，时延会迅速增加。</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时延与网络利用率的关系</a:t>
            </a:r>
          </a:p>
        </p:txBody>
      </p:sp>
      <p:sp>
        <p:nvSpPr>
          <p:cNvPr id="5" name="矩形 5"/>
          <p:cNvSpPr>
            <a:spLocks noChangeArrowheads="1"/>
          </p:cNvSpPr>
          <p:nvPr/>
        </p:nvSpPr>
        <p:spPr bwMode="auto">
          <a:xfrm>
            <a:off x="987288" y="2644395"/>
            <a:ext cx="3088101" cy="1631216"/>
          </a:xfrm>
          <a:prstGeom prst="rect">
            <a:avLst/>
          </a:prstGeom>
          <a:noFill/>
          <a:ln>
            <a:noFill/>
          </a:ln>
        </p:spPr>
        <p:txBody>
          <a:bodyPr wrap="square">
            <a:spAutoFit/>
          </a:bodyPr>
          <a:lstStyle/>
          <a:p>
            <a:pPr>
              <a:lnSpc>
                <a:spcPts val="2400"/>
              </a:lnSpc>
            </a:pPr>
            <a:r>
              <a:rPr lang="zh-CN" altLang="en-US" sz="1600" b="1" dirty="0">
                <a:latin typeface="微软雅黑" pitchFamily="34" charset="-122"/>
                <a:ea typeface="微软雅黑" pitchFamily="34" charset="-122"/>
              </a:rPr>
              <a:t>其中：</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en-US" altLang="zh-CN" sz="1600" b="1" baseline="-25000" dirty="0">
                <a:latin typeface="微软雅黑" pitchFamily="34" charset="-122"/>
                <a:ea typeface="微软雅黑" pitchFamily="34" charset="-122"/>
              </a:rPr>
              <a:t>0</a:t>
            </a:r>
            <a:r>
              <a:rPr lang="zh-CN" altLang="en-US" sz="1600" b="1" dirty="0">
                <a:latin typeface="微软雅黑" pitchFamily="34" charset="-122"/>
                <a:ea typeface="微软雅黑" pitchFamily="34" charset="-122"/>
              </a:rPr>
              <a:t>：网络空闲时的时延。</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zh-CN" altLang="en-US" sz="1600" b="1" dirty="0">
                <a:latin typeface="微软雅黑" pitchFamily="34" charset="-122"/>
                <a:ea typeface="微软雅黑" pitchFamily="34" charset="-122"/>
              </a:rPr>
              <a:t>：网络在当前的时延。</a:t>
            </a:r>
            <a:endParaRPr lang="en-US" altLang="zh-CN" sz="1600" b="1" dirty="0">
              <a:latin typeface="微软雅黑" pitchFamily="34" charset="-122"/>
              <a:ea typeface="微软雅黑" pitchFamily="34" charset="-122"/>
            </a:endParaRPr>
          </a:p>
          <a:p>
            <a:pPr marL="357188" indent="-357188">
              <a:lnSpc>
                <a:spcPts val="2400"/>
              </a:lnSpc>
            </a:pPr>
            <a:r>
              <a:rPr lang="en-US" altLang="zh-CN" sz="1600" b="1" dirty="0">
                <a:latin typeface="微软雅黑" pitchFamily="34" charset="-122"/>
                <a:ea typeface="微软雅黑" pitchFamily="34" charset="-122"/>
              </a:rPr>
              <a:t>U</a:t>
            </a:r>
            <a:r>
              <a:rPr lang="zh-CN" altLang="en-US" sz="1600" b="1" dirty="0">
                <a:latin typeface="微软雅黑" pitchFamily="34" charset="-122"/>
                <a:ea typeface="微软雅黑" pitchFamily="34" charset="-122"/>
              </a:rPr>
              <a:t>：网络当前的利用率，数值在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之间。</a:t>
            </a:r>
            <a:endParaRPr lang="en-US" altLang="zh-CN" sz="1600" b="1" dirty="0">
              <a:latin typeface="微软雅黑" pitchFamily="34" charset="-122"/>
              <a:ea typeface="微软雅黑" pitchFamily="34" charset="-122"/>
            </a:endParaRPr>
          </a:p>
        </p:txBody>
      </p:sp>
      <p:grpSp>
        <p:nvGrpSpPr>
          <p:cNvPr id="20" name="组合 19"/>
          <p:cNvGrpSpPr/>
          <p:nvPr/>
        </p:nvGrpSpPr>
        <p:grpSpPr>
          <a:xfrm>
            <a:off x="1448819" y="1557064"/>
            <a:ext cx="1611086" cy="894481"/>
            <a:chOff x="2760617" y="1739421"/>
            <a:chExt cx="1611086" cy="894481"/>
          </a:xfrm>
          <a:solidFill>
            <a:srgbClr val="FFCC66"/>
          </a:solidFill>
        </p:grpSpPr>
        <p:sp>
          <p:nvSpPr>
            <p:cNvPr id="19" name="圆角矩形 18"/>
            <p:cNvSpPr/>
            <p:nvPr/>
          </p:nvSpPr>
          <p:spPr>
            <a:xfrm>
              <a:off x="2760617" y="1739421"/>
              <a:ext cx="1611086" cy="894481"/>
            </a:xfrm>
            <a:prstGeom prst="roundRect">
              <a:avLst/>
            </a:prstGeom>
            <a:grp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sz="2000"/>
            </a:p>
          </p:txBody>
        </p:sp>
        <p:grpSp>
          <p:nvGrpSpPr>
            <p:cNvPr id="18" name="组合 17"/>
            <p:cNvGrpSpPr/>
            <p:nvPr/>
          </p:nvGrpSpPr>
          <p:grpSpPr>
            <a:xfrm>
              <a:off x="2830280" y="1827192"/>
              <a:ext cx="1419505" cy="769442"/>
              <a:chOff x="801181" y="1895238"/>
              <a:chExt cx="1419505" cy="769442"/>
            </a:xfrm>
            <a:grpFill/>
          </p:grpSpPr>
          <p:sp>
            <p:nvSpPr>
              <p:cNvPr id="8" name="文本框 7"/>
              <p:cNvSpPr txBox="1"/>
              <p:nvPr/>
            </p:nvSpPr>
            <p:spPr>
              <a:xfrm>
                <a:off x="801181" y="2079904"/>
                <a:ext cx="737702" cy="400110"/>
              </a:xfrm>
              <a:prstGeom prst="rect">
                <a:avLst/>
              </a:prstGeom>
              <a:grpFill/>
            </p:spPr>
            <p:txBody>
              <a:bodyPr wrap="none" rtlCol="0">
                <a:spAutoFit/>
              </a:bodyPr>
              <a:lstStyle/>
              <a:p>
                <a:r>
                  <a:rPr lang="en-US" altLang="zh-CN" sz="2000" b="1" dirty="0">
                    <a:latin typeface="微软雅黑" panose="020B0503020204020204" pitchFamily="34" charset="-122"/>
                    <a:ea typeface="微软雅黑" panose="020B0503020204020204" pitchFamily="34" charset="-122"/>
                  </a:rPr>
                  <a:t>D = </a:t>
                </a:r>
                <a:endParaRPr lang="zh-CN" altLang="en-US" sz="2000" b="1" dirty="0">
                  <a:latin typeface="微软雅黑" panose="020B0503020204020204" pitchFamily="34" charset="-122"/>
                  <a:ea typeface="微软雅黑" panose="020B0503020204020204" pitchFamily="34" charset="-122"/>
                </a:endParaRPr>
              </a:p>
            </p:txBody>
          </p:sp>
          <p:sp>
            <p:nvSpPr>
              <p:cNvPr id="9" name="文本框 8"/>
              <p:cNvSpPr txBox="1"/>
              <p:nvPr/>
            </p:nvSpPr>
            <p:spPr>
              <a:xfrm>
                <a:off x="1489152" y="1895238"/>
                <a:ext cx="618323"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D</a:t>
                </a:r>
                <a:r>
                  <a:rPr lang="en-US" altLang="zh-CN" sz="2000" b="1" baseline="-25000" dirty="0">
                    <a:latin typeface="微软雅黑" panose="020B0503020204020204" pitchFamily="34" charset="-122"/>
                    <a:ea typeface="微软雅黑" panose="020B0503020204020204" pitchFamily="34" charset="-122"/>
                  </a:rPr>
                  <a:t>0</a:t>
                </a:r>
                <a:r>
                  <a:rPr lang="en-US" altLang="zh-CN" sz="2000" b="1" dirty="0">
                    <a:latin typeface="微软雅黑" panose="020B0503020204020204" pitchFamily="34" charset="-122"/>
                    <a:ea typeface="微软雅黑" panose="020B0503020204020204" pitchFamily="34" charset="-122"/>
                  </a:rPr>
                  <a:t> </a:t>
                </a:r>
                <a:endParaRPr lang="zh-CN" altLang="en-US" sz="2000" b="1" dirty="0">
                  <a:latin typeface="微软雅黑" panose="020B0503020204020204" pitchFamily="34" charset="-122"/>
                  <a:ea typeface="微软雅黑" panose="020B0503020204020204" pitchFamily="34" charset="-122"/>
                </a:endParaRPr>
              </a:p>
            </p:txBody>
          </p:sp>
          <p:sp>
            <p:nvSpPr>
              <p:cNvPr id="10" name="文本框 9"/>
              <p:cNvSpPr txBox="1"/>
              <p:nvPr/>
            </p:nvSpPr>
            <p:spPr>
              <a:xfrm>
                <a:off x="1361216" y="2264570"/>
                <a:ext cx="859470"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1 - U</a:t>
                </a:r>
                <a:endParaRPr lang="zh-CN" altLang="en-US" sz="2000" b="1" dirty="0">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1361215" y="2264570"/>
                <a:ext cx="859471" cy="0"/>
              </a:xfrm>
              <a:prstGeom prst="line">
                <a:avLst/>
              </a:prstGeom>
              <a:grpFill/>
              <a:ln w="19050"/>
            </p:spPr>
            <p:style>
              <a:lnRef idx="1">
                <a:schemeClr val="dk1"/>
              </a:lnRef>
              <a:fillRef idx="0">
                <a:schemeClr val="dk1"/>
              </a:fillRef>
              <a:effectRef idx="0">
                <a:schemeClr val="dk1"/>
              </a:effectRef>
              <a:fontRef idx="minor">
                <a:schemeClr val="tx1"/>
              </a:fontRef>
            </p:style>
          </p:cxnSp>
        </p:grpSp>
      </p:grpSp>
      <p:grpSp>
        <p:nvGrpSpPr>
          <p:cNvPr id="35" name="组合 34"/>
          <p:cNvGrpSpPr/>
          <p:nvPr/>
        </p:nvGrpSpPr>
        <p:grpSpPr>
          <a:xfrm>
            <a:off x="4342338" y="1495850"/>
            <a:ext cx="3986073" cy="2297090"/>
            <a:chOff x="4580707" y="1670485"/>
            <a:chExt cx="3724192" cy="2086103"/>
          </a:xfrm>
        </p:grpSpPr>
        <p:sp>
          <p:nvSpPr>
            <p:cNvPr id="21" name="圆角矩形 20"/>
            <p:cNvSpPr/>
            <p:nvPr/>
          </p:nvSpPr>
          <p:spPr>
            <a:xfrm>
              <a:off x="4580707" y="1670485"/>
              <a:ext cx="3724192" cy="2086103"/>
            </a:xfrm>
            <a:prstGeom prst="roundRect">
              <a:avLst>
                <a:gd name="adj" fmla="val 10067"/>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2" name="组合 4"/>
            <p:cNvGrpSpPr>
              <a:grpSpLocks/>
            </p:cNvGrpSpPr>
            <p:nvPr/>
          </p:nvGrpSpPr>
          <p:grpSpPr bwMode="auto">
            <a:xfrm>
              <a:off x="4695973" y="1783699"/>
              <a:ext cx="3400366" cy="1894737"/>
              <a:chOff x="2135973" y="2446456"/>
              <a:chExt cx="4890755" cy="2671462"/>
            </a:xfrm>
          </p:grpSpPr>
          <p:sp>
            <p:nvSpPr>
              <p:cNvPr id="23" name="Rectangle 4"/>
              <p:cNvSpPr>
                <a:spLocks noChangeArrowheads="1"/>
              </p:cNvSpPr>
              <p:nvPr/>
            </p:nvSpPr>
            <p:spPr bwMode="auto">
              <a:xfrm>
                <a:off x="4631067" y="2641057"/>
                <a:ext cx="921221" cy="2086023"/>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2135973" y="2446456"/>
                <a:ext cx="88793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微软雅黑" pitchFamily="34" charset="-122"/>
                    <a:ea typeface="微软雅黑" pitchFamily="34" charset="-122"/>
                  </a:rPr>
                  <a:t>时延 </a:t>
                </a:r>
                <a:r>
                  <a:rPr lang="en-US" altLang="zh-CN" sz="1200" b="1" i="1" dirty="0">
                    <a:solidFill>
                      <a:srgbClr val="000066"/>
                    </a:solidFill>
                    <a:latin typeface="微软雅黑" pitchFamily="34" charset="-122"/>
                    <a:ea typeface="微软雅黑" pitchFamily="34" charset="-122"/>
                  </a:rPr>
                  <a:t>D</a:t>
                </a:r>
              </a:p>
            </p:txBody>
          </p:sp>
          <p:sp>
            <p:nvSpPr>
              <p:cNvPr id="25" name="Line 6"/>
              <p:cNvSpPr>
                <a:spLocks noChangeShapeType="1"/>
              </p:cNvSpPr>
              <p:nvPr/>
            </p:nvSpPr>
            <p:spPr bwMode="auto">
              <a:xfrm flipV="1">
                <a:off x="3029805" y="2543654"/>
                <a:ext cx="0" cy="2183427"/>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6" name="Line 7"/>
              <p:cNvSpPr>
                <a:spLocks noChangeShapeType="1"/>
              </p:cNvSpPr>
              <p:nvPr/>
            </p:nvSpPr>
            <p:spPr bwMode="auto">
              <a:xfrm rot="5400000" flipV="1">
                <a:off x="4836015" y="2920871"/>
                <a:ext cx="0" cy="3612419"/>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7" name="Line 8"/>
              <p:cNvSpPr>
                <a:spLocks noChangeShapeType="1"/>
              </p:cNvSpPr>
              <p:nvPr/>
            </p:nvSpPr>
            <p:spPr bwMode="auto">
              <a:xfrm>
                <a:off x="5552286" y="2568280"/>
                <a:ext cx="0" cy="2158801"/>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28" name="Arc 9"/>
              <p:cNvSpPr>
                <a:spLocks/>
              </p:cNvSpPr>
              <p:nvPr/>
            </p:nvSpPr>
            <p:spPr bwMode="auto">
              <a:xfrm flipV="1">
                <a:off x="3029804" y="2641057"/>
                <a:ext cx="2510540" cy="1942842"/>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29" name="Text Box 10"/>
              <p:cNvSpPr txBox="1">
                <a:spLocks noChangeArrowheads="1"/>
              </p:cNvSpPr>
              <p:nvPr/>
            </p:nvSpPr>
            <p:spPr bwMode="auto">
              <a:xfrm>
                <a:off x="5934155" y="4763239"/>
                <a:ext cx="1092573"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微软雅黑" pitchFamily="34" charset="-122"/>
                    <a:ea typeface="微软雅黑" pitchFamily="34" charset="-122"/>
                  </a:rPr>
                  <a:t>利用率 </a:t>
                </a:r>
                <a:r>
                  <a:rPr lang="en-US" altLang="zh-CN" sz="1200" b="1" i="1">
                    <a:solidFill>
                      <a:srgbClr val="000066"/>
                    </a:solidFill>
                    <a:latin typeface="微软雅黑" pitchFamily="34" charset="-122"/>
                    <a:ea typeface="微软雅黑" pitchFamily="34" charset="-122"/>
                  </a:rPr>
                  <a:t>U</a:t>
                </a:r>
              </a:p>
            </p:txBody>
          </p:sp>
          <p:sp>
            <p:nvSpPr>
              <p:cNvPr id="30" name="Text Box 11"/>
              <p:cNvSpPr txBox="1">
                <a:spLocks noChangeArrowheads="1"/>
              </p:cNvSpPr>
              <p:nvPr/>
            </p:nvSpPr>
            <p:spPr bwMode="auto">
              <a:xfrm>
                <a:off x="5400721" y="4719961"/>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1</a:t>
                </a:r>
                <a:endParaRPr lang="en-US" altLang="zh-CN" sz="1200" b="1" i="1">
                  <a:solidFill>
                    <a:srgbClr val="000066"/>
                  </a:solidFill>
                  <a:latin typeface="微软雅黑" pitchFamily="34" charset="-122"/>
                  <a:ea typeface="微软雅黑" pitchFamily="34" charset="-122"/>
                </a:endParaRPr>
              </a:p>
            </p:txBody>
          </p:sp>
          <p:sp>
            <p:nvSpPr>
              <p:cNvPr id="31" name="Text Box 12"/>
              <p:cNvSpPr txBox="1">
                <a:spLocks noChangeArrowheads="1"/>
              </p:cNvSpPr>
              <p:nvPr/>
            </p:nvSpPr>
            <p:spPr bwMode="auto">
              <a:xfrm>
                <a:off x="2828045" y="4685155"/>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0</a:t>
                </a:r>
                <a:endParaRPr lang="en-US" altLang="zh-CN" sz="1200" b="1" i="1">
                  <a:solidFill>
                    <a:srgbClr val="000066"/>
                  </a:solidFill>
                  <a:latin typeface="微软雅黑" pitchFamily="34" charset="-122"/>
                  <a:ea typeface="微软雅黑" pitchFamily="34" charset="-122"/>
                </a:endParaRPr>
              </a:p>
            </p:txBody>
          </p:sp>
          <p:sp>
            <p:nvSpPr>
              <p:cNvPr id="32" name="Text Box 13"/>
              <p:cNvSpPr txBox="1">
                <a:spLocks noChangeArrowheads="1"/>
              </p:cNvSpPr>
              <p:nvPr/>
            </p:nvSpPr>
            <p:spPr bwMode="auto">
              <a:xfrm>
                <a:off x="2585254" y="4385342"/>
                <a:ext cx="49588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i="1">
                    <a:solidFill>
                      <a:srgbClr val="000066"/>
                    </a:solidFill>
                    <a:latin typeface="微软雅黑" pitchFamily="34" charset="-122"/>
                    <a:ea typeface="微软雅黑" pitchFamily="34" charset="-122"/>
                  </a:rPr>
                  <a:t>D</a:t>
                </a:r>
                <a:r>
                  <a:rPr lang="en-US" altLang="zh-CN" sz="1200" b="1" baseline="-25000">
                    <a:solidFill>
                      <a:srgbClr val="000066"/>
                    </a:solidFill>
                    <a:latin typeface="微软雅黑" pitchFamily="34" charset="-122"/>
                    <a:ea typeface="微软雅黑" pitchFamily="34" charset="-122"/>
                  </a:rPr>
                  <a:t>0</a:t>
                </a:r>
                <a:endParaRPr lang="en-US" altLang="zh-CN" sz="1200" b="1" i="1" baseline="-25000">
                  <a:solidFill>
                    <a:srgbClr val="000066"/>
                  </a:solidFill>
                  <a:latin typeface="微软雅黑" pitchFamily="34" charset="-122"/>
                  <a:ea typeface="微软雅黑" pitchFamily="34" charset="-122"/>
                </a:endParaRPr>
              </a:p>
            </p:txBody>
          </p:sp>
          <p:sp>
            <p:nvSpPr>
              <p:cNvPr id="33" name="Text Box 14"/>
              <p:cNvSpPr txBox="1">
                <a:spLocks noChangeArrowheads="1"/>
              </p:cNvSpPr>
              <p:nvPr/>
            </p:nvSpPr>
            <p:spPr bwMode="auto">
              <a:xfrm>
                <a:off x="4656119" y="2647003"/>
                <a:ext cx="704682" cy="816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微软雅黑" pitchFamily="34" charset="-122"/>
                    <a:ea typeface="微软雅黑" pitchFamily="34" charset="-122"/>
                  </a:rPr>
                  <a:t>时延急剧增大</a:t>
                </a:r>
                <a:endParaRPr lang="zh-CN" altLang="en-US" sz="1200" b="1" i="1" dirty="0">
                  <a:solidFill>
                    <a:schemeClr val="bg1"/>
                  </a:solidFill>
                  <a:latin typeface="微软雅黑" pitchFamily="34" charset="-122"/>
                  <a:ea typeface="微软雅黑" pitchFamily="34" charset="-122"/>
                </a:endParaRPr>
              </a:p>
            </p:txBody>
          </p:sp>
        </p:grpSp>
      </p:grpSp>
      <p:sp>
        <p:nvSpPr>
          <p:cNvPr id="34" name="矩形 16"/>
          <p:cNvSpPr>
            <a:spLocks noChangeArrowheads="1"/>
          </p:cNvSpPr>
          <p:nvPr/>
        </p:nvSpPr>
        <p:spPr bwMode="auto">
          <a:xfrm>
            <a:off x="4461804" y="3792939"/>
            <a:ext cx="379693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pPr>
            <a:r>
              <a:rPr lang="zh-CN" altLang="en-US" sz="1600" b="1" dirty="0">
                <a:latin typeface="微软雅黑" pitchFamily="34" charset="-122"/>
                <a:ea typeface="微软雅黑" pitchFamily="34" charset="-122"/>
              </a:rPr>
              <a:t>当信道的利用率增大时，</a:t>
            </a:r>
            <a:endParaRPr lang="en-US" altLang="zh-CN" sz="1600" b="1" dirty="0">
              <a:latin typeface="微软雅黑" pitchFamily="34" charset="-122"/>
              <a:ea typeface="微软雅黑" pitchFamily="34" charset="-122"/>
            </a:endParaRPr>
          </a:p>
          <a:p>
            <a:pPr algn="ctr">
              <a:lnSpc>
                <a:spcPts val="2400"/>
              </a:lnSpc>
            </a:pPr>
            <a:r>
              <a:rPr lang="zh-CN" altLang="en-US" sz="1600" b="1" dirty="0">
                <a:latin typeface="微软雅黑" pitchFamily="34" charset="-122"/>
                <a:ea typeface="微软雅黑" pitchFamily="34" charset="-122"/>
              </a:rPr>
              <a:t>该信道引起的时延迅速增加。</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747568C2-8DF1-D40D-9972-397EE1C49B47}"/>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1.6.2  </a:t>
            </a:r>
            <a:r>
              <a:rPr lang="zh-CN" altLang="en-US" dirty="0"/>
              <a:t>计算机网络的非性能特征</a:t>
            </a:r>
          </a:p>
        </p:txBody>
      </p:sp>
      <p:graphicFrame>
        <p:nvGraphicFramePr>
          <p:cNvPr id="5" name="图示 4"/>
          <p:cNvGraphicFramePr/>
          <p:nvPr>
            <p:extLst>
              <p:ext uri="{D42A27DB-BD31-4B8C-83A1-F6EECF244321}">
                <p14:modId xmlns:p14="http://schemas.microsoft.com/office/powerpoint/2010/main" val="2490804546"/>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5878162" y="2178862"/>
            <a:ext cx="2294793" cy="707886"/>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8900" y="292576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10" name="Rectangle 11"/>
          <p:cNvSpPr>
            <a:spLocks noChangeArrowheads="1"/>
          </p:cNvSpPr>
          <p:nvPr/>
        </p:nvSpPr>
        <p:spPr bwMode="auto">
          <a:xfrm>
            <a:off x="2628900" y="3543300"/>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2" name="Rectangle 9"/>
          <p:cNvSpPr>
            <a:spLocks noChangeArrowheads="1"/>
          </p:cNvSpPr>
          <p:nvPr/>
        </p:nvSpPr>
        <p:spPr bwMode="auto">
          <a:xfrm>
            <a:off x="2628900" y="1108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3" name="Rectangle 10"/>
          <p:cNvSpPr>
            <a:spLocks noChangeArrowheads="1"/>
          </p:cNvSpPr>
          <p:nvPr/>
        </p:nvSpPr>
        <p:spPr bwMode="auto">
          <a:xfrm>
            <a:off x="2628900" y="1714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a:solidFill>
                <a:srgbClr val="FFFFFF"/>
              </a:solidFill>
              <a:latin typeface="宋体" panose="02010600030101010101" pitchFamily="2" charset="-122"/>
              <a:ea typeface="+mn-ea"/>
            </a:endParaRPr>
          </a:p>
        </p:txBody>
      </p:sp>
      <p:sp>
        <p:nvSpPr>
          <p:cNvPr id="4" name="Rectangle 11"/>
          <p:cNvSpPr>
            <a:spLocks noChangeArrowheads="1"/>
          </p:cNvSpPr>
          <p:nvPr/>
        </p:nvSpPr>
        <p:spPr bwMode="auto">
          <a:xfrm>
            <a:off x="2628900" y="233203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宋体" panose="02010600030101010101" pitchFamily="2" charset="-122"/>
              <a:ea typeface="+mn-ea"/>
            </a:endParaRPr>
          </a:p>
        </p:txBody>
      </p:sp>
      <p:sp>
        <p:nvSpPr>
          <p:cNvPr id="116743" name="Line 16"/>
          <p:cNvSpPr>
            <a:spLocks noChangeShapeType="1"/>
          </p:cNvSpPr>
          <p:nvPr/>
        </p:nvSpPr>
        <p:spPr bwMode="auto">
          <a:xfrm>
            <a:off x="3636963" y="1036638"/>
            <a:ext cx="0" cy="2898775"/>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a:p>
        </p:txBody>
      </p:sp>
      <p:sp>
        <p:nvSpPr>
          <p:cNvPr id="116744" name="Rectangle 8"/>
          <p:cNvSpPr>
            <a:spLocks noChangeArrowheads="1"/>
          </p:cNvSpPr>
          <p:nvPr/>
        </p:nvSpPr>
        <p:spPr bwMode="auto">
          <a:xfrm>
            <a:off x="2700338" y="1073150"/>
            <a:ext cx="54721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anose="020B0503020204020204" pitchFamily="34" charset="-122"/>
                <a:ea typeface="微软雅黑" panose="020B0503020204020204" pitchFamily="34" charset="-122"/>
              </a:rPr>
              <a:t>1.7.1                     </a:t>
            </a:r>
            <a:r>
              <a:rPr lang="zh-CN" altLang="zh-CN" sz="2000" b="1" dirty="0">
                <a:solidFill>
                  <a:schemeClr val="bg1"/>
                </a:solidFill>
                <a:latin typeface="微软雅黑" panose="020B0503020204020204" pitchFamily="34" charset="-122"/>
                <a:ea typeface="微软雅黑" panose="020B0503020204020204" pitchFamily="34" charset="-122"/>
              </a:rPr>
              <a:t>计算机网络体系结构的形成</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zh-CN"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1.7.2                                     </a:t>
            </a:r>
            <a:r>
              <a:rPr lang="zh-CN" altLang="zh-CN" sz="2000" b="1" dirty="0">
                <a:solidFill>
                  <a:schemeClr val="bg1"/>
                </a:solidFill>
                <a:latin typeface="微软雅黑" panose="020B0503020204020204" pitchFamily="34" charset="-122"/>
                <a:ea typeface="微软雅黑" panose="020B0503020204020204" pitchFamily="34" charset="-122"/>
              </a:rPr>
              <a:t>协议与划分层次</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1.7.3                        </a:t>
            </a:r>
            <a:r>
              <a:rPr lang="zh-CN" altLang="zh-CN" sz="2000" b="1" dirty="0">
                <a:solidFill>
                  <a:schemeClr val="bg1"/>
                </a:solidFill>
                <a:latin typeface="微软雅黑" panose="020B0503020204020204" pitchFamily="34" charset="-122"/>
                <a:ea typeface="微软雅黑" panose="020B0503020204020204" pitchFamily="34" charset="-122"/>
              </a:rPr>
              <a:t>具有五层协议的体系结构</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1.7.4              </a:t>
            </a:r>
            <a:r>
              <a:rPr lang="zh-CN" altLang="zh-CN" sz="2000" b="1" dirty="0">
                <a:solidFill>
                  <a:schemeClr val="bg1"/>
                </a:solidFill>
                <a:latin typeface="微软雅黑" panose="020B0503020204020204" pitchFamily="34" charset="-122"/>
                <a:ea typeface="微软雅黑" panose="020B0503020204020204" pitchFamily="34" charset="-122"/>
              </a:rPr>
              <a:t>实体、协议、服务和服务访问点</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1.7.5                                TCP/IP </a:t>
            </a:r>
            <a:r>
              <a:rPr lang="zh-CN" altLang="zh-CN" sz="2000" b="1" dirty="0">
                <a:solidFill>
                  <a:schemeClr val="bg1"/>
                </a:solidFill>
                <a:latin typeface="微软雅黑" panose="020B0503020204020204" pitchFamily="34" charset="-122"/>
                <a:ea typeface="微软雅黑" panose="020B0503020204020204" pitchFamily="34" charset="-122"/>
              </a:rPr>
              <a:t>的体系结构</a:t>
            </a:r>
          </a:p>
        </p:txBody>
      </p:sp>
      <p:sp>
        <p:nvSpPr>
          <p:cNvPr id="7" name="Rectangle 27"/>
          <p:cNvSpPr>
            <a:spLocks noChangeArrowheads="1"/>
          </p:cNvSpPr>
          <p:nvPr/>
        </p:nvSpPr>
        <p:spPr bwMode="auto">
          <a:xfrm>
            <a:off x="639730" y="110822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a:latin typeface="宋体" panose="02010600030101010101" pitchFamily="2" charset="-122"/>
              <a:ea typeface="+mn-ea"/>
            </a:endParaRPr>
          </a:p>
        </p:txBody>
      </p:sp>
      <p:sp>
        <p:nvSpPr>
          <p:cNvPr id="116748" name="Rectangle 29"/>
          <p:cNvSpPr>
            <a:spLocks noChangeArrowheads="1"/>
          </p:cNvSpPr>
          <p:nvPr/>
        </p:nvSpPr>
        <p:spPr bwMode="auto">
          <a:xfrm>
            <a:off x="649288" y="1203325"/>
            <a:ext cx="1627187"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rgbClr val="FFFF00"/>
                </a:solidFill>
                <a:latin typeface="微软雅黑" panose="020B0503020204020204" pitchFamily="34" charset="-122"/>
                <a:ea typeface="微软雅黑" panose="020B0503020204020204" pitchFamily="34" charset="-122"/>
              </a:rPr>
              <a:t>1.7</a:t>
            </a:r>
          </a:p>
          <a:p>
            <a:r>
              <a:rPr lang="zh-CN" altLang="zh-CN" sz="2000" b="1" dirty="0">
                <a:solidFill>
                  <a:schemeClr val="bg1"/>
                </a:solidFill>
                <a:latin typeface="微软雅黑" panose="020B0503020204020204" pitchFamily="34" charset="-122"/>
                <a:ea typeface="微软雅黑" panose="020B0503020204020204" pitchFamily="34" charset="-122"/>
              </a:rPr>
              <a:t>计算机网络体系结构</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4FE753A-5783-9FEA-BA32-D091A0DEAAF9}"/>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00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3253"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1858607" y="1555624"/>
            <a:ext cx="5964008" cy="3126378"/>
            <a:chOff x="2002985" y="1193073"/>
            <a:chExt cx="5964008" cy="3370217"/>
          </a:xfrm>
        </p:grpSpPr>
        <p:grpSp>
          <p:nvGrpSpPr>
            <p:cNvPr id="4" name="组合 3"/>
            <p:cNvGrpSpPr/>
            <p:nvPr/>
          </p:nvGrpSpPr>
          <p:grpSpPr>
            <a:xfrm>
              <a:off x="2002985" y="1193073"/>
              <a:ext cx="5964008" cy="3370217"/>
              <a:chOff x="2002985" y="1193073"/>
              <a:chExt cx="5964008" cy="3370217"/>
            </a:xfrm>
          </p:grpSpPr>
          <p:sp>
            <p:nvSpPr>
              <p:cNvPr id="152" name="Oval 1507"/>
              <p:cNvSpPr>
                <a:spLocks noChangeArrowheads="1"/>
              </p:cNvSpPr>
              <p:nvPr/>
            </p:nvSpPr>
            <p:spPr bwMode="auto">
              <a:xfrm rot="21341795">
                <a:off x="5839397" y="2482362"/>
                <a:ext cx="2127596" cy="186721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3" name="Oval 1508"/>
              <p:cNvSpPr>
                <a:spLocks noChangeArrowheads="1"/>
              </p:cNvSpPr>
              <p:nvPr/>
            </p:nvSpPr>
            <p:spPr bwMode="auto">
              <a:xfrm rot="21341795">
                <a:off x="2002985" y="2096229"/>
                <a:ext cx="1967142" cy="1681512"/>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4" name="Oval 1509"/>
              <p:cNvSpPr>
                <a:spLocks noChangeArrowheads="1"/>
              </p:cNvSpPr>
              <p:nvPr/>
            </p:nvSpPr>
            <p:spPr bwMode="auto">
              <a:xfrm rot="21341795">
                <a:off x="5449660" y="1367840"/>
                <a:ext cx="2295437" cy="188684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5" name="Oval 1510"/>
              <p:cNvSpPr>
                <a:spLocks noChangeArrowheads="1"/>
              </p:cNvSpPr>
              <p:nvPr/>
            </p:nvSpPr>
            <p:spPr bwMode="auto">
              <a:xfrm rot="21341795">
                <a:off x="4391764" y="2851426"/>
                <a:ext cx="2298063" cy="171186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6" name="Oval 1511"/>
              <p:cNvSpPr>
                <a:spLocks noChangeArrowheads="1"/>
              </p:cNvSpPr>
              <p:nvPr/>
            </p:nvSpPr>
            <p:spPr bwMode="auto">
              <a:xfrm rot="21341795">
                <a:off x="2405455" y="2831144"/>
                <a:ext cx="2295437" cy="162283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7" name="Oval 1512"/>
              <p:cNvSpPr>
                <a:spLocks noChangeArrowheads="1"/>
              </p:cNvSpPr>
              <p:nvPr/>
            </p:nvSpPr>
            <p:spPr bwMode="auto">
              <a:xfrm rot="21341795">
                <a:off x="4041542" y="1193073"/>
                <a:ext cx="2256042" cy="167746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8" name="Oval 1513"/>
              <p:cNvSpPr>
                <a:spLocks noChangeArrowheads="1"/>
              </p:cNvSpPr>
              <p:nvPr/>
            </p:nvSpPr>
            <p:spPr bwMode="auto">
              <a:xfrm rot="21341795">
                <a:off x="2366784" y="1286239"/>
                <a:ext cx="2256042" cy="161676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1" name="Oval 1514"/>
              <p:cNvSpPr>
                <a:spLocks noChangeArrowheads="1"/>
              </p:cNvSpPr>
              <p:nvPr/>
            </p:nvSpPr>
            <p:spPr bwMode="auto">
              <a:xfrm rot="21341795">
                <a:off x="2175632" y="1600537"/>
                <a:ext cx="5289099" cy="2415001"/>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63" name="文本框 162"/>
            <p:cNvSpPr txBox="1"/>
            <p:nvPr/>
          </p:nvSpPr>
          <p:spPr>
            <a:xfrm>
              <a:off x="2566179" y="1538206"/>
              <a:ext cx="5035719" cy="2391809"/>
            </a:xfrm>
            <a:prstGeom prst="rect">
              <a:avLst/>
            </a:prstGeom>
            <a:noFill/>
            <a:ln>
              <a:noFill/>
            </a:ln>
          </p:spPr>
          <p:txBody>
            <a:bodyPr wrap="square" rtlCol="0">
              <a:spAutoFit/>
            </a:bodyPr>
            <a:lstStyle/>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(1) </a:t>
              </a:r>
              <a:r>
                <a:rPr lang="zh-CN" altLang="en-US" sz="1600" b="1" dirty="0">
                  <a:solidFill>
                    <a:srgbClr val="000066"/>
                  </a:solidFill>
                  <a:latin typeface="微软雅黑" panose="020B0503020204020204" pitchFamily="34" charset="-122"/>
                  <a:ea typeface="微软雅黑" panose="020B0503020204020204" pitchFamily="34" charset="-122"/>
                </a:rPr>
                <a:t>必须有一条传送数据的通路。</a:t>
              </a:r>
              <a:endParaRPr lang="en-US" altLang="zh-CN" sz="1600" b="1" dirty="0">
                <a:solidFill>
                  <a:srgbClr val="000066"/>
                </a:solidFill>
                <a:latin typeface="微软雅黑" panose="020B0503020204020204" pitchFamily="34" charset="-122"/>
                <a:ea typeface="微软雅黑" panose="020B0503020204020204" pitchFamily="34" charset="-122"/>
              </a:endParaRP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(2) </a:t>
              </a:r>
              <a:r>
                <a:rPr lang="zh-CN" altLang="en-US" sz="1600" b="1" dirty="0">
                  <a:solidFill>
                    <a:srgbClr val="000066"/>
                  </a:solidFill>
                  <a:latin typeface="微软雅黑" panose="020B0503020204020204" pitchFamily="34" charset="-122"/>
                  <a:ea typeface="微软雅黑" panose="020B0503020204020204" pitchFamily="34" charset="-122"/>
                </a:rPr>
                <a:t>发起方必须激活通路。</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(3) </a:t>
              </a:r>
              <a:r>
                <a:rPr lang="zh-CN" altLang="en-US" sz="1600" b="1" dirty="0">
                  <a:solidFill>
                    <a:srgbClr val="000066"/>
                  </a:solidFill>
                  <a:latin typeface="微软雅黑" panose="020B0503020204020204" pitchFamily="34" charset="-122"/>
                  <a:ea typeface="微软雅黑" panose="020B0503020204020204" pitchFamily="34" charset="-122"/>
                </a:rPr>
                <a:t>要告诉网络如何识别接收方。</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(4)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发起方要清楚对方是否已开机，且与网络连接正常。</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(5)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发起方要清楚对方是否准备好接收和存储文件。</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(6) </a:t>
              </a:r>
              <a:r>
                <a:rPr lang="zh-CN" altLang="en-US" sz="1600" b="1" dirty="0">
                  <a:solidFill>
                    <a:srgbClr val="000066"/>
                  </a:solidFill>
                  <a:latin typeface="微软雅黑" panose="020B0503020204020204" pitchFamily="34" charset="-122"/>
                  <a:ea typeface="微软雅黑" panose="020B0503020204020204" pitchFamily="34" charset="-122"/>
                </a:rPr>
                <a:t>若文件格式不兼容，要完成格式的转换。</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(7) </a:t>
              </a:r>
              <a:r>
                <a:rPr lang="zh-CN" altLang="en-US" sz="1600" b="1" dirty="0">
                  <a:solidFill>
                    <a:srgbClr val="000066"/>
                  </a:solidFill>
                  <a:latin typeface="微软雅黑" panose="020B0503020204020204" pitchFamily="34" charset="-122"/>
                  <a:ea typeface="微软雅黑" panose="020B0503020204020204" pitchFamily="34" charset="-122"/>
                </a:rPr>
                <a:t>要处理各种差错和意外事故，保证收到正确的文件。</a:t>
              </a:r>
            </a:p>
          </p:txBody>
        </p:sp>
      </p:grpSp>
      <p:sp>
        <p:nvSpPr>
          <p:cNvPr id="165" name="矩形 164"/>
          <p:cNvSpPr/>
          <p:nvPr/>
        </p:nvSpPr>
        <p:spPr>
          <a:xfrm>
            <a:off x="510870" y="1223188"/>
            <a:ext cx="2097536" cy="646331"/>
          </a:xfrm>
          <a:prstGeom prst="rect">
            <a:avLst/>
          </a:prstGeom>
          <a:ln w="19050">
            <a:solidFill>
              <a:srgbClr val="C0000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计算机网络是</a:t>
            </a:r>
            <a:r>
              <a:rPr lang="zh-CN" altLang="en-US" b="1" kern="100" dirty="0">
                <a:latin typeface="微软雅黑" panose="020B0503020204020204" pitchFamily="34" charset="-122"/>
                <a:ea typeface="微软雅黑" panose="020B0503020204020204" pitchFamily="34" charset="-122"/>
                <a:cs typeface="Times New Roman" panose="02020603050405020304" pitchFamily="18" charset="0"/>
              </a:rPr>
              <a:t>一</a:t>
            </a:r>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个非常复杂的系统。</a:t>
            </a:r>
            <a:endParaRPr lang="zh-CN" altLang="en-US" b="1" dirty="0">
              <a:latin typeface="微软雅黑" panose="020B0503020204020204" pitchFamily="34" charset="-122"/>
              <a:ea typeface="微软雅黑" panose="020B0503020204020204" pitchFamily="34" charset="-122"/>
            </a:endParaRPr>
          </a:p>
        </p:txBody>
      </p:sp>
      <p:sp>
        <p:nvSpPr>
          <p:cNvPr id="3" name="矩形 2"/>
          <p:cNvSpPr/>
          <p:nvPr/>
        </p:nvSpPr>
        <p:spPr>
          <a:xfrm>
            <a:off x="2673626" y="1200719"/>
            <a:ext cx="4570482" cy="369332"/>
          </a:xfrm>
          <a:prstGeom prst="rect">
            <a:avLst/>
          </a:prstGeom>
        </p:spPr>
        <p:txBody>
          <a:bodyPr wrap="none">
            <a:spAutoFit/>
          </a:bodyPr>
          <a:lstStyle/>
          <a:p>
            <a:r>
              <a:rPr lang="zh-CN" altLang="en-US" b="1" dirty="0">
                <a:solidFill>
                  <a:srgbClr val="0000CC"/>
                </a:solidFill>
                <a:latin typeface="微软雅黑" panose="020B0503020204020204" pitchFamily="34" charset="-122"/>
                <a:ea typeface="微软雅黑" panose="020B0503020204020204" pitchFamily="34" charset="-122"/>
              </a:rPr>
              <a:t>两台计算机要互相传送文件需解决很多问题</a:t>
            </a:r>
          </a:p>
        </p:txBody>
      </p:sp>
      <p:sp>
        <p:nvSpPr>
          <p:cNvPr id="19" name="Text Box 38"/>
          <p:cNvSpPr txBox="1">
            <a:spLocks noChangeArrowheads="1"/>
          </p:cNvSpPr>
          <p:nvPr/>
        </p:nvSpPr>
        <p:spPr bwMode="auto">
          <a:xfrm>
            <a:off x="714176"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A</a:t>
            </a:r>
          </a:p>
        </p:txBody>
      </p:sp>
      <p:sp>
        <p:nvSpPr>
          <p:cNvPr id="20" name="Text Box 38"/>
          <p:cNvSpPr txBox="1">
            <a:spLocks noChangeArrowheads="1"/>
          </p:cNvSpPr>
          <p:nvPr/>
        </p:nvSpPr>
        <p:spPr bwMode="auto">
          <a:xfrm>
            <a:off x="7780404"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2" name="文本占位符 1"/>
          <p:cNvSpPr>
            <a:spLocks noGrp="1"/>
          </p:cNvSpPr>
          <p:nvPr>
            <p:ph type="body" sz="quarter" idx="11"/>
          </p:nvPr>
        </p:nvSpPr>
        <p:spPr>
          <a:xfrm>
            <a:off x="0" y="150273"/>
            <a:ext cx="6632575" cy="338554"/>
          </a:xfrm>
        </p:spPr>
        <p:txBody>
          <a:bodyPr/>
          <a:lstStyle/>
          <a:p>
            <a:r>
              <a:rPr lang="zh-CN" altLang="en-US" dirty="0"/>
              <a:t>提出了不同体系结构</a:t>
            </a:r>
          </a:p>
        </p:txBody>
      </p:sp>
      <p:sp>
        <p:nvSpPr>
          <p:cNvPr id="4" name="矩形 3"/>
          <p:cNvSpPr/>
          <p:nvPr/>
        </p:nvSpPr>
        <p:spPr>
          <a:xfrm>
            <a:off x="773103" y="3094935"/>
            <a:ext cx="7515497" cy="400110"/>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en-US" altLang="zh-CN" dirty="0"/>
              <a:t>ISO (</a:t>
            </a:r>
            <a:r>
              <a:rPr lang="zh-CN" altLang="en-US" dirty="0"/>
              <a:t>国际标准化组织</a:t>
            </a:r>
            <a:r>
              <a:rPr lang="en-US" altLang="zh-CN" dirty="0"/>
              <a:t>) </a:t>
            </a:r>
            <a:r>
              <a:rPr lang="zh-CN" altLang="en-US" dirty="0"/>
              <a:t>提出的 </a:t>
            </a:r>
            <a:r>
              <a:rPr lang="en-US" altLang="zh-CN" dirty="0"/>
              <a:t>OSI/RM (Open Systems Interconnection Reference Model) </a:t>
            </a:r>
            <a:r>
              <a:rPr lang="zh-CN" altLang="en-US" dirty="0"/>
              <a:t>是使各种计算机在世界范围内互连成网的标准框架。</a:t>
            </a:r>
            <a:endParaRPr lang="en-US" altLang="zh-CN" dirty="0"/>
          </a:p>
          <a:p>
            <a:r>
              <a:rPr lang="en-US" altLang="zh-CN" dirty="0"/>
              <a:t>OSI/RM </a:t>
            </a:r>
            <a:r>
              <a:rPr lang="zh-CN" altLang="en-US" dirty="0"/>
              <a:t>是个抽象的概念。</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国际标准：开放系统互连参考模型 </a:t>
            </a:r>
            <a:r>
              <a:rPr lang="en-US" altLang="zh-CN" dirty="0"/>
              <a:t>OSI/RM</a:t>
            </a:r>
          </a:p>
        </p:txBody>
      </p:sp>
      <p:grpSp>
        <p:nvGrpSpPr>
          <p:cNvPr id="6" name="组合 5"/>
          <p:cNvGrpSpPr/>
          <p:nvPr/>
        </p:nvGrpSpPr>
        <p:grpSpPr>
          <a:xfrm>
            <a:off x="1418539" y="3055781"/>
            <a:ext cx="6819153" cy="1092215"/>
            <a:chOff x="949201" y="3346526"/>
            <a:chExt cx="6819153" cy="1092215"/>
          </a:xfrm>
        </p:grpSpPr>
        <p:sp>
          <p:nvSpPr>
            <p:cNvPr id="4" name="对角圆角矩形 3"/>
            <p:cNvSpPr/>
            <p:nvPr/>
          </p:nvSpPr>
          <p:spPr>
            <a:xfrm>
              <a:off x="949201" y="3346526"/>
              <a:ext cx="6819153" cy="10922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矩形 5"/>
            <p:cNvSpPr>
              <a:spLocks noChangeArrowheads="1"/>
            </p:cNvSpPr>
            <p:nvPr/>
          </p:nvSpPr>
          <p:spPr bwMode="auto">
            <a:xfrm>
              <a:off x="1104651" y="3453725"/>
              <a:ext cx="6558507"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pPr>
              <a:r>
                <a:rPr lang="en-US" altLang="zh-CN" b="1" dirty="0">
                  <a:solidFill>
                    <a:schemeClr val="bg1"/>
                  </a:solidFill>
                  <a:latin typeface="微软雅黑" panose="020B0503020204020204" pitchFamily="34" charset="-122"/>
                  <a:ea typeface="微软雅黑" panose="020B0503020204020204" pitchFamily="34" charset="-122"/>
                </a:rPr>
                <a:t>OSI </a:t>
              </a:r>
              <a:r>
                <a:rPr lang="zh-CN" altLang="en-US" b="1" dirty="0">
                  <a:solidFill>
                    <a:schemeClr val="bg1"/>
                  </a:solidFill>
                  <a:latin typeface="微软雅黑" panose="020B0503020204020204" pitchFamily="34" charset="-122"/>
                  <a:ea typeface="微软雅黑" panose="020B0503020204020204" pitchFamily="34" charset="-122"/>
                </a:rPr>
                <a:t>试图达到一种</a:t>
              </a:r>
              <a:r>
                <a:rPr lang="zh-CN" altLang="en-US" b="1" dirty="0">
                  <a:solidFill>
                    <a:srgbClr val="FFFF00"/>
                  </a:solidFill>
                  <a:latin typeface="微软雅黑" panose="020B0503020204020204" pitchFamily="34" charset="-122"/>
                  <a:ea typeface="微软雅黑" panose="020B0503020204020204" pitchFamily="34" charset="-122"/>
                </a:rPr>
                <a:t>理想境界：</a:t>
              </a:r>
              <a:r>
                <a:rPr lang="zh-CN" altLang="en-US" b="1" dirty="0">
                  <a:solidFill>
                    <a:schemeClr val="bg1"/>
                  </a:solidFill>
                  <a:latin typeface="微软雅黑" panose="020B0503020204020204" pitchFamily="34" charset="-122"/>
                  <a:ea typeface="微软雅黑" panose="020B0503020204020204" pitchFamily="34" charset="-122"/>
                </a:rPr>
                <a:t>全球计算机网络都遵循这个统一标准，因而全球的计算机将能够很方便地进行互连和交换数据。</a:t>
              </a:r>
            </a:p>
          </p:txBody>
        </p:sp>
      </p:gr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基于 </a:t>
            </a:r>
            <a:r>
              <a:rPr lang="en-US" altLang="zh-CN" dirty="0"/>
              <a:t>TCP/IP </a:t>
            </a:r>
            <a:r>
              <a:rPr lang="zh-CN" altLang="en-US" dirty="0"/>
              <a:t>的互联网已抢先在全球相当大的范围成功地运行了。</a:t>
            </a:r>
            <a:endParaRPr lang="en-US" altLang="zh-CN" dirty="0"/>
          </a:p>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 </a:t>
            </a:r>
          </a:p>
        </p:txBody>
      </p:sp>
      <p:sp>
        <p:nvSpPr>
          <p:cNvPr id="3" name="文本占位符 2"/>
          <p:cNvSpPr>
            <a:spLocks noGrp="1"/>
          </p:cNvSpPr>
          <p:nvPr>
            <p:ph type="body" sz="quarter" idx="11"/>
          </p:nvPr>
        </p:nvSpPr>
        <p:spPr>
          <a:xfrm>
            <a:off x="0" y="150273"/>
            <a:ext cx="6632575" cy="338554"/>
          </a:xfrm>
        </p:spPr>
        <p:txBody>
          <a:bodyPr/>
          <a:lstStyle/>
          <a:p>
            <a:r>
              <a:rPr lang="zh-CN" altLang="en-US" dirty="0"/>
              <a:t>但 </a:t>
            </a:r>
            <a:r>
              <a:rPr lang="en-US" altLang="zh-CN" dirty="0"/>
              <a:t>ISO/OSI </a:t>
            </a:r>
            <a:r>
              <a:rPr lang="zh-CN" altLang="en-US" dirty="0"/>
              <a:t>失败了</a:t>
            </a:r>
            <a:endParaRPr lang="en-US" altLang="zh-CN" dirty="0"/>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4154710858"/>
              </p:ext>
            </p:extLst>
          </p:nvPr>
        </p:nvGraphicFramePr>
        <p:xfrm>
          <a:off x="2002972"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434536BD-ADEA-B005-05F2-2518F9F370F5}"/>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存在两种国际标准</a:t>
            </a:r>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10"/>
          </p:nvPr>
        </p:nvSpPr>
        <p:spPr>
          <a:xfrm>
            <a:off x="466344" y="504285"/>
            <a:ext cx="8129016" cy="4172489"/>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en-US" dirty="0"/>
              <a:t>三个组成要素：</a:t>
            </a:r>
            <a:endParaRPr lang="en-US" altLang="zh-CN" dirty="0"/>
          </a:p>
          <a:p>
            <a:pPr lvl="1"/>
            <a:r>
              <a:rPr lang="zh-CN" altLang="en-US" dirty="0"/>
              <a:t>语法：数据与控制信息的结构或格式 。 </a:t>
            </a:r>
          </a:p>
          <a:p>
            <a:pPr lvl="1"/>
            <a:r>
              <a:rPr lang="zh-CN" altLang="en-US" dirty="0"/>
              <a:t>语义：需要发出何种控制信息，完成何种动作以及做出何种响应。 </a:t>
            </a:r>
          </a:p>
          <a:p>
            <a:pPr lvl="1"/>
            <a:r>
              <a:rPr lang="zh-CN" altLang="en-US" dirty="0"/>
              <a:t>同步：事件实现顺序的详细说明。 </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en-US" altLang="zh-CN" dirty="0"/>
              <a:t>1.7.2  </a:t>
            </a:r>
            <a:r>
              <a:rPr lang="zh-CN" altLang="zh-CN" dirty="0"/>
              <a:t>协议与划分层次</a:t>
            </a:r>
            <a:endParaRPr lang="zh-CN" altLang="en-US" dirty="0"/>
          </a:p>
        </p:txBody>
      </p:sp>
      <p:grpSp>
        <p:nvGrpSpPr>
          <p:cNvPr id="55" name="组合 54"/>
          <p:cNvGrpSpPr/>
          <p:nvPr/>
        </p:nvGrpSpPr>
        <p:grpSpPr>
          <a:xfrm>
            <a:off x="6599456" y="1255007"/>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0" hangingPunct="0"/>
              <a:r>
                <a:rPr lang="en-US" altLang="zh-CN" sz="1050" b="1" dirty="0">
                  <a:latin typeface="微软雅黑" panose="020B0503020204020204" pitchFamily="34" charset="-122"/>
                  <a:ea typeface="微软雅黑" panose="020B0503020204020204" pitchFamily="34" charset="-122"/>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&lt; plan.pdf &gt;</a:t>
              </a:r>
            </a:p>
          </p:txBody>
        </p:sp>
      </p:grpSp>
      <p:grpSp>
        <p:nvGrpSpPr>
          <p:cNvPr id="58" name="组合 57"/>
          <p:cNvGrpSpPr/>
          <p:nvPr/>
        </p:nvGrpSpPr>
        <p:grpSpPr>
          <a:xfrm>
            <a:off x="679843" y="3951071"/>
            <a:ext cx="5572193" cy="646848"/>
            <a:chOff x="595996" y="3877027"/>
            <a:chExt cx="5572193" cy="646848"/>
          </a:xfrm>
        </p:grpSpPr>
        <p:sp>
          <p:nvSpPr>
            <p:cNvPr id="56" name="对角圆角矩形 55"/>
            <p:cNvSpPr/>
            <p:nvPr/>
          </p:nvSpPr>
          <p:spPr>
            <a:xfrm>
              <a:off x="595996" y="3877027"/>
              <a:ext cx="5572193" cy="64684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7" name="矩形 5"/>
            <p:cNvSpPr>
              <a:spLocks noChangeArrowheads="1"/>
            </p:cNvSpPr>
            <p:nvPr/>
          </p:nvSpPr>
          <p:spPr bwMode="auto">
            <a:xfrm>
              <a:off x="729916" y="3987587"/>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r>
                <a:rPr lang="zh-CN" altLang="zh-CN" b="1" dirty="0">
                  <a:solidFill>
                    <a:schemeClr val="bg1"/>
                  </a:solidFill>
                  <a:latin typeface="微软雅黑" panose="020B0503020204020204" pitchFamily="34" charset="-122"/>
                  <a:ea typeface="微软雅黑" panose="020B0503020204020204" pitchFamily="34" charset="-122"/>
                </a:rPr>
                <a:t>网络协议是计算机网络的不可缺少的组成部分。</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内容占位符 7"/>
          <p:cNvGraphicFramePr>
            <a:graphicFrameLocks noGrp="1"/>
          </p:cNvGraphicFramePr>
          <p:nvPr>
            <p:ph sz="quarter" idx="10"/>
            <p:extLst>
              <p:ext uri="{D42A27DB-BD31-4B8C-83A1-F6EECF244321}">
                <p14:modId xmlns:p14="http://schemas.microsoft.com/office/powerpoint/2010/main" val="1274464457"/>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11"/>
          </p:nvPr>
        </p:nvSpPr>
        <p:spPr>
          <a:xfrm>
            <a:off x="0" y="150273"/>
            <a:ext cx="6632575" cy="338554"/>
          </a:xfrm>
        </p:spPr>
        <p:txBody>
          <a:bodyPr/>
          <a:lstStyle/>
          <a:p>
            <a:r>
              <a:rPr lang="zh-CN" altLang="en-US" dirty="0"/>
              <a:t>协议的两种形式</a:t>
            </a:r>
          </a:p>
        </p:txBody>
      </p:sp>
      <p:sp>
        <p:nvSpPr>
          <p:cNvPr id="9" name="矩形 8"/>
          <p:cNvSpPr/>
          <p:nvPr/>
        </p:nvSpPr>
        <p:spPr>
          <a:xfrm>
            <a:off x="700575" y="3225591"/>
            <a:ext cx="7748337" cy="400110"/>
          </a:xfrm>
          <a:prstGeom prst="rect">
            <a:avLst/>
          </a:prstGeom>
          <a:solidFill>
            <a:srgbClr val="339933"/>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不论什么形式，都必须能够对网络上信息交换过程做出</a:t>
            </a:r>
            <a:r>
              <a:rPr lang="zh-CN" altLang="en-US" sz="2000" b="1" dirty="0">
                <a:solidFill>
                  <a:srgbClr val="FFFF00"/>
                </a:solidFill>
                <a:latin typeface="微软雅黑" panose="020B0503020204020204" pitchFamily="34" charset="-122"/>
                <a:ea typeface="微软雅黑" panose="020B0503020204020204" pitchFamily="34" charset="-122"/>
              </a:rPr>
              <a:t>精确的解释。</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71441" y="1275295"/>
            <a:ext cx="7147875" cy="1110838"/>
            <a:chOff x="1116558" y="1239333"/>
            <a:chExt cx="7147875" cy="815892"/>
          </a:xfrm>
        </p:grpSpPr>
        <p:sp>
          <p:nvSpPr>
            <p:cNvPr id="5" name="Rectangle 14"/>
            <p:cNvSpPr>
              <a:spLocks noChangeArrowheads="1"/>
            </p:cNvSpPr>
            <p:nvPr/>
          </p:nvSpPr>
          <p:spPr bwMode="auto">
            <a:xfrm>
              <a:off x="1116558" y="1239333"/>
              <a:ext cx="7147875" cy="815892"/>
            </a:xfrm>
            <a:prstGeom prst="rect">
              <a:avLst/>
            </a:prstGeom>
            <a:solidFill>
              <a:srgbClr val="0098F6"/>
            </a:solidFill>
            <a:ln w="76200" cmpd="tri">
              <a:noFill/>
              <a:miter lim="8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2000" b="1">
                <a:latin typeface="+mn-lt"/>
                <a:ea typeface="黑体" pitchFamily="2" charset="-122"/>
              </a:endParaRPr>
            </a:p>
          </p:txBody>
        </p:sp>
        <p:sp>
          <p:nvSpPr>
            <p:cNvPr id="6" name="矩形 13"/>
            <p:cNvSpPr>
              <a:spLocks noChangeArrowheads="1"/>
            </p:cNvSpPr>
            <p:nvPr/>
          </p:nvSpPr>
          <p:spPr bwMode="auto">
            <a:xfrm>
              <a:off x="1369053" y="1347339"/>
              <a:ext cx="6572834" cy="632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spcBef>
                  <a:spcPts val="0"/>
                </a:spcBef>
              </a:pPr>
              <a:r>
                <a:rPr lang="en-US" altLang="zh-CN" sz="2000" b="1" dirty="0">
                  <a:solidFill>
                    <a:schemeClr val="bg1"/>
                  </a:solidFill>
                  <a:latin typeface="微软雅黑" pitchFamily="34" charset="-122"/>
                  <a:ea typeface="微软雅黑" pitchFamily="34" charset="-122"/>
                </a:rPr>
                <a:t>ARPANET </a:t>
              </a:r>
              <a:r>
                <a:rPr lang="zh-CN" altLang="en-US" sz="2000" b="1" dirty="0">
                  <a:solidFill>
                    <a:schemeClr val="bg1"/>
                  </a:solidFill>
                  <a:latin typeface="微软雅黑" pitchFamily="34" charset="-122"/>
                  <a:ea typeface="微软雅黑" pitchFamily="34" charset="-122"/>
                </a:rPr>
                <a:t>的研制经验表明：对于非常复杂的计算机网络协议，其结构应该是</a:t>
              </a:r>
              <a:r>
                <a:rPr lang="zh-CN" altLang="en-US" sz="2000" b="1" dirty="0">
                  <a:solidFill>
                    <a:srgbClr val="FFFF00"/>
                  </a:solidFill>
                  <a:latin typeface="微软雅黑" pitchFamily="34" charset="-122"/>
                  <a:ea typeface="微软雅黑" pitchFamily="34" charset="-122"/>
                </a:rPr>
                <a:t>层次式</a:t>
              </a:r>
              <a:r>
                <a:rPr lang="zh-CN" altLang="en-US" sz="2000" b="1" dirty="0">
                  <a:solidFill>
                    <a:schemeClr val="bg1"/>
                  </a:solidFill>
                  <a:latin typeface="微软雅黑" pitchFamily="34" charset="-122"/>
                  <a:ea typeface="微软雅黑" pitchFamily="34" charset="-122"/>
                </a:rPr>
                <a:t>的。</a:t>
              </a:r>
            </a:p>
          </p:txBody>
        </p:sp>
      </p:grpSp>
      <p:sp>
        <p:nvSpPr>
          <p:cNvPr id="8" name="内容占位符 7">
            <a:extLst>
              <a:ext uri="{FF2B5EF4-FFF2-40B4-BE49-F238E27FC236}">
                <a16:creationId xmlns:a16="http://schemas.microsoft.com/office/drawing/2014/main" id="{C5588075-33C0-4A2C-0403-64E2CFA5737B}"/>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层次式协议结构</a:t>
            </a:r>
          </a:p>
        </p:txBody>
      </p:sp>
    </p:spTree>
    <p:extLst>
      <p:ext uri="{BB962C8B-B14F-4D97-AF65-F5344CB8AC3E}">
        <p14:creationId xmlns:p14="http://schemas.microsoft.com/office/powerpoint/2010/main" val="3540046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35015"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5489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8343"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1</a:t>
            </a:r>
            <a:r>
              <a:rPr lang="zh-CN" altLang="en-US" b="1" dirty="0">
                <a:solidFill>
                  <a:srgbClr val="0000FF"/>
                </a:solidFill>
                <a:latin typeface="微软雅黑" panose="020B0503020204020204" pitchFamily="34" charset="-122"/>
                <a:ea typeface="微软雅黑" panose="020B0503020204020204" pitchFamily="34" charset="-122"/>
              </a:rPr>
              <a:t>，将</a:t>
            </a:r>
            <a:r>
              <a:rPr lang="zh-CN" altLang="en-US" b="1" dirty="0">
                <a:solidFill>
                  <a:srgbClr val="C00000"/>
                </a:solidFill>
                <a:latin typeface="微软雅黑" panose="020B0503020204020204" pitchFamily="34" charset="-122"/>
                <a:ea typeface="微软雅黑" panose="020B0503020204020204" pitchFamily="34" charset="-122"/>
              </a:rPr>
              <a:t>文件传送模块</a:t>
            </a:r>
            <a:r>
              <a:rPr lang="zh-CN" altLang="en-US" b="1" dirty="0">
                <a:solidFill>
                  <a:srgbClr val="0000FF"/>
                </a:solidFill>
                <a:latin typeface="微软雅黑" panose="020B0503020204020204" pitchFamily="34" charset="-122"/>
                <a:ea typeface="微软雅黑" panose="020B0503020204020204" pitchFamily="34" charset="-122"/>
              </a:rPr>
              <a:t>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内容占位符 7">
            <a:extLst>
              <a:ext uri="{FF2B5EF4-FFF2-40B4-BE49-F238E27FC236}">
                <a16:creationId xmlns:a16="http://schemas.microsoft.com/office/drawing/2014/main" id="{A1903E3A-15E4-8969-02E5-9ED7F57FD97A}"/>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2</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通信服务模块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71032"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8" name="内容占位符 7">
            <a:extLst>
              <a:ext uri="{FF2B5EF4-FFF2-40B4-BE49-F238E27FC236}">
                <a16:creationId xmlns:a16="http://schemas.microsoft.com/office/drawing/2014/main" id="{2D478B53-3DA6-C9FD-EB06-E9039D9CE943}"/>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par>
                          <p:cTn id="17" fill="hold">
                            <p:stCondLst>
                              <p:cond delay="250"/>
                            </p:stCondLst>
                            <p:childTnLst>
                              <p:par>
                                <p:cTn id="18" presetID="22" presetClass="entr" presetSubtype="8" fill="hold" grpId="0"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wipe(left)">
                                      <p:cBhvr>
                                        <p:cTn id="2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4" grpId="0"/>
      <p:bldP spid="25"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3</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网络接入模块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4" name="Text Box 5"/>
          <p:cNvSpPr txBox="1">
            <a:spLocks noChangeArrowheads="1"/>
          </p:cNvSpPr>
          <p:nvPr/>
        </p:nvSpPr>
        <p:spPr bwMode="auto">
          <a:xfrm>
            <a:off x="1748506"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5" name="Text Box 10"/>
          <p:cNvSpPr txBox="1">
            <a:spLocks noChangeArrowheads="1"/>
          </p:cNvSpPr>
          <p:nvPr/>
        </p:nvSpPr>
        <p:spPr bwMode="auto">
          <a:xfrm>
            <a:off x="6031411"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chemeClr val="bg1">
              <a:lumMod val="85000"/>
            </a:schemeClr>
          </a:solidFill>
        </p:grpSpPr>
        <p:sp>
          <p:nvSpPr>
            <p:cNvPr id="45" name="Oval 7"/>
            <p:cNvSpPr>
              <a:spLocks noChangeArrowheads="1"/>
            </p:cNvSpPr>
            <p:nvPr/>
          </p:nvSpPr>
          <p:spPr bwMode="auto">
            <a:xfrm>
              <a:off x="2554" y="240"/>
              <a:ext cx="1088"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66"/>
                </a:solidFill>
                <a:latin typeface="微软雅黑" panose="020B0503020204020204" pitchFamily="34" charset="-122"/>
                <a:ea typeface="微软雅黑" panose="020B0503020204020204" pitchFamily="34" charset="-122"/>
              </a:rPr>
              <a:t>通信网络</a:t>
            </a:r>
          </a:p>
        </p:txBody>
      </p:sp>
      <p:sp>
        <p:nvSpPr>
          <p:cNvPr id="54" name="矩形 53"/>
          <p:cNvSpPr/>
          <p:nvPr/>
        </p:nvSpPr>
        <p:spPr>
          <a:xfrm>
            <a:off x="1441622" y="4384118"/>
            <a:ext cx="6631459" cy="307777"/>
          </a:xfrm>
          <a:prstGeom prst="rect">
            <a:avLst/>
          </a:prstGeom>
        </p:spPr>
        <p:txBody>
          <a:bodyPr wrap="square">
            <a:spAutoFit/>
          </a:bodyPr>
          <a:lstStyle/>
          <a:p>
            <a:pPr lvl="0"/>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8" name="内容占位符 7">
            <a:extLst>
              <a:ext uri="{FF2B5EF4-FFF2-40B4-BE49-F238E27FC236}">
                <a16:creationId xmlns:a16="http://schemas.microsoft.com/office/drawing/2014/main" id="{7820556E-4B9E-0D6B-0436-27729BF65A24}"/>
              </a:ext>
            </a:extLst>
          </p:cNvPr>
          <p:cNvSpPr>
            <a:spLocks noGrp="1"/>
          </p:cNvSpPr>
          <p:nvPr>
            <p:ph sz="quarter" idx="10"/>
          </p:nvPr>
        </p:nvSpPr>
        <p:spPr/>
        <p:txBody>
          <a:bodyPr/>
          <a:lstStyle/>
          <a:p>
            <a:endParaRPr lang="zh-CN" altLang="en-US"/>
          </a:p>
        </p:txBody>
      </p:sp>
      <p:sp>
        <p:nvSpPr>
          <p:cNvPr id="6" name="文本占位符 5"/>
          <p:cNvSpPr>
            <a:spLocks noGrp="1"/>
          </p:cNvSpPr>
          <p:nvPr>
            <p:ph type="body" sz="quarter" idx="11"/>
          </p:nvPr>
        </p:nvSpPr>
        <p:spPr>
          <a:xfrm>
            <a:off x="0" y="150273"/>
            <a:ext cx="6632575" cy="338554"/>
          </a:xfrm>
        </p:spPr>
        <p:txBody>
          <a:bodyPr/>
          <a:lstStyle/>
          <a:p>
            <a:r>
              <a:rPr lang="zh-CN" altLang="en-US" dirty="0"/>
              <a:t>划分层次的概念举例：两台主机通过网络传送文件</a:t>
            </a:r>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1157659543"/>
              </p:ext>
            </p:extLst>
          </p:nvPr>
        </p:nvGraphicFramePr>
        <p:xfrm>
          <a:off x="1522310" y="1050332"/>
          <a:ext cx="6096000" cy="2306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1D1FF6A8-AF05-BFED-9936-E1E186A7B99C}"/>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分层的优点与缺点</a:t>
            </a:r>
          </a:p>
        </p:txBody>
      </p:sp>
      <p:grpSp>
        <p:nvGrpSpPr>
          <p:cNvPr id="12" name="组合 11"/>
          <p:cNvGrpSpPr/>
          <p:nvPr/>
        </p:nvGrpSpPr>
        <p:grpSpPr>
          <a:xfrm>
            <a:off x="899052" y="3392041"/>
            <a:ext cx="7333652" cy="1112068"/>
            <a:chOff x="595996" y="3877027"/>
            <a:chExt cx="5719975" cy="1112068"/>
          </a:xfrm>
        </p:grpSpPr>
        <p:sp>
          <p:nvSpPr>
            <p:cNvPr id="13" name="对角圆角矩形 12"/>
            <p:cNvSpPr/>
            <p:nvPr/>
          </p:nvSpPr>
          <p:spPr>
            <a:xfrm>
              <a:off x="595996" y="3877027"/>
              <a:ext cx="5719975" cy="111206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14" name="矩形 5"/>
            <p:cNvSpPr>
              <a:spLocks noChangeArrowheads="1"/>
            </p:cNvSpPr>
            <p:nvPr/>
          </p:nvSpPr>
          <p:spPr bwMode="auto">
            <a:xfrm>
              <a:off x="710641" y="3955503"/>
              <a:ext cx="5476826"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200"/>
                </a:lnSpc>
              </a:pPr>
              <a:r>
                <a:rPr lang="zh-CN" altLang="en-US" sz="1600" b="1" dirty="0">
                  <a:solidFill>
                    <a:srgbClr val="FFFF00"/>
                  </a:solidFill>
                  <a:latin typeface="微软雅黑" panose="020B0503020204020204" pitchFamily="34" charset="-122"/>
                  <a:ea typeface="微软雅黑" panose="020B0503020204020204" pitchFamily="34" charset="-122"/>
                </a:rPr>
                <a:t>注意：每一层的功能应非常明确。</a:t>
              </a:r>
              <a:endParaRPr lang="en-US" altLang="zh-CN" sz="1600" b="1" dirty="0">
                <a:solidFill>
                  <a:srgbClr val="FFFF00"/>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层数太少，就会使每一层的协议太复杂。</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层数太多，又会在描述和综合各层功能的系统工程任务时遇到较多的困难。</a:t>
              </a:r>
            </a:p>
          </p:txBody>
        </p:sp>
      </p:gr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1000" fill="hold"/>
                                        <p:tgtEl>
                                          <p:spTgt spid="12"/>
                                        </p:tgtEl>
                                        <p:attrNameLst>
                                          <p:attrName>ppt_w</p:attrName>
                                        </p:attrNameLst>
                                      </p:cBhvr>
                                      <p:tavLst>
                                        <p:tav tm="0">
                                          <p:val>
                                            <p:fltVal val="0"/>
                                          </p:val>
                                        </p:tav>
                                        <p:tav tm="100000">
                                          <p:val>
                                            <p:strVal val="#ppt_w"/>
                                          </p:val>
                                        </p:tav>
                                      </p:tavLst>
                                    </p:anim>
                                    <p:anim calcmode="lin" valueType="num">
                                      <p:cBhvr>
                                        <p:cTn id="8" dur="1000" fill="hold"/>
                                        <p:tgtEl>
                                          <p:spTgt spid="12"/>
                                        </p:tgtEl>
                                        <p:attrNameLst>
                                          <p:attrName>ppt_h</p:attrName>
                                        </p:attrNameLst>
                                      </p:cBhvr>
                                      <p:tavLst>
                                        <p:tav tm="0">
                                          <p:val>
                                            <p:fltVal val="0"/>
                                          </p:val>
                                        </p:tav>
                                        <p:tav tm="100000">
                                          <p:val>
                                            <p:strVal val="#ppt_h"/>
                                          </p:val>
                                        </p:tav>
                                      </p:tavLst>
                                    </p:anim>
                                    <p:animEffect transition="in" filter="fade">
                                      <p:cBhvr>
                                        <p:cTn id="9"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zh-CN" dirty="0"/>
              <a:t>各层完成的主要功能</a:t>
            </a:r>
            <a:endParaRPr lang="zh-CN" altLang="en-US" dirty="0"/>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4" name="文本占位符 3"/>
          <p:cNvSpPr>
            <a:spLocks noGrp="1"/>
          </p:cNvSpPr>
          <p:nvPr>
            <p:ph type="body" sz="quarter" idx="11"/>
          </p:nvPr>
        </p:nvSpPr>
        <p:spPr>
          <a:xfrm>
            <a:off x="0" y="150273"/>
            <a:ext cx="6632575" cy="338554"/>
          </a:xfrm>
        </p:spPr>
        <p:txBody>
          <a:bodyPr/>
          <a:lstStyle/>
          <a:p>
            <a:r>
              <a:rPr lang="zh-CN" altLang="en-US" dirty="0"/>
              <a:t>计算机网络的体系结构</a:t>
            </a:r>
          </a:p>
        </p:txBody>
      </p:sp>
      <p:grpSp>
        <p:nvGrpSpPr>
          <p:cNvPr id="5" name="组合 4"/>
          <p:cNvGrpSpPr/>
          <p:nvPr/>
        </p:nvGrpSpPr>
        <p:grpSpPr>
          <a:xfrm>
            <a:off x="1674699" y="3024453"/>
            <a:ext cx="5263652" cy="959666"/>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3981649"/>
              <a:ext cx="4389878" cy="824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体系结构是</a:t>
              </a:r>
              <a:r>
                <a:rPr lang="zh-CN" altLang="en-US" b="1" dirty="0">
                  <a:solidFill>
                    <a:srgbClr val="FFFF00"/>
                  </a:solidFill>
                  <a:latin typeface="微软雅黑" panose="020B0503020204020204" pitchFamily="34" charset="-122"/>
                  <a:ea typeface="微软雅黑" panose="020B0503020204020204" pitchFamily="34" charset="-122"/>
                </a:rPr>
                <a:t>抽象</a:t>
              </a:r>
              <a:r>
                <a:rPr lang="zh-CN" altLang="en-US" b="1" dirty="0">
                  <a:solidFill>
                    <a:schemeClr val="bg1"/>
                  </a:solidFill>
                  <a:latin typeface="微软雅黑" panose="020B0503020204020204" pitchFamily="34" charset="-122"/>
                  <a:ea typeface="微软雅黑" panose="020B0503020204020204" pitchFamily="34" charset="-122"/>
                </a:rPr>
                <a:t>的，而实现则是</a:t>
              </a:r>
              <a:r>
                <a:rPr lang="zh-CN" altLang="en-US" b="1" dirty="0">
                  <a:solidFill>
                    <a:srgbClr val="FFFF00"/>
                  </a:solidFill>
                  <a:latin typeface="微软雅黑" panose="020B0503020204020204" pitchFamily="34" charset="-122"/>
                  <a:ea typeface="微软雅黑" panose="020B0503020204020204" pitchFamily="34" charset="-122"/>
                </a:rPr>
                <a:t>具体</a:t>
              </a:r>
              <a:r>
                <a:rPr lang="zh-CN" altLang="en-US" b="1" dirty="0">
                  <a:solidFill>
                    <a:schemeClr val="bg1"/>
                  </a:solidFill>
                  <a:latin typeface="微软雅黑" panose="020B0503020204020204" pitchFamily="34" charset="-122"/>
                  <a:ea typeface="微软雅黑" panose="020B0503020204020204" pitchFamily="34" charset="-122"/>
                </a:rPr>
                <a:t>的，是真正在运行的计算机硬件和软件。</a:t>
              </a:r>
            </a:p>
          </p:txBody>
        </p:sp>
      </p:gr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fltVal val="0"/>
                                          </p:val>
                                        </p:tav>
                                        <p:tav tm="100000">
                                          <p:val>
                                            <p:strVal val="#ppt_w"/>
                                          </p:val>
                                        </p:tav>
                                      </p:tavLst>
                                    </p:anim>
                                    <p:anim calcmode="lin" valueType="num">
                                      <p:cBhvr>
                                        <p:cTn id="8" dur="1000" fill="hold"/>
                                        <p:tgtEl>
                                          <p:spTgt spid="5"/>
                                        </p:tgtEl>
                                        <p:attrNameLst>
                                          <p:attrName>ppt_h</p:attrName>
                                        </p:attrNameLst>
                                      </p:cBhvr>
                                      <p:tavLst>
                                        <p:tav tm="0">
                                          <p:val>
                                            <p:fltVal val="0"/>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内容占位符 48">
            <a:extLst>
              <a:ext uri="{FF2B5EF4-FFF2-40B4-BE49-F238E27FC236}">
                <a16:creationId xmlns:a16="http://schemas.microsoft.com/office/drawing/2014/main" id="{C3734AC0-FE76-ADD7-6372-675CC396DE52}"/>
              </a:ext>
            </a:extLst>
          </p:cNvPr>
          <p:cNvSpPr>
            <a:spLocks noGrp="1"/>
          </p:cNvSpPr>
          <p:nvPr>
            <p:ph sz="quarter" idx="10"/>
          </p:nvPr>
        </p:nvSpPr>
        <p:spPr/>
        <p:txBody>
          <a:bodyPr/>
          <a:lstStyle/>
          <a:p>
            <a:endParaRPr lang="zh-CN" altLang="en-US"/>
          </a:p>
        </p:txBody>
      </p:sp>
      <p:sp>
        <p:nvSpPr>
          <p:cNvPr id="4" name="文本占位符 3"/>
          <p:cNvSpPr>
            <a:spLocks noGrp="1"/>
          </p:cNvSpPr>
          <p:nvPr>
            <p:ph type="body" sz="quarter" idx="11"/>
          </p:nvPr>
        </p:nvSpPr>
        <p:spPr>
          <a:xfrm>
            <a:off x="0" y="150273"/>
            <a:ext cx="6632575" cy="338554"/>
          </a:xfrm>
        </p:spPr>
        <p:txBody>
          <a:bodyPr/>
          <a:lstStyle/>
          <a:p>
            <a:r>
              <a:rPr lang="en-US" altLang="zh-CN" dirty="0"/>
              <a:t>1.7.3  </a:t>
            </a:r>
            <a:r>
              <a:rPr lang="zh-CN" altLang="en-US" dirty="0"/>
              <a:t>具有五层协议的体系结构</a:t>
            </a:r>
          </a:p>
        </p:txBody>
      </p:sp>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4" name="组合 53"/>
          <p:cNvGrpSpPr/>
          <p:nvPr/>
        </p:nvGrpSpPr>
        <p:grpSpPr>
          <a:xfrm>
            <a:off x="1557339" y="1623511"/>
            <a:ext cx="1341438" cy="2356685"/>
            <a:chOff x="1557339" y="1623511"/>
            <a:chExt cx="1341438" cy="2356685"/>
          </a:xfrm>
        </p:grpSpPr>
        <p:sp>
          <p:nvSpPr>
            <p:cNvPr id="7"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9"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0"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1"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2"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3"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14"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15" name="Text Box 23"/>
            <p:cNvSpPr txBox="1">
              <a:spLocks noChangeArrowheads="1"/>
            </p:cNvSpPr>
            <p:nvPr/>
          </p:nvSpPr>
          <p:spPr bwMode="auto">
            <a:xfrm>
              <a:off x="2006602" y="266173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运输层</a:t>
              </a:r>
            </a:p>
          </p:txBody>
        </p:sp>
        <p:sp>
          <p:nvSpPr>
            <p:cNvPr id="16"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17"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18"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19"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数据链路层</a:t>
              </a:r>
            </a:p>
          </p:txBody>
        </p:sp>
        <p:sp>
          <p:nvSpPr>
            <p:cNvPr id="20"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21"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22" name="Text Box 13"/>
          <p:cNvSpPr txBox="1">
            <a:spLocks noChangeArrowheads="1"/>
          </p:cNvSpPr>
          <p:nvPr/>
        </p:nvSpPr>
        <p:spPr bwMode="auto">
          <a:xfrm>
            <a:off x="1156623" y="128696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32" name="Text Box 12"/>
          <p:cNvSpPr txBox="1">
            <a:spLocks noChangeArrowheads="1"/>
          </p:cNvSpPr>
          <p:nvPr/>
        </p:nvSpPr>
        <p:spPr bwMode="auto">
          <a:xfrm>
            <a:off x="3432593" y="127584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33" name="Text Box 95"/>
          <p:cNvSpPr txBox="1">
            <a:spLocks noChangeArrowheads="1"/>
          </p:cNvSpPr>
          <p:nvPr/>
        </p:nvSpPr>
        <p:spPr bwMode="auto">
          <a:xfrm>
            <a:off x="1993066" y="392538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34" name="Text Box 96"/>
          <p:cNvSpPr txBox="1">
            <a:spLocks noChangeArrowheads="1"/>
          </p:cNvSpPr>
          <p:nvPr/>
        </p:nvSpPr>
        <p:spPr bwMode="auto">
          <a:xfrm>
            <a:off x="4328191" y="392538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35" name="Text Box 97"/>
          <p:cNvSpPr txBox="1">
            <a:spLocks noChangeArrowheads="1"/>
          </p:cNvSpPr>
          <p:nvPr/>
        </p:nvSpPr>
        <p:spPr bwMode="auto">
          <a:xfrm>
            <a:off x="6655970" y="393340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47" name="Text Box 113"/>
          <p:cNvSpPr txBox="1">
            <a:spLocks noChangeArrowheads="1"/>
          </p:cNvSpPr>
          <p:nvPr/>
        </p:nvSpPr>
        <p:spPr bwMode="auto">
          <a:xfrm>
            <a:off x="5946357" y="127108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53" name="组合 52"/>
          <p:cNvGrpSpPr/>
          <p:nvPr/>
        </p:nvGrpSpPr>
        <p:grpSpPr>
          <a:xfrm>
            <a:off x="3578724" y="1591761"/>
            <a:ext cx="1974894" cy="2338387"/>
            <a:chOff x="3578724" y="1591761"/>
            <a:chExt cx="1974894" cy="2338387"/>
          </a:xfrm>
        </p:grpSpPr>
        <p:sp>
          <p:nvSpPr>
            <p:cNvPr id="23"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4"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5"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6"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27"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28"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29"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30"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31"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48"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3" name="直接连接符 2"/>
          <p:cNvCxnSpPr/>
          <p:nvPr/>
        </p:nvCxnSpPr>
        <p:spPr>
          <a:xfrm>
            <a:off x="5334249" y="329372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51" name="直接连接符 50"/>
          <p:cNvCxnSpPr/>
          <p:nvPr/>
        </p:nvCxnSpPr>
        <p:spPr>
          <a:xfrm>
            <a:off x="5334249" y="392246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52" name="组合 51"/>
          <p:cNvGrpSpPr/>
          <p:nvPr/>
        </p:nvGrpSpPr>
        <p:grpSpPr>
          <a:xfrm>
            <a:off x="6217820" y="1623594"/>
            <a:ext cx="1341437" cy="2350069"/>
            <a:chOff x="6217820" y="1623594"/>
            <a:chExt cx="1341437" cy="2350069"/>
          </a:xfrm>
        </p:grpSpPr>
        <p:sp>
          <p:nvSpPr>
            <p:cNvPr id="3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3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8"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3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41"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42"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43"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44"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数据链路层</a:t>
              </a:r>
            </a:p>
          </p:txBody>
        </p:sp>
        <p:sp>
          <p:nvSpPr>
            <p:cNvPr id="45"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46"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22639"/>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通过应用进程间的交互来完成特定网络应用。</a:t>
            </a:r>
          </a:p>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协议：</a:t>
            </a:r>
            <a:r>
              <a:rPr lang="zh-CN" altLang="en-US" b="1" dirty="0">
                <a:solidFill>
                  <a:srgbClr val="000066"/>
                </a:solidFill>
                <a:latin typeface="微软雅黑" panose="020B0503020204020204" pitchFamily="34" charset="-122"/>
                <a:ea typeface="微软雅黑" panose="020B0503020204020204" pitchFamily="34" charset="-122"/>
              </a:rPr>
              <a:t>定义的是</a:t>
            </a:r>
            <a:r>
              <a:rPr lang="zh-CN" altLang="en-US" b="1" dirty="0">
                <a:solidFill>
                  <a:srgbClr val="C00000"/>
                </a:solidFill>
                <a:latin typeface="微软雅黑" panose="020B0503020204020204" pitchFamily="34" charset="-122"/>
                <a:ea typeface="微软雅黑" panose="020B0503020204020204" pitchFamily="34" charset="-122"/>
              </a:rPr>
              <a:t>应用进程</a:t>
            </a:r>
            <a:r>
              <a:rPr lang="zh-CN" altLang="en-US" b="1" dirty="0">
                <a:solidFill>
                  <a:srgbClr val="000066"/>
                </a:solidFill>
                <a:latin typeface="微软雅黑" panose="020B0503020204020204" pitchFamily="34" charset="-122"/>
                <a:ea typeface="微软雅黑" panose="020B0503020204020204" pitchFamily="34" charset="-122"/>
              </a:rPr>
              <a:t>间通信和交互的规则。</a:t>
            </a: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把应用层交互的数据单元称为</a:t>
            </a:r>
            <a:r>
              <a:rPr lang="zh-CN" altLang="en-US" b="1" dirty="0">
                <a:solidFill>
                  <a:srgbClr val="C00000"/>
                </a:solidFill>
                <a:latin typeface="微软雅黑" panose="020B0503020204020204" pitchFamily="34" charset="-122"/>
                <a:ea typeface="微软雅黑" panose="020B0503020204020204" pitchFamily="34" charset="-122"/>
              </a:rPr>
              <a:t>报文</a:t>
            </a:r>
            <a:r>
              <a:rPr lang="en-US" altLang="zh-CN" b="1" dirty="0">
                <a:solidFill>
                  <a:srgbClr val="000066"/>
                </a:solidFill>
                <a:latin typeface="微软雅黑" panose="020B0503020204020204" pitchFamily="34" charset="-122"/>
                <a:ea typeface="微软雅黑" panose="020B0503020204020204" pitchFamily="34" charset="-122"/>
              </a:rPr>
              <a:t>(message)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例如：</a:t>
            </a:r>
            <a:r>
              <a:rPr lang="en-US" altLang="zh-CN" b="1" dirty="0">
                <a:solidFill>
                  <a:srgbClr val="000066"/>
                </a:solidFill>
                <a:latin typeface="微软雅黑" panose="020B0503020204020204" pitchFamily="34" charset="-122"/>
                <a:ea typeface="微软雅黑" panose="020B0503020204020204" pitchFamily="34" charset="-122"/>
              </a:rPr>
              <a:t>DNS</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HTTP</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SMTP</a:t>
            </a:r>
          </a:p>
          <a:p>
            <a:pPr marL="285750" indent="-285750">
              <a:lnSpc>
                <a:spcPts val="30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C84BB21F-3495-701A-0D50-79EF9F786F9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900"/>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负责向两台主机中</a:t>
            </a:r>
            <a:r>
              <a:rPr lang="zh-CN" altLang="en-US" b="1" dirty="0">
                <a:solidFill>
                  <a:srgbClr val="C00000"/>
                </a:solidFill>
                <a:latin typeface="微软雅黑" panose="020B0503020204020204" pitchFamily="34" charset="-122"/>
                <a:ea typeface="微软雅黑" panose="020B0503020204020204" pitchFamily="34" charset="-122"/>
              </a:rPr>
              <a:t>进程</a:t>
            </a:r>
            <a:r>
              <a:rPr lang="zh-CN" altLang="en-US" b="1" dirty="0">
                <a:solidFill>
                  <a:srgbClr val="000066"/>
                </a:solidFill>
                <a:latin typeface="微软雅黑" panose="020B0503020204020204" pitchFamily="34" charset="-122"/>
                <a:ea typeface="微软雅黑" panose="020B0503020204020204" pitchFamily="34" charset="-122"/>
              </a:rPr>
              <a:t>之间的通信提供通用的数据传输服务。</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具有复用和分用的功能。</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主要使用</a:t>
            </a:r>
            <a:r>
              <a:rPr lang="zh-CN" altLang="en-US" b="1" dirty="0">
                <a:solidFill>
                  <a:srgbClr val="C00000"/>
                </a:solidFill>
                <a:latin typeface="微软雅黑" panose="020B0503020204020204" pitchFamily="34" charset="-122"/>
                <a:ea typeface="微软雅黑" panose="020B0503020204020204" pitchFamily="34" charset="-122"/>
              </a:rPr>
              <a:t>两种协议：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传输控制协议 </a:t>
            </a:r>
            <a:r>
              <a:rPr lang="en-US" altLang="zh-CN" sz="1600" b="1" dirty="0">
                <a:solidFill>
                  <a:srgbClr val="000066"/>
                </a:solidFill>
                <a:latin typeface="微软雅黑" panose="020B0503020204020204" pitchFamily="34" charset="-122"/>
                <a:ea typeface="微软雅黑" panose="020B0503020204020204" pitchFamily="34" charset="-122"/>
              </a:rPr>
              <a:t>TCP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用户数据报协议 </a:t>
            </a:r>
            <a:r>
              <a:rPr lang="en-US" altLang="zh-CN" sz="1600" b="1" dirty="0">
                <a:solidFill>
                  <a:srgbClr val="000066"/>
                </a:solidFill>
                <a:latin typeface="微软雅黑" panose="020B0503020204020204" pitchFamily="34" charset="-122"/>
                <a:ea typeface="微软雅黑" panose="020B0503020204020204" pitchFamily="34" charset="-122"/>
              </a:rPr>
              <a:t>UDP </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800"/>
              </a:lnSpc>
              <a:buFont typeface="Wingdings" panose="05000000000000000000" pitchFamily="2" charset="2"/>
              <a:buChar char="l"/>
            </a:pP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4BB794A5-5C82-B5F1-053B-1B4BAE36D207}"/>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601"/>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TCP (Transmission Control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a:t>
            </a:r>
            <a:r>
              <a:rPr lang="zh-CN" altLang="en-US" sz="1600" b="1" dirty="0">
                <a:solidFill>
                  <a:srgbClr val="C00000"/>
                </a:solidFill>
                <a:latin typeface="微软雅黑" panose="020B0503020204020204" pitchFamily="34" charset="-122"/>
                <a:ea typeface="微软雅黑" panose="020B0503020204020204" pitchFamily="34" charset="-122"/>
              </a:rPr>
              <a:t>面向连接</a:t>
            </a:r>
            <a:r>
              <a:rPr lang="zh-CN" altLang="en-US" sz="1600" b="1" dirty="0">
                <a:solidFill>
                  <a:srgbClr val="000066"/>
                </a:solidFill>
                <a:latin typeface="微软雅黑" panose="020B0503020204020204" pitchFamily="34" charset="-122"/>
                <a:ea typeface="微软雅黑" panose="020B0503020204020204" pitchFamily="34" charset="-122"/>
              </a:rPr>
              <a:t>的、</a:t>
            </a:r>
            <a:r>
              <a:rPr lang="zh-CN" altLang="en-US" sz="1600" b="1" dirty="0">
                <a:solidFill>
                  <a:srgbClr val="C00000"/>
                </a:solidFill>
                <a:latin typeface="微软雅黑" panose="020B0503020204020204" pitchFamily="34" charset="-122"/>
                <a:ea typeface="微软雅黑" panose="020B0503020204020204" pitchFamily="34" charset="-122"/>
              </a:rPr>
              <a:t>可靠</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报文段</a:t>
            </a:r>
            <a:r>
              <a:rPr lang="zh-CN" altLang="en-US" sz="1600" b="1" dirty="0">
                <a:solidFill>
                  <a:srgbClr val="000066"/>
                </a:solidFill>
                <a:latin typeface="微软雅黑" panose="020B0503020204020204" pitchFamily="34" charset="-122"/>
                <a:ea typeface="微软雅黑" panose="020B0503020204020204" pitchFamily="34" charset="-122"/>
              </a:rPr>
              <a:t> </a:t>
            </a:r>
            <a:r>
              <a:rPr lang="en-US" altLang="zh-CN" sz="1600" b="1" dirty="0">
                <a:solidFill>
                  <a:srgbClr val="000066"/>
                </a:solidFill>
                <a:latin typeface="微软雅黑" panose="020B0503020204020204" pitchFamily="34" charset="-122"/>
                <a:ea typeface="微软雅黑" panose="020B0503020204020204" pitchFamily="34" charset="-122"/>
              </a:rPr>
              <a:t>(segment)</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UDP (User Datagram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提供无连接的</a:t>
            </a:r>
            <a:r>
              <a:rPr lang="zh-CN" altLang="en-US" sz="1600" b="1" dirty="0">
                <a:solidFill>
                  <a:srgbClr val="C00000"/>
                </a:solidFill>
                <a:latin typeface="微软雅黑" panose="020B0503020204020204" pitchFamily="34" charset="-122"/>
                <a:ea typeface="微软雅黑" panose="020B0503020204020204" pitchFamily="34" charset="-122"/>
              </a:rPr>
              <a:t>尽最大努力 </a:t>
            </a:r>
            <a:r>
              <a:rPr lang="en-US" altLang="zh-CN" sz="1600" b="1" dirty="0">
                <a:solidFill>
                  <a:srgbClr val="000066"/>
                </a:solidFill>
                <a:latin typeface="微软雅黑" panose="020B0503020204020204" pitchFamily="34" charset="-122"/>
                <a:ea typeface="微软雅黑" panose="020B0503020204020204" pitchFamily="34" charset="-122"/>
              </a:rPr>
              <a:t>(best-effort) </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r>
              <a:rPr lang="zh-CN" altLang="en-US" sz="1600" b="1" dirty="0">
                <a:solidFill>
                  <a:srgbClr val="C00000"/>
                </a:solidFill>
                <a:latin typeface="微软雅黑" panose="020B0503020204020204" pitchFamily="34" charset="-122"/>
                <a:ea typeface="微软雅黑" panose="020B0503020204020204" pitchFamily="34" charset="-122"/>
              </a:rPr>
              <a:t>不保证数据传输的可靠性</a:t>
            </a:r>
            <a:r>
              <a:rPr lang="zh-CN" altLang="en-US" sz="1600" b="1" dirty="0">
                <a:solidFill>
                  <a:srgbClr val="000066"/>
                </a:solidFill>
                <a:latin typeface="微软雅黑" panose="020B0503020204020204" pitchFamily="34" charset="-122"/>
                <a:ea typeface="微软雅黑" panose="020B0503020204020204" pitchFamily="34" charset="-122"/>
              </a:rPr>
              <a:t>）。</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用户数据报。</a:t>
            </a:r>
          </a:p>
          <a:p>
            <a:pPr marL="285750" indent="-285750">
              <a:lnSpc>
                <a:spcPts val="26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02F2F6EE-DA72-C982-7E50-809BE80C1B22}"/>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23344360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为分组交换网上的不同</a:t>
            </a:r>
            <a:r>
              <a:rPr lang="zh-CN" altLang="en-US" b="1" dirty="0">
                <a:solidFill>
                  <a:srgbClr val="C00000"/>
                </a:solidFill>
                <a:latin typeface="微软雅黑" panose="020B0503020204020204" pitchFamily="34" charset="-122"/>
                <a:ea typeface="微软雅黑" panose="020B0503020204020204" pitchFamily="34" charset="-122"/>
              </a:rPr>
              <a:t>主机</a:t>
            </a:r>
            <a:r>
              <a:rPr lang="zh-CN" altLang="en-US" b="1" dirty="0">
                <a:solidFill>
                  <a:srgbClr val="000066"/>
                </a:solidFill>
                <a:latin typeface="微软雅黑" panose="020B0503020204020204" pitchFamily="34" charset="-122"/>
                <a:ea typeface="微软雅黑" panose="020B0503020204020204" pitchFamily="34" charset="-122"/>
              </a:rPr>
              <a:t>提供通信服务。</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两个具体</a:t>
            </a:r>
            <a:r>
              <a:rPr lang="zh-CN" altLang="en-US" b="1" dirty="0">
                <a:solidFill>
                  <a:srgbClr val="0000FF"/>
                </a:solidFill>
                <a:latin typeface="微软雅黑" panose="020B0503020204020204" pitchFamily="34" charset="-122"/>
                <a:ea typeface="微软雅黑" panose="020B0503020204020204" pitchFamily="34" charset="-122"/>
              </a:rPr>
              <a:t>任务：</a:t>
            </a:r>
            <a:endParaRPr lang="en-US" altLang="zh-CN" b="1" dirty="0">
              <a:solidFill>
                <a:srgbClr val="0000FF"/>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路由选择：</a:t>
            </a:r>
            <a:r>
              <a:rPr lang="zh-CN" altLang="en-US" sz="1600" b="1" dirty="0">
                <a:solidFill>
                  <a:srgbClr val="000066"/>
                </a:solidFill>
                <a:latin typeface="微软雅黑" panose="020B0503020204020204" pitchFamily="34" charset="-122"/>
                <a:ea typeface="微软雅黑" panose="020B0503020204020204" pitchFamily="34" charset="-122"/>
              </a:rPr>
              <a:t>通过一定的算法，在互联网中的每一个路由器上，</a:t>
            </a:r>
            <a:r>
              <a:rPr lang="zh-CN" altLang="en-US" sz="1600" b="1" dirty="0">
                <a:solidFill>
                  <a:srgbClr val="C00000"/>
                </a:solidFill>
                <a:latin typeface="微软雅黑" panose="020B0503020204020204" pitchFamily="34" charset="-122"/>
                <a:ea typeface="微软雅黑" panose="020B0503020204020204" pitchFamily="34" charset="-122"/>
              </a:rPr>
              <a:t>生成</a:t>
            </a:r>
            <a:r>
              <a:rPr lang="zh-CN" altLang="en-US" sz="1600" b="1" dirty="0">
                <a:solidFill>
                  <a:srgbClr val="000066"/>
                </a:solidFill>
                <a:latin typeface="微软雅黑" panose="020B0503020204020204" pitchFamily="34" charset="-122"/>
                <a:ea typeface="微软雅黑" panose="020B0503020204020204" pitchFamily="34" charset="-122"/>
              </a:rPr>
              <a:t>一个用来转发分组的</a:t>
            </a:r>
            <a:r>
              <a:rPr lang="zh-CN" altLang="en-US" sz="1600" b="1" dirty="0">
                <a:solidFill>
                  <a:srgbClr val="C00000"/>
                </a:solidFill>
                <a:latin typeface="微软雅黑" panose="020B0503020204020204" pitchFamily="34" charset="-122"/>
                <a:ea typeface="微软雅黑" panose="020B0503020204020204" pitchFamily="34" charset="-122"/>
              </a:rPr>
              <a:t>转发表。</a:t>
            </a:r>
            <a:endParaRPr lang="en-US" altLang="zh-CN" sz="1600" b="1" dirty="0">
              <a:solidFill>
                <a:srgbClr val="C00000"/>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每一个路由器在接收到一个分组时，要依据转发表中指明的路径把分组</a:t>
            </a: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到下一个路由器。</a:t>
            </a:r>
            <a:endParaRPr lang="en-US" altLang="zh-CN" sz="1600"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221C9D66-EECF-CA7E-DD46-C05B0794AA9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互联网使用的网络层协议是</a:t>
            </a:r>
            <a:r>
              <a:rPr lang="zh-CN" altLang="en-US" b="1" dirty="0">
                <a:solidFill>
                  <a:srgbClr val="C00000"/>
                </a:solidFill>
                <a:latin typeface="微软雅黑" panose="020B0503020204020204" pitchFamily="34" charset="-122"/>
                <a:ea typeface="微软雅黑" panose="020B0503020204020204" pitchFamily="34" charset="-122"/>
              </a:rPr>
              <a:t>无连接</a:t>
            </a:r>
            <a:r>
              <a:rPr lang="zh-CN" altLang="en-US" b="1" dirty="0">
                <a:solidFill>
                  <a:srgbClr val="000066"/>
                </a:solidFill>
                <a:latin typeface="微软雅黑" panose="020B0503020204020204" pitchFamily="34" charset="-122"/>
                <a:ea typeface="微软雅黑" panose="020B0503020204020204" pitchFamily="34" charset="-122"/>
              </a:rPr>
              <a:t>的</a:t>
            </a:r>
            <a:r>
              <a:rPr lang="zh-CN" altLang="en-US" b="1" dirty="0">
                <a:solidFill>
                  <a:srgbClr val="C00000"/>
                </a:solidFill>
                <a:latin typeface="微软雅黑" panose="020B0503020204020204" pitchFamily="34" charset="-122"/>
                <a:ea typeface="微软雅黑" panose="020B0503020204020204" pitchFamily="34" charset="-122"/>
              </a:rPr>
              <a:t>网际协议 </a:t>
            </a:r>
            <a:r>
              <a:rPr lang="en-US" altLang="zh-CN" b="1" dirty="0">
                <a:solidFill>
                  <a:srgbClr val="C00000"/>
                </a:solidFill>
                <a:latin typeface="微软雅黑" panose="020B0503020204020204" pitchFamily="34" charset="-122"/>
                <a:ea typeface="微软雅黑" panose="020B0503020204020204" pitchFamily="34" charset="-122"/>
              </a:rPr>
              <a:t>IP  </a:t>
            </a:r>
            <a:r>
              <a:rPr lang="en-US" altLang="zh-CN" b="1" dirty="0">
                <a:solidFill>
                  <a:srgbClr val="000066"/>
                </a:solidFill>
                <a:latin typeface="微软雅黑" panose="020B0503020204020204" pitchFamily="34" charset="-122"/>
                <a:ea typeface="微软雅黑" panose="020B0503020204020204" pitchFamily="34" charset="-122"/>
              </a:rPr>
              <a:t>(Internet Protocol) </a:t>
            </a:r>
            <a:r>
              <a:rPr lang="zh-CN" altLang="en-US" b="1" dirty="0">
                <a:solidFill>
                  <a:srgbClr val="000066"/>
                </a:solidFill>
                <a:latin typeface="微软雅黑" panose="020B0503020204020204" pitchFamily="34" charset="-122"/>
                <a:ea typeface="微软雅黑" panose="020B0503020204020204" pitchFamily="34" charset="-122"/>
              </a:rPr>
              <a:t>和许多种路由选择协议，因此互联网的网络层也叫做</a:t>
            </a:r>
            <a:r>
              <a:rPr lang="zh-CN" altLang="en-US" b="1" dirty="0">
                <a:solidFill>
                  <a:srgbClr val="0000FF"/>
                </a:solidFill>
                <a:latin typeface="微软雅黑" panose="020B0503020204020204" pitchFamily="34" charset="-122"/>
                <a:ea typeface="微软雅黑" panose="020B0503020204020204" pitchFamily="34" charset="-122"/>
              </a:rPr>
              <a:t>网际层</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FF"/>
                </a:solidFill>
                <a:latin typeface="微软雅黑" panose="020B0503020204020204" pitchFamily="34" charset="-122"/>
                <a:ea typeface="微软雅黑" panose="020B0503020204020204" pitchFamily="34" charset="-122"/>
              </a:rPr>
              <a:t>IP </a:t>
            </a:r>
            <a:r>
              <a:rPr lang="zh-CN" altLang="en-US" b="1" dirty="0">
                <a:solidFill>
                  <a:srgbClr val="0000FF"/>
                </a:solidFill>
                <a:latin typeface="微软雅黑" panose="020B0503020204020204" pitchFamily="34" charset="-122"/>
                <a:ea typeface="微软雅黑" panose="020B0503020204020204" pitchFamily="34" charset="-122"/>
              </a:rPr>
              <a:t>层。</a:t>
            </a:r>
            <a:endParaRPr lang="en-US" altLang="zh-CN" b="1" dirty="0">
              <a:solidFill>
                <a:srgbClr val="0000FF"/>
              </a:solidFill>
              <a:latin typeface="微软雅黑" panose="020B0503020204020204" pitchFamily="34" charset="-122"/>
              <a:ea typeface="微软雅黑" panose="020B0503020204020204" pitchFamily="34" charset="-122"/>
            </a:endParaRP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IP </a:t>
            </a:r>
            <a:r>
              <a:rPr lang="zh-CN" altLang="en-US" b="1" dirty="0">
                <a:solidFill>
                  <a:srgbClr val="000066"/>
                </a:solidFill>
                <a:latin typeface="微软雅黑" panose="020B0503020204020204" pitchFamily="34" charset="-122"/>
                <a:ea typeface="微软雅黑" panose="020B0503020204020204" pitchFamily="34" charset="-122"/>
              </a:rPr>
              <a:t>协议分组也叫做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数据报，</a:t>
            </a:r>
            <a:r>
              <a:rPr lang="zh-CN" altLang="en-US" b="1" dirty="0">
                <a:solidFill>
                  <a:srgbClr val="000066"/>
                </a:solidFill>
                <a:latin typeface="微软雅黑" panose="020B0503020204020204" pitchFamily="34" charset="-122"/>
                <a:ea typeface="微软雅黑" panose="020B0503020204020204" pitchFamily="34" charset="-122"/>
              </a:rPr>
              <a:t>或简称为</a:t>
            </a:r>
            <a:r>
              <a:rPr lang="zh-CN" altLang="en-US" b="1" dirty="0">
                <a:solidFill>
                  <a:srgbClr val="C00000"/>
                </a:solidFill>
                <a:latin typeface="微软雅黑" panose="020B0503020204020204" pitchFamily="34" charset="-122"/>
                <a:ea typeface="微软雅黑" panose="020B0503020204020204" pitchFamily="34" charset="-122"/>
              </a:rPr>
              <a:t>数据报。</a:t>
            </a:r>
          </a:p>
        </p:txBody>
      </p:sp>
      <p:sp>
        <p:nvSpPr>
          <p:cNvPr id="5" name="内容占位符 4">
            <a:extLst>
              <a:ext uri="{FF2B5EF4-FFF2-40B4-BE49-F238E27FC236}">
                <a16:creationId xmlns:a16="http://schemas.microsoft.com/office/drawing/2014/main" id="{A7335697-6B3C-E669-3863-EFC225D6AAC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11750113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79865"/>
              <a:gd name="adj4" fmla="val -1468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常简称为</a:t>
            </a:r>
            <a:r>
              <a:rPr lang="zh-CN" altLang="en-US" b="1" dirty="0">
                <a:solidFill>
                  <a:srgbClr val="C00000"/>
                </a:solidFill>
                <a:latin typeface="微软雅黑" panose="020B0503020204020204" pitchFamily="34" charset="-122"/>
                <a:ea typeface="微软雅黑" panose="020B0503020204020204" pitchFamily="34" charset="-122"/>
              </a:rPr>
              <a:t>链路层。</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实现两个</a:t>
            </a:r>
            <a:r>
              <a:rPr lang="zh-CN" altLang="en-US" b="1" dirty="0">
                <a:solidFill>
                  <a:srgbClr val="C00000"/>
                </a:solidFill>
                <a:latin typeface="微软雅黑" panose="020B0503020204020204" pitchFamily="34" charset="-122"/>
                <a:ea typeface="微软雅黑" panose="020B0503020204020204" pitchFamily="34" charset="-122"/>
              </a:rPr>
              <a:t>相邻节点</a:t>
            </a:r>
            <a:r>
              <a:rPr lang="zh-CN" altLang="en-US" b="1" dirty="0">
                <a:solidFill>
                  <a:srgbClr val="000066"/>
                </a:solidFill>
                <a:latin typeface="微软雅黑" panose="020B0503020204020204" pitchFamily="34" charset="-122"/>
                <a:ea typeface="微软雅黑" panose="020B0503020204020204" pitchFamily="34" charset="-122"/>
              </a:rPr>
              <a:t>之间的</a:t>
            </a:r>
            <a:r>
              <a:rPr lang="zh-CN" altLang="en-US" b="1" dirty="0">
                <a:solidFill>
                  <a:srgbClr val="C00000"/>
                </a:solidFill>
                <a:latin typeface="微软雅黑" panose="020B0503020204020204" pitchFamily="34" charset="-122"/>
                <a:ea typeface="微软雅黑" panose="020B0503020204020204" pitchFamily="34" charset="-122"/>
              </a:rPr>
              <a:t>可靠通信。</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在两个相邻节点间的链路上传送</a:t>
            </a:r>
            <a:r>
              <a:rPr lang="zh-CN" altLang="en-US" b="1" dirty="0">
                <a:solidFill>
                  <a:srgbClr val="C00000"/>
                </a:solidFill>
                <a:latin typeface="微软雅黑" panose="020B0503020204020204" pitchFamily="34" charset="-122"/>
                <a:ea typeface="微软雅黑" panose="020B0503020204020204" pitchFamily="34" charset="-122"/>
              </a:rPr>
              <a:t>帧</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frame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如发现有差错，就简单地</a:t>
            </a:r>
            <a:r>
              <a:rPr lang="zh-CN" altLang="en-US" b="1" dirty="0">
                <a:solidFill>
                  <a:srgbClr val="C00000"/>
                </a:solidFill>
                <a:latin typeface="微软雅黑" panose="020B0503020204020204" pitchFamily="34" charset="-122"/>
                <a:ea typeface="微软雅黑" panose="020B0503020204020204" pitchFamily="34" charset="-122"/>
              </a:rPr>
              <a:t>丢弃</a:t>
            </a:r>
            <a:r>
              <a:rPr lang="zh-CN" altLang="en-US" b="1" dirty="0">
                <a:solidFill>
                  <a:srgbClr val="000066"/>
                </a:solidFill>
                <a:latin typeface="微软雅黑" panose="020B0503020204020204" pitchFamily="34" charset="-122"/>
                <a:ea typeface="微软雅黑" panose="020B0503020204020204" pitchFamily="34" charset="-122"/>
              </a:rPr>
              <a:t>出错帧。</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如果需要改正出现的差错，就要采用</a:t>
            </a:r>
            <a:r>
              <a:rPr lang="zh-CN" altLang="en-US" b="1" dirty="0">
                <a:solidFill>
                  <a:srgbClr val="C00000"/>
                </a:solidFill>
                <a:latin typeface="微软雅黑" panose="020B0503020204020204" pitchFamily="34" charset="-122"/>
                <a:ea typeface="微软雅黑" panose="020B0503020204020204" pitchFamily="34" charset="-122"/>
              </a:rPr>
              <a:t>可靠传输协议</a:t>
            </a:r>
            <a:r>
              <a:rPr lang="zh-CN" altLang="en-US" b="1" dirty="0">
                <a:solidFill>
                  <a:srgbClr val="000066"/>
                </a:solidFill>
                <a:latin typeface="微软雅黑" panose="020B0503020204020204" pitchFamily="34" charset="-122"/>
                <a:ea typeface="微软雅黑" panose="020B0503020204020204" pitchFamily="34" charset="-122"/>
              </a:rPr>
              <a:t>来</a:t>
            </a:r>
            <a:r>
              <a:rPr lang="zh-CN" altLang="en-US" b="1" dirty="0">
                <a:solidFill>
                  <a:srgbClr val="C00000"/>
                </a:solidFill>
                <a:latin typeface="微软雅黑" panose="020B0503020204020204" pitchFamily="34" charset="-122"/>
                <a:ea typeface="微软雅黑" panose="020B0503020204020204" pitchFamily="34" charset="-122"/>
              </a:rPr>
              <a:t>纠正</a:t>
            </a:r>
            <a:r>
              <a:rPr lang="zh-CN" altLang="en-US" b="1" dirty="0">
                <a:solidFill>
                  <a:srgbClr val="000066"/>
                </a:solidFill>
                <a:latin typeface="微软雅黑" panose="020B0503020204020204" pitchFamily="34" charset="-122"/>
                <a:ea typeface="微软雅黑" panose="020B0503020204020204" pitchFamily="34" charset="-122"/>
              </a:rPr>
              <a:t>出现的差错。这种方法会使数据链路层协议复杂。</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BA793DAF-D649-2803-3AEA-DBB7962999E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a:solidFill>
                  <a:schemeClr val="bg1"/>
                </a:solidFill>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92748"/>
              <a:gd name="adj4" fmla="val -1847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a:t>
            </a:r>
            <a:r>
              <a:rPr lang="zh-CN" altLang="en-US" b="1" dirty="0">
                <a:solidFill>
                  <a:srgbClr val="C00000"/>
                </a:solidFill>
                <a:latin typeface="微软雅黑" panose="020B0503020204020204" pitchFamily="34" charset="-122"/>
                <a:ea typeface="微软雅黑" panose="020B0503020204020204" pitchFamily="34" charset="-122"/>
              </a:rPr>
              <a:t>比特</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0 </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66"/>
                </a:solidFill>
                <a:latin typeface="微软雅黑" panose="020B0503020204020204" pitchFamily="34" charset="-122"/>
                <a:ea typeface="微软雅黑" panose="020B0503020204020204" pitchFamily="34" charset="-122"/>
              </a:rPr>
              <a:t>1</a:t>
            </a:r>
            <a:r>
              <a:rPr lang="zh-CN" altLang="en-US" b="1" dirty="0">
                <a:solidFill>
                  <a:srgbClr val="000066"/>
                </a:solidFill>
                <a:latin typeface="微软雅黑" panose="020B0503020204020204" pitchFamily="34" charset="-122"/>
                <a:ea typeface="微软雅黑" panose="020B0503020204020204" pitchFamily="34" charset="-122"/>
              </a:rPr>
              <a:t>）的传输。</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确定连接电缆的</a:t>
            </a:r>
            <a:r>
              <a:rPr lang="zh-CN" altLang="en-US" b="1" dirty="0">
                <a:solidFill>
                  <a:srgbClr val="0000FF"/>
                </a:solidFill>
                <a:latin typeface="微软雅黑" panose="020B0503020204020204" pitchFamily="34" charset="-122"/>
                <a:ea typeface="微软雅黑" panose="020B0503020204020204" pitchFamily="34" charset="-122"/>
              </a:rPr>
              <a:t>插头</a:t>
            </a:r>
            <a:r>
              <a:rPr lang="zh-CN" altLang="en-US" b="1" dirty="0">
                <a:solidFill>
                  <a:srgbClr val="000066"/>
                </a:solidFill>
                <a:latin typeface="微软雅黑" panose="020B0503020204020204" pitchFamily="34" charset="-122"/>
                <a:ea typeface="微软雅黑" panose="020B0503020204020204" pitchFamily="34" charset="-122"/>
              </a:rPr>
              <a:t>应当有多少根</a:t>
            </a:r>
            <a:r>
              <a:rPr lang="zh-CN" altLang="en-US" b="1" dirty="0">
                <a:solidFill>
                  <a:srgbClr val="0000FF"/>
                </a:solidFill>
                <a:latin typeface="微软雅黑" panose="020B0503020204020204" pitchFamily="34" charset="-122"/>
                <a:ea typeface="微软雅黑" panose="020B0503020204020204" pitchFamily="34" charset="-122"/>
              </a:rPr>
              <a:t>引脚</a:t>
            </a:r>
            <a:r>
              <a:rPr lang="zh-CN" altLang="en-US" b="1" dirty="0">
                <a:solidFill>
                  <a:srgbClr val="000066"/>
                </a:solidFill>
                <a:latin typeface="微软雅黑" panose="020B0503020204020204" pitchFamily="34" charset="-122"/>
                <a:ea typeface="微软雅黑" panose="020B0503020204020204" pitchFamily="34" charset="-122"/>
              </a:rPr>
              <a:t>，以及各引脚应如何</a:t>
            </a:r>
            <a:r>
              <a:rPr lang="zh-CN" altLang="en-US" b="1" dirty="0">
                <a:solidFill>
                  <a:srgbClr val="0000FF"/>
                </a:solidFill>
                <a:latin typeface="微软雅黑" panose="020B0503020204020204" pitchFamily="34" charset="-122"/>
                <a:ea typeface="微软雅黑" panose="020B0503020204020204" pitchFamily="34" charset="-122"/>
              </a:rPr>
              <a:t>连接</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solidFill>
                  <a:srgbClr val="000066"/>
                </a:solidFill>
                <a:latin typeface="微软雅黑" panose="020B0503020204020204" pitchFamily="34" charset="-122"/>
                <a:ea typeface="微软雅黑" panose="020B0503020204020204" pitchFamily="34" charset="-122"/>
              </a:rPr>
              <a:t>传递信息所利用的一些</a:t>
            </a:r>
            <a:r>
              <a:rPr lang="zh-CN" altLang="en-US" b="1" dirty="0">
                <a:solidFill>
                  <a:srgbClr val="C00000"/>
                </a:solidFill>
                <a:latin typeface="微软雅黑" panose="020B0503020204020204" pitchFamily="34" charset="-122"/>
                <a:ea typeface="微软雅黑" panose="020B0503020204020204" pitchFamily="34" charset="-122"/>
              </a:rPr>
              <a:t>物理媒体</a:t>
            </a:r>
            <a:r>
              <a:rPr lang="zh-CN" altLang="en-US" b="1" dirty="0">
                <a:solidFill>
                  <a:srgbClr val="000066"/>
                </a:solidFill>
                <a:latin typeface="微软雅黑" panose="020B0503020204020204" pitchFamily="34" charset="-122"/>
                <a:ea typeface="微软雅黑" panose="020B0503020204020204" pitchFamily="34" charset="-122"/>
              </a:rPr>
              <a:t>，如双绞线、同轴电缆、光缆、无线信道等，并</a:t>
            </a:r>
            <a:r>
              <a:rPr lang="zh-CN" altLang="en-US" b="1" dirty="0">
                <a:solidFill>
                  <a:srgbClr val="C00000"/>
                </a:solidFill>
                <a:latin typeface="微软雅黑" panose="020B0503020204020204" pitchFamily="34" charset="-122"/>
                <a:ea typeface="微软雅黑" panose="020B0503020204020204" pitchFamily="34" charset="-122"/>
              </a:rPr>
              <a:t>不在物理层协议之内，</a:t>
            </a:r>
            <a:r>
              <a:rPr lang="zh-CN" altLang="en-US" b="1" dirty="0">
                <a:solidFill>
                  <a:srgbClr val="000066"/>
                </a:solidFill>
                <a:latin typeface="微软雅黑" panose="020B0503020204020204" pitchFamily="34" charset="-122"/>
                <a:ea typeface="微软雅黑" panose="020B0503020204020204" pitchFamily="34" charset="-122"/>
              </a:rPr>
              <a:t>而是在物理层协议的下面。</a:t>
            </a:r>
          </a:p>
        </p:txBody>
      </p:sp>
      <p:sp>
        <p:nvSpPr>
          <p:cNvPr id="5" name="内容占位符 4">
            <a:extLst>
              <a:ext uri="{FF2B5EF4-FFF2-40B4-BE49-F238E27FC236}">
                <a16:creationId xmlns:a16="http://schemas.microsoft.com/office/drawing/2014/main" id="{6616398E-86D8-8CF9-2E1B-E920A0347FBD}"/>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各层的主要功能</a:t>
            </a:r>
          </a:p>
        </p:txBody>
      </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50"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51"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D31FB3E-FE20-F56A-354D-48C72ADA19C2}"/>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5" name="Group 31"/>
          <p:cNvGrpSpPr/>
          <p:nvPr/>
        </p:nvGrpSpPr>
        <p:grpSpPr bwMode="auto">
          <a:xfrm>
            <a:off x="2121518" y="1714788"/>
            <a:ext cx="890566" cy="740472"/>
            <a:chOff x="1823" y="1479"/>
            <a:chExt cx="756" cy="681"/>
          </a:xfrm>
        </p:grpSpPr>
        <p:sp>
          <p:nvSpPr>
            <p:cNvPr id="76" name="Text Box 32"/>
            <p:cNvSpPr txBox="1">
              <a:spLocks noChangeArrowheads="1"/>
            </p:cNvSpPr>
            <p:nvPr/>
          </p:nvSpPr>
          <p:spPr bwMode="auto">
            <a:xfrm>
              <a:off x="1823" y="1479"/>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应用层首部</a:t>
              </a:r>
            </a:p>
          </p:txBody>
        </p:sp>
        <p:sp>
          <p:nvSpPr>
            <p:cNvPr id="77" name="Line 33"/>
            <p:cNvSpPr>
              <a:spLocks noChangeShapeType="1"/>
            </p:cNvSpPr>
            <p:nvPr/>
          </p:nvSpPr>
          <p:spPr bwMode="auto">
            <a:xfrm>
              <a:off x="2359" y="1693"/>
              <a:ext cx="99" cy="24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 name="Rectangle 34"/>
            <p:cNvSpPr>
              <a:spLocks noChangeArrowheads="1"/>
            </p:cNvSpPr>
            <p:nvPr/>
          </p:nvSpPr>
          <p:spPr bwMode="auto">
            <a:xfrm>
              <a:off x="2343" y="1934"/>
              <a:ext cx="211"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gr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0" name="矩形 7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43A71142-0EB0-8279-B8A2-C5608ED193D2}"/>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0" fill="hold"/>
                                        <p:tgtEl>
                                          <p:spTgt spid="75"/>
                                        </p:tgtEl>
                                        <p:attrNameLst>
                                          <p:attrName>ppt_x</p:attrName>
                                        </p:attrNameLst>
                                      </p:cBhvr>
                                      <p:tavLst>
                                        <p:tav tm="0">
                                          <p:val>
                                            <p:strVal val="0-#ppt_w/2"/>
                                          </p:val>
                                        </p:tav>
                                        <p:tav tm="100000">
                                          <p:val>
                                            <p:strVal val="#ppt_x"/>
                                          </p:val>
                                        </p:tav>
                                      </p:tavLst>
                                    </p:anim>
                                    <p:anim calcmode="lin" valueType="num">
                                      <p:cBhvr additive="base">
                                        <p:cTn id="8" dur="1000" fill="hold"/>
                                        <p:tgtEl>
                                          <p:spTgt spid="75"/>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wipe(up)">
                                      <p:cBhvr>
                                        <p:cTn id="12"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6"/>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83" name="Group 65"/>
          <p:cNvGrpSpPr/>
          <p:nvPr/>
        </p:nvGrpSpPr>
        <p:grpSpPr bwMode="auto">
          <a:xfrm>
            <a:off x="1853282" y="2058217"/>
            <a:ext cx="889953" cy="741362"/>
            <a:chOff x="1596" y="1840"/>
            <a:chExt cx="756" cy="683"/>
          </a:xfrm>
        </p:grpSpPr>
        <p:sp>
          <p:nvSpPr>
            <p:cNvPr id="84" name="Rectangle 66"/>
            <p:cNvSpPr>
              <a:spLocks noChangeArrowheads="1"/>
            </p:cNvSpPr>
            <p:nvPr/>
          </p:nvSpPr>
          <p:spPr bwMode="auto">
            <a:xfrm>
              <a:off x="2155" y="2296"/>
              <a:ext cx="188" cy="227"/>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85" name="Text Box 67"/>
            <p:cNvSpPr txBox="1">
              <a:spLocks noChangeArrowheads="1"/>
            </p:cNvSpPr>
            <p:nvPr/>
          </p:nvSpPr>
          <p:spPr bwMode="auto">
            <a:xfrm>
              <a:off x="1596" y="1840"/>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运输层首部</a:t>
              </a:r>
            </a:p>
          </p:txBody>
        </p:sp>
        <p:sp>
          <p:nvSpPr>
            <p:cNvPr id="86" name="Line 68"/>
            <p:cNvSpPr>
              <a:spLocks noChangeShapeType="1"/>
            </p:cNvSpPr>
            <p:nvPr/>
          </p:nvSpPr>
          <p:spPr bwMode="auto">
            <a:xfrm>
              <a:off x="2148" y="2046"/>
              <a:ext cx="94" cy="2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矩形 28"/>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2"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3"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5" name="矩形 74"/>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5F58AF4A-DCD1-E6B6-6CAB-A29CEEDE67CA}"/>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additive="base">
                                        <p:cTn id="7" dur="1000" fill="hold"/>
                                        <p:tgtEl>
                                          <p:spTgt spid="83"/>
                                        </p:tgtEl>
                                        <p:attrNameLst>
                                          <p:attrName>ppt_x</p:attrName>
                                        </p:attrNameLst>
                                      </p:cBhvr>
                                      <p:tavLst>
                                        <p:tav tm="0">
                                          <p:val>
                                            <p:strVal val="0-#ppt_w/2"/>
                                          </p:val>
                                        </p:tav>
                                        <p:tav tm="100000">
                                          <p:val>
                                            <p:strVal val="#ppt_x"/>
                                          </p:val>
                                        </p:tav>
                                      </p:tavLst>
                                    </p:anim>
                                    <p:anim calcmode="lin" valueType="num">
                                      <p:cBhvr additive="base">
                                        <p:cTn id="8" dur="1000" fill="hold"/>
                                        <p:tgtEl>
                                          <p:spTgt spid="8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wipe(up)">
                                      <p:cBhvr>
                                        <p:cTn id="12" dur="10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37923" y="1048836"/>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97" name="Group 69"/>
          <p:cNvGrpSpPr/>
          <p:nvPr/>
        </p:nvGrpSpPr>
        <p:grpSpPr bwMode="auto">
          <a:xfrm>
            <a:off x="1687074" y="2380636"/>
            <a:ext cx="889765" cy="797755"/>
            <a:chOff x="1224" y="2152"/>
            <a:chExt cx="756" cy="734"/>
          </a:xfrm>
        </p:grpSpPr>
        <p:sp>
          <p:nvSpPr>
            <p:cNvPr id="98" name="Rectangle 70"/>
            <p:cNvSpPr>
              <a:spLocks noChangeArrowheads="1"/>
            </p:cNvSpPr>
            <p:nvPr/>
          </p:nvSpPr>
          <p:spPr bwMode="auto">
            <a:xfrm>
              <a:off x="1739" y="2660"/>
              <a:ext cx="188"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sp>
          <p:nvSpPr>
            <p:cNvPr id="99" name="Text Box 71"/>
            <p:cNvSpPr txBox="1">
              <a:spLocks noChangeArrowheads="1"/>
            </p:cNvSpPr>
            <p:nvPr/>
          </p:nvSpPr>
          <p:spPr bwMode="auto">
            <a:xfrm>
              <a:off x="1224" y="2152"/>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网络层首部</a:t>
              </a:r>
            </a:p>
          </p:txBody>
        </p:sp>
        <p:sp>
          <p:nvSpPr>
            <p:cNvPr id="100" name="Line 72"/>
            <p:cNvSpPr>
              <a:spLocks noChangeShapeType="1"/>
            </p:cNvSpPr>
            <p:nvPr/>
          </p:nvSpPr>
          <p:spPr bwMode="auto">
            <a:xfrm>
              <a:off x="1719" y="2379"/>
              <a:ext cx="122" cy="28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3"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4"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3" name="矩形 82"/>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7124AE0-FCF9-1C09-5684-77D00A9D6717}"/>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97"/>
                                        </p:tgtEl>
                                        <p:attrNameLst>
                                          <p:attrName>style.visibility</p:attrName>
                                        </p:attrNameLst>
                                      </p:cBhvr>
                                      <p:to>
                                        <p:strVal val="visible"/>
                                      </p:to>
                                    </p:set>
                                    <p:anim calcmode="lin" valueType="num">
                                      <p:cBhvr additive="base">
                                        <p:cTn id="7" dur="1000" fill="hold"/>
                                        <p:tgtEl>
                                          <p:spTgt spid="97"/>
                                        </p:tgtEl>
                                        <p:attrNameLst>
                                          <p:attrName>ppt_x</p:attrName>
                                        </p:attrNameLst>
                                      </p:cBhvr>
                                      <p:tavLst>
                                        <p:tav tm="0">
                                          <p:val>
                                            <p:strVal val="0-#ppt_w/2"/>
                                          </p:val>
                                        </p:tav>
                                        <p:tav tm="100000">
                                          <p:val>
                                            <p:strVal val="#ppt_x"/>
                                          </p:val>
                                        </p:tav>
                                      </p:tavLst>
                                    </p:anim>
                                    <p:anim calcmode="lin" valueType="num">
                                      <p:cBhvr additive="base">
                                        <p:cTn id="8" dur="1000" fill="hold"/>
                                        <p:tgtEl>
                                          <p:spTgt spid="97"/>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106"/>
                                        </p:tgtEl>
                                        <p:attrNameLst>
                                          <p:attrName>style.visibility</p:attrName>
                                        </p:attrNameLst>
                                      </p:cBhvr>
                                      <p:to>
                                        <p:strVal val="visible"/>
                                      </p:to>
                                    </p:set>
                                    <p:animEffect transition="in" filter="wipe(up)">
                                      <p:cBhvr>
                                        <p:cTn id="12" dur="10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109" name="Group 73"/>
          <p:cNvGrpSpPr/>
          <p:nvPr/>
        </p:nvGrpSpPr>
        <p:grpSpPr bwMode="auto">
          <a:xfrm>
            <a:off x="1695605" y="2710163"/>
            <a:ext cx="607498" cy="838412"/>
            <a:chOff x="1106" y="2477"/>
            <a:chExt cx="516" cy="771"/>
          </a:xfrm>
        </p:grpSpPr>
        <p:sp>
          <p:nvSpPr>
            <p:cNvPr id="110" name="Rectangle 74"/>
            <p:cNvSpPr>
              <a:spLocks noChangeArrowheads="1"/>
            </p:cNvSpPr>
            <p:nvPr/>
          </p:nvSpPr>
          <p:spPr bwMode="auto">
            <a:xfrm>
              <a:off x="1423" y="3022"/>
              <a:ext cx="187" cy="226"/>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1" name="Text Box 75"/>
            <p:cNvSpPr txBox="1">
              <a:spLocks noChangeArrowheads="1"/>
            </p:cNvSpPr>
            <p:nvPr/>
          </p:nvSpPr>
          <p:spPr bwMode="auto">
            <a:xfrm>
              <a:off x="1106" y="2477"/>
              <a:ext cx="516"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1422" y="2834"/>
              <a:ext cx="85" cy="203"/>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3" name="Group 77"/>
          <p:cNvGrpSpPr/>
          <p:nvPr/>
        </p:nvGrpSpPr>
        <p:grpSpPr bwMode="auto">
          <a:xfrm>
            <a:off x="3390694" y="2700859"/>
            <a:ext cx="607954" cy="847725"/>
            <a:chOff x="4135" y="2468"/>
            <a:chExt cx="517" cy="781"/>
          </a:xfrm>
        </p:grpSpPr>
        <p:sp>
          <p:nvSpPr>
            <p:cNvPr id="114" name="Rectangle 78"/>
            <p:cNvSpPr>
              <a:spLocks noChangeArrowheads="1"/>
            </p:cNvSpPr>
            <p:nvPr/>
          </p:nvSpPr>
          <p:spPr bwMode="auto">
            <a:xfrm>
              <a:off x="4191" y="3023"/>
              <a:ext cx="179" cy="226"/>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5"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6" name="Text Box 80"/>
            <p:cNvSpPr txBox="1">
              <a:spLocks noChangeArrowheads="1"/>
            </p:cNvSpPr>
            <p:nvPr/>
          </p:nvSpPr>
          <p:spPr bwMode="auto">
            <a:xfrm>
              <a:off x="4135" y="2468"/>
              <a:ext cx="517"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5"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6"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97" name="矩形 96"/>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15D0AB33-EAAE-E914-EDDF-3E846A938CA3}"/>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09"/>
                                        </p:tgtEl>
                                        <p:attrNameLst>
                                          <p:attrName>style.visibility</p:attrName>
                                        </p:attrNameLst>
                                      </p:cBhvr>
                                      <p:to>
                                        <p:strVal val="visible"/>
                                      </p:to>
                                    </p:set>
                                    <p:anim calcmode="lin" valueType="num">
                                      <p:cBhvr additive="base">
                                        <p:cTn id="7" dur="1000" fill="hold"/>
                                        <p:tgtEl>
                                          <p:spTgt spid="109"/>
                                        </p:tgtEl>
                                        <p:attrNameLst>
                                          <p:attrName>ppt_x</p:attrName>
                                        </p:attrNameLst>
                                      </p:cBhvr>
                                      <p:tavLst>
                                        <p:tav tm="0">
                                          <p:val>
                                            <p:strVal val="0-#ppt_w/2"/>
                                          </p:val>
                                        </p:tav>
                                        <p:tav tm="100000">
                                          <p:val>
                                            <p:strVal val="#ppt_x"/>
                                          </p:val>
                                        </p:tav>
                                      </p:tavLst>
                                    </p:anim>
                                    <p:anim calcmode="lin" valueType="num">
                                      <p:cBhvr additive="base">
                                        <p:cTn id="8" dur="1000" fill="hold"/>
                                        <p:tgtEl>
                                          <p:spTgt spid="109"/>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113"/>
                                        </p:tgtEl>
                                        <p:attrNameLst>
                                          <p:attrName>style.visibility</p:attrName>
                                        </p:attrNameLst>
                                      </p:cBhvr>
                                      <p:to>
                                        <p:strVal val="visible"/>
                                      </p:to>
                                    </p:set>
                                    <p:anim calcmode="lin" valueType="num">
                                      <p:cBhvr additive="base">
                                        <p:cTn id="11" dur="1000" fill="hold"/>
                                        <p:tgtEl>
                                          <p:spTgt spid="113"/>
                                        </p:tgtEl>
                                        <p:attrNameLst>
                                          <p:attrName>ppt_x</p:attrName>
                                        </p:attrNameLst>
                                      </p:cBhvr>
                                      <p:tavLst>
                                        <p:tav tm="0">
                                          <p:val>
                                            <p:strVal val="1+#ppt_w/2"/>
                                          </p:val>
                                        </p:tav>
                                        <p:tav tm="100000">
                                          <p:val>
                                            <p:strVal val="#ppt_x"/>
                                          </p:val>
                                        </p:tav>
                                      </p:tavLst>
                                    </p:anim>
                                    <p:anim calcmode="lin" valueType="num">
                                      <p:cBhvr additive="base">
                                        <p:cTn id="12" dur="1000" fill="hold"/>
                                        <p:tgtEl>
                                          <p:spTgt spid="113"/>
                                        </p:tgtEl>
                                        <p:attrNameLst>
                                          <p:attrName>ppt_y</p:attrName>
                                        </p:attrNameLst>
                                      </p:cBhvr>
                                      <p:tavLst>
                                        <p:tav tm="0">
                                          <p:val>
                                            <p:strVal val="#ppt_y"/>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wipe(up)">
                                      <p:cBhvr>
                                        <p:cTn id="16"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9" name="矩形 108"/>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FDBA8D8-9815-C04A-34B0-51EA95AB2D81}"/>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25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8D6826B-D301-BDCB-D3B4-A47C49ADBF89}"/>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0ABD0083-7219-DEA8-ACFF-8C9808C99650}"/>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10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9" name="组合 28"/>
          <p:cNvGrpSpPr/>
          <p:nvPr/>
        </p:nvGrpSpPr>
        <p:grpSpPr>
          <a:xfrm>
            <a:off x="2068815" y="3302812"/>
            <a:ext cx="1598226" cy="252136"/>
            <a:chOff x="2068815" y="3302812"/>
            <a:chExt cx="1598226" cy="252136"/>
          </a:xfrm>
        </p:grpSpPr>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19E88D37-99EA-7962-799D-0B8F1610AA41}"/>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0EADBC77-5A2B-E144-2EA5-7A42DEA9F1CB}"/>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B0B40439-C642-5AB8-12A7-F5A188EE56A2}"/>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left)">
                                      <p:cBhvr>
                                        <p:cTn id="7"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206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30871560-2C9E-3187-338D-66692AFEE6B8}"/>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1000"/>
                                        <p:tgtEl>
                                          <p:spTgt spid="31"/>
                                        </p:tgtEl>
                                      </p:cBhvr>
                                    </p:animEffect>
                                  </p:childTnLst>
                                </p:cTn>
                              </p:par>
                            </p:childTnLst>
                          </p:cTn>
                        </p:par>
                        <p:par>
                          <p:cTn id="12" fill="hold">
                            <p:stCondLst>
                              <p:cond delay="2000"/>
                            </p:stCondLst>
                            <p:childTnLst>
                              <p:par>
                                <p:cTn id="13" presetID="2" presetClass="entr" presetSubtype="8" fill="hold" nodeType="afterEffect">
                                  <p:stCondLst>
                                    <p:cond delay="0"/>
                                  </p:stCondLst>
                                  <p:childTnLst>
                                    <p:set>
                                      <p:cBhvr>
                                        <p:cTn id="14" dur="1" fill="hold">
                                          <p:stCondLst>
                                            <p:cond delay="0"/>
                                          </p:stCondLst>
                                        </p:cTn>
                                        <p:tgtEl>
                                          <p:spTgt spid="108"/>
                                        </p:tgtEl>
                                        <p:attrNameLst>
                                          <p:attrName>style.visibility</p:attrName>
                                        </p:attrNameLst>
                                      </p:cBhvr>
                                      <p:to>
                                        <p:strVal val="visible"/>
                                      </p:to>
                                    </p:set>
                                    <p:anim calcmode="lin" valueType="num">
                                      <p:cBhvr additive="base">
                                        <p:cTn id="15" dur="1000" fill="hold"/>
                                        <p:tgtEl>
                                          <p:spTgt spid="108"/>
                                        </p:tgtEl>
                                        <p:attrNameLst>
                                          <p:attrName>ppt_x</p:attrName>
                                        </p:attrNameLst>
                                      </p:cBhvr>
                                      <p:tavLst>
                                        <p:tav tm="0">
                                          <p:val>
                                            <p:strVal val="0-#ppt_w/2"/>
                                          </p:val>
                                        </p:tav>
                                        <p:tav tm="100000">
                                          <p:val>
                                            <p:strVal val="#ppt_x"/>
                                          </p:val>
                                        </p:tav>
                                      </p:tavLst>
                                    </p:anim>
                                    <p:anim calcmode="lin" valueType="num">
                                      <p:cBhvr additive="base">
                                        <p:cTn id="16" dur="1000" fill="hold"/>
                                        <p:tgtEl>
                                          <p:spTgt spid="108"/>
                                        </p:tgtEl>
                                        <p:attrNameLst>
                                          <p:attrName>ppt_y</p:attrName>
                                        </p:attrNameLst>
                                      </p:cBhvr>
                                      <p:tavLst>
                                        <p:tav tm="0">
                                          <p:val>
                                            <p:strVal val="#ppt_y"/>
                                          </p:val>
                                        </p:tav>
                                        <p:tav tm="100000">
                                          <p:val>
                                            <p:strVal val="#ppt_y"/>
                                          </p:val>
                                        </p:tav>
                                      </p:tavLst>
                                    </p:anim>
                                  </p:childTnLst>
                                </p:cTn>
                              </p:par>
                            </p:childTnLst>
                          </p:cTn>
                        </p:par>
                        <p:par>
                          <p:cTn id="17" fill="hold">
                            <p:stCondLst>
                              <p:cond delay="3000"/>
                            </p:stCondLst>
                            <p:childTnLst>
                              <p:par>
                                <p:cTn id="18" presetID="2" presetClass="entr" presetSubtype="2" fill="hold" nodeType="afterEffect">
                                  <p:stCondLst>
                                    <p:cond delay="0"/>
                                  </p:stCondLst>
                                  <p:childTnLst>
                                    <p:set>
                                      <p:cBhvr>
                                        <p:cTn id="19" dur="1" fill="hold">
                                          <p:stCondLst>
                                            <p:cond delay="0"/>
                                          </p:stCondLst>
                                        </p:cTn>
                                        <p:tgtEl>
                                          <p:spTgt spid="116"/>
                                        </p:tgtEl>
                                        <p:attrNameLst>
                                          <p:attrName>style.visibility</p:attrName>
                                        </p:attrNameLst>
                                      </p:cBhvr>
                                      <p:to>
                                        <p:strVal val="visible"/>
                                      </p:to>
                                    </p:set>
                                    <p:anim calcmode="lin" valueType="num">
                                      <p:cBhvr additive="base">
                                        <p:cTn id="20" dur="1000" fill="hold"/>
                                        <p:tgtEl>
                                          <p:spTgt spid="116"/>
                                        </p:tgtEl>
                                        <p:attrNameLst>
                                          <p:attrName>ppt_x</p:attrName>
                                        </p:attrNameLst>
                                      </p:cBhvr>
                                      <p:tavLst>
                                        <p:tav tm="0">
                                          <p:val>
                                            <p:strVal val="1+#ppt_w/2"/>
                                          </p:val>
                                        </p:tav>
                                        <p:tav tm="100000">
                                          <p:val>
                                            <p:strVal val="#ppt_x"/>
                                          </p:val>
                                        </p:tav>
                                      </p:tavLst>
                                    </p:anim>
                                    <p:anim calcmode="lin" valueType="num">
                                      <p:cBhvr additive="base">
                                        <p:cTn id="21" dur="1000" fill="hold"/>
                                        <p:tgtEl>
                                          <p:spTgt spid="1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67AAEE5E-8865-679D-DA3E-F5FFBA00950F}"/>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23"/>
                                        </p:tgtEl>
                                        <p:attrNameLst>
                                          <p:attrName>style.visibility</p:attrName>
                                        </p:attrNameLst>
                                      </p:cBhvr>
                                      <p:to>
                                        <p:strVal val="visible"/>
                                      </p:to>
                                    </p:set>
                                    <p:animEffect transition="in" filter="wipe(up)">
                                      <p:cBhvr>
                                        <p:cTn id="11"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4"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32" name="内容占位符 31">
            <a:extLst>
              <a:ext uri="{FF2B5EF4-FFF2-40B4-BE49-F238E27FC236}">
                <a16:creationId xmlns:a16="http://schemas.microsoft.com/office/drawing/2014/main" id="{2379BB7C-0DB9-EFD8-8E05-31B4242088EE}"/>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32" name="内容占位符 31">
            <a:extLst>
              <a:ext uri="{FF2B5EF4-FFF2-40B4-BE49-F238E27FC236}">
                <a16:creationId xmlns:a16="http://schemas.microsoft.com/office/drawing/2014/main" id="{F6A09588-C97D-79D4-3A82-3FC63207B22B}"/>
              </a:ext>
            </a:extLst>
          </p:cNvPr>
          <p:cNvSpPr>
            <a:spLocks noGrp="1"/>
          </p:cNvSpPr>
          <p:nvPr>
            <p:ph sz="quarter" idx="10"/>
          </p:nvPr>
        </p:nvSpPr>
        <p:spPr/>
        <p:txBody>
          <a:bodyPr/>
          <a:lstStyle/>
          <a:p>
            <a:endParaRPr lang="zh-CN" altLang="en-US"/>
          </a:p>
        </p:txBody>
      </p:sp>
      <p:sp>
        <p:nvSpPr>
          <p:cNvPr id="29" name="文本占位符 28"/>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wipe(left)">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4A5834C9-4619-042C-6F33-F512A81856A9}"/>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9F4BB12F-29C1-0815-9107-5EB01EDD9AB2}"/>
              </a:ext>
            </a:extLst>
          </p:cNvPr>
          <p:cNvSpPr>
            <a:spLocks noGrp="1"/>
          </p:cNvSpPr>
          <p:nvPr>
            <p:ph sz="quarter" idx="10"/>
          </p:nvPr>
        </p:nvSpPr>
        <p:spPr/>
        <p:txBody>
          <a:bodyPr/>
          <a:lstStyle/>
          <a:p>
            <a:endParaRPr lang="zh-CN" altLang="en-US"/>
          </a:p>
        </p:txBody>
      </p:sp>
      <p:sp>
        <p:nvSpPr>
          <p:cNvPr id="31" name="文本占位符 30"/>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wipe(down)">
                                      <p:cBhvr>
                                        <p:cTn id="11" dur="10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435E19E2-D2F5-88E3-1B3B-B6C2F13A58C8}"/>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down)">
                                      <p:cBhvr>
                                        <p:cTn id="11"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组合 31"/>
          <p:cNvGrpSpPr/>
          <p:nvPr/>
        </p:nvGrpSpPr>
        <p:grpSpPr>
          <a:xfrm>
            <a:off x="6142401" y="2209195"/>
            <a:ext cx="725819" cy="246069"/>
            <a:chOff x="6142401" y="2209195"/>
            <a:chExt cx="725819" cy="246069"/>
          </a:xfrm>
        </p:grpSpPr>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矩形 128"/>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1" name="内容占位符 40">
            <a:extLst>
              <a:ext uri="{FF2B5EF4-FFF2-40B4-BE49-F238E27FC236}">
                <a16:creationId xmlns:a16="http://schemas.microsoft.com/office/drawing/2014/main" id="{37C70D59-0A36-5C91-61A5-F6CDB6B2F345}"/>
              </a:ext>
            </a:extLst>
          </p:cNvPr>
          <p:cNvSpPr>
            <a:spLocks noGrp="1"/>
          </p:cNvSpPr>
          <p:nvPr>
            <p:ph sz="quarter" idx="10"/>
          </p:nvPr>
        </p:nvSpPr>
        <p:spPr/>
        <p:txBody>
          <a:bodyPr/>
          <a:lstStyle/>
          <a:p>
            <a:endParaRPr lang="zh-CN" altLang="en-US"/>
          </a:p>
        </p:txBody>
      </p:sp>
      <p:sp>
        <p:nvSpPr>
          <p:cNvPr id="33" name="文本占位符 32"/>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wipe(down)">
                                      <p:cBhvr>
                                        <p:cTn id="11"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1" name="组合 130"/>
          <p:cNvGrpSpPr/>
          <p:nvPr/>
        </p:nvGrpSpPr>
        <p:grpSpPr>
          <a:xfrm>
            <a:off x="6142401" y="2209195"/>
            <a:ext cx="725819" cy="246069"/>
            <a:chOff x="6142401" y="2209195"/>
            <a:chExt cx="725819" cy="246069"/>
          </a:xfrm>
        </p:grpSpPr>
        <p:grpSp>
          <p:nvGrpSpPr>
            <p:cNvPr id="132" name="组合 131"/>
            <p:cNvGrpSpPr/>
            <p:nvPr/>
          </p:nvGrpSpPr>
          <p:grpSpPr>
            <a:xfrm>
              <a:off x="6142401" y="2209195"/>
              <a:ext cx="725819" cy="246069"/>
              <a:chOff x="6142401" y="2209195"/>
              <a:chExt cx="725819" cy="246069"/>
            </a:xfrm>
          </p:grpSpPr>
          <p:sp>
            <p:nvSpPr>
              <p:cNvPr id="13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3" name="矩形 132"/>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2239D601-629C-68CF-DECA-52ACB8F8854F}"/>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par>
                          <p:cTn id="8" fill="hold">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down)">
                                      <p:cBhvr>
                                        <p:cTn id="11" dur="10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130"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1</a:t>
              </a:r>
              <a:endParaRPr kumimoji="1" lang="en-US" altLang="zh-CN" sz="1600" b="1">
                <a:solidFill>
                  <a:srgbClr val="0000FF"/>
                </a:solidFill>
                <a:latin typeface="Arial" panose="020B0604020202020204" pitchFamily="34" charset="0"/>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Arial" panose="020B0604020202020204" pitchFamily="34" charset="0"/>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chemeClr val="bg1"/>
                  </a:solidFill>
                  <a:latin typeface="Arial" panose="020B0604020202020204" pitchFamily="34" charset="0"/>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Arial" panose="020B0604020202020204" pitchFamily="34" charset="0"/>
                </a:rPr>
                <a:t>AP</a:t>
              </a:r>
              <a:r>
                <a:rPr kumimoji="1" lang="en-US" altLang="zh-CN" sz="1600" b="1" baseline="-25000">
                  <a:solidFill>
                    <a:srgbClr val="0000FF"/>
                  </a:solidFill>
                  <a:latin typeface="Arial" panose="020B0604020202020204" pitchFamily="34" charset="0"/>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nvGrpSpPr>
        <p:grpSpPr>
          <a:xfrm>
            <a:off x="2068815" y="1870804"/>
            <a:ext cx="1598226" cy="2045269"/>
            <a:chOff x="2068815" y="1870804"/>
            <a:chExt cx="1598226" cy="2045269"/>
          </a:xfrm>
        </p:grpSpPr>
        <p:sp>
          <p:nvSpPr>
            <p:cNvPr id="13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2"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3"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134" name="Group 38"/>
            <p:cNvGrpSpPr/>
            <p:nvPr/>
          </p:nvGrpSpPr>
          <p:grpSpPr bwMode="auto">
            <a:xfrm>
              <a:off x="2736195" y="2554801"/>
              <a:ext cx="723947" cy="245571"/>
              <a:chOff x="2346" y="2297"/>
              <a:chExt cx="615" cy="226"/>
            </a:xfrm>
            <a:solidFill>
              <a:srgbClr val="00B0F0"/>
            </a:solidFill>
          </p:grpSpPr>
          <p:sp>
            <p:nvSpPr>
              <p:cNvPr id="135"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6"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7"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138" name="Group 41"/>
            <p:cNvGrpSpPr/>
            <p:nvPr/>
          </p:nvGrpSpPr>
          <p:grpSpPr bwMode="auto">
            <a:xfrm>
              <a:off x="2511051" y="2932328"/>
              <a:ext cx="946569" cy="246063"/>
              <a:chOff x="2169" y="2660"/>
              <a:chExt cx="804" cy="226"/>
            </a:xfrm>
          </p:grpSpPr>
          <p:sp>
            <p:nvSpPr>
              <p:cNvPr id="14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47"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48"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49"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50" name="Group 45"/>
            <p:cNvGrpSpPr/>
            <p:nvPr/>
          </p:nvGrpSpPr>
          <p:grpSpPr bwMode="auto">
            <a:xfrm>
              <a:off x="2292670" y="3304109"/>
              <a:ext cx="1164318" cy="244475"/>
              <a:chOff x="1984" y="3023"/>
              <a:chExt cx="989" cy="226"/>
            </a:xfrm>
          </p:grpSpPr>
          <p:sp>
            <p:nvSpPr>
              <p:cNvPr id="151"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52"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53"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54"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55"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56"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57" name="矩形 156"/>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矩形 157"/>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9" name="矩形 158"/>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70" name="矩形 16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矩形 170"/>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EEE6C2AD-B798-3E53-8C0D-26194A87C3CC}"/>
              </a:ext>
            </a:extLst>
          </p:cNvPr>
          <p:cNvSpPr>
            <a:spLocks noGrp="1"/>
          </p:cNvSpPr>
          <p:nvPr>
            <p:ph sz="quarter" idx="10"/>
          </p:nvPr>
        </p:nvSpPr>
        <p:spPr/>
        <p:txBody>
          <a:bodyPr/>
          <a:lstStyle/>
          <a:p>
            <a:endParaRPr lang="zh-CN" altLang="en-US"/>
          </a:p>
        </p:txBody>
      </p:sp>
      <p:sp>
        <p:nvSpPr>
          <p:cNvPr id="32" name="文本占位符 31"/>
          <p:cNvSpPr>
            <a:spLocks noGrp="1"/>
          </p:cNvSpPr>
          <p:nvPr>
            <p:ph type="body" sz="quarter" idx="11"/>
          </p:nvPr>
        </p:nvSpPr>
        <p:spPr>
          <a:xfrm>
            <a:off x="0" y="150273"/>
            <a:ext cx="6632575" cy="338554"/>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en-US" altLang="zh-CN" dirty="0"/>
              <a:t>OSI </a:t>
            </a:r>
            <a:r>
              <a:rPr lang="zh-CN" altLang="en-US" dirty="0"/>
              <a:t>参考模型把对等层次之间传送的数据单位称为该层的协议数据单元 </a:t>
            </a:r>
            <a:r>
              <a:rPr lang="en-US" altLang="zh-CN" dirty="0"/>
              <a:t>PDU (Protocol Data Unit)</a:t>
            </a:r>
            <a:r>
              <a:rPr lang="zh-CN" altLang="en-US" dirty="0"/>
              <a:t>。</a:t>
            </a:r>
            <a:endParaRPr lang="en-US" altLang="zh-CN" dirty="0"/>
          </a:p>
          <a:p>
            <a:r>
              <a:rPr lang="zh-CN" altLang="en-US" dirty="0"/>
              <a:t>任何两个同样的层次把 </a:t>
            </a:r>
            <a:r>
              <a:rPr lang="en-US" altLang="zh-CN" dirty="0"/>
              <a:t>PDU </a:t>
            </a:r>
            <a:r>
              <a:rPr lang="zh-CN" altLang="en-US" dirty="0"/>
              <a:t>（即数据单元加上控制信息）通过水平虚线直接传递给对方。这就是所谓的“对等层”之间的通信。</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zh-CN" altLang="en-US" dirty="0"/>
              <a:t>对等层与协议数据单元</a:t>
            </a:r>
          </a:p>
        </p:txBody>
      </p:sp>
      <p:grpSp>
        <p:nvGrpSpPr>
          <p:cNvPr id="5" name="组合 4"/>
          <p:cNvGrpSpPr/>
          <p:nvPr/>
        </p:nvGrpSpPr>
        <p:grpSpPr>
          <a:xfrm>
            <a:off x="705051" y="2664562"/>
            <a:ext cx="7721653" cy="630805"/>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4034685"/>
              <a:ext cx="4389878" cy="66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各层协议实际上就是在各个</a:t>
              </a:r>
              <a:r>
                <a:rPr lang="zh-CN" altLang="en-US" sz="2000" b="1" dirty="0">
                  <a:solidFill>
                    <a:srgbClr val="FFFF00"/>
                  </a:solidFill>
                  <a:latin typeface="微软雅黑" panose="020B0503020204020204" pitchFamily="34" charset="-122"/>
                  <a:ea typeface="微软雅黑" panose="020B0503020204020204" pitchFamily="34" charset="-122"/>
                </a:rPr>
                <a:t>对等层</a:t>
              </a:r>
              <a:r>
                <a:rPr lang="zh-CN" altLang="en-US" sz="2000" b="1" dirty="0">
                  <a:solidFill>
                    <a:schemeClr val="bg1"/>
                  </a:solidFill>
                  <a:latin typeface="微软雅黑" panose="020B0503020204020204" pitchFamily="34" charset="-122"/>
                  <a:ea typeface="微软雅黑" panose="020B0503020204020204" pitchFamily="34" charset="-122"/>
                </a:rPr>
                <a:t>之间传递数据时的各项规定。</a:t>
              </a:r>
            </a:p>
          </p:txBody>
        </p:sp>
      </p:gr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10"/>
          </p:nvPr>
        </p:nvSpPr>
        <p:spPr>
          <a:xfrm>
            <a:off x="466344" y="504285"/>
            <a:ext cx="8129016" cy="4172489"/>
          </a:xfrm>
        </p:spPr>
        <p:txBody>
          <a:bodyPr/>
          <a:lstStyle/>
          <a:p>
            <a:r>
              <a:rPr lang="zh-CN" altLang="en-US" dirty="0"/>
              <a:t>实体 </a:t>
            </a:r>
            <a:r>
              <a:rPr lang="en-US" altLang="zh-CN" dirty="0"/>
              <a:t>(entity) </a:t>
            </a:r>
            <a:r>
              <a:rPr lang="zh-CN" altLang="en-US" dirty="0"/>
              <a:t>：表示任何可发送或接收信息的硬件或软件进程。 </a:t>
            </a:r>
          </a:p>
          <a:p>
            <a:r>
              <a:rPr lang="zh-CN" altLang="en-US" dirty="0"/>
              <a:t>协议：控制两个对等实体进行通信的规则的集合。 </a:t>
            </a:r>
          </a:p>
          <a:p>
            <a:r>
              <a:rPr lang="zh-CN" altLang="en-US" dirty="0"/>
              <a:t>在协议的控制下，两个对等实体间的通信使得本层能够向上一层提供服务。</a:t>
            </a:r>
          </a:p>
          <a:p>
            <a:r>
              <a:rPr lang="zh-CN" altLang="en-US" dirty="0"/>
              <a:t>要实现本层协议，还需要使用下层所提供的服务。</a:t>
            </a:r>
          </a:p>
        </p:txBody>
      </p:sp>
      <p:sp>
        <p:nvSpPr>
          <p:cNvPr id="4" name="文本占位符 3"/>
          <p:cNvSpPr>
            <a:spLocks noGrp="1"/>
          </p:cNvSpPr>
          <p:nvPr>
            <p:ph type="body" sz="quarter" idx="11"/>
          </p:nvPr>
        </p:nvSpPr>
        <p:spPr>
          <a:xfrm>
            <a:off x="0" y="150273"/>
            <a:ext cx="6632575" cy="338554"/>
          </a:xfrm>
        </p:spPr>
        <p:txBody>
          <a:bodyPr/>
          <a:lstStyle/>
          <a:p>
            <a:r>
              <a:rPr lang="en-US" altLang="zh-CN" dirty="0"/>
              <a:t>1.7.4  </a:t>
            </a:r>
            <a:r>
              <a:rPr lang="zh-CN" altLang="zh-CN" dirty="0"/>
              <a:t>实体、协议、服务和服务访问点</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10"/>
            <p:extLst>
              <p:ext uri="{D42A27DB-BD31-4B8C-83A1-F6EECF244321}">
                <p14:modId xmlns:p14="http://schemas.microsoft.com/office/powerpoint/2010/main" val="2272433833"/>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11"/>
          </p:nvPr>
        </p:nvSpPr>
        <p:spPr>
          <a:xfrm>
            <a:off x="0" y="150273"/>
            <a:ext cx="6632575" cy="338554"/>
          </a:xfrm>
        </p:spPr>
        <p:txBody>
          <a:bodyPr/>
          <a:lstStyle/>
          <a:p>
            <a:r>
              <a:rPr lang="zh-CN" altLang="en-US" dirty="0"/>
              <a:t>注意：协议和服务在概念上是不一样的</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10"/>
          </p:nvPr>
        </p:nvSpPr>
        <p:spPr>
          <a:xfrm>
            <a:off x="466344" y="504285"/>
            <a:ext cx="8129016" cy="4172489"/>
          </a:xfrm>
        </p:spPr>
        <p:txBody>
          <a:bodyPr/>
          <a:lstStyle/>
          <a:p>
            <a:r>
              <a:rPr lang="zh-CN" altLang="en-US" dirty="0"/>
              <a:t>在同一系统中相邻两层的实体进行交互（即交换信息）</a:t>
            </a:r>
            <a:r>
              <a:rPr lang="en-US" altLang="zh-CN" dirty="0"/>
              <a:t> </a:t>
            </a:r>
            <a:r>
              <a:rPr lang="zh-CN" altLang="en-US" dirty="0"/>
              <a:t>的地方，通常称为服务访问点 </a:t>
            </a:r>
            <a:r>
              <a:rPr lang="en-US" altLang="zh-CN" dirty="0"/>
              <a:t>SAP (Service Access Point)</a:t>
            </a:r>
            <a:r>
              <a:rPr lang="zh-CN" altLang="en-US" dirty="0"/>
              <a:t>。</a:t>
            </a:r>
            <a:endParaRPr lang="en-US" altLang="zh-CN" dirty="0"/>
          </a:p>
          <a:p>
            <a:r>
              <a:rPr lang="en-US" altLang="zh-CN" dirty="0"/>
              <a:t>SAP </a:t>
            </a:r>
            <a:r>
              <a:rPr lang="zh-CN" altLang="en-US" dirty="0"/>
              <a:t>是一个抽象的概念，它实际上就是一个逻辑接口。</a:t>
            </a:r>
            <a:endParaRPr lang="en-US" altLang="zh-CN" dirty="0"/>
          </a:p>
          <a:p>
            <a:r>
              <a:rPr lang="en-US" altLang="zh-CN" dirty="0"/>
              <a:t>OSI </a:t>
            </a:r>
            <a:r>
              <a:rPr lang="zh-CN" altLang="en-US" dirty="0"/>
              <a:t>把层与层之间交换的数据的单位称为服务数据单元 </a:t>
            </a:r>
            <a:r>
              <a:rPr lang="en-US" altLang="zh-CN" dirty="0"/>
              <a:t>SDU (Service Data Unit)</a:t>
            </a:r>
            <a:r>
              <a:rPr lang="zh-CN" altLang="en-US" dirty="0"/>
              <a:t>。</a:t>
            </a:r>
          </a:p>
          <a:p>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例如：可以是多个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r>
              <a:rPr lang="zh-CN" altLang="en-US" dirty="0"/>
              <a:t>。</a:t>
            </a:r>
          </a:p>
          <a:p>
            <a:endParaRPr lang="zh-CN" altLang="en-US" dirty="0"/>
          </a:p>
        </p:txBody>
      </p:sp>
      <p:sp>
        <p:nvSpPr>
          <p:cNvPr id="3" name="文本占位符 2"/>
          <p:cNvSpPr>
            <a:spLocks noGrp="1"/>
          </p:cNvSpPr>
          <p:nvPr>
            <p:ph type="body" sz="quarter" idx="11"/>
          </p:nvPr>
        </p:nvSpPr>
        <p:spPr>
          <a:xfrm>
            <a:off x="0" y="150273"/>
            <a:ext cx="6632575" cy="338554"/>
          </a:xfrm>
        </p:spPr>
        <p:txBody>
          <a:bodyPr/>
          <a:lstStyle/>
          <a:p>
            <a:r>
              <a:rPr lang="zh-CN" altLang="en-US" dirty="0"/>
              <a:t>服务访问点 </a:t>
            </a:r>
            <a:r>
              <a:rPr lang="en-US" altLang="zh-CN" dirty="0"/>
              <a:t>SAP</a:t>
            </a:r>
            <a:endParaRPr lang="zh-CN" altLang="en-US" dirty="0"/>
          </a:p>
        </p:txBody>
      </p:sp>
    </p:spTree>
    <p:extLst>
      <p:ext uri="{BB962C8B-B14F-4D97-AF65-F5344CB8AC3E}">
        <p14:creationId xmlns:p14="http://schemas.microsoft.com/office/powerpoint/2010/main" val="30981003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96168" y="1123226"/>
            <a:ext cx="8053712" cy="3200121"/>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Rectangle 63"/>
          <p:cNvSpPr>
            <a:spLocks noChangeArrowheads="1"/>
          </p:cNvSpPr>
          <p:nvPr/>
        </p:nvSpPr>
        <p:spPr bwMode="auto">
          <a:xfrm>
            <a:off x="874295" y="2674019"/>
            <a:ext cx="7259052" cy="1245882"/>
          </a:xfrm>
          <a:prstGeom prst="rect">
            <a:avLst/>
          </a:prstGeom>
          <a:solidFill>
            <a:schemeClr val="bg1"/>
          </a:solidFill>
          <a:ln w="9525">
            <a:solidFill>
              <a:srgbClr val="000066"/>
            </a:solidFill>
            <a:prstDash val="dash"/>
            <a:round/>
          </a:ln>
          <a:effectLst>
            <a:glow rad="63500">
              <a:schemeClr val="accent1">
                <a:satMod val="175000"/>
                <a:alpha val="40000"/>
              </a:schemeClr>
            </a:glow>
          </a:effectLst>
          <a:scene3d>
            <a:camera prst="orthographicFront">
              <a:rot lat="0" lon="0" rev="0"/>
            </a:camera>
            <a:lightRig rig="contrasting" dir="t">
              <a:rot lat="0" lon="0" rev="7800000"/>
            </a:lightRig>
          </a:scene3d>
          <a:sp3d>
            <a:bevelT w="139700" h="139700"/>
          </a:sp3d>
        </p:spPr>
        <p:txBody>
          <a:bodyPr wrap="none" anchor="ctr"/>
          <a:lstStyle/>
          <a:p>
            <a:pPr fontAlgn="auto">
              <a:spcBef>
                <a:spcPts val="0"/>
              </a:spcBef>
              <a:spcAft>
                <a:spcPts val="0"/>
              </a:spcAft>
              <a:defRPr/>
            </a:pPr>
            <a:endParaRPr lang="zh-CN" altLang="en-US" sz="1400" b="1" dirty="0">
              <a:solidFill>
                <a:srgbClr val="368AD6"/>
              </a:solidFill>
              <a:latin typeface="+mn-lt"/>
              <a:ea typeface="黑体" panose="02010609060101010101" pitchFamily="49"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4" name="内容占位符 33">
            <a:extLst>
              <a:ext uri="{FF2B5EF4-FFF2-40B4-BE49-F238E27FC236}">
                <a16:creationId xmlns:a16="http://schemas.microsoft.com/office/drawing/2014/main" id="{C4C0F37E-68AF-CFBB-E813-212E4251E633}"/>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5" name="内容占位符 24">
            <a:extLst>
              <a:ext uri="{FF2B5EF4-FFF2-40B4-BE49-F238E27FC236}">
                <a16:creationId xmlns:a16="http://schemas.microsoft.com/office/drawing/2014/main" id="{7CDB1C71-203F-C4A7-7BF6-305D083164F3}"/>
              </a:ext>
            </a:extLst>
          </p:cNvPr>
          <p:cNvSpPr>
            <a:spLocks noGrp="1"/>
          </p:cNvSpPr>
          <p:nvPr>
            <p:ph sz="quarter" idx="10"/>
          </p:nvPr>
        </p:nvSpPr>
        <p:spPr/>
        <p:txBody>
          <a:bodyPr/>
          <a:lstStyle/>
          <a:p>
            <a:endParaRPr lang="zh-CN" altLang="en-US"/>
          </a:p>
        </p:txBody>
      </p:sp>
      <p:sp>
        <p:nvSpPr>
          <p:cNvPr id="23" name="文本占位符 22"/>
          <p:cNvSpPr>
            <a:spLocks noGrp="1"/>
          </p:cNvSpPr>
          <p:nvPr>
            <p:ph type="body" sz="quarter" idx="11"/>
          </p:nvPr>
        </p:nvSpPr>
        <p:spPr>
          <a:xfrm>
            <a:off x="0" y="150273"/>
            <a:ext cx="6632575" cy="338554"/>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内容占位符 19">
            <a:extLst>
              <a:ext uri="{FF2B5EF4-FFF2-40B4-BE49-F238E27FC236}">
                <a16:creationId xmlns:a16="http://schemas.microsoft.com/office/drawing/2014/main" id="{28BFEAA5-5D22-EC1A-6897-934BF3172F58}"/>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en-US" altLang="zh-CN" dirty="0"/>
              <a:t>1.7.5  TCP/IP </a:t>
            </a:r>
            <a:r>
              <a:rPr lang="zh-CN" altLang="zh-CN" dirty="0"/>
              <a:t>的体系结构</a:t>
            </a:r>
            <a:endParaRPr lang="zh-CN" altLang="en-US" dirty="0"/>
          </a:p>
        </p:txBody>
      </p:sp>
      <p:sp>
        <p:nvSpPr>
          <p:cNvPr id="4" name="圆角矩形 3"/>
          <p:cNvSpPr/>
          <p:nvPr/>
        </p:nvSpPr>
        <p:spPr>
          <a:xfrm>
            <a:off x="505072" y="1775699"/>
            <a:ext cx="7658625" cy="28916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AutoShape 5"/>
          <p:cNvSpPr>
            <a:spLocks noChangeArrowheads="1"/>
          </p:cNvSpPr>
          <p:nvPr/>
        </p:nvSpPr>
        <p:spPr bwMode="auto">
          <a:xfrm>
            <a:off x="1060238" y="1988837"/>
            <a:ext cx="1325562" cy="1749425"/>
          </a:xfrm>
          <a:prstGeom prst="cube">
            <a:avLst>
              <a:gd name="adj" fmla="val 25301"/>
            </a:avLst>
          </a:prstGeom>
          <a:solidFill>
            <a:srgbClr val="0098F6"/>
          </a:solidFill>
          <a:ln w="1270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8" name="Freeform 6"/>
          <p:cNvSpPr/>
          <p:nvPr/>
        </p:nvSpPr>
        <p:spPr bwMode="auto">
          <a:xfrm>
            <a:off x="1058650" y="2288875"/>
            <a:ext cx="1323975" cy="282575"/>
          </a:xfrm>
          <a:custGeom>
            <a:avLst/>
            <a:gdLst>
              <a:gd name="T0" fmla="*/ 1323868 w 1000"/>
              <a:gd name="T1" fmla="*/ 0 h 230"/>
              <a:gd name="T2" fmla="*/ 1019378 w 1000"/>
              <a:gd name="T3" fmla="*/ 276179 h 230"/>
              <a:gd name="T4" fmla="*/ 0 w 1000"/>
              <a:gd name="T5" fmla="*/ 281067 h 230"/>
              <a:gd name="T6" fmla="*/ 0 60000 65536"/>
              <a:gd name="T7" fmla="*/ 0 60000 65536"/>
              <a:gd name="T8" fmla="*/ 0 60000 65536"/>
            </a:gdLst>
            <a:ahLst/>
            <a:cxnLst>
              <a:cxn ang="T6">
                <a:pos x="T0" y="T1"/>
              </a:cxn>
              <a:cxn ang="T7">
                <a:pos x="T2" y="T3"/>
              </a:cxn>
              <a:cxn ang="T8">
                <a:pos x="T4" y="T5"/>
              </a:cxn>
            </a:cxnLst>
            <a:rect l="0" t="0" r="r" b="b"/>
            <a:pathLst>
              <a:path w="1000" h="230">
                <a:moveTo>
                  <a:pt x="1000"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Text Box 7"/>
          <p:cNvSpPr txBox="1">
            <a:spLocks noChangeArrowheads="1"/>
          </p:cNvSpPr>
          <p:nvPr/>
        </p:nvSpPr>
        <p:spPr bwMode="auto">
          <a:xfrm>
            <a:off x="1234863" y="2253950"/>
            <a:ext cx="723900" cy="148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10" name="Freeform 8"/>
          <p:cNvSpPr/>
          <p:nvPr/>
        </p:nvSpPr>
        <p:spPr bwMode="auto">
          <a:xfrm>
            <a:off x="1055475" y="2590500"/>
            <a:ext cx="1327150" cy="298450"/>
          </a:xfrm>
          <a:custGeom>
            <a:avLst/>
            <a:gdLst>
              <a:gd name="T0" fmla="*/ 1326515 w 1002"/>
              <a:gd name="T1" fmla="*/ 0 h 244"/>
              <a:gd name="T2" fmla="*/ 1019378 w 1002"/>
              <a:gd name="T3" fmla="*/ 293288 h 244"/>
              <a:gd name="T4" fmla="*/ 0 w 1002"/>
              <a:gd name="T5" fmla="*/ 298176 h 244"/>
              <a:gd name="T6" fmla="*/ 0 60000 65536"/>
              <a:gd name="T7" fmla="*/ 0 60000 65536"/>
              <a:gd name="T8" fmla="*/ 0 60000 65536"/>
            </a:gdLst>
            <a:ahLst/>
            <a:cxnLst>
              <a:cxn ang="T6">
                <a:pos x="T0" y="T1"/>
              </a:cxn>
              <a:cxn ang="T7">
                <a:pos x="T2" y="T3"/>
              </a:cxn>
              <a:cxn ang="T8">
                <a:pos x="T4" y="T5"/>
              </a:cxn>
            </a:cxnLst>
            <a:rect l="0" t="0" r="r" b="b"/>
            <a:pathLst>
              <a:path w="1002" h="244">
                <a:moveTo>
                  <a:pt x="1002" y="0"/>
                </a:moveTo>
                <a:lnTo>
                  <a:pt x="770" y="240"/>
                </a:lnTo>
                <a:lnTo>
                  <a:pt x="0" y="244"/>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Freeform 9"/>
          <p:cNvSpPr/>
          <p:nvPr/>
        </p:nvSpPr>
        <p:spPr bwMode="auto">
          <a:xfrm>
            <a:off x="1055475" y="2890537"/>
            <a:ext cx="1327150" cy="315913"/>
          </a:xfrm>
          <a:custGeom>
            <a:avLst/>
            <a:gdLst>
              <a:gd name="T0" fmla="*/ 1326515 w 1002"/>
              <a:gd name="T1" fmla="*/ 0 h 258"/>
              <a:gd name="T2" fmla="*/ 1019378 w 1002"/>
              <a:gd name="T3" fmla="*/ 310396 h 258"/>
              <a:gd name="T4" fmla="*/ 0 w 1002"/>
              <a:gd name="T5" fmla="*/ 315284 h 258"/>
              <a:gd name="T6" fmla="*/ 0 60000 65536"/>
              <a:gd name="T7" fmla="*/ 0 60000 65536"/>
              <a:gd name="T8" fmla="*/ 0 60000 65536"/>
            </a:gdLst>
            <a:ahLst/>
            <a:cxnLst>
              <a:cxn ang="T6">
                <a:pos x="T0" y="T1"/>
              </a:cxn>
              <a:cxn ang="T7">
                <a:pos x="T2" y="T3"/>
              </a:cxn>
              <a:cxn ang="T8">
                <a:pos x="T4" y="T5"/>
              </a:cxn>
            </a:cxnLst>
            <a:rect l="0" t="0" r="r" b="b"/>
            <a:pathLst>
              <a:path w="1002" h="258">
                <a:moveTo>
                  <a:pt x="1002" y="0"/>
                </a:moveTo>
                <a:lnTo>
                  <a:pt x="770" y="254"/>
                </a:lnTo>
                <a:lnTo>
                  <a:pt x="0" y="25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AutoShape 10"/>
          <p:cNvSpPr>
            <a:spLocks noChangeArrowheads="1"/>
          </p:cNvSpPr>
          <p:nvPr/>
        </p:nvSpPr>
        <p:spPr bwMode="auto">
          <a:xfrm>
            <a:off x="6507246" y="1988837"/>
            <a:ext cx="1325562" cy="1749425"/>
          </a:xfrm>
          <a:prstGeom prst="cube">
            <a:avLst>
              <a:gd name="adj" fmla="val 25301"/>
            </a:avLst>
          </a:prstGeom>
          <a:solidFill>
            <a:srgbClr val="0098F6"/>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3" name="Freeform 11"/>
          <p:cNvSpPr/>
          <p:nvPr/>
        </p:nvSpPr>
        <p:spPr bwMode="auto">
          <a:xfrm>
            <a:off x="6505658" y="2288875"/>
            <a:ext cx="1331913" cy="282575"/>
          </a:xfrm>
          <a:custGeom>
            <a:avLst/>
            <a:gdLst>
              <a:gd name="T0" fmla="*/ 1331810 w 1006"/>
              <a:gd name="T1" fmla="*/ 0 h 230"/>
              <a:gd name="T2" fmla="*/ 1019377 w 1006"/>
              <a:gd name="T3" fmla="*/ 276179 h 230"/>
              <a:gd name="T4" fmla="*/ 0 w 1006"/>
              <a:gd name="T5" fmla="*/ 281067 h 230"/>
              <a:gd name="T6" fmla="*/ 0 60000 65536"/>
              <a:gd name="T7" fmla="*/ 0 60000 65536"/>
              <a:gd name="T8" fmla="*/ 0 60000 65536"/>
            </a:gdLst>
            <a:ahLst/>
            <a:cxnLst>
              <a:cxn ang="T6">
                <a:pos x="T0" y="T1"/>
              </a:cxn>
              <a:cxn ang="T7">
                <a:pos x="T2" y="T3"/>
              </a:cxn>
              <a:cxn ang="T8">
                <a:pos x="T4" y="T5"/>
              </a:cxn>
            </a:cxnLst>
            <a:rect l="0" t="0" r="r" b="b"/>
            <a:pathLst>
              <a:path w="1006" h="230">
                <a:moveTo>
                  <a:pt x="1006"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 name="Freeform 12"/>
          <p:cNvSpPr/>
          <p:nvPr/>
        </p:nvSpPr>
        <p:spPr bwMode="auto">
          <a:xfrm>
            <a:off x="6502483" y="2596850"/>
            <a:ext cx="1319213" cy="292100"/>
          </a:xfrm>
          <a:custGeom>
            <a:avLst/>
            <a:gdLst>
              <a:gd name="T0" fmla="*/ 1318572 w 996"/>
              <a:gd name="T1" fmla="*/ 0 h 238"/>
              <a:gd name="T2" fmla="*/ 1019378 w 996"/>
              <a:gd name="T3" fmla="*/ 285955 h 238"/>
              <a:gd name="T4" fmla="*/ 0 w 996"/>
              <a:gd name="T5" fmla="*/ 290843 h 238"/>
              <a:gd name="T6" fmla="*/ 0 60000 65536"/>
              <a:gd name="T7" fmla="*/ 0 60000 65536"/>
              <a:gd name="T8" fmla="*/ 0 60000 65536"/>
            </a:gdLst>
            <a:ahLst/>
            <a:cxnLst>
              <a:cxn ang="T6">
                <a:pos x="T0" y="T1"/>
              </a:cxn>
              <a:cxn ang="T7">
                <a:pos x="T2" y="T3"/>
              </a:cxn>
              <a:cxn ang="T8">
                <a:pos x="T4" y="T5"/>
              </a:cxn>
            </a:cxnLst>
            <a:rect l="0" t="0" r="r" b="b"/>
            <a:pathLst>
              <a:path w="996" h="238">
                <a:moveTo>
                  <a:pt x="996" y="0"/>
                </a:moveTo>
                <a:lnTo>
                  <a:pt x="770" y="234"/>
                </a:lnTo>
                <a:lnTo>
                  <a:pt x="0" y="23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Freeform 13"/>
          <p:cNvSpPr/>
          <p:nvPr/>
        </p:nvSpPr>
        <p:spPr bwMode="auto">
          <a:xfrm>
            <a:off x="6502483" y="2904825"/>
            <a:ext cx="1319213" cy="301625"/>
          </a:xfrm>
          <a:custGeom>
            <a:avLst/>
            <a:gdLst>
              <a:gd name="T0" fmla="*/ 1318572 w 996"/>
              <a:gd name="T1" fmla="*/ 0 h 246"/>
              <a:gd name="T2" fmla="*/ 1019378 w 996"/>
              <a:gd name="T3" fmla="*/ 295732 h 246"/>
              <a:gd name="T4" fmla="*/ 0 w 996"/>
              <a:gd name="T5" fmla="*/ 300620 h 246"/>
              <a:gd name="T6" fmla="*/ 0 60000 65536"/>
              <a:gd name="T7" fmla="*/ 0 60000 65536"/>
              <a:gd name="T8" fmla="*/ 0 60000 65536"/>
            </a:gdLst>
            <a:ahLst/>
            <a:cxnLst>
              <a:cxn ang="T6">
                <a:pos x="T0" y="T1"/>
              </a:cxn>
              <a:cxn ang="T7">
                <a:pos x="T2" y="T3"/>
              </a:cxn>
              <a:cxn ang="T8">
                <a:pos x="T4" y="T5"/>
              </a:cxn>
            </a:cxnLst>
            <a:rect l="0" t="0" r="r" b="b"/>
            <a:pathLst>
              <a:path w="996" h="246">
                <a:moveTo>
                  <a:pt x="996" y="0"/>
                </a:moveTo>
                <a:lnTo>
                  <a:pt x="770" y="242"/>
                </a:lnTo>
                <a:lnTo>
                  <a:pt x="0" y="246"/>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AutoShape 14"/>
          <p:cNvSpPr>
            <a:spLocks noChangeArrowheads="1"/>
          </p:cNvSpPr>
          <p:nvPr/>
        </p:nvSpPr>
        <p:spPr bwMode="auto">
          <a:xfrm>
            <a:off x="3795713" y="2628600"/>
            <a:ext cx="1316120" cy="1114425"/>
          </a:xfrm>
          <a:prstGeom prst="cube">
            <a:avLst>
              <a:gd name="adj" fmla="val 25301"/>
            </a:avLst>
          </a:prstGeom>
          <a:solidFill>
            <a:srgbClr val="00CC00"/>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7" name="Freeform 15"/>
          <p:cNvSpPr/>
          <p:nvPr/>
        </p:nvSpPr>
        <p:spPr bwMode="auto">
          <a:xfrm>
            <a:off x="3790950" y="2927050"/>
            <a:ext cx="1328738" cy="282575"/>
          </a:xfrm>
          <a:custGeom>
            <a:avLst/>
            <a:gdLst>
              <a:gd name="T0" fmla="*/ 1327839 w 1003"/>
              <a:gd name="T1" fmla="*/ 0 h 231"/>
              <a:gd name="T2" fmla="*/ 1019378 w 1003"/>
              <a:gd name="T3" fmla="*/ 277402 h 231"/>
              <a:gd name="T4" fmla="*/ 0 w 1003"/>
              <a:gd name="T5" fmla="*/ 282290 h 231"/>
              <a:gd name="T6" fmla="*/ 0 60000 65536"/>
              <a:gd name="T7" fmla="*/ 0 60000 65536"/>
              <a:gd name="T8" fmla="*/ 0 60000 65536"/>
            </a:gdLst>
            <a:ahLst/>
            <a:cxnLst>
              <a:cxn ang="T6">
                <a:pos x="T0" y="T1"/>
              </a:cxn>
              <a:cxn ang="T7">
                <a:pos x="T2" y="T3"/>
              </a:cxn>
              <a:cxn ang="T8">
                <a:pos x="T4" y="T5"/>
              </a:cxn>
            </a:cxnLst>
            <a:rect l="0" t="0" r="r" b="b"/>
            <a:pathLst>
              <a:path w="1003" h="231">
                <a:moveTo>
                  <a:pt x="1003" y="0"/>
                </a:moveTo>
                <a:lnTo>
                  <a:pt x="770" y="227"/>
                </a:lnTo>
                <a:lnTo>
                  <a:pt x="0" y="231"/>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Text Box 16"/>
          <p:cNvSpPr txBox="1">
            <a:spLocks noChangeArrowheads="1"/>
          </p:cNvSpPr>
          <p:nvPr/>
        </p:nvSpPr>
        <p:spPr bwMode="auto">
          <a:xfrm>
            <a:off x="481275" y="1199983"/>
            <a:ext cx="679450"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99"/>
                </a:solidFill>
                <a:latin typeface="微软雅黑" panose="020B0503020204020204" pitchFamily="34" charset="-122"/>
                <a:ea typeface="微软雅黑" panose="020B0503020204020204" pitchFamily="34" charset="-122"/>
              </a:rPr>
              <a:t>主机</a:t>
            </a:r>
            <a:r>
              <a:rPr kumimoji="1" lang="en-US" altLang="zh-CN" sz="1400" b="1" dirty="0">
                <a:solidFill>
                  <a:srgbClr val="000099"/>
                </a:solidFill>
                <a:latin typeface="微软雅黑" panose="020B0503020204020204" pitchFamily="34" charset="-122"/>
                <a:ea typeface="微软雅黑" panose="020B0503020204020204" pitchFamily="34" charset="-122"/>
              </a:rPr>
              <a:t>A</a:t>
            </a:r>
          </a:p>
        </p:txBody>
      </p:sp>
      <p:sp>
        <p:nvSpPr>
          <p:cNvPr id="21" name="Text Box 19"/>
          <p:cNvSpPr txBox="1">
            <a:spLocks noChangeArrowheads="1"/>
          </p:cNvSpPr>
          <p:nvPr/>
        </p:nvSpPr>
        <p:spPr bwMode="auto">
          <a:xfrm>
            <a:off x="5327310" y="3825189"/>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latin typeface="微软雅黑" panose="020B0503020204020204" pitchFamily="34" charset="-122"/>
                <a:ea typeface="微软雅黑" panose="020B0503020204020204" pitchFamily="34" charset="-122"/>
              </a:rPr>
              <a:t>网络 </a:t>
            </a:r>
            <a:r>
              <a:rPr kumimoji="1" lang="en-US" altLang="zh-CN" sz="1400" b="1">
                <a:latin typeface="微软雅黑" panose="020B0503020204020204" pitchFamily="34" charset="-122"/>
                <a:ea typeface="微软雅黑" panose="020B0503020204020204" pitchFamily="34" charset="-122"/>
              </a:rPr>
              <a:t>2</a:t>
            </a:r>
          </a:p>
        </p:txBody>
      </p:sp>
      <p:sp>
        <p:nvSpPr>
          <p:cNvPr id="22" name="Text Box 20"/>
          <p:cNvSpPr txBox="1">
            <a:spLocks noChangeArrowheads="1"/>
          </p:cNvSpPr>
          <p:nvPr/>
        </p:nvSpPr>
        <p:spPr bwMode="auto">
          <a:xfrm>
            <a:off x="2698149" y="3853980"/>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网络 </a:t>
            </a:r>
            <a:r>
              <a:rPr kumimoji="1" lang="en-US" altLang="zh-CN" sz="1400" b="1" dirty="0">
                <a:latin typeface="微软雅黑" panose="020B0503020204020204" pitchFamily="34" charset="-122"/>
                <a:ea typeface="微软雅黑" panose="020B0503020204020204" pitchFamily="34" charset="-122"/>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7" name="Text Box 25"/>
          <p:cNvSpPr txBox="1">
            <a:spLocks noChangeArrowheads="1"/>
          </p:cNvSpPr>
          <p:nvPr/>
        </p:nvSpPr>
        <p:spPr bwMode="auto">
          <a:xfrm>
            <a:off x="6659646" y="2253950"/>
            <a:ext cx="723900" cy="1458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dirty="0">
                <a:solidFill>
                  <a:schemeClr val="bg1"/>
                </a:solidFill>
                <a:latin typeface="微软雅黑" panose="020B0503020204020204" pitchFamily="34" charset="-122"/>
                <a:ea typeface="微软雅黑" panose="020B0503020204020204" pitchFamily="34" charset="-122"/>
              </a:rPr>
              <a:t>接口层</a:t>
            </a:r>
          </a:p>
        </p:txBody>
      </p:sp>
      <p:sp>
        <p:nvSpPr>
          <p:cNvPr id="28" name="Text Box 26"/>
          <p:cNvSpPr txBox="1">
            <a:spLocks noChangeArrowheads="1"/>
          </p:cNvSpPr>
          <p:nvPr/>
        </p:nvSpPr>
        <p:spPr bwMode="auto">
          <a:xfrm>
            <a:off x="3935413" y="2869900"/>
            <a:ext cx="723900" cy="846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29" name="Text Box 27"/>
          <p:cNvSpPr txBox="1">
            <a:spLocks noChangeArrowheads="1"/>
          </p:cNvSpPr>
          <p:nvPr/>
        </p:nvSpPr>
        <p:spPr bwMode="auto">
          <a:xfrm>
            <a:off x="684000" y="2233312"/>
            <a:ext cx="311150" cy="1433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4</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3</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2</a:t>
            </a:r>
          </a:p>
          <a:p>
            <a:pPr algn="ctr">
              <a:lnSpc>
                <a:spcPct val="155000"/>
              </a:lnSpc>
            </a:pPr>
            <a:r>
              <a:rPr kumimoji="1" lang="en-US" altLang="zh-CN" sz="1600" b="1">
                <a:solidFill>
                  <a:srgbClr val="000099"/>
                </a:solidFill>
                <a:latin typeface="微软雅黑" panose="020B0503020204020204" pitchFamily="34" charset="-122"/>
                <a:ea typeface="微软雅黑" panose="020B0503020204020204" pitchFamily="34" charset="-122"/>
              </a:rPr>
              <a:t>1</a:t>
            </a:r>
          </a:p>
        </p:txBody>
      </p:sp>
      <p:sp>
        <p:nvSpPr>
          <p:cNvPr id="30" name="矩形 30"/>
          <p:cNvSpPr>
            <a:spLocks noChangeArrowheads="1"/>
          </p:cNvSpPr>
          <p:nvPr/>
        </p:nvSpPr>
        <p:spPr bwMode="auto">
          <a:xfrm>
            <a:off x="3168612"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 </a:t>
            </a:r>
          </a:p>
        </p:txBody>
      </p:sp>
      <p:sp>
        <p:nvSpPr>
          <p:cNvPr id="32" name="Text Box 29"/>
          <p:cNvSpPr txBox="1">
            <a:spLocks noChangeArrowheads="1"/>
          </p:cNvSpPr>
          <p:nvPr/>
        </p:nvSpPr>
        <p:spPr bwMode="auto">
          <a:xfrm>
            <a:off x="1419936" y="1075100"/>
            <a:ext cx="65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A</a:t>
            </a:r>
          </a:p>
        </p:txBody>
      </p:sp>
      <p:sp>
        <p:nvSpPr>
          <p:cNvPr id="33" name="Text Box 29"/>
          <p:cNvSpPr txBox="1">
            <a:spLocks noChangeArrowheads="1"/>
          </p:cNvSpPr>
          <p:nvPr/>
        </p:nvSpPr>
        <p:spPr bwMode="auto">
          <a:xfrm>
            <a:off x="6900196" y="1075100"/>
            <a:ext cx="6447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路由器</a:t>
            </a:r>
            <a:endParaRPr kumimoji="1" lang="en-US" altLang="zh-CN" sz="1200" b="1" dirty="0">
              <a:solidFill>
                <a:srgbClr val="C00000"/>
              </a:solidFill>
              <a:latin typeface="微软雅黑" panose="020B0503020204020204" pitchFamily="34" charset="-122"/>
              <a:ea typeface="微软雅黑" panose="020B0503020204020204" pitchFamily="34" charset="-122"/>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49" name="文本框 48"/>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1</a:t>
              </a:r>
              <a:endParaRPr lang="zh-CN" altLang="en-US" sz="1200" b="1" dirty="0">
                <a:latin typeface="微软雅黑" panose="020B0503020204020204" pitchFamily="34" charset="-122"/>
                <a:ea typeface="微软雅黑" panose="020B0503020204020204" pitchFamily="34" charset="-122"/>
              </a:endParaRPr>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a:solidFill>
                    <a:srgbClr val="368AD6"/>
                  </a:solidFill>
                  <a:latin typeface="+mn-lt"/>
                  <a:ea typeface="黑体" panose="02010609060101010101" pitchFamily="2"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黑体" panose="02010609060101010101" pitchFamily="2" charset="-122"/>
                </a:endParaRPr>
              </a:p>
            </p:txBody>
          </p:sp>
        </p:grpSp>
        <p:sp>
          <p:nvSpPr>
            <p:cNvPr id="53" name="文本框 52"/>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2</a:t>
              </a:r>
              <a:endParaRPr lang="zh-CN" altLang="en-US" sz="12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10"/>
          </p:nvPr>
        </p:nvSpPr>
        <p:spPr>
          <a:xfrm>
            <a:off x="466344" y="504285"/>
            <a:ext cx="8129016" cy="4172489"/>
          </a:xfrm>
        </p:spPr>
        <p:txBody>
          <a:bodyPr/>
          <a:lstStyle/>
          <a:p>
            <a:r>
              <a:rPr lang="zh-CN" altLang="en-US" dirty="0"/>
              <a:t>现在互联网使用的 </a:t>
            </a:r>
            <a:r>
              <a:rPr lang="en-US" altLang="zh-CN" dirty="0"/>
              <a:t>TCP/IP </a:t>
            </a:r>
            <a:r>
              <a:rPr lang="zh-CN" altLang="en-US" dirty="0"/>
              <a:t>体系结构已经发生了演变，即某些应用程序可以直接使用 </a:t>
            </a:r>
            <a:r>
              <a:rPr lang="en-US" altLang="zh-CN" dirty="0"/>
              <a:t>IP </a:t>
            </a:r>
            <a:r>
              <a:rPr lang="zh-CN" altLang="en-US" dirty="0"/>
              <a:t>层，或甚至直接使用最下面的网络接口层。</a:t>
            </a:r>
          </a:p>
          <a:p>
            <a:endParaRPr lang="zh-CN" altLang="en-US" dirty="0"/>
          </a:p>
        </p:txBody>
      </p:sp>
      <p:sp>
        <p:nvSpPr>
          <p:cNvPr id="4" name="文本占位符 3"/>
          <p:cNvSpPr>
            <a:spLocks noGrp="1"/>
          </p:cNvSpPr>
          <p:nvPr>
            <p:ph type="body" sz="quarter" idx="11"/>
          </p:nvPr>
        </p:nvSpPr>
        <p:spPr>
          <a:xfrm>
            <a:off x="0" y="150273"/>
            <a:ext cx="6632575" cy="338554"/>
          </a:xfrm>
        </p:spPr>
        <p:txBody>
          <a:bodyPr/>
          <a:lstStyle/>
          <a:p>
            <a:r>
              <a:rPr lang="en-US" altLang="zh-CN" dirty="0"/>
              <a:t>TCP/IP </a:t>
            </a:r>
            <a:r>
              <a:rPr lang="zh-CN" altLang="en-US" dirty="0"/>
              <a:t>体系结构的另一种表示方法</a:t>
            </a:r>
          </a:p>
        </p:txBody>
      </p:sp>
      <p:sp>
        <p:nvSpPr>
          <p:cNvPr id="5" name="圆角矩形 4"/>
          <p:cNvSpPr/>
          <p:nvPr/>
        </p:nvSpPr>
        <p:spPr>
          <a:xfrm>
            <a:off x="505072" y="1828799"/>
            <a:ext cx="7658625" cy="240832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6" name="组合 5"/>
          <p:cNvGrpSpPr/>
          <p:nvPr/>
        </p:nvGrpSpPr>
        <p:grpSpPr bwMode="auto">
          <a:xfrm>
            <a:off x="2862264" y="2042984"/>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Text Box 10"/>
            <p:cNvSpPr txBox="1">
              <a:spLocks noChangeArrowheads="1"/>
            </p:cNvSpPr>
            <p:nvPr/>
          </p:nvSpPr>
          <p:spPr bwMode="auto">
            <a:xfrm>
              <a:off x="2900239" y="3991336"/>
              <a:ext cx="1505317"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dirty="0">
                  <a:solidFill>
                    <a:srgbClr val="000066"/>
                  </a:solidFill>
                  <a:latin typeface="微软雅黑" panose="020B0503020204020204" pitchFamily="34" charset="-122"/>
                  <a:ea typeface="微软雅黑" panose="020B0503020204020204" pitchFamily="34" charset="-122"/>
                </a:rPr>
                <a:t>TCP    UDP</a:t>
              </a:r>
            </a:p>
          </p:txBody>
        </p:sp>
        <p:sp>
          <p:nvSpPr>
            <p:cNvPr id="13" name="Text Box 11"/>
            <p:cNvSpPr txBox="1">
              <a:spLocks noChangeArrowheads="1"/>
            </p:cNvSpPr>
            <p:nvPr/>
          </p:nvSpPr>
          <p:spPr bwMode="auto">
            <a:xfrm>
              <a:off x="3804968" y="4550166"/>
              <a:ext cx="43939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a:solidFill>
                    <a:srgbClr val="000066"/>
                  </a:solidFill>
                  <a:latin typeface="微软雅黑" panose="020B0503020204020204" pitchFamily="34" charset="-122"/>
                  <a:ea typeface="微软雅黑" panose="020B0503020204020204" pitchFamily="34" charset="-122"/>
                </a:rPr>
                <a:t>IP</a:t>
              </a:r>
            </a:p>
          </p:txBody>
        </p:sp>
        <p:sp>
          <p:nvSpPr>
            <p:cNvPr id="14" name="Text Box 4"/>
            <p:cNvSpPr txBox="1">
              <a:spLocks noChangeArrowheads="1"/>
            </p:cNvSpPr>
            <p:nvPr/>
          </p:nvSpPr>
          <p:spPr bwMode="auto">
            <a:xfrm>
              <a:off x="4149216" y="3470787"/>
              <a:ext cx="93120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应用层</a:t>
              </a:r>
            </a:p>
          </p:txBody>
        </p:sp>
        <p:sp>
          <p:nvSpPr>
            <p:cNvPr id="15" name="Text Box 12"/>
            <p:cNvSpPr txBox="1">
              <a:spLocks noChangeArrowheads="1"/>
            </p:cNvSpPr>
            <p:nvPr/>
          </p:nvSpPr>
          <p:spPr bwMode="auto">
            <a:xfrm>
              <a:off x="3328057" y="5068067"/>
              <a:ext cx="2646592"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a:solidFill>
                  <a:srgbClr val="000099"/>
                </a:solidFill>
                <a:ea typeface="黑体" panose="02010609060101010101" pitchFamily="49"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Everything over IP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层可以支持多种的运输层协议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a:solidFill>
                <a:srgbClr val="000099"/>
              </a:solidFill>
              <a:ea typeface="黑体" panose="02010609060101010101" pitchFamily="49"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265113"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7" name="Text Box 23"/>
          <p:cNvSpPr txBox="1">
            <a:spLocks noChangeArrowheads="1"/>
          </p:cNvSpPr>
          <p:nvPr/>
        </p:nvSpPr>
        <p:spPr bwMode="auto">
          <a:xfrm>
            <a:off x="4462850" y="1600625"/>
            <a:ext cx="265112" cy="24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a:solidFill>
                  <a:srgbClr val="000099"/>
                </a:solidFill>
                <a:ea typeface="黑体" panose="02010609060101010101" pitchFamily="49" charset="-122"/>
              </a:rPr>
              <a:t>…</a:t>
            </a:r>
          </a:p>
        </p:txBody>
      </p:sp>
      <p:sp>
        <p:nvSpPr>
          <p:cNvPr id="28" name="Text Box 24"/>
          <p:cNvSpPr txBox="1">
            <a:spLocks noChangeArrowheads="1"/>
          </p:cNvSpPr>
          <p:nvPr/>
        </p:nvSpPr>
        <p:spPr bwMode="auto">
          <a:xfrm>
            <a:off x="4165987" y="3648500"/>
            <a:ext cx="234950" cy="204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000099"/>
                </a:solidFill>
                <a:ea typeface="黑体" panose="02010609060101010101" pitchFamily="49"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a:solidFill>
                  <a:schemeClr val="bg1"/>
                </a:solidFill>
                <a:ea typeface="黑体" panose="02010609060101010101" pitchFamily="49"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43" name="内容占位符 42">
            <a:extLst>
              <a:ext uri="{FF2B5EF4-FFF2-40B4-BE49-F238E27FC236}">
                <a16:creationId xmlns:a16="http://schemas.microsoft.com/office/drawing/2014/main" id="{031E8E93-46E1-BD6A-F031-5200A016A9FF}"/>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 name="组合 33"/>
          <p:cNvGrpSpPr/>
          <p:nvPr/>
        </p:nvGrpSpPr>
        <p:grpSpPr bwMode="auto">
          <a:xfrm>
            <a:off x="1160463" y="1419949"/>
            <a:ext cx="1604962" cy="2439298"/>
            <a:chOff x="961895" y="2010459"/>
            <a:chExt cx="1695715" cy="2836863"/>
          </a:xfrm>
        </p:grpSpPr>
        <p:sp>
          <p:nvSpPr>
            <p:cNvPr id="6" name="Rectangle 14"/>
            <p:cNvSpPr>
              <a:spLocks noChangeArrowheads="1"/>
            </p:cNvSpPr>
            <p:nvPr/>
          </p:nvSpPr>
          <p:spPr bwMode="auto">
            <a:xfrm>
              <a:off x="961895" y="2010459"/>
              <a:ext cx="1695715" cy="2836863"/>
            </a:xfrm>
            <a:prstGeom prst="rect">
              <a:avLst/>
            </a:prstGeom>
            <a:solidFill>
              <a:srgbClr val="0070C0"/>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7" name="Text Box 15"/>
            <p:cNvSpPr txBox="1">
              <a:spLocks noChangeArrowheads="1"/>
            </p:cNvSpPr>
            <p:nvPr/>
          </p:nvSpPr>
          <p:spPr bwMode="auto">
            <a:xfrm>
              <a:off x="1126950" y="402720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8"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 name="Text Box 20"/>
            <p:cNvSpPr txBox="1">
              <a:spLocks noChangeArrowheads="1"/>
            </p:cNvSpPr>
            <p:nvPr/>
          </p:nvSpPr>
          <p:spPr bwMode="auto">
            <a:xfrm>
              <a:off x="1393516" y="447011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13" name="Text Box 21"/>
            <p:cNvSpPr txBox="1">
              <a:spLocks noChangeArrowheads="1"/>
            </p:cNvSpPr>
            <p:nvPr/>
          </p:nvSpPr>
          <p:spPr bwMode="auto">
            <a:xfrm>
              <a:off x="1393516" y="315567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14" name="Text Box 22"/>
            <p:cNvSpPr txBox="1">
              <a:spLocks noChangeArrowheads="1"/>
            </p:cNvSpPr>
            <p:nvPr/>
          </p:nvSpPr>
          <p:spPr bwMode="auto">
            <a:xfrm>
              <a:off x="1393516" y="359858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15" name="Line 23"/>
            <p:cNvSpPr>
              <a:spLocks noChangeShapeType="1"/>
            </p:cNvSpPr>
            <p:nvPr/>
          </p:nvSpPr>
          <p:spPr bwMode="auto">
            <a:xfrm>
              <a:off x="1795994" y="2847288"/>
              <a:ext cx="0" cy="22679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6" name="Text Box 31"/>
            <p:cNvSpPr txBox="1">
              <a:spLocks noChangeArrowheads="1"/>
            </p:cNvSpPr>
            <p:nvPr/>
          </p:nvSpPr>
          <p:spPr bwMode="auto">
            <a:xfrm>
              <a:off x="1411236" y="203452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grpSp>
        <p:nvGrpSpPr>
          <p:cNvPr id="17" name="组合 45"/>
          <p:cNvGrpSpPr/>
          <p:nvPr/>
        </p:nvGrpSpPr>
        <p:grpSpPr bwMode="auto">
          <a:xfrm>
            <a:off x="6234113" y="1419949"/>
            <a:ext cx="1604962" cy="2439298"/>
            <a:chOff x="961895" y="2010459"/>
            <a:chExt cx="1695715" cy="2836863"/>
          </a:xfrm>
          <a:effectLst/>
        </p:grpSpPr>
        <p:sp>
          <p:nvSpPr>
            <p:cNvPr id="18" name="Rectangle 14"/>
            <p:cNvSpPr>
              <a:spLocks noChangeArrowheads="1"/>
            </p:cNvSpPr>
            <p:nvPr/>
          </p:nvSpPr>
          <p:spPr bwMode="auto">
            <a:xfrm>
              <a:off x="961895" y="2010459"/>
              <a:ext cx="1695715" cy="2836863"/>
            </a:xfrm>
            <a:prstGeom prst="rect">
              <a:avLst/>
            </a:prstGeom>
            <a:solidFill>
              <a:srgbClr val="339933"/>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9" name="Text Box 15"/>
            <p:cNvSpPr txBox="1">
              <a:spLocks noChangeArrowheads="1"/>
            </p:cNvSpPr>
            <p:nvPr/>
          </p:nvSpPr>
          <p:spPr bwMode="auto">
            <a:xfrm>
              <a:off x="1242130" y="400948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20"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1"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4" name="Text Box 20"/>
            <p:cNvSpPr txBox="1">
              <a:spLocks noChangeArrowheads="1"/>
            </p:cNvSpPr>
            <p:nvPr/>
          </p:nvSpPr>
          <p:spPr bwMode="auto">
            <a:xfrm>
              <a:off x="1428956" y="445239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25" name="Text Box 21"/>
            <p:cNvSpPr txBox="1">
              <a:spLocks noChangeArrowheads="1"/>
            </p:cNvSpPr>
            <p:nvPr/>
          </p:nvSpPr>
          <p:spPr bwMode="auto">
            <a:xfrm>
              <a:off x="1428956" y="313795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26" name="Text Box 22"/>
            <p:cNvSpPr txBox="1">
              <a:spLocks noChangeArrowheads="1"/>
            </p:cNvSpPr>
            <p:nvPr/>
          </p:nvSpPr>
          <p:spPr bwMode="auto">
            <a:xfrm>
              <a:off x="1428956" y="358086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27" name="Line 23"/>
            <p:cNvSpPr>
              <a:spLocks noChangeShapeType="1"/>
            </p:cNvSpPr>
            <p:nvPr/>
          </p:nvSpPr>
          <p:spPr bwMode="auto">
            <a:xfrm>
              <a:off x="1795994" y="2847288"/>
              <a:ext cx="0" cy="22679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8" name="Text Box 31"/>
            <p:cNvSpPr txBox="1">
              <a:spLocks noChangeArrowheads="1"/>
            </p:cNvSpPr>
            <p:nvPr/>
          </p:nvSpPr>
          <p:spPr bwMode="auto">
            <a:xfrm>
              <a:off x="1420096" y="202566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sp>
        <p:nvSpPr>
          <p:cNvPr id="29" name="Freeform 3"/>
          <p:cNvSpPr/>
          <p:nvPr/>
        </p:nvSpPr>
        <p:spPr bwMode="auto">
          <a:xfrm>
            <a:off x="1849438" y="3862534"/>
            <a:ext cx="5186362" cy="242521"/>
          </a:xfrm>
          <a:custGeom>
            <a:avLst/>
            <a:gdLst>
              <a:gd name="T0" fmla="*/ 0 w 2752"/>
              <a:gd name="T1" fmla="*/ 0 h 240"/>
              <a:gd name="T2" fmla="*/ 0 w 2752"/>
              <a:gd name="T3" fmla="*/ 121108 h 240"/>
              <a:gd name="T4" fmla="*/ 5654 w 2752"/>
              <a:gd name="T5" fmla="*/ 205356 h 240"/>
              <a:gd name="T6" fmla="*/ 56536 w 2752"/>
              <a:gd name="T7" fmla="*/ 280391 h 240"/>
              <a:gd name="T8" fmla="*/ 180915 w 2752"/>
              <a:gd name="T9" fmla="*/ 308035 h 240"/>
              <a:gd name="T10" fmla="*/ 260065 w 2752"/>
              <a:gd name="T11" fmla="*/ 310667 h 240"/>
              <a:gd name="T12" fmla="*/ 4939357 w 2752"/>
              <a:gd name="T13" fmla="*/ 313300 h 240"/>
              <a:gd name="T14" fmla="*/ 5031699 w 2752"/>
              <a:gd name="T15" fmla="*/ 315933 h 240"/>
              <a:gd name="T16" fmla="*/ 5139118 w 2752"/>
              <a:gd name="T17" fmla="*/ 284340 h 240"/>
              <a:gd name="T18" fmla="*/ 5178693 w 2752"/>
              <a:gd name="T19" fmla="*/ 209306 h 240"/>
              <a:gd name="T20" fmla="*/ 5186231 w 2752"/>
              <a:gd name="T21" fmla="*/ 148752 h 240"/>
              <a:gd name="T22" fmla="*/ 5184346 w 2752"/>
              <a:gd name="T23" fmla="*/ 0 h 2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52" h="240">
                <a:moveTo>
                  <a:pt x="0" y="0"/>
                </a:moveTo>
                <a:lnTo>
                  <a:pt x="0" y="92"/>
                </a:lnTo>
                <a:lnTo>
                  <a:pt x="3" y="156"/>
                </a:lnTo>
                <a:lnTo>
                  <a:pt x="30" y="213"/>
                </a:lnTo>
                <a:lnTo>
                  <a:pt x="96" y="234"/>
                </a:lnTo>
                <a:lnTo>
                  <a:pt x="138" y="236"/>
                </a:lnTo>
                <a:lnTo>
                  <a:pt x="2621" y="238"/>
                </a:lnTo>
                <a:lnTo>
                  <a:pt x="2670" y="240"/>
                </a:lnTo>
                <a:lnTo>
                  <a:pt x="2727" y="216"/>
                </a:lnTo>
                <a:lnTo>
                  <a:pt x="2748" y="159"/>
                </a:lnTo>
                <a:lnTo>
                  <a:pt x="2752" y="113"/>
                </a:lnTo>
                <a:lnTo>
                  <a:pt x="2751" y="0"/>
                </a:lnTo>
              </a:path>
            </a:pathLst>
          </a:custGeom>
          <a:noFill/>
          <a:ln w="38100" cmpd="sng">
            <a:solidFill>
              <a:srgbClr val="0070C0"/>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30" name="Object 4"/>
          <p:cNvGraphicFramePr>
            <a:graphicFrameLocks noChangeAspect="1"/>
          </p:cNvGraphicFramePr>
          <p:nvPr>
            <p:extLst>
              <p:ext uri="{D42A27DB-BD31-4B8C-83A1-F6EECF244321}">
                <p14:modId xmlns:p14="http://schemas.microsoft.com/office/powerpoint/2010/main" val="1744239413"/>
              </p:ext>
            </p:extLst>
          </p:nvPr>
        </p:nvGraphicFramePr>
        <p:xfrm>
          <a:off x="3932238" y="3635796"/>
          <a:ext cx="1417637" cy="71913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2238" y="3635796"/>
                        <a:ext cx="1417637" cy="719138"/>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Text Box 27"/>
            <p:cNvSpPr txBox="1">
              <a:spLocks noChangeArrowheads="1"/>
            </p:cNvSpPr>
            <p:nvPr/>
          </p:nvSpPr>
          <p:spPr bwMode="auto">
            <a:xfrm>
              <a:off x="2013"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a:solidFill>
                    <a:srgbClr val="0000FF"/>
                  </a:solidFill>
                  <a:latin typeface="微软雅黑" panose="020B0503020204020204" pitchFamily="34" charset="-122"/>
                  <a:ea typeface="微软雅黑" panose="020B0503020204020204" pitchFamily="34" charset="-122"/>
                </a:rPr>
                <a:t>① </a:t>
              </a:r>
              <a:r>
                <a:rPr kumimoji="1" lang="zh-CN" altLang="en-US" sz="1400" b="1">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6" name="Text Box 30"/>
            <p:cNvSpPr txBox="1">
              <a:spLocks noChangeArrowheads="1"/>
            </p:cNvSpPr>
            <p:nvPr/>
          </p:nvSpPr>
          <p:spPr bwMode="auto">
            <a:xfrm>
              <a:off x="2017"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37" name="Text Box 33"/>
          <p:cNvSpPr txBox="1">
            <a:spLocks noChangeArrowheads="1"/>
          </p:cNvSpPr>
          <p:nvPr/>
        </p:nvSpPr>
        <p:spPr bwMode="auto">
          <a:xfrm>
            <a:off x="4235450" y="3807632"/>
            <a:ext cx="8001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nvGrpSpPr>
          <p:cNvPr id="38" name="Group 34"/>
          <p:cNvGrpSpPr/>
          <p:nvPr/>
        </p:nvGrpSpPr>
        <p:grpSpPr bwMode="auto">
          <a:xfrm>
            <a:off x="1373188" y="1767433"/>
            <a:ext cx="1146175" cy="379157"/>
            <a:chOff x="835" y="1519"/>
            <a:chExt cx="812" cy="335"/>
          </a:xfrm>
        </p:grpSpPr>
        <p:sp>
          <p:nvSpPr>
            <p:cNvPr id="39" name="Oval 35"/>
            <p:cNvSpPr>
              <a:spLocks noChangeArrowheads="1"/>
            </p:cNvSpPr>
            <p:nvPr/>
          </p:nvSpPr>
          <p:spPr bwMode="auto">
            <a:xfrm>
              <a:off x="835" y="1519"/>
              <a:ext cx="812" cy="335"/>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0" name="Text Box 36"/>
            <p:cNvSpPr txBox="1">
              <a:spLocks noChangeArrowheads="1"/>
            </p:cNvSpPr>
            <p:nvPr/>
          </p:nvSpPr>
          <p:spPr bwMode="auto">
            <a:xfrm>
              <a:off x="1031" y="1526"/>
              <a:ext cx="601" cy="326"/>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客户</a:t>
              </a:r>
            </a:p>
          </p:txBody>
        </p:sp>
      </p:grpSp>
      <p:grpSp>
        <p:nvGrpSpPr>
          <p:cNvPr id="41" name="Group 37"/>
          <p:cNvGrpSpPr/>
          <p:nvPr/>
        </p:nvGrpSpPr>
        <p:grpSpPr bwMode="auto">
          <a:xfrm>
            <a:off x="6456766" y="1739689"/>
            <a:ext cx="1152261" cy="397900"/>
            <a:chOff x="4142" y="1536"/>
            <a:chExt cx="670" cy="276"/>
          </a:xfrm>
          <a:solidFill>
            <a:srgbClr val="FFFF00"/>
          </a:solidFill>
        </p:grpSpPr>
        <p:sp>
          <p:nvSpPr>
            <p:cNvPr id="42" name="Oval 38"/>
            <p:cNvSpPr>
              <a:spLocks noChangeArrowheads="1"/>
            </p:cNvSpPr>
            <p:nvPr/>
          </p:nvSpPr>
          <p:spPr bwMode="auto">
            <a:xfrm>
              <a:off x="4142" y="1536"/>
              <a:ext cx="670" cy="276"/>
            </a:xfrm>
            <a:prstGeom prst="ellipse">
              <a:avLst/>
            </a:prstGeom>
            <a:grp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3" name="Text Box 39"/>
            <p:cNvSpPr txBox="1">
              <a:spLocks noChangeArrowheads="1"/>
            </p:cNvSpPr>
            <p:nvPr/>
          </p:nvSpPr>
          <p:spPr bwMode="auto">
            <a:xfrm>
              <a:off x="4226" y="1536"/>
              <a:ext cx="513" cy="233"/>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服务器</a:t>
              </a:r>
            </a:p>
          </p:txBody>
        </p:sp>
      </p:grpSp>
      <p:sp>
        <p:nvSpPr>
          <p:cNvPr id="44" name="Text Box 40"/>
          <p:cNvSpPr txBox="1">
            <a:spLocks noChangeArrowheads="1"/>
          </p:cNvSpPr>
          <p:nvPr/>
        </p:nvSpPr>
        <p:spPr bwMode="auto">
          <a:xfrm>
            <a:off x="2934892" y="2604122"/>
            <a:ext cx="3158952" cy="707886"/>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600" b="1" dirty="0">
                <a:solidFill>
                  <a:schemeClr val="tx1"/>
                </a:solidFill>
                <a:latin typeface="微软雅黑" panose="020B0503020204020204" pitchFamily="34" charset="-122"/>
                <a:ea typeface="微软雅黑" panose="020B0503020204020204" pitchFamily="34" charset="-122"/>
              </a:rPr>
              <a:t>所有这些通信实际上都需要使用下面各层所提供的服务。</a:t>
            </a:r>
          </a:p>
        </p:txBody>
      </p:sp>
      <p:sp>
        <p:nvSpPr>
          <p:cNvPr id="46" name="Text Box 38"/>
          <p:cNvSpPr txBox="1">
            <a:spLocks noChangeArrowheads="1"/>
          </p:cNvSpPr>
          <p:nvPr/>
        </p:nvSpPr>
        <p:spPr bwMode="auto">
          <a:xfrm>
            <a:off x="1491785" y="1110675"/>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47" name="Text Box 53"/>
          <p:cNvSpPr txBox="1">
            <a:spLocks noChangeArrowheads="1"/>
          </p:cNvSpPr>
          <p:nvPr/>
        </p:nvSpPr>
        <p:spPr bwMode="auto">
          <a:xfrm>
            <a:off x="6585297" y="1120416"/>
            <a:ext cx="100219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B</a:t>
            </a:r>
          </a:p>
        </p:txBody>
      </p:sp>
      <p:sp>
        <p:nvSpPr>
          <p:cNvPr id="48" name="内容占位符 47">
            <a:extLst>
              <a:ext uri="{FF2B5EF4-FFF2-40B4-BE49-F238E27FC236}">
                <a16:creationId xmlns:a16="http://schemas.microsoft.com/office/drawing/2014/main" id="{F04D4211-9004-B5C3-618F-D6308F595EC9}"/>
              </a:ext>
            </a:extLst>
          </p:cNvPr>
          <p:cNvSpPr>
            <a:spLocks noGrp="1"/>
          </p:cNvSpPr>
          <p:nvPr>
            <p:ph sz="quarter" idx="10"/>
          </p:nvPr>
        </p:nvSpPr>
        <p:spPr/>
        <p:txBody>
          <a:bodyPr/>
          <a:lstStyle/>
          <a:p>
            <a:endParaRPr lang="zh-CN" altLang="en-US"/>
          </a:p>
        </p:txBody>
      </p:sp>
      <p:sp>
        <p:nvSpPr>
          <p:cNvPr id="2" name="文本占位符 1"/>
          <p:cNvSpPr>
            <a:spLocks noGrp="1"/>
          </p:cNvSpPr>
          <p:nvPr>
            <p:ph type="body" sz="quarter" idx="11"/>
          </p:nvPr>
        </p:nvSpPr>
        <p:spPr>
          <a:xfrm>
            <a:off x="0" y="150273"/>
            <a:ext cx="6632575" cy="338554"/>
          </a:xfrm>
        </p:spPr>
        <p:txBody>
          <a:bodyPr/>
          <a:lstStyle/>
          <a:p>
            <a:r>
              <a:rPr lang="zh-CN" altLang="en-US" dirty="0"/>
              <a:t>互联网中客户</a:t>
            </a:r>
            <a:r>
              <a:rPr lang="en-US" altLang="zh-CN" dirty="0"/>
              <a:t>-</a:t>
            </a:r>
            <a:r>
              <a:rPr lang="zh-CN" altLang="en-US" dirty="0"/>
              <a:t>服务器工作方式</a:t>
            </a:r>
          </a:p>
        </p:txBody>
      </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500" fill="hold"/>
                                        <p:tgtEl>
                                          <p:spTgt spid="38"/>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8" fill="hold" nodeType="after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500" fill="hold"/>
                                        <p:tgtEl>
                                          <p:spTgt spid="41"/>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wipe(right)">
                                      <p:cBhvr>
                                        <p:cTn id="18" dur="1000"/>
                                        <p:tgtEl>
                                          <p:spTgt spid="34"/>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Line 3"/>
          <p:cNvSpPr>
            <a:spLocks noChangeShapeType="1"/>
          </p:cNvSpPr>
          <p:nvPr/>
        </p:nvSpPr>
        <p:spPr bwMode="auto">
          <a:xfrm>
            <a:off x="4537075" y="3490264"/>
            <a:ext cx="0" cy="249620"/>
          </a:xfrm>
          <a:prstGeom prst="line">
            <a:avLst/>
          </a:prstGeom>
          <a:noFill/>
          <a:ln w="3810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Rectangle 4"/>
          <p:cNvSpPr>
            <a:spLocks noChangeArrowheads="1"/>
          </p:cNvSpPr>
          <p:nvPr/>
        </p:nvSpPr>
        <p:spPr bwMode="auto">
          <a:xfrm>
            <a:off x="3365500" y="1423721"/>
            <a:ext cx="2409825" cy="2066925"/>
          </a:xfrm>
          <a:prstGeom prst="rect">
            <a:avLst/>
          </a:prstGeom>
          <a:solidFill>
            <a:srgbClr val="339933"/>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 name="Text Box 10"/>
          <p:cNvSpPr txBox="1">
            <a:spLocks noChangeArrowheads="1"/>
          </p:cNvSpPr>
          <p:nvPr/>
        </p:nvSpPr>
        <p:spPr bwMode="auto">
          <a:xfrm>
            <a:off x="4205288" y="3184259"/>
            <a:ext cx="722312"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12" name="Text Box 11"/>
          <p:cNvSpPr txBox="1">
            <a:spLocks noChangeArrowheads="1"/>
          </p:cNvSpPr>
          <p:nvPr/>
        </p:nvSpPr>
        <p:spPr bwMode="auto">
          <a:xfrm>
            <a:off x="4205288" y="2253984"/>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13" name="Text Box 12"/>
          <p:cNvSpPr txBox="1">
            <a:spLocks noChangeArrowheads="1"/>
          </p:cNvSpPr>
          <p:nvPr/>
        </p:nvSpPr>
        <p:spPr bwMode="auto">
          <a:xfrm>
            <a:off x="4205288" y="2566721"/>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14" name="Text Box 13"/>
          <p:cNvSpPr txBox="1">
            <a:spLocks noChangeArrowheads="1"/>
          </p:cNvSpPr>
          <p:nvPr/>
        </p:nvSpPr>
        <p:spPr bwMode="auto">
          <a:xfrm>
            <a:off x="4179888" y="141895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grpSp>
        <p:nvGrpSpPr>
          <p:cNvPr id="16" name="Group 15"/>
          <p:cNvGrpSpPr/>
          <p:nvPr/>
        </p:nvGrpSpPr>
        <p:grpSpPr bwMode="auto">
          <a:xfrm>
            <a:off x="3511550" y="1674546"/>
            <a:ext cx="949325" cy="571500"/>
            <a:chOff x="2100" y="1727"/>
            <a:chExt cx="720" cy="470"/>
          </a:xfrm>
        </p:grpSpPr>
        <p:sp>
          <p:nvSpPr>
            <p:cNvPr id="17" name="Line 16"/>
            <p:cNvSpPr>
              <a:spLocks noChangeShapeType="1"/>
            </p:cNvSpPr>
            <p:nvPr/>
          </p:nvSpPr>
          <p:spPr bwMode="auto">
            <a:xfrm>
              <a:off x="2460" y="2119"/>
              <a:ext cx="1" cy="78"/>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8" name="Oval 17"/>
            <p:cNvSpPr>
              <a:spLocks noChangeArrowheads="1"/>
            </p:cNvSpPr>
            <p:nvPr/>
          </p:nvSpPr>
          <p:spPr bwMode="auto">
            <a:xfrm>
              <a:off x="2100" y="1727"/>
              <a:ext cx="720" cy="413"/>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19" name="Text Box 18"/>
            <p:cNvSpPr txBox="1">
              <a:spLocks noChangeArrowheads="1"/>
            </p:cNvSpPr>
            <p:nvPr/>
          </p:nvSpPr>
          <p:spPr bwMode="auto">
            <a:xfrm>
              <a:off x="2164" y="1756"/>
              <a:ext cx="610"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1</a:t>
              </a:r>
            </a:p>
          </p:txBody>
        </p:sp>
      </p:grpSp>
      <p:grpSp>
        <p:nvGrpSpPr>
          <p:cNvPr id="20" name="Group 19"/>
          <p:cNvGrpSpPr/>
          <p:nvPr/>
        </p:nvGrpSpPr>
        <p:grpSpPr bwMode="auto">
          <a:xfrm>
            <a:off x="4679950" y="1693596"/>
            <a:ext cx="949325" cy="566738"/>
            <a:chOff x="2986" y="1727"/>
            <a:chExt cx="719" cy="465"/>
          </a:xfrm>
        </p:grpSpPr>
        <p:sp>
          <p:nvSpPr>
            <p:cNvPr id="21" name="Line 20"/>
            <p:cNvSpPr>
              <a:spLocks noChangeShapeType="1"/>
            </p:cNvSpPr>
            <p:nvPr/>
          </p:nvSpPr>
          <p:spPr bwMode="auto">
            <a:xfrm>
              <a:off x="3344" y="2113"/>
              <a:ext cx="1" cy="77"/>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 name="Oval 21"/>
            <p:cNvSpPr>
              <a:spLocks noChangeArrowheads="1"/>
            </p:cNvSpPr>
            <p:nvPr/>
          </p:nvSpPr>
          <p:spPr bwMode="auto">
            <a:xfrm>
              <a:off x="2986" y="1727"/>
              <a:ext cx="719" cy="412"/>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23" name="Text Box 22"/>
            <p:cNvSpPr txBox="1">
              <a:spLocks noChangeArrowheads="1"/>
            </p:cNvSpPr>
            <p:nvPr/>
          </p:nvSpPr>
          <p:spPr bwMode="auto">
            <a:xfrm>
              <a:off x="3049" y="1752"/>
              <a:ext cx="611"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2</a:t>
              </a:r>
            </a:p>
          </p:txBody>
        </p:sp>
      </p:grpSp>
      <p:grpSp>
        <p:nvGrpSpPr>
          <p:cNvPr id="24" name="组合 23"/>
          <p:cNvGrpSpPr/>
          <p:nvPr/>
        </p:nvGrpSpPr>
        <p:grpSpPr bwMode="auto">
          <a:xfrm>
            <a:off x="1249363" y="1126859"/>
            <a:ext cx="6569075" cy="2863850"/>
            <a:chOff x="1248628" y="2159392"/>
            <a:chExt cx="6570396" cy="2864425"/>
          </a:xfrm>
        </p:grpSpPr>
        <p:sp>
          <p:nvSpPr>
            <p:cNvPr id="25" name="Freeform 24"/>
            <p:cNvSpPr/>
            <p:nvPr/>
          </p:nvSpPr>
          <p:spPr bwMode="auto">
            <a:xfrm>
              <a:off x="1856851" y="4523273"/>
              <a:ext cx="5364504" cy="5005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38100" cmpd="sng">
              <a:solidFill>
                <a:srgbClr val="368AD6"/>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26" name="Group 25"/>
            <p:cNvGrpSpPr/>
            <p:nvPr/>
          </p:nvGrpSpPr>
          <p:grpSpPr bwMode="auto">
            <a:xfrm>
              <a:off x="1248628" y="2159392"/>
              <a:ext cx="1241515" cy="2365100"/>
              <a:chOff x="385" y="1278"/>
              <a:chExt cx="941" cy="1942"/>
            </a:xfrm>
          </p:grpSpPr>
          <p:sp>
            <p:nvSpPr>
              <p:cNvPr id="42" name="Rectangle 26"/>
              <p:cNvSpPr>
                <a:spLocks noChangeArrowheads="1"/>
              </p:cNvSpPr>
              <p:nvPr/>
            </p:nvSpPr>
            <p:spPr bwMode="auto">
              <a:xfrm>
                <a:off x="385"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431"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44" name="Line 28"/>
              <p:cNvSpPr>
                <a:spLocks noChangeShapeType="1"/>
              </p:cNvSpPr>
              <p:nvPr/>
            </p:nvSpPr>
            <p:spPr bwMode="auto">
              <a:xfrm>
                <a:off x="385"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5" name="Line 29"/>
              <p:cNvSpPr>
                <a:spLocks noChangeShapeType="1"/>
              </p:cNvSpPr>
              <p:nvPr/>
            </p:nvSpPr>
            <p:spPr bwMode="auto">
              <a:xfrm>
                <a:off x="385"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6" name="Line 30"/>
              <p:cNvSpPr>
                <a:spLocks noChangeShapeType="1"/>
              </p:cNvSpPr>
              <p:nvPr/>
            </p:nvSpPr>
            <p:spPr bwMode="auto">
              <a:xfrm>
                <a:off x="385"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 name="Line 31"/>
              <p:cNvSpPr>
                <a:spLocks noChangeShapeType="1"/>
              </p:cNvSpPr>
              <p:nvPr/>
            </p:nvSpPr>
            <p:spPr bwMode="auto">
              <a:xfrm>
                <a:off x="385"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Text Box 32"/>
              <p:cNvSpPr txBox="1">
                <a:spLocks noChangeArrowheads="1"/>
              </p:cNvSpPr>
              <p:nvPr/>
            </p:nvSpPr>
            <p:spPr bwMode="auto">
              <a:xfrm>
                <a:off x="578"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49" name="Text Box 33"/>
              <p:cNvSpPr txBox="1">
                <a:spLocks noChangeArrowheads="1"/>
              </p:cNvSpPr>
              <p:nvPr/>
            </p:nvSpPr>
            <p:spPr bwMode="auto">
              <a:xfrm>
                <a:off x="578"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50" name="Text Box 34"/>
              <p:cNvSpPr txBox="1">
                <a:spLocks noChangeArrowheads="1"/>
              </p:cNvSpPr>
              <p:nvPr/>
            </p:nvSpPr>
            <p:spPr bwMode="auto">
              <a:xfrm>
                <a:off x="578"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51" name="Line 35"/>
              <p:cNvSpPr>
                <a:spLocks noChangeShapeType="1"/>
              </p:cNvSpPr>
              <p:nvPr/>
            </p:nvSpPr>
            <p:spPr bwMode="auto">
              <a:xfrm>
                <a:off x="845" y="2036"/>
                <a:ext cx="2" cy="15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Oval 36"/>
              <p:cNvSpPr>
                <a:spLocks noChangeArrowheads="1"/>
              </p:cNvSpPr>
              <p:nvPr/>
            </p:nvSpPr>
            <p:spPr bwMode="auto">
              <a:xfrm>
                <a:off x="468" y="1779"/>
                <a:ext cx="775" cy="309"/>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53" name="Text Box 37"/>
              <p:cNvSpPr txBox="1">
                <a:spLocks noChangeArrowheads="1"/>
              </p:cNvSpPr>
              <p:nvPr/>
            </p:nvSpPr>
            <p:spPr bwMode="auto">
              <a:xfrm>
                <a:off x="583" y="152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54" name="Text Box 38"/>
              <p:cNvSpPr txBox="1">
                <a:spLocks noChangeArrowheads="1"/>
              </p:cNvSpPr>
              <p:nvPr/>
            </p:nvSpPr>
            <p:spPr bwMode="auto">
              <a:xfrm>
                <a:off x="537" y="1278"/>
                <a:ext cx="69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55" name="Text Box 39"/>
              <p:cNvSpPr txBox="1">
                <a:spLocks noChangeArrowheads="1"/>
              </p:cNvSpPr>
              <p:nvPr/>
            </p:nvSpPr>
            <p:spPr bwMode="auto">
              <a:xfrm>
                <a:off x="585" y="1803"/>
                <a:ext cx="593" cy="2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rgbClr val="0000FF"/>
                    </a:solidFill>
                    <a:latin typeface="微软雅黑" panose="020B0503020204020204" pitchFamily="34" charset="-122"/>
                    <a:ea typeface="微软雅黑" panose="020B0503020204020204" pitchFamily="34" charset="-122"/>
                  </a:rPr>
                  <a:t>客户 </a:t>
                </a:r>
                <a:r>
                  <a:rPr kumimoji="1" lang="en-US" altLang="zh-CN" sz="1600" b="1">
                    <a:solidFill>
                      <a:srgbClr val="0000FF"/>
                    </a:solidFill>
                    <a:latin typeface="微软雅黑" panose="020B0503020204020204" pitchFamily="34" charset="-122"/>
                    <a:ea typeface="微软雅黑" panose="020B0503020204020204" pitchFamily="34" charset="-122"/>
                  </a:rPr>
                  <a:t>1</a:t>
                </a:r>
              </a:p>
            </p:txBody>
          </p:sp>
        </p:grpSp>
        <p:grpSp>
          <p:nvGrpSpPr>
            <p:cNvPr id="27" name="Group 40"/>
            <p:cNvGrpSpPr/>
            <p:nvPr/>
          </p:nvGrpSpPr>
          <p:grpSpPr bwMode="auto">
            <a:xfrm>
              <a:off x="6577509" y="2169135"/>
              <a:ext cx="1241515" cy="2355357"/>
              <a:chOff x="4424" y="1286"/>
              <a:chExt cx="941" cy="1934"/>
            </a:xfrm>
          </p:grpSpPr>
          <p:sp>
            <p:nvSpPr>
              <p:cNvPr id="28" name="Rectangle 41"/>
              <p:cNvSpPr>
                <a:spLocks noChangeArrowheads="1"/>
              </p:cNvSpPr>
              <p:nvPr/>
            </p:nvSpPr>
            <p:spPr bwMode="auto">
              <a:xfrm>
                <a:off x="4424"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4494"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30" name="Line 43"/>
              <p:cNvSpPr>
                <a:spLocks noChangeShapeType="1"/>
              </p:cNvSpPr>
              <p:nvPr/>
            </p:nvSpPr>
            <p:spPr bwMode="auto">
              <a:xfrm>
                <a:off x="4424"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1" name="Line 44"/>
              <p:cNvSpPr>
                <a:spLocks noChangeShapeType="1"/>
              </p:cNvSpPr>
              <p:nvPr/>
            </p:nvSpPr>
            <p:spPr bwMode="auto">
              <a:xfrm>
                <a:off x="4424"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2" name="Line 45"/>
              <p:cNvSpPr>
                <a:spLocks noChangeShapeType="1"/>
              </p:cNvSpPr>
              <p:nvPr/>
            </p:nvSpPr>
            <p:spPr bwMode="auto">
              <a:xfrm>
                <a:off x="4424"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3" name="Line 46"/>
              <p:cNvSpPr>
                <a:spLocks noChangeShapeType="1"/>
              </p:cNvSpPr>
              <p:nvPr/>
            </p:nvSpPr>
            <p:spPr bwMode="auto">
              <a:xfrm>
                <a:off x="4424"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4" name="Text Box 47"/>
              <p:cNvSpPr txBox="1">
                <a:spLocks noChangeArrowheads="1"/>
              </p:cNvSpPr>
              <p:nvPr/>
            </p:nvSpPr>
            <p:spPr bwMode="auto">
              <a:xfrm>
                <a:off x="4642"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35" name="Text Box 48"/>
              <p:cNvSpPr txBox="1">
                <a:spLocks noChangeArrowheads="1"/>
              </p:cNvSpPr>
              <p:nvPr/>
            </p:nvSpPr>
            <p:spPr bwMode="auto">
              <a:xfrm>
                <a:off x="4642"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36" name="Text Box 49"/>
              <p:cNvSpPr txBox="1">
                <a:spLocks noChangeArrowheads="1"/>
              </p:cNvSpPr>
              <p:nvPr/>
            </p:nvSpPr>
            <p:spPr bwMode="auto">
              <a:xfrm>
                <a:off x="4642"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37" name="Line 50"/>
              <p:cNvSpPr>
                <a:spLocks noChangeShapeType="1"/>
              </p:cNvSpPr>
              <p:nvPr/>
            </p:nvSpPr>
            <p:spPr bwMode="auto">
              <a:xfrm>
                <a:off x="4911" y="2065"/>
                <a:ext cx="2" cy="1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8" name="Oval 51"/>
              <p:cNvSpPr>
                <a:spLocks noChangeArrowheads="1"/>
              </p:cNvSpPr>
              <p:nvPr/>
            </p:nvSpPr>
            <p:spPr bwMode="auto">
              <a:xfrm>
                <a:off x="4507" y="1779"/>
                <a:ext cx="775" cy="309"/>
              </a:xfrm>
              <a:prstGeom prst="ellipse">
                <a:avLst/>
              </a:prstGeom>
              <a:solidFill>
                <a:srgbClr val="ABEBD7"/>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39" name="Text Box 52"/>
              <p:cNvSpPr txBox="1">
                <a:spLocks noChangeArrowheads="1"/>
              </p:cNvSpPr>
              <p:nvPr/>
            </p:nvSpPr>
            <p:spPr bwMode="auto">
              <a:xfrm>
                <a:off x="4637" y="1535"/>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40" name="Text Box 53"/>
              <p:cNvSpPr txBox="1">
                <a:spLocks noChangeArrowheads="1"/>
              </p:cNvSpPr>
              <p:nvPr/>
            </p:nvSpPr>
            <p:spPr bwMode="auto">
              <a:xfrm>
                <a:off x="4567" y="1286"/>
                <a:ext cx="682"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41" name="Text Box 54"/>
              <p:cNvSpPr txBox="1">
                <a:spLocks noChangeArrowheads="1"/>
              </p:cNvSpPr>
              <p:nvPr/>
            </p:nvSpPr>
            <p:spPr bwMode="auto">
              <a:xfrm>
                <a:off x="4625" y="1789"/>
                <a:ext cx="593" cy="278"/>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fontAlgn="auto">
                  <a:spcBef>
                    <a:spcPts val="0"/>
                  </a:spcBef>
                  <a:spcAft>
                    <a:spcPts val="0"/>
                  </a:spcAft>
                  <a:defRPr/>
                </a:pPr>
                <a:r>
                  <a:rPr kumimoji="1" lang="zh-CN" altLang="en-US" sz="1600" b="1" dirty="0">
                    <a:solidFill>
                      <a:srgbClr val="0000FF"/>
                    </a:solidFill>
                    <a:latin typeface="微软雅黑" panose="020B0503020204020204" pitchFamily="34" charset="-122"/>
                    <a:ea typeface="微软雅黑" panose="020B0503020204020204" pitchFamily="34" charset="-122"/>
                  </a:rPr>
                  <a:t>客户 </a:t>
                </a:r>
                <a:r>
                  <a:rPr kumimoji="1" lang="en-US" altLang="zh-CN" sz="1600" b="1" dirty="0">
                    <a:solidFill>
                      <a:srgbClr val="0000FF"/>
                    </a:solidFill>
                    <a:latin typeface="微软雅黑" panose="020B0503020204020204" pitchFamily="34" charset="-122"/>
                    <a:ea typeface="微软雅黑" panose="020B0503020204020204" pitchFamily="34" charset="-122"/>
                  </a:rPr>
                  <a:t>2</a:t>
                </a:r>
              </a:p>
            </p:txBody>
          </p:sp>
        </p:grpSp>
      </p:gr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6175" y="1961884"/>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 name="内容占位符 63">
            <a:extLst>
              <a:ext uri="{FF2B5EF4-FFF2-40B4-BE49-F238E27FC236}">
                <a16:creationId xmlns:a16="http://schemas.microsoft.com/office/drawing/2014/main" id="{FFEB941B-EA8E-0F27-1F36-32C5C8085F78}"/>
              </a:ext>
            </a:extLst>
          </p:cNvPr>
          <p:cNvSpPr>
            <a:spLocks noGrp="1"/>
          </p:cNvSpPr>
          <p:nvPr>
            <p:ph sz="quarter" idx="10"/>
          </p:nvPr>
        </p:nvSpPr>
        <p:spPr/>
        <p:txBody>
          <a:bodyPr/>
          <a:lstStyle/>
          <a:p>
            <a:endParaRPr lang="zh-CN" altLang="en-US"/>
          </a:p>
        </p:txBody>
      </p:sp>
      <p:sp>
        <p:nvSpPr>
          <p:cNvPr id="3" name="文本占位符 2"/>
          <p:cNvSpPr>
            <a:spLocks noGrp="1"/>
          </p:cNvSpPr>
          <p:nvPr>
            <p:ph type="body" sz="quarter" idx="11"/>
          </p:nvPr>
        </p:nvSpPr>
        <p:spPr>
          <a:xfrm>
            <a:off x="0" y="150273"/>
            <a:ext cx="6632575" cy="338554"/>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500" fill="hold"/>
                                        <p:tgtEl>
                                          <p:spTgt spid="16"/>
                                        </p:tgtEl>
                                        <p:attrNameLst>
                                          <p:attrName>style.visibility</p:attrName>
                                        </p:attrNameLst>
                                      </p:cBhvr>
                                      <p:tavLst>
                                        <p:tav tm="0">
                                          <p:val>
                                            <p:strVal val="hidden"/>
                                          </p:val>
                                        </p:tav>
                                        <p:tav tm="50000">
                                          <p:val>
                                            <p:strVal val="visible"/>
                                          </p:val>
                                        </p:tav>
                                      </p:tavLst>
                                    </p:anim>
                                  </p:childTnLst>
                                </p:cTn>
                              </p:par>
                            </p:childTnLst>
                          </p:cTn>
                        </p:par>
                        <p:par>
                          <p:cTn id="10" fill="hold">
                            <p:stCondLst>
                              <p:cond delay="1500"/>
                            </p:stCondLst>
                            <p:childTnLst>
                              <p:par>
                                <p:cTn id="11" presetID="1"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par>
                          <p:cTn id="13" fill="hold">
                            <p:stCondLst>
                              <p:cond delay="1500"/>
                            </p:stCondLst>
                            <p:childTnLst>
                              <p:par>
                                <p:cTn id="14" presetID="35" presetClass="emph" presetSubtype="0" repeatCount="3000" fill="hold" nodeType="after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par>
                          <p:cTn id="16" fill="hold">
                            <p:stCondLst>
                              <p:cond delay="3000"/>
                            </p:stCondLst>
                            <p:childTnLst>
                              <p:par>
                                <p:cTn id="17" presetID="1" presetClass="entr" presetSubtype="0" fill="hold" nodeType="afterEffect">
                                  <p:stCondLst>
                                    <p:cond delay="500"/>
                                  </p:stCondLst>
                                  <p:childTnLst>
                                    <p:set>
                                      <p:cBhvr>
                                        <p:cTn id="18" dur="1" fill="hold">
                                          <p:stCondLst>
                                            <p:cond delay="0"/>
                                          </p:stCondLst>
                                        </p:cTn>
                                        <p:tgtEl>
                                          <p:spTgt spid="59"/>
                                        </p:tgtEl>
                                        <p:attrNameLst>
                                          <p:attrName>style.visibility</p:attrName>
                                        </p:attrNameLst>
                                      </p:cBhvr>
                                      <p:to>
                                        <p:strVal val="visible"/>
                                      </p:to>
                                    </p:set>
                                  </p:childTnLst>
                                </p:cTn>
                              </p:par>
                            </p:childTnLst>
                          </p:cTn>
                        </p:par>
                        <p:par>
                          <p:cTn id="19" fill="hold">
                            <p:stCondLst>
                              <p:cond delay="3500"/>
                            </p:stCondLst>
                            <p:childTnLst>
                              <p:par>
                                <p:cTn id="20" presetID="35" presetClass="emph" presetSubtype="0" repeatCount="4000" fill="hold" nodeType="afterEffect">
                                  <p:stCondLst>
                                    <p:cond delay="0"/>
                                  </p:stCondLst>
                                  <p:childTnLst>
                                    <p:anim calcmode="discrete" valueType="str">
                                      <p:cBhvr>
                                        <p:cTn id="21"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8097</TotalTime>
  <Words>9571</Words>
  <Application>Microsoft Office PowerPoint</Application>
  <PresentationFormat>全屏显示(16:9)</PresentationFormat>
  <Paragraphs>2167</Paragraphs>
  <Slides>150</Slides>
  <Notes>41</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150</vt:i4>
      </vt:variant>
    </vt:vector>
  </HeadingPairs>
  <TitlesOfParts>
    <vt:vector size="162" baseType="lpstr">
      <vt:lpstr>Arial</vt:lpstr>
      <vt:lpstr>Symbol</vt:lpstr>
      <vt:lpstr>黑体</vt:lpstr>
      <vt:lpstr>Montserrat</vt:lpstr>
      <vt:lpstr>Times New Roman</vt:lpstr>
      <vt:lpstr>微软雅黑 Light</vt:lpstr>
      <vt:lpstr>微软雅黑</vt:lpstr>
      <vt:lpstr>Calibri</vt:lpstr>
      <vt:lpstr>Wingdings</vt:lpstr>
      <vt:lpstr>宋体</vt:lpstr>
      <vt:lpstr>Office 主题​​</vt:lpstr>
      <vt:lpstr>VISIO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671</cp:revision>
  <dcterms:created xsi:type="dcterms:W3CDTF">2018-07-18T08:51:30Z</dcterms:created>
  <dcterms:modified xsi:type="dcterms:W3CDTF">2025-11-29T01:45:25Z</dcterms:modified>
</cp:coreProperties>
</file>