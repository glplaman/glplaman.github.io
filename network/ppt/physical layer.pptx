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305" r:id="rId2"/>
    <p:sldId id="344" r:id="rId3"/>
    <p:sldId id="345" r:id="rId4"/>
    <p:sldId id="346" r:id="rId5"/>
    <p:sldId id="389" r:id="rId6"/>
    <p:sldId id="390" r:id="rId7"/>
    <p:sldId id="352" r:id="rId8"/>
    <p:sldId id="348" r:id="rId9"/>
    <p:sldId id="355" r:id="rId10"/>
    <p:sldId id="393" r:id="rId11"/>
    <p:sldId id="354" r:id="rId12"/>
    <p:sldId id="351" r:id="rId13"/>
    <p:sldId id="391" r:id="rId14"/>
    <p:sldId id="392" r:id="rId15"/>
    <p:sldId id="349" r:id="rId16"/>
    <p:sldId id="350" r:id="rId17"/>
    <p:sldId id="353" r:id="rId18"/>
    <p:sldId id="369" r:id="rId19"/>
    <p:sldId id="356" r:id="rId20"/>
    <p:sldId id="368" r:id="rId21"/>
    <p:sldId id="396" r:id="rId22"/>
    <p:sldId id="397" r:id="rId23"/>
    <p:sldId id="399" r:id="rId24"/>
    <p:sldId id="357" r:id="rId25"/>
    <p:sldId id="358" r:id="rId26"/>
    <p:sldId id="395" r:id="rId27"/>
    <p:sldId id="394" r:id="rId28"/>
    <p:sldId id="363" r:id="rId29"/>
    <p:sldId id="362" r:id="rId30"/>
    <p:sldId id="361" r:id="rId31"/>
    <p:sldId id="359" r:id="rId32"/>
    <p:sldId id="360" r:id="rId33"/>
    <p:sldId id="364" r:id="rId34"/>
    <p:sldId id="400" r:id="rId35"/>
    <p:sldId id="347" r:id="rId36"/>
    <p:sldId id="398" r:id="rId3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d" id="{46275B7E-A63B-4DD3-9281-80D1429B37A9}">
          <p14:sldIdLst>
            <p14:sldId id="305"/>
            <p14:sldId id="344"/>
            <p14:sldId id="345"/>
            <p14:sldId id="346"/>
            <p14:sldId id="389"/>
            <p14:sldId id="390"/>
            <p14:sldId id="352"/>
            <p14:sldId id="348"/>
            <p14:sldId id="355"/>
            <p14:sldId id="393"/>
            <p14:sldId id="354"/>
            <p14:sldId id="351"/>
            <p14:sldId id="391"/>
            <p14:sldId id="392"/>
            <p14:sldId id="349"/>
            <p14:sldId id="350"/>
            <p14:sldId id="353"/>
            <p14:sldId id="369"/>
            <p14:sldId id="356"/>
            <p14:sldId id="368"/>
            <p14:sldId id="396"/>
            <p14:sldId id="397"/>
            <p14:sldId id="399"/>
            <p14:sldId id="357"/>
            <p14:sldId id="358"/>
            <p14:sldId id="395"/>
            <p14:sldId id="394"/>
            <p14:sldId id="363"/>
            <p14:sldId id="362"/>
            <p14:sldId id="361"/>
            <p14:sldId id="359"/>
            <p14:sldId id="360"/>
            <p14:sldId id="364"/>
            <p14:sldId id="400"/>
            <p14:sldId id="347"/>
            <p14:sldId id="3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00"/>
    <a:srgbClr val="ED7D31"/>
    <a:srgbClr val="A40000"/>
    <a:srgbClr val="A9D18E"/>
    <a:srgbClr val="4472C4"/>
    <a:srgbClr val="00D3E8"/>
    <a:srgbClr val="CFDFE7"/>
    <a:srgbClr val="008EEA"/>
    <a:srgbClr val="44546A"/>
    <a:srgbClr val="C6C6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30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5BF7C3-54C6-43CF-A4AB-2E7725CEB030}" type="datetimeFigureOut">
              <a:rPr lang="zh-CN" altLang="en-US" smtClean="0"/>
              <a:t>2025/11/3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6B4DB-BF57-4C8B-B2A2-1EB8B1FB1560}" type="slidenum">
              <a:rPr lang="zh-CN" altLang="en-US" smtClean="0"/>
              <a:t>‹#›</a:t>
            </a:fld>
            <a:endParaRPr lang="zh-CN" altLang="en-US"/>
          </a:p>
        </p:txBody>
      </p:sp>
    </p:spTree>
    <p:extLst>
      <p:ext uri="{BB962C8B-B14F-4D97-AF65-F5344CB8AC3E}">
        <p14:creationId xmlns:p14="http://schemas.microsoft.com/office/powerpoint/2010/main" val="596067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458910-C54F-426F-B4E4-9A11EA7DB019}"/>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1BB1805A-7794-4A22-840B-BC5B881B66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5100D236-7575-4F50-B66A-475D8F994A1B}"/>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5" name="页脚占位符 4">
            <a:extLst>
              <a:ext uri="{FF2B5EF4-FFF2-40B4-BE49-F238E27FC236}">
                <a16:creationId xmlns:a16="http://schemas.microsoft.com/office/drawing/2014/main" id="{1DC98DA2-ADCE-498C-BBC4-38D55DAA85D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9BB5EDD-630C-4C1E-9769-6C56EEB1C6F7}"/>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500107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F9D90A-3861-4D98-B4E4-4B36C1E98E0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DBA61D6-6AB9-4C9D-8293-881555531CD0}"/>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5F40227-FB29-4D33-8F91-8BF03948B763}"/>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5" name="页脚占位符 4">
            <a:extLst>
              <a:ext uri="{FF2B5EF4-FFF2-40B4-BE49-F238E27FC236}">
                <a16:creationId xmlns:a16="http://schemas.microsoft.com/office/drawing/2014/main" id="{569C179E-CC45-4349-9049-EA1271770D3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16EF7C2-6631-4082-9057-85713A82AE97}"/>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56857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5F735AC-C511-4BA7-AEBD-E733B247FCDD}"/>
              </a:ext>
            </a:extLst>
          </p:cNvPr>
          <p:cNvSpPr>
            <a:spLocks noGrp="1"/>
          </p:cNvSpPr>
          <p:nvPr>
            <p:ph type="title" hasCustomPrompt="1"/>
          </p:nvPr>
        </p:nvSpPr>
        <p:spPr>
          <a:xfrm>
            <a:off x="577774" y="2531347"/>
            <a:ext cx="5209309" cy="699404"/>
          </a:xfrm>
        </p:spPr>
        <p:txBody>
          <a:bodyPr wrap="square" tIns="72000" bIns="72000">
            <a:spAutoFit/>
          </a:bodyPr>
          <a:lstStyle>
            <a:lvl1pPr algn="l">
              <a:defRPr sz="4000">
                <a:latin typeface="微软雅黑" panose="020B0503020204020204" pitchFamily="34" charset="-122"/>
                <a:ea typeface="微软雅黑" panose="020B0503020204020204" pitchFamily="34" charset="-122"/>
              </a:defRPr>
            </a:lvl1pPr>
          </a:lstStyle>
          <a:p>
            <a:r>
              <a:rPr lang="zh-CN" altLang="en-US" dirty="0"/>
              <a:t>您的标题</a:t>
            </a:r>
          </a:p>
        </p:txBody>
      </p:sp>
      <p:sp>
        <p:nvSpPr>
          <p:cNvPr id="3" name="日期占位符 2">
            <a:extLst>
              <a:ext uri="{FF2B5EF4-FFF2-40B4-BE49-F238E27FC236}">
                <a16:creationId xmlns:a16="http://schemas.microsoft.com/office/drawing/2014/main" id="{FF90257A-E0D7-4177-AD06-D0438DFB07C0}"/>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4" name="页脚占位符 3">
            <a:extLst>
              <a:ext uri="{FF2B5EF4-FFF2-40B4-BE49-F238E27FC236}">
                <a16:creationId xmlns:a16="http://schemas.microsoft.com/office/drawing/2014/main" id="{AA59EF1F-E48B-4572-AFA6-9223EEDA4CD5}"/>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C5642131-6F27-4CD8-BC49-77A38D323344}"/>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cxnSp>
        <p:nvCxnSpPr>
          <p:cNvPr id="11" name="直接连接符 10">
            <a:extLst>
              <a:ext uri="{FF2B5EF4-FFF2-40B4-BE49-F238E27FC236}">
                <a16:creationId xmlns:a16="http://schemas.microsoft.com/office/drawing/2014/main" id="{22493CCB-3E36-4236-8100-250B5789327E}"/>
              </a:ext>
            </a:extLst>
          </p:cNvPr>
          <p:cNvCxnSpPr>
            <a:cxnSpLocks/>
          </p:cNvCxnSpPr>
          <p:nvPr userDrawn="1"/>
        </p:nvCxnSpPr>
        <p:spPr>
          <a:xfrm>
            <a:off x="614506" y="3225223"/>
            <a:ext cx="5400000"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73500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4" name="任意多边形: 形状 23">
            <a:extLst>
              <a:ext uri="{FF2B5EF4-FFF2-40B4-BE49-F238E27FC236}">
                <a16:creationId xmlns:a16="http://schemas.microsoft.com/office/drawing/2014/main" id="{872EF6DB-335D-41E7-ADDC-05F45EA1790E}"/>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endParaRPr>
          </a:p>
        </p:txBody>
      </p:sp>
      <p:sp>
        <p:nvSpPr>
          <p:cNvPr id="26" name="任意多边形: 形状 25">
            <a:extLst>
              <a:ext uri="{FF2B5EF4-FFF2-40B4-BE49-F238E27FC236}">
                <a16:creationId xmlns:a16="http://schemas.microsoft.com/office/drawing/2014/main" id="{B97DF034-3308-4BA6-A390-1C3EEDAA1039}"/>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8DD4F395-8B6B-44FF-AEA2-0678D1267BD3}"/>
              </a:ext>
            </a:extLst>
          </p:cNvPr>
          <p:cNvSpPr txBox="1"/>
          <p:nvPr userDrawn="1"/>
        </p:nvSpPr>
        <p:spPr>
          <a:xfrm>
            <a:off x="1631891"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目的</a:t>
            </a:r>
          </a:p>
        </p:txBody>
      </p:sp>
      <p:sp>
        <p:nvSpPr>
          <p:cNvPr id="8" name="文本框 7">
            <a:extLst>
              <a:ext uri="{FF2B5EF4-FFF2-40B4-BE49-F238E27FC236}">
                <a16:creationId xmlns:a16="http://schemas.microsoft.com/office/drawing/2014/main" id="{427D3A01-F252-4C41-8BC6-F092A5A72F4B}"/>
              </a:ext>
            </a:extLst>
          </p:cNvPr>
          <p:cNvSpPr txBox="1"/>
          <p:nvPr userDrawn="1"/>
        </p:nvSpPr>
        <p:spPr>
          <a:xfrm>
            <a:off x="5695892"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内容</a:t>
            </a:r>
          </a:p>
        </p:txBody>
      </p:sp>
      <p:sp>
        <p:nvSpPr>
          <p:cNvPr id="9" name="文本框 8">
            <a:extLst>
              <a:ext uri="{FF2B5EF4-FFF2-40B4-BE49-F238E27FC236}">
                <a16:creationId xmlns:a16="http://schemas.microsoft.com/office/drawing/2014/main" id="{8BAC99D5-D54E-46FC-BFF8-708B6E60380C}"/>
              </a:ext>
            </a:extLst>
          </p:cNvPr>
          <p:cNvSpPr txBox="1"/>
          <p:nvPr userDrawn="1"/>
        </p:nvSpPr>
        <p:spPr>
          <a:xfrm>
            <a:off x="9759893"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方法</a:t>
            </a:r>
          </a:p>
        </p:txBody>
      </p:sp>
      <p:cxnSp>
        <p:nvCxnSpPr>
          <p:cNvPr id="10" name="直接连接符 9">
            <a:extLst>
              <a:ext uri="{FF2B5EF4-FFF2-40B4-BE49-F238E27FC236}">
                <a16:creationId xmlns:a16="http://schemas.microsoft.com/office/drawing/2014/main" id="{D7548DB8-CC5F-4DFF-B626-5319B3D2402C}"/>
              </a:ext>
            </a:extLst>
          </p:cNvPr>
          <p:cNvCxnSpPr>
            <a:cxnSpLocks/>
          </p:cNvCxnSpPr>
          <p:nvPr userDrawn="1"/>
        </p:nvCxnSpPr>
        <p:spPr>
          <a:xfrm>
            <a:off x="4064001"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9CFE4804-C16E-4603-965B-8F204284D65D}"/>
              </a:ext>
            </a:extLst>
          </p:cNvPr>
          <p:cNvCxnSpPr>
            <a:cxnSpLocks/>
          </p:cNvCxnSpPr>
          <p:nvPr userDrawn="1"/>
        </p:nvCxnSpPr>
        <p:spPr>
          <a:xfrm>
            <a:off x="8128002"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pic>
        <p:nvPicPr>
          <p:cNvPr id="13" name="图形 12" descr="目标">
            <a:extLst>
              <a:ext uri="{FF2B5EF4-FFF2-40B4-BE49-F238E27FC236}">
                <a16:creationId xmlns:a16="http://schemas.microsoft.com/office/drawing/2014/main" id="{5F6A3449-0D92-433C-A864-01A24F63924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72000" y="5638706"/>
            <a:ext cx="720000" cy="720000"/>
          </a:xfrm>
          <a:prstGeom prst="rect">
            <a:avLst/>
          </a:prstGeom>
          <a:effectLst>
            <a:outerShdw blurRad="50800" dist="38100" dir="2700000" algn="tl" rotWithShape="0">
              <a:prstClr val="black">
                <a:alpha val="40000"/>
              </a:prstClr>
            </a:outerShdw>
          </a:effectLst>
        </p:spPr>
      </p:pic>
      <p:pic>
        <p:nvPicPr>
          <p:cNvPr id="14" name="图形 13" descr="书架上的书籍">
            <a:extLst>
              <a:ext uri="{FF2B5EF4-FFF2-40B4-BE49-F238E27FC236}">
                <a16:creationId xmlns:a16="http://schemas.microsoft.com/office/drawing/2014/main" id="{CC8CEF7F-C697-427C-930F-C7264572460C}"/>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736002" y="5638706"/>
            <a:ext cx="720000" cy="720000"/>
          </a:xfrm>
          <a:prstGeom prst="rect">
            <a:avLst/>
          </a:prstGeom>
          <a:effectLst>
            <a:outerShdw blurRad="50800" dist="38100" dir="2700000" algn="tl" rotWithShape="0">
              <a:prstClr val="black">
                <a:alpha val="40000"/>
              </a:prstClr>
            </a:outerShdw>
          </a:effectLst>
        </p:spPr>
      </p:pic>
      <p:pic>
        <p:nvPicPr>
          <p:cNvPr id="15" name="图形 14" descr="网络">
            <a:extLst>
              <a:ext uri="{FF2B5EF4-FFF2-40B4-BE49-F238E27FC236}">
                <a16:creationId xmlns:a16="http://schemas.microsoft.com/office/drawing/2014/main" id="{85C2B8D7-7E95-424F-8E20-691C339D95E3}"/>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800001" y="5638706"/>
            <a:ext cx="720000" cy="720000"/>
          </a:xfrm>
          <a:prstGeom prst="rect">
            <a:avLst/>
          </a:prstGeom>
          <a:effectLst>
            <a:outerShdw blurRad="50800" dist="38100" dir="2700000" algn="tl" rotWithShape="0">
              <a:prstClr val="black">
                <a:alpha val="40000"/>
              </a:prstClr>
            </a:outerShdw>
          </a:effectLst>
        </p:spPr>
      </p:pic>
      <p:sp>
        <p:nvSpPr>
          <p:cNvPr id="22" name="文本框 21">
            <a:extLst>
              <a:ext uri="{FF2B5EF4-FFF2-40B4-BE49-F238E27FC236}">
                <a16:creationId xmlns:a16="http://schemas.microsoft.com/office/drawing/2014/main" id="{6660A799-546B-4882-8909-A983FC4ABC61}"/>
              </a:ext>
            </a:extLst>
          </p:cNvPr>
          <p:cNvSpPr txBox="1"/>
          <p:nvPr userDrawn="1"/>
        </p:nvSpPr>
        <p:spPr>
          <a:xfrm>
            <a:off x="1063720" y="200196"/>
            <a:ext cx="1620957" cy="430887"/>
          </a:xfrm>
          <a:prstGeom prst="rect">
            <a:avLst/>
          </a:prstGeom>
          <a:noFill/>
        </p:spPr>
        <p:txBody>
          <a:bodyPr wrap="none" tIns="0" bIns="0" rtlCol="0">
            <a:spAutoFit/>
          </a:bodyPr>
          <a:lstStyle/>
          <a:p>
            <a:r>
              <a:rPr lang="zh-CN" altLang="en-US" sz="2800" dirty="0">
                <a:solidFill>
                  <a:schemeClr val="bg1"/>
                </a:solidFill>
                <a:latin typeface="微软雅黑" panose="020B0503020204020204" pitchFamily="34" charset="-122"/>
                <a:ea typeface="微软雅黑" panose="020B0503020204020204" pitchFamily="34" charset="-122"/>
              </a:rPr>
              <a:t>教学提要</a:t>
            </a:r>
          </a:p>
        </p:txBody>
      </p:sp>
      <p:sp>
        <p:nvSpPr>
          <p:cNvPr id="23" name="文本框 22">
            <a:extLst>
              <a:ext uri="{FF2B5EF4-FFF2-40B4-BE49-F238E27FC236}">
                <a16:creationId xmlns:a16="http://schemas.microsoft.com/office/drawing/2014/main" id="{D294F16A-79FE-42E9-B032-C943CD83D3C3}"/>
              </a:ext>
            </a:extLst>
          </p:cNvPr>
          <p:cNvSpPr txBox="1"/>
          <p:nvPr userDrawn="1"/>
        </p:nvSpPr>
        <p:spPr>
          <a:xfrm>
            <a:off x="1063720" y="667916"/>
            <a:ext cx="904415" cy="307777"/>
          </a:xfrm>
          <a:prstGeom prst="rect">
            <a:avLst/>
          </a:prstGeom>
          <a:noFill/>
        </p:spPr>
        <p:txBody>
          <a:bodyPr wrap="none" tIns="0" bIns="0" rtlCol="0" anchor="ctr" anchorCtr="0">
            <a:spAutoFit/>
          </a:bodyPr>
          <a:lstStyle/>
          <a:p>
            <a:r>
              <a:rPr lang="en-US" altLang="zh-CN" sz="2000" dirty="0">
                <a:solidFill>
                  <a:schemeClr val="bg1"/>
                </a:solidFill>
                <a:latin typeface="Cuprum" panose="00000500000000000000" pitchFamily="2" charset="0"/>
                <a:cs typeface="Courier New" panose="02070309020205020404" pitchFamily="49" charset="0"/>
              </a:rPr>
              <a:t>Agenda</a:t>
            </a:r>
            <a:endParaRPr lang="zh-CN" altLang="en-US" sz="2000" dirty="0">
              <a:solidFill>
                <a:schemeClr val="bg1"/>
              </a:solidFill>
              <a:latin typeface="Cuprum" panose="00000500000000000000" pitchFamily="2" charset="0"/>
              <a:cs typeface="Courier New" panose="02070309020205020404" pitchFamily="49" charset="0"/>
            </a:endParaRPr>
          </a:p>
        </p:txBody>
      </p:sp>
      <p:sp>
        <p:nvSpPr>
          <p:cNvPr id="25" name="文本占位符 24">
            <a:extLst>
              <a:ext uri="{FF2B5EF4-FFF2-40B4-BE49-F238E27FC236}">
                <a16:creationId xmlns:a16="http://schemas.microsoft.com/office/drawing/2014/main" id="{EB60AD42-FF03-4CA0-8ABF-406929BED1EC}"/>
              </a:ext>
            </a:extLst>
          </p:cNvPr>
          <p:cNvSpPr>
            <a:spLocks noGrp="1"/>
          </p:cNvSpPr>
          <p:nvPr>
            <p:ph type="body" sz="quarter" idx="13" hasCustomPrompt="1"/>
          </p:nvPr>
        </p:nvSpPr>
        <p:spPr>
          <a:xfrm>
            <a:off x="281711"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目的</a:t>
            </a:r>
          </a:p>
        </p:txBody>
      </p:sp>
      <p:sp>
        <p:nvSpPr>
          <p:cNvPr id="27" name="文本占位符 24">
            <a:extLst>
              <a:ext uri="{FF2B5EF4-FFF2-40B4-BE49-F238E27FC236}">
                <a16:creationId xmlns:a16="http://schemas.microsoft.com/office/drawing/2014/main" id="{368D48CB-0F41-46BD-8EB8-7B328BCBE4BA}"/>
              </a:ext>
            </a:extLst>
          </p:cNvPr>
          <p:cNvSpPr>
            <a:spLocks noGrp="1"/>
          </p:cNvSpPr>
          <p:nvPr>
            <p:ph type="body" sz="quarter" idx="14" hasCustomPrompt="1"/>
          </p:nvPr>
        </p:nvSpPr>
        <p:spPr>
          <a:xfrm>
            <a:off x="4301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内容</a:t>
            </a:r>
          </a:p>
        </p:txBody>
      </p:sp>
      <p:sp>
        <p:nvSpPr>
          <p:cNvPr id="28" name="文本占位符 24">
            <a:extLst>
              <a:ext uri="{FF2B5EF4-FFF2-40B4-BE49-F238E27FC236}">
                <a16:creationId xmlns:a16="http://schemas.microsoft.com/office/drawing/2014/main" id="{124F4B73-3192-4168-A53C-EA5989F13E18}"/>
              </a:ext>
            </a:extLst>
          </p:cNvPr>
          <p:cNvSpPr>
            <a:spLocks noGrp="1"/>
          </p:cNvSpPr>
          <p:nvPr>
            <p:ph type="body" sz="quarter" idx="15" hasCustomPrompt="1"/>
          </p:nvPr>
        </p:nvSpPr>
        <p:spPr>
          <a:xfrm>
            <a:off x="8365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方法</a:t>
            </a:r>
          </a:p>
        </p:txBody>
      </p:sp>
    </p:spTree>
    <p:extLst>
      <p:ext uri="{BB962C8B-B14F-4D97-AF65-F5344CB8AC3E}">
        <p14:creationId xmlns:p14="http://schemas.microsoft.com/office/powerpoint/2010/main" val="19846264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0F97C28D-DC26-4CF7-83F5-C3B9B04DD767}"/>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outerShdw blurRad="50800" dist="292100" dir="5400000" algn="t" rotWithShape="0">
                  <a:prstClr val="black">
                    <a:alpha val="40000"/>
                  </a:prstClr>
                </a:outerShdw>
              </a:effectLst>
            </a:endParaRPr>
          </a:p>
        </p:txBody>
      </p:sp>
      <p:sp>
        <p:nvSpPr>
          <p:cNvPr id="7" name="任意多边形: 形状 6">
            <a:extLst>
              <a:ext uri="{FF2B5EF4-FFF2-40B4-BE49-F238E27FC236}">
                <a16:creationId xmlns:a16="http://schemas.microsoft.com/office/drawing/2014/main" id="{4F547696-785B-4726-9AF3-FE5598EE0F62}"/>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latin typeface="微软雅黑" panose="020B0503020204020204" pitchFamily="34" charset="-122"/>
              <a:ea typeface="微软雅黑" panose="020B0503020204020204" pitchFamily="34" charset="-122"/>
            </a:endParaRPr>
          </a:p>
        </p:txBody>
      </p:sp>
      <p:sp>
        <p:nvSpPr>
          <p:cNvPr id="11" name="文本占位符 10">
            <a:extLst>
              <a:ext uri="{FF2B5EF4-FFF2-40B4-BE49-F238E27FC236}">
                <a16:creationId xmlns:a16="http://schemas.microsoft.com/office/drawing/2014/main" id="{479E73C8-D085-4471-829E-9BABEBFCF861}"/>
              </a:ext>
            </a:extLst>
          </p:cNvPr>
          <p:cNvSpPr>
            <a:spLocks noGrp="1"/>
          </p:cNvSpPr>
          <p:nvPr>
            <p:ph type="body" sz="quarter" idx="13"/>
          </p:nvPr>
        </p:nvSpPr>
        <p:spPr>
          <a:xfrm>
            <a:off x="1604961" y="260538"/>
            <a:ext cx="6088307" cy="525401"/>
          </a:xfrm>
        </p:spPr>
        <p:txBody>
          <a:bodyPr wrap="square" lIns="90000" tIns="46800" rIns="90000" bIns="46800" anchor="t" anchorCtr="0">
            <a:spAutoFit/>
          </a:bodyPr>
          <a:lstStyle>
            <a:lvl1pPr marL="0" indent="0">
              <a:lnSpc>
                <a:spcPct val="100000"/>
              </a:lnSpc>
              <a:spcBef>
                <a:spcPts val="0"/>
              </a:spcBef>
              <a:buNone/>
              <a:defRPr>
                <a:solidFill>
                  <a:schemeClr val="bg1"/>
                </a:soli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defRPr>
            </a:lvl1pPr>
            <a:lvl2pPr>
              <a:buNone/>
              <a:defRPr/>
            </a:lvl2pPr>
            <a:lvl3pPr>
              <a:buNone/>
              <a:defRPr/>
            </a:lvl3pPr>
            <a:lvl4pPr>
              <a:buNone/>
              <a:defRPr/>
            </a:lvl4pPr>
            <a:lvl5pPr>
              <a:buNone/>
              <a:defRPr/>
            </a:lvl5pPr>
          </a:lstStyle>
          <a:p>
            <a:pPr lvl="0"/>
            <a:r>
              <a:rPr lang="zh-CN" altLang="en-US" dirty="0"/>
              <a:t>单击此处编辑母版文本样式</a:t>
            </a:r>
          </a:p>
        </p:txBody>
      </p:sp>
      <p:sp>
        <p:nvSpPr>
          <p:cNvPr id="12" name="文本占位符 10">
            <a:extLst>
              <a:ext uri="{FF2B5EF4-FFF2-40B4-BE49-F238E27FC236}">
                <a16:creationId xmlns:a16="http://schemas.microsoft.com/office/drawing/2014/main" id="{76AD6C77-8004-4467-B069-6582466EB8C0}"/>
              </a:ext>
            </a:extLst>
          </p:cNvPr>
          <p:cNvSpPr>
            <a:spLocks noGrp="1"/>
          </p:cNvSpPr>
          <p:nvPr>
            <p:ph type="body" sz="quarter" idx="14" hasCustomPrompt="1"/>
          </p:nvPr>
        </p:nvSpPr>
        <p:spPr>
          <a:xfrm>
            <a:off x="1604961" y="710691"/>
            <a:ext cx="5464053" cy="402291"/>
          </a:xfrm>
        </p:spPr>
        <p:txBody>
          <a:bodyPr wrap="square" lIns="90000" tIns="46800" rIns="90000" bIns="46800" anchor="t" anchorCtr="0">
            <a:spAutoFit/>
          </a:bodyPr>
          <a:lstStyle>
            <a:lvl1pPr marL="0" indent="0">
              <a:lnSpc>
                <a:spcPct val="100000"/>
              </a:lnSpc>
              <a:spcBef>
                <a:spcPts val="0"/>
              </a:spcBef>
              <a:buNone/>
              <a:defRPr sz="2000">
                <a:solidFill>
                  <a:schemeClr val="bg1"/>
                </a:solidFill>
                <a:effectLst>
                  <a:reflection blurRad="6350" stA="60000" endA="900" endPos="60000" dist="29997" dir="5400000" sy="-100000" algn="bl" rotWithShape="0"/>
                </a:effectLst>
                <a:latin typeface="Cuprum" panose="00000500000000000000" pitchFamily="2" charset="0"/>
                <a:ea typeface="微软雅黑 Light" panose="020B0502040204020203" pitchFamily="34" charset="-122"/>
                <a:cs typeface="Courier New" panose="02070309020205020404" pitchFamily="49" charset="0"/>
              </a:defRPr>
            </a:lvl1pPr>
            <a:lvl2pPr>
              <a:buNone/>
              <a:defRPr/>
            </a:lvl2pPr>
            <a:lvl3pPr>
              <a:buNone/>
              <a:defRPr/>
            </a:lvl3pPr>
            <a:lvl4pPr>
              <a:buNone/>
              <a:defRPr/>
            </a:lvl4pPr>
            <a:lvl5pPr>
              <a:buNone/>
              <a:defRPr/>
            </a:lvl5pPr>
          </a:lstStyle>
          <a:p>
            <a:pPr lvl="0"/>
            <a:r>
              <a:rPr lang="en-US" altLang="zh-CN" dirty="0"/>
              <a:t>subtract</a:t>
            </a:r>
            <a:endParaRPr lang="zh-CN" altLang="en-US" dirty="0"/>
          </a:p>
        </p:txBody>
      </p:sp>
      <p:sp>
        <p:nvSpPr>
          <p:cNvPr id="15" name="文本占位符 14">
            <a:extLst>
              <a:ext uri="{FF2B5EF4-FFF2-40B4-BE49-F238E27FC236}">
                <a16:creationId xmlns:a16="http://schemas.microsoft.com/office/drawing/2014/main" id="{76D1E8DA-E8FF-4717-8930-8018B821FFA3}"/>
              </a:ext>
            </a:extLst>
          </p:cNvPr>
          <p:cNvSpPr>
            <a:spLocks noGrp="1"/>
          </p:cNvSpPr>
          <p:nvPr>
            <p:ph type="body" sz="quarter" idx="15" hasCustomPrompt="1"/>
          </p:nvPr>
        </p:nvSpPr>
        <p:spPr>
          <a:xfrm>
            <a:off x="521110" y="379270"/>
            <a:ext cx="924232" cy="535531"/>
          </a:xfrm>
          <a:effectLst>
            <a:outerShdw blurRad="50800" dist="38100" dir="2700000" algn="tl" rotWithShape="0">
              <a:prstClr val="black">
                <a:alpha val="40000"/>
              </a:prstClr>
            </a:outerShdw>
          </a:effectLst>
        </p:spPr>
        <p:txBody>
          <a:bodyPr wrap="square" anchor="ctr" anchorCtr="0">
            <a:spAutoFit/>
          </a:bodyPr>
          <a:lstStyle>
            <a:lvl1pPr algn="ctr">
              <a:buNone/>
              <a:defRPr sz="3200" b="0">
                <a:solidFill>
                  <a:srgbClr val="FFC000"/>
                </a:solidFill>
                <a:latin typeface="Cuprum" panose="00000500000000000000" pitchFamily="2" charset="0"/>
                <a:ea typeface="黑体" panose="02010609060101010101" pitchFamily="49" charset="-122"/>
                <a:cs typeface="Courier New" panose="02070309020205020404" pitchFamily="49" charset="0"/>
              </a:defRPr>
            </a:lvl1pPr>
            <a:lvl2pPr>
              <a:buNone/>
              <a:defRPr/>
            </a:lvl2pPr>
            <a:lvl3pPr>
              <a:buNone/>
              <a:defRPr/>
            </a:lvl3pPr>
            <a:lvl4pPr>
              <a:buNone/>
              <a:defRPr/>
            </a:lvl4pPr>
            <a:lvl5pPr>
              <a:buNone/>
              <a:defRPr/>
            </a:lvl5pPr>
          </a:lstStyle>
          <a:p>
            <a:pPr lvl="0"/>
            <a:r>
              <a:rPr lang="en-US" altLang="zh-CN" dirty="0"/>
              <a:t>8.8</a:t>
            </a:r>
            <a:endParaRPr lang="zh-CN" altLang="en-US" dirty="0"/>
          </a:p>
        </p:txBody>
      </p:sp>
    </p:spTree>
    <p:extLst>
      <p:ext uri="{BB962C8B-B14F-4D97-AF65-F5344CB8AC3E}">
        <p14:creationId xmlns:p14="http://schemas.microsoft.com/office/powerpoint/2010/main" val="2315701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005FB0-2997-488D-A595-5502E8ECDE76}"/>
              </a:ext>
            </a:extLst>
          </p:cNvPr>
          <p:cNvSpPr>
            <a:spLocks noGrp="1"/>
          </p:cNvSpPr>
          <p:nvPr>
            <p:ph type="title" hasCustomPrompt="1"/>
          </p:nvPr>
        </p:nvSpPr>
        <p:spPr>
          <a:xfrm>
            <a:off x="3942586" y="1697941"/>
            <a:ext cx="867930" cy="4658409"/>
          </a:xfrm>
          <a:effectLst>
            <a:outerShdw blurRad="50800" dist="38100" dir="2700000" algn="tl" rotWithShape="0">
              <a:prstClr val="black">
                <a:alpha val="40000"/>
              </a:prstClr>
            </a:outerShdw>
          </a:effectLst>
        </p:spPr>
        <p:txBody>
          <a:bodyPr vert="eaVert" wrap="square">
            <a:spAutoFit/>
          </a:bodyPr>
          <a:lstStyle>
            <a:lvl1pPr algn="l">
              <a:defRPr sz="4800">
                <a:solidFill>
                  <a:schemeClr val="accent2"/>
                </a:solidFill>
                <a:latin typeface="禹卫书法行书简体&#10;" panose="02000603000000000000" pitchFamily="2" charset="-122"/>
                <a:ea typeface="禹卫书法行书简体&#10;" panose="02000603000000000000" pitchFamily="2" charset="-122"/>
              </a:defRPr>
            </a:lvl1pPr>
          </a:lstStyle>
          <a:p>
            <a:r>
              <a:rPr lang="zh-CN" altLang="en-US" dirty="0"/>
              <a:t>标题样式</a:t>
            </a:r>
          </a:p>
        </p:txBody>
      </p:sp>
      <p:sp>
        <p:nvSpPr>
          <p:cNvPr id="25" name="竖排文字占位符 24">
            <a:extLst>
              <a:ext uri="{FF2B5EF4-FFF2-40B4-BE49-F238E27FC236}">
                <a16:creationId xmlns:a16="http://schemas.microsoft.com/office/drawing/2014/main" id="{6346FA6A-882F-4DAD-8054-8A0A5C32D9D7}"/>
              </a:ext>
            </a:extLst>
          </p:cNvPr>
          <p:cNvSpPr>
            <a:spLocks noGrp="1"/>
          </p:cNvSpPr>
          <p:nvPr>
            <p:ph type="body" orient="vert" sz="quarter" idx="15" hasCustomPrompt="1"/>
          </p:nvPr>
        </p:nvSpPr>
        <p:spPr>
          <a:xfrm>
            <a:off x="338173" y="2067273"/>
            <a:ext cx="3544191" cy="377026"/>
          </a:xfrm>
        </p:spPr>
        <p:txBody>
          <a:bodyPr vert="horz" wrap="square">
            <a:spAutoFit/>
          </a:bodyPr>
          <a:lstStyle>
            <a:lvl1pPr marL="0" indent="0" algn="r">
              <a:buNone/>
              <a:defRPr sz="2000">
                <a:solidFill>
                  <a:schemeClr val="bg2">
                    <a:lumMod val="50000"/>
                  </a:schemeClr>
                </a:solidFill>
                <a:effectLst/>
                <a:latin typeface="Cuprum" panose="00000500000000000000" pitchFamily="2" charset="0"/>
                <a:ea typeface="微软雅黑 Light" panose="020B0502040204020203" pitchFamily="34" charset="-122"/>
                <a:cs typeface="Courier New" panose="02070309020205020404" pitchFamily="49"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subtitle</a:t>
            </a:r>
            <a:endParaRPr lang="zh-CN" altLang="en-US" dirty="0"/>
          </a:p>
        </p:txBody>
      </p:sp>
      <p:sp>
        <p:nvSpPr>
          <p:cNvPr id="27" name="竖排文字占位符 24">
            <a:extLst>
              <a:ext uri="{FF2B5EF4-FFF2-40B4-BE49-F238E27FC236}">
                <a16:creationId xmlns:a16="http://schemas.microsoft.com/office/drawing/2014/main" id="{B361453A-2AA1-4AB2-B1BE-0D3BB1AD550C}"/>
              </a:ext>
            </a:extLst>
          </p:cNvPr>
          <p:cNvSpPr>
            <a:spLocks noGrp="1"/>
          </p:cNvSpPr>
          <p:nvPr>
            <p:ph type="body" orient="vert" sz="quarter" idx="16" hasCustomPrompt="1"/>
          </p:nvPr>
        </p:nvSpPr>
        <p:spPr>
          <a:xfrm>
            <a:off x="840626" y="1697941"/>
            <a:ext cx="3041738" cy="369332"/>
          </a:xfrm>
        </p:spPr>
        <p:txBody>
          <a:bodyPr vert="horz" wrap="square">
            <a:spAutoFit/>
          </a:bodyPr>
          <a:lstStyle>
            <a:lvl1pPr marL="0" indent="0" algn="r">
              <a:buNone/>
              <a:defRPr sz="2000">
                <a:solidFill>
                  <a:sysClr val="windowText" lastClr="000000"/>
                </a:solidFill>
                <a:effectLst/>
                <a:latin typeface="微软雅黑" panose="020B0503020204020204" pitchFamily="34" charset="-122"/>
                <a:ea typeface="微软雅黑" panose="020B0503020204020204" pitchFamily="34" charset="-122"/>
                <a:cs typeface="Courier New" panose="02070309020205020404" pitchFamily="49" charset="0"/>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第一部分</a:t>
            </a:r>
          </a:p>
        </p:txBody>
      </p:sp>
      <p:cxnSp>
        <p:nvCxnSpPr>
          <p:cNvPr id="29" name="直接连接符 28">
            <a:extLst>
              <a:ext uri="{FF2B5EF4-FFF2-40B4-BE49-F238E27FC236}">
                <a16:creationId xmlns:a16="http://schemas.microsoft.com/office/drawing/2014/main" id="{61A0E528-98EB-423E-A2A9-C3217E69E5E1}"/>
              </a:ext>
            </a:extLst>
          </p:cNvPr>
          <p:cNvCxnSpPr>
            <a:cxnSpLocks/>
          </p:cNvCxnSpPr>
          <p:nvPr userDrawn="1"/>
        </p:nvCxnSpPr>
        <p:spPr>
          <a:xfrm>
            <a:off x="394258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B11B7B2D-DE81-402D-B54B-FF109433EA4C}"/>
              </a:ext>
            </a:extLst>
          </p:cNvPr>
          <p:cNvCxnSpPr>
            <a:cxnSpLocks/>
          </p:cNvCxnSpPr>
          <p:nvPr userDrawn="1"/>
        </p:nvCxnSpPr>
        <p:spPr>
          <a:xfrm>
            <a:off x="481051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sp>
        <p:nvSpPr>
          <p:cNvPr id="32" name="图片占位符 31">
            <a:extLst>
              <a:ext uri="{FF2B5EF4-FFF2-40B4-BE49-F238E27FC236}">
                <a16:creationId xmlns:a16="http://schemas.microsoft.com/office/drawing/2014/main" id="{6EBF693F-3817-45D1-853E-27814ADF03B1}"/>
              </a:ext>
            </a:extLst>
          </p:cNvPr>
          <p:cNvSpPr>
            <a:spLocks noGrp="1"/>
          </p:cNvSpPr>
          <p:nvPr>
            <p:ph type="pic" sz="quarter" idx="17" hasCustomPrompt="1"/>
          </p:nvPr>
        </p:nvSpPr>
        <p:spPr>
          <a:xfrm>
            <a:off x="0" y="2462651"/>
            <a:ext cx="4536525" cy="4388998"/>
          </a:xfrm>
          <a:custGeom>
            <a:avLst/>
            <a:gdLst>
              <a:gd name="connsiteX0" fmla="*/ 0 w 4536525"/>
              <a:gd name="connsiteY0" fmla="*/ 1265183 h 4388998"/>
              <a:gd name="connsiteX1" fmla="*/ 3287951 w 4536525"/>
              <a:gd name="connsiteY1" fmla="*/ 4388998 h 4388998"/>
              <a:gd name="connsiteX2" fmla="*/ 0 w 4536525"/>
              <a:gd name="connsiteY2" fmla="*/ 4388998 h 4388998"/>
              <a:gd name="connsiteX3" fmla="*/ 0 w 4536525"/>
              <a:gd name="connsiteY3" fmla="*/ 0 h 4388998"/>
              <a:gd name="connsiteX4" fmla="*/ 4536525 w 4536525"/>
              <a:gd name="connsiteY4" fmla="*/ 4388998 h 4388998"/>
              <a:gd name="connsiteX5" fmla="*/ 3835333 w 4536525"/>
              <a:gd name="connsiteY5" fmla="*/ 4388998 h 4388998"/>
              <a:gd name="connsiteX6" fmla="*/ 0 w 4536525"/>
              <a:gd name="connsiteY6" fmla="*/ 745126 h 4388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6525" h="4388998">
                <a:moveTo>
                  <a:pt x="0" y="1265183"/>
                </a:moveTo>
                <a:lnTo>
                  <a:pt x="3287951" y="4388998"/>
                </a:lnTo>
                <a:lnTo>
                  <a:pt x="0" y="4388998"/>
                </a:lnTo>
                <a:close/>
                <a:moveTo>
                  <a:pt x="0" y="0"/>
                </a:moveTo>
                <a:lnTo>
                  <a:pt x="4536525" y="4388998"/>
                </a:lnTo>
                <a:lnTo>
                  <a:pt x="3835333" y="4388998"/>
                </a:lnTo>
                <a:lnTo>
                  <a:pt x="0" y="745126"/>
                </a:lnTo>
                <a:close/>
              </a:path>
            </a:pathLst>
          </a:custGeom>
        </p:spPr>
        <p:txBody>
          <a:bodyPr wrap="square">
            <a:noAutofit/>
          </a:bodyPr>
          <a:lstStyle>
            <a:lvl1pPr marL="0" indent="0">
              <a:buNone/>
              <a:defRPr sz="1600">
                <a:latin typeface="Cuprum" panose="00000500000000000000" pitchFamily="2" charset="0"/>
              </a:defRPr>
            </a:lvl1pPr>
          </a:lstStyle>
          <a:p>
            <a:r>
              <a:rPr lang="en-US" altLang="zh-CN" dirty="0"/>
              <a:t>pic</a:t>
            </a:r>
            <a:endParaRPr lang="zh-CN" altLang="en-US" dirty="0"/>
          </a:p>
        </p:txBody>
      </p:sp>
    </p:spTree>
    <p:extLst>
      <p:ext uri="{BB962C8B-B14F-4D97-AF65-F5344CB8AC3E}">
        <p14:creationId xmlns:p14="http://schemas.microsoft.com/office/powerpoint/2010/main" val="1218995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17" name="图片占位符 16">
            <a:extLst>
              <a:ext uri="{FF2B5EF4-FFF2-40B4-BE49-F238E27FC236}">
                <a16:creationId xmlns:a16="http://schemas.microsoft.com/office/drawing/2014/main" id="{638AA98E-5F09-43E5-917B-A3DC0516110E}"/>
              </a:ext>
            </a:extLst>
          </p:cNvPr>
          <p:cNvSpPr>
            <a:spLocks noGrp="1"/>
          </p:cNvSpPr>
          <p:nvPr>
            <p:ph type="pic" sz="quarter" idx="13"/>
          </p:nvPr>
        </p:nvSpPr>
        <p:spPr>
          <a:xfrm>
            <a:off x="1" y="0"/>
            <a:ext cx="5681691" cy="6858000"/>
          </a:xfrm>
          <a:custGeom>
            <a:avLst/>
            <a:gdLst>
              <a:gd name="connsiteX0" fmla="*/ 0 w 5681691"/>
              <a:gd name="connsiteY0" fmla="*/ 0 h 6858000"/>
              <a:gd name="connsiteX1" fmla="*/ 4235570 w 5681691"/>
              <a:gd name="connsiteY1" fmla="*/ 0 h 6858000"/>
              <a:gd name="connsiteX2" fmla="*/ 5681691 w 5681691"/>
              <a:gd name="connsiteY2" fmla="*/ 6858000 h 6858000"/>
              <a:gd name="connsiteX3" fmla="*/ 0 w 56816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681691" h="6858000">
                <a:moveTo>
                  <a:pt x="0" y="0"/>
                </a:moveTo>
                <a:lnTo>
                  <a:pt x="4235570" y="0"/>
                </a:lnTo>
                <a:lnTo>
                  <a:pt x="5681691" y="6858000"/>
                </a:lnTo>
                <a:lnTo>
                  <a:pt x="0" y="6858000"/>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7006668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C0AB9B-B4C6-4335-BBEA-733E61F1438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1D73ADF-EB6E-4951-8AEE-470E11C29C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0EF8459A-280B-4402-82DF-45E2E74D21E9}"/>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5" name="页脚占位符 4">
            <a:extLst>
              <a:ext uri="{FF2B5EF4-FFF2-40B4-BE49-F238E27FC236}">
                <a16:creationId xmlns:a16="http://schemas.microsoft.com/office/drawing/2014/main" id="{6BA8A4CF-DCF9-4C31-BE34-EAEB1AB039C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F6BB3A5-AE0C-4A84-9B48-317522CA8A4C}"/>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6682837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260034-5784-45A7-BACA-8373E2EB9ED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59B18E-B35F-4870-BA58-F21E0844B388}"/>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376B5C9B-93DC-4925-B195-50F5AE9C4DA5}"/>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013FECBF-399D-4B34-9CE2-5AFA284D2DA6}"/>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6" name="页脚占位符 5">
            <a:extLst>
              <a:ext uri="{FF2B5EF4-FFF2-40B4-BE49-F238E27FC236}">
                <a16:creationId xmlns:a16="http://schemas.microsoft.com/office/drawing/2014/main" id="{78AC81F6-D459-4BEA-9207-A7A47BC8F77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60A4FAA-4B08-48BF-98AA-6F224CC1D1E0}"/>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709187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F1AF22E-A027-4405-86A2-7A3F4E58C80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68562267-9DBD-43D4-B2EE-009DE40296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4D3605B4-3DB3-47E9-8C46-665D3753D588}"/>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26BFB8A-C315-4CE7-A251-0A59BECFF6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DCEF883-8D88-4323-A582-25616B88A2E2}"/>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86F7E456-3D6D-4CB5-8E83-8CB7A62CE426}"/>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8" name="页脚占位符 7">
            <a:extLst>
              <a:ext uri="{FF2B5EF4-FFF2-40B4-BE49-F238E27FC236}">
                <a16:creationId xmlns:a16="http://schemas.microsoft.com/office/drawing/2014/main" id="{8045CA97-12BB-4F54-A565-114E263A1AD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F0823906-C7BE-467E-A046-ED1D882AD62D}"/>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0204509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0C55AF-F3A8-4BDC-96D3-7BC22FDA1825}"/>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54649A4A-0336-4C80-9947-7BB25E5D9D1F}"/>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4" name="页脚占位符 3">
            <a:extLst>
              <a:ext uri="{FF2B5EF4-FFF2-40B4-BE49-F238E27FC236}">
                <a16:creationId xmlns:a16="http://schemas.microsoft.com/office/drawing/2014/main" id="{66F81800-4306-4CE3-B63B-ECD90D6D8170}"/>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A7F7C15-DC15-41B2-A55F-4FC5559B2679}"/>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9701944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6FBA4E6-A06C-46B5-991D-700277B3F9ED}"/>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3" name="页脚占位符 2">
            <a:extLst>
              <a:ext uri="{FF2B5EF4-FFF2-40B4-BE49-F238E27FC236}">
                <a16:creationId xmlns:a16="http://schemas.microsoft.com/office/drawing/2014/main" id="{8D5A8B00-6F22-4CCF-AEC8-715292865619}"/>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8E0DD354-D49B-490B-9880-5DA123ECE1C3}"/>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3736262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10153031" y="214145"/>
            <a:ext cx="2045753"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点对点信道</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oint to point</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
        <p:nvSpPr>
          <p:cNvPr id="9" name="文本占位符 8">
            <a:extLst>
              <a:ext uri="{FF2B5EF4-FFF2-40B4-BE49-F238E27FC236}">
                <a16:creationId xmlns:a16="http://schemas.microsoft.com/office/drawing/2014/main" id="{5F533DD3-707A-47BE-959C-6F1192566DB6}"/>
              </a:ext>
            </a:extLst>
          </p:cNvPr>
          <p:cNvSpPr>
            <a:spLocks noGrp="1"/>
          </p:cNvSpPr>
          <p:nvPr>
            <p:ph type="body" sz="quarter" idx="13" hasCustomPrompt="1"/>
          </p:nvPr>
        </p:nvSpPr>
        <p:spPr>
          <a:xfrm>
            <a:off x="5924549" y="177566"/>
            <a:ext cx="3286125" cy="542516"/>
          </a:xfrm>
        </p:spPr>
        <p:txBody>
          <a:bodyPr anchor="ctr" anchorCtr="0"/>
          <a:lstStyle>
            <a:lvl1pPr marL="0" indent="0" algn="r">
              <a:buNone/>
              <a:defRPr>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22929437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53725" y="217993"/>
            <a:ext cx="3257623"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oint to point protocol</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50973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自定义版式">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AC4A25A8-D937-4A9C-A9E7-E781EB57272A}"/>
              </a:ext>
            </a:extLst>
          </p:cNvPr>
          <p:cNvGrpSpPr/>
          <p:nvPr userDrawn="1"/>
        </p:nvGrpSpPr>
        <p:grpSpPr>
          <a:xfrm>
            <a:off x="0" y="-36940"/>
            <a:ext cx="7405238" cy="941457"/>
            <a:chOff x="0" y="-36940"/>
            <a:chExt cx="7405238" cy="941457"/>
          </a:xfrm>
        </p:grpSpPr>
        <p:sp>
          <p:nvSpPr>
            <p:cNvPr id="7" name="椭圆 6">
              <a:extLst>
                <a:ext uri="{FF2B5EF4-FFF2-40B4-BE49-F238E27FC236}">
                  <a16:creationId xmlns:a16="http://schemas.microsoft.com/office/drawing/2014/main" id="{87E843EA-B9D4-4CC7-894B-1AF3526991E8}"/>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8FE187DC-AA22-4412-A357-447B5FF85FB6}"/>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a:extLst>
                <a:ext uri="{FF2B5EF4-FFF2-40B4-BE49-F238E27FC236}">
                  <a16:creationId xmlns:a16="http://schemas.microsoft.com/office/drawing/2014/main" id="{8D224968-FDA2-41E8-815B-474DB0710BAF}"/>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a:extLst>
                <a:ext uri="{FF2B5EF4-FFF2-40B4-BE49-F238E27FC236}">
                  <a16:creationId xmlns:a16="http://schemas.microsoft.com/office/drawing/2014/main" id="{B74003B7-80B8-468E-8014-D13D4923C1E3}"/>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a:extLst>
                <a:ext uri="{FF2B5EF4-FFF2-40B4-BE49-F238E27FC236}">
                  <a16:creationId xmlns:a16="http://schemas.microsoft.com/office/drawing/2014/main" id="{487D9F95-28A5-4A3E-BE9B-6AABE21AB851}"/>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37B94F6-D4B0-4F83-B9AB-D9A39DDE5A90}"/>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E44C19E-416E-4BB1-8A1D-A5972A9602E1}"/>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86E3D9EC-5D34-4F96-9DA8-E534722CC6ED}"/>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219D858E-F013-435E-A2CC-644DC7A1745D}"/>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B520004C-342F-4C1B-AAF7-5C576F69129F}"/>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00AA4F56-0C64-4012-A4E1-79AC26A2D796}"/>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E16C959F-AF22-42AA-9C28-0A9E4E2269F8}"/>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2D7B007B-65A9-4F48-97E0-3B27BBCCFABF}"/>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575CDA65-048C-4CF0-B4CF-B01A9C6BD147}"/>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A727F5ED-57A5-4264-8541-450DA187CEF3}"/>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90224AE9-1EDD-463E-BCBB-BC2C54836A65}"/>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A2F849E5-91D1-4E4D-821B-6E302C94EFBD}"/>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0112C4FC-4433-4C44-A185-0C1A1DF96133}"/>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5" name="直接连接符 24">
              <a:extLst>
                <a:ext uri="{FF2B5EF4-FFF2-40B4-BE49-F238E27FC236}">
                  <a16:creationId xmlns:a16="http://schemas.microsoft.com/office/drawing/2014/main" id="{8778D937-D877-4134-A6CF-3190B6B3714D}"/>
                </a:ext>
              </a:extLst>
            </p:cNvPr>
            <p:cNvCxnSpPr>
              <a:stCxn id="7" idx="6"/>
              <a:endCxn id="24"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E7312334-009D-405D-A0D5-2A900BAA9541}"/>
                </a:ext>
              </a:extLst>
            </p:cNvPr>
            <p:cNvCxnSpPr>
              <a:stCxn id="7" idx="2"/>
              <a:endCxn id="8"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4FDD01F8-C550-4825-8B71-64A9D8D21B76}"/>
                </a:ext>
              </a:extLst>
            </p:cNvPr>
            <p:cNvCxnSpPr>
              <a:cxnSpLocks/>
              <a:stCxn id="18" idx="2"/>
              <a:endCxn id="7" idx="0"/>
            </p:cNvCxnSpPr>
            <p:nvPr/>
          </p:nvCxnSpPr>
          <p:spPr>
            <a:xfrm flipH="1">
              <a:off x="6152976" y="1520"/>
              <a:ext cx="601050" cy="5343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AEE1E364-2D62-4862-B35E-424CC82894A9}"/>
                </a:ext>
              </a:extLst>
            </p:cNvPr>
            <p:cNvCxnSpPr>
              <a:stCxn id="15" idx="5"/>
              <a:endCxn id="13"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D5B8B15B-7B95-4E27-BF6B-DF72FBD11E96}"/>
                </a:ext>
              </a:extLst>
            </p:cNvPr>
            <p:cNvCxnSpPr>
              <a:stCxn id="13" idx="3"/>
              <a:endCxn id="14"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F5A592B3-301E-4EFE-89C2-9717E2A072CB}"/>
                </a:ext>
              </a:extLst>
            </p:cNvPr>
            <p:cNvCxnSpPr>
              <a:stCxn id="16" idx="4"/>
              <a:endCxn id="13"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DB71B93D-DE8A-4577-8F32-FEDA4B5618F6}"/>
                </a:ext>
              </a:extLst>
            </p:cNvPr>
            <p:cNvCxnSpPr>
              <a:stCxn id="19" idx="4"/>
              <a:endCxn id="8"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D2BA3EBD-D91E-425D-A7D1-AB720DDECC52}"/>
                </a:ext>
              </a:extLst>
            </p:cNvPr>
            <p:cNvCxnSpPr>
              <a:stCxn id="22" idx="6"/>
              <a:endCxn id="23"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335F4F09-68B4-4009-976B-61F401513220}"/>
                </a:ext>
              </a:extLst>
            </p:cNvPr>
            <p:cNvCxnSpPr>
              <a:stCxn id="12" idx="7"/>
              <a:endCxn id="11"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1B9864BC-D0DC-4673-9AA9-3741895EF6DE}"/>
                </a:ext>
              </a:extLst>
            </p:cNvPr>
            <p:cNvCxnSpPr>
              <a:stCxn id="13" idx="6"/>
              <a:endCxn id="12"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2E8EC60F-BFE5-46A5-979D-D2DA25B540C1}"/>
                </a:ext>
              </a:extLst>
            </p:cNvPr>
            <p:cNvCxnSpPr>
              <a:stCxn id="19" idx="6"/>
              <a:endCxn id="7"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D59DD398-4D25-4AA7-BD13-0A67827BFD70}"/>
                </a:ext>
              </a:extLst>
            </p:cNvPr>
            <p:cNvCxnSpPr>
              <a:stCxn id="19" idx="3"/>
              <a:endCxn id="17"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020FE70A-36B6-4C5A-8A8E-F6BEE47455C3}"/>
                </a:ext>
              </a:extLst>
            </p:cNvPr>
            <p:cNvCxnSpPr>
              <a:stCxn id="9" idx="3"/>
              <a:endCxn id="10"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2ABA945-9A41-409D-B943-4EBC2B3051B1}"/>
                </a:ext>
              </a:extLst>
            </p:cNvPr>
            <p:cNvCxnSpPr>
              <a:stCxn id="11" idx="4"/>
              <a:endCxn id="10"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413B39C-C375-4EC2-BC20-6D2A05A8B431}"/>
                </a:ext>
              </a:extLst>
            </p:cNvPr>
            <p:cNvCxnSpPr>
              <a:stCxn id="12" idx="5"/>
              <a:endCxn id="10"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07DE512A-1727-4E40-A19D-86EC29F68311}"/>
                </a:ext>
              </a:extLst>
            </p:cNvPr>
            <p:cNvCxnSpPr>
              <a:stCxn id="16" idx="6"/>
              <a:endCxn id="12"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26EA8419-1718-4CA5-B537-C0D70C83EB5B}"/>
                </a:ext>
              </a:extLst>
            </p:cNvPr>
            <p:cNvCxnSpPr>
              <a:stCxn id="20" idx="2"/>
              <a:endCxn id="16"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6C6446A-96D3-4F32-BD5B-56CEF8066640}"/>
                </a:ext>
              </a:extLst>
            </p:cNvPr>
            <p:cNvCxnSpPr>
              <a:stCxn id="19" idx="2"/>
              <a:endCxn id="23"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1B0849D-E8C5-4DB7-9105-B72FBEC32F93}"/>
                </a:ext>
              </a:extLst>
            </p:cNvPr>
            <p:cNvCxnSpPr>
              <a:cxnSpLocks/>
              <a:stCxn id="18" idx="2"/>
              <a:endCxn id="19"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96904117-FCE0-456C-8744-19F355FC98D2}"/>
                </a:ext>
              </a:extLst>
            </p:cNvPr>
            <p:cNvCxnSpPr>
              <a:stCxn id="23" idx="5"/>
              <a:endCxn id="17"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67426B07-6664-494E-80CC-69004C8784A4}"/>
                </a:ext>
              </a:extLst>
            </p:cNvPr>
            <p:cNvCxnSpPr>
              <a:stCxn id="20" idx="5"/>
              <a:endCxn id="12"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639A80E7-4BB1-4346-999A-13936996E32B}"/>
                </a:ext>
              </a:extLst>
            </p:cNvPr>
            <p:cNvCxnSpPr/>
            <p:nvPr/>
          </p:nvCxnSpPr>
          <p:spPr>
            <a:xfrm rot="10800000" flipH="1" flipV="1">
              <a:off x="2964771" y="49207"/>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DD4E3C6B-BADC-4279-9A40-EF5CB33CABD8}"/>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ECE9EFA-96A5-4329-943D-C026B280495B}"/>
                </a:ext>
              </a:extLst>
            </p:cNvPr>
            <p:cNvCxnSpPr>
              <a:stCxn id="9" idx="6"/>
              <a:endCxn id="23"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18700599-42D5-46AC-9283-D8231F59D93E}"/>
                </a:ext>
              </a:extLst>
            </p:cNvPr>
            <p:cNvCxnSpPr>
              <a:stCxn id="9" idx="0"/>
              <a:endCxn id="22"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A297D85B-92B8-4E39-A99C-BAE03D4B46B4}"/>
                </a:ext>
              </a:extLst>
            </p:cNvPr>
            <p:cNvCxnSpPr>
              <a:stCxn id="9" idx="1"/>
              <a:endCxn id="11"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53C52AF7-344C-4D85-96EC-5D63D12BBE2E}"/>
                </a:ext>
              </a:extLst>
            </p:cNvPr>
            <p:cNvCxnSpPr>
              <a:endCxn id="11"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B9CE3C9-31F0-4BF6-8925-8795259DA78B}"/>
                </a:ext>
              </a:extLst>
            </p:cNvPr>
            <p:cNvCxnSpPr>
              <a:stCxn id="22"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8487DBFB-16C1-4D84-A678-38A70E94DE9E}"/>
                </a:ext>
              </a:extLst>
            </p:cNvPr>
            <p:cNvCxnSpPr>
              <a:endCxn id="22" idx="0"/>
            </p:cNvCxnSpPr>
            <p:nvPr/>
          </p:nvCxnSpPr>
          <p:spPr>
            <a:xfrm rot="10800000" flipH="1" flipV="1">
              <a:off x="3702581" y="14452"/>
              <a:ext cx="173664" cy="27010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375B6F61-E79A-4E30-BC9F-A0FC640B0CED}"/>
                </a:ext>
              </a:extLst>
            </p:cNvPr>
            <p:cNvCxnSpPr>
              <a:stCxn id="15" idx="7"/>
              <a:endCxn id="16"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E8B8D13B-4F87-45C4-B4CF-54AD8C59722B}"/>
                </a:ext>
              </a:extLst>
            </p:cNvPr>
            <p:cNvCxnSpPr>
              <a:stCxn id="15" idx="0"/>
              <a:endCxn id="21"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E00E82-02BD-4B00-90B8-E0A8CA1EC8B5}"/>
                </a:ext>
              </a:extLst>
            </p:cNvPr>
            <p:cNvCxnSpPr>
              <a:stCxn id="16" idx="1"/>
              <a:endCxn id="21"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7D3FE4CF-0D9D-4FAD-BB0B-69F0ED0F21EF}"/>
                </a:ext>
              </a:extLst>
            </p:cNvPr>
            <p:cNvCxnSpPr>
              <a:stCxn id="12" idx="0"/>
            </p:cNvCxnSpPr>
            <p:nvPr/>
          </p:nvCxnSpPr>
          <p:spPr>
            <a:xfrm rot="10800000" flipH="1">
              <a:off x="2407584" y="49207"/>
              <a:ext cx="294025" cy="50615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6D34CF6-D7B9-46EA-9DEC-671DE9912445}"/>
                </a:ext>
              </a:extLst>
            </p:cNvPr>
            <p:cNvCxnSpPr>
              <a:stCxn id="20" idx="0"/>
            </p:cNvCxnSpPr>
            <p:nvPr/>
          </p:nvCxnSpPr>
          <p:spPr>
            <a:xfrm rot="10800000">
              <a:off x="2121002" y="14453"/>
              <a:ext cx="83888" cy="1904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34F8F67D-F2CD-426E-9AB4-77200E0F0CAA}"/>
                </a:ext>
              </a:extLst>
            </p:cNvPr>
            <p:cNvCxnSpPr>
              <a:stCxn id="14" idx="0"/>
              <a:endCxn id="15"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3098F36C-3AF9-4428-A88C-5E842EC43381}"/>
                </a:ext>
              </a:extLst>
            </p:cNvPr>
            <p:cNvCxnSpPr>
              <a:stCxn id="14" idx="1"/>
            </p:cNvCxnSpPr>
            <p:nvPr/>
          </p:nvCxnSpPr>
          <p:spPr>
            <a:xfrm rot="10800000">
              <a:off x="0" y="530866"/>
              <a:ext cx="248130" cy="18595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84160548-1AEB-4DFB-9B91-4CF8C276C24E}"/>
                </a:ext>
              </a:extLst>
            </p:cNvPr>
            <p:cNvCxnSpPr>
              <a:endCxn id="23"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AD628023-3448-419A-83FC-1F92B3AD96D5}"/>
                </a:ext>
              </a:extLst>
            </p:cNvPr>
            <p:cNvCxnSpPr>
              <a:stCxn id="8" idx="3"/>
              <a:endCxn id="17"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7A05F52C-3682-4F06-823A-5FB434A8681A}"/>
                </a:ext>
              </a:extLst>
            </p:cNvPr>
            <p:cNvCxnSpPr>
              <a:cxnSpLocks/>
              <a:endCxn id="24" idx="1"/>
            </p:cNvCxnSpPr>
            <p:nvPr/>
          </p:nvCxnSpPr>
          <p:spPr>
            <a:xfrm rot="10800000" flipH="1" flipV="1">
              <a:off x="7197937" y="14453"/>
              <a:ext cx="99553" cy="20733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64" name="Freeform 25">
            <a:extLst>
              <a:ext uri="{FF2B5EF4-FFF2-40B4-BE49-F238E27FC236}">
                <a16:creationId xmlns:a16="http://schemas.microsoft.com/office/drawing/2014/main" id="{696F43E5-5FF5-473F-8E4E-4BC8F4F3F0F0}"/>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65" name="TextBox 26">
            <a:extLst>
              <a:ext uri="{FF2B5EF4-FFF2-40B4-BE49-F238E27FC236}">
                <a16:creationId xmlns:a16="http://schemas.microsoft.com/office/drawing/2014/main" id="{1A913549-CB67-430B-8EAB-B3C091CF0DE5}"/>
              </a:ext>
            </a:extLst>
          </p:cNvPr>
          <p:cNvSpPr txBox="1"/>
          <p:nvPr userDrawn="1"/>
        </p:nvSpPr>
        <p:spPr>
          <a:xfrm>
            <a:off x="10153031" y="214145"/>
            <a:ext cx="2045753"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点对点信道</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oint to point</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8181523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自定义版式">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9C390FC7-1AE5-44B9-9306-F012C283CC36}"/>
              </a:ext>
            </a:extLst>
          </p:cNvPr>
          <p:cNvSpPr>
            <a:spLocks noGrp="1"/>
          </p:cNvSpPr>
          <p:nvPr>
            <p:ph type="title"/>
          </p:nvPr>
        </p:nvSpPr>
        <p:spPr>
          <a:xfrm>
            <a:off x="238125" y="250826"/>
            <a:ext cx="10515600" cy="501650"/>
          </a:xfrm>
        </p:spPr>
        <p:txBody>
          <a:bodyPr>
            <a:normAutofit/>
          </a:bodyPr>
          <a:lstStyle>
            <a:lvl1pPr>
              <a:defRPr sz="2800">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7" name="Freeform 25">
            <a:extLst>
              <a:ext uri="{FF2B5EF4-FFF2-40B4-BE49-F238E27FC236}">
                <a16:creationId xmlns:a16="http://schemas.microsoft.com/office/drawing/2014/main" id="{1C0AD213-1F2D-42D1-B18A-C8183AEF6400}"/>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8" name="TextBox 26">
            <a:extLst>
              <a:ext uri="{FF2B5EF4-FFF2-40B4-BE49-F238E27FC236}">
                <a16:creationId xmlns:a16="http://schemas.microsoft.com/office/drawing/2014/main" id="{CF71ABEA-1A03-440D-8633-AA0DC6EB4735}"/>
              </a:ext>
            </a:extLst>
          </p:cNvPr>
          <p:cNvSpPr txBox="1"/>
          <p:nvPr userDrawn="1"/>
        </p:nvSpPr>
        <p:spPr>
          <a:xfrm>
            <a:off x="10153031" y="214145"/>
            <a:ext cx="2249334"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3890948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E5A3EF-E62B-4B2A-9C33-3AC988B1D014}"/>
              </a:ext>
            </a:extLst>
          </p:cNvPr>
          <p:cNvSpPr>
            <a:spLocks noGrp="1"/>
          </p:cNvSpPr>
          <p:nvPr>
            <p:ph type="title"/>
          </p:nvPr>
        </p:nvSpPr>
        <p:spPr>
          <a:xfrm>
            <a:off x="238125" y="250826"/>
            <a:ext cx="10515600" cy="501650"/>
          </a:xfrm>
        </p:spPr>
        <p:txBody>
          <a:bodyPr>
            <a:normAutofit/>
          </a:bodyPr>
          <a:lstStyle>
            <a:lvl1pPr>
              <a:defRPr sz="2800">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4" name="任意多边形: 形状 13">
            <a:extLst>
              <a:ext uri="{FF2B5EF4-FFF2-40B4-BE49-F238E27FC236}">
                <a16:creationId xmlns:a16="http://schemas.microsoft.com/office/drawing/2014/main" id="{3828AC1B-B948-411E-BE8C-FA3B7FA667BF}"/>
              </a:ext>
            </a:extLst>
          </p:cNvPr>
          <p:cNvSpPr/>
          <p:nvPr userDrawn="1"/>
        </p:nvSpPr>
        <p:spPr>
          <a:xfrm>
            <a:off x="0" y="4840649"/>
            <a:ext cx="12192000" cy="2017351"/>
          </a:xfrm>
          <a:custGeom>
            <a:avLst/>
            <a:gdLst>
              <a:gd name="connsiteX0" fmla="*/ 5441818 w 12192000"/>
              <a:gd name="connsiteY0" fmla="*/ 1027 h 2017351"/>
              <a:gd name="connsiteX1" fmla="*/ 7062868 w 12192000"/>
              <a:gd name="connsiteY1" fmla="*/ 1118073 h 2017351"/>
              <a:gd name="connsiteX2" fmla="*/ 8936549 w 12192000"/>
              <a:gd name="connsiteY2" fmla="*/ 612743 h 2017351"/>
              <a:gd name="connsiteX3" fmla="*/ 10315495 w 12192000"/>
              <a:gd name="connsiteY3" fmla="*/ 805566 h 2017351"/>
              <a:gd name="connsiteX4" fmla="*/ 11483914 w 12192000"/>
              <a:gd name="connsiteY4" fmla="*/ 1027 h 2017351"/>
              <a:gd name="connsiteX5" fmla="*/ 12114834 w 12192000"/>
              <a:gd name="connsiteY5" fmla="*/ 399141 h 2017351"/>
              <a:gd name="connsiteX6" fmla="*/ 12192000 w 12192000"/>
              <a:gd name="connsiteY6" fmla="*/ 476401 h 2017351"/>
              <a:gd name="connsiteX7" fmla="*/ 12192000 w 12192000"/>
              <a:gd name="connsiteY7" fmla="*/ 2017351 h 2017351"/>
              <a:gd name="connsiteX8" fmla="*/ 0 w 12192000"/>
              <a:gd name="connsiteY8" fmla="*/ 2017351 h 2017351"/>
              <a:gd name="connsiteX9" fmla="*/ 0 w 12192000"/>
              <a:gd name="connsiteY9" fmla="*/ 1172625 h 2017351"/>
              <a:gd name="connsiteX10" fmla="*/ 27424 w 12192000"/>
              <a:gd name="connsiteY10" fmla="*/ 1170506 h 2017351"/>
              <a:gd name="connsiteX11" fmla="*/ 547088 w 12192000"/>
              <a:gd name="connsiteY11" fmla="*/ 1051582 h 2017351"/>
              <a:gd name="connsiteX12" fmla="*/ 1326035 w 12192000"/>
              <a:gd name="connsiteY12" fmla="*/ 160605 h 2017351"/>
              <a:gd name="connsiteX13" fmla="*/ 2168139 w 12192000"/>
              <a:gd name="connsiteY13" fmla="*/ 1058232 h 2017351"/>
              <a:gd name="connsiteX14" fmla="*/ 3231296 w 12192000"/>
              <a:gd name="connsiteY14" fmla="*/ 645988 h 2017351"/>
              <a:gd name="connsiteX15" fmla="*/ 4410241 w 12192000"/>
              <a:gd name="connsiteY15" fmla="*/ 911952 h 2017351"/>
              <a:gd name="connsiteX16" fmla="*/ 5441818 w 12192000"/>
              <a:gd name="connsiteY16" fmla="*/ 1027 h 2017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2017351">
                <a:moveTo>
                  <a:pt x="5441818" y="1027"/>
                </a:moveTo>
                <a:cubicBezTo>
                  <a:pt x="5883923" y="35381"/>
                  <a:pt x="6480413" y="1016121"/>
                  <a:pt x="7062868" y="1118073"/>
                </a:cubicBezTo>
                <a:cubicBezTo>
                  <a:pt x="7645322" y="1220026"/>
                  <a:pt x="8394445" y="664827"/>
                  <a:pt x="8936549" y="612743"/>
                </a:cubicBezTo>
                <a:cubicBezTo>
                  <a:pt x="9478653" y="560659"/>
                  <a:pt x="9890934" y="907519"/>
                  <a:pt x="10315495" y="805566"/>
                </a:cubicBezTo>
                <a:cubicBezTo>
                  <a:pt x="10740056" y="703614"/>
                  <a:pt x="11094440" y="-16704"/>
                  <a:pt x="11483914" y="1027"/>
                </a:cubicBezTo>
                <a:cubicBezTo>
                  <a:pt x="11678650" y="9893"/>
                  <a:pt x="11904527" y="194959"/>
                  <a:pt x="12114834" y="399141"/>
                </a:cubicBezTo>
                <a:lnTo>
                  <a:pt x="12192000" y="476401"/>
                </a:lnTo>
                <a:lnTo>
                  <a:pt x="12192000" y="2017351"/>
                </a:lnTo>
                <a:lnTo>
                  <a:pt x="0" y="2017351"/>
                </a:lnTo>
                <a:lnTo>
                  <a:pt x="0" y="1172625"/>
                </a:lnTo>
                <a:lnTo>
                  <a:pt x="27424" y="1170506"/>
                </a:lnTo>
                <a:cubicBezTo>
                  <a:pt x="224885" y="1152721"/>
                  <a:pt x="414852" y="1123891"/>
                  <a:pt x="547088" y="1051582"/>
                </a:cubicBezTo>
                <a:cubicBezTo>
                  <a:pt x="899720" y="858759"/>
                  <a:pt x="1055860" y="159497"/>
                  <a:pt x="1326035" y="160605"/>
                </a:cubicBezTo>
                <a:cubicBezTo>
                  <a:pt x="1596211" y="161713"/>
                  <a:pt x="1850596" y="977334"/>
                  <a:pt x="2168139" y="1058232"/>
                </a:cubicBezTo>
                <a:cubicBezTo>
                  <a:pt x="2485682" y="1139129"/>
                  <a:pt x="2857612" y="670368"/>
                  <a:pt x="3231296" y="645988"/>
                </a:cubicBezTo>
                <a:cubicBezTo>
                  <a:pt x="3604980" y="621608"/>
                  <a:pt x="4041821" y="1019445"/>
                  <a:pt x="4410241" y="911952"/>
                </a:cubicBezTo>
                <a:cubicBezTo>
                  <a:pt x="4778662" y="804458"/>
                  <a:pt x="4999713" y="-33327"/>
                  <a:pt x="5441818" y="1027"/>
                </a:cubicBezTo>
                <a:close/>
              </a:path>
            </a:pathLst>
          </a:custGeom>
          <a:gradFill>
            <a:gsLst>
              <a:gs pos="0">
                <a:schemeClr val="accent1">
                  <a:alpha val="58000"/>
                </a:schemeClr>
              </a:gs>
              <a:gs pos="54900">
                <a:schemeClr val="accent1">
                  <a:alpha val="42000"/>
                </a:schemeClr>
              </a:gs>
              <a:gs pos="100000">
                <a:schemeClr val="accent1">
                  <a:alpha val="2100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81E32C3B-16D0-40A4-9D5B-96023AF06EEF}"/>
              </a:ext>
            </a:extLst>
          </p:cNvPr>
          <p:cNvSpPr/>
          <p:nvPr userDrawn="1"/>
        </p:nvSpPr>
        <p:spPr>
          <a:xfrm>
            <a:off x="0" y="5065916"/>
            <a:ext cx="12192000" cy="1792084"/>
          </a:xfrm>
          <a:custGeom>
            <a:avLst/>
            <a:gdLst>
              <a:gd name="connsiteX0" fmla="*/ 6997700 w 12192000"/>
              <a:gd name="connsiteY0" fmla="*/ 976 h 1792084"/>
              <a:gd name="connsiteX1" fmla="*/ 8432800 w 12192000"/>
              <a:gd name="connsiteY1" fmla="*/ 896756 h 1792084"/>
              <a:gd name="connsiteX2" fmla="*/ 9626600 w 12192000"/>
              <a:gd name="connsiteY2" fmla="*/ 699684 h 1792084"/>
              <a:gd name="connsiteX3" fmla="*/ 10274300 w 12192000"/>
              <a:gd name="connsiteY3" fmla="*/ 448866 h 1792084"/>
              <a:gd name="connsiteX4" fmla="*/ 11480800 w 12192000"/>
              <a:gd name="connsiteY4" fmla="*/ 762389 h 1792084"/>
              <a:gd name="connsiteX5" fmla="*/ 12150725 w 12192000"/>
              <a:gd name="connsiteY5" fmla="*/ 625223 h 1792084"/>
              <a:gd name="connsiteX6" fmla="*/ 12192000 w 12192000"/>
              <a:gd name="connsiteY6" fmla="*/ 612840 h 1792084"/>
              <a:gd name="connsiteX7" fmla="*/ 12192000 w 12192000"/>
              <a:gd name="connsiteY7" fmla="*/ 1792084 h 1792084"/>
              <a:gd name="connsiteX8" fmla="*/ 0 w 12192000"/>
              <a:gd name="connsiteY8" fmla="*/ 1792084 h 1792084"/>
              <a:gd name="connsiteX9" fmla="*/ 0 w 12192000"/>
              <a:gd name="connsiteY9" fmla="*/ 853353 h 1792084"/>
              <a:gd name="connsiteX10" fmla="*/ 355600 w 12192000"/>
              <a:gd name="connsiteY10" fmla="*/ 813896 h 1792084"/>
              <a:gd name="connsiteX11" fmla="*/ 1143000 w 12192000"/>
              <a:gd name="connsiteY11" fmla="*/ 717600 h 1792084"/>
              <a:gd name="connsiteX12" fmla="*/ 2095500 w 12192000"/>
              <a:gd name="connsiteY12" fmla="*/ 413035 h 1792084"/>
              <a:gd name="connsiteX13" fmla="*/ 3162300 w 12192000"/>
              <a:gd name="connsiteY13" fmla="*/ 780304 h 1792084"/>
              <a:gd name="connsiteX14" fmla="*/ 4432300 w 12192000"/>
              <a:gd name="connsiteY14" fmla="*/ 493655 h 1792084"/>
              <a:gd name="connsiteX15" fmla="*/ 6337300 w 12192000"/>
              <a:gd name="connsiteY15" fmla="*/ 717600 h 1792084"/>
              <a:gd name="connsiteX16" fmla="*/ 6997700 w 12192000"/>
              <a:gd name="connsiteY16" fmla="*/ 976 h 1792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1792084">
                <a:moveTo>
                  <a:pt x="6997700" y="976"/>
                </a:moveTo>
                <a:cubicBezTo>
                  <a:pt x="7346950" y="30836"/>
                  <a:pt x="7994650" y="780304"/>
                  <a:pt x="8432800" y="896756"/>
                </a:cubicBezTo>
                <a:cubicBezTo>
                  <a:pt x="8870950" y="1013207"/>
                  <a:pt x="9319683" y="774332"/>
                  <a:pt x="9626600" y="699684"/>
                </a:cubicBezTo>
                <a:cubicBezTo>
                  <a:pt x="9933517" y="625036"/>
                  <a:pt x="9965267" y="438415"/>
                  <a:pt x="10274300" y="448866"/>
                </a:cubicBezTo>
                <a:cubicBezTo>
                  <a:pt x="10583333" y="459317"/>
                  <a:pt x="11078633" y="748952"/>
                  <a:pt x="11480800" y="762389"/>
                </a:cubicBezTo>
                <a:cubicBezTo>
                  <a:pt x="11681884" y="769107"/>
                  <a:pt x="11927417" y="693712"/>
                  <a:pt x="12150725" y="625223"/>
                </a:cubicBezTo>
                <a:lnTo>
                  <a:pt x="12192000" y="612840"/>
                </a:lnTo>
                <a:lnTo>
                  <a:pt x="12192000" y="1792084"/>
                </a:lnTo>
                <a:lnTo>
                  <a:pt x="0" y="1792084"/>
                </a:lnTo>
                <a:lnTo>
                  <a:pt x="0" y="853353"/>
                </a:lnTo>
                <a:lnTo>
                  <a:pt x="355600" y="813896"/>
                </a:lnTo>
                <a:cubicBezTo>
                  <a:pt x="639233" y="786276"/>
                  <a:pt x="941917" y="759403"/>
                  <a:pt x="1143000" y="717600"/>
                </a:cubicBezTo>
                <a:cubicBezTo>
                  <a:pt x="1545167" y="633994"/>
                  <a:pt x="1758950" y="402584"/>
                  <a:pt x="2095500" y="413035"/>
                </a:cubicBezTo>
                <a:cubicBezTo>
                  <a:pt x="2432050" y="423486"/>
                  <a:pt x="2772833" y="766868"/>
                  <a:pt x="3162300" y="780304"/>
                </a:cubicBezTo>
                <a:cubicBezTo>
                  <a:pt x="3551767" y="793741"/>
                  <a:pt x="3903133" y="504106"/>
                  <a:pt x="4432300" y="493655"/>
                </a:cubicBezTo>
                <a:cubicBezTo>
                  <a:pt x="4961467" y="483204"/>
                  <a:pt x="5909733" y="799713"/>
                  <a:pt x="6337300" y="717600"/>
                </a:cubicBezTo>
                <a:cubicBezTo>
                  <a:pt x="6764867" y="635486"/>
                  <a:pt x="6648450" y="-28883"/>
                  <a:pt x="6997700" y="976"/>
                </a:cubicBezTo>
                <a:close/>
              </a:path>
            </a:pathLst>
          </a:custGeom>
          <a:gradFill>
            <a:gsLst>
              <a:gs pos="0">
                <a:schemeClr val="accent2">
                  <a:alpha val="30000"/>
                </a:schemeClr>
              </a:gs>
              <a:gs pos="54900">
                <a:schemeClr val="accent2">
                  <a:alpha val="18000"/>
                </a:schemeClr>
              </a:gs>
              <a:gs pos="100000">
                <a:schemeClr val="accent2">
                  <a:alpha val="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7" name="Freeform 25">
            <a:extLst>
              <a:ext uri="{FF2B5EF4-FFF2-40B4-BE49-F238E27FC236}">
                <a16:creationId xmlns:a16="http://schemas.microsoft.com/office/drawing/2014/main" id="{A912EA81-E827-4C5A-958A-7BF023DF0A11}"/>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18" name="TextBox 26">
            <a:extLst>
              <a:ext uri="{FF2B5EF4-FFF2-40B4-BE49-F238E27FC236}">
                <a16:creationId xmlns:a16="http://schemas.microsoft.com/office/drawing/2014/main" id="{E60E24FB-8C7E-45EC-943D-84020AE1F331}"/>
              </a:ext>
            </a:extLst>
          </p:cNvPr>
          <p:cNvSpPr txBox="1"/>
          <p:nvPr userDrawn="1"/>
        </p:nvSpPr>
        <p:spPr>
          <a:xfrm>
            <a:off x="10153031" y="214145"/>
            <a:ext cx="2249334"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37834493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P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53725" y="217993"/>
            <a:ext cx="3257623"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p>
          <a:p>
            <a:pPr algn="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Point to point protocol</a:t>
            </a: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8EEDBA34-CB6A-48C8-9135-48A39E6E983A}"/>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D5D5E3EB-6637-4D89-A689-1FD1B36143EE}"/>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6060735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广播信道">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8110205" y="217993"/>
            <a:ext cx="3001143"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广播信道</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broadcasting channel</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3EBCDB5B-3F3E-4709-B577-13F4D54A3390}"/>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2C23B259-61CE-4B3B-9A1E-46864DF97279}"/>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11059453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SMA/CD">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3676299" y="217993"/>
            <a:ext cx="7435049"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CSMA/CD</a:t>
            </a:r>
          </a:p>
          <a:p>
            <a:pPr algn="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Carrier sense multiple access with collision detection</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A99DA3E2-A9AC-4E33-A54C-F69BF8073592}"/>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107E2337-7E7E-4C37-AE8B-F6F7B62DEF56}"/>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3004700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AC">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57921" y="217993"/>
            <a:ext cx="3153427"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MAC</a:t>
            </a:r>
          </a:p>
          <a:p>
            <a:pPr algn="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Medium access control</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B5619979-E434-4707-BF44-47FBECFEE61D}"/>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41167756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R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6789331" y="217993"/>
            <a:ext cx="4322017" cy="469359"/>
          </a:xfrm>
          <a:prstGeom prst="rect">
            <a:avLst/>
          </a:prstGeom>
          <a:noFill/>
        </p:spPr>
        <p:txBody>
          <a:bodyPr wrap="none" rtlCol="0">
            <a:spAutoFit/>
          </a:bodyPr>
          <a:lstStyle/>
          <a:p>
            <a:pPr algn="r"/>
            <a:r>
              <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ARP</a:t>
            </a:r>
          </a:p>
          <a:p>
            <a:pPr algn="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Addressing Resolution protocol</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8930715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 tem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grpSp>
        <p:nvGrpSpPr>
          <p:cNvPr id="8" name="组合 7">
            <a:extLst>
              <a:ext uri="{FF2B5EF4-FFF2-40B4-BE49-F238E27FC236}">
                <a16:creationId xmlns:a16="http://schemas.microsoft.com/office/drawing/2014/main" id="{B8FCBA09-ACAD-44CB-9FBF-16286B795310}"/>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2" name="标题 1">
            <a:extLst>
              <a:ext uri="{FF2B5EF4-FFF2-40B4-BE49-F238E27FC236}">
                <a16:creationId xmlns:a16="http://schemas.microsoft.com/office/drawing/2014/main" id="{7AA9A038-1C3B-4D1F-82CE-C443A166D8BA}"/>
              </a:ext>
            </a:extLst>
          </p:cNvPr>
          <p:cNvSpPr>
            <a:spLocks noGrp="1"/>
          </p:cNvSpPr>
          <p:nvPr>
            <p:ph type="title"/>
          </p:nvPr>
        </p:nvSpPr>
        <p:spPr>
          <a:xfrm>
            <a:off x="595748" y="148743"/>
            <a:ext cx="10515600" cy="424732"/>
          </a:xfrm>
        </p:spPr>
        <p:txBody>
          <a:bodyPr>
            <a:spAutoFit/>
          </a:bodyPr>
          <a:lstStyle>
            <a:lvl1pPr algn="r">
              <a:defRPr sz="2400" u="none">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0" name="文本占位符 9">
            <a:extLst>
              <a:ext uri="{FF2B5EF4-FFF2-40B4-BE49-F238E27FC236}">
                <a16:creationId xmlns:a16="http://schemas.microsoft.com/office/drawing/2014/main" id="{B827691E-39EF-4A9C-BCDC-FD29E174F98B}"/>
              </a:ext>
            </a:extLst>
          </p:cNvPr>
          <p:cNvSpPr>
            <a:spLocks noGrp="1"/>
          </p:cNvSpPr>
          <p:nvPr>
            <p:ph type="body" sz="quarter" idx="10" hasCustomPrompt="1"/>
          </p:nvPr>
        </p:nvSpPr>
        <p:spPr>
          <a:xfrm>
            <a:off x="6213040" y="591351"/>
            <a:ext cx="4898308" cy="286232"/>
          </a:xfrm>
        </p:spPr>
        <p:txBody>
          <a:bodyPr>
            <a:spAutoFit/>
          </a:bodyPr>
          <a:lstStyle>
            <a:lvl1pPr marL="0" indent="0" algn="r">
              <a:buNone/>
              <a:defRPr sz="1400">
                <a:latin typeface="Poppins Light" panose="00000400000000000000" pitchFamily="2" charset="0"/>
                <a:cs typeface="Poppins Light" panose="00000400000000000000" pitchFamily="2" charset="0"/>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altLang="zh-CN" dirty="0"/>
              <a:t>sub-title</a:t>
            </a:r>
            <a:endParaRPr lang="zh-CN" altLang="en-US" dirty="0"/>
          </a:p>
        </p:txBody>
      </p:sp>
      <p:sp>
        <p:nvSpPr>
          <p:cNvPr id="9" name="文本占位符 8">
            <a:extLst>
              <a:ext uri="{FF2B5EF4-FFF2-40B4-BE49-F238E27FC236}">
                <a16:creationId xmlns:a16="http://schemas.microsoft.com/office/drawing/2014/main" id="{323E4716-8C31-49E0-ABDB-9A4191E844CB}"/>
              </a:ext>
            </a:extLst>
          </p:cNvPr>
          <p:cNvSpPr>
            <a:spLocks noGrp="1"/>
          </p:cNvSpPr>
          <p:nvPr>
            <p:ph type="body" sz="quarter" idx="11" hasCustomPrompt="1"/>
          </p:nvPr>
        </p:nvSpPr>
        <p:spPr>
          <a:xfrm>
            <a:off x="81721" y="6347117"/>
            <a:ext cx="5023306" cy="286232"/>
          </a:xfrm>
        </p:spPr>
        <p:txBody>
          <a:bodyPr>
            <a:spAutoFit/>
          </a:bodyPr>
          <a:lstStyle>
            <a:lvl1pPr marL="0" indent="0">
              <a:buNone/>
              <a:defRPr sz="1400">
                <a:latin typeface="微软雅黑 Light" panose="020B0502040204020203" pitchFamily="34" charset="-122"/>
                <a:ea typeface="微软雅黑 Light" panose="020B0502040204020203" pitchFamily="34" charset="-122"/>
              </a:defRPr>
            </a:lvl1pPr>
            <a:lvl2pPr marL="457200" indent="0">
              <a:buNone/>
              <a:defRPr sz="1400">
                <a:latin typeface="微软雅黑 Light" panose="020B0502040204020203" pitchFamily="34" charset="-122"/>
                <a:ea typeface="微软雅黑 Light" panose="020B0502040204020203" pitchFamily="34" charset="-122"/>
              </a:defRPr>
            </a:lvl2pPr>
            <a:lvl3pPr marL="914400" indent="0">
              <a:buNone/>
              <a:defRPr sz="1400">
                <a:latin typeface="微软雅黑 Light" panose="020B0502040204020203" pitchFamily="34" charset="-122"/>
                <a:ea typeface="微软雅黑 Light" panose="020B0502040204020203" pitchFamily="34" charset="-122"/>
              </a:defRPr>
            </a:lvl3pPr>
            <a:lvl4pPr marL="1371600" indent="0">
              <a:buNone/>
              <a:defRPr sz="1400">
                <a:latin typeface="微软雅黑 Light" panose="020B0502040204020203" pitchFamily="34" charset="-122"/>
                <a:ea typeface="微软雅黑 Light" panose="020B0502040204020203" pitchFamily="34" charset="-122"/>
              </a:defRPr>
            </a:lvl4pPr>
            <a:lvl5pPr marL="1828800" indent="0">
              <a:buNone/>
              <a:defRPr sz="1400">
                <a:latin typeface="微软雅黑 Light" panose="020B0502040204020203" pitchFamily="34" charset="-122"/>
                <a:ea typeface="微软雅黑 Light" panose="020B0502040204020203" pitchFamily="34" charset="-122"/>
              </a:defRPr>
            </a:lvl5pPr>
          </a:lstStyle>
          <a:p>
            <a:pPr lvl="0"/>
            <a:r>
              <a:rPr lang="en-US" altLang="zh-CN" dirty="0"/>
              <a:t>tips</a:t>
            </a:r>
            <a:endParaRPr lang="zh-CN" altLang="en-US" dirty="0"/>
          </a:p>
        </p:txBody>
      </p:sp>
      <p:sp>
        <p:nvSpPr>
          <p:cNvPr id="71" name="文本占位符 70">
            <a:extLst>
              <a:ext uri="{FF2B5EF4-FFF2-40B4-BE49-F238E27FC236}">
                <a16:creationId xmlns:a16="http://schemas.microsoft.com/office/drawing/2014/main" id="{F7FF684C-AC6D-4370-AE16-175BA198204F}"/>
              </a:ext>
            </a:extLst>
          </p:cNvPr>
          <p:cNvSpPr>
            <a:spLocks noGrp="1"/>
          </p:cNvSpPr>
          <p:nvPr>
            <p:ph type="body" sz="quarter" idx="12"/>
          </p:nvPr>
        </p:nvSpPr>
        <p:spPr>
          <a:xfrm>
            <a:off x="676349" y="1094722"/>
            <a:ext cx="10839303" cy="5083153"/>
          </a:xfrm>
        </p:spPr>
        <p:txBody>
          <a:bodyPr>
            <a:norm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defRPr>
                <a:latin typeface="微软雅黑 Light" panose="020B0502040204020203" pitchFamily="34" charset="-122"/>
                <a:ea typeface="微软雅黑 Light" panose="020B0502040204020203" pitchFamily="34" charset="-122"/>
              </a:defRPr>
            </a:lvl2pPr>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8579968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IBM Plex Sans Light" panose="020B0403050203000203" pitchFamily="34"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98609" y="217993"/>
            <a:ext cx="3212739"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生成树协议</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rPr>
              <a:t>Spanning tree protocol</a:t>
            </a:r>
            <a:endParaRPr lang="en-US" sz="1050" i="1" spc="600" dirty="0">
              <a:solidFill>
                <a:schemeClr val="tx1">
                  <a:lumMod val="75000"/>
                  <a:lumOff val="25000"/>
                </a:schemeClr>
              </a:solidFill>
              <a:latin typeface="IBM Plex Sans Light" panose="020B0403050203000203" pitchFamily="34"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FFBA30E8-AF01-4F78-97B5-6D8861FA3D89}"/>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112543755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6768C7-23F8-4996-89B7-429E7B384BF2}"/>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0289BB1-DBAC-4FAE-808E-C6C3CC80EA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AE471610-0211-48D5-95A9-F94CB96D8C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556B36E4-C4E8-458D-94CD-1B6C35F2457D}"/>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6" name="页脚占位符 5">
            <a:extLst>
              <a:ext uri="{FF2B5EF4-FFF2-40B4-BE49-F238E27FC236}">
                <a16:creationId xmlns:a16="http://schemas.microsoft.com/office/drawing/2014/main" id="{ABBCFDB4-DA9F-4658-A8BD-C801BA97254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C90A9A8-C584-4D99-A352-D2E7B4678255}"/>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18404939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A3C00C-6791-4AF6-ADED-16A78E3F339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A3F28181-291D-4D0F-8D46-BF5DED710F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8F3292F-BAC3-41E9-B23C-2785046871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57AEF6B-24EF-4053-BEF4-408CE32CF01D}"/>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6" name="页脚占位符 5">
            <a:extLst>
              <a:ext uri="{FF2B5EF4-FFF2-40B4-BE49-F238E27FC236}">
                <a16:creationId xmlns:a16="http://schemas.microsoft.com/office/drawing/2014/main" id="{BD794DF6-3DF2-4CF8-AE43-FC95AEC974A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6D7EFA1-36B4-434E-8A31-ABB10A14A71D}"/>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00458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632E19-3847-4C44-B1DA-2910E34204C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BB32734C-9F74-4482-9FE3-D99087A39CB3}"/>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A13A04F-945E-4830-9C62-28BA120EE0E6}"/>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5" name="页脚占位符 4">
            <a:extLst>
              <a:ext uri="{FF2B5EF4-FFF2-40B4-BE49-F238E27FC236}">
                <a16:creationId xmlns:a16="http://schemas.microsoft.com/office/drawing/2014/main" id="{F1A9E7DE-F89B-4838-BC08-257F376ECA7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292E4D5-B7AD-442F-8128-9CC4287634BB}"/>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66845415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B6ED0D96-5E2B-4EB2-8A6C-2479B857F35D}"/>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B8B57930-1D54-4888-88E6-C924B713F26A}"/>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D3DE625-53C1-4C44-99B7-F8BC7995CEFD}"/>
              </a:ext>
            </a:extLst>
          </p:cNvPr>
          <p:cNvSpPr>
            <a:spLocks noGrp="1"/>
          </p:cNvSpPr>
          <p:nvPr>
            <p:ph type="dt" sz="half" idx="10"/>
          </p:nvPr>
        </p:nvSpPr>
        <p:spPr/>
        <p:txBody>
          <a:bodyPr/>
          <a:lstStyle/>
          <a:p>
            <a:fld id="{1C651236-3214-46F9-9D33-783F0260D354}" type="datetimeFigureOut">
              <a:rPr lang="zh-CN" altLang="en-US" smtClean="0"/>
              <a:t>2025/11/3</a:t>
            </a:fld>
            <a:endParaRPr lang="zh-CN" altLang="en-US"/>
          </a:p>
        </p:txBody>
      </p:sp>
      <p:sp>
        <p:nvSpPr>
          <p:cNvPr id="5" name="页脚占位符 4">
            <a:extLst>
              <a:ext uri="{FF2B5EF4-FFF2-40B4-BE49-F238E27FC236}">
                <a16:creationId xmlns:a16="http://schemas.microsoft.com/office/drawing/2014/main" id="{5039BB9D-282E-4656-8944-11C94A31C48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2944F6A-C9CD-40F0-A8EB-6B850DD40EC9}"/>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115103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5AB4621-DEFA-4937-ACA0-7FAC4B5DD5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71682A5F-0B1F-414C-9919-0F61FB118B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09B379C-873F-4DD2-BBA0-D4769F05D1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651236-3214-46F9-9D33-783F0260D354}" type="datetimeFigureOut">
              <a:rPr lang="zh-CN" altLang="en-US" smtClean="0"/>
              <a:t>2025/11/3</a:t>
            </a:fld>
            <a:endParaRPr lang="zh-CN" altLang="en-US"/>
          </a:p>
        </p:txBody>
      </p:sp>
      <p:sp>
        <p:nvSpPr>
          <p:cNvPr id="5" name="页脚占位符 4">
            <a:extLst>
              <a:ext uri="{FF2B5EF4-FFF2-40B4-BE49-F238E27FC236}">
                <a16:creationId xmlns:a16="http://schemas.microsoft.com/office/drawing/2014/main" id="{298AEE85-23CE-43D2-8B14-00BC970FD1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9FE53C87-6A81-4F2E-86B2-C7DFE4EACC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502BCF-571E-433F-99D2-89AB9B2A73EF}" type="slidenum">
              <a:rPr lang="zh-CN" altLang="en-US" smtClean="0"/>
              <a:t>‹#›</a:t>
            </a:fld>
            <a:endParaRPr lang="zh-CN" altLang="en-US"/>
          </a:p>
        </p:txBody>
      </p:sp>
      <p:pic>
        <p:nvPicPr>
          <p:cNvPr id="7" name="图片 6">
            <a:extLst>
              <a:ext uri="{FF2B5EF4-FFF2-40B4-BE49-F238E27FC236}">
                <a16:creationId xmlns:a16="http://schemas.microsoft.com/office/drawing/2014/main" id="{37FC25E5-D4C2-4522-BD37-69E067A99BFC}"/>
              </a:ext>
            </a:extLst>
          </p:cNvPr>
          <p:cNvPicPr>
            <a:picLocks noChangeAspect="1"/>
          </p:cNvPicPr>
          <p:nvPr userDrawn="1"/>
        </p:nvPicPr>
        <p:blipFill rotWithShape="1">
          <a:blip r:embed="rId30">
            <a:extLst>
              <a:ext uri="{28A0092B-C50C-407E-A947-70E740481C1C}">
                <a14:useLocalDpi xmlns:a14="http://schemas.microsoft.com/office/drawing/2010/main" val="0"/>
              </a:ext>
            </a:extLst>
          </a:blip>
          <a:srcRect r="73733" b="-7062"/>
          <a:stretch/>
        </p:blipFill>
        <p:spPr>
          <a:xfrm>
            <a:off x="5870771" y="6318000"/>
            <a:ext cx="450458" cy="540000"/>
          </a:xfrm>
          <a:prstGeom prst="rect">
            <a:avLst/>
          </a:prstGeom>
        </p:spPr>
      </p:pic>
      <p:sp>
        <p:nvSpPr>
          <p:cNvPr id="8" name="文本框 7">
            <a:extLst>
              <a:ext uri="{FF2B5EF4-FFF2-40B4-BE49-F238E27FC236}">
                <a16:creationId xmlns:a16="http://schemas.microsoft.com/office/drawing/2014/main" id="{29DD1BF4-B1B0-408A-A9CA-10B49DF05FF2}"/>
              </a:ext>
            </a:extLst>
          </p:cNvPr>
          <p:cNvSpPr txBox="1"/>
          <p:nvPr userDrawn="1"/>
        </p:nvSpPr>
        <p:spPr>
          <a:xfrm>
            <a:off x="6321229" y="6449501"/>
            <a:ext cx="2632452" cy="276999"/>
          </a:xfrm>
          <a:prstGeom prst="rect">
            <a:avLst/>
          </a:prstGeom>
          <a:noFill/>
        </p:spPr>
        <p:txBody>
          <a:bodyPr wrap="none" rtlCol="0">
            <a:spAutoFit/>
          </a:bodyPr>
          <a:lstStyle/>
          <a:p>
            <a:r>
              <a:rPr lang="en-US" altLang="zh-CN" sz="1200" dirty="0">
                <a:solidFill>
                  <a:schemeClr val="bg2">
                    <a:lumMod val="50000"/>
                  </a:schemeClr>
                </a:solidFill>
                <a:latin typeface="Cuprum" panose="00000500000000000000" pitchFamily="2" charset="0"/>
                <a:cs typeface="Times New Roman" panose="02020603050405020304" pitchFamily="18" charset="0"/>
              </a:rPr>
              <a:t>Copyrights Reserved, Cnplaman 2022-2024</a:t>
            </a:r>
            <a:endParaRPr lang="zh-CN" altLang="en-US" sz="1200" dirty="0">
              <a:solidFill>
                <a:schemeClr val="bg2">
                  <a:lumMod val="50000"/>
                </a:schemeClr>
              </a:solidFill>
              <a:latin typeface="Cuprum" panose="00000500000000000000" pitchFamily="2" charset="0"/>
              <a:cs typeface="Times New Roman" panose="02020603050405020304" pitchFamily="18" charset="0"/>
            </a:endParaRPr>
          </a:p>
        </p:txBody>
      </p:sp>
      <p:sp>
        <p:nvSpPr>
          <p:cNvPr id="9" name="文本框 8">
            <a:extLst>
              <a:ext uri="{FF2B5EF4-FFF2-40B4-BE49-F238E27FC236}">
                <a16:creationId xmlns:a16="http://schemas.microsoft.com/office/drawing/2014/main" id="{E4D38EF2-0E1E-4979-8E98-C32257515199}"/>
              </a:ext>
            </a:extLst>
          </p:cNvPr>
          <p:cNvSpPr txBox="1"/>
          <p:nvPr userDrawn="1"/>
        </p:nvSpPr>
        <p:spPr>
          <a:xfrm>
            <a:off x="4435763" y="6449501"/>
            <a:ext cx="1435008" cy="276999"/>
          </a:xfrm>
          <a:prstGeom prst="rect">
            <a:avLst/>
          </a:prstGeom>
          <a:noFill/>
        </p:spPr>
        <p:txBody>
          <a:bodyPr wrap="none" rtlCol="0">
            <a:spAutoFit/>
          </a:bodyPr>
          <a:lstStyle>
            <a:defPPr>
              <a:defRPr lang="zh-CN"/>
            </a:defPPr>
            <a:lvl1pPr>
              <a:defRPr sz="1200">
                <a:solidFill>
                  <a:schemeClr val="bg2">
                    <a:lumMod val="50000"/>
                  </a:schemeClr>
                </a:solidFill>
                <a:latin typeface="Times New Roman" panose="02020603050405020304" pitchFamily="18" charset="0"/>
                <a:cs typeface="Times New Roman" panose="02020603050405020304" pitchFamily="18" charset="0"/>
              </a:defRPr>
            </a:lvl1pPr>
          </a:lstStyle>
          <a:p>
            <a:pPr lvl="0" algn="r"/>
            <a:r>
              <a:rPr lang="en-US" altLang="zh-CN" dirty="0">
                <a:latin typeface="Cuprum" panose="00000500000000000000" pitchFamily="2" charset="0"/>
              </a:rPr>
              <a:t>http://www.xit.edu.cn</a:t>
            </a:r>
            <a:endParaRPr lang="zh-CN" altLang="en-US" dirty="0">
              <a:latin typeface="Cuprum" panose="00000500000000000000" pitchFamily="2" charset="0"/>
            </a:endParaRPr>
          </a:p>
        </p:txBody>
      </p:sp>
    </p:spTree>
    <p:extLst>
      <p:ext uri="{BB962C8B-B14F-4D97-AF65-F5344CB8AC3E}">
        <p14:creationId xmlns:p14="http://schemas.microsoft.com/office/powerpoint/2010/main" val="2406078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62" r:id="rId4"/>
    <p:sldLayoutId id="2147483660" r:id="rId5"/>
    <p:sldLayoutId id="2147483664" r:id="rId6"/>
    <p:sldLayoutId id="2147483665" r:id="rId7"/>
    <p:sldLayoutId id="2147483651" r:id="rId8"/>
    <p:sldLayoutId id="2147483652" r:id="rId9"/>
    <p:sldLayoutId id="2147483653" r:id="rId10"/>
    <p:sldLayoutId id="2147483654" r:id="rId11"/>
    <p:sldLayoutId id="2147483655" r:id="rId12"/>
    <p:sldLayoutId id="2147483666" r:id="rId13"/>
    <p:sldLayoutId id="2147483670" r:id="rId14"/>
    <p:sldLayoutId id="2147483668" r:id="rId15"/>
    <p:sldLayoutId id="2147483669" r:id="rId16"/>
    <p:sldLayoutId id="2147483667" r:id="rId17"/>
    <p:sldLayoutId id="2147483673" r:id="rId18"/>
    <p:sldLayoutId id="2147483671" r:id="rId19"/>
    <p:sldLayoutId id="2147483672" r:id="rId20"/>
    <p:sldLayoutId id="2147483674" r:id="rId21"/>
    <p:sldLayoutId id="2147483676" r:id="rId22"/>
    <p:sldLayoutId id="2147483677" r:id="rId23"/>
    <p:sldLayoutId id="2147483675" r:id="rId24"/>
    <p:sldLayoutId id="2147483656" r:id="rId25"/>
    <p:sldLayoutId id="2147483657" r:id="rId26"/>
    <p:sldLayoutId id="2147483658" r:id="rId27"/>
    <p:sldLayoutId id="2147483659" r:id="rId28"/>
  </p:sldLayoutIdLst>
  <p:txStyles>
    <p:titleStyle>
      <a:lvl1pPr algn="l" defTabSz="914400" rtl="0" eaLnBrk="1" latinLnBrk="0" hangingPunct="1">
        <a:lnSpc>
          <a:spcPct val="90000"/>
        </a:lnSpc>
        <a:spcBef>
          <a:spcPct val="0"/>
        </a:spcBef>
        <a:buNone/>
        <a:defRPr sz="4400" kern="1200">
          <a:solidFill>
            <a:schemeClr val="tx1"/>
          </a:solidFill>
          <a:latin typeface="微软雅黑 Light" panose="020B0502040204020203" pitchFamily="34" charset="-122"/>
          <a:ea typeface="微软雅黑 Light" panose="020B0502040204020203" pitchFamily="3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video/twistpair0.mp4" TargetMode="External"/><Relationship Id="rId1" Type="http://schemas.openxmlformats.org/officeDocument/2006/relationships/slideLayout" Target="../slideLayouts/slideLayout5.xml"/><Relationship Id="rId4" Type="http://schemas.openxmlformats.org/officeDocument/2006/relationships/image" Target="../media/image12.svg"/></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video/twistpair2.mp4" TargetMode="External"/><Relationship Id="rId1" Type="http://schemas.openxmlformats.org/officeDocument/2006/relationships/slideLayout" Target="../slideLayouts/slideLayout5.xml"/><Relationship Id="rId4" Type="http://schemas.openxmlformats.org/officeDocument/2006/relationships/image" Target="../media/image12.sv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jpe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video/&#35748;&#30693;&#26080;&#32447;&#30005;.mp4" TargetMode="External"/><Relationship Id="rId1" Type="http://schemas.openxmlformats.org/officeDocument/2006/relationships/slideLayout" Target="../slideLayouts/slideLayout5.xml"/><Relationship Id="rId4" Type="http://schemas.openxmlformats.org/officeDocument/2006/relationships/image" Target="../media/image12.svg"/></Relationships>
</file>

<file path=ppt/slides/_rels/slide2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png"/><Relationship Id="rId1" Type="http://schemas.openxmlformats.org/officeDocument/2006/relationships/slideLayout" Target="../slideLayouts/slideLayout1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jpeg"/><Relationship Id="rId1" Type="http://schemas.openxmlformats.org/officeDocument/2006/relationships/slideLayout" Target="../slideLayouts/slideLayout1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jpeg"/><Relationship Id="rId2" Type="http://schemas.openxmlformats.org/officeDocument/2006/relationships/image" Target="../media/image39.png"/><Relationship Id="rId1" Type="http://schemas.openxmlformats.org/officeDocument/2006/relationships/slideLayout" Target="../slideLayouts/slideLayout12.xml"/><Relationship Id="rId6" Type="http://schemas.openxmlformats.org/officeDocument/2006/relationships/hyperlink" Target="video/5G.mp4" TargetMode="External"/><Relationship Id="rId5" Type="http://schemas.openxmlformats.org/officeDocument/2006/relationships/image" Target="../media/image42.png"/><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4.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5.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5.xml"/><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51.png"/><Relationship Id="rId1" Type="http://schemas.openxmlformats.org/officeDocument/2006/relationships/slideLayout" Target="../slideLayouts/slideLayout5.xml"/><Relationship Id="rId4" Type="http://schemas.openxmlformats.org/officeDocument/2006/relationships/image" Target="../media/image47.sv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hyperlink" Target="https://www.huawei.com/cn/" TargetMode="Externa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p:txBody>
          <a:bodyPr/>
          <a:lstStyle/>
          <a:p>
            <a:r>
              <a:rPr lang="zh-CN" altLang="en-US" dirty="0"/>
              <a:t>物理层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Physical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a:t>
            </a:r>
            <a:r>
              <a:rPr lang="en-US" altLang="zh-CN" dirty="0"/>
              <a:t>2</a:t>
            </a:r>
            <a:r>
              <a:rPr lang="zh-CN" altLang="en-US" dirty="0"/>
              <a:t>章</a:t>
            </a:r>
          </a:p>
        </p:txBody>
      </p:sp>
      <p:pic>
        <p:nvPicPr>
          <p:cNvPr id="49" name="图片占位符 48">
            <a:extLst>
              <a:ext uri="{FF2B5EF4-FFF2-40B4-BE49-F238E27FC236}">
                <a16:creationId xmlns:a16="http://schemas.microsoft.com/office/drawing/2014/main" id="{6B22F925-1A76-484E-94DF-8D193D28FE47}"/>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6441" r="16441"/>
          <a:stretch>
            <a:fillRect/>
          </a:stretch>
        </p:blipFill>
        <p:spPr/>
      </p:pic>
      <p:sp>
        <p:nvSpPr>
          <p:cNvPr id="23" name="文本框 22">
            <a:extLst>
              <a:ext uri="{FF2B5EF4-FFF2-40B4-BE49-F238E27FC236}">
                <a16:creationId xmlns:a16="http://schemas.microsoft.com/office/drawing/2014/main" id="{EF17155E-015F-4951-858F-C6D1637B9CE2}"/>
              </a:ext>
            </a:extLst>
          </p:cNvPr>
          <p:cNvSpPr txBox="1"/>
          <p:nvPr/>
        </p:nvSpPr>
        <p:spPr>
          <a:xfrm>
            <a:off x="5259873" y="1697941"/>
            <a:ext cx="2954655" cy="1323439"/>
          </a:xfrm>
          <a:prstGeom prst="rect">
            <a:avLst/>
          </a:prstGeom>
          <a:noFill/>
        </p:spPr>
        <p:txBody>
          <a:bodyPr wrap="none" rtlCol="0">
            <a:spAutoFit/>
          </a:bodyPr>
          <a:lstStyle/>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物理层的任务</a:t>
            </a: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数据通信的基本概念</a:t>
            </a: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常用的信道复用技术</a:t>
            </a:r>
          </a:p>
          <a:p>
            <a:pPr marL="457200" indent="-457200">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互联网接入技术</a:t>
            </a:r>
          </a:p>
        </p:txBody>
      </p:sp>
    </p:spTree>
    <p:extLst>
      <p:ext uri="{BB962C8B-B14F-4D97-AF65-F5344CB8AC3E}">
        <p14:creationId xmlns:p14="http://schemas.microsoft.com/office/powerpoint/2010/main" val="1124087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任务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Objective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1</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2" y="1929398"/>
            <a:ext cx="11375090" cy="400110"/>
          </a:xfrm>
          <a:prstGeom prst="rect">
            <a:avLst/>
          </a:prstGeom>
          <a:noFill/>
        </p:spPr>
        <p:txBody>
          <a:bodyPr wrap="square" rtlCol="0">
            <a:spAutoFit/>
          </a:bodyPr>
          <a:lstStyle/>
          <a:p>
            <a:pPr algn="ct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利用物理介质为网络节点建立、管理和释放链接；为数据链路层提供数据传输服务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6" name="立方体 5">
            <a:extLst>
              <a:ext uri="{FF2B5EF4-FFF2-40B4-BE49-F238E27FC236}">
                <a16:creationId xmlns:a16="http://schemas.microsoft.com/office/drawing/2014/main" id="{44AE22E1-E74D-4201-8435-6416B237288E}"/>
              </a:ext>
            </a:extLst>
          </p:cNvPr>
          <p:cNvSpPr/>
          <p:nvPr/>
        </p:nvSpPr>
        <p:spPr>
          <a:xfrm>
            <a:off x="3072094" y="391294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dirty="0">
                <a:solidFill>
                  <a:schemeClr val="bg1"/>
                </a:solidFill>
                <a:latin typeface="Cuprum" panose="00000500000000000000" pitchFamily="2" charset="0"/>
                <a:ea typeface="微软雅黑 Light" panose="020B0502040204020203" pitchFamily="34" charset="-122"/>
              </a:rPr>
              <a:t>Link layer</a:t>
            </a:r>
            <a:endParaRPr lang="zh-CN" altLang="en-US" dirty="0">
              <a:solidFill>
                <a:schemeClr val="bg1"/>
              </a:solidFill>
              <a:latin typeface="Cuprum"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F77B9EE1-F586-4A8E-B8C4-1A67504FB623}"/>
              </a:ext>
            </a:extLst>
          </p:cNvPr>
          <p:cNvSpPr/>
          <p:nvPr/>
        </p:nvSpPr>
        <p:spPr>
          <a:xfrm>
            <a:off x="3072094" y="4857047"/>
            <a:ext cx="1800000" cy="576000"/>
          </a:xfrm>
          <a:prstGeom prst="cub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solidFill>
                  <a:schemeClr val="bg1"/>
                </a:solidFill>
                <a:latin typeface="Cuprum" panose="00000500000000000000" pitchFamily="2" charset="0"/>
                <a:ea typeface="微软雅黑 Light" panose="020B0502040204020203" pitchFamily="34" charset="-122"/>
              </a:rPr>
              <a:t>Physical layer</a:t>
            </a:r>
            <a:endParaRPr lang="zh-CN" altLang="en-US" dirty="0">
              <a:solidFill>
                <a:schemeClr val="bg1"/>
              </a:solidFill>
              <a:latin typeface="Cuprum"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369A162C-5EA0-4B29-BFE3-684B8DA8D2BB}"/>
              </a:ext>
            </a:extLst>
          </p:cNvPr>
          <p:cNvSpPr/>
          <p:nvPr/>
        </p:nvSpPr>
        <p:spPr>
          <a:xfrm>
            <a:off x="3900094" y="480370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9" name="文本框 8">
            <a:extLst>
              <a:ext uri="{FF2B5EF4-FFF2-40B4-BE49-F238E27FC236}">
                <a16:creationId xmlns:a16="http://schemas.microsoft.com/office/drawing/2014/main" id="{99FEC95C-FD6C-46C7-BF6C-B5620B45111D}"/>
              </a:ext>
            </a:extLst>
          </p:cNvPr>
          <p:cNvSpPr txBox="1"/>
          <p:nvPr/>
        </p:nvSpPr>
        <p:spPr>
          <a:xfrm>
            <a:off x="4013614" y="4622610"/>
            <a:ext cx="518091" cy="369332"/>
          </a:xfrm>
          <a:prstGeom prst="rect">
            <a:avLst/>
          </a:prstGeom>
          <a:noFill/>
        </p:spPr>
        <p:txBody>
          <a:bodyPr wrap="none" rtlCol="0">
            <a:spAutoFit/>
          </a:bodyPr>
          <a:lstStyle/>
          <a:p>
            <a:pPr algn="l"/>
            <a:r>
              <a:rPr lang="en-US" altLang="zh-CN" dirty="0">
                <a:solidFill>
                  <a:schemeClr val="accent2"/>
                </a:solidFill>
                <a:latin typeface="Cuprum" panose="00000500000000000000" pitchFamily="2" charset="0"/>
                <a:ea typeface="微软雅黑 Light" panose="020B0502040204020203" pitchFamily="34" charset="-122"/>
              </a:rPr>
              <a:t>SAP</a:t>
            </a:r>
            <a:endParaRPr lang="zh-CN" altLang="en-US" dirty="0">
              <a:solidFill>
                <a:schemeClr val="accent2"/>
              </a:solidFill>
              <a:latin typeface="Cuprum" panose="00000500000000000000" pitchFamily="2"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539D9FE9-C281-44B0-9C9A-BADB62C568F0}"/>
              </a:ext>
            </a:extLst>
          </p:cNvPr>
          <p:cNvCxnSpPr>
            <a:cxnSpLocks/>
            <a:stCxn id="7" idx="4"/>
            <a:endCxn id="14" idx="2"/>
          </p:cNvCxnSpPr>
          <p:nvPr/>
        </p:nvCxnSpPr>
        <p:spPr>
          <a:xfrm>
            <a:off x="4728094" y="5217047"/>
            <a:ext cx="2591813" cy="0"/>
          </a:xfrm>
          <a:prstGeom prst="line">
            <a:avLst/>
          </a:prstGeom>
          <a:ln w="19050">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 name="箭头: 上下 10">
            <a:extLst>
              <a:ext uri="{FF2B5EF4-FFF2-40B4-BE49-F238E27FC236}">
                <a16:creationId xmlns:a16="http://schemas.microsoft.com/office/drawing/2014/main" id="{A7C76AA7-3C80-44A4-9617-3D6E9919786C}"/>
              </a:ext>
            </a:extLst>
          </p:cNvPr>
          <p:cNvSpPr/>
          <p:nvPr/>
        </p:nvSpPr>
        <p:spPr>
          <a:xfrm>
            <a:off x="3566687" y="451475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9F815583-502D-4F3F-858F-44E9FC869C18}"/>
              </a:ext>
            </a:extLst>
          </p:cNvPr>
          <p:cNvSpPr txBox="1"/>
          <p:nvPr/>
        </p:nvSpPr>
        <p:spPr>
          <a:xfrm>
            <a:off x="5856992" y="4857047"/>
            <a:ext cx="426720" cy="369332"/>
          </a:xfrm>
          <a:prstGeom prst="rect">
            <a:avLst/>
          </a:prstGeom>
          <a:noFill/>
        </p:spPr>
        <p:txBody>
          <a:bodyPr wrap="none" rtlCol="0">
            <a:spAutoFit/>
          </a:bodyPr>
          <a:lstStyle/>
          <a:p>
            <a:pPr algn="l"/>
            <a:r>
              <a:rPr lang="en-US" altLang="zh-CN" dirty="0">
                <a:solidFill>
                  <a:schemeClr val="tx1"/>
                </a:solidFill>
                <a:latin typeface="Cuprum" panose="00000500000000000000" pitchFamily="2" charset="0"/>
                <a:ea typeface="微软雅黑 Light" panose="020B0502040204020203" pitchFamily="34" charset="-122"/>
              </a:rPr>
              <a:t>bit</a:t>
            </a:r>
            <a:endParaRPr lang="zh-CN" altLang="en-US" dirty="0">
              <a:solidFill>
                <a:schemeClr val="tx1"/>
              </a:solidFill>
              <a:latin typeface="Cuprum"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E220B308-952F-4518-BCBE-B8023CF82674}"/>
              </a:ext>
            </a:extLst>
          </p:cNvPr>
          <p:cNvSpPr/>
          <p:nvPr/>
        </p:nvSpPr>
        <p:spPr>
          <a:xfrm>
            <a:off x="7319907" y="391294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dirty="0">
                <a:solidFill>
                  <a:schemeClr val="bg1"/>
                </a:solidFill>
                <a:latin typeface="Cuprum" panose="00000500000000000000" pitchFamily="2" charset="0"/>
                <a:ea typeface="微软雅黑 Light" panose="020B0502040204020203" pitchFamily="34" charset="-122"/>
              </a:rPr>
              <a:t>Link layer</a:t>
            </a:r>
            <a:endParaRPr lang="zh-CN" altLang="en-US" dirty="0">
              <a:solidFill>
                <a:schemeClr val="bg1"/>
              </a:solidFill>
              <a:latin typeface="Cuprum"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68C651EC-9F24-450D-92F6-D81F93124CC7}"/>
              </a:ext>
            </a:extLst>
          </p:cNvPr>
          <p:cNvSpPr/>
          <p:nvPr/>
        </p:nvSpPr>
        <p:spPr>
          <a:xfrm>
            <a:off x="7319907" y="4857047"/>
            <a:ext cx="1800000" cy="576000"/>
          </a:xfrm>
          <a:prstGeom prst="cub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solidFill>
                  <a:schemeClr val="bg1"/>
                </a:solidFill>
                <a:latin typeface="Cuprum" panose="00000500000000000000" pitchFamily="2" charset="0"/>
                <a:ea typeface="微软雅黑 Light" panose="020B0502040204020203" pitchFamily="34" charset="-122"/>
              </a:rPr>
              <a:t>Physical layer</a:t>
            </a:r>
            <a:endParaRPr lang="zh-CN" altLang="en-US" dirty="0">
              <a:solidFill>
                <a:schemeClr val="bg1"/>
              </a:solidFill>
              <a:latin typeface="Cuprum"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9CD7FB66-3BBF-4278-88BD-FAC18C2CD5F1}"/>
              </a:ext>
            </a:extLst>
          </p:cNvPr>
          <p:cNvSpPr/>
          <p:nvPr/>
        </p:nvSpPr>
        <p:spPr>
          <a:xfrm>
            <a:off x="8147907" y="480370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0F9401E2-9922-4063-B0E9-EC1ECD6FDC52}"/>
              </a:ext>
            </a:extLst>
          </p:cNvPr>
          <p:cNvSpPr txBox="1"/>
          <p:nvPr/>
        </p:nvSpPr>
        <p:spPr>
          <a:xfrm>
            <a:off x="8261427" y="4622610"/>
            <a:ext cx="518091" cy="369332"/>
          </a:xfrm>
          <a:prstGeom prst="rect">
            <a:avLst/>
          </a:prstGeom>
          <a:noFill/>
        </p:spPr>
        <p:txBody>
          <a:bodyPr wrap="none" rtlCol="0">
            <a:spAutoFit/>
          </a:bodyPr>
          <a:lstStyle/>
          <a:p>
            <a:pPr algn="l"/>
            <a:r>
              <a:rPr lang="en-US" altLang="zh-CN" dirty="0">
                <a:solidFill>
                  <a:schemeClr val="accent2"/>
                </a:solidFill>
                <a:latin typeface="Cuprum" panose="00000500000000000000" pitchFamily="2" charset="0"/>
                <a:ea typeface="微软雅黑 Light" panose="020B0502040204020203" pitchFamily="34" charset="-122"/>
              </a:rPr>
              <a:t>SAP</a:t>
            </a:r>
            <a:endParaRPr lang="zh-CN" altLang="en-US" dirty="0">
              <a:solidFill>
                <a:schemeClr val="accent2"/>
              </a:solidFill>
              <a:latin typeface="Cuprum" panose="00000500000000000000" pitchFamily="2" charset="0"/>
              <a:ea typeface="微软雅黑 Light" panose="020B0502040204020203" pitchFamily="34" charset="-122"/>
            </a:endParaRPr>
          </a:p>
        </p:txBody>
      </p:sp>
      <p:sp>
        <p:nvSpPr>
          <p:cNvPr id="18" name="箭头: 上下 17">
            <a:extLst>
              <a:ext uri="{FF2B5EF4-FFF2-40B4-BE49-F238E27FC236}">
                <a16:creationId xmlns:a16="http://schemas.microsoft.com/office/drawing/2014/main" id="{E4B3F772-A369-42DB-B496-F2667EE529B6}"/>
              </a:ext>
            </a:extLst>
          </p:cNvPr>
          <p:cNvSpPr/>
          <p:nvPr/>
        </p:nvSpPr>
        <p:spPr>
          <a:xfrm>
            <a:off x="7814500" y="451475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95173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协议</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Protocol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2</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2" y="1929398"/>
            <a:ext cx="1259999" cy="400110"/>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panose="020B0503020204020204" pitchFamily="34" charset="-122"/>
                <a:ea typeface="微软雅黑" panose="020B0503020204020204" pitchFamily="34" charset="-122"/>
              </a:rPr>
              <a:t>机械特性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19" name="文本框 18">
            <a:extLst>
              <a:ext uri="{FF2B5EF4-FFF2-40B4-BE49-F238E27FC236}">
                <a16:creationId xmlns:a16="http://schemas.microsoft.com/office/drawing/2014/main" id="{37F83189-3DA0-43C2-8E76-94890BD75988}"/>
              </a:ext>
            </a:extLst>
          </p:cNvPr>
          <p:cNvSpPr txBox="1"/>
          <p:nvPr/>
        </p:nvSpPr>
        <p:spPr>
          <a:xfrm>
            <a:off x="344962" y="2329508"/>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连接线</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器的形状、尺寸、引脚数和排列等</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286ACD4B-C3E0-40A9-A2D3-AB5E70C80A85}"/>
              </a:ext>
            </a:extLst>
          </p:cNvPr>
          <p:cNvSpPr txBox="1"/>
          <p:nvPr/>
        </p:nvSpPr>
        <p:spPr>
          <a:xfrm>
            <a:off x="344962" y="3019589"/>
            <a:ext cx="1259999" cy="400110"/>
          </a:xfrm>
          <a:prstGeom prst="rect">
            <a:avLst/>
          </a:prstGeom>
          <a:noFill/>
        </p:spPr>
        <p:txBody>
          <a:bodyPr wrap="square" rtlCol="0">
            <a:spAutoFit/>
          </a:bodyPr>
          <a:lstStyle/>
          <a:p>
            <a:pPr>
              <a:buClr>
                <a:schemeClr val="accent2"/>
              </a:buClr>
            </a:pPr>
            <a:r>
              <a:rPr lang="zh-CN" altLang="en-US" sz="2000" dirty="0">
                <a:latin typeface="微软雅黑" panose="020B0503020204020204" pitchFamily="34" charset="-122"/>
                <a:ea typeface="微软雅黑" panose="020B0503020204020204" pitchFamily="34" charset="-122"/>
              </a:rPr>
              <a:t>电气</a:t>
            </a:r>
            <a:r>
              <a:rPr lang="zh-CN" altLang="en-US" sz="2000" dirty="0">
                <a:solidFill>
                  <a:schemeClr val="tx1"/>
                </a:solidFill>
                <a:latin typeface="微软雅黑" panose="020B0503020204020204" pitchFamily="34" charset="-122"/>
                <a:ea typeface="微软雅黑" panose="020B0503020204020204" pitchFamily="34" charset="-122"/>
              </a:rPr>
              <a:t>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1" name="文本框 20">
            <a:extLst>
              <a:ext uri="{FF2B5EF4-FFF2-40B4-BE49-F238E27FC236}">
                <a16:creationId xmlns:a16="http://schemas.microsoft.com/office/drawing/2014/main" id="{7464566E-8168-4ED8-9180-F506C8CC6525}"/>
              </a:ext>
            </a:extLst>
          </p:cNvPr>
          <p:cNvSpPr txBox="1"/>
          <p:nvPr/>
        </p:nvSpPr>
        <p:spPr>
          <a:xfrm>
            <a:off x="344962" y="3419699"/>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接口电缆的各条线上电压的范围：什么电平代表</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，什么电平代表</a:t>
            </a:r>
            <a:r>
              <a:rPr lang="en-US" altLang="zh-CN" sz="2000" dirty="0">
                <a:latin typeface="微软雅黑 Light" panose="020B0502040204020203" pitchFamily="34" charset="-122"/>
                <a:ea typeface="微软雅黑 Light" panose="020B0502040204020203" pitchFamily="34" charset="-122"/>
              </a:rPr>
              <a:t>0</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2" name="文本框 21">
            <a:extLst>
              <a:ext uri="{FF2B5EF4-FFF2-40B4-BE49-F238E27FC236}">
                <a16:creationId xmlns:a16="http://schemas.microsoft.com/office/drawing/2014/main" id="{8A29712C-79D5-4C74-8D4D-7D5953407003}"/>
              </a:ext>
            </a:extLst>
          </p:cNvPr>
          <p:cNvSpPr txBox="1"/>
          <p:nvPr/>
        </p:nvSpPr>
        <p:spPr>
          <a:xfrm>
            <a:off x="344962" y="4042144"/>
            <a:ext cx="1259999" cy="400110"/>
          </a:xfrm>
          <a:prstGeom prst="rect">
            <a:avLst/>
          </a:prstGeom>
          <a:noFill/>
        </p:spPr>
        <p:txBody>
          <a:bodyPr wrap="square" rtlCol="0">
            <a:spAutoFit/>
          </a:bodyPr>
          <a:lstStyle/>
          <a:p>
            <a:pPr>
              <a:buClr>
                <a:schemeClr val="accent2"/>
              </a:buClr>
            </a:pPr>
            <a:r>
              <a:rPr lang="zh-CN" altLang="en-US" sz="2000" dirty="0">
                <a:latin typeface="微软雅黑" panose="020B0503020204020204" pitchFamily="34" charset="-122"/>
                <a:ea typeface="微软雅黑" panose="020B0503020204020204" pitchFamily="34" charset="-122"/>
              </a:rPr>
              <a:t>功能</a:t>
            </a:r>
            <a:r>
              <a:rPr lang="zh-CN" altLang="en-US" sz="2000" dirty="0">
                <a:solidFill>
                  <a:schemeClr val="tx1"/>
                </a:solidFill>
                <a:latin typeface="微软雅黑" panose="020B0503020204020204" pitchFamily="34" charset="-122"/>
                <a:ea typeface="微软雅黑" panose="020B0503020204020204" pitchFamily="34" charset="-122"/>
              </a:rPr>
              <a:t>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3" name="文本框 22">
            <a:extLst>
              <a:ext uri="{FF2B5EF4-FFF2-40B4-BE49-F238E27FC236}">
                <a16:creationId xmlns:a16="http://schemas.microsoft.com/office/drawing/2014/main" id="{A03E8A58-AF45-402C-AA28-3B29F3684B42}"/>
              </a:ext>
            </a:extLst>
          </p:cNvPr>
          <p:cNvSpPr txBox="1"/>
          <p:nvPr/>
        </p:nvSpPr>
        <p:spPr>
          <a:xfrm>
            <a:off x="344962" y="4442254"/>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接口电缆的各条线上电压表示的意义</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4" name="文本框 23">
            <a:extLst>
              <a:ext uri="{FF2B5EF4-FFF2-40B4-BE49-F238E27FC236}">
                <a16:creationId xmlns:a16="http://schemas.microsoft.com/office/drawing/2014/main" id="{F240C9EA-021C-4FA3-AE25-667D77B82A3F}"/>
              </a:ext>
            </a:extLst>
          </p:cNvPr>
          <p:cNvSpPr txBox="1"/>
          <p:nvPr/>
        </p:nvSpPr>
        <p:spPr>
          <a:xfrm>
            <a:off x="344962" y="5217870"/>
            <a:ext cx="1259999" cy="400110"/>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panose="020B0503020204020204" pitchFamily="34" charset="-122"/>
                <a:ea typeface="微软雅黑" panose="020B0503020204020204" pitchFamily="34" charset="-122"/>
              </a:rPr>
              <a:t>规程特性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5" name="文本框 24">
            <a:extLst>
              <a:ext uri="{FF2B5EF4-FFF2-40B4-BE49-F238E27FC236}">
                <a16:creationId xmlns:a16="http://schemas.microsoft.com/office/drawing/2014/main" id="{C448FE44-7B95-40DF-A79E-25DCC7A60EE5}"/>
              </a:ext>
            </a:extLst>
          </p:cNvPr>
          <p:cNvSpPr txBox="1"/>
          <p:nvPr/>
        </p:nvSpPr>
        <p:spPr>
          <a:xfrm>
            <a:off x="344962" y="5617980"/>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规定接口上各种信号线以及各种电平出现的先后顺序，即哪根信号线先动作，哪根信号线后动作</a:t>
            </a:r>
          </a:p>
        </p:txBody>
      </p:sp>
      <p:sp>
        <p:nvSpPr>
          <p:cNvPr id="13" name="立方体 12">
            <a:extLst>
              <a:ext uri="{FF2B5EF4-FFF2-40B4-BE49-F238E27FC236}">
                <a16:creationId xmlns:a16="http://schemas.microsoft.com/office/drawing/2014/main" id="{977B41C8-EA2A-480D-A9B7-806C32D5D26E}"/>
              </a:ext>
            </a:extLst>
          </p:cNvPr>
          <p:cNvSpPr/>
          <p:nvPr/>
        </p:nvSpPr>
        <p:spPr>
          <a:xfrm>
            <a:off x="11576052" y="205745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6" name="直接连接符 5">
            <a:extLst>
              <a:ext uri="{FF2B5EF4-FFF2-40B4-BE49-F238E27FC236}">
                <a16:creationId xmlns:a16="http://schemas.microsoft.com/office/drawing/2014/main" id="{5BB57B27-A687-4006-9A57-248C2DA6AB21}"/>
              </a:ext>
            </a:extLst>
          </p:cNvPr>
          <p:cNvCxnSpPr>
            <a:stCxn id="31" idx="3"/>
            <a:endCxn id="13" idx="2"/>
          </p:cNvCxnSpPr>
          <p:nvPr/>
        </p:nvCxnSpPr>
        <p:spPr>
          <a:xfrm>
            <a:off x="1604961" y="2129453"/>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16" name="立方体 15">
            <a:extLst>
              <a:ext uri="{FF2B5EF4-FFF2-40B4-BE49-F238E27FC236}">
                <a16:creationId xmlns:a16="http://schemas.microsoft.com/office/drawing/2014/main" id="{65B8DB3D-48FC-4F57-BAE4-91907EA726F9}"/>
              </a:ext>
            </a:extLst>
          </p:cNvPr>
          <p:cNvSpPr/>
          <p:nvPr/>
        </p:nvSpPr>
        <p:spPr>
          <a:xfrm>
            <a:off x="11576052" y="3147644"/>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7" name="立方体 16">
            <a:extLst>
              <a:ext uri="{FF2B5EF4-FFF2-40B4-BE49-F238E27FC236}">
                <a16:creationId xmlns:a16="http://schemas.microsoft.com/office/drawing/2014/main" id="{0B08DE43-2362-47C3-8C95-FEF1FFBC4D24}"/>
              </a:ext>
            </a:extLst>
          </p:cNvPr>
          <p:cNvSpPr/>
          <p:nvPr/>
        </p:nvSpPr>
        <p:spPr>
          <a:xfrm>
            <a:off x="11576052" y="4170199"/>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8" name="立方体 17">
            <a:extLst>
              <a:ext uri="{FF2B5EF4-FFF2-40B4-BE49-F238E27FC236}">
                <a16:creationId xmlns:a16="http://schemas.microsoft.com/office/drawing/2014/main" id="{6A921659-5290-4343-93C5-71AD9DB4F5E3}"/>
              </a:ext>
            </a:extLst>
          </p:cNvPr>
          <p:cNvSpPr/>
          <p:nvPr/>
        </p:nvSpPr>
        <p:spPr>
          <a:xfrm>
            <a:off x="11576052" y="5345925"/>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8" name="直接连接符 7">
            <a:extLst>
              <a:ext uri="{FF2B5EF4-FFF2-40B4-BE49-F238E27FC236}">
                <a16:creationId xmlns:a16="http://schemas.microsoft.com/office/drawing/2014/main" id="{410EE49E-7B98-4812-85BF-AA9F6167F394}"/>
              </a:ext>
            </a:extLst>
          </p:cNvPr>
          <p:cNvCxnSpPr>
            <a:stCxn id="20" idx="3"/>
            <a:endCxn id="16" idx="2"/>
          </p:cNvCxnSpPr>
          <p:nvPr/>
        </p:nvCxnSpPr>
        <p:spPr>
          <a:xfrm>
            <a:off x="1604961" y="3219644"/>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0" name="直接连接符 9">
            <a:extLst>
              <a:ext uri="{FF2B5EF4-FFF2-40B4-BE49-F238E27FC236}">
                <a16:creationId xmlns:a16="http://schemas.microsoft.com/office/drawing/2014/main" id="{C3145149-5B59-4B88-93CF-89AD662C2E0C}"/>
              </a:ext>
            </a:extLst>
          </p:cNvPr>
          <p:cNvCxnSpPr>
            <a:stCxn id="22" idx="3"/>
            <a:endCxn id="17" idx="2"/>
          </p:cNvCxnSpPr>
          <p:nvPr/>
        </p:nvCxnSpPr>
        <p:spPr>
          <a:xfrm>
            <a:off x="1604961" y="4242199"/>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2" name="直接连接符 11">
            <a:extLst>
              <a:ext uri="{FF2B5EF4-FFF2-40B4-BE49-F238E27FC236}">
                <a16:creationId xmlns:a16="http://schemas.microsoft.com/office/drawing/2014/main" id="{6008B12E-6092-4096-BBEB-073AD0AED355}"/>
              </a:ext>
            </a:extLst>
          </p:cNvPr>
          <p:cNvCxnSpPr>
            <a:stCxn id="24" idx="3"/>
            <a:endCxn id="18" idx="2"/>
          </p:cNvCxnSpPr>
          <p:nvPr/>
        </p:nvCxnSpPr>
        <p:spPr>
          <a:xfrm>
            <a:off x="1604961" y="5417925"/>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065094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通信模式</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Mode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3</a:t>
            </a:r>
            <a:endParaRPr lang="zh-CN" altLang="en-US" dirty="0"/>
          </a:p>
        </p:txBody>
      </p:sp>
      <p:sp>
        <p:nvSpPr>
          <p:cNvPr id="11" name="椭圆 10">
            <a:extLst>
              <a:ext uri="{FF2B5EF4-FFF2-40B4-BE49-F238E27FC236}">
                <a16:creationId xmlns:a16="http://schemas.microsoft.com/office/drawing/2014/main" id="{820975E9-1E42-44EA-A6BB-4F71F1BEAAC8}"/>
              </a:ext>
            </a:extLst>
          </p:cNvPr>
          <p:cNvSpPr/>
          <p:nvPr/>
        </p:nvSpPr>
        <p:spPr>
          <a:xfrm>
            <a:off x="809625" y="4038600"/>
            <a:ext cx="552450" cy="55245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latin typeface="Cuprum" panose="00000500000000000000" pitchFamily="2" charset="0"/>
              </a:rPr>
              <a:t>T</a:t>
            </a:r>
            <a:endParaRPr lang="zh-CN" altLang="en-US" dirty="0">
              <a:solidFill>
                <a:schemeClr val="bg1"/>
              </a:solidFill>
              <a:latin typeface="Cuprum" panose="00000500000000000000" pitchFamily="2" charset="0"/>
            </a:endParaRPr>
          </a:p>
        </p:txBody>
      </p:sp>
      <p:sp>
        <p:nvSpPr>
          <p:cNvPr id="21" name="椭圆 20">
            <a:extLst>
              <a:ext uri="{FF2B5EF4-FFF2-40B4-BE49-F238E27FC236}">
                <a16:creationId xmlns:a16="http://schemas.microsoft.com/office/drawing/2014/main" id="{C6A4BE63-8501-4923-8085-6C6481B79569}"/>
              </a:ext>
            </a:extLst>
          </p:cNvPr>
          <p:cNvSpPr/>
          <p:nvPr/>
        </p:nvSpPr>
        <p:spPr>
          <a:xfrm>
            <a:off x="2914650" y="4038600"/>
            <a:ext cx="552450" cy="552450"/>
          </a:xfrm>
          <a:prstGeom prst="ellipse">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dirty="0">
                <a:solidFill>
                  <a:schemeClr val="bg1"/>
                </a:solidFill>
                <a:latin typeface="Cuprum" panose="00000500000000000000" pitchFamily="2" charset="0"/>
              </a:rPr>
              <a:t>R</a:t>
            </a:r>
            <a:endParaRPr lang="zh-CN" altLang="en-US" dirty="0">
              <a:solidFill>
                <a:schemeClr val="bg1"/>
              </a:solidFill>
              <a:latin typeface="Cuprum" panose="00000500000000000000" pitchFamily="2" charset="0"/>
            </a:endParaRPr>
          </a:p>
        </p:txBody>
      </p:sp>
      <p:cxnSp>
        <p:nvCxnSpPr>
          <p:cNvPr id="22" name="直接箭头连接符 21">
            <a:extLst>
              <a:ext uri="{FF2B5EF4-FFF2-40B4-BE49-F238E27FC236}">
                <a16:creationId xmlns:a16="http://schemas.microsoft.com/office/drawing/2014/main" id="{3BA6BD13-1421-4DF1-83E0-0A07C5949BD1}"/>
              </a:ext>
            </a:extLst>
          </p:cNvPr>
          <p:cNvCxnSpPr>
            <a:stCxn id="11" idx="6"/>
            <a:endCxn id="21" idx="2"/>
          </p:cNvCxnSpPr>
          <p:nvPr/>
        </p:nvCxnSpPr>
        <p:spPr>
          <a:xfrm>
            <a:off x="1362075" y="4314825"/>
            <a:ext cx="1552575" cy="0"/>
          </a:xfrm>
          <a:prstGeom prst="straightConnector1">
            <a:avLst/>
          </a:prstGeom>
          <a:ln w="381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椭圆 23">
            <a:extLst>
              <a:ext uri="{FF2B5EF4-FFF2-40B4-BE49-F238E27FC236}">
                <a16:creationId xmlns:a16="http://schemas.microsoft.com/office/drawing/2014/main" id="{25C1BB9A-AB14-4210-B31D-49388E194009}"/>
              </a:ext>
            </a:extLst>
          </p:cNvPr>
          <p:cNvSpPr/>
          <p:nvPr/>
        </p:nvSpPr>
        <p:spPr>
          <a:xfrm>
            <a:off x="4767262" y="2509896"/>
            <a:ext cx="552450" cy="55245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latin typeface="Cuprum" panose="00000500000000000000" pitchFamily="2" charset="0"/>
              </a:rPr>
              <a:t>T</a:t>
            </a:r>
            <a:endParaRPr lang="zh-CN" altLang="en-US" dirty="0">
              <a:solidFill>
                <a:schemeClr val="bg1"/>
              </a:solidFill>
              <a:latin typeface="Cuprum" panose="00000500000000000000" pitchFamily="2" charset="0"/>
            </a:endParaRPr>
          </a:p>
        </p:txBody>
      </p:sp>
      <p:sp>
        <p:nvSpPr>
          <p:cNvPr id="25" name="椭圆 24">
            <a:extLst>
              <a:ext uri="{FF2B5EF4-FFF2-40B4-BE49-F238E27FC236}">
                <a16:creationId xmlns:a16="http://schemas.microsoft.com/office/drawing/2014/main" id="{3D6E65BA-E388-4D4F-9C9F-904E74ECBA35}"/>
              </a:ext>
            </a:extLst>
          </p:cNvPr>
          <p:cNvSpPr/>
          <p:nvPr/>
        </p:nvSpPr>
        <p:spPr>
          <a:xfrm>
            <a:off x="6872287" y="2509896"/>
            <a:ext cx="552450" cy="55245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latin typeface="Cuprum" panose="00000500000000000000" pitchFamily="2" charset="0"/>
              </a:rPr>
              <a:t>R</a:t>
            </a:r>
            <a:endParaRPr lang="zh-CN" altLang="en-US" dirty="0">
              <a:solidFill>
                <a:schemeClr val="bg1"/>
              </a:solidFill>
              <a:latin typeface="Cuprum" panose="00000500000000000000" pitchFamily="2" charset="0"/>
            </a:endParaRPr>
          </a:p>
        </p:txBody>
      </p:sp>
      <p:cxnSp>
        <p:nvCxnSpPr>
          <p:cNvPr id="27" name="直接箭头连接符 26">
            <a:extLst>
              <a:ext uri="{FF2B5EF4-FFF2-40B4-BE49-F238E27FC236}">
                <a16:creationId xmlns:a16="http://schemas.microsoft.com/office/drawing/2014/main" id="{5BA4AC5B-9C19-4B60-860E-538F34048647}"/>
              </a:ext>
            </a:extLst>
          </p:cNvPr>
          <p:cNvCxnSpPr>
            <a:cxnSpLocks/>
            <a:stCxn id="24" idx="5"/>
            <a:endCxn id="25" idx="3"/>
          </p:cNvCxnSpPr>
          <p:nvPr/>
        </p:nvCxnSpPr>
        <p:spPr>
          <a:xfrm>
            <a:off x="5238808" y="2981442"/>
            <a:ext cx="1714383" cy="0"/>
          </a:xfrm>
          <a:prstGeom prst="straightConnector1">
            <a:avLst/>
          </a:prstGeom>
          <a:ln w="381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8" name="直接箭头连接符 27">
            <a:extLst>
              <a:ext uri="{FF2B5EF4-FFF2-40B4-BE49-F238E27FC236}">
                <a16:creationId xmlns:a16="http://schemas.microsoft.com/office/drawing/2014/main" id="{68C19217-B4D7-4EB1-B2DC-CC09AECBFF91}"/>
              </a:ext>
            </a:extLst>
          </p:cNvPr>
          <p:cNvCxnSpPr>
            <a:stCxn id="25" idx="1"/>
            <a:endCxn id="24" idx="7"/>
          </p:cNvCxnSpPr>
          <p:nvPr/>
        </p:nvCxnSpPr>
        <p:spPr>
          <a:xfrm flipH="1">
            <a:off x="5238808" y="2590800"/>
            <a:ext cx="1714383" cy="0"/>
          </a:xfrm>
          <a:prstGeom prst="straightConnector1">
            <a:avLst/>
          </a:prstGeom>
          <a:ln w="38100">
            <a:solidFill>
              <a:schemeClr val="bg1">
                <a:lumMod val="50000"/>
              </a:schemeClr>
            </a:solidFill>
            <a:prstDash val="dash"/>
            <a:tailEnd type="triangle"/>
          </a:ln>
        </p:spPr>
        <p:style>
          <a:lnRef idx="1">
            <a:schemeClr val="dk1"/>
          </a:lnRef>
          <a:fillRef idx="0">
            <a:schemeClr val="dk1"/>
          </a:fillRef>
          <a:effectRef idx="0">
            <a:schemeClr val="dk1"/>
          </a:effectRef>
          <a:fontRef idx="minor">
            <a:schemeClr val="tx1"/>
          </a:fontRef>
        </p:style>
      </p:cxnSp>
      <p:sp>
        <p:nvSpPr>
          <p:cNvPr id="31" name="椭圆 30">
            <a:extLst>
              <a:ext uri="{FF2B5EF4-FFF2-40B4-BE49-F238E27FC236}">
                <a16:creationId xmlns:a16="http://schemas.microsoft.com/office/drawing/2014/main" id="{E655155B-7542-4B6D-8471-FD9220657A96}"/>
              </a:ext>
            </a:extLst>
          </p:cNvPr>
          <p:cNvSpPr/>
          <p:nvPr/>
        </p:nvSpPr>
        <p:spPr>
          <a:xfrm>
            <a:off x="8724900" y="4038600"/>
            <a:ext cx="552450" cy="55245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latin typeface="Cuprum" panose="00000500000000000000" pitchFamily="2" charset="0"/>
              </a:rPr>
              <a:t>T</a:t>
            </a:r>
            <a:endParaRPr lang="zh-CN" altLang="en-US" dirty="0">
              <a:solidFill>
                <a:schemeClr val="bg1"/>
              </a:solidFill>
              <a:latin typeface="Cuprum" panose="00000500000000000000" pitchFamily="2" charset="0"/>
            </a:endParaRPr>
          </a:p>
        </p:txBody>
      </p:sp>
      <p:sp>
        <p:nvSpPr>
          <p:cNvPr id="32" name="椭圆 31">
            <a:extLst>
              <a:ext uri="{FF2B5EF4-FFF2-40B4-BE49-F238E27FC236}">
                <a16:creationId xmlns:a16="http://schemas.microsoft.com/office/drawing/2014/main" id="{2BBC89C9-ABBF-4FD2-B99D-02CF3881109E}"/>
              </a:ext>
            </a:extLst>
          </p:cNvPr>
          <p:cNvSpPr/>
          <p:nvPr/>
        </p:nvSpPr>
        <p:spPr>
          <a:xfrm>
            <a:off x="10829925" y="4038600"/>
            <a:ext cx="552450" cy="55245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latin typeface="Cuprum" panose="00000500000000000000" pitchFamily="2" charset="0"/>
              </a:rPr>
              <a:t>R</a:t>
            </a:r>
            <a:endParaRPr lang="zh-CN" altLang="en-US" dirty="0">
              <a:solidFill>
                <a:schemeClr val="bg1"/>
              </a:solidFill>
              <a:latin typeface="Cuprum" panose="00000500000000000000" pitchFamily="2" charset="0"/>
            </a:endParaRPr>
          </a:p>
        </p:txBody>
      </p:sp>
      <p:cxnSp>
        <p:nvCxnSpPr>
          <p:cNvPr id="33" name="直接箭头连接符 32">
            <a:extLst>
              <a:ext uri="{FF2B5EF4-FFF2-40B4-BE49-F238E27FC236}">
                <a16:creationId xmlns:a16="http://schemas.microsoft.com/office/drawing/2014/main" id="{FA4496AD-52C7-48D5-8C8E-6AA87066455A}"/>
              </a:ext>
            </a:extLst>
          </p:cNvPr>
          <p:cNvCxnSpPr>
            <a:cxnSpLocks/>
            <a:stCxn id="31" idx="5"/>
            <a:endCxn id="32" idx="3"/>
          </p:cNvCxnSpPr>
          <p:nvPr/>
        </p:nvCxnSpPr>
        <p:spPr>
          <a:xfrm>
            <a:off x="9196446" y="4510146"/>
            <a:ext cx="1714383" cy="0"/>
          </a:xfrm>
          <a:prstGeom prst="straightConnector1">
            <a:avLst/>
          </a:prstGeom>
          <a:ln w="381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4" name="直接箭头连接符 33">
            <a:extLst>
              <a:ext uri="{FF2B5EF4-FFF2-40B4-BE49-F238E27FC236}">
                <a16:creationId xmlns:a16="http://schemas.microsoft.com/office/drawing/2014/main" id="{1480B7FE-730A-4770-882C-71342DD7761C}"/>
              </a:ext>
            </a:extLst>
          </p:cNvPr>
          <p:cNvCxnSpPr>
            <a:stCxn id="32" idx="1"/>
            <a:endCxn id="31" idx="7"/>
          </p:cNvCxnSpPr>
          <p:nvPr/>
        </p:nvCxnSpPr>
        <p:spPr>
          <a:xfrm flipH="1">
            <a:off x="9196446" y="4119504"/>
            <a:ext cx="1714383" cy="0"/>
          </a:xfrm>
          <a:prstGeom prst="straightConnector1">
            <a:avLst/>
          </a:prstGeom>
          <a:ln w="381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35" name="文本框 34">
            <a:extLst>
              <a:ext uri="{FF2B5EF4-FFF2-40B4-BE49-F238E27FC236}">
                <a16:creationId xmlns:a16="http://schemas.microsoft.com/office/drawing/2014/main" id="{A0077046-8E3A-435E-B4D5-0F2BE3E3CD7A}"/>
              </a:ext>
            </a:extLst>
          </p:cNvPr>
          <p:cNvSpPr txBox="1"/>
          <p:nvPr/>
        </p:nvSpPr>
        <p:spPr>
          <a:xfrm>
            <a:off x="1789549" y="3919449"/>
            <a:ext cx="697627" cy="400110"/>
          </a:xfrm>
          <a:prstGeom prst="rect">
            <a:avLst/>
          </a:prstGeom>
          <a:noFill/>
        </p:spPr>
        <p:txBody>
          <a:bodyPr wrap="none" rtlCol="0">
            <a:spAutoFit/>
          </a:bodyPr>
          <a:lstStyle/>
          <a:p>
            <a:pPr algn="ctr">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单工</a:t>
            </a:r>
          </a:p>
        </p:txBody>
      </p:sp>
      <p:sp>
        <p:nvSpPr>
          <p:cNvPr id="36" name="文本框 35">
            <a:extLst>
              <a:ext uri="{FF2B5EF4-FFF2-40B4-BE49-F238E27FC236}">
                <a16:creationId xmlns:a16="http://schemas.microsoft.com/office/drawing/2014/main" id="{3A0EA719-22A4-4288-9BAA-88E80A5DEF64}"/>
              </a:ext>
            </a:extLst>
          </p:cNvPr>
          <p:cNvSpPr txBox="1"/>
          <p:nvPr/>
        </p:nvSpPr>
        <p:spPr>
          <a:xfrm>
            <a:off x="9620655" y="4114771"/>
            <a:ext cx="954107" cy="400110"/>
          </a:xfrm>
          <a:prstGeom prst="rect">
            <a:avLst/>
          </a:prstGeom>
          <a:noFill/>
        </p:spPr>
        <p:txBody>
          <a:bodyPr wrap="none" rtlCol="0">
            <a:spAutoFit/>
          </a:bodyPr>
          <a:lstStyle/>
          <a:p>
            <a:pPr algn="ctr">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全双工</a:t>
            </a:r>
          </a:p>
        </p:txBody>
      </p:sp>
      <p:sp>
        <p:nvSpPr>
          <p:cNvPr id="37" name="文本框 36">
            <a:extLst>
              <a:ext uri="{FF2B5EF4-FFF2-40B4-BE49-F238E27FC236}">
                <a16:creationId xmlns:a16="http://schemas.microsoft.com/office/drawing/2014/main" id="{4F6F1DA0-1677-4DE8-A86B-E4A1E83CFE82}"/>
              </a:ext>
            </a:extLst>
          </p:cNvPr>
          <p:cNvSpPr txBox="1"/>
          <p:nvPr/>
        </p:nvSpPr>
        <p:spPr>
          <a:xfrm>
            <a:off x="5618946" y="2586067"/>
            <a:ext cx="954107" cy="400110"/>
          </a:xfrm>
          <a:prstGeom prst="rect">
            <a:avLst/>
          </a:prstGeom>
          <a:noFill/>
        </p:spPr>
        <p:txBody>
          <a:bodyPr wrap="none" rtlCol="0">
            <a:spAutoFit/>
          </a:bodyPr>
          <a:lstStyle/>
          <a:p>
            <a:pPr algn="ctr">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半双工</a:t>
            </a:r>
          </a:p>
        </p:txBody>
      </p:sp>
    </p:spTree>
    <p:extLst>
      <p:ext uri="{BB962C8B-B14F-4D97-AF65-F5344CB8AC3E}">
        <p14:creationId xmlns:p14="http://schemas.microsoft.com/office/powerpoint/2010/main" val="9456007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信道极限容量</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Maximum capacity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2420959" y="4951482"/>
            <a:ext cx="7350090" cy="707886"/>
          </a:xfrm>
          <a:prstGeom prst="rect">
            <a:avLst/>
          </a:prstGeom>
          <a:noFill/>
          <a:effectLst>
            <a:outerShdw blurRad="50800" dist="38100" dir="2700000" algn="tl" rotWithShape="0">
              <a:prstClr val="black">
                <a:alpha val="40000"/>
              </a:prstClr>
            </a:outerShdw>
          </a:effectLst>
        </p:spPr>
        <p:txBody>
          <a:bodyPr wrap="none" rtlCol="0">
            <a:spAutoFit/>
          </a:bodyPr>
          <a:lstStyle/>
          <a:p>
            <a:pPr algn="ctr"/>
            <a:r>
              <a:rPr lang="en-US" altLang="zh-CN" sz="400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R</a:t>
            </a:r>
            <a:r>
              <a:rPr lang="en-US" altLang="zh-CN" sz="200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max</a:t>
            </a:r>
            <a:r>
              <a:rPr lang="en-US" altLang="zh-CN" sz="200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 </a:t>
            </a:r>
            <a:r>
              <a:rPr lang="en-US" altLang="zh-CN" sz="400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 W * log</a:t>
            </a:r>
            <a:r>
              <a:rPr lang="en-US" altLang="zh-CN" sz="4000" i="0" baseline="-25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2</a:t>
            </a:r>
            <a:r>
              <a:rPr lang="en-US" altLang="zh-CN" sz="400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(1+S/N)</a:t>
            </a:r>
            <a:r>
              <a:rPr lang="zh-CN" altLang="en-US"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Montserrat" panose="00000500000000000000" pitchFamily="2" charset="0"/>
                <a:ea typeface="微软雅黑 Light" panose="020B0502040204020203" pitchFamily="34" charset="-122"/>
              </a:rPr>
              <a:t>（</a:t>
            </a:r>
            <a:r>
              <a:rPr lang="en-US" altLang="zh-CN"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Montserrat" panose="00000500000000000000" pitchFamily="2" charset="0"/>
                <a:ea typeface="微软雅黑 Light" panose="020B0502040204020203" pitchFamily="34" charset="-122"/>
              </a:rPr>
              <a:t>bps</a:t>
            </a:r>
            <a:r>
              <a:rPr lang="zh-CN" altLang="en-US"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Montserrat" panose="00000500000000000000" pitchFamily="2" charset="0"/>
                <a:ea typeface="微软雅黑 Light" panose="020B0502040204020203" pitchFamily="34" charset="-122"/>
              </a:rPr>
              <a:t>）</a:t>
            </a:r>
          </a:p>
        </p:txBody>
      </p:sp>
      <p:sp>
        <p:nvSpPr>
          <p:cNvPr id="9" name="文本框 8">
            <a:extLst>
              <a:ext uri="{FF2B5EF4-FFF2-40B4-BE49-F238E27FC236}">
                <a16:creationId xmlns:a16="http://schemas.microsoft.com/office/drawing/2014/main" id="{8F24BBE5-2CE7-46D2-83B1-F188190F7E01}"/>
              </a:ext>
            </a:extLst>
          </p:cNvPr>
          <p:cNvSpPr txBox="1"/>
          <p:nvPr/>
        </p:nvSpPr>
        <p:spPr>
          <a:xfrm>
            <a:off x="344963" y="1929398"/>
            <a:ext cx="3493611" cy="400110"/>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panose="020B0503020204020204" pitchFamily="34" charset="-122"/>
                <a:ea typeface="微软雅黑" panose="020B0503020204020204" pitchFamily="34" charset="-122"/>
              </a:rPr>
              <a:t>奈奎斯特定律 </a:t>
            </a:r>
            <a:r>
              <a:rPr lang="en-US" altLang="zh-CN" sz="2000" dirty="0">
                <a:solidFill>
                  <a:schemeClr val="tx1"/>
                </a:solidFill>
                <a:latin typeface="微软雅黑" panose="020B0503020204020204" pitchFamily="34" charset="-122"/>
                <a:ea typeface="微软雅黑" panose="020B0503020204020204" pitchFamily="34" charset="-122"/>
              </a:rPr>
              <a:t>Nyquist's law</a:t>
            </a:r>
          </a:p>
        </p:txBody>
      </p:sp>
      <p:sp>
        <p:nvSpPr>
          <p:cNvPr id="10" name="文本框 9">
            <a:extLst>
              <a:ext uri="{FF2B5EF4-FFF2-40B4-BE49-F238E27FC236}">
                <a16:creationId xmlns:a16="http://schemas.microsoft.com/office/drawing/2014/main" id="{88E9B378-DA71-4D78-AE6B-2BA07A0090E3}"/>
              </a:ext>
            </a:extLst>
          </p:cNvPr>
          <p:cNvSpPr txBox="1"/>
          <p:nvPr/>
        </p:nvSpPr>
        <p:spPr>
          <a:xfrm>
            <a:off x="344962" y="2329508"/>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在带宽</a:t>
            </a:r>
            <a:r>
              <a:rPr lang="en-US" altLang="zh-CN" sz="2000" dirty="0">
                <a:latin typeface="微软雅黑 Light" panose="020B0502040204020203" pitchFamily="34" charset="-122"/>
                <a:ea typeface="微软雅黑 Light" panose="020B0502040204020203" pitchFamily="34" charset="-122"/>
              </a:rPr>
              <a:t>W(</a:t>
            </a:r>
            <a:r>
              <a:rPr lang="en-US" altLang="zh-CN" sz="2000" dirty="0" err="1">
                <a:latin typeface="微软雅黑 Light" panose="020B0502040204020203" pitchFamily="34" charset="-122"/>
                <a:ea typeface="微软雅黑 Light" panose="020B0502040204020203" pitchFamily="34" charset="-122"/>
              </a:rPr>
              <a:t>hz</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的低通信道中，不考虑噪声影响，码元传输的最高速率是</a:t>
            </a:r>
            <a:r>
              <a:rPr lang="en-US" altLang="zh-CN" sz="2000" dirty="0">
                <a:latin typeface="微软雅黑 Light" panose="020B0502040204020203" pitchFamily="34" charset="-122"/>
                <a:ea typeface="微软雅黑 Light" panose="020B0502040204020203" pitchFamily="34" charset="-122"/>
              </a:rPr>
              <a:t>2W(</a:t>
            </a:r>
            <a:r>
              <a:rPr lang="zh-CN" altLang="en-US" sz="2000" dirty="0">
                <a:latin typeface="微软雅黑 Light" panose="020B0502040204020203" pitchFamily="34" charset="-122"/>
                <a:ea typeface="微软雅黑 Light" panose="020B0502040204020203" pitchFamily="34" charset="-122"/>
              </a:rPr>
              <a:t>码元</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秒</a:t>
            </a:r>
            <a:r>
              <a:rPr lang="en-US" altLang="zh-CN" sz="2000" dirty="0">
                <a:latin typeface="微软雅黑 Light" panose="020B0502040204020203" pitchFamily="34" charset="-122"/>
                <a:ea typeface="微软雅黑 Light" panose="020B0502040204020203" pitchFamily="34" charset="-122"/>
              </a:rPr>
              <a:t>)</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13" name="文本框 12">
            <a:extLst>
              <a:ext uri="{FF2B5EF4-FFF2-40B4-BE49-F238E27FC236}">
                <a16:creationId xmlns:a16="http://schemas.microsoft.com/office/drawing/2014/main" id="{3446F09D-D0F9-4435-86F1-23A226EA88C8}"/>
              </a:ext>
            </a:extLst>
          </p:cNvPr>
          <p:cNvSpPr txBox="1"/>
          <p:nvPr/>
        </p:nvSpPr>
        <p:spPr>
          <a:xfrm>
            <a:off x="344961" y="4575544"/>
            <a:ext cx="3493611" cy="400110"/>
          </a:xfrm>
          <a:prstGeom prst="rect">
            <a:avLst/>
          </a:prstGeom>
          <a:noFill/>
        </p:spPr>
        <p:txBody>
          <a:bodyPr wrap="square" rtlCol="0">
            <a:spAutoFit/>
          </a:bodyPr>
          <a:lstStyle/>
          <a:p>
            <a:pPr>
              <a:buClr>
                <a:schemeClr val="accent2"/>
              </a:buClr>
            </a:pPr>
            <a:r>
              <a:rPr lang="zh-CN" altLang="en-US" sz="2000" dirty="0">
                <a:latin typeface="微软雅黑" panose="020B0503020204020204" pitchFamily="34" charset="-122"/>
                <a:ea typeface="微软雅黑" panose="020B0503020204020204" pitchFamily="34" charset="-122"/>
              </a:rPr>
              <a:t>香农公式 </a:t>
            </a:r>
            <a:r>
              <a:rPr lang="en-US" altLang="zh-CN" sz="2000" dirty="0">
                <a:latin typeface="微软雅黑" panose="020B0503020204020204" pitchFamily="34" charset="-122"/>
                <a:ea typeface="微软雅黑" panose="020B0503020204020204" pitchFamily="34" charset="-122"/>
              </a:rPr>
              <a:t>Shannon Theory</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15" name="立方体 14">
            <a:extLst>
              <a:ext uri="{FF2B5EF4-FFF2-40B4-BE49-F238E27FC236}">
                <a16:creationId xmlns:a16="http://schemas.microsoft.com/office/drawing/2014/main" id="{33ABAF1D-2F1D-483F-8EA1-6AC9B28FA7E8}"/>
              </a:ext>
            </a:extLst>
          </p:cNvPr>
          <p:cNvSpPr/>
          <p:nvPr/>
        </p:nvSpPr>
        <p:spPr>
          <a:xfrm>
            <a:off x="11576052" y="205745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16" name="直接连接符 15">
            <a:extLst>
              <a:ext uri="{FF2B5EF4-FFF2-40B4-BE49-F238E27FC236}">
                <a16:creationId xmlns:a16="http://schemas.microsoft.com/office/drawing/2014/main" id="{76168651-3128-41E4-9B8A-85DA73E5C122}"/>
              </a:ext>
            </a:extLst>
          </p:cNvPr>
          <p:cNvCxnSpPr>
            <a:cxnSpLocks/>
            <a:stCxn id="9" idx="3"/>
            <a:endCxn id="15" idx="2"/>
          </p:cNvCxnSpPr>
          <p:nvPr/>
        </p:nvCxnSpPr>
        <p:spPr>
          <a:xfrm>
            <a:off x="3838574" y="2129453"/>
            <a:ext cx="7737478"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18" name="立方体 17">
            <a:extLst>
              <a:ext uri="{FF2B5EF4-FFF2-40B4-BE49-F238E27FC236}">
                <a16:creationId xmlns:a16="http://schemas.microsoft.com/office/drawing/2014/main" id="{D65D3F78-FE53-4C3A-9568-E4101F2B49EC}"/>
              </a:ext>
            </a:extLst>
          </p:cNvPr>
          <p:cNvSpPr/>
          <p:nvPr/>
        </p:nvSpPr>
        <p:spPr>
          <a:xfrm>
            <a:off x="11576052" y="4703599"/>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20" name="直接连接符 19">
            <a:extLst>
              <a:ext uri="{FF2B5EF4-FFF2-40B4-BE49-F238E27FC236}">
                <a16:creationId xmlns:a16="http://schemas.microsoft.com/office/drawing/2014/main" id="{6411A49F-55E8-4111-AA2E-679A98C556C7}"/>
              </a:ext>
            </a:extLst>
          </p:cNvPr>
          <p:cNvCxnSpPr>
            <a:cxnSpLocks/>
            <a:stCxn id="13" idx="3"/>
            <a:endCxn id="18" idx="2"/>
          </p:cNvCxnSpPr>
          <p:nvPr/>
        </p:nvCxnSpPr>
        <p:spPr>
          <a:xfrm>
            <a:off x="3838572" y="4775599"/>
            <a:ext cx="7737480"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23" name="文本框 22">
            <a:extLst>
              <a:ext uri="{FF2B5EF4-FFF2-40B4-BE49-F238E27FC236}">
                <a16:creationId xmlns:a16="http://schemas.microsoft.com/office/drawing/2014/main" id="{9599924B-BE35-4B67-B7CD-F6649705F9A5}"/>
              </a:ext>
            </a:extLst>
          </p:cNvPr>
          <p:cNvSpPr txBox="1"/>
          <p:nvPr/>
        </p:nvSpPr>
        <p:spPr>
          <a:xfrm>
            <a:off x="344963" y="3298801"/>
            <a:ext cx="3493612" cy="400110"/>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panose="020B0503020204020204" pitchFamily="34" charset="-122"/>
                <a:ea typeface="微软雅黑" panose="020B0503020204020204" pitchFamily="34" charset="-122"/>
              </a:rPr>
              <a:t>信噪比 </a:t>
            </a:r>
            <a:r>
              <a:rPr lang="en-US" altLang="zh-CN" sz="2000" dirty="0">
                <a:solidFill>
                  <a:schemeClr val="tx1"/>
                </a:solidFill>
                <a:latin typeface="微软雅黑" panose="020B0503020204020204" pitchFamily="34" charset="-122"/>
                <a:ea typeface="微软雅黑" panose="020B0503020204020204" pitchFamily="34" charset="-122"/>
              </a:rPr>
              <a:t>signal-to-noise ratio</a:t>
            </a:r>
          </a:p>
        </p:txBody>
      </p:sp>
      <p:sp>
        <p:nvSpPr>
          <p:cNvPr id="25" name="立方体 24">
            <a:extLst>
              <a:ext uri="{FF2B5EF4-FFF2-40B4-BE49-F238E27FC236}">
                <a16:creationId xmlns:a16="http://schemas.microsoft.com/office/drawing/2014/main" id="{5EB73101-BC60-4C87-8076-FDAE4922EDEC}"/>
              </a:ext>
            </a:extLst>
          </p:cNvPr>
          <p:cNvSpPr/>
          <p:nvPr/>
        </p:nvSpPr>
        <p:spPr>
          <a:xfrm>
            <a:off x="11576052" y="3426856"/>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26" name="直接连接符 25">
            <a:extLst>
              <a:ext uri="{FF2B5EF4-FFF2-40B4-BE49-F238E27FC236}">
                <a16:creationId xmlns:a16="http://schemas.microsoft.com/office/drawing/2014/main" id="{FCEB2C2D-93B6-48C3-BBF3-BB21FB858CAB}"/>
              </a:ext>
            </a:extLst>
          </p:cNvPr>
          <p:cNvCxnSpPr>
            <a:cxnSpLocks/>
            <a:stCxn id="23" idx="3"/>
            <a:endCxn id="25" idx="2"/>
          </p:cNvCxnSpPr>
          <p:nvPr/>
        </p:nvCxnSpPr>
        <p:spPr>
          <a:xfrm>
            <a:off x="3838575" y="3498856"/>
            <a:ext cx="7737477"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29" name="文本框 28">
            <a:extLst>
              <a:ext uri="{FF2B5EF4-FFF2-40B4-BE49-F238E27FC236}">
                <a16:creationId xmlns:a16="http://schemas.microsoft.com/office/drawing/2014/main" id="{4AB02CB6-9642-499E-820F-EB13A27105D6}"/>
              </a:ext>
            </a:extLst>
          </p:cNvPr>
          <p:cNvSpPr txBox="1"/>
          <p:nvPr/>
        </p:nvSpPr>
        <p:spPr>
          <a:xfrm>
            <a:off x="2835333" y="3694825"/>
            <a:ext cx="6521337" cy="707886"/>
          </a:xfrm>
          <a:prstGeom prst="rect">
            <a:avLst/>
          </a:prstGeom>
          <a:noFill/>
          <a:effectLst>
            <a:outerShdw blurRad="50800" dist="38100" dir="2700000" algn="tl" rotWithShape="0">
              <a:prstClr val="black">
                <a:alpha val="40000"/>
              </a:prstClr>
            </a:outerShdw>
          </a:effectLst>
        </p:spPr>
        <p:txBody>
          <a:bodyPr wrap="none" rtlCol="0">
            <a:spAutoFit/>
          </a:bodyPr>
          <a:lstStyle/>
          <a:p>
            <a:pPr algn="ctr"/>
            <a:r>
              <a:rPr lang="en-US" altLang="zh-CN" sz="400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SNR = 10 * log</a:t>
            </a:r>
            <a:r>
              <a:rPr lang="en-US" altLang="zh-CN" sz="4000" i="0" baseline="-25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10</a:t>
            </a:r>
            <a:r>
              <a:rPr lang="en-US" altLang="zh-CN" sz="400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Montserrat" panose="00000500000000000000" pitchFamily="2" charset="0"/>
                <a:ea typeface="微软雅黑 Light" panose="020B0502040204020203" pitchFamily="34" charset="-122"/>
              </a:rPr>
              <a:t>(S/N)</a:t>
            </a:r>
            <a:r>
              <a:rPr lang="en-US" altLang="zh-CN"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Montserrat" panose="00000500000000000000" pitchFamily="2" charset="0"/>
                <a:ea typeface="微软雅黑 Light" panose="020B0502040204020203" pitchFamily="34" charset="-122"/>
              </a:rPr>
              <a:t> (dB)</a:t>
            </a:r>
            <a:r>
              <a:rPr lang="en-US" altLang="zh-CN" sz="2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Montserrat" panose="00000500000000000000" pitchFamily="2" charset="0"/>
                <a:ea typeface="微软雅黑 Light" panose="020B0502040204020203" pitchFamily="34" charset="-122"/>
              </a:rPr>
              <a:t> </a:t>
            </a:r>
            <a:endParaRPr lang="zh-CN" altLang="en-US"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44032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a:t>
            </a:r>
            <a:endParaRPr lang="zh-CN" altLang="en-US" dirty="0"/>
          </a:p>
        </p:txBody>
      </p:sp>
      <p:graphicFrame>
        <p:nvGraphicFramePr>
          <p:cNvPr id="10" name="表格 10">
            <a:extLst>
              <a:ext uri="{FF2B5EF4-FFF2-40B4-BE49-F238E27FC236}">
                <a16:creationId xmlns:a16="http://schemas.microsoft.com/office/drawing/2014/main" id="{550C1076-6D82-426B-908A-EDAA60E0AB36}"/>
              </a:ext>
            </a:extLst>
          </p:cNvPr>
          <p:cNvGraphicFramePr>
            <a:graphicFrameLocks noGrp="1"/>
          </p:cNvGraphicFramePr>
          <p:nvPr/>
        </p:nvGraphicFramePr>
        <p:xfrm>
          <a:off x="521109" y="2256936"/>
          <a:ext cx="4041365" cy="2225040"/>
        </p:xfrm>
        <a:graphic>
          <a:graphicData uri="http://schemas.openxmlformats.org/drawingml/2006/table">
            <a:tbl>
              <a:tblPr bandRow="1">
                <a:tableStyleId>{21E4AEA4-8DFA-4A89-87EB-49C32662AFE0}</a:tableStyleId>
              </a:tblPr>
              <a:tblGrid>
                <a:gridCol w="4041365">
                  <a:extLst>
                    <a:ext uri="{9D8B030D-6E8A-4147-A177-3AD203B41FA5}">
                      <a16:colId xmlns:a16="http://schemas.microsoft.com/office/drawing/2014/main" val="1920565307"/>
                    </a:ext>
                  </a:extLst>
                </a:gridCol>
              </a:tblGrid>
              <a:tr h="370840">
                <a:tc>
                  <a:txBody>
                    <a:bodyPr/>
                    <a:lstStyle/>
                    <a:p>
                      <a:pPr algn="ctr"/>
                      <a:r>
                        <a:rPr lang="zh-CN" altLang="en-US" baseline="0" dirty="0">
                          <a:latin typeface="Cuprum" panose="00000500000000000000" pitchFamily="2" charset="0"/>
                          <a:ea typeface="微软雅黑 Light" panose="020B0502040204020203" pitchFamily="34" charset="-122"/>
                        </a:rPr>
                        <a:t>导引型</a:t>
                      </a: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tcPr>
                </a:tc>
                <a:extLst>
                  <a:ext uri="{0D108BD9-81ED-4DB2-BD59-A6C34878D82A}">
                    <a16:rowId xmlns:a16="http://schemas.microsoft.com/office/drawing/2014/main" val="1952348475"/>
                  </a:ext>
                </a:extLst>
              </a:tr>
              <a:tr h="370840">
                <a:tc>
                  <a:txBody>
                    <a:bodyPr/>
                    <a:lstStyle/>
                    <a:p>
                      <a:pPr algn="ctr"/>
                      <a:r>
                        <a:rPr lang="zh-CN" altLang="en-US" baseline="0" dirty="0">
                          <a:latin typeface="Cuprum" panose="00000500000000000000" pitchFamily="2" charset="0"/>
                          <a:ea typeface="微软雅黑 Light" panose="020B0502040204020203" pitchFamily="34" charset="-122"/>
                        </a:rPr>
                        <a:t>有线</a:t>
                      </a: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tcPr>
                </a:tc>
                <a:extLst>
                  <a:ext uri="{0D108BD9-81ED-4DB2-BD59-A6C34878D82A}">
                    <a16:rowId xmlns:a16="http://schemas.microsoft.com/office/drawing/2014/main" val="320563399"/>
                  </a:ext>
                </a:extLst>
              </a:tr>
              <a:tr h="370840">
                <a:tc>
                  <a:txBody>
                    <a:bodyPr/>
                    <a:lstStyle/>
                    <a:p>
                      <a:pPr algn="ctr"/>
                      <a:r>
                        <a:rPr lang="en-US" altLang="zh-CN" baseline="0" dirty="0">
                          <a:latin typeface="Cuprum" panose="00000500000000000000" pitchFamily="2" charset="0"/>
                          <a:ea typeface="微软雅黑 Light" panose="020B0502040204020203" pitchFamily="34" charset="-122"/>
                        </a:rPr>
                        <a:t>Wire</a:t>
                      </a:r>
                      <a:endParaRPr lang="zh-CN" altLang="en-US" baseline="0" dirty="0">
                        <a:latin typeface="Cuprum" panose="00000500000000000000" pitchFamily="2" charset="0"/>
                        <a:ea typeface="微软雅黑 Light" panose="020B0502040204020203" pitchFamily="34" charset="-122"/>
                      </a:endParaRP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tcPr>
                </a:tc>
                <a:extLst>
                  <a:ext uri="{0D108BD9-81ED-4DB2-BD59-A6C34878D82A}">
                    <a16:rowId xmlns:a16="http://schemas.microsoft.com/office/drawing/2014/main" val="817705443"/>
                  </a:ext>
                </a:extLst>
              </a:tr>
              <a:tr h="370840">
                <a:tc>
                  <a:txBody>
                    <a:bodyPr/>
                    <a:lstStyle/>
                    <a:p>
                      <a:pPr algn="ctr"/>
                      <a:r>
                        <a:rPr lang="zh-CN" altLang="en-US" baseline="0" dirty="0">
                          <a:latin typeface="Cuprum" panose="00000500000000000000" pitchFamily="2" charset="0"/>
                          <a:ea typeface="微软雅黑 Light" panose="020B0502040204020203" pitchFamily="34" charset="-122"/>
                        </a:rPr>
                        <a:t>双绞线 </a:t>
                      </a:r>
                      <a:r>
                        <a:rPr lang="en-US" altLang="zh-CN" baseline="0" dirty="0">
                          <a:latin typeface="Cuprum" panose="00000500000000000000" pitchFamily="2" charset="0"/>
                          <a:ea typeface="微软雅黑 Light" panose="020B0502040204020203" pitchFamily="34" charset="-122"/>
                        </a:rPr>
                        <a:t>– twisted pair</a:t>
                      </a:r>
                      <a:endParaRPr lang="zh-CN" altLang="en-US" baseline="0" dirty="0">
                        <a:latin typeface="Cuprum" panose="00000500000000000000" pitchFamily="2" charset="0"/>
                        <a:ea typeface="微软雅黑 Light" panose="020B0502040204020203" pitchFamily="34" charset="-122"/>
                      </a:endParaRP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noFill/>
                  </a:tcPr>
                </a:tc>
                <a:extLst>
                  <a:ext uri="{0D108BD9-81ED-4DB2-BD59-A6C34878D82A}">
                    <a16:rowId xmlns:a16="http://schemas.microsoft.com/office/drawing/2014/main" val="246660652"/>
                  </a:ext>
                </a:extLst>
              </a:tr>
              <a:tr h="370840">
                <a:tc>
                  <a:txBody>
                    <a:bodyPr/>
                    <a:lstStyle/>
                    <a:p>
                      <a:pPr algn="ctr"/>
                      <a:r>
                        <a:rPr lang="zh-CN" altLang="en-US" baseline="0" dirty="0">
                          <a:latin typeface="Cuprum" panose="00000500000000000000" pitchFamily="2" charset="0"/>
                          <a:ea typeface="微软雅黑 Light" panose="020B0502040204020203" pitchFamily="34" charset="-122"/>
                        </a:rPr>
                        <a:t>同轴电缆 </a:t>
                      </a:r>
                      <a:r>
                        <a:rPr lang="en-US" altLang="zh-CN" baseline="0" dirty="0">
                          <a:latin typeface="Cuprum" panose="00000500000000000000" pitchFamily="2" charset="0"/>
                          <a:ea typeface="微软雅黑 Light" panose="020B0502040204020203" pitchFamily="34" charset="-122"/>
                        </a:rPr>
                        <a:t>– coaxial cable</a:t>
                      </a:r>
                      <a:endParaRPr lang="zh-CN" altLang="en-US" baseline="0" dirty="0">
                        <a:latin typeface="Cuprum" panose="00000500000000000000" pitchFamily="2" charset="0"/>
                        <a:ea typeface="微软雅黑 Light" panose="020B0502040204020203" pitchFamily="34" charset="-122"/>
                      </a:endParaRP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noFill/>
                  </a:tcPr>
                </a:tc>
                <a:extLst>
                  <a:ext uri="{0D108BD9-81ED-4DB2-BD59-A6C34878D82A}">
                    <a16:rowId xmlns:a16="http://schemas.microsoft.com/office/drawing/2014/main" val="1549201671"/>
                  </a:ext>
                </a:extLst>
              </a:tr>
              <a:tr h="370840">
                <a:tc>
                  <a:txBody>
                    <a:bodyPr/>
                    <a:lstStyle/>
                    <a:p>
                      <a:pPr algn="ctr"/>
                      <a:r>
                        <a:rPr lang="zh-CN" altLang="en-US" baseline="0" dirty="0">
                          <a:latin typeface="Cuprum" panose="00000500000000000000" pitchFamily="2" charset="0"/>
                          <a:ea typeface="微软雅黑 Light" panose="020B0502040204020203" pitchFamily="34" charset="-122"/>
                        </a:rPr>
                        <a:t>光缆 </a:t>
                      </a:r>
                      <a:r>
                        <a:rPr lang="en-US" altLang="zh-CN" baseline="0" dirty="0">
                          <a:latin typeface="Cuprum" panose="00000500000000000000" pitchFamily="2" charset="0"/>
                          <a:ea typeface="微软雅黑 Light" panose="020B0502040204020203" pitchFamily="34" charset="-122"/>
                        </a:rPr>
                        <a:t>– optical fiber</a:t>
                      </a:r>
                      <a:endParaRPr lang="zh-CN" altLang="en-US" baseline="0" dirty="0">
                        <a:latin typeface="Cuprum" panose="00000500000000000000" pitchFamily="2" charset="0"/>
                        <a:ea typeface="微软雅黑 Light" panose="020B0502040204020203" pitchFamily="34" charset="-122"/>
                      </a:endParaRP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noFill/>
                  </a:tcPr>
                </a:tc>
                <a:extLst>
                  <a:ext uri="{0D108BD9-81ED-4DB2-BD59-A6C34878D82A}">
                    <a16:rowId xmlns:a16="http://schemas.microsoft.com/office/drawing/2014/main" val="2873989544"/>
                  </a:ext>
                </a:extLst>
              </a:tr>
            </a:tbl>
          </a:graphicData>
        </a:graphic>
      </p:graphicFrame>
      <p:graphicFrame>
        <p:nvGraphicFramePr>
          <p:cNvPr id="20" name="表格 10">
            <a:extLst>
              <a:ext uri="{FF2B5EF4-FFF2-40B4-BE49-F238E27FC236}">
                <a16:creationId xmlns:a16="http://schemas.microsoft.com/office/drawing/2014/main" id="{47E8DA9A-EC30-4F2E-9747-C3E7163AF82D}"/>
              </a:ext>
            </a:extLst>
          </p:cNvPr>
          <p:cNvGraphicFramePr>
            <a:graphicFrameLocks noGrp="1"/>
          </p:cNvGraphicFramePr>
          <p:nvPr/>
        </p:nvGraphicFramePr>
        <p:xfrm>
          <a:off x="7629527" y="2256935"/>
          <a:ext cx="4041365" cy="2225040"/>
        </p:xfrm>
        <a:graphic>
          <a:graphicData uri="http://schemas.openxmlformats.org/drawingml/2006/table">
            <a:tbl>
              <a:tblPr bandRow="1">
                <a:tableStyleId>{21E4AEA4-8DFA-4A89-87EB-49C32662AFE0}</a:tableStyleId>
              </a:tblPr>
              <a:tblGrid>
                <a:gridCol w="4041365">
                  <a:extLst>
                    <a:ext uri="{9D8B030D-6E8A-4147-A177-3AD203B41FA5}">
                      <a16:colId xmlns:a16="http://schemas.microsoft.com/office/drawing/2014/main" val="1920565307"/>
                    </a:ext>
                  </a:extLst>
                </a:gridCol>
              </a:tblGrid>
              <a:tr h="370840">
                <a:tc>
                  <a:txBody>
                    <a:bodyPr/>
                    <a:lstStyle/>
                    <a:p>
                      <a:pPr algn="ctr"/>
                      <a:r>
                        <a:rPr lang="zh-CN" altLang="en-US" baseline="0" dirty="0">
                          <a:latin typeface="Cuprum" panose="00000500000000000000" pitchFamily="2" charset="0"/>
                          <a:ea typeface="微软雅黑 Light" panose="020B0502040204020203" pitchFamily="34" charset="-122"/>
                        </a:rPr>
                        <a:t>非导引型</a:t>
                      </a: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tcPr>
                </a:tc>
                <a:extLst>
                  <a:ext uri="{0D108BD9-81ED-4DB2-BD59-A6C34878D82A}">
                    <a16:rowId xmlns:a16="http://schemas.microsoft.com/office/drawing/2014/main" val="1952348475"/>
                  </a:ext>
                </a:extLst>
              </a:tr>
              <a:tr h="370840">
                <a:tc>
                  <a:txBody>
                    <a:bodyPr/>
                    <a:lstStyle/>
                    <a:p>
                      <a:pPr algn="ctr"/>
                      <a:r>
                        <a:rPr lang="zh-CN" altLang="en-US" baseline="0" dirty="0">
                          <a:latin typeface="Cuprum" panose="00000500000000000000" pitchFamily="2" charset="0"/>
                          <a:ea typeface="微软雅黑 Light" panose="020B0502040204020203" pitchFamily="34" charset="-122"/>
                        </a:rPr>
                        <a:t>无线</a:t>
                      </a: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tcPr>
                </a:tc>
                <a:extLst>
                  <a:ext uri="{0D108BD9-81ED-4DB2-BD59-A6C34878D82A}">
                    <a16:rowId xmlns:a16="http://schemas.microsoft.com/office/drawing/2014/main" val="320563399"/>
                  </a:ext>
                </a:extLst>
              </a:tr>
              <a:tr h="370840">
                <a:tc>
                  <a:txBody>
                    <a:bodyPr/>
                    <a:lstStyle/>
                    <a:p>
                      <a:pPr algn="ctr"/>
                      <a:r>
                        <a:rPr lang="en-US" altLang="zh-CN" baseline="0" dirty="0">
                          <a:latin typeface="Cuprum" panose="00000500000000000000" pitchFamily="2" charset="0"/>
                          <a:ea typeface="微软雅黑 Light" panose="020B0502040204020203" pitchFamily="34" charset="-122"/>
                        </a:rPr>
                        <a:t>Wireless</a:t>
                      </a:r>
                      <a:endParaRPr lang="zh-CN" altLang="en-US" baseline="0" dirty="0">
                        <a:latin typeface="Cuprum" panose="00000500000000000000" pitchFamily="2" charset="0"/>
                        <a:ea typeface="微软雅黑 Light" panose="020B0502040204020203" pitchFamily="34" charset="-122"/>
                      </a:endParaRP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tcPr>
                </a:tc>
                <a:extLst>
                  <a:ext uri="{0D108BD9-81ED-4DB2-BD59-A6C34878D82A}">
                    <a16:rowId xmlns:a16="http://schemas.microsoft.com/office/drawing/2014/main" val="817705443"/>
                  </a:ext>
                </a:extLst>
              </a:tr>
              <a:tr h="370840">
                <a:tc>
                  <a:txBody>
                    <a:bodyPr/>
                    <a:lstStyle/>
                    <a:p>
                      <a:pPr algn="ctr"/>
                      <a:r>
                        <a:rPr lang="zh-CN" altLang="en-US" baseline="0" dirty="0">
                          <a:latin typeface="Cuprum" panose="00000500000000000000" pitchFamily="2" charset="0"/>
                          <a:ea typeface="微软雅黑 Light" panose="020B0502040204020203" pitchFamily="34" charset="-122"/>
                        </a:rPr>
                        <a:t>无线电波 </a:t>
                      </a:r>
                      <a:r>
                        <a:rPr lang="en-US" altLang="zh-CN" baseline="0" dirty="0">
                          <a:latin typeface="Cuprum" panose="00000500000000000000" pitchFamily="2" charset="0"/>
                          <a:ea typeface="微软雅黑 Light" panose="020B0502040204020203" pitchFamily="34" charset="-122"/>
                        </a:rPr>
                        <a:t>- radio</a:t>
                      </a:r>
                      <a:endParaRPr lang="zh-CN" altLang="en-US" baseline="0" dirty="0">
                        <a:latin typeface="Cuprum" panose="00000500000000000000" pitchFamily="2" charset="0"/>
                        <a:ea typeface="微软雅黑 Light" panose="020B0502040204020203" pitchFamily="34" charset="-122"/>
                      </a:endParaRP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noFill/>
                  </a:tcPr>
                </a:tc>
                <a:extLst>
                  <a:ext uri="{0D108BD9-81ED-4DB2-BD59-A6C34878D82A}">
                    <a16:rowId xmlns:a16="http://schemas.microsoft.com/office/drawing/2014/main" val="3599733549"/>
                  </a:ext>
                </a:extLst>
              </a:tr>
              <a:tr h="370840">
                <a:tc>
                  <a:txBody>
                    <a:bodyPr/>
                    <a:lstStyle/>
                    <a:p>
                      <a:pPr algn="ctr"/>
                      <a:endParaRPr lang="zh-CN" altLang="en-US" baseline="0" dirty="0">
                        <a:latin typeface="Cuprum" panose="00000500000000000000" pitchFamily="2" charset="0"/>
                        <a:ea typeface="微软雅黑 Light" panose="020B0502040204020203" pitchFamily="34" charset="-122"/>
                      </a:endParaRP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noFill/>
                  </a:tcPr>
                </a:tc>
                <a:extLst>
                  <a:ext uri="{0D108BD9-81ED-4DB2-BD59-A6C34878D82A}">
                    <a16:rowId xmlns:a16="http://schemas.microsoft.com/office/drawing/2014/main" val="1861940603"/>
                  </a:ext>
                </a:extLst>
              </a:tr>
              <a:tr h="370840">
                <a:tc>
                  <a:txBody>
                    <a:bodyPr/>
                    <a:lstStyle/>
                    <a:p>
                      <a:pPr algn="ctr"/>
                      <a:endParaRPr lang="zh-CN" altLang="en-US" baseline="0" dirty="0">
                        <a:latin typeface="Cuprum" panose="00000500000000000000" pitchFamily="2" charset="0"/>
                        <a:ea typeface="微软雅黑 Light" panose="020B0502040204020203" pitchFamily="34" charset="-122"/>
                      </a:endParaRPr>
                    </a:p>
                  </a:txBody>
                  <a:tcPr anchor="ctr">
                    <a:lnL w="12700" cap="flat" cmpd="sng" algn="ctr">
                      <a:solidFill>
                        <a:schemeClr val="accent2">
                          <a:lumMod val="40000"/>
                          <a:lumOff val="60000"/>
                        </a:schemeClr>
                      </a:solidFill>
                      <a:prstDash val="solid"/>
                      <a:round/>
                      <a:headEnd type="none" w="med" len="med"/>
                      <a:tailEnd type="none" w="med" len="med"/>
                    </a:lnL>
                    <a:lnR w="12700" cap="flat" cmpd="sng" algn="ctr">
                      <a:solidFill>
                        <a:schemeClr val="accent2">
                          <a:lumMod val="40000"/>
                          <a:lumOff val="60000"/>
                        </a:schemeClr>
                      </a:solidFill>
                      <a:prstDash val="solid"/>
                      <a:round/>
                      <a:headEnd type="none" w="med" len="med"/>
                      <a:tailEnd type="none" w="med" len="med"/>
                    </a:lnR>
                    <a:lnT w="12700" cap="flat" cmpd="sng" algn="ctr">
                      <a:solidFill>
                        <a:schemeClr val="accent2">
                          <a:lumMod val="40000"/>
                          <a:lumOff val="60000"/>
                        </a:schemeClr>
                      </a:solidFill>
                      <a:prstDash val="solid"/>
                      <a:round/>
                      <a:headEnd type="none" w="med" len="med"/>
                      <a:tailEnd type="none" w="med" len="med"/>
                    </a:lnT>
                    <a:lnB w="12700" cap="flat" cmpd="sng" algn="ctr">
                      <a:solidFill>
                        <a:schemeClr val="accent2">
                          <a:lumMod val="40000"/>
                          <a:lumOff val="60000"/>
                        </a:schemeClr>
                      </a:solidFill>
                      <a:prstDash val="solid"/>
                      <a:round/>
                      <a:headEnd type="none" w="med" len="med"/>
                      <a:tailEnd type="none" w="med" len="med"/>
                    </a:lnB>
                    <a:noFill/>
                  </a:tcPr>
                </a:tc>
                <a:extLst>
                  <a:ext uri="{0D108BD9-81ED-4DB2-BD59-A6C34878D82A}">
                    <a16:rowId xmlns:a16="http://schemas.microsoft.com/office/drawing/2014/main" val="2415637974"/>
                  </a:ext>
                </a:extLst>
              </a:tr>
            </a:tbl>
          </a:graphicData>
        </a:graphic>
      </p:graphicFrame>
    </p:spTree>
    <p:extLst>
      <p:ext uri="{BB962C8B-B14F-4D97-AF65-F5344CB8AC3E}">
        <p14:creationId xmlns:p14="http://schemas.microsoft.com/office/powerpoint/2010/main" val="40808730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88307" cy="1631216"/>
          </a:xfrm>
          <a:prstGeom prst="rect">
            <a:avLst/>
          </a:prstGeom>
          <a:noFill/>
        </p:spPr>
        <p:txBody>
          <a:bodyPr wrap="square" rtlCol="0">
            <a:spAutoFit/>
          </a:bodyPr>
          <a:lstStyle/>
          <a:p>
            <a:pPr algn="l"/>
            <a:r>
              <a:rPr lang="zh-CN" altLang="en-US" sz="2000" dirty="0">
                <a:latin typeface="微软雅黑 Light" panose="020B0502040204020203" pitchFamily="34" charset="-122"/>
                <a:ea typeface="微软雅黑 Light" panose="020B0502040204020203" pitchFamily="34" charset="-122"/>
              </a:rPr>
              <a:t>两根具有绝缘保护层的铜导线按一定密度互相绞在一起；</a:t>
            </a:r>
            <a:endParaRPr lang="en-US" altLang="zh-CN" sz="2000" dirty="0">
              <a:latin typeface="微软雅黑 Light" panose="020B0502040204020203" pitchFamily="34" charset="-122"/>
              <a:ea typeface="微软雅黑 Light" panose="020B0502040204020203" pitchFamily="34" charset="-122"/>
            </a:endParaRPr>
          </a:p>
          <a:p>
            <a:pPr algn="l"/>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每一根导线在传输中辐射出来的电波会被另一根线上发出的电波抵消，有效降低信号干扰的程度。</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5122" name="Picture 2">
            <a:extLst>
              <a:ext uri="{FF2B5EF4-FFF2-40B4-BE49-F238E27FC236}">
                <a16:creationId xmlns:a16="http://schemas.microsoft.com/office/drawing/2014/main" id="{EB1459DA-7E67-476A-BED7-5B9D4FF089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5084" y="1681175"/>
            <a:ext cx="5146916" cy="468000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7DA1D243-8884-4511-91C2-AA7E26E45F74}"/>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介绍</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spTree>
    <p:extLst>
      <p:ext uri="{BB962C8B-B14F-4D97-AF65-F5344CB8AC3E}">
        <p14:creationId xmlns:p14="http://schemas.microsoft.com/office/powerpoint/2010/main" val="22524007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E1AF7CBA-0F04-4BCC-95A8-BF1A8E8F8C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66" y="1936042"/>
            <a:ext cx="9007196" cy="4644000"/>
          </a:xfrm>
          <a:prstGeom prst="rect">
            <a:avLst/>
          </a:prstGeom>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5.1</a:t>
            </a:r>
            <a:endParaRPr lang="zh-CN" altLang="en-US" dirty="0"/>
          </a:p>
        </p:txBody>
      </p:sp>
      <p:sp>
        <p:nvSpPr>
          <p:cNvPr id="13" name="文本框 12">
            <a:extLst>
              <a:ext uri="{FF2B5EF4-FFF2-40B4-BE49-F238E27FC236}">
                <a16:creationId xmlns:a16="http://schemas.microsoft.com/office/drawing/2014/main" id="{D04A2F8C-5520-40FC-902C-751B9171B92B}"/>
              </a:ext>
            </a:extLst>
          </p:cNvPr>
          <p:cNvSpPr txBox="1"/>
          <p:nvPr/>
        </p:nvSpPr>
        <p:spPr>
          <a:xfrm>
            <a:off x="8949042" y="4543854"/>
            <a:ext cx="2888996" cy="707886"/>
          </a:xfrm>
          <a:prstGeom prst="rect">
            <a:avLst/>
          </a:prstGeom>
          <a:noFill/>
        </p:spPr>
        <p:txBody>
          <a:bodyPr wrap="none" rtlCol="0">
            <a:spAutoFit/>
          </a:bodyPr>
          <a:lstStyle>
            <a:defPPr>
              <a:defRPr lang="zh-CN"/>
            </a:defPPr>
            <a:lvl1pPr algn="r">
              <a:buClr>
                <a:schemeClr val="accent2"/>
              </a:buClr>
              <a:defRPr sz="2000">
                <a:latin typeface="Cuprum" panose="00000500000000000000" pitchFamily="2" charset="0"/>
                <a:ea typeface="微软雅黑 Light" panose="020B0502040204020203" pitchFamily="34" charset="-122"/>
              </a:defRPr>
            </a:lvl1pPr>
          </a:lstStyle>
          <a:p>
            <a:r>
              <a:rPr lang="zh-CN" altLang="en-US" dirty="0"/>
              <a:t>非屏蔽双绞线</a:t>
            </a:r>
            <a:r>
              <a:rPr lang="en-US" altLang="zh-CN" dirty="0"/>
              <a:t>UTP</a:t>
            </a:r>
          </a:p>
          <a:p>
            <a:r>
              <a:rPr lang="en-US" altLang="zh-CN" dirty="0"/>
              <a:t>Unshielded Twisted Pair</a:t>
            </a:r>
          </a:p>
        </p:txBody>
      </p:sp>
      <p:sp>
        <p:nvSpPr>
          <p:cNvPr id="14" name="文本框 13">
            <a:extLst>
              <a:ext uri="{FF2B5EF4-FFF2-40B4-BE49-F238E27FC236}">
                <a16:creationId xmlns:a16="http://schemas.microsoft.com/office/drawing/2014/main" id="{01D2075F-1B79-4852-8D97-7D97FA1A2B47}"/>
              </a:ext>
            </a:extLst>
          </p:cNvPr>
          <p:cNvSpPr txBox="1"/>
          <p:nvPr/>
        </p:nvSpPr>
        <p:spPr>
          <a:xfrm>
            <a:off x="9569467" y="2921168"/>
            <a:ext cx="2268570" cy="707886"/>
          </a:xfrm>
          <a:prstGeom prst="rect">
            <a:avLst/>
          </a:prstGeom>
          <a:noFill/>
        </p:spPr>
        <p:txBody>
          <a:bodyPr wrap="none" rtlCol="0">
            <a:spAutoFit/>
          </a:bodyPr>
          <a:lstStyle/>
          <a:p>
            <a:pPr algn="r">
              <a:buClr>
                <a:schemeClr val="accent2"/>
              </a:buClr>
            </a:pPr>
            <a:r>
              <a:rPr lang="zh-CN" altLang="en-US" sz="2000" dirty="0">
                <a:solidFill>
                  <a:schemeClr val="tx1"/>
                </a:solidFill>
                <a:latin typeface="Cuprum" panose="00000500000000000000" pitchFamily="2" charset="0"/>
                <a:ea typeface="微软雅黑 Light" panose="020B0502040204020203" pitchFamily="34" charset="-122"/>
              </a:rPr>
              <a:t>屏蔽双绞线</a:t>
            </a:r>
            <a:r>
              <a:rPr lang="en-US" altLang="zh-CN" sz="2000" dirty="0">
                <a:solidFill>
                  <a:schemeClr val="tx1"/>
                </a:solidFill>
                <a:latin typeface="Cuprum" panose="00000500000000000000" pitchFamily="2" charset="0"/>
                <a:ea typeface="微软雅黑 Light" panose="020B0502040204020203" pitchFamily="34" charset="-122"/>
              </a:rPr>
              <a:t>STP</a:t>
            </a:r>
          </a:p>
          <a:p>
            <a:pPr algn="r">
              <a:buClr>
                <a:schemeClr val="accent2"/>
              </a:buClr>
            </a:pPr>
            <a:r>
              <a:rPr lang="en-US" altLang="zh-CN" sz="2000" dirty="0">
                <a:solidFill>
                  <a:schemeClr val="tx1"/>
                </a:solidFill>
                <a:latin typeface="Cuprum" panose="00000500000000000000" pitchFamily="2" charset="0"/>
                <a:ea typeface="微软雅黑 Light" panose="020B0502040204020203" pitchFamily="34" charset="-122"/>
              </a:rPr>
              <a:t>Shielded Twisted Pair</a:t>
            </a:r>
            <a:endParaRPr lang="zh-CN" altLang="en-US" sz="2000" dirty="0">
              <a:solidFill>
                <a:schemeClr val="tx1"/>
              </a:solidFill>
              <a:latin typeface="Cuprum"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FB2304EF-68B5-4FC5-B750-0751EFC9718B}"/>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分类</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spTree>
    <p:extLst>
      <p:ext uri="{BB962C8B-B14F-4D97-AF65-F5344CB8AC3E}">
        <p14:creationId xmlns:p14="http://schemas.microsoft.com/office/powerpoint/2010/main" val="12820701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5.1</a:t>
            </a:r>
            <a:endParaRPr lang="zh-CN" altLang="en-US" dirty="0"/>
          </a:p>
        </p:txBody>
      </p:sp>
      <p:sp>
        <p:nvSpPr>
          <p:cNvPr id="15" name="文本框 14">
            <a:extLst>
              <a:ext uri="{FF2B5EF4-FFF2-40B4-BE49-F238E27FC236}">
                <a16:creationId xmlns:a16="http://schemas.microsoft.com/office/drawing/2014/main" id="{FB2304EF-68B5-4FC5-B750-0751EFC9718B}"/>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分类</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graphicFrame>
        <p:nvGraphicFramePr>
          <p:cNvPr id="5" name="表格 5">
            <a:extLst>
              <a:ext uri="{FF2B5EF4-FFF2-40B4-BE49-F238E27FC236}">
                <a16:creationId xmlns:a16="http://schemas.microsoft.com/office/drawing/2014/main" id="{8FB7D51B-E5EC-466D-84D0-A972A79E7657}"/>
              </a:ext>
            </a:extLst>
          </p:cNvPr>
          <p:cNvGraphicFramePr>
            <a:graphicFrameLocks noGrp="1"/>
          </p:cNvGraphicFramePr>
          <p:nvPr>
            <p:extLst>
              <p:ext uri="{D42A27DB-BD31-4B8C-83A1-F6EECF244321}">
                <p14:modId xmlns:p14="http://schemas.microsoft.com/office/powerpoint/2010/main" val="822221328"/>
              </p:ext>
            </p:extLst>
          </p:nvPr>
        </p:nvGraphicFramePr>
        <p:xfrm>
          <a:off x="2119313" y="2775278"/>
          <a:ext cx="7953375" cy="2592000"/>
        </p:xfrm>
        <a:graphic>
          <a:graphicData uri="http://schemas.openxmlformats.org/drawingml/2006/table">
            <a:tbl>
              <a:tblPr firstRow="1" bandRow="1">
                <a:tableStyleId>{7DF18680-E054-41AD-8BC1-D1AEF772440D}</a:tableStyleId>
              </a:tblPr>
              <a:tblGrid>
                <a:gridCol w="1440444">
                  <a:extLst>
                    <a:ext uri="{9D8B030D-6E8A-4147-A177-3AD203B41FA5}">
                      <a16:colId xmlns:a16="http://schemas.microsoft.com/office/drawing/2014/main" val="2071493636"/>
                    </a:ext>
                  </a:extLst>
                </a:gridCol>
                <a:gridCol w="1528816">
                  <a:extLst>
                    <a:ext uri="{9D8B030D-6E8A-4147-A177-3AD203B41FA5}">
                      <a16:colId xmlns:a16="http://schemas.microsoft.com/office/drawing/2014/main" val="2261184713"/>
                    </a:ext>
                  </a:extLst>
                </a:gridCol>
                <a:gridCol w="1714394">
                  <a:extLst>
                    <a:ext uri="{9D8B030D-6E8A-4147-A177-3AD203B41FA5}">
                      <a16:colId xmlns:a16="http://schemas.microsoft.com/office/drawing/2014/main" val="2420171229"/>
                    </a:ext>
                  </a:extLst>
                </a:gridCol>
                <a:gridCol w="1714394">
                  <a:extLst>
                    <a:ext uri="{9D8B030D-6E8A-4147-A177-3AD203B41FA5}">
                      <a16:colId xmlns:a16="http://schemas.microsoft.com/office/drawing/2014/main" val="793796824"/>
                    </a:ext>
                  </a:extLst>
                </a:gridCol>
                <a:gridCol w="1555327">
                  <a:extLst>
                    <a:ext uri="{9D8B030D-6E8A-4147-A177-3AD203B41FA5}">
                      <a16:colId xmlns:a16="http://schemas.microsoft.com/office/drawing/2014/main" val="1777790527"/>
                    </a:ext>
                  </a:extLst>
                </a:gridCol>
              </a:tblGrid>
              <a:tr h="432000">
                <a:tc>
                  <a:txBody>
                    <a:bodyPr/>
                    <a:lstStyle/>
                    <a:p>
                      <a:pPr algn="ctr"/>
                      <a:r>
                        <a:rPr lang="zh-CN" altLang="en-US" sz="1800" b="0" baseline="0" dirty="0">
                          <a:solidFill>
                            <a:schemeClr val="bg1"/>
                          </a:solidFill>
                          <a:latin typeface="Cuprum" panose="00000500000000000000" pitchFamily="2" charset="0"/>
                          <a:ea typeface="微软雅黑 Light" panose="020B0502040204020203" pitchFamily="34" charset="-122"/>
                        </a:rPr>
                        <a:t>分类</a:t>
                      </a:r>
                    </a:p>
                  </a:txBody>
                  <a:tcPr anchor="ctr">
                    <a:lnB w="12700" cap="flat" cmpd="sng" algn="ctr">
                      <a:solidFill>
                        <a:schemeClr val="accent2">
                          <a:lumMod val="75000"/>
                        </a:schemeClr>
                      </a:solidFill>
                      <a:prstDash val="solid"/>
                      <a:round/>
                      <a:headEnd type="none" w="med" len="med"/>
                      <a:tailEnd type="none" w="med" len="med"/>
                    </a:lnB>
                    <a:solidFill>
                      <a:schemeClr val="accent2"/>
                    </a:solidFill>
                  </a:tcPr>
                </a:tc>
                <a:tc>
                  <a:txBody>
                    <a:bodyPr/>
                    <a:lstStyle/>
                    <a:p>
                      <a:pPr algn="ctr"/>
                      <a:r>
                        <a:rPr lang="zh-CN" altLang="en-US" sz="1800" b="0" baseline="0" dirty="0">
                          <a:solidFill>
                            <a:schemeClr val="bg1"/>
                          </a:solidFill>
                          <a:latin typeface="Cuprum" panose="00000500000000000000" pitchFamily="2" charset="0"/>
                          <a:ea typeface="微软雅黑 Light" panose="020B0502040204020203" pitchFamily="34" charset="-122"/>
                        </a:rPr>
                        <a:t>标识</a:t>
                      </a:r>
                    </a:p>
                  </a:txBody>
                  <a:tcPr anchor="ctr">
                    <a:lnB w="12700" cap="flat" cmpd="sng" algn="ctr">
                      <a:solidFill>
                        <a:schemeClr val="accent2">
                          <a:lumMod val="75000"/>
                        </a:schemeClr>
                      </a:solidFill>
                      <a:prstDash val="solid"/>
                      <a:round/>
                      <a:headEnd type="none" w="med" len="med"/>
                      <a:tailEnd type="none" w="med" len="med"/>
                    </a:lnB>
                    <a:solidFill>
                      <a:schemeClr val="accent2"/>
                    </a:solidFill>
                  </a:tcPr>
                </a:tc>
                <a:tc>
                  <a:txBody>
                    <a:bodyPr/>
                    <a:lstStyle/>
                    <a:p>
                      <a:pPr algn="ctr"/>
                      <a:r>
                        <a:rPr lang="zh-CN" altLang="en-US" sz="1800" b="0" baseline="0" dirty="0">
                          <a:solidFill>
                            <a:schemeClr val="bg1"/>
                          </a:solidFill>
                          <a:latin typeface="Cuprum" panose="00000500000000000000" pitchFamily="2" charset="0"/>
                          <a:ea typeface="微软雅黑 Light" panose="020B0502040204020203" pitchFamily="34" charset="-122"/>
                        </a:rPr>
                        <a:t>速率</a:t>
                      </a:r>
                    </a:p>
                  </a:txBody>
                  <a:tcPr anchor="ctr">
                    <a:lnB w="12700" cap="flat" cmpd="sng" algn="ctr">
                      <a:solidFill>
                        <a:schemeClr val="accent2">
                          <a:lumMod val="75000"/>
                        </a:schemeClr>
                      </a:solidFill>
                      <a:prstDash val="solid"/>
                      <a:round/>
                      <a:headEnd type="none" w="med" len="med"/>
                      <a:tailEnd type="none" w="med" len="med"/>
                    </a:lnB>
                    <a:solidFill>
                      <a:schemeClr val="accent2"/>
                    </a:solidFill>
                  </a:tcPr>
                </a:tc>
                <a:tc>
                  <a:txBody>
                    <a:bodyPr/>
                    <a:lstStyle/>
                    <a:p>
                      <a:pPr algn="ctr"/>
                      <a:r>
                        <a:rPr lang="zh-CN" altLang="en-US" sz="1800" b="0" baseline="0" dirty="0">
                          <a:solidFill>
                            <a:schemeClr val="bg1"/>
                          </a:solidFill>
                          <a:latin typeface="Cuprum" panose="00000500000000000000" pitchFamily="2" charset="0"/>
                          <a:ea typeface="微软雅黑 Light" panose="020B0502040204020203" pitchFamily="34" charset="-122"/>
                        </a:rPr>
                        <a:t>应用</a:t>
                      </a:r>
                    </a:p>
                  </a:txBody>
                  <a:tcPr anchor="ctr">
                    <a:lnB w="12700" cap="flat" cmpd="sng" algn="ctr">
                      <a:solidFill>
                        <a:schemeClr val="accent2">
                          <a:lumMod val="75000"/>
                        </a:schemeClr>
                      </a:solidFill>
                      <a:prstDash val="solid"/>
                      <a:round/>
                      <a:headEnd type="none" w="med" len="med"/>
                      <a:tailEnd type="none" w="med" len="med"/>
                    </a:lnB>
                    <a:solidFill>
                      <a:schemeClr val="accent2"/>
                    </a:solidFill>
                  </a:tcPr>
                </a:tc>
                <a:tc>
                  <a:txBody>
                    <a:bodyPr/>
                    <a:lstStyle/>
                    <a:p>
                      <a:pPr algn="ctr"/>
                      <a:r>
                        <a:rPr lang="zh-CN" altLang="en-US" sz="1800" b="0" baseline="0" dirty="0">
                          <a:solidFill>
                            <a:schemeClr val="bg1"/>
                          </a:solidFill>
                          <a:latin typeface="Cuprum" panose="00000500000000000000" pitchFamily="2" charset="0"/>
                          <a:ea typeface="微软雅黑 Light" panose="020B0502040204020203" pitchFamily="34" charset="-122"/>
                        </a:rPr>
                        <a:t>带宽</a:t>
                      </a:r>
                    </a:p>
                  </a:txBody>
                  <a:tcPr anchor="ctr">
                    <a:lnB w="12700" cap="flat" cmpd="sng" algn="ctr">
                      <a:solidFill>
                        <a:schemeClr val="accent2">
                          <a:lumMod val="75000"/>
                        </a:schemeClr>
                      </a:solidFill>
                      <a:prstDash val="solid"/>
                      <a:round/>
                      <a:headEnd type="none" w="med" len="med"/>
                      <a:tailEnd type="none" w="med" len="med"/>
                    </a:lnB>
                    <a:solidFill>
                      <a:schemeClr val="accent2"/>
                    </a:solidFill>
                  </a:tcPr>
                </a:tc>
                <a:extLst>
                  <a:ext uri="{0D108BD9-81ED-4DB2-BD59-A6C34878D82A}">
                    <a16:rowId xmlns:a16="http://schemas.microsoft.com/office/drawing/2014/main" val="4048214601"/>
                  </a:ext>
                </a:extLst>
              </a:tr>
              <a:tr h="432000">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5</a:t>
                      </a:r>
                      <a:r>
                        <a:rPr lang="zh-CN" altLang="en-US" sz="1800" b="0" baseline="0" dirty="0">
                          <a:solidFill>
                            <a:schemeClr val="tx1"/>
                          </a:solidFill>
                          <a:latin typeface="Cuprum" panose="00000500000000000000" pitchFamily="2" charset="0"/>
                          <a:ea typeface="微软雅黑 Light" panose="020B0502040204020203" pitchFamily="34" charset="-122"/>
                        </a:rPr>
                        <a:t>类线</a:t>
                      </a: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Cat 5</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&lt;100Mbps</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zh-CN" altLang="en-US" sz="1800" b="0" baseline="0" dirty="0">
                          <a:solidFill>
                            <a:schemeClr val="tx1"/>
                          </a:solidFill>
                          <a:latin typeface="Cuprum" panose="00000500000000000000" pitchFamily="2" charset="0"/>
                          <a:ea typeface="微软雅黑 Light" panose="020B0502040204020203" pitchFamily="34" charset="-122"/>
                        </a:rPr>
                        <a:t>百兆以太网</a:t>
                      </a: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100Mhz</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extLst>
                  <a:ext uri="{0D108BD9-81ED-4DB2-BD59-A6C34878D82A}">
                    <a16:rowId xmlns:a16="http://schemas.microsoft.com/office/drawing/2014/main" val="1037117331"/>
                  </a:ext>
                </a:extLst>
              </a:tr>
              <a:tr h="432000">
                <a:tc>
                  <a:txBody>
                    <a:bodyPr/>
                    <a:lstStyle/>
                    <a:p>
                      <a:r>
                        <a:rPr lang="zh-CN" altLang="en-US" sz="1800" b="0" baseline="0" dirty="0">
                          <a:solidFill>
                            <a:schemeClr val="tx1"/>
                          </a:solidFill>
                          <a:latin typeface="Cuprum" panose="00000500000000000000" pitchFamily="2" charset="0"/>
                          <a:ea typeface="微软雅黑 Light" panose="020B0502040204020203" pitchFamily="34" charset="-122"/>
                        </a:rPr>
                        <a:t>超</a:t>
                      </a:r>
                      <a:r>
                        <a:rPr lang="en-US" altLang="zh-CN" sz="1800" b="0" baseline="0" dirty="0">
                          <a:solidFill>
                            <a:schemeClr val="tx1"/>
                          </a:solidFill>
                          <a:latin typeface="Cuprum" panose="00000500000000000000" pitchFamily="2" charset="0"/>
                          <a:ea typeface="微软雅黑 Light" panose="020B0502040204020203" pitchFamily="34" charset="-122"/>
                        </a:rPr>
                        <a:t>5</a:t>
                      </a:r>
                      <a:r>
                        <a:rPr lang="zh-CN" altLang="en-US" sz="1800" b="0" baseline="0" dirty="0">
                          <a:solidFill>
                            <a:schemeClr val="tx1"/>
                          </a:solidFill>
                          <a:latin typeface="Cuprum" panose="00000500000000000000" pitchFamily="2" charset="0"/>
                          <a:ea typeface="微软雅黑 Light" panose="020B0502040204020203" pitchFamily="34" charset="-122"/>
                        </a:rPr>
                        <a:t>类</a:t>
                      </a: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Cat 5e</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&lt;1000Mbps</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zh-CN" altLang="en-US" sz="1800" b="0" baseline="0" dirty="0">
                          <a:solidFill>
                            <a:schemeClr val="tx1"/>
                          </a:solidFill>
                          <a:latin typeface="Cuprum" panose="00000500000000000000" pitchFamily="2" charset="0"/>
                          <a:ea typeface="微软雅黑 Light" panose="020B0502040204020203" pitchFamily="34" charset="-122"/>
                        </a:rPr>
                        <a:t>千兆以太网</a:t>
                      </a: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125Mhz</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extLst>
                  <a:ext uri="{0D108BD9-81ED-4DB2-BD59-A6C34878D82A}">
                    <a16:rowId xmlns:a16="http://schemas.microsoft.com/office/drawing/2014/main" val="2909446057"/>
                  </a:ext>
                </a:extLst>
              </a:tr>
              <a:tr h="432000">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6</a:t>
                      </a:r>
                      <a:r>
                        <a:rPr lang="zh-CN" altLang="en-US" sz="1800" b="0" baseline="0" dirty="0">
                          <a:solidFill>
                            <a:schemeClr val="tx1"/>
                          </a:solidFill>
                          <a:latin typeface="Cuprum" panose="00000500000000000000" pitchFamily="2" charset="0"/>
                          <a:ea typeface="微软雅黑 Light" panose="020B0502040204020203" pitchFamily="34" charset="-122"/>
                        </a:rPr>
                        <a:t>类线</a:t>
                      </a: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Cat 6</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baseline="0" dirty="0">
                          <a:solidFill>
                            <a:schemeClr val="tx1"/>
                          </a:solidFill>
                          <a:latin typeface="Cuprum" panose="00000500000000000000" pitchFamily="2" charset="0"/>
                          <a:ea typeface="微软雅黑 Light" panose="020B0502040204020203" pitchFamily="34" charset="-122"/>
                        </a:rPr>
                        <a:t>&gt;1Gbps</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baseline="0" dirty="0">
                          <a:solidFill>
                            <a:schemeClr val="tx1"/>
                          </a:solidFill>
                          <a:latin typeface="Cuprum" panose="00000500000000000000" pitchFamily="2" charset="0"/>
                          <a:ea typeface="微软雅黑 Light" panose="020B0502040204020203" pitchFamily="34" charset="-122"/>
                        </a:rPr>
                        <a:t>250MHz</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extLst>
                  <a:ext uri="{0D108BD9-81ED-4DB2-BD59-A6C34878D82A}">
                    <a16:rowId xmlns:a16="http://schemas.microsoft.com/office/drawing/2014/main" val="2891712374"/>
                  </a:ext>
                </a:extLst>
              </a:tr>
              <a:tr h="432000">
                <a:tc>
                  <a:txBody>
                    <a:bodyPr/>
                    <a:lstStyle/>
                    <a:p>
                      <a:r>
                        <a:rPr lang="zh-CN" altLang="en-US" sz="1800" b="0" baseline="0" dirty="0">
                          <a:solidFill>
                            <a:schemeClr val="tx1"/>
                          </a:solidFill>
                          <a:latin typeface="Cuprum" panose="00000500000000000000" pitchFamily="2" charset="0"/>
                          <a:ea typeface="微软雅黑 Light" panose="020B0502040204020203" pitchFamily="34" charset="-122"/>
                        </a:rPr>
                        <a:t>超</a:t>
                      </a:r>
                      <a:r>
                        <a:rPr lang="en-US" altLang="zh-CN" sz="1800" b="0" baseline="0" dirty="0">
                          <a:solidFill>
                            <a:schemeClr val="tx1"/>
                          </a:solidFill>
                          <a:latin typeface="Cuprum" panose="00000500000000000000" pitchFamily="2" charset="0"/>
                          <a:ea typeface="微软雅黑 Light" panose="020B0502040204020203" pitchFamily="34" charset="-122"/>
                        </a:rPr>
                        <a:t>6</a:t>
                      </a:r>
                      <a:r>
                        <a:rPr lang="zh-CN" altLang="en-US" sz="1800" b="0" baseline="0" dirty="0">
                          <a:solidFill>
                            <a:schemeClr val="tx1"/>
                          </a:solidFill>
                          <a:latin typeface="Cuprum" panose="00000500000000000000" pitchFamily="2" charset="0"/>
                          <a:ea typeface="微软雅黑 Light" panose="020B0502040204020203" pitchFamily="34" charset="-122"/>
                        </a:rPr>
                        <a:t>类</a:t>
                      </a: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Cat 6e</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baseline="0" dirty="0">
                          <a:solidFill>
                            <a:schemeClr val="tx1"/>
                          </a:solidFill>
                          <a:latin typeface="Cuprum" panose="00000500000000000000" pitchFamily="2" charset="0"/>
                          <a:ea typeface="微软雅黑 Light" panose="020B0502040204020203" pitchFamily="34" charset="-122"/>
                        </a:rPr>
                        <a:t>&gt;10Gbps</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500MHz</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extLst>
                  <a:ext uri="{0D108BD9-81ED-4DB2-BD59-A6C34878D82A}">
                    <a16:rowId xmlns:a16="http://schemas.microsoft.com/office/drawing/2014/main" val="1234427593"/>
                  </a:ext>
                </a:extLst>
              </a:tr>
              <a:tr h="432000">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7</a:t>
                      </a:r>
                      <a:r>
                        <a:rPr lang="zh-CN" altLang="en-US" sz="1800" b="0" baseline="0" dirty="0">
                          <a:solidFill>
                            <a:schemeClr val="tx1"/>
                          </a:solidFill>
                          <a:latin typeface="Cuprum" panose="00000500000000000000" pitchFamily="2" charset="0"/>
                          <a:ea typeface="微软雅黑 Light" panose="020B0502040204020203" pitchFamily="34" charset="-122"/>
                        </a:rPr>
                        <a:t>类</a:t>
                      </a: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Cat 7</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baseline="0" dirty="0">
                          <a:solidFill>
                            <a:schemeClr val="tx1"/>
                          </a:solidFill>
                          <a:latin typeface="Cuprum" panose="00000500000000000000" pitchFamily="2" charset="0"/>
                          <a:ea typeface="微软雅黑 Light" panose="020B0502040204020203" pitchFamily="34" charset="-122"/>
                        </a:rPr>
                        <a:t>&gt;10Gbps</a:t>
                      </a: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r>
                        <a:rPr lang="en-US" altLang="zh-CN" sz="1800" b="0" baseline="0" dirty="0">
                          <a:solidFill>
                            <a:schemeClr val="tx1"/>
                          </a:solidFill>
                          <a:latin typeface="Cuprum" panose="00000500000000000000" pitchFamily="2" charset="0"/>
                          <a:ea typeface="微软雅黑 Light" panose="020B0502040204020203" pitchFamily="34" charset="-122"/>
                        </a:rPr>
                        <a:t>600Mhz</a:t>
                      </a:r>
                      <a:endParaRPr lang="zh-CN" altLang="en-US" sz="1800" b="0" baseline="0" dirty="0">
                        <a:solidFill>
                          <a:schemeClr val="tx1"/>
                        </a:solidFill>
                        <a:latin typeface="Cuprum" panose="00000500000000000000" pitchFamily="2" charset="0"/>
                        <a:ea typeface="微软雅黑 Light" panose="020B0502040204020203" pitchFamily="34" charset="-122"/>
                      </a:endParaRPr>
                    </a:p>
                  </a:txBody>
                  <a:tcPr anchor="ct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extLst>
                  <a:ext uri="{0D108BD9-81ED-4DB2-BD59-A6C34878D82A}">
                    <a16:rowId xmlns:a16="http://schemas.microsoft.com/office/drawing/2014/main" val="515944262"/>
                  </a:ext>
                </a:extLst>
              </a:tr>
            </a:tbl>
          </a:graphicData>
        </a:graphic>
      </p:graphicFrame>
      <p:sp>
        <p:nvSpPr>
          <p:cNvPr id="6" name="文本框 5">
            <a:extLst>
              <a:ext uri="{FF2B5EF4-FFF2-40B4-BE49-F238E27FC236}">
                <a16:creationId xmlns:a16="http://schemas.microsoft.com/office/drawing/2014/main" id="{423FE718-2D80-4A23-93A8-E5451047F8DA}"/>
              </a:ext>
            </a:extLst>
          </p:cNvPr>
          <p:cNvSpPr txBox="1"/>
          <p:nvPr/>
        </p:nvSpPr>
        <p:spPr>
          <a:xfrm>
            <a:off x="4887074" y="4935278"/>
            <a:ext cx="1795684" cy="307777"/>
          </a:xfrm>
          <a:prstGeom prst="rect">
            <a:avLst/>
          </a:prstGeom>
          <a:noFill/>
        </p:spPr>
        <p:txBody>
          <a:bodyPr wrap="none" rtlCol="0">
            <a:spAutoFit/>
          </a:bodyPr>
          <a:lstStyle/>
          <a:p>
            <a:pPr algn="ctr"/>
            <a:r>
              <a:rPr lang="en-US" altLang="zh-CN" sz="1400" dirty="0">
                <a:solidFill>
                  <a:schemeClr val="bg1">
                    <a:lumMod val="50000"/>
                  </a:schemeClr>
                </a:solidFill>
                <a:latin typeface="Courier New" panose="02070309020205020404" pitchFamily="49" charset="0"/>
                <a:ea typeface="微软雅黑 Light" panose="020B0502040204020203" pitchFamily="34" charset="-122"/>
              </a:rPr>
              <a:t>Cat - Category </a:t>
            </a:r>
            <a:endParaRPr lang="zh-CN" altLang="en-US" sz="1400" dirty="0">
              <a:solidFill>
                <a:schemeClr val="bg1">
                  <a:lumMod val="50000"/>
                </a:schemeClr>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967396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双绞线制作</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5.1</a:t>
            </a:r>
            <a:endParaRPr lang="zh-CN" altLang="en-US" dirty="0"/>
          </a:p>
        </p:txBody>
      </p:sp>
      <p:sp>
        <p:nvSpPr>
          <p:cNvPr id="11" name="文本框 10">
            <a:extLst>
              <a:ext uri="{FF2B5EF4-FFF2-40B4-BE49-F238E27FC236}">
                <a16:creationId xmlns:a16="http://schemas.microsoft.com/office/drawing/2014/main" id="{0136DE64-91B8-4990-818C-0C0761899D92}"/>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制作</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pic>
        <p:nvPicPr>
          <p:cNvPr id="9" name="图形 8" descr="场记板">
            <a:hlinkClick r:id="rId2" action="ppaction://hlinkfile"/>
            <a:extLst>
              <a:ext uri="{FF2B5EF4-FFF2-40B4-BE49-F238E27FC236}">
                <a16:creationId xmlns:a16="http://schemas.microsoft.com/office/drawing/2014/main" id="{6EDEA38F-2F77-49B1-B187-CA3A65F1DB9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38800"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Tree>
    <p:extLst>
      <p:ext uri="{BB962C8B-B14F-4D97-AF65-F5344CB8AC3E}">
        <p14:creationId xmlns:p14="http://schemas.microsoft.com/office/powerpoint/2010/main" val="1150225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BD4CEDE9-B9AC-4D03-938E-B1447792C23D}"/>
              </a:ext>
            </a:extLst>
          </p:cNvPr>
          <p:cNvPicPr>
            <a:picLocks noChangeAspect="1"/>
          </p:cNvPicPr>
          <p:nvPr/>
        </p:nvPicPr>
        <p:blipFill>
          <a:blip r:embed="rId2"/>
          <a:stretch>
            <a:fillRect/>
          </a:stretch>
        </p:blipFill>
        <p:spPr>
          <a:xfrm>
            <a:off x="1247775" y="2319337"/>
            <a:ext cx="3600000" cy="3056305"/>
          </a:xfrm>
          <a:prstGeom prst="rect">
            <a:avLst/>
          </a:prstGeom>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水晶头</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5.1</a:t>
            </a:r>
            <a:endParaRPr lang="zh-CN" altLang="en-US" dirty="0"/>
          </a:p>
        </p:txBody>
      </p:sp>
      <p:sp>
        <p:nvSpPr>
          <p:cNvPr id="8" name="文本框 7">
            <a:extLst>
              <a:ext uri="{FF2B5EF4-FFF2-40B4-BE49-F238E27FC236}">
                <a16:creationId xmlns:a16="http://schemas.microsoft.com/office/drawing/2014/main" id="{5053C75D-5640-483E-80BA-254EAD621929}"/>
              </a:ext>
            </a:extLst>
          </p:cNvPr>
          <p:cNvSpPr txBox="1"/>
          <p:nvPr/>
        </p:nvSpPr>
        <p:spPr>
          <a:xfrm>
            <a:off x="5024234" y="4518477"/>
            <a:ext cx="2143537" cy="400110"/>
          </a:xfrm>
          <a:prstGeom prst="rect">
            <a:avLst/>
          </a:prstGeom>
          <a:noFill/>
        </p:spPr>
        <p:txBody>
          <a:bodyPr wrap="none" rtlCol="0">
            <a:spAutoFit/>
          </a:bodyPr>
          <a:lstStyle/>
          <a:p>
            <a:pPr algn="ctr"/>
            <a:r>
              <a:rPr lang="en-US" altLang="zh-CN" sz="2000" dirty="0">
                <a:solidFill>
                  <a:schemeClr val="tx1"/>
                </a:solidFill>
                <a:latin typeface="Cuprum" panose="00000500000000000000" pitchFamily="2" charset="0"/>
                <a:ea typeface="微软雅黑 Light" panose="020B0502040204020203" pitchFamily="34" charset="-122"/>
              </a:rPr>
              <a:t>RJ - Registered </a:t>
            </a:r>
            <a:r>
              <a:rPr lang="en-US" altLang="zh-CN" sz="2000" dirty="0">
                <a:latin typeface="Cuprum" panose="00000500000000000000" pitchFamily="2" charset="0"/>
                <a:ea typeface="微软雅黑 Light" panose="020B0502040204020203" pitchFamily="34" charset="-122"/>
              </a:rPr>
              <a:t>J</a:t>
            </a:r>
            <a:r>
              <a:rPr lang="en-US" altLang="zh-CN" sz="2000" dirty="0">
                <a:solidFill>
                  <a:schemeClr val="tx1"/>
                </a:solidFill>
                <a:latin typeface="Cuprum" panose="00000500000000000000" pitchFamily="2" charset="0"/>
                <a:ea typeface="微软雅黑 Light" panose="020B0502040204020203" pitchFamily="34" charset="-122"/>
              </a:rPr>
              <a:t>ack</a:t>
            </a:r>
          </a:p>
        </p:txBody>
      </p:sp>
    </p:spTree>
    <p:extLst>
      <p:ext uri="{BB962C8B-B14F-4D97-AF65-F5344CB8AC3E}">
        <p14:creationId xmlns:p14="http://schemas.microsoft.com/office/powerpoint/2010/main" val="17322788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5.1</a:t>
            </a:r>
            <a:endParaRPr lang="zh-CN" altLang="en-US" dirty="0"/>
          </a:p>
        </p:txBody>
      </p:sp>
      <p:pic>
        <p:nvPicPr>
          <p:cNvPr id="5124" name="Picture 4">
            <a:extLst>
              <a:ext uri="{FF2B5EF4-FFF2-40B4-BE49-F238E27FC236}">
                <a16:creationId xmlns:a16="http://schemas.microsoft.com/office/drawing/2014/main" id="{CCA3A631-25AB-437B-B58A-64FF61FB4C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614244"/>
            <a:ext cx="6048000" cy="302400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a:extLst>
              <a:ext uri="{FF2B5EF4-FFF2-40B4-BE49-F238E27FC236}">
                <a16:creationId xmlns:a16="http://schemas.microsoft.com/office/drawing/2014/main" id="{2B089261-C5B7-474D-A3A8-A0AAEB7225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44000" y="2614244"/>
            <a:ext cx="6048000" cy="3024000"/>
          </a:xfrm>
          <a:prstGeom prst="rect">
            <a:avLst/>
          </a:prstGeom>
          <a:noFill/>
          <a:extLst>
            <a:ext uri="{909E8E84-426E-40DD-AFC4-6F175D3DCCD1}">
              <a14:hiddenFill xmlns:a14="http://schemas.microsoft.com/office/drawing/2010/main">
                <a:solidFill>
                  <a:srgbClr val="FFFFFF"/>
                </a:solidFill>
              </a14:hiddenFill>
            </a:ext>
          </a:extLst>
        </p:spPr>
      </p:pic>
      <p:sp>
        <p:nvSpPr>
          <p:cNvPr id="11" name="文本框 10">
            <a:extLst>
              <a:ext uri="{FF2B5EF4-FFF2-40B4-BE49-F238E27FC236}">
                <a16:creationId xmlns:a16="http://schemas.microsoft.com/office/drawing/2014/main" id="{0136DE64-91B8-4990-818C-0C0761899D92}"/>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线序</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spTree>
    <p:extLst>
      <p:ext uri="{BB962C8B-B14F-4D97-AF65-F5344CB8AC3E}">
        <p14:creationId xmlns:p14="http://schemas.microsoft.com/office/powerpoint/2010/main" val="14498403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双绞线制作</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5.1</a:t>
            </a:r>
            <a:endParaRPr lang="zh-CN" altLang="en-US" dirty="0"/>
          </a:p>
        </p:txBody>
      </p:sp>
      <p:sp>
        <p:nvSpPr>
          <p:cNvPr id="11" name="文本框 10">
            <a:extLst>
              <a:ext uri="{FF2B5EF4-FFF2-40B4-BE49-F238E27FC236}">
                <a16:creationId xmlns:a16="http://schemas.microsoft.com/office/drawing/2014/main" id="{0136DE64-91B8-4990-818C-0C0761899D92}"/>
              </a:ext>
            </a:extLst>
          </p:cNvPr>
          <p:cNvSpPr txBox="1"/>
          <p:nvPr/>
        </p:nvSpPr>
        <p:spPr>
          <a:xfrm>
            <a:off x="9121396" y="904639"/>
            <a:ext cx="1620957"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制作</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sp>
        <p:nvSpPr>
          <p:cNvPr id="8" name="文本框 7">
            <a:extLst>
              <a:ext uri="{FF2B5EF4-FFF2-40B4-BE49-F238E27FC236}">
                <a16:creationId xmlns:a16="http://schemas.microsoft.com/office/drawing/2014/main" id="{5053C75D-5640-483E-80BA-254EAD621929}"/>
              </a:ext>
            </a:extLst>
          </p:cNvPr>
          <p:cNvSpPr txBox="1"/>
          <p:nvPr/>
        </p:nvSpPr>
        <p:spPr>
          <a:xfrm>
            <a:off x="3770695" y="5661477"/>
            <a:ext cx="4650632"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剥线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排线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理线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剪切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插线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压线</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pic>
        <p:nvPicPr>
          <p:cNvPr id="9" name="图形 8" descr="场记板">
            <a:hlinkClick r:id="rId2" action="ppaction://hlinkfile"/>
            <a:extLst>
              <a:ext uri="{FF2B5EF4-FFF2-40B4-BE49-F238E27FC236}">
                <a16:creationId xmlns:a16="http://schemas.microsoft.com/office/drawing/2014/main" id="{6EDEA38F-2F77-49B1-B187-CA3A65F1DB9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38800"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Tree>
    <p:extLst>
      <p:ext uri="{BB962C8B-B14F-4D97-AF65-F5344CB8AC3E}">
        <p14:creationId xmlns:p14="http://schemas.microsoft.com/office/powerpoint/2010/main" val="11435587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测试</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5.1</a:t>
            </a:r>
            <a:endParaRPr lang="zh-CN" altLang="en-US" dirty="0"/>
          </a:p>
        </p:txBody>
      </p:sp>
      <p:sp>
        <p:nvSpPr>
          <p:cNvPr id="11" name="文本框 10">
            <a:extLst>
              <a:ext uri="{FF2B5EF4-FFF2-40B4-BE49-F238E27FC236}">
                <a16:creationId xmlns:a16="http://schemas.microsoft.com/office/drawing/2014/main" id="{0136DE64-91B8-4990-818C-0C0761899D92}"/>
              </a:ext>
            </a:extLst>
          </p:cNvPr>
          <p:cNvSpPr txBox="1"/>
          <p:nvPr/>
        </p:nvSpPr>
        <p:spPr>
          <a:xfrm>
            <a:off x="8644701" y="904639"/>
            <a:ext cx="2805576"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latin typeface="微软雅黑 Light" panose="020B0502040204020203" pitchFamily="34" charset="-122"/>
                <a:ea typeface="微软雅黑 Light" panose="020B0502040204020203" pitchFamily="34" charset="-122"/>
              </a:rPr>
              <a:t>packet tracer</a:t>
            </a:r>
            <a:r>
              <a:rPr lang="en-US" altLang="zh-CN" sz="2400" dirty="0">
                <a:solidFill>
                  <a:schemeClr val="accent2"/>
                </a:solidFill>
                <a:latin typeface="Arial Black" panose="020B0A04020102020204" pitchFamily="34" charset="0"/>
                <a:ea typeface="微软雅黑 Light" panose="020B0502040204020203" pitchFamily="34" charset="-122"/>
              </a:rPr>
              <a:t>-</a:t>
            </a:r>
            <a:r>
              <a:rPr lang="en-US" altLang="zh-CN" sz="2400" dirty="0">
                <a:solidFill>
                  <a:srgbClr val="00B050"/>
                </a:solidFill>
                <a:latin typeface="Arial Black" panose="020B0A04020102020204" pitchFamily="34" charset="0"/>
                <a:ea typeface="微软雅黑 Light" panose="020B0502040204020203" pitchFamily="34" charset="-122"/>
              </a:rPr>
              <a:t>-</a:t>
            </a:r>
            <a:r>
              <a:rPr lang="en-US" altLang="zh-CN" sz="2400" dirty="0">
                <a:solidFill>
                  <a:srgbClr val="0070C0"/>
                </a:solidFill>
                <a:latin typeface="Arial Black" panose="020B0A04020102020204" pitchFamily="34" charset="0"/>
                <a:ea typeface="微软雅黑 Light" panose="020B0502040204020203" pitchFamily="34" charset="-122"/>
              </a:rPr>
              <a:t>-</a:t>
            </a:r>
            <a:r>
              <a:rPr lang="en-US" altLang="zh-CN" sz="2400" dirty="0">
                <a:solidFill>
                  <a:srgbClr val="CC9900"/>
                </a:solidFill>
                <a:latin typeface="Arial Black" panose="020B0A04020102020204" pitchFamily="34" charset="0"/>
                <a:ea typeface="微软雅黑 Light" panose="020B0502040204020203" pitchFamily="34" charset="-122"/>
              </a:rPr>
              <a:t>-</a:t>
            </a:r>
            <a:endParaRPr lang="zh-CN" altLang="en-US" sz="2400" dirty="0">
              <a:solidFill>
                <a:srgbClr val="CC9900"/>
              </a:solidFill>
              <a:latin typeface="Arial Black" panose="020B0A04020102020204" pitchFamily="34" charset="0"/>
              <a:ea typeface="微软雅黑 Light" panose="020B0502040204020203" pitchFamily="34" charset="-122"/>
            </a:endParaRPr>
          </a:p>
        </p:txBody>
      </p:sp>
      <p:pic>
        <p:nvPicPr>
          <p:cNvPr id="14" name="图片 13">
            <a:extLst>
              <a:ext uri="{FF2B5EF4-FFF2-40B4-BE49-F238E27FC236}">
                <a16:creationId xmlns:a16="http://schemas.microsoft.com/office/drawing/2014/main" id="{C8E9D18A-4B57-430A-8CEF-23CE95476252}"/>
              </a:ext>
            </a:extLst>
          </p:cNvPr>
          <p:cNvPicPr>
            <a:picLocks noChangeAspect="1"/>
          </p:cNvPicPr>
          <p:nvPr/>
        </p:nvPicPr>
        <p:blipFill>
          <a:blip r:embed="rId2"/>
          <a:stretch>
            <a:fillRect/>
          </a:stretch>
        </p:blipFill>
        <p:spPr>
          <a:xfrm>
            <a:off x="353811" y="2979167"/>
            <a:ext cx="3267075" cy="1981200"/>
          </a:xfrm>
          <a:prstGeom prst="rect">
            <a:avLst/>
          </a:prstGeom>
        </p:spPr>
      </p:pic>
      <p:pic>
        <p:nvPicPr>
          <p:cNvPr id="16" name="图片 15">
            <a:extLst>
              <a:ext uri="{FF2B5EF4-FFF2-40B4-BE49-F238E27FC236}">
                <a16:creationId xmlns:a16="http://schemas.microsoft.com/office/drawing/2014/main" id="{C9068997-9FF4-4990-AEEC-5C24D60BA91C}"/>
              </a:ext>
            </a:extLst>
          </p:cNvPr>
          <p:cNvPicPr>
            <a:picLocks noChangeAspect="1"/>
          </p:cNvPicPr>
          <p:nvPr/>
        </p:nvPicPr>
        <p:blipFill>
          <a:blip r:embed="rId3"/>
          <a:stretch>
            <a:fillRect/>
          </a:stretch>
        </p:blipFill>
        <p:spPr>
          <a:xfrm>
            <a:off x="4533900" y="2031430"/>
            <a:ext cx="3124200" cy="1647825"/>
          </a:xfrm>
          <a:prstGeom prst="rect">
            <a:avLst/>
          </a:prstGeom>
        </p:spPr>
      </p:pic>
      <p:pic>
        <p:nvPicPr>
          <p:cNvPr id="18" name="图片 17">
            <a:extLst>
              <a:ext uri="{FF2B5EF4-FFF2-40B4-BE49-F238E27FC236}">
                <a16:creationId xmlns:a16="http://schemas.microsoft.com/office/drawing/2014/main" id="{37E20C16-76CA-475B-B2FF-19051E965AFD}"/>
              </a:ext>
            </a:extLst>
          </p:cNvPr>
          <p:cNvPicPr>
            <a:picLocks noChangeAspect="1"/>
          </p:cNvPicPr>
          <p:nvPr/>
        </p:nvPicPr>
        <p:blipFill>
          <a:blip r:embed="rId4"/>
          <a:stretch>
            <a:fillRect/>
          </a:stretch>
        </p:blipFill>
        <p:spPr>
          <a:xfrm>
            <a:off x="4205288" y="3884042"/>
            <a:ext cx="3781425" cy="2000250"/>
          </a:xfrm>
          <a:prstGeom prst="rect">
            <a:avLst/>
          </a:prstGeom>
        </p:spPr>
      </p:pic>
      <p:pic>
        <p:nvPicPr>
          <p:cNvPr id="20" name="图片 19">
            <a:extLst>
              <a:ext uri="{FF2B5EF4-FFF2-40B4-BE49-F238E27FC236}">
                <a16:creationId xmlns:a16="http://schemas.microsoft.com/office/drawing/2014/main" id="{7A41FB76-05F2-4E3D-A722-7CDBEC8125E8}"/>
              </a:ext>
            </a:extLst>
          </p:cNvPr>
          <p:cNvPicPr>
            <a:picLocks noChangeAspect="1"/>
          </p:cNvPicPr>
          <p:nvPr/>
        </p:nvPicPr>
        <p:blipFill>
          <a:blip r:embed="rId5"/>
          <a:stretch>
            <a:fillRect/>
          </a:stretch>
        </p:blipFill>
        <p:spPr>
          <a:xfrm>
            <a:off x="8290126" y="2941067"/>
            <a:ext cx="3514725" cy="2057400"/>
          </a:xfrm>
          <a:prstGeom prst="rect">
            <a:avLst/>
          </a:prstGeom>
        </p:spPr>
      </p:pic>
    </p:spTree>
    <p:extLst>
      <p:ext uri="{BB962C8B-B14F-4D97-AF65-F5344CB8AC3E}">
        <p14:creationId xmlns:p14="http://schemas.microsoft.com/office/powerpoint/2010/main" val="3383713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同轴电缆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coaxial cable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5.2</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2839239" cy="4708981"/>
          </a:xfrm>
          <a:prstGeom prst="rect">
            <a:avLst/>
          </a:prstGeom>
          <a:noFill/>
        </p:spPr>
        <p:txBody>
          <a:bodyPr wrap="none" rtlCol="0">
            <a:spAutoFit/>
          </a:bodyPr>
          <a:lstStyle/>
          <a:p>
            <a:pPr algn="l"/>
            <a:r>
              <a:rPr lang="zh-CN" altLang="en-US" sz="2000" dirty="0">
                <a:latin typeface="微软雅黑 Light" panose="020B0502040204020203" pitchFamily="34" charset="-122"/>
                <a:ea typeface="微软雅黑 Light" panose="020B0502040204020203" pitchFamily="34" charset="-122"/>
              </a:rPr>
              <a:t>物理结构组成：</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内导体：中心铜线</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内绝缘层：塑料</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外导体：网状导电层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包层：电线外皮</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endParaRPr lang="en-US" altLang="zh-CN" sz="2000" dirty="0">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基带同轴电缆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数字信号</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特征阻抗</a:t>
            </a:r>
            <a:r>
              <a:rPr lang="en-US" altLang="zh-CN" sz="2000" dirty="0">
                <a:solidFill>
                  <a:schemeClr val="tx1"/>
                </a:solidFill>
                <a:latin typeface="微软雅黑 Light" panose="020B0502040204020203" pitchFamily="34" charset="-122"/>
                <a:ea typeface="微软雅黑 Light" panose="020B0502040204020203" pitchFamily="34" charset="-122"/>
              </a:rPr>
              <a:t>50</a:t>
            </a:r>
            <a:r>
              <a:rPr lang="el-GR" altLang="zh-CN" sz="2000" dirty="0">
                <a:solidFill>
                  <a:schemeClr val="tx1"/>
                </a:solidFill>
                <a:latin typeface="微软雅黑 Light" panose="020B0502040204020203" pitchFamily="34" charset="-122"/>
                <a:ea typeface="微软雅黑 Light" panose="020B0502040204020203" pitchFamily="34" charset="-122"/>
              </a:rPr>
              <a:t>Ω</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绝缘层为铜</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频带同轴电缆</a:t>
            </a:r>
            <a:endParaRPr lang="en-US" altLang="zh-CN" sz="2000" dirty="0">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模拟信号</a:t>
            </a:r>
            <a:endParaRPr lang="en-US" altLang="zh-CN" sz="2000" dirty="0">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特征阻抗</a:t>
            </a:r>
            <a:r>
              <a:rPr lang="en-US" altLang="zh-CN" sz="2000" dirty="0">
                <a:solidFill>
                  <a:schemeClr val="tx1"/>
                </a:solidFill>
                <a:latin typeface="微软雅黑 Light" panose="020B0502040204020203" pitchFamily="34" charset="-122"/>
                <a:ea typeface="微软雅黑 Light" panose="020B0502040204020203" pitchFamily="34" charset="-122"/>
              </a:rPr>
              <a:t>75</a:t>
            </a:r>
            <a:r>
              <a:rPr lang="el-GR" altLang="zh-CN" sz="2000" dirty="0">
                <a:solidFill>
                  <a:schemeClr val="tx1"/>
                </a:solidFill>
                <a:latin typeface="微软雅黑 Light" panose="020B0502040204020203" pitchFamily="34" charset="-122"/>
                <a:ea typeface="微软雅黑 Light" panose="020B0502040204020203" pitchFamily="34" charset="-122"/>
              </a:rPr>
              <a:t>Ω</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绝缘层为铝</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1026" name="Picture 2">
            <a:extLst>
              <a:ext uri="{FF2B5EF4-FFF2-40B4-BE49-F238E27FC236}">
                <a16:creationId xmlns:a16="http://schemas.microsoft.com/office/drawing/2014/main" id="{D305C9CE-64DA-4271-BAAC-98F4306F9D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9145" y="1929398"/>
            <a:ext cx="4320000" cy="432000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AA878FB2-B4AB-44DC-8585-D171672EB4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8495" y="941092"/>
            <a:ext cx="2880000" cy="288000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A557AFEA-931A-4D8F-90C5-39E2C4516599}"/>
              </a:ext>
            </a:extLst>
          </p:cNvPr>
          <p:cNvSpPr txBox="1"/>
          <p:nvPr/>
        </p:nvSpPr>
        <p:spPr>
          <a:xfrm>
            <a:off x="9222601" y="788692"/>
            <a:ext cx="2225288" cy="646331"/>
          </a:xfrm>
          <a:prstGeom prst="rect">
            <a:avLst/>
          </a:prstGeom>
          <a:noFill/>
        </p:spPr>
        <p:txBody>
          <a:bodyPr wrap="none" rtlCol="0">
            <a:spAutoFit/>
          </a:bodyPr>
          <a:lstStyle>
            <a:defPPr>
              <a:defRPr lang="zh-CN"/>
            </a:defPPr>
            <a:lvl1pPr algn="r">
              <a:buClr>
                <a:schemeClr val="accent2"/>
              </a:buClr>
              <a:defRPr sz="2000">
                <a:latin typeface="Cuprum" panose="00000500000000000000" pitchFamily="2" charset="0"/>
                <a:ea typeface="微软雅黑 Light" panose="020B0502040204020203" pitchFamily="34" charset="-122"/>
              </a:defRPr>
            </a:lvl1pPr>
          </a:lstStyle>
          <a:p>
            <a:r>
              <a:rPr lang="en-US" altLang="zh-CN" sz="1800" dirty="0"/>
              <a:t>BNC-</a:t>
            </a:r>
            <a:r>
              <a:rPr lang="zh-CN" altLang="en-US" sz="1800" dirty="0"/>
              <a:t>刺刀螺母连接器</a:t>
            </a:r>
            <a:endParaRPr lang="en-US" altLang="zh-CN" sz="1800" dirty="0"/>
          </a:p>
          <a:p>
            <a:r>
              <a:rPr lang="en-US" altLang="zh-CN" sz="1800" dirty="0"/>
              <a:t>Bayonet Nut Connector</a:t>
            </a:r>
          </a:p>
        </p:txBody>
      </p:sp>
    </p:spTree>
    <p:extLst>
      <p:ext uri="{BB962C8B-B14F-4D97-AF65-F5344CB8AC3E}">
        <p14:creationId xmlns:p14="http://schemas.microsoft.com/office/powerpoint/2010/main" val="33478346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a:extLst>
              <a:ext uri="{FF2B5EF4-FFF2-40B4-BE49-F238E27FC236}">
                <a16:creationId xmlns:a16="http://schemas.microsoft.com/office/drawing/2014/main" id="{F22EC75B-A45C-43A0-B5BE-8617FFD4FA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51705" y="3403938"/>
            <a:ext cx="3521739" cy="3240000"/>
          </a:xfrm>
          <a:prstGeom prst="rect">
            <a:avLst/>
          </a:prstGeom>
          <a:noFill/>
          <a:extLst>
            <a:ext uri="{909E8E84-426E-40DD-AFC4-6F175D3DCCD1}">
              <a14:hiddenFill xmlns:a14="http://schemas.microsoft.com/office/drawing/2010/main">
                <a:solidFill>
                  <a:srgbClr val="FFFFFF"/>
                </a:solidFill>
              </a14:hiddenFill>
            </a:ext>
          </a:extLst>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光纤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optical fiber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83717" cy="3170099"/>
          </a:xfrm>
          <a:prstGeom prst="rect">
            <a:avLst/>
          </a:prstGeom>
          <a:noFill/>
        </p:spPr>
        <p:txBody>
          <a:bodyPr wrap="none" rtlCol="0">
            <a:spAutoFit/>
          </a:bodyPr>
          <a:lstStyle/>
          <a:p>
            <a:pPr algn="l"/>
            <a:r>
              <a:rPr lang="zh-CN" altLang="en-US" sz="2000" dirty="0">
                <a:latin typeface="微软雅黑 Light" panose="020B0502040204020203" pitchFamily="34" charset="-122"/>
                <a:ea typeface="微软雅黑 Light" panose="020B0502040204020203" pitchFamily="34" charset="-122"/>
              </a:rPr>
              <a:t>由玻璃或塑料制成的纤维，利用光的全反射传输数据</a:t>
            </a:r>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solidFill>
                  <a:schemeClr val="tx1"/>
                </a:solidFill>
                <a:latin typeface="微软雅黑 Light" panose="020B0502040204020203" pitchFamily="34" charset="-122"/>
                <a:ea typeface="微软雅黑 Light" panose="020B0502040204020203" pitchFamily="34" charset="-122"/>
              </a:rPr>
              <a:t>特点：</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传输损耗小</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抗干扰性好</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体积小，重量轻</a:t>
            </a:r>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单模光纤</a:t>
            </a:r>
            <a:r>
              <a:rPr lang="en-US" altLang="zh-CN" sz="2000" dirty="0">
                <a:solidFill>
                  <a:schemeClr val="tx1"/>
                </a:solidFill>
                <a:latin typeface="微软雅黑 Light" panose="020B0502040204020203" pitchFamily="34" charset="-122"/>
                <a:ea typeface="微软雅黑 Light" panose="020B0502040204020203" pitchFamily="34" charset="-122"/>
              </a:rPr>
              <a:t>SMF-Single Mode Fiber</a:t>
            </a: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适合远距离传输</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多模光纤</a:t>
            </a:r>
            <a:r>
              <a:rPr lang="en-US" altLang="zh-CN" sz="2000" dirty="0">
                <a:solidFill>
                  <a:schemeClr val="tx1"/>
                </a:solidFill>
                <a:latin typeface="微软雅黑 Light" panose="020B0502040204020203" pitchFamily="34" charset="-122"/>
                <a:ea typeface="微软雅黑 Light" panose="020B0502040204020203" pitchFamily="34" charset="-122"/>
              </a:rPr>
              <a:t>MMF</a:t>
            </a:r>
            <a:r>
              <a:rPr lang="en-US" altLang="zh-CN" sz="2000" dirty="0">
                <a:latin typeface="微软雅黑 Light" panose="020B0502040204020203" pitchFamily="34" charset="-122"/>
                <a:ea typeface="微软雅黑 Light" panose="020B0502040204020203" pitchFamily="34" charset="-122"/>
              </a:rPr>
              <a:t>-</a:t>
            </a:r>
            <a:r>
              <a:rPr lang="en-US" altLang="zh-CN" sz="2000" dirty="0" err="1">
                <a:solidFill>
                  <a:schemeClr val="tx1"/>
                </a:solidFill>
                <a:latin typeface="微软雅黑 Light" panose="020B0502040204020203" pitchFamily="34" charset="-122"/>
                <a:ea typeface="微软雅黑 Light" panose="020B0502040204020203" pitchFamily="34" charset="-122"/>
              </a:rPr>
              <a:t>MUlti</a:t>
            </a:r>
            <a:r>
              <a:rPr lang="en-US" altLang="zh-CN" sz="2000" dirty="0">
                <a:solidFill>
                  <a:schemeClr val="tx1"/>
                </a:solidFill>
                <a:latin typeface="微软雅黑 Light" panose="020B0502040204020203" pitchFamily="34" charset="-122"/>
                <a:ea typeface="微软雅黑 Light" panose="020B0502040204020203" pitchFamily="34" charset="-122"/>
              </a:rPr>
              <a:t> Mode Fiber</a:t>
            </a:r>
          </a:p>
          <a:p>
            <a:pPr lvl="1">
              <a:buClr>
                <a:schemeClr val="accent2"/>
              </a:buClr>
            </a:pPr>
            <a:r>
              <a:rPr lang="zh-CN" altLang="en-US" sz="2000" dirty="0">
                <a:latin typeface="微软雅黑 Light" panose="020B0502040204020203" pitchFamily="34" charset="-122"/>
                <a:ea typeface="微软雅黑 Light" panose="020B0502040204020203" pitchFamily="34" charset="-122"/>
              </a:rPr>
              <a:t>适合近距离传输</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4098" name="Picture 2">
            <a:extLst>
              <a:ext uri="{FF2B5EF4-FFF2-40B4-BE49-F238E27FC236}">
                <a16:creationId xmlns:a16="http://schemas.microsoft.com/office/drawing/2014/main" id="{5BB1BBF3-9F76-4C58-8666-394661AEBB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4658" y="2105544"/>
            <a:ext cx="51625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24737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a:extLst>
              <a:ext uri="{FF2B5EF4-FFF2-40B4-BE49-F238E27FC236}">
                <a16:creationId xmlns:a16="http://schemas.microsoft.com/office/drawing/2014/main" id="{0F00FA5F-253B-47EA-8E23-C9C21BF2799B}"/>
              </a:ext>
            </a:extLst>
          </p:cNvPr>
          <p:cNvSpPr txBox="1"/>
          <p:nvPr/>
        </p:nvSpPr>
        <p:spPr>
          <a:xfrm>
            <a:off x="5194951" y="4518477"/>
            <a:ext cx="1802096" cy="400110"/>
          </a:xfrm>
          <a:prstGeom prst="rect">
            <a:avLst/>
          </a:prstGeom>
          <a:noFill/>
        </p:spPr>
        <p:txBody>
          <a:bodyPr wrap="none" rtlCol="0">
            <a:spAutoFit/>
          </a:bodyPr>
          <a:lstStyle/>
          <a:p>
            <a:pPr algn="ctr"/>
            <a:r>
              <a:rPr lang="zh-CN" altLang="en-US" sz="2000" dirty="0">
                <a:solidFill>
                  <a:schemeClr val="tx1"/>
                </a:solidFill>
                <a:latin typeface="微软雅黑 Light" panose="020B0502040204020203" pitchFamily="34" charset="-122"/>
                <a:ea typeface="微软雅黑 Light" panose="020B0502040204020203" pitchFamily="34" charset="-122"/>
              </a:rPr>
              <a:t>光纤原理</a:t>
            </a:r>
            <a:r>
              <a:rPr lang="en-US" altLang="zh-CN" sz="2000" dirty="0">
                <a:solidFill>
                  <a:schemeClr val="tx1"/>
                </a:solidFill>
                <a:latin typeface="微软雅黑 Light" panose="020B0502040204020203" pitchFamily="34" charset="-122"/>
                <a:ea typeface="微软雅黑 Light" panose="020B0502040204020203" pitchFamily="34" charset="-122"/>
              </a:rPr>
              <a:t>.mp4</a:t>
            </a:r>
          </a:p>
        </p:txBody>
      </p:sp>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光纤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optical fiber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5.3</a:t>
            </a:r>
            <a:endParaRPr lang="zh-CN" altLang="en-US" dirty="0"/>
          </a:p>
        </p:txBody>
      </p:sp>
      <p:pic>
        <p:nvPicPr>
          <p:cNvPr id="13" name="图形 12" descr="场记板">
            <a:extLst>
              <a:ext uri="{FF2B5EF4-FFF2-40B4-BE49-F238E27FC236}">
                <a16:creationId xmlns:a16="http://schemas.microsoft.com/office/drawing/2014/main" id="{7BC93D16-AD6E-4F53-8C0C-3A63CB9B7CE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96482"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
        <p:nvSpPr>
          <p:cNvPr id="16" name="文本框 15">
            <a:extLst>
              <a:ext uri="{FF2B5EF4-FFF2-40B4-BE49-F238E27FC236}">
                <a16:creationId xmlns:a16="http://schemas.microsoft.com/office/drawing/2014/main" id="{D74B41C7-1C83-460B-A8AB-3B95DD043C2B}"/>
              </a:ext>
            </a:extLst>
          </p:cNvPr>
          <p:cNvSpPr txBox="1"/>
          <p:nvPr/>
        </p:nvSpPr>
        <p:spPr>
          <a:xfrm>
            <a:off x="6010882" y="2972796"/>
            <a:ext cx="851515" cy="892552"/>
          </a:xfrm>
          <a:prstGeom prst="rect">
            <a:avLst/>
          </a:prstGeom>
          <a:noFill/>
          <a:effectLst>
            <a:outerShdw blurRad="50800" dist="38100" dir="5400000" algn="t" rotWithShape="0">
              <a:prstClr val="black">
                <a:alpha val="40000"/>
              </a:prstClr>
            </a:outerShdw>
            <a:reflection blurRad="6350" stA="50000" endA="300" endPos="55000" dir="5400000" sy="-100000" algn="bl" rotWithShape="0"/>
          </a:effectLst>
        </p:spPr>
        <p:txBody>
          <a:bodyPr wrap="none" rtlCol="0">
            <a:spAutoFit/>
          </a:bodyPr>
          <a:lstStyle/>
          <a:p>
            <a:pPr algn="l"/>
            <a:r>
              <a:rPr lang="zh-CN" altLang="en-US" sz="2600" dirty="0">
                <a:solidFill>
                  <a:srgbClr val="FF0000"/>
                </a:solidFill>
                <a:latin typeface="微软雅黑 Light" panose="020B0502040204020203" pitchFamily="34" charset="-122"/>
                <a:ea typeface="微软雅黑 Light" panose="020B0502040204020203" pitchFamily="34" charset="-122"/>
              </a:rPr>
              <a:t>视频</a:t>
            </a:r>
            <a:endParaRPr lang="en-US" altLang="zh-CN" sz="2600" dirty="0">
              <a:solidFill>
                <a:srgbClr val="FF0000"/>
              </a:solidFill>
              <a:latin typeface="微软雅黑 Light" panose="020B0502040204020203" pitchFamily="34" charset="-122"/>
              <a:ea typeface="微软雅黑 Light" panose="020B0502040204020203" pitchFamily="34" charset="-122"/>
            </a:endParaRPr>
          </a:p>
          <a:p>
            <a:pPr algn="l"/>
            <a:r>
              <a:rPr lang="zh-CN" altLang="en-US" sz="2600" dirty="0">
                <a:solidFill>
                  <a:srgbClr val="FF0000"/>
                </a:solidFill>
                <a:latin typeface="微软雅黑 Light" panose="020B0502040204020203" pitchFamily="34" charset="-122"/>
                <a:ea typeface="微软雅黑 Light" panose="020B0502040204020203" pitchFamily="34" charset="-122"/>
              </a:rPr>
              <a:t>欣赏</a:t>
            </a:r>
            <a:endParaRPr lang="en-US" altLang="zh-CN" sz="2600" dirty="0">
              <a:solidFill>
                <a:srgbClr val="FF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56409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无线电波</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Airwave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5.4</a:t>
            </a:r>
            <a:endParaRPr lang="zh-CN" altLang="en-US" dirty="0"/>
          </a:p>
        </p:txBody>
      </p:sp>
      <p:sp>
        <p:nvSpPr>
          <p:cNvPr id="8" name="TextBox 7">
            <a:extLst>
              <a:ext uri="{FF2B5EF4-FFF2-40B4-BE49-F238E27FC236}">
                <a16:creationId xmlns:a16="http://schemas.microsoft.com/office/drawing/2014/main" id="{0B24252A-9D89-42A0-8D30-551668892BE3}"/>
              </a:ext>
            </a:extLst>
          </p:cNvPr>
          <p:cNvSpPr txBox="1"/>
          <p:nvPr/>
        </p:nvSpPr>
        <p:spPr>
          <a:xfrm>
            <a:off x="8129308" y="4360712"/>
            <a:ext cx="1210588"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Montserrat" charset="0"/>
              </a:rPr>
              <a:t>卫星通信</a:t>
            </a:r>
            <a:endParaRPr lang="en-US" sz="2000" dirty="0">
              <a:latin typeface="微软雅黑 Light" panose="020B0502040204020203" pitchFamily="34" charset="-122"/>
              <a:ea typeface="微软雅黑 Light" panose="020B0502040204020203" pitchFamily="34" charset="-122"/>
              <a:cs typeface="Montserrat" charset="0"/>
            </a:endParaRPr>
          </a:p>
        </p:txBody>
      </p:sp>
      <p:sp>
        <p:nvSpPr>
          <p:cNvPr id="9" name="TextBox 9">
            <a:extLst>
              <a:ext uri="{FF2B5EF4-FFF2-40B4-BE49-F238E27FC236}">
                <a16:creationId xmlns:a16="http://schemas.microsoft.com/office/drawing/2014/main" id="{707E9E27-11F0-483D-B613-190A4D72EE8C}"/>
              </a:ext>
            </a:extLst>
          </p:cNvPr>
          <p:cNvSpPr txBox="1"/>
          <p:nvPr/>
        </p:nvSpPr>
        <p:spPr>
          <a:xfrm>
            <a:off x="2026550" y="2643092"/>
            <a:ext cx="1210588" cy="400110"/>
          </a:xfrm>
          <a:prstGeom prst="rect">
            <a:avLst/>
          </a:prstGeom>
          <a:noFill/>
        </p:spPr>
        <p:txBody>
          <a:bodyPr wrap="none" rtlCol="0">
            <a:spAutoFit/>
          </a:bodyPr>
          <a:lstStyle>
            <a:defPPr>
              <a:defRPr lang="zh-CN"/>
            </a:defPPr>
            <a:lvl1pPr algn="r">
              <a:buClr>
                <a:schemeClr val="accent2"/>
              </a:buClr>
              <a:defRPr sz="2000">
                <a:latin typeface="Cuprum" panose="00000500000000000000" pitchFamily="2" charset="0"/>
                <a:ea typeface="微软雅黑 Light" panose="020B0502040204020203" pitchFamily="34" charset="-122"/>
              </a:defRPr>
            </a:lvl1pPr>
          </a:lstStyle>
          <a:p>
            <a:r>
              <a:rPr lang="zh-CN" altLang="en-US" dirty="0"/>
              <a:t>短波通信</a:t>
            </a:r>
            <a:endParaRPr lang="en-US" dirty="0"/>
          </a:p>
        </p:txBody>
      </p:sp>
      <p:sp>
        <p:nvSpPr>
          <p:cNvPr id="12" name="TextBox 11">
            <a:extLst>
              <a:ext uri="{FF2B5EF4-FFF2-40B4-BE49-F238E27FC236}">
                <a16:creationId xmlns:a16="http://schemas.microsoft.com/office/drawing/2014/main" id="{DBE2BE09-05FF-4053-BA12-1F2E2104539D}"/>
              </a:ext>
            </a:extLst>
          </p:cNvPr>
          <p:cNvSpPr txBox="1"/>
          <p:nvPr/>
        </p:nvSpPr>
        <p:spPr>
          <a:xfrm>
            <a:off x="8406604" y="2643092"/>
            <a:ext cx="954107"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Montserrat" charset="0"/>
              </a:rPr>
              <a:t>超短波</a:t>
            </a:r>
            <a:endParaRPr lang="en-US" sz="2000" dirty="0">
              <a:latin typeface="微软雅黑 Light" panose="020B0502040204020203" pitchFamily="34" charset="-122"/>
              <a:ea typeface="微软雅黑 Light" panose="020B0502040204020203" pitchFamily="34" charset="-122"/>
              <a:cs typeface="Montserrat" charset="0"/>
            </a:endParaRPr>
          </a:p>
        </p:txBody>
      </p:sp>
      <p:sp>
        <p:nvSpPr>
          <p:cNvPr id="15" name="TextBox 17">
            <a:extLst>
              <a:ext uri="{FF2B5EF4-FFF2-40B4-BE49-F238E27FC236}">
                <a16:creationId xmlns:a16="http://schemas.microsoft.com/office/drawing/2014/main" id="{49EE0A68-01C1-4323-93B7-2D3EBE3AB752}"/>
              </a:ext>
            </a:extLst>
          </p:cNvPr>
          <p:cNvSpPr txBox="1"/>
          <p:nvPr/>
        </p:nvSpPr>
        <p:spPr>
          <a:xfrm>
            <a:off x="1866232" y="4360712"/>
            <a:ext cx="1210588"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Montserrat" charset="0"/>
              </a:rPr>
              <a:t>微波通信</a:t>
            </a:r>
            <a:endParaRPr lang="en-US" sz="2000" dirty="0">
              <a:latin typeface="微软雅黑 Light" panose="020B0502040204020203" pitchFamily="34" charset="-122"/>
              <a:ea typeface="微软雅黑 Light" panose="020B0502040204020203" pitchFamily="34" charset="-122"/>
              <a:cs typeface="Montserrat" charset="0"/>
            </a:endParaRPr>
          </a:p>
        </p:txBody>
      </p:sp>
      <p:sp>
        <p:nvSpPr>
          <p:cNvPr id="21" name="Subtitle 2">
            <a:extLst>
              <a:ext uri="{FF2B5EF4-FFF2-40B4-BE49-F238E27FC236}">
                <a16:creationId xmlns:a16="http://schemas.microsoft.com/office/drawing/2014/main" id="{65692C91-C133-41C8-A14F-C0EA6D9FA94A}"/>
              </a:ext>
            </a:extLst>
          </p:cNvPr>
          <p:cNvSpPr txBox="1">
            <a:spLocks/>
          </p:cNvSpPr>
          <p:nvPr/>
        </p:nvSpPr>
        <p:spPr>
          <a:xfrm>
            <a:off x="7602822" y="4628281"/>
            <a:ext cx="2542684" cy="400110"/>
          </a:xfrm>
          <a:prstGeom prst="rect">
            <a:avLst/>
          </a:prstGeom>
          <a:noFill/>
        </p:spPr>
        <p:txBody>
          <a:bodyPr wrap="none" rtlCol="0">
            <a:spAutoFit/>
          </a:bodyPr>
          <a:lstStyle>
            <a:defPPr>
              <a:defRPr lang="zh-CN"/>
            </a:defPPr>
            <a:lvl1pPr algn="ctr">
              <a:buClr>
                <a:schemeClr val="accent2"/>
              </a:buClr>
              <a:defRPr sz="2000">
                <a:latin typeface="Cuprum" panose="00000500000000000000" pitchFamily="2" charset="0"/>
                <a:ea typeface="微软雅黑 Light" panose="020B0502040204020203" pitchFamily="34" charset="-122"/>
              </a:defRPr>
            </a:lvl1pPr>
            <a:lvl2pPr marL="1087636" indent="0" algn="ctr" defTabSz="1087636">
              <a:lnSpc>
                <a:spcPct val="130000"/>
              </a:lnSpc>
              <a:spcBef>
                <a:spcPct val="20000"/>
              </a:spcBef>
              <a:buFont typeface="Arial"/>
              <a:buNone/>
              <a:defRPr sz="3200">
                <a:solidFill>
                  <a:schemeClr val="tx1">
                    <a:tint val="75000"/>
                  </a:schemeClr>
                </a:solidFill>
                <a:latin typeface="Open Sans"/>
                <a:cs typeface="Open Sans"/>
              </a:defRPr>
            </a:lvl2pPr>
            <a:lvl3pPr marL="2175271" indent="0" algn="ctr" defTabSz="1087636">
              <a:lnSpc>
                <a:spcPct val="130000"/>
              </a:lnSpc>
              <a:spcBef>
                <a:spcPct val="20000"/>
              </a:spcBef>
              <a:buFont typeface="Arial"/>
              <a:buNone/>
              <a:defRPr sz="3200">
                <a:solidFill>
                  <a:schemeClr val="tx1">
                    <a:tint val="75000"/>
                  </a:schemeClr>
                </a:solidFill>
                <a:latin typeface="Open Sans"/>
                <a:cs typeface="Open Sans"/>
              </a:defRPr>
            </a:lvl3pPr>
            <a:lvl4pPr marL="3262912" indent="0" algn="ctr" defTabSz="1087636">
              <a:lnSpc>
                <a:spcPct val="130000"/>
              </a:lnSpc>
              <a:spcBef>
                <a:spcPct val="20000"/>
              </a:spcBef>
              <a:buFont typeface="Arial"/>
              <a:buNone/>
              <a:defRPr sz="3200">
                <a:solidFill>
                  <a:schemeClr val="tx1">
                    <a:tint val="75000"/>
                  </a:schemeClr>
                </a:solidFill>
                <a:latin typeface="Open Sans"/>
                <a:cs typeface="Open Sans"/>
              </a:defRPr>
            </a:lvl4pPr>
            <a:lvl5pPr marL="4350546" indent="0" algn="ctr" defTabSz="1087636">
              <a:lnSpc>
                <a:spcPct val="130000"/>
              </a:lnSpc>
              <a:spcBef>
                <a:spcPct val="20000"/>
              </a:spcBef>
              <a:buFont typeface="Arial"/>
              <a:buNone/>
              <a:defRPr sz="3200">
                <a:solidFill>
                  <a:schemeClr val="tx1">
                    <a:tint val="75000"/>
                  </a:schemeClr>
                </a:solidFill>
                <a:latin typeface="Open Sans"/>
                <a:cs typeface="Open Sans"/>
              </a:defRPr>
            </a:lvl5pPr>
            <a:lvl6pPr marL="5438184" indent="0" algn="ctr" defTabSz="1087636">
              <a:spcBef>
                <a:spcPct val="20000"/>
              </a:spcBef>
              <a:buFont typeface="Arial"/>
              <a:buNone/>
              <a:defRPr sz="4800">
                <a:solidFill>
                  <a:schemeClr val="tx1">
                    <a:tint val="75000"/>
                  </a:schemeClr>
                </a:solidFill>
              </a:defRPr>
            </a:lvl6pPr>
            <a:lvl7pPr marL="6525820" indent="0" algn="ctr" defTabSz="1087636">
              <a:spcBef>
                <a:spcPct val="20000"/>
              </a:spcBef>
              <a:buFont typeface="Arial"/>
              <a:buNone/>
              <a:defRPr sz="4800">
                <a:solidFill>
                  <a:schemeClr val="tx1">
                    <a:tint val="75000"/>
                  </a:schemeClr>
                </a:solidFill>
              </a:defRPr>
            </a:lvl7pPr>
            <a:lvl8pPr marL="7613455" indent="0" algn="ctr" defTabSz="1087636">
              <a:spcBef>
                <a:spcPct val="20000"/>
              </a:spcBef>
              <a:buFont typeface="Arial"/>
              <a:buNone/>
              <a:defRPr sz="4800">
                <a:solidFill>
                  <a:schemeClr val="tx1">
                    <a:tint val="75000"/>
                  </a:schemeClr>
                </a:solidFill>
              </a:defRPr>
            </a:lvl8pPr>
            <a:lvl9pPr marL="8701091" indent="0" algn="ctr" defTabSz="1087636">
              <a:spcBef>
                <a:spcPct val="20000"/>
              </a:spcBef>
              <a:buFont typeface="Arial"/>
              <a:buNone/>
              <a:defRPr sz="4800">
                <a:solidFill>
                  <a:schemeClr val="tx1">
                    <a:tint val="75000"/>
                  </a:schemeClr>
                </a:solidFill>
              </a:defRPr>
            </a:lvl9pPr>
          </a:lstStyle>
          <a:p>
            <a:r>
              <a:rPr lang="en-US" dirty="0"/>
              <a:t>Satellite Communication</a:t>
            </a:r>
          </a:p>
        </p:txBody>
      </p:sp>
      <p:sp>
        <p:nvSpPr>
          <p:cNvPr id="22" name="Subtitle 2">
            <a:extLst>
              <a:ext uri="{FF2B5EF4-FFF2-40B4-BE49-F238E27FC236}">
                <a16:creationId xmlns:a16="http://schemas.microsoft.com/office/drawing/2014/main" id="{4793700A-816D-4F02-BD55-1FC7331E19D4}"/>
              </a:ext>
            </a:extLst>
          </p:cNvPr>
          <p:cNvSpPr txBox="1">
            <a:spLocks/>
          </p:cNvSpPr>
          <p:nvPr/>
        </p:nvSpPr>
        <p:spPr>
          <a:xfrm>
            <a:off x="891080" y="4628281"/>
            <a:ext cx="3610284" cy="400110"/>
          </a:xfrm>
          <a:prstGeom prst="rect">
            <a:avLst/>
          </a:prstGeom>
          <a:noFill/>
        </p:spPr>
        <p:txBody>
          <a:bodyPr wrap="none" rtlCol="0">
            <a:spAutoFit/>
          </a:bodyPr>
          <a:lstStyle>
            <a:defPPr>
              <a:defRPr lang="zh-CN"/>
            </a:defPPr>
            <a:lvl1pPr algn="r">
              <a:buClr>
                <a:schemeClr val="accent2"/>
              </a:buClr>
              <a:defRPr sz="2000">
                <a:latin typeface="Cuprum" panose="00000500000000000000" pitchFamily="2" charset="0"/>
                <a:ea typeface="微软雅黑 Light" panose="020B0502040204020203" pitchFamily="34" charset="-122"/>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ctr"/>
            <a:r>
              <a:rPr lang="en-US" altLang="zh-CN" dirty="0"/>
              <a:t>Microwave Communication / Relay </a:t>
            </a:r>
            <a:endParaRPr lang="en-US" dirty="0"/>
          </a:p>
        </p:txBody>
      </p:sp>
      <p:sp>
        <p:nvSpPr>
          <p:cNvPr id="23" name="Subtitle 2">
            <a:extLst>
              <a:ext uri="{FF2B5EF4-FFF2-40B4-BE49-F238E27FC236}">
                <a16:creationId xmlns:a16="http://schemas.microsoft.com/office/drawing/2014/main" id="{80A990ED-989D-4074-ACC3-7D6D9433D7F0}"/>
              </a:ext>
            </a:extLst>
          </p:cNvPr>
          <p:cNvSpPr txBox="1">
            <a:spLocks/>
          </p:cNvSpPr>
          <p:nvPr/>
        </p:nvSpPr>
        <p:spPr>
          <a:xfrm>
            <a:off x="8603769" y="2977669"/>
            <a:ext cx="556563" cy="400110"/>
          </a:xfrm>
          <a:prstGeom prst="rect">
            <a:avLst/>
          </a:prstGeom>
          <a:noFill/>
        </p:spPr>
        <p:txBody>
          <a:bodyPr wrap="none" rtlCol="0">
            <a:spAutoFit/>
          </a:bodyPr>
          <a:lstStyle>
            <a:defPPr>
              <a:defRPr lang="zh-CN"/>
            </a:defPPr>
            <a:lvl1pPr algn="ctr">
              <a:buClr>
                <a:schemeClr val="accent2"/>
              </a:buClr>
              <a:defRPr sz="2000">
                <a:latin typeface="Cuprum" panose="00000500000000000000" pitchFamily="2" charset="0"/>
                <a:ea typeface="微软雅黑 Light" panose="020B0502040204020203" pitchFamily="34" charset="-122"/>
              </a:defRPr>
            </a:lvl1pPr>
            <a:lvl2pPr marL="1087636" indent="0" algn="ctr" defTabSz="1087636">
              <a:lnSpc>
                <a:spcPct val="130000"/>
              </a:lnSpc>
              <a:spcBef>
                <a:spcPct val="20000"/>
              </a:spcBef>
              <a:buFont typeface="Arial"/>
              <a:buNone/>
              <a:defRPr sz="3200">
                <a:solidFill>
                  <a:schemeClr val="tx1">
                    <a:tint val="75000"/>
                  </a:schemeClr>
                </a:solidFill>
                <a:latin typeface="Open Sans"/>
                <a:cs typeface="Open Sans"/>
              </a:defRPr>
            </a:lvl2pPr>
            <a:lvl3pPr marL="2175271" indent="0" algn="ctr" defTabSz="1087636">
              <a:lnSpc>
                <a:spcPct val="130000"/>
              </a:lnSpc>
              <a:spcBef>
                <a:spcPct val="20000"/>
              </a:spcBef>
              <a:buFont typeface="Arial"/>
              <a:buNone/>
              <a:defRPr sz="3200">
                <a:solidFill>
                  <a:schemeClr val="tx1">
                    <a:tint val="75000"/>
                  </a:schemeClr>
                </a:solidFill>
                <a:latin typeface="Open Sans"/>
                <a:cs typeface="Open Sans"/>
              </a:defRPr>
            </a:lvl3pPr>
            <a:lvl4pPr marL="3262912" indent="0" algn="ctr" defTabSz="1087636">
              <a:lnSpc>
                <a:spcPct val="130000"/>
              </a:lnSpc>
              <a:spcBef>
                <a:spcPct val="20000"/>
              </a:spcBef>
              <a:buFont typeface="Arial"/>
              <a:buNone/>
              <a:defRPr sz="3200">
                <a:solidFill>
                  <a:schemeClr val="tx1">
                    <a:tint val="75000"/>
                  </a:schemeClr>
                </a:solidFill>
                <a:latin typeface="Open Sans"/>
                <a:cs typeface="Open Sans"/>
              </a:defRPr>
            </a:lvl4pPr>
            <a:lvl5pPr marL="4350546" indent="0" algn="ctr" defTabSz="1087636">
              <a:lnSpc>
                <a:spcPct val="130000"/>
              </a:lnSpc>
              <a:spcBef>
                <a:spcPct val="20000"/>
              </a:spcBef>
              <a:buFont typeface="Arial"/>
              <a:buNone/>
              <a:defRPr sz="3200">
                <a:solidFill>
                  <a:schemeClr val="tx1">
                    <a:tint val="75000"/>
                  </a:schemeClr>
                </a:solidFill>
                <a:latin typeface="Open Sans"/>
                <a:cs typeface="Open Sans"/>
              </a:defRPr>
            </a:lvl5pPr>
            <a:lvl6pPr marL="5438184" indent="0" algn="ctr" defTabSz="1087636">
              <a:spcBef>
                <a:spcPct val="20000"/>
              </a:spcBef>
              <a:buFont typeface="Arial"/>
              <a:buNone/>
              <a:defRPr sz="4800">
                <a:solidFill>
                  <a:schemeClr val="tx1">
                    <a:tint val="75000"/>
                  </a:schemeClr>
                </a:solidFill>
              </a:defRPr>
            </a:lvl6pPr>
            <a:lvl7pPr marL="6525820" indent="0" algn="ctr" defTabSz="1087636">
              <a:spcBef>
                <a:spcPct val="20000"/>
              </a:spcBef>
              <a:buFont typeface="Arial"/>
              <a:buNone/>
              <a:defRPr sz="4800">
                <a:solidFill>
                  <a:schemeClr val="tx1">
                    <a:tint val="75000"/>
                  </a:schemeClr>
                </a:solidFill>
              </a:defRPr>
            </a:lvl7pPr>
            <a:lvl8pPr marL="7613455" indent="0" algn="ctr" defTabSz="1087636">
              <a:spcBef>
                <a:spcPct val="20000"/>
              </a:spcBef>
              <a:buFont typeface="Arial"/>
              <a:buNone/>
              <a:defRPr sz="4800">
                <a:solidFill>
                  <a:schemeClr val="tx1">
                    <a:tint val="75000"/>
                  </a:schemeClr>
                </a:solidFill>
              </a:defRPr>
            </a:lvl8pPr>
            <a:lvl9pPr marL="8701091" indent="0" algn="ctr" defTabSz="1087636">
              <a:spcBef>
                <a:spcPct val="20000"/>
              </a:spcBef>
              <a:buFont typeface="Arial"/>
              <a:buNone/>
              <a:defRPr sz="4800">
                <a:solidFill>
                  <a:schemeClr val="tx1">
                    <a:tint val="75000"/>
                  </a:schemeClr>
                </a:solidFill>
              </a:defRPr>
            </a:lvl9pPr>
          </a:lstStyle>
          <a:p>
            <a:r>
              <a:rPr lang="en-US" dirty="0"/>
              <a:t>VHF</a:t>
            </a:r>
          </a:p>
        </p:txBody>
      </p:sp>
      <p:sp>
        <p:nvSpPr>
          <p:cNvPr id="24" name="Subtitle 2">
            <a:extLst>
              <a:ext uri="{FF2B5EF4-FFF2-40B4-BE49-F238E27FC236}">
                <a16:creationId xmlns:a16="http://schemas.microsoft.com/office/drawing/2014/main" id="{BBFC2735-B01B-4FF0-B4C5-04953721AEFE}"/>
              </a:ext>
            </a:extLst>
          </p:cNvPr>
          <p:cNvSpPr txBox="1">
            <a:spLocks/>
          </p:cNvSpPr>
          <p:nvPr/>
        </p:nvSpPr>
        <p:spPr>
          <a:xfrm>
            <a:off x="2411807" y="2977669"/>
            <a:ext cx="431528" cy="400110"/>
          </a:xfrm>
          <a:prstGeom prst="rect">
            <a:avLst/>
          </a:prstGeom>
          <a:noFill/>
        </p:spPr>
        <p:txBody>
          <a:bodyPr wrap="none" rtlCol="0">
            <a:spAutoFit/>
          </a:bodyPr>
          <a:lstStyle>
            <a:defPPr>
              <a:defRPr lang="zh-CN"/>
            </a:defPPr>
            <a:lvl1pPr algn="ctr">
              <a:buClr>
                <a:schemeClr val="accent2"/>
              </a:buClr>
              <a:defRPr sz="2000">
                <a:latin typeface="Cuprum" panose="00000500000000000000" pitchFamily="2" charset="0"/>
                <a:ea typeface="微软雅黑 Light" panose="020B0502040204020203" pitchFamily="34" charset="-122"/>
              </a:defRPr>
            </a:lvl1pPr>
            <a:lvl2pPr marL="1087636" indent="0" algn="ctr" defTabSz="1087636">
              <a:lnSpc>
                <a:spcPct val="130000"/>
              </a:lnSpc>
              <a:spcBef>
                <a:spcPct val="20000"/>
              </a:spcBef>
              <a:buFont typeface="Arial"/>
              <a:buNone/>
              <a:defRPr sz="3200">
                <a:solidFill>
                  <a:schemeClr val="tx1">
                    <a:tint val="75000"/>
                  </a:schemeClr>
                </a:solidFill>
                <a:latin typeface="Open Sans"/>
                <a:cs typeface="Open Sans"/>
              </a:defRPr>
            </a:lvl2pPr>
            <a:lvl3pPr marL="2175271" indent="0" algn="ctr" defTabSz="1087636">
              <a:lnSpc>
                <a:spcPct val="130000"/>
              </a:lnSpc>
              <a:spcBef>
                <a:spcPct val="20000"/>
              </a:spcBef>
              <a:buFont typeface="Arial"/>
              <a:buNone/>
              <a:defRPr sz="3200">
                <a:solidFill>
                  <a:schemeClr val="tx1">
                    <a:tint val="75000"/>
                  </a:schemeClr>
                </a:solidFill>
                <a:latin typeface="Open Sans"/>
                <a:cs typeface="Open Sans"/>
              </a:defRPr>
            </a:lvl3pPr>
            <a:lvl4pPr marL="3262912" indent="0" algn="ctr" defTabSz="1087636">
              <a:lnSpc>
                <a:spcPct val="130000"/>
              </a:lnSpc>
              <a:spcBef>
                <a:spcPct val="20000"/>
              </a:spcBef>
              <a:buFont typeface="Arial"/>
              <a:buNone/>
              <a:defRPr sz="3200">
                <a:solidFill>
                  <a:schemeClr val="tx1">
                    <a:tint val="75000"/>
                  </a:schemeClr>
                </a:solidFill>
                <a:latin typeface="Open Sans"/>
                <a:cs typeface="Open Sans"/>
              </a:defRPr>
            </a:lvl4pPr>
            <a:lvl5pPr marL="4350546" indent="0" algn="ctr" defTabSz="1087636">
              <a:lnSpc>
                <a:spcPct val="130000"/>
              </a:lnSpc>
              <a:spcBef>
                <a:spcPct val="20000"/>
              </a:spcBef>
              <a:buFont typeface="Arial"/>
              <a:buNone/>
              <a:defRPr sz="3200">
                <a:solidFill>
                  <a:schemeClr val="tx1">
                    <a:tint val="75000"/>
                  </a:schemeClr>
                </a:solidFill>
                <a:latin typeface="Open Sans"/>
                <a:cs typeface="Open Sans"/>
              </a:defRPr>
            </a:lvl5pPr>
            <a:lvl6pPr marL="5438184" indent="0" algn="ctr" defTabSz="1087636">
              <a:spcBef>
                <a:spcPct val="20000"/>
              </a:spcBef>
              <a:buFont typeface="Arial"/>
              <a:buNone/>
              <a:defRPr sz="4800">
                <a:solidFill>
                  <a:schemeClr val="tx1">
                    <a:tint val="75000"/>
                  </a:schemeClr>
                </a:solidFill>
              </a:defRPr>
            </a:lvl6pPr>
            <a:lvl7pPr marL="6525820" indent="0" algn="ctr" defTabSz="1087636">
              <a:spcBef>
                <a:spcPct val="20000"/>
              </a:spcBef>
              <a:buFont typeface="Arial"/>
              <a:buNone/>
              <a:defRPr sz="4800">
                <a:solidFill>
                  <a:schemeClr val="tx1">
                    <a:tint val="75000"/>
                  </a:schemeClr>
                </a:solidFill>
              </a:defRPr>
            </a:lvl7pPr>
            <a:lvl8pPr marL="7613455" indent="0" algn="ctr" defTabSz="1087636">
              <a:spcBef>
                <a:spcPct val="20000"/>
              </a:spcBef>
              <a:buFont typeface="Arial"/>
              <a:buNone/>
              <a:defRPr sz="4800">
                <a:solidFill>
                  <a:schemeClr val="tx1">
                    <a:tint val="75000"/>
                  </a:schemeClr>
                </a:solidFill>
              </a:defRPr>
            </a:lvl8pPr>
            <a:lvl9pPr marL="8701091" indent="0" algn="ctr" defTabSz="1087636">
              <a:spcBef>
                <a:spcPct val="20000"/>
              </a:spcBef>
              <a:buFont typeface="Arial"/>
              <a:buNone/>
              <a:defRPr sz="4800">
                <a:solidFill>
                  <a:schemeClr val="tx1">
                    <a:tint val="75000"/>
                  </a:schemeClr>
                </a:solidFill>
              </a:defRPr>
            </a:lvl9pPr>
          </a:lstStyle>
          <a:p>
            <a:r>
              <a:rPr lang="en-US" dirty="0"/>
              <a:t>HF</a:t>
            </a:r>
          </a:p>
        </p:txBody>
      </p:sp>
    </p:spTree>
    <p:extLst>
      <p:ext uri="{BB962C8B-B14F-4D97-AF65-F5344CB8AC3E}">
        <p14:creationId xmlns:p14="http://schemas.microsoft.com/office/powerpoint/2010/main" val="38063279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a:extLst>
              <a:ext uri="{FF2B5EF4-FFF2-40B4-BE49-F238E27FC236}">
                <a16:creationId xmlns:a16="http://schemas.microsoft.com/office/drawing/2014/main" id="{0F00FA5F-253B-47EA-8E23-C9C21BF2799B}"/>
              </a:ext>
            </a:extLst>
          </p:cNvPr>
          <p:cNvSpPr txBox="1"/>
          <p:nvPr/>
        </p:nvSpPr>
        <p:spPr>
          <a:xfrm>
            <a:off x="5066710" y="4518477"/>
            <a:ext cx="2058577"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认知无线电</a:t>
            </a:r>
            <a:r>
              <a:rPr lang="en-US" altLang="zh-CN" sz="2000" dirty="0">
                <a:solidFill>
                  <a:schemeClr val="tx1"/>
                </a:solidFill>
                <a:latin typeface="微软雅黑 Light" panose="020B0502040204020203" pitchFamily="34" charset="-122"/>
                <a:ea typeface="微软雅黑 Light" panose="020B0502040204020203" pitchFamily="34" charset="-122"/>
              </a:rPr>
              <a:t>.mp4</a:t>
            </a:r>
          </a:p>
        </p:txBody>
      </p:sp>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传输媒质</a:t>
            </a:r>
            <a:r>
              <a:rPr lang="en-US" altLang="zh-CN" dirty="0"/>
              <a:t>-</a:t>
            </a:r>
            <a:r>
              <a:rPr lang="zh-CN" altLang="en-US" dirty="0"/>
              <a:t>无线电波</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Airwave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5.4</a:t>
            </a:r>
            <a:endParaRPr lang="zh-CN" altLang="en-US" dirty="0"/>
          </a:p>
        </p:txBody>
      </p:sp>
      <p:pic>
        <p:nvPicPr>
          <p:cNvPr id="13" name="图形 12" descr="场记板">
            <a:hlinkClick r:id="rId2" action="ppaction://hlinkfile"/>
            <a:extLst>
              <a:ext uri="{FF2B5EF4-FFF2-40B4-BE49-F238E27FC236}">
                <a16:creationId xmlns:a16="http://schemas.microsoft.com/office/drawing/2014/main" id="{7BC93D16-AD6E-4F53-8C0C-3A63CB9B7CE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38800"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Tree>
    <p:extLst>
      <p:ext uri="{BB962C8B-B14F-4D97-AF65-F5344CB8AC3E}">
        <p14:creationId xmlns:p14="http://schemas.microsoft.com/office/powerpoint/2010/main" val="25300713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a:p>
        </p:txBody>
      </p:sp>
      <p:sp>
        <p:nvSpPr>
          <p:cNvPr id="7" name="TextBox 1214">
            <a:extLst>
              <a:ext uri="{FF2B5EF4-FFF2-40B4-BE49-F238E27FC236}">
                <a16:creationId xmlns:a16="http://schemas.microsoft.com/office/drawing/2014/main" id="{288788B3-79F6-4747-A76B-06C74A66C66D}"/>
              </a:ext>
            </a:extLst>
          </p:cNvPr>
          <p:cNvSpPr txBox="1"/>
          <p:nvPr/>
        </p:nvSpPr>
        <p:spPr>
          <a:xfrm>
            <a:off x="1686462" y="2715350"/>
            <a:ext cx="3877985" cy="830997"/>
          </a:xfrm>
          <a:prstGeom prst="rect">
            <a:avLst/>
          </a:prstGeom>
          <a:noFill/>
        </p:spPr>
        <p:txBody>
          <a:bodyPr wrap="none" rtlCol="0" anchor="ctr" anchorCtr="0">
            <a:spAutoFit/>
          </a:bodyPr>
          <a:lstStyle/>
          <a:p>
            <a:pPr algn="r"/>
            <a:r>
              <a:rPr lang="zh-CN" altLang="en-US" sz="4800" dirty="0">
                <a:latin typeface="Microsoft YaHei Light" panose="020B0502040204020203" pitchFamily="34" charset="-122"/>
                <a:ea typeface="Microsoft YaHei Light" panose="020B0502040204020203" pitchFamily="34" charset="-122"/>
                <a:cs typeface="Montserrat Semi" charset="0"/>
              </a:rPr>
              <a:t>信道复用技术</a:t>
            </a:r>
            <a:endParaRPr lang="en-US" sz="4800" dirty="0">
              <a:latin typeface="Microsoft YaHei Light" panose="020B0502040204020203" pitchFamily="34" charset="-122"/>
              <a:ea typeface="Microsoft YaHei Light" panose="020B0502040204020203"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407034"/>
            <a:ext cx="4512354" cy="412806"/>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IBM Plex Sans Light" panose="020B0403050203000203" pitchFamily="34" charset="0"/>
                <a:ea typeface="Source Sans Pro" charset="0"/>
                <a:cs typeface="Poppins Thin" panose="00000300000000000000" pitchFamily="2" charset="0"/>
              </a:rPr>
              <a:t>Channel multiplexing</a:t>
            </a:r>
            <a:endParaRPr lang="en-US" sz="1800" dirty="0">
              <a:solidFill>
                <a:schemeClr val="tx1"/>
              </a:solidFill>
              <a:latin typeface="IBM Plex Sans Light" panose="020B0403050203000203" pitchFamily="34" charset="0"/>
              <a:ea typeface="Source Sans Pro" charset="0"/>
              <a:cs typeface="Poppins Thin" panose="00000300000000000000" pitchFamily="2" charset="0"/>
            </a:endParaRPr>
          </a:p>
        </p:txBody>
      </p:sp>
      <p:sp>
        <p:nvSpPr>
          <p:cNvPr id="2" name="文本框 1">
            <a:extLst>
              <a:ext uri="{FF2B5EF4-FFF2-40B4-BE49-F238E27FC236}">
                <a16:creationId xmlns:a16="http://schemas.microsoft.com/office/drawing/2014/main" id="{EE31A9A3-C48D-49B3-8BC7-BB9C988490EE}"/>
              </a:ext>
            </a:extLst>
          </p:cNvPr>
          <p:cNvSpPr txBox="1"/>
          <p:nvPr/>
        </p:nvSpPr>
        <p:spPr>
          <a:xfrm>
            <a:off x="2883905" y="4201838"/>
            <a:ext cx="2680542" cy="2246769"/>
          </a:xfrm>
          <a:prstGeom prst="rect">
            <a:avLst/>
          </a:prstGeom>
          <a:noFill/>
        </p:spPr>
        <p:txBody>
          <a:bodyPr wrap="none" rtlCol="0">
            <a:spAutoFit/>
          </a:bodyPr>
          <a:lstStyle/>
          <a:p>
            <a:pPr algn="r">
              <a:spcBef>
                <a:spcPts val="600"/>
              </a:spcBef>
              <a:spcAft>
                <a:spcPts val="600"/>
              </a:spcAft>
            </a:pPr>
            <a:r>
              <a:rPr lang="zh-CN" altLang="en-US" sz="2000" kern="100" dirty="0">
                <a:latin typeface="IBM Plex Sans Light" panose="020B0403050203000203" pitchFamily="34" charset="0"/>
                <a:ea typeface="微软雅黑 Light" panose="020B0502040204020203" pitchFamily="34" charset="-122"/>
                <a:cs typeface="Times New Roman" panose="02020603050405020304" pitchFamily="18" charset="0"/>
              </a:rPr>
              <a:t>频分复用</a:t>
            </a:r>
            <a:r>
              <a:rPr lang="en-US" altLang="zh-CN" sz="2000" kern="100" dirty="0">
                <a:latin typeface="IBM Plex Sans Light" panose="020B0403050203000203" pitchFamily="34" charset="0"/>
                <a:ea typeface="微软雅黑 Light" panose="020B0502040204020203" pitchFamily="34" charset="-122"/>
                <a:cs typeface="Times New Roman" panose="02020603050405020304" pitchFamily="18" charset="0"/>
              </a:rPr>
              <a:t>- FDM</a:t>
            </a:r>
            <a:endParaRPr lang="zh-CN" altLang="en-US" sz="2000" kern="100" dirty="0">
              <a:latin typeface="IBM Plex Sans Light" panose="020B0403050203000203" pitchFamily="34" charset="0"/>
              <a:ea typeface="微软雅黑 Light" panose="020B0502040204020203" pitchFamily="34" charset="-122"/>
              <a:cs typeface="Times New Roman" panose="02020603050405020304" pitchFamily="18" charset="0"/>
            </a:endParaRPr>
          </a:p>
          <a:p>
            <a:pPr algn="r">
              <a:spcBef>
                <a:spcPts val="600"/>
              </a:spcBef>
              <a:spcAft>
                <a:spcPts val="600"/>
              </a:spcAft>
            </a:pPr>
            <a:r>
              <a:rPr lang="zh-CN" altLang="en-US" sz="2000" kern="100" dirty="0">
                <a:latin typeface="IBM Plex Sans Light" panose="020B0403050203000203" pitchFamily="34" charset="0"/>
                <a:ea typeface="微软雅黑 Light" panose="020B0502040204020203" pitchFamily="34" charset="-122"/>
                <a:cs typeface="Times New Roman" panose="02020603050405020304" pitchFamily="18" charset="0"/>
              </a:rPr>
              <a:t>时分复用 </a:t>
            </a:r>
            <a:r>
              <a:rPr lang="en-US" altLang="zh-CN" sz="2000" kern="100" dirty="0">
                <a:latin typeface="IBM Plex Sans Light" panose="020B0403050203000203" pitchFamily="34" charset="0"/>
                <a:ea typeface="微软雅黑 Light" panose="020B0502040204020203" pitchFamily="34" charset="-122"/>
                <a:cs typeface="Times New Roman" panose="02020603050405020304" pitchFamily="18" charset="0"/>
              </a:rPr>
              <a:t>- TDM</a:t>
            </a:r>
          </a:p>
          <a:p>
            <a:pPr algn="r">
              <a:spcBef>
                <a:spcPts val="600"/>
              </a:spcBef>
              <a:spcAft>
                <a:spcPts val="600"/>
              </a:spcAft>
            </a:pPr>
            <a:r>
              <a:rPr lang="zh-CN" altLang="en-US" sz="2000" kern="100" dirty="0">
                <a:latin typeface="IBM Plex Sans Light" panose="020B0403050203000203" pitchFamily="34" charset="0"/>
                <a:ea typeface="微软雅黑 Light" panose="020B0502040204020203" pitchFamily="34" charset="-122"/>
                <a:cs typeface="Times New Roman" panose="02020603050405020304" pitchFamily="18" charset="0"/>
              </a:rPr>
              <a:t>统计时分复用 </a:t>
            </a:r>
            <a:r>
              <a:rPr lang="en-US" altLang="zh-CN" sz="2000" kern="100" dirty="0">
                <a:latin typeface="IBM Plex Sans Light" panose="020B0403050203000203" pitchFamily="34" charset="0"/>
                <a:ea typeface="微软雅黑 Light" panose="020B0502040204020203" pitchFamily="34" charset="-122"/>
                <a:cs typeface="Times New Roman" panose="02020603050405020304" pitchFamily="18" charset="0"/>
              </a:rPr>
              <a:t>- STDM</a:t>
            </a:r>
          </a:p>
          <a:p>
            <a:pPr algn="r">
              <a:spcBef>
                <a:spcPts val="600"/>
              </a:spcBef>
              <a:spcAft>
                <a:spcPts val="600"/>
              </a:spcAft>
            </a:pPr>
            <a:r>
              <a:rPr lang="zh-CN" altLang="en-US" sz="2000" kern="100" dirty="0">
                <a:latin typeface="IBM Plex Sans Light" panose="020B0403050203000203" pitchFamily="34" charset="0"/>
                <a:ea typeface="微软雅黑 Light" panose="020B0502040204020203" pitchFamily="34" charset="-122"/>
                <a:cs typeface="Times New Roman" panose="02020603050405020304" pitchFamily="18" charset="0"/>
              </a:rPr>
              <a:t>波分复用 </a:t>
            </a:r>
            <a:r>
              <a:rPr lang="en-US" altLang="zh-CN" sz="2000" kern="100" dirty="0">
                <a:latin typeface="IBM Plex Sans Light" panose="020B0403050203000203" pitchFamily="34" charset="0"/>
                <a:ea typeface="微软雅黑 Light" panose="020B0502040204020203" pitchFamily="34" charset="-122"/>
                <a:cs typeface="Times New Roman" panose="02020603050405020304" pitchFamily="18" charset="0"/>
              </a:rPr>
              <a:t>- WDM</a:t>
            </a:r>
          </a:p>
          <a:p>
            <a:pPr algn="r">
              <a:spcBef>
                <a:spcPts val="600"/>
              </a:spcBef>
              <a:spcAft>
                <a:spcPts val="600"/>
              </a:spcAft>
            </a:pPr>
            <a:r>
              <a:rPr lang="zh-CN" altLang="en-US" sz="2000" kern="100" dirty="0">
                <a:latin typeface="IBM Plex Sans Light" panose="020B0403050203000203" pitchFamily="34" charset="0"/>
                <a:ea typeface="微软雅黑 Light" panose="020B0502040204020203" pitchFamily="34" charset="-122"/>
                <a:cs typeface="Times New Roman" panose="02020603050405020304" pitchFamily="18" charset="0"/>
              </a:rPr>
              <a:t>码分复用 </a:t>
            </a:r>
            <a:r>
              <a:rPr lang="en-US" altLang="zh-CN" sz="2000" kern="100" dirty="0">
                <a:latin typeface="IBM Plex Sans Light" panose="020B0403050203000203" pitchFamily="34" charset="0"/>
                <a:ea typeface="微软雅黑 Light" panose="020B0502040204020203" pitchFamily="34" charset="-122"/>
                <a:cs typeface="Times New Roman" panose="02020603050405020304" pitchFamily="18" charset="0"/>
              </a:rPr>
              <a:t>- CDM</a:t>
            </a:r>
          </a:p>
        </p:txBody>
      </p:sp>
    </p:spTree>
    <p:extLst>
      <p:ext uri="{BB962C8B-B14F-4D97-AF65-F5344CB8AC3E}">
        <p14:creationId xmlns:p14="http://schemas.microsoft.com/office/powerpoint/2010/main" val="803874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椭圆 5">
            <a:extLst>
              <a:ext uri="{FF2B5EF4-FFF2-40B4-BE49-F238E27FC236}">
                <a16:creationId xmlns:a16="http://schemas.microsoft.com/office/drawing/2014/main" id="{14911BE5-0115-41E9-8FBD-B686178FDF21}"/>
              </a:ext>
            </a:extLst>
          </p:cNvPr>
          <p:cNvSpPr/>
          <p:nvPr/>
        </p:nvSpPr>
        <p:spPr>
          <a:xfrm>
            <a:off x="4009915" y="1356903"/>
            <a:ext cx="4144194" cy="4144194"/>
          </a:xfrm>
          <a:prstGeom prst="ellips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a:extLst>
              <a:ext uri="{FF2B5EF4-FFF2-40B4-BE49-F238E27FC236}">
                <a16:creationId xmlns:a16="http://schemas.microsoft.com/office/drawing/2014/main" id="{CC586747-15A0-4E46-BF16-1F8368E8D836}"/>
              </a:ext>
            </a:extLst>
          </p:cNvPr>
          <p:cNvGrpSpPr/>
          <p:nvPr/>
        </p:nvGrpSpPr>
        <p:grpSpPr>
          <a:xfrm>
            <a:off x="3916748" y="1084930"/>
            <a:ext cx="4535337" cy="4575508"/>
            <a:chOff x="3916748" y="1084930"/>
            <a:chExt cx="4535337" cy="4575508"/>
          </a:xfrm>
        </p:grpSpPr>
        <p:pic>
          <p:nvPicPr>
            <p:cNvPr id="8" name="图片 7">
              <a:extLst>
                <a:ext uri="{FF2B5EF4-FFF2-40B4-BE49-F238E27FC236}">
                  <a16:creationId xmlns:a16="http://schemas.microsoft.com/office/drawing/2014/main" id="{B2E4C5CB-9646-4E5E-ADE1-69DD7A48EA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61522" y="1644978"/>
              <a:ext cx="540000" cy="540000"/>
            </a:xfrm>
            <a:prstGeom prst="rect">
              <a:avLst/>
            </a:prstGeom>
          </p:spPr>
        </p:pic>
        <p:pic>
          <p:nvPicPr>
            <p:cNvPr id="12" name="图片 11">
              <a:extLst>
                <a:ext uri="{FF2B5EF4-FFF2-40B4-BE49-F238E27FC236}">
                  <a16:creationId xmlns:a16="http://schemas.microsoft.com/office/drawing/2014/main" id="{5D2238EA-C4CF-4BB8-B881-27B048CCA8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12085" y="2947010"/>
              <a:ext cx="540000" cy="540000"/>
            </a:xfrm>
            <a:prstGeom prst="rect">
              <a:avLst/>
            </a:prstGeom>
          </p:spPr>
        </p:pic>
        <p:pic>
          <p:nvPicPr>
            <p:cNvPr id="24" name="图片 23">
              <a:extLst>
                <a:ext uri="{FF2B5EF4-FFF2-40B4-BE49-F238E27FC236}">
                  <a16:creationId xmlns:a16="http://schemas.microsoft.com/office/drawing/2014/main" id="{EC47888B-02EA-452D-B5C6-2C3888C89E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58340" y="5203238"/>
              <a:ext cx="457200" cy="457200"/>
            </a:xfrm>
            <a:prstGeom prst="rect">
              <a:avLst/>
            </a:prstGeom>
          </p:spPr>
        </p:pic>
        <p:pic>
          <p:nvPicPr>
            <p:cNvPr id="26" name="图片 25">
              <a:extLst>
                <a:ext uri="{FF2B5EF4-FFF2-40B4-BE49-F238E27FC236}">
                  <a16:creationId xmlns:a16="http://schemas.microsoft.com/office/drawing/2014/main" id="{911B767A-D3E6-4F15-9907-432A48F9DB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02295" y="4444423"/>
              <a:ext cx="457200" cy="457200"/>
            </a:xfrm>
            <a:prstGeom prst="rect">
              <a:avLst/>
            </a:prstGeom>
          </p:spPr>
        </p:pic>
        <p:pic>
          <p:nvPicPr>
            <p:cNvPr id="28" name="图片 27">
              <a:extLst>
                <a:ext uri="{FF2B5EF4-FFF2-40B4-BE49-F238E27FC236}">
                  <a16:creationId xmlns:a16="http://schemas.microsoft.com/office/drawing/2014/main" id="{B6158ABD-05AE-4A41-B443-468B2B3F5B4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131060" y="2040454"/>
              <a:ext cx="485775" cy="457200"/>
            </a:xfrm>
            <a:prstGeom prst="rect">
              <a:avLst/>
            </a:prstGeom>
          </p:spPr>
        </p:pic>
        <p:pic>
          <p:nvPicPr>
            <p:cNvPr id="30" name="图片 29">
              <a:extLst>
                <a:ext uri="{FF2B5EF4-FFF2-40B4-BE49-F238E27FC236}">
                  <a16:creationId xmlns:a16="http://schemas.microsoft.com/office/drawing/2014/main" id="{20689C0B-E5B1-40CA-BA2C-97913F51DA9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791200" y="1084930"/>
              <a:ext cx="457200" cy="457200"/>
            </a:xfrm>
            <a:prstGeom prst="rect">
              <a:avLst/>
            </a:prstGeom>
          </p:spPr>
        </p:pic>
        <p:pic>
          <p:nvPicPr>
            <p:cNvPr id="32" name="图片 31">
              <a:extLst>
                <a:ext uri="{FF2B5EF4-FFF2-40B4-BE49-F238E27FC236}">
                  <a16:creationId xmlns:a16="http://schemas.microsoft.com/office/drawing/2014/main" id="{0DCE7B0F-7346-4CAF-AB40-8A75BF8F692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6748" y="3947441"/>
              <a:ext cx="457200" cy="457200"/>
            </a:xfrm>
            <a:prstGeom prst="rect">
              <a:avLst/>
            </a:prstGeom>
          </p:spPr>
        </p:pic>
      </p:grpSp>
      <p:pic>
        <p:nvPicPr>
          <p:cNvPr id="34" name="图片 33">
            <a:extLst>
              <a:ext uri="{FF2B5EF4-FFF2-40B4-BE49-F238E27FC236}">
                <a16:creationId xmlns:a16="http://schemas.microsoft.com/office/drawing/2014/main" id="{21E5EFDD-FBBB-474D-B40C-A5D36F30B52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791200" y="3124200"/>
            <a:ext cx="609600" cy="609600"/>
          </a:xfrm>
          <a:prstGeom prst="rect">
            <a:avLst/>
          </a:prstGeom>
        </p:spPr>
      </p:pic>
    </p:spTree>
    <p:extLst>
      <p:ext uri="{BB962C8B-B14F-4D97-AF65-F5344CB8AC3E}">
        <p14:creationId xmlns:p14="http://schemas.microsoft.com/office/powerpoint/2010/main" val="2796963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mph" presetSubtype="0" repeatCount="indefinite" fill="hold" nodeType="clickEffect">
                                  <p:stCondLst>
                                    <p:cond delay="0"/>
                                  </p:stCondLst>
                                  <p:endCondLst>
                                    <p:cond evt="onNext" delay="0">
                                      <p:tgtEl>
                                        <p:sldTgt/>
                                      </p:tgtEl>
                                    </p:cond>
                                  </p:endCondLst>
                                  <p:childTnLst>
                                    <p:animRot by="21600000">
                                      <p:cBhvr>
                                        <p:cTn id="6" dur="10000" fill="hold"/>
                                        <p:tgtEl>
                                          <p:spTgt spid="7"/>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45C0EF57-8A90-48DC-A438-9B0A871D3F10}"/>
              </a:ext>
            </a:extLst>
          </p:cNvPr>
          <p:cNvSpPr/>
          <p:nvPr/>
        </p:nvSpPr>
        <p:spPr>
          <a:xfrm>
            <a:off x="623513" y="5292479"/>
            <a:ext cx="1620000" cy="917820"/>
          </a:xfrm>
          <a:prstGeom prst="rect">
            <a:avLst/>
          </a:prstGeom>
          <a:solidFill>
            <a:schemeClr val="accent4">
              <a:lumMod val="60000"/>
              <a:lumOff val="40000"/>
              <a:alpha val="79000"/>
            </a:schemeClr>
          </a:solidFill>
          <a:ln w="28575">
            <a:solidFill>
              <a:schemeClr val="bg1">
                <a:alpha val="80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72D7C669-C9E7-4AE5-BC12-3C505F030CEC}"/>
              </a:ext>
            </a:extLst>
          </p:cNvPr>
          <p:cNvSpPr/>
          <p:nvPr/>
        </p:nvSpPr>
        <p:spPr>
          <a:xfrm>
            <a:off x="2954757" y="4796118"/>
            <a:ext cx="1620000" cy="1414180"/>
          </a:xfrm>
          <a:prstGeom prst="rect">
            <a:avLst/>
          </a:prstGeom>
          <a:solidFill>
            <a:schemeClr val="accent4">
              <a:lumMod val="60000"/>
              <a:lumOff val="40000"/>
              <a:alpha val="79000"/>
            </a:schemeClr>
          </a:solidFill>
          <a:ln w="28575">
            <a:solidFill>
              <a:schemeClr val="bg1">
                <a:alpha val="80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296AF398-412F-47AB-909C-D6FE729F6FF0}"/>
              </a:ext>
            </a:extLst>
          </p:cNvPr>
          <p:cNvSpPr/>
          <p:nvPr/>
        </p:nvSpPr>
        <p:spPr>
          <a:xfrm>
            <a:off x="5286001" y="3191435"/>
            <a:ext cx="1620000" cy="3018864"/>
          </a:xfrm>
          <a:prstGeom prst="rect">
            <a:avLst/>
          </a:prstGeom>
          <a:solidFill>
            <a:schemeClr val="accent4">
              <a:lumMod val="60000"/>
              <a:lumOff val="40000"/>
              <a:alpha val="79000"/>
            </a:schemeClr>
          </a:solidFill>
          <a:ln w="28575">
            <a:solidFill>
              <a:schemeClr val="bg1">
                <a:alpha val="80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5" name="矩形 14">
            <a:extLst>
              <a:ext uri="{FF2B5EF4-FFF2-40B4-BE49-F238E27FC236}">
                <a16:creationId xmlns:a16="http://schemas.microsoft.com/office/drawing/2014/main" id="{E3E37423-8CDF-49E8-80A8-541800713E28}"/>
              </a:ext>
            </a:extLst>
          </p:cNvPr>
          <p:cNvSpPr/>
          <p:nvPr/>
        </p:nvSpPr>
        <p:spPr>
          <a:xfrm>
            <a:off x="7617245" y="2420470"/>
            <a:ext cx="1620000" cy="3789829"/>
          </a:xfrm>
          <a:prstGeom prst="rect">
            <a:avLst/>
          </a:prstGeom>
          <a:solidFill>
            <a:schemeClr val="accent4">
              <a:lumMod val="60000"/>
              <a:lumOff val="40000"/>
              <a:alpha val="79000"/>
            </a:schemeClr>
          </a:solidFill>
          <a:ln w="28575">
            <a:solidFill>
              <a:schemeClr val="bg1">
                <a:alpha val="80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0C0CA4CF-84E7-4668-94CD-A51F0E3B1545}"/>
              </a:ext>
            </a:extLst>
          </p:cNvPr>
          <p:cNvSpPr/>
          <p:nvPr/>
        </p:nvSpPr>
        <p:spPr>
          <a:xfrm>
            <a:off x="9948488" y="806824"/>
            <a:ext cx="1620000" cy="5403476"/>
          </a:xfrm>
          <a:prstGeom prst="rect">
            <a:avLst/>
          </a:prstGeom>
          <a:solidFill>
            <a:schemeClr val="accent4">
              <a:lumMod val="60000"/>
              <a:lumOff val="40000"/>
              <a:alpha val="79000"/>
            </a:schemeClr>
          </a:solidFill>
          <a:ln w="28575">
            <a:solidFill>
              <a:schemeClr val="bg1">
                <a:alpha val="80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5D08D8F-F08C-440B-BE51-27C9D676711A}"/>
              </a:ext>
            </a:extLst>
          </p:cNvPr>
          <p:cNvSpPr txBox="1"/>
          <p:nvPr/>
        </p:nvSpPr>
        <p:spPr>
          <a:xfrm>
            <a:off x="1140805" y="4743456"/>
            <a:ext cx="585417" cy="707886"/>
          </a:xfrm>
          <a:prstGeom prst="rect">
            <a:avLst/>
          </a:prstGeom>
          <a:noFill/>
        </p:spPr>
        <p:txBody>
          <a:bodyPr wrap="none" rtlCol="0">
            <a:spAutoFit/>
          </a:bodyPr>
          <a:lstStyle/>
          <a:p>
            <a:pPr algn="ctr">
              <a:spcBef>
                <a:spcPts val="600"/>
              </a:spcBef>
              <a:spcAft>
                <a:spcPts val="600"/>
              </a:spcAft>
            </a:pPr>
            <a:r>
              <a:rPr lang="en-US" altLang="zh-CN" sz="4000" kern="100" dirty="0">
                <a:latin typeface="Cuprum" panose="00000500000000000000" pitchFamily="2" charset="0"/>
                <a:ea typeface="微软雅黑 Light" panose="020B0502040204020203" pitchFamily="34" charset="-122"/>
                <a:cs typeface="Times New Roman" panose="02020603050405020304" pitchFamily="18" charset="0"/>
              </a:rPr>
              <a:t>1G</a:t>
            </a:r>
            <a:endParaRPr lang="zh-CN" altLang="en-US" sz="4000" kern="100" dirty="0">
              <a:latin typeface="Cuprum"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C06AEA5F-64EA-4004-B38D-36EC61D3F6C8}"/>
              </a:ext>
            </a:extLst>
          </p:cNvPr>
          <p:cNvSpPr txBox="1"/>
          <p:nvPr/>
        </p:nvSpPr>
        <p:spPr>
          <a:xfrm>
            <a:off x="3443996" y="4258237"/>
            <a:ext cx="641522" cy="707886"/>
          </a:xfrm>
          <a:prstGeom prst="rect">
            <a:avLst/>
          </a:prstGeom>
          <a:noFill/>
        </p:spPr>
        <p:txBody>
          <a:bodyPr wrap="none" rtlCol="0">
            <a:spAutoFit/>
          </a:bodyPr>
          <a:lstStyle/>
          <a:p>
            <a:pPr algn="ctr">
              <a:spcBef>
                <a:spcPts val="600"/>
              </a:spcBef>
              <a:spcAft>
                <a:spcPts val="600"/>
              </a:spcAft>
            </a:pPr>
            <a:r>
              <a:rPr lang="en-US" altLang="zh-CN" sz="4000" kern="100" dirty="0">
                <a:latin typeface="Cuprum" panose="00000500000000000000" pitchFamily="2" charset="0"/>
                <a:ea typeface="微软雅黑 Light" panose="020B0502040204020203" pitchFamily="34" charset="-122"/>
                <a:cs typeface="Times New Roman" panose="02020603050405020304" pitchFamily="18" charset="0"/>
              </a:rPr>
              <a:t>2G</a:t>
            </a:r>
            <a:endParaRPr lang="zh-CN" altLang="en-US" sz="4000" kern="100" dirty="0">
              <a:latin typeface="Cuprum"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9265780C-3292-4EDF-B886-9A50FCF034DB}"/>
              </a:ext>
            </a:extLst>
          </p:cNvPr>
          <p:cNvSpPr txBox="1"/>
          <p:nvPr/>
        </p:nvSpPr>
        <p:spPr>
          <a:xfrm>
            <a:off x="5768828" y="2637867"/>
            <a:ext cx="654346" cy="707886"/>
          </a:xfrm>
          <a:prstGeom prst="rect">
            <a:avLst/>
          </a:prstGeom>
          <a:noFill/>
        </p:spPr>
        <p:txBody>
          <a:bodyPr wrap="none" rtlCol="0">
            <a:spAutoFit/>
          </a:bodyPr>
          <a:lstStyle/>
          <a:p>
            <a:pPr algn="ctr">
              <a:spcBef>
                <a:spcPts val="600"/>
              </a:spcBef>
              <a:spcAft>
                <a:spcPts val="600"/>
              </a:spcAft>
            </a:pPr>
            <a:r>
              <a:rPr lang="en-US" altLang="zh-CN" sz="4000" kern="100" dirty="0">
                <a:latin typeface="Cuprum" panose="00000500000000000000" pitchFamily="2" charset="0"/>
                <a:ea typeface="微软雅黑 Light" panose="020B0502040204020203" pitchFamily="34" charset="-122"/>
                <a:cs typeface="Times New Roman" panose="02020603050405020304" pitchFamily="18" charset="0"/>
              </a:rPr>
              <a:t>3G</a:t>
            </a:r>
            <a:endParaRPr lang="zh-CN" altLang="en-US" sz="4000" kern="100" dirty="0">
              <a:latin typeface="Cuprum" panose="00000500000000000000" pitchFamily="2" charset="0"/>
              <a:ea typeface="微软雅黑 Light" panose="020B0502040204020203" pitchFamily="34" charset="-122"/>
              <a:cs typeface="Times New Roman" panose="02020603050405020304" pitchFamily="18" charset="0"/>
            </a:endParaRPr>
          </a:p>
        </p:txBody>
      </p:sp>
      <p:sp>
        <p:nvSpPr>
          <p:cNvPr id="20" name="文本框 19">
            <a:extLst>
              <a:ext uri="{FF2B5EF4-FFF2-40B4-BE49-F238E27FC236}">
                <a16:creationId xmlns:a16="http://schemas.microsoft.com/office/drawing/2014/main" id="{20AA89F5-FC9F-4A21-B7A2-3CE4C20C495D}"/>
              </a:ext>
            </a:extLst>
          </p:cNvPr>
          <p:cNvSpPr txBox="1"/>
          <p:nvPr/>
        </p:nvSpPr>
        <p:spPr>
          <a:xfrm>
            <a:off x="8086447" y="1882590"/>
            <a:ext cx="681597" cy="707886"/>
          </a:xfrm>
          <a:prstGeom prst="rect">
            <a:avLst/>
          </a:prstGeom>
          <a:noFill/>
        </p:spPr>
        <p:txBody>
          <a:bodyPr wrap="none" rtlCol="0">
            <a:spAutoFit/>
          </a:bodyPr>
          <a:lstStyle/>
          <a:p>
            <a:pPr algn="ctr">
              <a:spcBef>
                <a:spcPts val="600"/>
              </a:spcBef>
              <a:spcAft>
                <a:spcPts val="600"/>
              </a:spcAft>
            </a:pPr>
            <a:r>
              <a:rPr lang="en-US" altLang="zh-CN" sz="4000" kern="100" dirty="0">
                <a:latin typeface="Cuprum" panose="00000500000000000000" pitchFamily="2" charset="0"/>
                <a:ea typeface="微软雅黑 Light" panose="020B0502040204020203" pitchFamily="34" charset="-122"/>
                <a:cs typeface="Times New Roman" panose="02020603050405020304" pitchFamily="18" charset="0"/>
              </a:rPr>
              <a:t>4G</a:t>
            </a:r>
            <a:endParaRPr lang="zh-CN" altLang="en-US" sz="4000" kern="100" dirty="0">
              <a:latin typeface="Cuprum" panose="00000500000000000000" pitchFamily="2" charset="0"/>
              <a:ea typeface="微软雅黑 Light" panose="020B0502040204020203" pitchFamily="34" charset="-122"/>
              <a:cs typeface="Times New Roman" panose="02020603050405020304" pitchFamily="18" charset="0"/>
            </a:endParaRPr>
          </a:p>
        </p:txBody>
      </p:sp>
      <p:sp>
        <p:nvSpPr>
          <p:cNvPr id="21" name="文本框 20">
            <a:extLst>
              <a:ext uri="{FF2B5EF4-FFF2-40B4-BE49-F238E27FC236}">
                <a16:creationId xmlns:a16="http://schemas.microsoft.com/office/drawing/2014/main" id="{060AA036-F12F-4360-89EA-3636B8B22D67}"/>
              </a:ext>
            </a:extLst>
          </p:cNvPr>
          <p:cNvSpPr txBox="1"/>
          <p:nvPr/>
        </p:nvSpPr>
        <p:spPr>
          <a:xfrm>
            <a:off x="10424102" y="268940"/>
            <a:ext cx="668773" cy="707886"/>
          </a:xfrm>
          <a:prstGeom prst="rect">
            <a:avLst/>
          </a:prstGeom>
          <a:noFill/>
        </p:spPr>
        <p:txBody>
          <a:bodyPr wrap="none" rtlCol="0">
            <a:spAutoFit/>
          </a:bodyPr>
          <a:lstStyle/>
          <a:p>
            <a:pPr algn="ctr">
              <a:spcBef>
                <a:spcPts val="600"/>
              </a:spcBef>
              <a:spcAft>
                <a:spcPts val="600"/>
              </a:spcAft>
            </a:pPr>
            <a:r>
              <a:rPr lang="en-US" altLang="zh-CN" sz="4000" kern="100" dirty="0">
                <a:latin typeface="Cuprum" panose="00000500000000000000" pitchFamily="2" charset="0"/>
                <a:ea typeface="微软雅黑 Light" panose="020B0502040204020203" pitchFamily="34" charset="-122"/>
                <a:cs typeface="Times New Roman" panose="02020603050405020304" pitchFamily="18" charset="0"/>
              </a:rPr>
              <a:t>5G</a:t>
            </a:r>
            <a:endParaRPr lang="zh-CN" altLang="en-US" sz="4000" kern="100" dirty="0">
              <a:latin typeface="Cuprum" panose="00000500000000000000" pitchFamily="2" charset="0"/>
              <a:ea typeface="微软雅黑 Light" panose="020B0502040204020203" pitchFamily="34" charset="-122"/>
              <a:cs typeface="Times New Roman" panose="02020603050405020304" pitchFamily="18" charset="0"/>
            </a:endParaRPr>
          </a:p>
        </p:txBody>
      </p:sp>
      <p:pic>
        <p:nvPicPr>
          <p:cNvPr id="6" name="图片 5">
            <a:extLst>
              <a:ext uri="{FF2B5EF4-FFF2-40B4-BE49-F238E27FC236}">
                <a16:creationId xmlns:a16="http://schemas.microsoft.com/office/drawing/2014/main" id="{5A93C427-67CB-4233-ACD7-BC1E11CD3F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1128712" y="5600700"/>
            <a:ext cx="609600" cy="6096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CE716652-0F70-4ECE-A944-6E7661308F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59957" y="5600700"/>
            <a:ext cx="609600" cy="609600"/>
          </a:xfrm>
          <a:prstGeom prst="rect">
            <a:avLst/>
          </a:prstGeom>
          <a:effectLst>
            <a:outerShdw blurRad="50800" dist="38100" dir="2700000" algn="tl" rotWithShape="0">
              <a:prstClr val="black">
                <a:alpha val="40000"/>
              </a:prstClr>
            </a:outerShdw>
          </a:effectLst>
        </p:spPr>
      </p:pic>
      <p:pic>
        <p:nvPicPr>
          <p:cNvPr id="11" name="图片 10">
            <a:extLst>
              <a:ext uri="{FF2B5EF4-FFF2-40B4-BE49-F238E27FC236}">
                <a16:creationId xmlns:a16="http://schemas.microsoft.com/office/drawing/2014/main" id="{960599EA-B9C3-47D8-B25B-BAB76FDC6D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1200" y="5600700"/>
            <a:ext cx="609600" cy="609600"/>
          </a:xfrm>
          <a:prstGeom prst="rect">
            <a:avLst/>
          </a:prstGeom>
          <a:effectLst>
            <a:outerShdw blurRad="50800" dist="38100" dir="2700000" algn="tl" rotWithShape="0">
              <a:prstClr val="black">
                <a:alpha val="40000"/>
              </a:prstClr>
            </a:outerShdw>
          </a:effectLst>
        </p:spPr>
      </p:pic>
      <p:pic>
        <p:nvPicPr>
          <p:cNvPr id="22" name="图片 21">
            <a:extLst>
              <a:ext uri="{FF2B5EF4-FFF2-40B4-BE49-F238E27FC236}">
                <a16:creationId xmlns:a16="http://schemas.microsoft.com/office/drawing/2014/main" id="{369D78EF-2861-4D60-96B2-0BF82472FC7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122444" y="5600700"/>
            <a:ext cx="609600" cy="609600"/>
          </a:xfrm>
          <a:prstGeom prst="rect">
            <a:avLst/>
          </a:prstGeom>
          <a:effectLst>
            <a:outerShdw blurRad="50800" dist="38100" dir="2700000" algn="tl" rotWithShape="0">
              <a:prstClr val="black">
                <a:alpha val="40000"/>
              </a:prstClr>
            </a:outerShdw>
          </a:effectLst>
        </p:spPr>
      </p:pic>
      <p:pic>
        <p:nvPicPr>
          <p:cNvPr id="25" name="图片 24">
            <a:extLst>
              <a:ext uri="{FF2B5EF4-FFF2-40B4-BE49-F238E27FC236}">
                <a16:creationId xmlns:a16="http://schemas.microsoft.com/office/drawing/2014/main" id="{F856EC9C-71C2-480E-88F8-BA6EFEED67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453687" y="5600700"/>
            <a:ext cx="609600" cy="609600"/>
          </a:xfrm>
          <a:prstGeom prst="rect">
            <a:avLst/>
          </a:prstGeom>
          <a:effectLst>
            <a:outerShdw blurRad="50800" dist="38100" dir="2700000" algn="tl" rotWithShape="0">
              <a:prstClr val="black">
                <a:alpha val="40000"/>
              </a:prstClr>
            </a:outerShdw>
          </a:effectLst>
        </p:spPr>
      </p:pic>
      <p:sp>
        <p:nvSpPr>
          <p:cNvPr id="3" name="文本框 2">
            <a:extLst>
              <a:ext uri="{FF2B5EF4-FFF2-40B4-BE49-F238E27FC236}">
                <a16:creationId xmlns:a16="http://schemas.microsoft.com/office/drawing/2014/main" id="{C3591528-E463-4D37-A791-45F0778C5CA2}"/>
              </a:ext>
            </a:extLst>
          </p:cNvPr>
          <p:cNvSpPr txBox="1"/>
          <p:nvPr/>
        </p:nvSpPr>
        <p:spPr>
          <a:xfrm>
            <a:off x="5330407" y="4067830"/>
            <a:ext cx="1531188" cy="1046440"/>
          </a:xfrm>
          <a:prstGeom prst="rect">
            <a:avLst/>
          </a:prstGeom>
          <a:noFill/>
        </p:spPr>
        <p:txBody>
          <a:bodyPr wrap="none" rtlCol="0">
            <a:spAutoFit/>
          </a:bodyPr>
          <a:lstStyle/>
          <a:p>
            <a:pPr algn="l">
              <a:spcBef>
                <a:spcPts val="600"/>
              </a:spcBef>
              <a:spcAft>
                <a:spcPts val="600"/>
              </a:spcAft>
            </a:pPr>
            <a:r>
              <a:rPr lang="zh-CN" altLang="en-US"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电信</a:t>
            </a:r>
            <a:r>
              <a:rPr lang="en-US" altLang="zh-CN"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-CDMA2000</a:t>
            </a:r>
          </a:p>
          <a:p>
            <a:pPr algn="l">
              <a:spcBef>
                <a:spcPts val="600"/>
              </a:spcBef>
              <a:spcAft>
                <a:spcPts val="600"/>
              </a:spcAft>
            </a:pPr>
            <a:r>
              <a:rPr lang="zh-CN" altLang="en-US"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联通</a:t>
            </a:r>
            <a:r>
              <a:rPr lang="en-US" altLang="zh-CN"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-WCDMA</a:t>
            </a:r>
          </a:p>
          <a:p>
            <a:pPr algn="l">
              <a:spcBef>
                <a:spcPts val="600"/>
              </a:spcBef>
              <a:spcAft>
                <a:spcPts val="600"/>
              </a:spcAft>
            </a:pPr>
            <a:r>
              <a:rPr lang="zh-CN" altLang="en-US"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移动</a:t>
            </a:r>
            <a:r>
              <a:rPr lang="en-US" altLang="zh-CN"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-TD-SCDMA</a:t>
            </a:r>
            <a:endParaRPr lang="zh-CN" altLang="en-US" sz="1400" kern="100" dirty="0">
              <a:effectLst>
                <a:outerShdw blurRad="50800" dist="38100" dir="2700000" algn="tl" rotWithShape="0">
                  <a:prstClr val="black">
                    <a:alpha val="40000"/>
                  </a:prstClr>
                </a:outerShdw>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23" name="文本框 22">
            <a:extLst>
              <a:ext uri="{FF2B5EF4-FFF2-40B4-BE49-F238E27FC236}">
                <a16:creationId xmlns:a16="http://schemas.microsoft.com/office/drawing/2014/main" id="{406474F5-4E5E-4829-A52A-B4DDF90D35AC}"/>
              </a:ext>
            </a:extLst>
          </p:cNvPr>
          <p:cNvSpPr txBox="1"/>
          <p:nvPr/>
        </p:nvSpPr>
        <p:spPr>
          <a:xfrm>
            <a:off x="2999163" y="4942191"/>
            <a:ext cx="1104790" cy="677108"/>
          </a:xfrm>
          <a:prstGeom prst="rect">
            <a:avLst/>
          </a:prstGeom>
          <a:noFill/>
        </p:spPr>
        <p:txBody>
          <a:bodyPr wrap="none" rtlCol="0">
            <a:spAutoFit/>
          </a:bodyPr>
          <a:lstStyle/>
          <a:p>
            <a:pPr algn="l">
              <a:spcBef>
                <a:spcPts val="600"/>
              </a:spcBef>
              <a:spcAft>
                <a:spcPts val="600"/>
              </a:spcAft>
            </a:pPr>
            <a:r>
              <a:rPr lang="en-US" altLang="zh-CN"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GSM-TDMA</a:t>
            </a:r>
          </a:p>
          <a:p>
            <a:pPr algn="l">
              <a:spcBef>
                <a:spcPts val="600"/>
              </a:spcBef>
              <a:spcAft>
                <a:spcPts val="600"/>
              </a:spcAft>
            </a:pPr>
            <a:r>
              <a:rPr lang="en-US" altLang="zh-CN" sz="1400" kern="1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cs typeface="Times New Roman" panose="02020603050405020304" pitchFamily="18" charset="0"/>
              </a:rPr>
              <a:t>CDMA</a:t>
            </a:r>
            <a:endParaRPr lang="zh-CN" altLang="en-US" sz="1400" kern="100" dirty="0">
              <a:effectLst>
                <a:outerShdw blurRad="50800" dist="38100" dir="2700000" algn="tl" rotWithShape="0">
                  <a:prstClr val="black">
                    <a:alpha val="40000"/>
                  </a:prstClr>
                </a:outerShdw>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24" name="文本框 23">
            <a:extLst>
              <a:ext uri="{FF2B5EF4-FFF2-40B4-BE49-F238E27FC236}">
                <a16:creationId xmlns:a16="http://schemas.microsoft.com/office/drawing/2014/main" id="{11381690-3DDB-4289-98EA-22D72D4E3C62}"/>
              </a:ext>
            </a:extLst>
          </p:cNvPr>
          <p:cNvSpPr txBox="1"/>
          <p:nvPr/>
        </p:nvSpPr>
        <p:spPr>
          <a:xfrm>
            <a:off x="635604" y="5335243"/>
            <a:ext cx="660758" cy="307777"/>
          </a:xfrm>
          <a:prstGeom prst="rect">
            <a:avLst/>
          </a:prstGeom>
          <a:noFill/>
        </p:spPr>
        <p:txBody>
          <a:bodyPr wrap="none" rtlCol="0">
            <a:spAutoFit/>
          </a:bodyPr>
          <a:lstStyle/>
          <a:p>
            <a:pPr algn="l">
              <a:spcBef>
                <a:spcPts val="600"/>
              </a:spcBef>
              <a:spcAft>
                <a:spcPts val="600"/>
              </a:spcAft>
            </a:pPr>
            <a:r>
              <a:rPr lang="en-US" altLang="zh-CN"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FDMA</a:t>
            </a:r>
            <a:endParaRPr lang="zh-CN" altLang="en-US" sz="1400" kern="100" dirty="0">
              <a:effectLst>
                <a:outerShdw blurRad="50800" dist="38100" dir="2700000" algn="tl" rotWithShape="0">
                  <a:prstClr val="black">
                    <a:alpha val="40000"/>
                  </a:prstClr>
                </a:outerShdw>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9AA20089-889D-4270-9CA5-B9865E88CFF4}"/>
              </a:ext>
            </a:extLst>
          </p:cNvPr>
          <p:cNvSpPr txBox="1"/>
          <p:nvPr/>
        </p:nvSpPr>
        <p:spPr>
          <a:xfrm>
            <a:off x="7661650" y="3917903"/>
            <a:ext cx="737702" cy="677108"/>
          </a:xfrm>
          <a:prstGeom prst="rect">
            <a:avLst/>
          </a:prstGeom>
          <a:noFill/>
        </p:spPr>
        <p:txBody>
          <a:bodyPr wrap="none" rtlCol="0">
            <a:spAutoFit/>
          </a:bodyPr>
          <a:lstStyle/>
          <a:p>
            <a:pPr algn="l">
              <a:spcBef>
                <a:spcPts val="600"/>
              </a:spcBef>
              <a:spcAft>
                <a:spcPts val="600"/>
              </a:spcAft>
            </a:pPr>
            <a:r>
              <a:rPr lang="en-US" altLang="zh-CN" sz="1400" dirty="0">
                <a:effectLst>
                  <a:outerShdw blurRad="50800" dist="38100" dir="2700000" algn="tl" rotWithShape="0">
                    <a:prstClr val="black">
                      <a:alpha val="40000"/>
                    </a:prstClr>
                  </a:outerShdw>
                </a:effectLst>
                <a:latin typeface="IBM Plex Sans Light" panose="020B0403050203000203" pitchFamily="34" charset="0"/>
                <a:ea typeface="微软雅黑 Light" panose="020B0502040204020203" pitchFamily="34" charset="-122"/>
              </a:rPr>
              <a:t>LTE</a:t>
            </a:r>
          </a:p>
          <a:p>
            <a:pPr algn="l">
              <a:spcBef>
                <a:spcPts val="600"/>
              </a:spcBef>
              <a:spcAft>
                <a:spcPts val="600"/>
              </a:spcAft>
            </a:pPr>
            <a:r>
              <a:rPr lang="en-US" altLang="zh-CN" sz="1400" kern="100" dirty="0" err="1">
                <a:effectLst>
                  <a:outerShdw blurRad="50800" dist="38100" dir="2700000" algn="tl" rotWithShape="0">
                    <a:prstClr val="black">
                      <a:alpha val="40000"/>
                    </a:prstClr>
                  </a:outerShdw>
                </a:effectLst>
                <a:latin typeface="微软雅黑 Light" panose="020B0502040204020203" pitchFamily="34" charset="-122"/>
                <a:ea typeface="微软雅黑 Light" panose="020B0502040204020203" pitchFamily="34" charset="-122"/>
                <a:cs typeface="Times New Roman" panose="02020603050405020304" pitchFamily="18" charset="0"/>
              </a:rPr>
              <a:t>WiMax</a:t>
            </a:r>
            <a:endParaRPr lang="zh-CN" altLang="en-US" sz="1400" kern="100" dirty="0">
              <a:effectLst>
                <a:outerShdw blurRad="50800" dist="38100" dir="2700000" algn="tl" rotWithShape="0">
                  <a:prstClr val="black">
                    <a:alpha val="40000"/>
                  </a:prstClr>
                </a:outerShdw>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853952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3BADF70E-6BD5-41D9-9CFB-2D63C507C65C}"/>
              </a:ext>
            </a:extLst>
          </p:cNvPr>
          <p:cNvSpPr txBox="1"/>
          <p:nvPr/>
        </p:nvSpPr>
        <p:spPr>
          <a:xfrm>
            <a:off x="2932843" y="5595037"/>
            <a:ext cx="1011815" cy="400110"/>
          </a:xfrm>
          <a:prstGeom prst="rect">
            <a:avLst/>
          </a:prstGeom>
          <a:noFill/>
        </p:spPr>
        <p:txBody>
          <a:bodyPr wrap="none" rtlCol="0">
            <a:spAutoFit/>
          </a:bodyPr>
          <a:lstStyle/>
          <a:p>
            <a:pPr algn="l">
              <a:spcBef>
                <a:spcPts val="600"/>
              </a:spcBef>
              <a:spcAft>
                <a:spcPts val="600"/>
              </a:spcAft>
            </a:pP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2850</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万</a:t>
            </a:r>
          </a:p>
        </p:txBody>
      </p:sp>
      <p:pic>
        <p:nvPicPr>
          <p:cNvPr id="8" name="图片 7">
            <a:extLst>
              <a:ext uri="{FF2B5EF4-FFF2-40B4-BE49-F238E27FC236}">
                <a16:creationId xmlns:a16="http://schemas.microsoft.com/office/drawing/2014/main" id="{61853DD1-31BB-4DAF-87A8-5B78B07F58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42835" y="5615092"/>
            <a:ext cx="360000" cy="360000"/>
          </a:xfrm>
          <a:prstGeom prst="rect">
            <a:avLst/>
          </a:prstGeom>
          <a:effectLst>
            <a:outerShdw blurRad="50800" dist="38100" dir="2700000" algn="tl" rotWithShape="0">
              <a:prstClr val="black">
                <a:alpha val="40000"/>
              </a:prstClr>
            </a:outerShdw>
          </a:effectLst>
        </p:spPr>
      </p:pic>
      <p:pic>
        <p:nvPicPr>
          <p:cNvPr id="12" name="图片 11">
            <a:extLst>
              <a:ext uri="{FF2B5EF4-FFF2-40B4-BE49-F238E27FC236}">
                <a16:creationId xmlns:a16="http://schemas.microsoft.com/office/drawing/2014/main" id="{DD989633-A2F6-4169-B768-641EE04D87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5939" y="5615092"/>
            <a:ext cx="360000" cy="360000"/>
          </a:xfrm>
          <a:prstGeom prst="rect">
            <a:avLst/>
          </a:prstGeom>
          <a:effectLst>
            <a:outerShdw blurRad="50800" dist="38100" dir="2700000" algn="tl" rotWithShape="0">
              <a:prstClr val="black">
                <a:alpha val="40000"/>
              </a:prstClr>
            </a:outerShdw>
          </a:effectLst>
        </p:spPr>
      </p:pic>
      <p:pic>
        <p:nvPicPr>
          <p:cNvPr id="27" name="图片 26">
            <a:extLst>
              <a:ext uri="{FF2B5EF4-FFF2-40B4-BE49-F238E27FC236}">
                <a16:creationId xmlns:a16="http://schemas.microsoft.com/office/drawing/2014/main" id="{59B89BF0-F80A-4935-B1F8-80D39F7C59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37865" y="5615092"/>
            <a:ext cx="360000" cy="360000"/>
          </a:xfrm>
          <a:prstGeom prst="rect">
            <a:avLst/>
          </a:prstGeom>
          <a:effectLst>
            <a:outerShdw blurRad="50800" dist="38100" dir="2700000" algn="tl" rotWithShape="0">
              <a:prstClr val="black">
                <a:alpha val="40000"/>
              </a:prstClr>
            </a:outerShdw>
          </a:effectLst>
        </p:spPr>
      </p:pic>
      <p:pic>
        <p:nvPicPr>
          <p:cNvPr id="29" name="图片 28">
            <a:extLst>
              <a:ext uri="{FF2B5EF4-FFF2-40B4-BE49-F238E27FC236}">
                <a16:creationId xmlns:a16="http://schemas.microsoft.com/office/drawing/2014/main" id="{48E6233A-4FF8-424E-9948-24A78DCEA4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3936" y="5615092"/>
            <a:ext cx="360000" cy="360000"/>
          </a:xfrm>
          <a:prstGeom prst="rect">
            <a:avLst/>
          </a:prstGeom>
          <a:effectLst>
            <a:outerShdw blurRad="50800" dist="38100" dir="2700000" algn="tl" rotWithShape="0">
              <a:prstClr val="black">
                <a:alpha val="40000"/>
              </a:prstClr>
            </a:outerShdw>
          </a:effectLst>
        </p:spPr>
      </p:pic>
      <p:sp>
        <p:nvSpPr>
          <p:cNvPr id="30" name="文本框 29">
            <a:extLst>
              <a:ext uri="{FF2B5EF4-FFF2-40B4-BE49-F238E27FC236}">
                <a16:creationId xmlns:a16="http://schemas.microsoft.com/office/drawing/2014/main" id="{A07475C2-8257-4737-9836-E8EA90266329}"/>
              </a:ext>
            </a:extLst>
          </p:cNvPr>
          <p:cNvSpPr txBox="1"/>
          <p:nvPr/>
        </p:nvSpPr>
        <p:spPr>
          <a:xfrm>
            <a:off x="4687402" y="5595037"/>
            <a:ext cx="990977" cy="400110"/>
          </a:xfrm>
          <a:prstGeom prst="rect">
            <a:avLst/>
          </a:prstGeom>
          <a:noFill/>
        </p:spPr>
        <p:txBody>
          <a:bodyPr wrap="none" rtlCol="0">
            <a:spAutoFit/>
          </a:bodyPr>
          <a:lstStyle/>
          <a:p>
            <a:pPr algn="l">
              <a:spcBef>
                <a:spcPts val="600"/>
              </a:spcBef>
              <a:spcAft>
                <a:spcPts val="600"/>
              </a:spcAft>
            </a:pP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124.1</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万</a:t>
            </a:r>
          </a:p>
        </p:txBody>
      </p:sp>
      <p:sp>
        <p:nvSpPr>
          <p:cNvPr id="31" name="文本框 30">
            <a:extLst>
              <a:ext uri="{FF2B5EF4-FFF2-40B4-BE49-F238E27FC236}">
                <a16:creationId xmlns:a16="http://schemas.microsoft.com/office/drawing/2014/main" id="{BDB4434D-AC64-4B9C-9103-29BBB3A42A2B}"/>
              </a:ext>
            </a:extLst>
          </p:cNvPr>
          <p:cNvSpPr txBox="1"/>
          <p:nvPr/>
        </p:nvSpPr>
        <p:spPr>
          <a:xfrm>
            <a:off x="6421123" y="5595037"/>
            <a:ext cx="1010213" cy="400110"/>
          </a:xfrm>
          <a:prstGeom prst="rect">
            <a:avLst/>
          </a:prstGeom>
          <a:noFill/>
        </p:spPr>
        <p:txBody>
          <a:bodyPr wrap="none" rtlCol="0">
            <a:spAutoFit/>
          </a:bodyPr>
          <a:lstStyle/>
          <a:p>
            <a:pPr algn="l">
              <a:spcBef>
                <a:spcPts val="600"/>
              </a:spcBef>
              <a:spcAft>
                <a:spcPts val="600"/>
              </a:spcAft>
            </a:pP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45.2 </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万</a:t>
            </a:r>
          </a:p>
        </p:txBody>
      </p:sp>
      <p:sp>
        <p:nvSpPr>
          <p:cNvPr id="32" name="文本框 31">
            <a:extLst>
              <a:ext uri="{FF2B5EF4-FFF2-40B4-BE49-F238E27FC236}">
                <a16:creationId xmlns:a16="http://schemas.microsoft.com/office/drawing/2014/main" id="{867F38AE-DB6E-4167-B3C0-370A569C060D}"/>
              </a:ext>
            </a:extLst>
          </p:cNvPr>
          <p:cNvSpPr txBox="1"/>
          <p:nvPr/>
        </p:nvSpPr>
        <p:spPr>
          <a:xfrm>
            <a:off x="8174082" y="5595037"/>
            <a:ext cx="1475084" cy="400110"/>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转发 </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16.9</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万</a:t>
            </a:r>
          </a:p>
        </p:txBody>
      </p:sp>
      <p:sp>
        <p:nvSpPr>
          <p:cNvPr id="35" name="文本框 34">
            <a:extLst>
              <a:ext uri="{FF2B5EF4-FFF2-40B4-BE49-F238E27FC236}">
                <a16:creationId xmlns:a16="http://schemas.microsoft.com/office/drawing/2014/main" id="{5FB6BAA1-90E3-4AC7-BB25-408A3EFAA812}"/>
              </a:ext>
            </a:extLst>
          </p:cNvPr>
          <p:cNvSpPr txBox="1"/>
          <p:nvPr/>
        </p:nvSpPr>
        <p:spPr>
          <a:xfrm>
            <a:off x="2542834" y="3742763"/>
            <a:ext cx="3066865" cy="1323439"/>
          </a:xfrm>
          <a:prstGeom prst="rect">
            <a:avLst/>
          </a:prstGeom>
          <a:noFill/>
        </p:spPr>
        <p:txBody>
          <a:bodyPr wrap="none" rtlCol="0">
            <a:spAutoFit/>
          </a:bodyPr>
          <a:lstStyle/>
          <a:p>
            <a:pPr>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脱口秀主持人特雷弗</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诺亚</a:t>
            </a:r>
          </a:p>
          <a:p>
            <a:pPr>
              <a:spcBef>
                <a:spcPts val="600"/>
              </a:spcBef>
              <a:spcAft>
                <a:spcPts val="600"/>
              </a:spcAft>
            </a:pP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Trevor Noah</a:t>
            </a:r>
          </a:p>
          <a:p>
            <a:pPr algn="l">
              <a:spcBef>
                <a:spcPts val="600"/>
              </a:spcBef>
              <a:spcAft>
                <a:spcPts val="600"/>
              </a:spcAft>
            </a:pP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The Daily Show</a:t>
            </a:r>
            <a:endPar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pic>
        <p:nvPicPr>
          <p:cNvPr id="1026" name="Picture 2" descr="特雷弗·诺亚">
            <a:hlinkClick r:id="rId6" action="ppaction://hlinkfile"/>
            <a:extLst>
              <a:ext uri="{FF2B5EF4-FFF2-40B4-BE49-F238E27FC236}">
                <a16:creationId xmlns:a16="http://schemas.microsoft.com/office/drawing/2014/main" id="{A0CCA6A6-7D9C-4CCC-8DF7-7836D9EC010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49166" y="838200"/>
            <a:ext cx="3600000" cy="4500000"/>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88655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930924" cy="3785652"/>
          </a:xfrm>
          <a:prstGeom prst="rect">
            <a:avLst/>
          </a:prstGeom>
          <a:noFill/>
        </p:spPr>
        <p:txBody>
          <a:bodyPr wrap="none" rtlCol="0">
            <a:spAutoFit/>
          </a:bodyPr>
          <a:lstStyle/>
          <a:p>
            <a:pPr algn="l"/>
            <a:r>
              <a:rPr lang="zh-CN" altLang="en-US" sz="2000" dirty="0">
                <a:latin typeface="IBM Plex Sans Light" panose="020B0403050203000203" pitchFamily="34" charset="0"/>
                <a:ea typeface="微软雅黑 Light" panose="020B0502040204020203" pitchFamily="34" charset="-122"/>
              </a:rPr>
              <a:t>含义：</a:t>
            </a:r>
            <a:r>
              <a:rPr lang="zh-CN" altLang="en-US" sz="2000" dirty="0">
                <a:solidFill>
                  <a:schemeClr val="tx1"/>
                </a:solidFill>
                <a:latin typeface="IBM Plex Sans Light" panose="020B0403050203000203" pitchFamily="34" charset="0"/>
                <a:ea typeface="微软雅黑 Light" panose="020B0502040204020203" pitchFamily="34" charset="-122"/>
              </a:rPr>
              <a:t>将若干个彼此独立的信号，合并为一个，在同一信道上同时传输的信号处理技术</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algn="l"/>
            <a:endParaRPr lang="en-US" altLang="zh-CN" sz="2000" dirty="0">
              <a:latin typeface="IBM Plex Sans Light" panose="020B0403050203000203" pitchFamily="34" charset="0"/>
              <a:ea typeface="微软雅黑 Light" panose="020B0502040204020203" pitchFamily="34" charset="-122"/>
            </a:endParaRPr>
          </a:p>
          <a:p>
            <a:pPr algn="l"/>
            <a:r>
              <a:rPr lang="zh-CN" altLang="en-US" sz="2000" dirty="0">
                <a:latin typeface="IBM Plex Sans Light" panose="020B0403050203000203" pitchFamily="34" charset="0"/>
                <a:ea typeface="微软雅黑 Light" panose="020B0502040204020203" pitchFamily="34" charset="-122"/>
              </a:rPr>
              <a:t>分类：</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频分复用 </a:t>
            </a:r>
            <a:r>
              <a:rPr lang="en-US" altLang="zh-CN" sz="2000" dirty="0">
                <a:solidFill>
                  <a:schemeClr val="tx1"/>
                </a:solidFill>
                <a:latin typeface="IBM Plex Sans Light" panose="020B0403050203000203" pitchFamily="34" charset="0"/>
                <a:ea typeface="微软雅黑 Light" panose="020B0502040204020203" pitchFamily="34" charset="-122"/>
              </a:rPr>
              <a:t>FDM - Frequency Division Multiplexing</a:t>
            </a:r>
            <a:endParaRPr lang="en-US" altLang="zh-CN" sz="2000" dirty="0">
              <a:latin typeface="IBM Plex Sans Light" panose="020B0403050203000203" pitchFamily="34" charset="0"/>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时分复用 </a:t>
            </a:r>
            <a:r>
              <a:rPr lang="en-US" altLang="zh-CN" sz="2000" dirty="0">
                <a:solidFill>
                  <a:schemeClr val="tx1"/>
                </a:solidFill>
                <a:latin typeface="IBM Plex Sans Light" panose="020B0403050203000203" pitchFamily="34" charset="0"/>
                <a:ea typeface="微软雅黑 Light" panose="020B0502040204020203" pitchFamily="34" charset="-122"/>
              </a:rPr>
              <a:t>TDM - Time Division Multiplexing</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IBM Plex Sans Light" panose="020B0403050203000203" pitchFamily="34" charset="0"/>
                <a:ea typeface="微软雅黑 Light" panose="020B0502040204020203" pitchFamily="34" charset="-122"/>
              </a:rPr>
              <a:t>统计时分复用 </a:t>
            </a:r>
            <a:r>
              <a:rPr lang="en-US" altLang="zh-CN" sz="2000" dirty="0">
                <a:latin typeface="IBM Plex Sans Light" panose="020B0403050203000203" pitchFamily="34" charset="0"/>
                <a:ea typeface="微软雅黑 Light" panose="020B0502040204020203" pitchFamily="34" charset="-122"/>
              </a:rPr>
              <a:t>SDM</a:t>
            </a:r>
            <a:r>
              <a:rPr lang="zh-CN" altLang="en-US" sz="2000" dirty="0">
                <a:latin typeface="IBM Plex Sans Light" panose="020B0403050203000203" pitchFamily="34" charset="0"/>
                <a:ea typeface="微软雅黑 Light" panose="020B0502040204020203" pitchFamily="34" charset="-122"/>
              </a:rPr>
              <a:t> </a:t>
            </a:r>
            <a:r>
              <a:rPr lang="en-US" altLang="zh-CN" sz="2000" dirty="0">
                <a:latin typeface="IBM Plex Sans Light" panose="020B0403050203000203" pitchFamily="34" charset="0"/>
                <a:ea typeface="微软雅黑 Light" panose="020B0502040204020203" pitchFamily="34" charset="-122"/>
              </a:rPr>
              <a:t>- Statistical TDM</a:t>
            </a:r>
          </a:p>
          <a:p>
            <a:pPr marL="342900" indent="-342900" algn="l">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波分复用 </a:t>
            </a:r>
            <a:r>
              <a:rPr lang="en-US" altLang="zh-CN" sz="2000" dirty="0">
                <a:solidFill>
                  <a:schemeClr val="tx1"/>
                </a:solidFill>
                <a:latin typeface="IBM Plex Sans Light" panose="020B0403050203000203" pitchFamily="34" charset="0"/>
                <a:ea typeface="微软雅黑 Light" panose="020B0502040204020203" pitchFamily="34" charset="-122"/>
              </a:rPr>
              <a:t>WDM - Wavelength Division Multiplexing</a:t>
            </a:r>
            <a:endParaRPr lang="en-US" altLang="zh-CN" sz="2000" dirty="0">
              <a:latin typeface="IBM Plex Sans Light" panose="020B0403050203000203" pitchFamily="34" charset="0"/>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rgbClr val="C00000"/>
                </a:solidFill>
                <a:latin typeface="IBM Plex Sans Light" panose="020B0403050203000203" pitchFamily="34" charset="0"/>
                <a:ea typeface="微软雅黑 Light" panose="020B0502040204020203" pitchFamily="34" charset="-122"/>
              </a:rPr>
              <a:t>码分复用 </a:t>
            </a:r>
            <a:r>
              <a:rPr lang="en-US" altLang="zh-CN" sz="2000" dirty="0">
                <a:solidFill>
                  <a:srgbClr val="C00000"/>
                </a:solidFill>
                <a:latin typeface="IBM Plex Sans Light" panose="020B0403050203000203" pitchFamily="34" charset="0"/>
                <a:ea typeface="微软雅黑 Light" panose="020B0502040204020203" pitchFamily="34" charset="-122"/>
              </a:rPr>
              <a:t>CDM - Code Division Multiplexing</a:t>
            </a:r>
          </a:p>
          <a:p>
            <a:pPr algn="l">
              <a:buClr>
                <a:schemeClr val="accent2"/>
              </a:buClr>
            </a:pP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algn="l">
              <a:buClr>
                <a:schemeClr val="accent2"/>
              </a:buClr>
            </a:pPr>
            <a:r>
              <a:rPr lang="zh-CN" altLang="en-US" sz="2000" dirty="0">
                <a:latin typeface="IBM Plex Sans Light" panose="020B0403050203000203" pitchFamily="34" charset="0"/>
                <a:ea typeface="微软雅黑 Light" panose="020B0502040204020203" pitchFamily="34" charset="-122"/>
              </a:rPr>
              <a:t>设备：</a:t>
            </a:r>
            <a:endParaRPr lang="en-US" altLang="zh-CN" sz="2000" dirty="0">
              <a:latin typeface="IBM Plex Sans Light" panose="020B0403050203000203" pitchFamily="34" charset="0"/>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复用器 </a:t>
            </a:r>
            <a:r>
              <a:rPr lang="en-US" altLang="zh-CN" sz="2000" dirty="0">
                <a:solidFill>
                  <a:schemeClr val="tx1"/>
                </a:solidFill>
                <a:latin typeface="IBM Plex Sans Light" panose="020B0403050203000203" pitchFamily="34" charset="0"/>
                <a:ea typeface="微软雅黑 Light" panose="020B0502040204020203" pitchFamily="34" charset="-122"/>
              </a:rPr>
              <a:t>Multiplexer</a:t>
            </a:r>
          </a:p>
          <a:p>
            <a:pPr marL="342900" indent="-342900" algn="l">
              <a:buClr>
                <a:schemeClr val="accent2"/>
              </a:buClr>
              <a:buFont typeface="Arial" panose="020B0604020202020204" pitchFamily="34" charset="0"/>
              <a:buChar char="•"/>
            </a:pPr>
            <a:r>
              <a:rPr lang="zh-CN" altLang="en-US" sz="2000" dirty="0">
                <a:latin typeface="IBM Plex Sans Light" panose="020B0403050203000203" pitchFamily="34" charset="0"/>
                <a:ea typeface="微软雅黑 Light" panose="020B0502040204020203" pitchFamily="34" charset="-122"/>
              </a:rPr>
              <a:t>分用器 </a:t>
            </a:r>
            <a:r>
              <a:rPr lang="en-US" altLang="zh-CN" sz="2000" dirty="0">
                <a:latin typeface="IBM Plex Sans Light" panose="020B0403050203000203" pitchFamily="34" charset="0"/>
                <a:ea typeface="微软雅黑 Light" panose="020B0502040204020203" pitchFamily="34" charset="-122"/>
              </a:rPr>
              <a:t>Dem</a:t>
            </a:r>
            <a:r>
              <a:rPr lang="en-US" altLang="zh-CN" sz="2000" dirty="0">
                <a:solidFill>
                  <a:schemeClr val="tx1"/>
                </a:solidFill>
                <a:latin typeface="IBM Plex Sans Light" panose="020B0403050203000203" pitchFamily="34" charset="0"/>
                <a:ea typeface="微软雅黑 Light" panose="020B0502040204020203" pitchFamily="34" charset="-122"/>
              </a:rPr>
              <a:t>ultiplexer</a:t>
            </a:r>
            <a:endParaRPr lang="zh-CN" altLang="en-US" sz="2000" dirty="0">
              <a:solidFill>
                <a:schemeClr val="tx1"/>
              </a:solidFill>
              <a:latin typeface="IBM Plex Sans Light" panose="020B0403050203000203" pitchFamily="34" charset="0"/>
              <a:ea typeface="微软雅黑 Light" panose="020B0502040204020203" pitchFamily="34" charset="-122"/>
            </a:endParaRPr>
          </a:p>
        </p:txBody>
      </p:sp>
    </p:spTree>
    <p:extLst>
      <p:ext uri="{BB962C8B-B14F-4D97-AF65-F5344CB8AC3E}">
        <p14:creationId xmlns:p14="http://schemas.microsoft.com/office/powerpoint/2010/main" val="11847361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频分复用</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FDMA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7250703" cy="707886"/>
          </a:xfrm>
          <a:prstGeom prst="rect">
            <a:avLst/>
          </a:prstGeom>
          <a:noFill/>
        </p:spPr>
        <p:txBody>
          <a:bodyPr wrap="none" rtlCol="0">
            <a:spAutoFit/>
          </a:bodyPr>
          <a:lstStyle/>
          <a:p>
            <a:pPr algn="l"/>
            <a:r>
              <a:rPr lang="zh-CN" altLang="en-US" sz="2000" dirty="0">
                <a:solidFill>
                  <a:schemeClr val="tx1"/>
                </a:solidFill>
                <a:latin typeface="IBM Plex Sans Light" panose="020B0403050203000203" pitchFamily="34" charset="0"/>
                <a:ea typeface="微软雅黑 Light" panose="020B0502040204020203" pitchFamily="34" charset="-122"/>
              </a:rPr>
              <a:t>早期用于</a:t>
            </a:r>
            <a:r>
              <a:rPr lang="en-US" altLang="zh-CN" sz="2000" dirty="0">
                <a:solidFill>
                  <a:schemeClr val="tx1"/>
                </a:solidFill>
                <a:latin typeface="IBM Plex Sans Light" panose="020B0403050203000203" pitchFamily="34" charset="0"/>
                <a:ea typeface="微软雅黑 Light" panose="020B0502040204020203" pitchFamily="34" charset="-122"/>
              </a:rPr>
              <a:t>1G</a:t>
            </a:r>
            <a:r>
              <a:rPr lang="zh-CN" altLang="en-US" sz="2000" dirty="0">
                <a:solidFill>
                  <a:schemeClr val="tx1"/>
                </a:solidFill>
                <a:latin typeface="IBM Plex Sans Light" panose="020B0403050203000203" pitchFamily="34" charset="0"/>
                <a:ea typeface="微软雅黑 Light" panose="020B0502040204020203" pitchFamily="34" charset="-122"/>
              </a:rPr>
              <a:t>通信</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algn="l"/>
            <a:r>
              <a:rPr lang="zh-CN" altLang="en-US" sz="2000" dirty="0">
                <a:latin typeface="IBM Plex Sans Light" panose="020B0403050203000203" pitchFamily="34" charset="0"/>
                <a:ea typeface="微软雅黑 Light" panose="020B0502040204020203" pitchFamily="34" charset="-122"/>
              </a:rPr>
              <a:t>通过为每个用户分配不同的</a:t>
            </a:r>
            <a:r>
              <a:rPr lang="zh-CN" altLang="en-US" sz="2000" b="1" dirty="0">
                <a:solidFill>
                  <a:srgbClr val="FF0000"/>
                </a:solidFill>
                <a:latin typeface="IBM Plex Sans Light" panose="020B0403050203000203" pitchFamily="34" charset="0"/>
                <a:ea typeface="微软雅黑 Light" panose="020B0502040204020203" pitchFamily="34" charset="-122"/>
              </a:rPr>
              <a:t>频率 </a:t>
            </a:r>
            <a:r>
              <a:rPr lang="en-US" altLang="zh-CN" sz="2000" b="1" dirty="0">
                <a:solidFill>
                  <a:srgbClr val="FF0000"/>
                </a:solidFill>
                <a:latin typeface="IBM Plex Sans Light" panose="020B0403050203000203" pitchFamily="34" charset="0"/>
                <a:ea typeface="微软雅黑 Light" panose="020B0502040204020203" pitchFamily="34" charset="-122"/>
              </a:rPr>
              <a:t>– frequency </a:t>
            </a:r>
            <a:r>
              <a:rPr lang="zh-CN" altLang="en-US" sz="2000" dirty="0">
                <a:latin typeface="IBM Plex Sans Light" panose="020B0403050203000203" pitchFamily="34" charset="0"/>
                <a:ea typeface="微软雅黑 Light" panose="020B0502040204020203" pitchFamily="34" charset="-122"/>
              </a:rPr>
              <a:t>实现多用户的通信</a:t>
            </a:r>
            <a:endParaRPr lang="en-US" altLang="zh-CN" sz="2000" dirty="0">
              <a:latin typeface="IBM Plex Sans Light" panose="020B0403050203000203" pitchFamily="34" charset="0"/>
              <a:ea typeface="微软雅黑 Light" panose="020B0502040204020203" pitchFamily="34" charset="-122"/>
            </a:endParaRPr>
          </a:p>
        </p:txBody>
      </p:sp>
      <p:sp>
        <p:nvSpPr>
          <p:cNvPr id="6" name="矩形 5">
            <a:extLst>
              <a:ext uri="{FF2B5EF4-FFF2-40B4-BE49-F238E27FC236}">
                <a16:creationId xmlns:a16="http://schemas.microsoft.com/office/drawing/2014/main" id="{2F6C9705-D063-4245-8641-CC594DBC09B6}"/>
              </a:ext>
            </a:extLst>
          </p:cNvPr>
          <p:cNvSpPr/>
          <p:nvPr/>
        </p:nvSpPr>
        <p:spPr>
          <a:xfrm>
            <a:off x="5460303"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C522E26A-80BF-46C5-BF55-7F7410809815}"/>
              </a:ext>
            </a:extLst>
          </p:cNvPr>
          <p:cNvSpPr/>
          <p:nvPr/>
        </p:nvSpPr>
        <p:spPr>
          <a:xfrm>
            <a:off x="5768136"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680A2DF9-26A0-4666-AB47-EE3EA6E35E75}"/>
              </a:ext>
            </a:extLst>
          </p:cNvPr>
          <p:cNvSpPr/>
          <p:nvPr/>
        </p:nvSpPr>
        <p:spPr>
          <a:xfrm>
            <a:off x="5973358"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2B4C4441-93C8-4FDB-8136-496A56FC8669}"/>
              </a:ext>
            </a:extLst>
          </p:cNvPr>
          <p:cNvSpPr/>
          <p:nvPr/>
        </p:nvSpPr>
        <p:spPr>
          <a:xfrm>
            <a:off x="6281191"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707E4641-DBCC-4408-AF3D-5D62DAACB96E}"/>
              </a:ext>
            </a:extLst>
          </p:cNvPr>
          <p:cNvSpPr/>
          <p:nvPr/>
        </p:nvSpPr>
        <p:spPr>
          <a:xfrm>
            <a:off x="6486413"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F09E3804-B8C9-45FA-9334-21E5A5DE9649}"/>
              </a:ext>
            </a:extLst>
          </p:cNvPr>
          <p:cNvSpPr/>
          <p:nvPr/>
        </p:nvSpPr>
        <p:spPr>
          <a:xfrm>
            <a:off x="6794246"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C9A91B83-D003-4772-8D6D-579825B07F33}"/>
              </a:ext>
            </a:extLst>
          </p:cNvPr>
          <p:cNvSpPr/>
          <p:nvPr/>
        </p:nvSpPr>
        <p:spPr>
          <a:xfrm>
            <a:off x="6999468"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3B95B36-AE9F-4EC9-9518-661F59C7FD79}"/>
              </a:ext>
            </a:extLst>
          </p:cNvPr>
          <p:cNvSpPr/>
          <p:nvPr/>
        </p:nvSpPr>
        <p:spPr>
          <a:xfrm>
            <a:off x="7409912"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773D1993-4314-4C34-B3C4-BDFB08C33AF3}"/>
              </a:ext>
            </a:extLst>
          </p:cNvPr>
          <p:cNvSpPr/>
          <p:nvPr/>
        </p:nvSpPr>
        <p:spPr>
          <a:xfrm>
            <a:off x="4023749"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1C7F7CD5-68C9-412C-819E-244FDC7993BD}"/>
              </a:ext>
            </a:extLst>
          </p:cNvPr>
          <p:cNvSpPr/>
          <p:nvPr/>
        </p:nvSpPr>
        <p:spPr>
          <a:xfrm>
            <a:off x="4126360"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429D9FC0-0756-4B3F-A1DA-81EEBB504226}"/>
              </a:ext>
            </a:extLst>
          </p:cNvPr>
          <p:cNvSpPr/>
          <p:nvPr/>
        </p:nvSpPr>
        <p:spPr>
          <a:xfrm>
            <a:off x="4331582"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B3310F6A-B63D-4B5E-8D43-0B99ADD35934}"/>
              </a:ext>
            </a:extLst>
          </p:cNvPr>
          <p:cNvSpPr/>
          <p:nvPr/>
        </p:nvSpPr>
        <p:spPr>
          <a:xfrm>
            <a:off x="4434193"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A3B93CED-CD13-4A68-A01C-DE0AEF024BD9}"/>
              </a:ext>
            </a:extLst>
          </p:cNvPr>
          <p:cNvSpPr/>
          <p:nvPr/>
        </p:nvSpPr>
        <p:spPr>
          <a:xfrm>
            <a:off x="4639415"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82671020-00B3-4F4C-B07B-549085C6E329}"/>
              </a:ext>
            </a:extLst>
          </p:cNvPr>
          <p:cNvSpPr/>
          <p:nvPr/>
        </p:nvSpPr>
        <p:spPr>
          <a:xfrm>
            <a:off x="4742026"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C1CB3BD8-F12C-41E0-9482-54C804C87524}"/>
              </a:ext>
            </a:extLst>
          </p:cNvPr>
          <p:cNvSpPr/>
          <p:nvPr/>
        </p:nvSpPr>
        <p:spPr>
          <a:xfrm>
            <a:off x="5049859"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2F08B4D1-4EE1-4A46-B54F-6C5707ADE0C7}"/>
              </a:ext>
            </a:extLst>
          </p:cNvPr>
          <p:cNvSpPr/>
          <p:nvPr/>
        </p:nvSpPr>
        <p:spPr>
          <a:xfrm>
            <a:off x="5255081"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94FAE090-CA8D-4E9F-AD5A-1060DD5EA849}"/>
              </a:ext>
            </a:extLst>
          </p:cNvPr>
          <p:cNvSpPr/>
          <p:nvPr/>
        </p:nvSpPr>
        <p:spPr>
          <a:xfrm>
            <a:off x="6896857"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A869E190-EF43-4995-AAED-1F80D8905A48}"/>
              </a:ext>
            </a:extLst>
          </p:cNvPr>
          <p:cNvSpPr/>
          <p:nvPr/>
        </p:nvSpPr>
        <p:spPr>
          <a:xfrm>
            <a:off x="7307301"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84C65AE3-01B1-4502-85C9-9626036E4010}"/>
              </a:ext>
            </a:extLst>
          </p:cNvPr>
          <p:cNvSpPr/>
          <p:nvPr/>
        </p:nvSpPr>
        <p:spPr>
          <a:xfrm>
            <a:off x="7512523"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E57D6150-E5B7-49FA-8318-7993DFF7A911}"/>
              </a:ext>
            </a:extLst>
          </p:cNvPr>
          <p:cNvSpPr/>
          <p:nvPr/>
        </p:nvSpPr>
        <p:spPr>
          <a:xfrm>
            <a:off x="7615134"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FA5D8591-BFA3-4CF7-BF2D-53C1D85F387F}"/>
              </a:ext>
            </a:extLst>
          </p:cNvPr>
          <p:cNvSpPr/>
          <p:nvPr/>
        </p:nvSpPr>
        <p:spPr>
          <a:xfrm>
            <a:off x="7717745"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D2923CF4-E54E-4CAB-BCDF-21D63D03D356}"/>
              </a:ext>
            </a:extLst>
          </p:cNvPr>
          <p:cNvSpPr/>
          <p:nvPr/>
        </p:nvSpPr>
        <p:spPr>
          <a:xfrm>
            <a:off x="7820356"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B3CB2EC1-9CAB-4AF5-AACA-8DA06D21150A}"/>
              </a:ext>
            </a:extLst>
          </p:cNvPr>
          <p:cNvSpPr/>
          <p:nvPr/>
        </p:nvSpPr>
        <p:spPr>
          <a:xfrm>
            <a:off x="7922967"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92010105-5C45-4F7F-8975-2113251BEB86}"/>
              </a:ext>
            </a:extLst>
          </p:cNvPr>
          <p:cNvSpPr/>
          <p:nvPr/>
        </p:nvSpPr>
        <p:spPr>
          <a:xfrm>
            <a:off x="8025594"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57BDFA08-ED60-404A-9499-2A8EDE5878A7}"/>
              </a:ext>
            </a:extLst>
          </p:cNvPr>
          <p:cNvSpPr/>
          <p:nvPr/>
        </p:nvSpPr>
        <p:spPr>
          <a:xfrm>
            <a:off x="4844637"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97380A09-4E57-42FE-A040-A68FED5C5E73}"/>
              </a:ext>
            </a:extLst>
          </p:cNvPr>
          <p:cNvSpPr/>
          <p:nvPr/>
        </p:nvSpPr>
        <p:spPr>
          <a:xfrm>
            <a:off x="5152470"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808347DD-63A5-487B-8565-ED3C6E07DE33}"/>
              </a:ext>
            </a:extLst>
          </p:cNvPr>
          <p:cNvSpPr/>
          <p:nvPr/>
        </p:nvSpPr>
        <p:spPr>
          <a:xfrm>
            <a:off x="5357692"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a:extLst>
              <a:ext uri="{FF2B5EF4-FFF2-40B4-BE49-F238E27FC236}">
                <a16:creationId xmlns:a16="http://schemas.microsoft.com/office/drawing/2014/main" id="{C588DDAF-B89A-4870-B577-2B47280142B3}"/>
              </a:ext>
            </a:extLst>
          </p:cNvPr>
          <p:cNvSpPr/>
          <p:nvPr/>
        </p:nvSpPr>
        <p:spPr>
          <a:xfrm>
            <a:off x="5562914"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a:extLst>
              <a:ext uri="{FF2B5EF4-FFF2-40B4-BE49-F238E27FC236}">
                <a16:creationId xmlns:a16="http://schemas.microsoft.com/office/drawing/2014/main" id="{6C02F8E6-D70A-4416-ACB4-91A0F1302C6F}"/>
              </a:ext>
            </a:extLst>
          </p:cNvPr>
          <p:cNvSpPr/>
          <p:nvPr/>
        </p:nvSpPr>
        <p:spPr>
          <a:xfrm>
            <a:off x="5870747"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a:extLst>
              <a:ext uri="{FF2B5EF4-FFF2-40B4-BE49-F238E27FC236}">
                <a16:creationId xmlns:a16="http://schemas.microsoft.com/office/drawing/2014/main" id="{488B757A-F067-4603-86EF-2EE4EBBF9CE2}"/>
              </a:ext>
            </a:extLst>
          </p:cNvPr>
          <p:cNvSpPr/>
          <p:nvPr/>
        </p:nvSpPr>
        <p:spPr>
          <a:xfrm>
            <a:off x="6178580"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a:extLst>
              <a:ext uri="{FF2B5EF4-FFF2-40B4-BE49-F238E27FC236}">
                <a16:creationId xmlns:a16="http://schemas.microsoft.com/office/drawing/2014/main" id="{BDB8BB1C-B39A-42AE-AE68-93604CDC37F8}"/>
              </a:ext>
            </a:extLst>
          </p:cNvPr>
          <p:cNvSpPr/>
          <p:nvPr/>
        </p:nvSpPr>
        <p:spPr>
          <a:xfrm>
            <a:off x="6383802" y="3947535"/>
            <a:ext cx="36000" cy="70788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a:extLst>
              <a:ext uri="{FF2B5EF4-FFF2-40B4-BE49-F238E27FC236}">
                <a16:creationId xmlns:a16="http://schemas.microsoft.com/office/drawing/2014/main" id="{3A97C6F5-FEA0-4C77-8B64-FA90473E6C54}"/>
              </a:ext>
            </a:extLst>
          </p:cNvPr>
          <p:cNvSpPr/>
          <p:nvPr/>
        </p:nvSpPr>
        <p:spPr>
          <a:xfrm>
            <a:off x="6691635"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a:extLst>
              <a:ext uri="{FF2B5EF4-FFF2-40B4-BE49-F238E27FC236}">
                <a16:creationId xmlns:a16="http://schemas.microsoft.com/office/drawing/2014/main" id="{50D8100F-4CEA-4296-B7BB-AE619B05BF22}"/>
              </a:ext>
            </a:extLst>
          </p:cNvPr>
          <p:cNvSpPr/>
          <p:nvPr/>
        </p:nvSpPr>
        <p:spPr>
          <a:xfrm>
            <a:off x="3921138" y="4031478"/>
            <a:ext cx="36000" cy="54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矩形 38">
            <a:extLst>
              <a:ext uri="{FF2B5EF4-FFF2-40B4-BE49-F238E27FC236}">
                <a16:creationId xmlns:a16="http://schemas.microsoft.com/office/drawing/2014/main" id="{C8D516EF-8392-4A21-90CA-A222BE0AFEC5}"/>
              </a:ext>
            </a:extLst>
          </p:cNvPr>
          <p:cNvSpPr/>
          <p:nvPr/>
        </p:nvSpPr>
        <p:spPr>
          <a:xfrm>
            <a:off x="4228971" y="4031478"/>
            <a:ext cx="36000" cy="54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39">
            <a:extLst>
              <a:ext uri="{FF2B5EF4-FFF2-40B4-BE49-F238E27FC236}">
                <a16:creationId xmlns:a16="http://schemas.microsoft.com/office/drawing/2014/main" id="{FC9C511A-36CD-4ACA-AEA4-E31C9F81AC1C}"/>
              </a:ext>
            </a:extLst>
          </p:cNvPr>
          <p:cNvSpPr/>
          <p:nvPr/>
        </p:nvSpPr>
        <p:spPr>
          <a:xfrm>
            <a:off x="4536804" y="4031478"/>
            <a:ext cx="36000" cy="54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a:extLst>
              <a:ext uri="{FF2B5EF4-FFF2-40B4-BE49-F238E27FC236}">
                <a16:creationId xmlns:a16="http://schemas.microsoft.com/office/drawing/2014/main" id="{833023CC-CA88-457A-9BD2-4902395E54EB}"/>
              </a:ext>
            </a:extLst>
          </p:cNvPr>
          <p:cNvSpPr/>
          <p:nvPr/>
        </p:nvSpPr>
        <p:spPr>
          <a:xfrm>
            <a:off x="4947248" y="4031478"/>
            <a:ext cx="36000" cy="54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a:extLst>
              <a:ext uri="{FF2B5EF4-FFF2-40B4-BE49-F238E27FC236}">
                <a16:creationId xmlns:a16="http://schemas.microsoft.com/office/drawing/2014/main" id="{D80BD20F-98C0-4D5B-89B7-8E54CB3A9426}"/>
              </a:ext>
            </a:extLst>
          </p:cNvPr>
          <p:cNvSpPr/>
          <p:nvPr/>
        </p:nvSpPr>
        <p:spPr>
          <a:xfrm>
            <a:off x="5665525" y="4031478"/>
            <a:ext cx="36000" cy="54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a:extLst>
              <a:ext uri="{FF2B5EF4-FFF2-40B4-BE49-F238E27FC236}">
                <a16:creationId xmlns:a16="http://schemas.microsoft.com/office/drawing/2014/main" id="{E4EA49F5-EE93-4FD9-BDB3-94451D5476F9}"/>
              </a:ext>
            </a:extLst>
          </p:cNvPr>
          <p:cNvSpPr/>
          <p:nvPr/>
        </p:nvSpPr>
        <p:spPr>
          <a:xfrm>
            <a:off x="6075969" y="4031478"/>
            <a:ext cx="36000" cy="54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a:extLst>
              <a:ext uri="{FF2B5EF4-FFF2-40B4-BE49-F238E27FC236}">
                <a16:creationId xmlns:a16="http://schemas.microsoft.com/office/drawing/2014/main" id="{1ACC3423-0456-432B-8CFB-1776EBCB99F2}"/>
              </a:ext>
            </a:extLst>
          </p:cNvPr>
          <p:cNvSpPr/>
          <p:nvPr/>
        </p:nvSpPr>
        <p:spPr>
          <a:xfrm>
            <a:off x="6589024" y="4031478"/>
            <a:ext cx="36000" cy="54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a:extLst>
              <a:ext uri="{FF2B5EF4-FFF2-40B4-BE49-F238E27FC236}">
                <a16:creationId xmlns:a16="http://schemas.microsoft.com/office/drawing/2014/main" id="{E99DB2D0-3C68-4A4D-A0CC-7A841AFB3692}"/>
              </a:ext>
            </a:extLst>
          </p:cNvPr>
          <p:cNvSpPr/>
          <p:nvPr/>
        </p:nvSpPr>
        <p:spPr>
          <a:xfrm>
            <a:off x="7204690" y="4049478"/>
            <a:ext cx="36000" cy="504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45">
            <a:extLst>
              <a:ext uri="{FF2B5EF4-FFF2-40B4-BE49-F238E27FC236}">
                <a16:creationId xmlns:a16="http://schemas.microsoft.com/office/drawing/2014/main" id="{341FED72-003D-4597-BE7D-6D1682A014BE}"/>
              </a:ext>
            </a:extLst>
          </p:cNvPr>
          <p:cNvSpPr/>
          <p:nvPr/>
        </p:nvSpPr>
        <p:spPr>
          <a:xfrm>
            <a:off x="7102079" y="4031478"/>
            <a:ext cx="36000" cy="54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759400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4" fill="hold" grpId="0" nodeType="clickEffect">
                                  <p:stCondLst>
                                    <p:cond delay="0"/>
                                  </p:stCondLst>
                                  <p:childTnLst>
                                    <p:animEffect transition="out" filter="wipe(down)">
                                      <p:cBhvr>
                                        <p:cTn id="6" dur="500"/>
                                        <p:tgtEl>
                                          <p:spTgt spid="6"/>
                                        </p:tgtEl>
                                      </p:cBhvr>
                                    </p:animEffect>
                                    <p:set>
                                      <p:cBhvr>
                                        <p:cTn id="7" dur="1" fill="hold">
                                          <p:stCondLst>
                                            <p:cond delay="499"/>
                                          </p:stCondLst>
                                        </p:cTn>
                                        <p:tgtEl>
                                          <p:spTgt spid="6"/>
                                        </p:tgtEl>
                                        <p:attrNameLst>
                                          <p:attrName>style.visibility</p:attrName>
                                        </p:attrNameLst>
                                      </p:cBhvr>
                                      <p:to>
                                        <p:strVal val="hidden"/>
                                      </p:to>
                                    </p:set>
                                  </p:childTnLst>
                                </p:cTn>
                              </p:par>
                            </p:childTnLst>
                          </p:cTn>
                        </p:par>
                        <p:par>
                          <p:cTn id="8" fill="hold">
                            <p:stCondLst>
                              <p:cond delay="500"/>
                            </p:stCondLst>
                            <p:childTnLst>
                              <p:par>
                                <p:cTn id="9" presetID="22" presetClass="exit" presetSubtype="1" fill="hold" grpId="0" nodeType="afterEffect">
                                  <p:stCondLst>
                                    <p:cond delay="0"/>
                                  </p:stCondLst>
                                  <p:childTnLst>
                                    <p:animEffect transition="out" filter="wipe(up)">
                                      <p:cBhvr>
                                        <p:cTn id="10" dur="500"/>
                                        <p:tgtEl>
                                          <p:spTgt spid="7"/>
                                        </p:tgtEl>
                                      </p:cBhvr>
                                    </p:animEffect>
                                    <p:set>
                                      <p:cBhvr>
                                        <p:cTn id="11" dur="1" fill="hold">
                                          <p:stCondLst>
                                            <p:cond delay="499"/>
                                          </p:stCondLst>
                                        </p:cTn>
                                        <p:tgtEl>
                                          <p:spTgt spid="7"/>
                                        </p:tgtEl>
                                        <p:attrNameLst>
                                          <p:attrName>style.visibility</p:attrName>
                                        </p:attrNameLst>
                                      </p:cBhvr>
                                      <p:to>
                                        <p:strVal val="hidden"/>
                                      </p:to>
                                    </p:set>
                                  </p:childTnLst>
                                </p:cTn>
                              </p:par>
                            </p:childTnLst>
                          </p:cTn>
                        </p:par>
                        <p:par>
                          <p:cTn id="12" fill="hold">
                            <p:stCondLst>
                              <p:cond delay="1000"/>
                            </p:stCondLst>
                            <p:childTnLst>
                              <p:par>
                                <p:cTn id="13" presetID="22" presetClass="exit" presetSubtype="4" fill="hold" grpId="0" nodeType="afterEffect">
                                  <p:stCondLst>
                                    <p:cond delay="0"/>
                                  </p:stCondLst>
                                  <p:childTnLst>
                                    <p:animEffect transition="out" filter="wipe(down)">
                                      <p:cBhvr>
                                        <p:cTn id="14" dur="500"/>
                                        <p:tgtEl>
                                          <p:spTgt spid="8"/>
                                        </p:tgtEl>
                                      </p:cBhvr>
                                    </p:animEffect>
                                    <p:set>
                                      <p:cBhvr>
                                        <p:cTn id="15" dur="1" fill="hold">
                                          <p:stCondLst>
                                            <p:cond delay="499"/>
                                          </p:stCondLst>
                                        </p:cTn>
                                        <p:tgtEl>
                                          <p:spTgt spid="8"/>
                                        </p:tgtEl>
                                        <p:attrNameLst>
                                          <p:attrName>style.visibility</p:attrName>
                                        </p:attrNameLst>
                                      </p:cBhvr>
                                      <p:to>
                                        <p:strVal val="hidden"/>
                                      </p:to>
                                    </p:set>
                                  </p:childTnLst>
                                </p:cTn>
                              </p:par>
                            </p:childTnLst>
                          </p:cTn>
                        </p:par>
                        <p:par>
                          <p:cTn id="16" fill="hold">
                            <p:stCondLst>
                              <p:cond delay="1500"/>
                            </p:stCondLst>
                            <p:childTnLst>
                              <p:par>
                                <p:cTn id="17" presetID="22" presetClass="exit" presetSubtype="1" fill="hold" grpId="0" nodeType="afterEffect">
                                  <p:stCondLst>
                                    <p:cond delay="0"/>
                                  </p:stCondLst>
                                  <p:childTnLst>
                                    <p:animEffect transition="out" filter="wipe(up)">
                                      <p:cBhvr>
                                        <p:cTn id="18" dur="500"/>
                                        <p:tgtEl>
                                          <p:spTgt spid="9"/>
                                        </p:tgtEl>
                                      </p:cBhvr>
                                    </p:animEffect>
                                    <p:set>
                                      <p:cBhvr>
                                        <p:cTn id="19" dur="1" fill="hold">
                                          <p:stCondLst>
                                            <p:cond delay="499"/>
                                          </p:stCondLst>
                                        </p:cTn>
                                        <p:tgtEl>
                                          <p:spTgt spid="9"/>
                                        </p:tgtEl>
                                        <p:attrNameLst>
                                          <p:attrName>style.visibility</p:attrName>
                                        </p:attrNameLst>
                                      </p:cBhvr>
                                      <p:to>
                                        <p:strVal val="hidden"/>
                                      </p:to>
                                    </p:set>
                                  </p:childTnLst>
                                </p:cTn>
                              </p:par>
                            </p:childTnLst>
                          </p:cTn>
                        </p:par>
                        <p:par>
                          <p:cTn id="20" fill="hold">
                            <p:stCondLst>
                              <p:cond delay="2000"/>
                            </p:stCondLst>
                            <p:childTnLst>
                              <p:par>
                                <p:cTn id="21" presetID="22" presetClass="exit" presetSubtype="4" fill="hold" grpId="0" nodeType="afterEffect">
                                  <p:stCondLst>
                                    <p:cond delay="0"/>
                                  </p:stCondLst>
                                  <p:childTnLst>
                                    <p:animEffect transition="out" filter="wipe(down)">
                                      <p:cBhvr>
                                        <p:cTn id="22" dur="500"/>
                                        <p:tgtEl>
                                          <p:spTgt spid="10"/>
                                        </p:tgtEl>
                                      </p:cBhvr>
                                    </p:animEffect>
                                    <p:set>
                                      <p:cBhvr>
                                        <p:cTn id="23" dur="1" fill="hold">
                                          <p:stCondLst>
                                            <p:cond delay="499"/>
                                          </p:stCondLst>
                                        </p:cTn>
                                        <p:tgtEl>
                                          <p:spTgt spid="10"/>
                                        </p:tgtEl>
                                        <p:attrNameLst>
                                          <p:attrName>style.visibility</p:attrName>
                                        </p:attrNameLst>
                                      </p:cBhvr>
                                      <p:to>
                                        <p:strVal val="hidden"/>
                                      </p:to>
                                    </p:set>
                                  </p:childTnLst>
                                </p:cTn>
                              </p:par>
                            </p:childTnLst>
                          </p:cTn>
                        </p:par>
                        <p:par>
                          <p:cTn id="24" fill="hold">
                            <p:stCondLst>
                              <p:cond delay="2500"/>
                            </p:stCondLst>
                            <p:childTnLst>
                              <p:par>
                                <p:cTn id="25" presetID="22" presetClass="exit" presetSubtype="1" fill="hold" grpId="0" nodeType="afterEffect">
                                  <p:stCondLst>
                                    <p:cond delay="0"/>
                                  </p:stCondLst>
                                  <p:childTnLst>
                                    <p:animEffect transition="out" filter="wipe(up)">
                                      <p:cBhvr>
                                        <p:cTn id="26" dur="500"/>
                                        <p:tgtEl>
                                          <p:spTgt spid="11"/>
                                        </p:tgtEl>
                                      </p:cBhvr>
                                    </p:animEffect>
                                    <p:set>
                                      <p:cBhvr>
                                        <p:cTn id="27" dur="1" fill="hold">
                                          <p:stCondLst>
                                            <p:cond delay="499"/>
                                          </p:stCondLst>
                                        </p:cTn>
                                        <p:tgtEl>
                                          <p:spTgt spid="11"/>
                                        </p:tgtEl>
                                        <p:attrNameLst>
                                          <p:attrName>style.visibility</p:attrName>
                                        </p:attrNameLst>
                                      </p:cBhvr>
                                      <p:to>
                                        <p:strVal val="hidden"/>
                                      </p:to>
                                    </p:set>
                                  </p:childTnLst>
                                </p:cTn>
                              </p:par>
                            </p:childTnLst>
                          </p:cTn>
                        </p:par>
                        <p:par>
                          <p:cTn id="28" fill="hold">
                            <p:stCondLst>
                              <p:cond delay="3000"/>
                            </p:stCondLst>
                            <p:childTnLst>
                              <p:par>
                                <p:cTn id="29" presetID="22" presetClass="exit" presetSubtype="4" fill="hold" grpId="0" nodeType="afterEffect">
                                  <p:stCondLst>
                                    <p:cond delay="0"/>
                                  </p:stCondLst>
                                  <p:childTnLst>
                                    <p:animEffect transition="out" filter="wipe(down)">
                                      <p:cBhvr>
                                        <p:cTn id="30" dur="500"/>
                                        <p:tgtEl>
                                          <p:spTgt spid="12"/>
                                        </p:tgtEl>
                                      </p:cBhvr>
                                    </p:animEffect>
                                    <p:set>
                                      <p:cBhvr>
                                        <p:cTn id="31" dur="1" fill="hold">
                                          <p:stCondLst>
                                            <p:cond delay="499"/>
                                          </p:stCondLst>
                                        </p:cTn>
                                        <p:tgtEl>
                                          <p:spTgt spid="12"/>
                                        </p:tgtEl>
                                        <p:attrNameLst>
                                          <p:attrName>style.visibility</p:attrName>
                                        </p:attrNameLst>
                                      </p:cBhvr>
                                      <p:to>
                                        <p:strVal val="hidden"/>
                                      </p:to>
                                    </p:set>
                                  </p:childTnLst>
                                </p:cTn>
                              </p:par>
                            </p:childTnLst>
                          </p:cTn>
                        </p:par>
                        <p:par>
                          <p:cTn id="32" fill="hold">
                            <p:stCondLst>
                              <p:cond delay="3500"/>
                            </p:stCondLst>
                            <p:childTnLst>
                              <p:par>
                                <p:cTn id="33" presetID="22" presetClass="exit" presetSubtype="1" fill="hold" grpId="0" nodeType="afterEffect">
                                  <p:stCondLst>
                                    <p:cond delay="0"/>
                                  </p:stCondLst>
                                  <p:childTnLst>
                                    <p:animEffect transition="out" filter="wipe(up)">
                                      <p:cBhvr>
                                        <p:cTn id="34" dur="500"/>
                                        <p:tgtEl>
                                          <p:spTgt spid="13"/>
                                        </p:tgtEl>
                                      </p:cBhvr>
                                    </p:animEffect>
                                    <p:set>
                                      <p:cBhvr>
                                        <p:cTn id="35" dur="1" fill="hold">
                                          <p:stCondLst>
                                            <p:cond delay="499"/>
                                          </p:stCondLst>
                                        </p:cTn>
                                        <p:tgtEl>
                                          <p:spTgt spid="13"/>
                                        </p:tgtEl>
                                        <p:attrNameLst>
                                          <p:attrName>style.visibility</p:attrName>
                                        </p:attrNameLst>
                                      </p:cBhvr>
                                      <p:to>
                                        <p:strVal val="hidden"/>
                                      </p:to>
                                    </p:set>
                                  </p:childTnLst>
                                </p:cTn>
                              </p:par>
                            </p:childTnLst>
                          </p:cTn>
                        </p:par>
                        <p:par>
                          <p:cTn id="36" fill="hold">
                            <p:stCondLst>
                              <p:cond delay="4000"/>
                            </p:stCondLst>
                            <p:childTnLst>
                              <p:par>
                                <p:cTn id="37" presetID="22" presetClass="exit" presetSubtype="4" fill="hold" grpId="0" nodeType="afterEffect">
                                  <p:stCondLst>
                                    <p:cond delay="0"/>
                                  </p:stCondLst>
                                  <p:childTnLst>
                                    <p:animEffect transition="out" filter="wipe(down)">
                                      <p:cBhvr>
                                        <p:cTn id="38" dur="500"/>
                                        <p:tgtEl>
                                          <p:spTgt spid="14"/>
                                        </p:tgtEl>
                                      </p:cBhvr>
                                    </p:animEffect>
                                    <p:set>
                                      <p:cBhvr>
                                        <p:cTn id="39" dur="1" fill="hold">
                                          <p:stCondLst>
                                            <p:cond delay="499"/>
                                          </p:stCondLst>
                                        </p:cTn>
                                        <p:tgtEl>
                                          <p:spTgt spid="14"/>
                                        </p:tgtEl>
                                        <p:attrNameLst>
                                          <p:attrName>style.visibility</p:attrName>
                                        </p:attrNameLst>
                                      </p:cBhvr>
                                      <p:to>
                                        <p:strVal val="hidden"/>
                                      </p:to>
                                    </p:set>
                                  </p:childTnLst>
                                </p:cTn>
                              </p:par>
                            </p:childTnLst>
                          </p:cTn>
                        </p:par>
                        <p:par>
                          <p:cTn id="40" fill="hold">
                            <p:stCondLst>
                              <p:cond delay="4500"/>
                            </p:stCondLst>
                            <p:childTnLst>
                              <p:par>
                                <p:cTn id="41" presetID="22" presetClass="exit" presetSubtype="1" fill="hold" grpId="0" nodeType="afterEffect">
                                  <p:stCondLst>
                                    <p:cond delay="0"/>
                                  </p:stCondLst>
                                  <p:childTnLst>
                                    <p:animEffect transition="out" filter="wipe(up)">
                                      <p:cBhvr>
                                        <p:cTn id="42" dur="500"/>
                                        <p:tgtEl>
                                          <p:spTgt spid="15"/>
                                        </p:tgtEl>
                                      </p:cBhvr>
                                    </p:animEffect>
                                    <p:set>
                                      <p:cBhvr>
                                        <p:cTn id="43" dur="1" fill="hold">
                                          <p:stCondLst>
                                            <p:cond delay="499"/>
                                          </p:stCondLst>
                                        </p:cTn>
                                        <p:tgtEl>
                                          <p:spTgt spid="15"/>
                                        </p:tgtEl>
                                        <p:attrNameLst>
                                          <p:attrName>style.visibility</p:attrName>
                                        </p:attrNameLst>
                                      </p:cBhvr>
                                      <p:to>
                                        <p:strVal val="hidden"/>
                                      </p:to>
                                    </p:set>
                                  </p:childTnLst>
                                </p:cTn>
                              </p:par>
                            </p:childTnLst>
                          </p:cTn>
                        </p:par>
                        <p:par>
                          <p:cTn id="44" fill="hold">
                            <p:stCondLst>
                              <p:cond delay="5000"/>
                            </p:stCondLst>
                            <p:childTnLst>
                              <p:par>
                                <p:cTn id="45" presetID="22" presetClass="exit" presetSubtype="4" fill="hold" grpId="0" nodeType="afterEffect">
                                  <p:stCondLst>
                                    <p:cond delay="0"/>
                                  </p:stCondLst>
                                  <p:childTnLst>
                                    <p:animEffect transition="out" filter="wipe(down)">
                                      <p:cBhvr>
                                        <p:cTn id="46" dur="500"/>
                                        <p:tgtEl>
                                          <p:spTgt spid="16"/>
                                        </p:tgtEl>
                                      </p:cBhvr>
                                    </p:animEffect>
                                    <p:set>
                                      <p:cBhvr>
                                        <p:cTn id="47" dur="1" fill="hold">
                                          <p:stCondLst>
                                            <p:cond delay="499"/>
                                          </p:stCondLst>
                                        </p:cTn>
                                        <p:tgtEl>
                                          <p:spTgt spid="16"/>
                                        </p:tgtEl>
                                        <p:attrNameLst>
                                          <p:attrName>style.visibility</p:attrName>
                                        </p:attrNameLst>
                                      </p:cBhvr>
                                      <p:to>
                                        <p:strVal val="hidden"/>
                                      </p:to>
                                    </p:set>
                                  </p:childTnLst>
                                </p:cTn>
                              </p:par>
                            </p:childTnLst>
                          </p:cTn>
                        </p:par>
                        <p:par>
                          <p:cTn id="48" fill="hold">
                            <p:stCondLst>
                              <p:cond delay="5500"/>
                            </p:stCondLst>
                            <p:childTnLst>
                              <p:par>
                                <p:cTn id="49" presetID="22" presetClass="exit" presetSubtype="1" fill="hold" grpId="0" nodeType="afterEffect">
                                  <p:stCondLst>
                                    <p:cond delay="0"/>
                                  </p:stCondLst>
                                  <p:childTnLst>
                                    <p:animEffect transition="out" filter="wipe(up)">
                                      <p:cBhvr>
                                        <p:cTn id="50" dur="500"/>
                                        <p:tgtEl>
                                          <p:spTgt spid="17"/>
                                        </p:tgtEl>
                                      </p:cBhvr>
                                    </p:animEffect>
                                    <p:set>
                                      <p:cBhvr>
                                        <p:cTn id="51" dur="1" fill="hold">
                                          <p:stCondLst>
                                            <p:cond delay="499"/>
                                          </p:stCondLst>
                                        </p:cTn>
                                        <p:tgtEl>
                                          <p:spTgt spid="17"/>
                                        </p:tgtEl>
                                        <p:attrNameLst>
                                          <p:attrName>style.visibility</p:attrName>
                                        </p:attrNameLst>
                                      </p:cBhvr>
                                      <p:to>
                                        <p:strVal val="hidden"/>
                                      </p:to>
                                    </p:set>
                                  </p:childTnLst>
                                </p:cTn>
                              </p:par>
                            </p:childTnLst>
                          </p:cTn>
                        </p:par>
                        <p:par>
                          <p:cTn id="52" fill="hold">
                            <p:stCondLst>
                              <p:cond delay="6000"/>
                            </p:stCondLst>
                            <p:childTnLst>
                              <p:par>
                                <p:cTn id="53" presetID="22" presetClass="exit" presetSubtype="4" fill="hold" grpId="0" nodeType="afterEffect">
                                  <p:stCondLst>
                                    <p:cond delay="0"/>
                                  </p:stCondLst>
                                  <p:childTnLst>
                                    <p:animEffect transition="out" filter="wipe(down)">
                                      <p:cBhvr>
                                        <p:cTn id="54" dur="500"/>
                                        <p:tgtEl>
                                          <p:spTgt spid="18"/>
                                        </p:tgtEl>
                                      </p:cBhvr>
                                    </p:animEffect>
                                    <p:set>
                                      <p:cBhvr>
                                        <p:cTn id="55" dur="1" fill="hold">
                                          <p:stCondLst>
                                            <p:cond delay="499"/>
                                          </p:stCondLst>
                                        </p:cTn>
                                        <p:tgtEl>
                                          <p:spTgt spid="18"/>
                                        </p:tgtEl>
                                        <p:attrNameLst>
                                          <p:attrName>style.visibility</p:attrName>
                                        </p:attrNameLst>
                                      </p:cBhvr>
                                      <p:to>
                                        <p:strVal val="hidden"/>
                                      </p:to>
                                    </p:set>
                                  </p:childTnLst>
                                </p:cTn>
                              </p:par>
                            </p:childTnLst>
                          </p:cTn>
                        </p:par>
                        <p:par>
                          <p:cTn id="56" fill="hold">
                            <p:stCondLst>
                              <p:cond delay="6500"/>
                            </p:stCondLst>
                            <p:childTnLst>
                              <p:par>
                                <p:cTn id="57" presetID="22" presetClass="exit" presetSubtype="1" fill="hold" grpId="0" nodeType="afterEffect">
                                  <p:stCondLst>
                                    <p:cond delay="0"/>
                                  </p:stCondLst>
                                  <p:childTnLst>
                                    <p:animEffect transition="out" filter="wipe(up)">
                                      <p:cBhvr>
                                        <p:cTn id="58" dur="500"/>
                                        <p:tgtEl>
                                          <p:spTgt spid="19"/>
                                        </p:tgtEl>
                                      </p:cBhvr>
                                    </p:animEffect>
                                    <p:set>
                                      <p:cBhvr>
                                        <p:cTn id="59" dur="1" fill="hold">
                                          <p:stCondLst>
                                            <p:cond delay="499"/>
                                          </p:stCondLst>
                                        </p:cTn>
                                        <p:tgtEl>
                                          <p:spTgt spid="19"/>
                                        </p:tgtEl>
                                        <p:attrNameLst>
                                          <p:attrName>style.visibility</p:attrName>
                                        </p:attrNameLst>
                                      </p:cBhvr>
                                      <p:to>
                                        <p:strVal val="hidden"/>
                                      </p:to>
                                    </p:set>
                                  </p:childTnLst>
                                </p:cTn>
                              </p:par>
                            </p:childTnLst>
                          </p:cTn>
                        </p:par>
                        <p:par>
                          <p:cTn id="60" fill="hold">
                            <p:stCondLst>
                              <p:cond delay="7000"/>
                            </p:stCondLst>
                            <p:childTnLst>
                              <p:par>
                                <p:cTn id="61" presetID="22" presetClass="exit" presetSubtype="4" fill="hold" grpId="0" nodeType="afterEffect">
                                  <p:stCondLst>
                                    <p:cond delay="0"/>
                                  </p:stCondLst>
                                  <p:childTnLst>
                                    <p:animEffect transition="out" filter="wipe(down)">
                                      <p:cBhvr>
                                        <p:cTn id="62" dur="500"/>
                                        <p:tgtEl>
                                          <p:spTgt spid="20"/>
                                        </p:tgtEl>
                                      </p:cBhvr>
                                    </p:animEffect>
                                    <p:set>
                                      <p:cBhvr>
                                        <p:cTn id="63" dur="1" fill="hold">
                                          <p:stCondLst>
                                            <p:cond delay="499"/>
                                          </p:stCondLst>
                                        </p:cTn>
                                        <p:tgtEl>
                                          <p:spTgt spid="20"/>
                                        </p:tgtEl>
                                        <p:attrNameLst>
                                          <p:attrName>style.visibility</p:attrName>
                                        </p:attrNameLst>
                                      </p:cBhvr>
                                      <p:to>
                                        <p:strVal val="hidden"/>
                                      </p:to>
                                    </p:set>
                                  </p:childTnLst>
                                </p:cTn>
                              </p:par>
                            </p:childTnLst>
                          </p:cTn>
                        </p:par>
                        <p:par>
                          <p:cTn id="64" fill="hold">
                            <p:stCondLst>
                              <p:cond delay="7500"/>
                            </p:stCondLst>
                            <p:childTnLst>
                              <p:par>
                                <p:cTn id="65" presetID="22" presetClass="exit" presetSubtype="1" fill="hold" grpId="0" nodeType="afterEffect">
                                  <p:stCondLst>
                                    <p:cond delay="0"/>
                                  </p:stCondLst>
                                  <p:childTnLst>
                                    <p:animEffect transition="out" filter="wipe(up)">
                                      <p:cBhvr>
                                        <p:cTn id="66" dur="500"/>
                                        <p:tgtEl>
                                          <p:spTgt spid="21"/>
                                        </p:tgtEl>
                                      </p:cBhvr>
                                    </p:animEffect>
                                    <p:set>
                                      <p:cBhvr>
                                        <p:cTn id="67" dur="1" fill="hold">
                                          <p:stCondLst>
                                            <p:cond delay="499"/>
                                          </p:stCondLst>
                                        </p:cTn>
                                        <p:tgtEl>
                                          <p:spTgt spid="21"/>
                                        </p:tgtEl>
                                        <p:attrNameLst>
                                          <p:attrName>style.visibility</p:attrName>
                                        </p:attrNameLst>
                                      </p:cBhvr>
                                      <p:to>
                                        <p:strVal val="hidden"/>
                                      </p:to>
                                    </p:set>
                                  </p:childTnLst>
                                </p:cTn>
                              </p:par>
                            </p:childTnLst>
                          </p:cTn>
                        </p:par>
                        <p:par>
                          <p:cTn id="68" fill="hold">
                            <p:stCondLst>
                              <p:cond delay="8000"/>
                            </p:stCondLst>
                            <p:childTnLst>
                              <p:par>
                                <p:cTn id="69" presetID="22" presetClass="exit" presetSubtype="4" fill="hold" grpId="0" nodeType="afterEffect">
                                  <p:stCondLst>
                                    <p:cond delay="0"/>
                                  </p:stCondLst>
                                  <p:childTnLst>
                                    <p:animEffect transition="out" filter="wipe(down)">
                                      <p:cBhvr>
                                        <p:cTn id="70" dur="500"/>
                                        <p:tgtEl>
                                          <p:spTgt spid="22"/>
                                        </p:tgtEl>
                                      </p:cBhvr>
                                    </p:animEffect>
                                    <p:set>
                                      <p:cBhvr>
                                        <p:cTn id="71" dur="1" fill="hold">
                                          <p:stCondLst>
                                            <p:cond delay="499"/>
                                          </p:stCondLst>
                                        </p:cTn>
                                        <p:tgtEl>
                                          <p:spTgt spid="22"/>
                                        </p:tgtEl>
                                        <p:attrNameLst>
                                          <p:attrName>style.visibility</p:attrName>
                                        </p:attrNameLst>
                                      </p:cBhvr>
                                      <p:to>
                                        <p:strVal val="hidden"/>
                                      </p:to>
                                    </p:set>
                                  </p:childTnLst>
                                </p:cTn>
                              </p:par>
                            </p:childTnLst>
                          </p:cTn>
                        </p:par>
                        <p:par>
                          <p:cTn id="72" fill="hold">
                            <p:stCondLst>
                              <p:cond delay="8500"/>
                            </p:stCondLst>
                            <p:childTnLst>
                              <p:par>
                                <p:cTn id="73" presetID="22" presetClass="exit" presetSubtype="1" fill="hold" grpId="0" nodeType="afterEffect">
                                  <p:stCondLst>
                                    <p:cond delay="0"/>
                                  </p:stCondLst>
                                  <p:childTnLst>
                                    <p:animEffect transition="out" filter="wipe(up)">
                                      <p:cBhvr>
                                        <p:cTn id="74" dur="500"/>
                                        <p:tgtEl>
                                          <p:spTgt spid="23"/>
                                        </p:tgtEl>
                                      </p:cBhvr>
                                    </p:animEffect>
                                    <p:set>
                                      <p:cBhvr>
                                        <p:cTn id="75" dur="1" fill="hold">
                                          <p:stCondLst>
                                            <p:cond delay="499"/>
                                          </p:stCondLst>
                                        </p:cTn>
                                        <p:tgtEl>
                                          <p:spTgt spid="23"/>
                                        </p:tgtEl>
                                        <p:attrNameLst>
                                          <p:attrName>style.visibility</p:attrName>
                                        </p:attrNameLst>
                                      </p:cBhvr>
                                      <p:to>
                                        <p:strVal val="hidden"/>
                                      </p:to>
                                    </p:set>
                                  </p:childTnLst>
                                </p:cTn>
                              </p:par>
                            </p:childTnLst>
                          </p:cTn>
                        </p:par>
                        <p:par>
                          <p:cTn id="76" fill="hold">
                            <p:stCondLst>
                              <p:cond delay="9000"/>
                            </p:stCondLst>
                            <p:childTnLst>
                              <p:par>
                                <p:cTn id="77" presetID="22" presetClass="exit" presetSubtype="4" fill="hold" grpId="0" nodeType="afterEffect">
                                  <p:stCondLst>
                                    <p:cond delay="0"/>
                                  </p:stCondLst>
                                  <p:childTnLst>
                                    <p:animEffect transition="out" filter="wipe(down)">
                                      <p:cBhvr>
                                        <p:cTn id="78" dur="500"/>
                                        <p:tgtEl>
                                          <p:spTgt spid="24"/>
                                        </p:tgtEl>
                                      </p:cBhvr>
                                    </p:animEffect>
                                    <p:set>
                                      <p:cBhvr>
                                        <p:cTn id="79" dur="1" fill="hold">
                                          <p:stCondLst>
                                            <p:cond delay="499"/>
                                          </p:stCondLst>
                                        </p:cTn>
                                        <p:tgtEl>
                                          <p:spTgt spid="24"/>
                                        </p:tgtEl>
                                        <p:attrNameLst>
                                          <p:attrName>style.visibility</p:attrName>
                                        </p:attrNameLst>
                                      </p:cBhvr>
                                      <p:to>
                                        <p:strVal val="hidden"/>
                                      </p:to>
                                    </p:set>
                                  </p:childTnLst>
                                </p:cTn>
                              </p:par>
                            </p:childTnLst>
                          </p:cTn>
                        </p:par>
                        <p:par>
                          <p:cTn id="80" fill="hold">
                            <p:stCondLst>
                              <p:cond delay="9500"/>
                            </p:stCondLst>
                            <p:childTnLst>
                              <p:par>
                                <p:cTn id="81" presetID="22" presetClass="exit" presetSubtype="1" fill="hold" grpId="0" nodeType="afterEffect">
                                  <p:stCondLst>
                                    <p:cond delay="0"/>
                                  </p:stCondLst>
                                  <p:childTnLst>
                                    <p:animEffect transition="out" filter="wipe(up)">
                                      <p:cBhvr>
                                        <p:cTn id="82" dur="500"/>
                                        <p:tgtEl>
                                          <p:spTgt spid="25"/>
                                        </p:tgtEl>
                                      </p:cBhvr>
                                    </p:animEffect>
                                    <p:set>
                                      <p:cBhvr>
                                        <p:cTn id="83" dur="1" fill="hold">
                                          <p:stCondLst>
                                            <p:cond delay="499"/>
                                          </p:stCondLst>
                                        </p:cTn>
                                        <p:tgtEl>
                                          <p:spTgt spid="25"/>
                                        </p:tgtEl>
                                        <p:attrNameLst>
                                          <p:attrName>style.visibility</p:attrName>
                                        </p:attrNameLst>
                                      </p:cBhvr>
                                      <p:to>
                                        <p:strVal val="hidden"/>
                                      </p:to>
                                    </p:set>
                                  </p:childTnLst>
                                </p:cTn>
                              </p:par>
                            </p:childTnLst>
                          </p:cTn>
                        </p:par>
                        <p:par>
                          <p:cTn id="84" fill="hold">
                            <p:stCondLst>
                              <p:cond delay="10000"/>
                            </p:stCondLst>
                            <p:childTnLst>
                              <p:par>
                                <p:cTn id="85" presetID="22" presetClass="exit" presetSubtype="4" fill="hold" grpId="0" nodeType="afterEffect">
                                  <p:stCondLst>
                                    <p:cond delay="0"/>
                                  </p:stCondLst>
                                  <p:childTnLst>
                                    <p:animEffect transition="out" filter="wipe(down)">
                                      <p:cBhvr>
                                        <p:cTn id="86" dur="500"/>
                                        <p:tgtEl>
                                          <p:spTgt spid="26"/>
                                        </p:tgtEl>
                                      </p:cBhvr>
                                    </p:animEffect>
                                    <p:set>
                                      <p:cBhvr>
                                        <p:cTn id="87" dur="1" fill="hold">
                                          <p:stCondLst>
                                            <p:cond delay="499"/>
                                          </p:stCondLst>
                                        </p:cTn>
                                        <p:tgtEl>
                                          <p:spTgt spid="26"/>
                                        </p:tgtEl>
                                        <p:attrNameLst>
                                          <p:attrName>style.visibility</p:attrName>
                                        </p:attrNameLst>
                                      </p:cBhvr>
                                      <p:to>
                                        <p:strVal val="hidden"/>
                                      </p:to>
                                    </p:set>
                                  </p:childTnLst>
                                </p:cTn>
                              </p:par>
                            </p:childTnLst>
                          </p:cTn>
                        </p:par>
                        <p:par>
                          <p:cTn id="88" fill="hold">
                            <p:stCondLst>
                              <p:cond delay="10500"/>
                            </p:stCondLst>
                            <p:childTnLst>
                              <p:par>
                                <p:cTn id="89" presetID="22" presetClass="exit" presetSubtype="1" fill="hold" grpId="0" nodeType="afterEffect">
                                  <p:stCondLst>
                                    <p:cond delay="0"/>
                                  </p:stCondLst>
                                  <p:childTnLst>
                                    <p:animEffect transition="out" filter="wipe(up)">
                                      <p:cBhvr>
                                        <p:cTn id="90" dur="500"/>
                                        <p:tgtEl>
                                          <p:spTgt spid="27"/>
                                        </p:tgtEl>
                                      </p:cBhvr>
                                    </p:animEffect>
                                    <p:set>
                                      <p:cBhvr>
                                        <p:cTn id="91" dur="1" fill="hold">
                                          <p:stCondLst>
                                            <p:cond delay="499"/>
                                          </p:stCondLst>
                                        </p:cTn>
                                        <p:tgtEl>
                                          <p:spTgt spid="27"/>
                                        </p:tgtEl>
                                        <p:attrNameLst>
                                          <p:attrName>style.visibility</p:attrName>
                                        </p:attrNameLst>
                                      </p:cBhvr>
                                      <p:to>
                                        <p:strVal val="hidden"/>
                                      </p:to>
                                    </p:set>
                                  </p:childTnLst>
                                </p:cTn>
                              </p:par>
                            </p:childTnLst>
                          </p:cTn>
                        </p:par>
                        <p:par>
                          <p:cTn id="92" fill="hold">
                            <p:stCondLst>
                              <p:cond delay="11000"/>
                            </p:stCondLst>
                            <p:childTnLst>
                              <p:par>
                                <p:cTn id="93" presetID="22" presetClass="exit" presetSubtype="4" fill="hold" grpId="0" nodeType="afterEffect">
                                  <p:stCondLst>
                                    <p:cond delay="0"/>
                                  </p:stCondLst>
                                  <p:childTnLst>
                                    <p:animEffect transition="out" filter="wipe(down)">
                                      <p:cBhvr>
                                        <p:cTn id="94" dur="500"/>
                                        <p:tgtEl>
                                          <p:spTgt spid="28"/>
                                        </p:tgtEl>
                                      </p:cBhvr>
                                    </p:animEffect>
                                    <p:set>
                                      <p:cBhvr>
                                        <p:cTn id="95" dur="1" fill="hold">
                                          <p:stCondLst>
                                            <p:cond delay="499"/>
                                          </p:stCondLst>
                                        </p:cTn>
                                        <p:tgtEl>
                                          <p:spTgt spid="28"/>
                                        </p:tgtEl>
                                        <p:attrNameLst>
                                          <p:attrName>style.visibility</p:attrName>
                                        </p:attrNameLst>
                                      </p:cBhvr>
                                      <p:to>
                                        <p:strVal val="hidden"/>
                                      </p:to>
                                    </p:set>
                                  </p:childTnLst>
                                </p:cTn>
                              </p:par>
                            </p:childTnLst>
                          </p:cTn>
                        </p:par>
                        <p:par>
                          <p:cTn id="96" fill="hold">
                            <p:stCondLst>
                              <p:cond delay="11500"/>
                            </p:stCondLst>
                            <p:childTnLst>
                              <p:par>
                                <p:cTn id="97" presetID="22" presetClass="exit" presetSubtype="1" fill="hold" grpId="0" nodeType="afterEffect">
                                  <p:stCondLst>
                                    <p:cond delay="0"/>
                                  </p:stCondLst>
                                  <p:childTnLst>
                                    <p:animEffect transition="out" filter="wipe(up)">
                                      <p:cBhvr>
                                        <p:cTn id="98" dur="500"/>
                                        <p:tgtEl>
                                          <p:spTgt spid="29"/>
                                        </p:tgtEl>
                                      </p:cBhvr>
                                    </p:animEffect>
                                    <p:set>
                                      <p:cBhvr>
                                        <p:cTn id="99" dur="1" fill="hold">
                                          <p:stCondLst>
                                            <p:cond delay="499"/>
                                          </p:stCondLst>
                                        </p:cTn>
                                        <p:tgtEl>
                                          <p:spTgt spid="29"/>
                                        </p:tgtEl>
                                        <p:attrNameLst>
                                          <p:attrName>style.visibility</p:attrName>
                                        </p:attrNameLst>
                                      </p:cBhvr>
                                      <p:to>
                                        <p:strVal val="hidden"/>
                                      </p:to>
                                    </p:set>
                                  </p:childTnLst>
                                </p:cTn>
                              </p:par>
                            </p:childTnLst>
                          </p:cTn>
                        </p:par>
                        <p:par>
                          <p:cTn id="100" fill="hold">
                            <p:stCondLst>
                              <p:cond delay="12000"/>
                            </p:stCondLst>
                            <p:childTnLst>
                              <p:par>
                                <p:cTn id="101" presetID="22" presetClass="exit" presetSubtype="4" fill="hold" grpId="0" nodeType="afterEffect">
                                  <p:stCondLst>
                                    <p:cond delay="0"/>
                                  </p:stCondLst>
                                  <p:childTnLst>
                                    <p:animEffect transition="out" filter="wipe(down)">
                                      <p:cBhvr>
                                        <p:cTn id="102" dur="500"/>
                                        <p:tgtEl>
                                          <p:spTgt spid="30"/>
                                        </p:tgtEl>
                                      </p:cBhvr>
                                    </p:animEffect>
                                    <p:set>
                                      <p:cBhvr>
                                        <p:cTn id="103" dur="1" fill="hold">
                                          <p:stCondLst>
                                            <p:cond delay="499"/>
                                          </p:stCondLst>
                                        </p:cTn>
                                        <p:tgtEl>
                                          <p:spTgt spid="30"/>
                                        </p:tgtEl>
                                        <p:attrNameLst>
                                          <p:attrName>style.visibility</p:attrName>
                                        </p:attrNameLst>
                                      </p:cBhvr>
                                      <p:to>
                                        <p:strVal val="hidden"/>
                                      </p:to>
                                    </p:set>
                                  </p:childTnLst>
                                </p:cTn>
                              </p:par>
                            </p:childTnLst>
                          </p:cTn>
                        </p:par>
                        <p:par>
                          <p:cTn id="104" fill="hold">
                            <p:stCondLst>
                              <p:cond delay="12500"/>
                            </p:stCondLst>
                            <p:childTnLst>
                              <p:par>
                                <p:cTn id="105" presetID="22" presetClass="exit" presetSubtype="1" fill="hold" grpId="0" nodeType="afterEffect">
                                  <p:stCondLst>
                                    <p:cond delay="0"/>
                                  </p:stCondLst>
                                  <p:childTnLst>
                                    <p:animEffect transition="out" filter="wipe(up)">
                                      <p:cBhvr>
                                        <p:cTn id="106" dur="500"/>
                                        <p:tgtEl>
                                          <p:spTgt spid="31"/>
                                        </p:tgtEl>
                                      </p:cBhvr>
                                    </p:animEffect>
                                    <p:set>
                                      <p:cBhvr>
                                        <p:cTn id="107" dur="1" fill="hold">
                                          <p:stCondLst>
                                            <p:cond delay="499"/>
                                          </p:stCondLst>
                                        </p:cTn>
                                        <p:tgtEl>
                                          <p:spTgt spid="31"/>
                                        </p:tgtEl>
                                        <p:attrNameLst>
                                          <p:attrName>style.visibility</p:attrName>
                                        </p:attrNameLst>
                                      </p:cBhvr>
                                      <p:to>
                                        <p:strVal val="hidden"/>
                                      </p:to>
                                    </p:set>
                                  </p:childTnLst>
                                </p:cTn>
                              </p:par>
                            </p:childTnLst>
                          </p:cTn>
                        </p:par>
                        <p:par>
                          <p:cTn id="108" fill="hold">
                            <p:stCondLst>
                              <p:cond delay="13000"/>
                            </p:stCondLst>
                            <p:childTnLst>
                              <p:par>
                                <p:cTn id="109" presetID="22" presetClass="exit" presetSubtype="4" fill="hold" grpId="0" nodeType="afterEffect">
                                  <p:stCondLst>
                                    <p:cond delay="0"/>
                                  </p:stCondLst>
                                  <p:childTnLst>
                                    <p:animEffect transition="out" filter="wipe(down)">
                                      <p:cBhvr>
                                        <p:cTn id="110" dur="500"/>
                                        <p:tgtEl>
                                          <p:spTgt spid="32"/>
                                        </p:tgtEl>
                                      </p:cBhvr>
                                    </p:animEffect>
                                    <p:set>
                                      <p:cBhvr>
                                        <p:cTn id="111" dur="1" fill="hold">
                                          <p:stCondLst>
                                            <p:cond delay="499"/>
                                          </p:stCondLst>
                                        </p:cTn>
                                        <p:tgtEl>
                                          <p:spTgt spid="32"/>
                                        </p:tgtEl>
                                        <p:attrNameLst>
                                          <p:attrName>style.visibility</p:attrName>
                                        </p:attrNameLst>
                                      </p:cBhvr>
                                      <p:to>
                                        <p:strVal val="hidden"/>
                                      </p:to>
                                    </p:set>
                                  </p:childTnLst>
                                </p:cTn>
                              </p:par>
                            </p:childTnLst>
                          </p:cTn>
                        </p:par>
                        <p:par>
                          <p:cTn id="112" fill="hold">
                            <p:stCondLst>
                              <p:cond delay="13500"/>
                            </p:stCondLst>
                            <p:childTnLst>
                              <p:par>
                                <p:cTn id="113" presetID="22" presetClass="exit" presetSubtype="1" fill="hold" grpId="0" nodeType="afterEffect">
                                  <p:stCondLst>
                                    <p:cond delay="0"/>
                                  </p:stCondLst>
                                  <p:childTnLst>
                                    <p:animEffect transition="out" filter="wipe(up)">
                                      <p:cBhvr>
                                        <p:cTn id="114" dur="500"/>
                                        <p:tgtEl>
                                          <p:spTgt spid="33"/>
                                        </p:tgtEl>
                                      </p:cBhvr>
                                    </p:animEffect>
                                    <p:set>
                                      <p:cBhvr>
                                        <p:cTn id="115" dur="1" fill="hold">
                                          <p:stCondLst>
                                            <p:cond delay="499"/>
                                          </p:stCondLst>
                                        </p:cTn>
                                        <p:tgtEl>
                                          <p:spTgt spid="33"/>
                                        </p:tgtEl>
                                        <p:attrNameLst>
                                          <p:attrName>style.visibility</p:attrName>
                                        </p:attrNameLst>
                                      </p:cBhvr>
                                      <p:to>
                                        <p:strVal val="hidden"/>
                                      </p:to>
                                    </p:set>
                                  </p:childTnLst>
                                </p:cTn>
                              </p:par>
                            </p:childTnLst>
                          </p:cTn>
                        </p:par>
                        <p:par>
                          <p:cTn id="116" fill="hold">
                            <p:stCondLst>
                              <p:cond delay="14000"/>
                            </p:stCondLst>
                            <p:childTnLst>
                              <p:par>
                                <p:cTn id="117" presetID="22" presetClass="exit" presetSubtype="4" fill="hold" grpId="0" nodeType="afterEffect">
                                  <p:stCondLst>
                                    <p:cond delay="0"/>
                                  </p:stCondLst>
                                  <p:childTnLst>
                                    <p:animEffect transition="out" filter="wipe(down)">
                                      <p:cBhvr>
                                        <p:cTn id="118" dur="500"/>
                                        <p:tgtEl>
                                          <p:spTgt spid="34"/>
                                        </p:tgtEl>
                                      </p:cBhvr>
                                    </p:animEffect>
                                    <p:set>
                                      <p:cBhvr>
                                        <p:cTn id="119" dur="1" fill="hold">
                                          <p:stCondLst>
                                            <p:cond delay="499"/>
                                          </p:stCondLst>
                                        </p:cTn>
                                        <p:tgtEl>
                                          <p:spTgt spid="34"/>
                                        </p:tgtEl>
                                        <p:attrNameLst>
                                          <p:attrName>style.visibility</p:attrName>
                                        </p:attrNameLst>
                                      </p:cBhvr>
                                      <p:to>
                                        <p:strVal val="hidden"/>
                                      </p:to>
                                    </p:set>
                                  </p:childTnLst>
                                </p:cTn>
                              </p:par>
                            </p:childTnLst>
                          </p:cTn>
                        </p:par>
                        <p:par>
                          <p:cTn id="120" fill="hold">
                            <p:stCondLst>
                              <p:cond delay="14500"/>
                            </p:stCondLst>
                            <p:childTnLst>
                              <p:par>
                                <p:cTn id="121" presetID="22" presetClass="exit" presetSubtype="1" fill="hold" grpId="0" nodeType="afterEffect">
                                  <p:stCondLst>
                                    <p:cond delay="0"/>
                                  </p:stCondLst>
                                  <p:childTnLst>
                                    <p:animEffect transition="out" filter="wipe(up)">
                                      <p:cBhvr>
                                        <p:cTn id="122" dur="500"/>
                                        <p:tgtEl>
                                          <p:spTgt spid="35"/>
                                        </p:tgtEl>
                                      </p:cBhvr>
                                    </p:animEffect>
                                    <p:set>
                                      <p:cBhvr>
                                        <p:cTn id="123" dur="1" fill="hold">
                                          <p:stCondLst>
                                            <p:cond delay="499"/>
                                          </p:stCondLst>
                                        </p:cTn>
                                        <p:tgtEl>
                                          <p:spTgt spid="35"/>
                                        </p:tgtEl>
                                        <p:attrNameLst>
                                          <p:attrName>style.visibility</p:attrName>
                                        </p:attrNameLst>
                                      </p:cBhvr>
                                      <p:to>
                                        <p:strVal val="hidden"/>
                                      </p:to>
                                    </p:set>
                                  </p:childTnLst>
                                </p:cTn>
                              </p:par>
                            </p:childTnLst>
                          </p:cTn>
                        </p:par>
                        <p:par>
                          <p:cTn id="124" fill="hold">
                            <p:stCondLst>
                              <p:cond delay="15000"/>
                            </p:stCondLst>
                            <p:childTnLst>
                              <p:par>
                                <p:cTn id="125" presetID="22" presetClass="exit" presetSubtype="4" fill="hold" grpId="0" nodeType="afterEffect">
                                  <p:stCondLst>
                                    <p:cond delay="0"/>
                                  </p:stCondLst>
                                  <p:childTnLst>
                                    <p:animEffect transition="out" filter="wipe(down)">
                                      <p:cBhvr>
                                        <p:cTn id="126" dur="500"/>
                                        <p:tgtEl>
                                          <p:spTgt spid="36"/>
                                        </p:tgtEl>
                                      </p:cBhvr>
                                    </p:animEffect>
                                    <p:set>
                                      <p:cBhvr>
                                        <p:cTn id="127" dur="1" fill="hold">
                                          <p:stCondLst>
                                            <p:cond delay="499"/>
                                          </p:stCondLst>
                                        </p:cTn>
                                        <p:tgtEl>
                                          <p:spTgt spid="36"/>
                                        </p:tgtEl>
                                        <p:attrNameLst>
                                          <p:attrName>style.visibility</p:attrName>
                                        </p:attrNameLst>
                                      </p:cBhvr>
                                      <p:to>
                                        <p:strVal val="hidden"/>
                                      </p:to>
                                    </p:set>
                                  </p:childTnLst>
                                </p:cTn>
                              </p:par>
                            </p:childTnLst>
                          </p:cTn>
                        </p:par>
                        <p:par>
                          <p:cTn id="128" fill="hold">
                            <p:stCondLst>
                              <p:cond delay="15500"/>
                            </p:stCondLst>
                            <p:childTnLst>
                              <p:par>
                                <p:cTn id="129" presetID="22" presetClass="exit" presetSubtype="1" fill="hold" grpId="0" nodeType="afterEffect">
                                  <p:stCondLst>
                                    <p:cond delay="0"/>
                                  </p:stCondLst>
                                  <p:childTnLst>
                                    <p:animEffect transition="out" filter="wipe(up)">
                                      <p:cBhvr>
                                        <p:cTn id="130" dur="500"/>
                                        <p:tgtEl>
                                          <p:spTgt spid="37"/>
                                        </p:tgtEl>
                                      </p:cBhvr>
                                    </p:animEffect>
                                    <p:set>
                                      <p:cBhvr>
                                        <p:cTn id="131" dur="1" fill="hold">
                                          <p:stCondLst>
                                            <p:cond delay="499"/>
                                          </p:stCondLst>
                                        </p:cTn>
                                        <p:tgtEl>
                                          <p:spTgt spid="37"/>
                                        </p:tgtEl>
                                        <p:attrNameLst>
                                          <p:attrName>style.visibility</p:attrName>
                                        </p:attrNameLst>
                                      </p:cBhvr>
                                      <p:to>
                                        <p:strVal val="hidden"/>
                                      </p:to>
                                    </p:set>
                                  </p:childTnLst>
                                </p:cTn>
                              </p:par>
                            </p:childTnLst>
                          </p:cTn>
                        </p:par>
                        <p:par>
                          <p:cTn id="132" fill="hold">
                            <p:stCondLst>
                              <p:cond delay="16000"/>
                            </p:stCondLst>
                            <p:childTnLst>
                              <p:par>
                                <p:cTn id="133" presetID="22" presetClass="exit" presetSubtype="4" fill="hold" grpId="0" nodeType="afterEffect">
                                  <p:stCondLst>
                                    <p:cond delay="0"/>
                                  </p:stCondLst>
                                  <p:childTnLst>
                                    <p:animEffect transition="out" filter="wipe(down)">
                                      <p:cBhvr>
                                        <p:cTn id="134" dur="500"/>
                                        <p:tgtEl>
                                          <p:spTgt spid="38"/>
                                        </p:tgtEl>
                                      </p:cBhvr>
                                    </p:animEffect>
                                    <p:set>
                                      <p:cBhvr>
                                        <p:cTn id="135" dur="1" fill="hold">
                                          <p:stCondLst>
                                            <p:cond delay="499"/>
                                          </p:stCondLst>
                                        </p:cTn>
                                        <p:tgtEl>
                                          <p:spTgt spid="38"/>
                                        </p:tgtEl>
                                        <p:attrNameLst>
                                          <p:attrName>style.visibility</p:attrName>
                                        </p:attrNameLst>
                                      </p:cBhvr>
                                      <p:to>
                                        <p:strVal val="hidden"/>
                                      </p:to>
                                    </p:set>
                                  </p:childTnLst>
                                </p:cTn>
                              </p:par>
                            </p:childTnLst>
                          </p:cTn>
                        </p:par>
                        <p:par>
                          <p:cTn id="136" fill="hold">
                            <p:stCondLst>
                              <p:cond delay="16500"/>
                            </p:stCondLst>
                            <p:childTnLst>
                              <p:par>
                                <p:cTn id="137" presetID="22" presetClass="exit" presetSubtype="1" fill="hold" grpId="0" nodeType="afterEffect">
                                  <p:stCondLst>
                                    <p:cond delay="0"/>
                                  </p:stCondLst>
                                  <p:childTnLst>
                                    <p:animEffect transition="out" filter="wipe(up)">
                                      <p:cBhvr>
                                        <p:cTn id="138" dur="500"/>
                                        <p:tgtEl>
                                          <p:spTgt spid="39"/>
                                        </p:tgtEl>
                                      </p:cBhvr>
                                    </p:animEffect>
                                    <p:set>
                                      <p:cBhvr>
                                        <p:cTn id="139" dur="1" fill="hold">
                                          <p:stCondLst>
                                            <p:cond delay="499"/>
                                          </p:stCondLst>
                                        </p:cTn>
                                        <p:tgtEl>
                                          <p:spTgt spid="39"/>
                                        </p:tgtEl>
                                        <p:attrNameLst>
                                          <p:attrName>style.visibility</p:attrName>
                                        </p:attrNameLst>
                                      </p:cBhvr>
                                      <p:to>
                                        <p:strVal val="hidden"/>
                                      </p:to>
                                    </p:set>
                                  </p:childTnLst>
                                </p:cTn>
                              </p:par>
                            </p:childTnLst>
                          </p:cTn>
                        </p:par>
                        <p:par>
                          <p:cTn id="140" fill="hold">
                            <p:stCondLst>
                              <p:cond delay="17000"/>
                            </p:stCondLst>
                            <p:childTnLst>
                              <p:par>
                                <p:cTn id="141" presetID="22" presetClass="exit" presetSubtype="4" fill="hold" grpId="0" nodeType="afterEffect">
                                  <p:stCondLst>
                                    <p:cond delay="0"/>
                                  </p:stCondLst>
                                  <p:childTnLst>
                                    <p:animEffect transition="out" filter="wipe(down)">
                                      <p:cBhvr>
                                        <p:cTn id="142" dur="500"/>
                                        <p:tgtEl>
                                          <p:spTgt spid="40"/>
                                        </p:tgtEl>
                                      </p:cBhvr>
                                    </p:animEffect>
                                    <p:set>
                                      <p:cBhvr>
                                        <p:cTn id="143" dur="1" fill="hold">
                                          <p:stCondLst>
                                            <p:cond delay="499"/>
                                          </p:stCondLst>
                                        </p:cTn>
                                        <p:tgtEl>
                                          <p:spTgt spid="40"/>
                                        </p:tgtEl>
                                        <p:attrNameLst>
                                          <p:attrName>style.visibility</p:attrName>
                                        </p:attrNameLst>
                                      </p:cBhvr>
                                      <p:to>
                                        <p:strVal val="hidden"/>
                                      </p:to>
                                    </p:set>
                                  </p:childTnLst>
                                </p:cTn>
                              </p:par>
                            </p:childTnLst>
                          </p:cTn>
                        </p:par>
                        <p:par>
                          <p:cTn id="144" fill="hold">
                            <p:stCondLst>
                              <p:cond delay="17500"/>
                            </p:stCondLst>
                            <p:childTnLst>
                              <p:par>
                                <p:cTn id="145" presetID="22" presetClass="exit" presetSubtype="1" fill="hold" grpId="0" nodeType="afterEffect">
                                  <p:stCondLst>
                                    <p:cond delay="0"/>
                                  </p:stCondLst>
                                  <p:childTnLst>
                                    <p:animEffect transition="out" filter="wipe(up)">
                                      <p:cBhvr>
                                        <p:cTn id="146" dur="500"/>
                                        <p:tgtEl>
                                          <p:spTgt spid="41"/>
                                        </p:tgtEl>
                                      </p:cBhvr>
                                    </p:animEffect>
                                    <p:set>
                                      <p:cBhvr>
                                        <p:cTn id="147" dur="1" fill="hold">
                                          <p:stCondLst>
                                            <p:cond delay="499"/>
                                          </p:stCondLst>
                                        </p:cTn>
                                        <p:tgtEl>
                                          <p:spTgt spid="41"/>
                                        </p:tgtEl>
                                        <p:attrNameLst>
                                          <p:attrName>style.visibility</p:attrName>
                                        </p:attrNameLst>
                                      </p:cBhvr>
                                      <p:to>
                                        <p:strVal val="hidden"/>
                                      </p:to>
                                    </p:set>
                                  </p:childTnLst>
                                </p:cTn>
                              </p:par>
                            </p:childTnLst>
                          </p:cTn>
                        </p:par>
                        <p:par>
                          <p:cTn id="148" fill="hold">
                            <p:stCondLst>
                              <p:cond delay="18000"/>
                            </p:stCondLst>
                            <p:childTnLst>
                              <p:par>
                                <p:cTn id="149" presetID="22" presetClass="exit" presetSubtype="4" fill="hold" grpId="0" nodeType="afterEffect">
                                  <p:stCondLst>
                                    <p:cond delay="0"/>
                                  </p:stCondLst>
                                  <p:childTnLst>
                                    <p:animEffect transition="out" filter="wipe(down)">
                                      <p:cBhvr>
                                        <p:cTn id="150" dur="500"/>
                                        <p:tgtEl>
                                          <p:spTgt spid="42"/>
                                        </p:tgtEl>
                                      </p:cBhvr>
                                    </p:animEffect>
                                    <p:set>
                                      <p:cBhvr>
                                        <p:cTn id="151" dur="1" fill="hold">
                                          <p:stCondLst>
                                            <p:cond delay="499"/>
                                          </p:stCondLst>
                                        </p:cTn>
                                        <p:tgtEl>
                                          <p:spTgt spid="42"/>
                                        </p:tgtEl>
                                        <p:attrNameLst>
                                          <p:attrName>style.visibility</p:attrName>
                                        </p:attrNameLst>
                                      </p:cBhvr>
                                      <p:to>
                                        <p:strVal val="hidden"/>
                                      </p:to>
                                    </p:set>
                                  </p:childTnLst>
                                </p:cTn>
                              </p:par>
                            </p:childTnLst>
                          </p:cTn>
                        </p:par>
                        <p:par>
                          <p:cTn id="152" fill="hold">
                            <p:stCondLst>
                              <p:cond delay="18500"/>
                            </p:stCondLst>
                            <p:childTnLst>
                              <p:par>
                                <p:cTn id="153" presetID="22" presetClass="exit" presetSubtype="1" fill="hold" grpId="0" nodeType="afterEffect">
                                  <p:stCondLst>
                                    <p:cond delay="0"/>
                                  </p:stCondLst>
                                  <p:childTnLst>
                                    <p:animEffect transition="out" filter="wipe(up)">
                                      <p:cBhvr>
                                        <p:cTn id="154" dur="500"/>
                                        <p:tgtEl>
                                          <p:spTgt spid="43"/>
                                        </p:tgtEl>
                                      </p:cBhvr>
                                    </p:animEffect>
                                    <p:set>
                                      <p:cBhvr>
                                        <p:cTn id="155" dur="1" fill="hold">
                                          <p:stCondLst>
                                            <p:cond delay="499"/>
                                          </p:stCondLst>
                                        </p:cTn>
                                        <p:tgtEl>
                                          <p:spTgt spid="43"/>
                                        </p:tgtEl>
                                        <p:attrNameLst>
                                          <p:attrName>style.visibility</p:attrName>
                                        </p:attrNameLst>
                                      </p:cBhvr>
                                      <p:to>
                                        <p:strVal val="hidden"/>
                                      </p:to>
                                    </p:set>
                                  </p:childTnLst>
                                </p:cTn>
                              </p:par>
                            </p:childTnLst>
                          </p:cTn>
                        </p:par>
                        <p:par>
                          <p:cTn id="156" fill="hold">
                            <p:stCondLst>
                              <p:cond delay="19000"/>
                            </p:stCondLst>
                            <p:childTnLst>
                              <p:par>
                                <p:cTn id="157" presetID="22" presetClass="exit" presetSubtype="4" fill="hold" grpId="0" nodeType="afterEffect">
                                  <p:stCondLst>
                                    <p:cond delay="0"/>
                                  </p:stCondLst>
                                  <p:childTnLst>
                                    <p:animEffect transition="out" filter="wipe(down)">
                                      <p:cBhvr>
                                        <p:cTn id="158" dur="500"/>
                                        <p:tgtEl>
                                          <p:spTgt spid="44"/>
                                        </p:tgtEl>
                                      </p:cBhvr>
                                    </p:animEffect>
                                    <p:set>
                                      <p:cBhvr>
                                        <p:cTn id="159" dur="1" fill="hold">
                                          <p:stCondLst>
                                            <p:cond delay="499"/>
                                          </p:stCondLst>
                                        </p:cTn>
                                        <p:tgtEl>
                                          <p:spTgt spid="44"/>
                                        </p:tgtEl>
                                        <p:attrNameLst>
                                          <p:attrName>style.visibility</p:attrName>
                                        </p:attrNameLst>
                                      </p:cBhvr>
                                      <p:to>
                                        <p:strVal val="hidden"/>
                                      </p:to>
                                    </p:set>
                                  </p:childTnLst>
                                </p:cTn>
                              </p:par>
                            </p:childTnLst>
                          </p:cTn>
                        </p:par>
                        <p:par>
                          <p:cTn id="160" fill="hold">
                            <p:stCondLst>
                              <p:cond delay="19500"/>
                            </p:stCondLst>
                            <p:childTnLst>
                              <p:par>
                                <p:cTn id="161" presetID="22" presetClass="exit" presetSubtype="1" fill="hold" grpId="0" nodeType="afterEffect">
                                  <p:stCondLst>
                                    <p:cond delay="0"/>
                                  </p:stCondLst>
                                  <p:childTnLst>
                                    <p:animEffect transition="out" filter="wipe(up)">
                                      <p:cBhvr>
                                        <p:cTn id="162" dur="500"/>
                                        <p:tgtEl>
                                          <p:spTgt spid="45"/>
                                        </p:tgtEl>
                                      </p:cBhvr>
                                    </p:animEffect>
                                    <p:set>
                                      <p:cBhvr>
                                        <p:cTn id="163" dur="1" fill="hold">
                                          <p:stCondLst>
                                            <p:cond delay="499"/>
                                          </p:stCondLst>
                                        </p:cTn>
                                        <p:tgtEl>
                                          <p:spTgt spid="45"/>
                                        </p:tgtEl>
                                        <p:attrNameLst>
                                          <p:attrName>style.visibility</p:attrName>
                                        </p:attrNameLst>
                                      </p:cBhvr>
                                      <p:to>
                                        <p:strVal val="hidden"/>
                                      </p:to>
                                    </p:set>
                                  </p:childTnLst>
                                </p:cTn>
                              </p:par>
                            </p:childTnLst>
                          </p:cTn>
                        </p:par>
                        <p:par>
                          <p:cTn id="164" fill="hold">
                            <p:stCondLst>
                              <p:cond delay="20000"/>
                            </p:stCondLst>
                            <p:childTnLst>
                              <p:par>
                                <p:cTn id="165" presetID="22" presetClass="exit" presetSubtype="4" fill="hold" grpId="0" nodeType="afterEffect">
                                  <p:stCondLst>
                                    <p:cond delay="0"/>
                                  </p:stCondLst>
                                  <p:childTnLst>
                                    <p:animEffect transition="out" filter="wipe(down)">
                                      <p:cBhvr>
                                        <p:cTn id="166" dur="500"/>
                                        <p:tgtEl>
                                          <p:spTgt spid="46"/>
                                        </p:tgtEl>
                                      </p:cBhvr>
                                    </p:animEffect>
                                    <p:set>
                                      <p:cBhvr>
                                        <p:cTn id="167" dur="1" fill="hold">
                                          <p:stCondLst>
                                            <p:cond delay="499"/>
                                          </p:stCondLst>
                                        </p:cTn>
                                        <p:tgtEl>
                                          <p:spTgt spid="4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时分复用</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TDMA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6.2</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7088800" cy="707886"/>
          </a:xfrm>
          <a:prstGeom prst="rect">
            <a:avLst/>
          </a:prstGeom>
          <a:noFill/>
        </p:spPr>
        <p:txBody>
          <a:bodyPr wrap="none" rtlCol="0">
            <a:spAutoFit/>
          </a:bodyPr>
          <a:lstStyle/>
          <a:p>
            <a:pPr algn="l"/>
            <a:r>
              <a:rPr lang="zh-CN" altLang="en-US" sz="2000" dirty="0">
                <a:solidFill>
                  <a:schemeClr val="tx1"/>
                </a:solidFill>
                <a:latin typeface="IBM Plex Sans Light" panose="020B0403050203000203" pitchFamily="34" charset="0"/>
                <a:ea typeface="微软雅黑 Light" panose="020B0502040204020203" pitchFamily="34" charset="-122"/>
              </a:rPr>
              <a:t>早期用于</a:t>
            </a:r>
            <a:r>
              <a:rPr lang="en-US" altLang="zh-CN" sz="2000" dirty="0">
                <a:solidFill>
                  <a:schemeClr val="tx1"/>
                </a:solidFill>
                <a:latin typeface="IBM Plex Sans Light" panose="020B0403050203000203" pitchFamily="34" charset="0"/>
                <a:ea typeface="微软雅黑 Light" panose="020B0502040204020203" pitchFamily="34" charset="-122"/>
              </a:rPr>
              <a:t>2G</a:t>
            </a:r>
            <a:r>
              <a:rPr lang="zh-CN" altLang="en-US" sz="2000" dirty="0">
                <a:solidFill>
                  <a:schemeClr val="tx1"/>
                </a:solidFill>
                <a:latin typeface="IBM Plex Sans Light" panose="020B0403050203000203" pitchFamily="34" charset="0"/>
                <a:ea typeface="微软雅黑 Light" panose="020B0502040204020203" pitchFamily="34" charset="-122"/>
              </a:rPr>
              <a:t>通信，现在广泛应用于程控电话交换网络</a:t>
            </a:r>
            <a:r>
              <a:rPr lang="en-US" altLang="zh-CN" sz="2000" dirty="0">
                <a:solidFill>
                  <a:schemeClr val="tx1"/>
                </a:solidFill>
                <a:latin typeface="IBM Plex Sans Light" panose="020B0403050203000203" pitchFamily="34" charset="0"/>
                <a:ea typeface="微软雅黑 Light" panose="020B0502040204020203" pitchFamily="34" charset="-122"/>
              </a:rPr>
              <a:t>(</a:t>
            </a:r>
            <a:r>
              <a:rPr lang="zh-CN" altLang="en-US" sz="2000" dirty="0">
                <a:solidFill>
                  <a:schemeClr val="tx1"/>
                </a:solidFill>
                <a:latin typeface="IBM Plex Sans Light" panose="020B0403050203000203" pitchFamily="34" charset="0"/>
                <a:ea typeface="微软雅黑 Light" panose="020B0502040204020203" pitchFamily="34" charset="-122"/>
              </a:rPr>
              <a:t>固话</a:t>
            </a:r>
            <a:r>
              <a:rPr lang="en-US" altLang="zh-CN" sz="2000" dirty="0">
                <a:solidFill>
                  <a:schemeClr val="tx1"/>
                </a:solidFill>
                <a:latin typeface="IBM Plex Sans Light" panose="020B0403050203000203" pitchFamily="34" charset="0"/>
                <a:ea typeface="微软雅黑 Light" panose="020B0502040204020203" pitchFamily="34" charset="-122"/>
              </a:rPr>
              <a:t>)</a:t>
            </a:r>
          </a:p>
          <a:p>
            <a:pPr algn="l"/>
            <a:r>
              <a:rPr lang="zh-CN" altLang="en-US" sz="2000" dirty="0">
                <a:latin typeface="IBM Plex Sans Light" panose="020B0403050203000203" pitchFamily="34" charset="0"/>
                <a:ea typeface="微软雅黑 Light" panose="020B0502040204020203" pitchFamily="34" charset="-122"/>
              </a:rPr>
              <a:t>通过为每个用户分配不同的</a:t>
            </a:r>
            <a:r>
              <a:rPr lang="zh-CN" altLang="en-US" sz="2000" b="1" dirty="0">
                <a:solidFill>
                  <a:srgbClr val="FF0000"/>
                </a:solidFill>
                <a:latin typeface="IBM Plex Sans Light" panose="020B0403050203000203" pitchFamily="34" charset="0"/>
                <a:ea typeface="微软雅黑 Light" panose="020B0502040204020203" pitchFamily="34" charset="-122"/>
              </a:rPr>
              <a:t>时隙 </a:t>
            </a:r>
            <a:r>
              <a:rPr lang="en-US" altLang="zh-CN" sz="2000" b="1" dirty="0">
                <a:solidFill>
                  <a:srgbClr val="FF0000"/>
                </a:solidFill>
                <a:latin typeface="IBM Plex Sans Light" panose="020B0403050203000203" pitchFamily="34" charset="0"/>
                <a:ea typeface="微软雅黑 Light" panose="020B0502040204020203" pitchFamily="34" charset="-122"/>
              </a:rPr>
              <a:t>– slot </a:t>
            </a:r>
            <a:r>
              <a:rPr lang="zh-CN" altLang="en-US" sz="2000" dirty="0">
                <a:latin typeface="IBM Plex Sans Light" panose="020B0403050203000203" pitchFamily="34" charset="0"/>
                <a:ea typeface="微软雅黑 Light" panose="020B0502040204020203" pitchFamily="34" charset="-122"/>
              </a:rPr>
              <a:t>实现多用户的通信</a:t>
            </a:r>
            <a:endParaRPr lang="en-US" altLang="zh-CN" sz="2000" dirty="0">
              <a:latin typeface="IBM Plex Sans Light" panose="020B0403050203000203" pitchFamily="34" charset="0"/>
              <a:ea typeface="微软雅黑 Light" panose="020B0502040204020203" pitchFamily="34" charset="-122"/>
            </a:endParaRPr>
          </a:p>
        </p:txBody>
      </p:sp>
      <p:pic>
        <p:nvPicPr>
          <p:cNvPr id="1026" name="Picture 2">
            <a:extLst>
              <a:ext uri="{FF2B5EF4-FFF2-40B4-BE49-F238E27FC236}">
                <a16:creationId xmlns:a16="http://schemas.microsoft.com/office/drawing/2014/main" id="{CBAF58D8-126E-405B-94A3-306B1B15134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5185" l="3981" r="97134">
                        <a14:foregroundMark x1="11306" y1="10000" x2="7166" y2="20000"/>
                        <a14:foregroundMark x1="7166" y1="20000" x2="7325" y2="33148"/>
                        <a14:foregroundMark x1="4936" y1="39630" x2="4140" y2="41481"/>
                        <a14:foregroundMark x1="51115" y1="51296" x2="49841" y2="60926"/>
                        <a14:foregroundMark x1="49841" y1="60926" x2="50000" y2="61111"/>
                        <a14:foregroundMark x1="86624" y1="52407" x2="90446" y2="52407"/>
                        <a14:foregroundMark x1="87739" y1="44815" x2="96338" y2="44259"/>
                        <a14:foregroundMark x1="96338" y1="44259" x2="97134" y2="44259"/>
                        <a14:foregroundMark x1="91879" y1="34630" x2="91879" y2="32778"/>
                        <a14:foregroundMark x1="15127" y1="91852" x2="17994" y2="91852"/>
                        <a14:foregroundMark x1="16242" y1="95185" x2="18153" y2="94630"/>
                        <a14:foregroundMark x1="56529" y1="62963" x2="56847" y2="63148"/>
                        <a14:foregroundMark x1="4936" y1="55741" x2="5255" y2="56481"/>
                        <a14:foregroundMark x1="93790" y1="48519" x2="93790" y2="48704"/>
                        <a14:foregroundMark x1="93471" y1="51667" x2="93471" y2="51667"/>
                        <a14:foregroundMark x1="89013" y1="48519" x2="89013" y2="48519"/>
                        <a14:foregroundMark x1="93631" y1="50185" x2="93631" y2="50185"/>
                        <a14:foregroundMark x1="89172" y1="47037" x2="89172" y2="47037"/>
                        <a14:backgroundMark x1="61306" y1="75556" x2="68790" y2="84630"/>
                        <a14:backgroundMark x1="68790" y1="84630" x2="93471" y2="87222"/>
                        <a14:backgroundMark x1="93471" y1="87222" x2="94108" y2="74630"/>
                        <a14:backgroundMark x1="94108" y1="74630" x2="80096" y2="69815"/>
                        <a14:backgroundMark x1="80096" y1="69815" x2="37580" y2="96667"/>
                        <a14:backgroundMark x1="95223" y1="32407" x2="90605" y2="24815"/>
                        <a14:backgroundMark x1="90605" y1="24815" x2="81529" y2="36852"/>
                        <a14:backgroundMark x1="81529" y1="36852" x2="71497" y2="33704"/>
                        <a14:backgroundMark x1="71497" y1="33704" x2="73726" y2="21852"/>
                        <a14:backgroundMark x1="73726" y1="21852" x2="63376" y2="11481"/>
                        <a14:backgroundMark x1="63376" y1="11481" x2="11146" y2="2222"/>
                        <a14:backgroundMark x1="11146" y1="2222" x2="3185" y2="3148"/>
                        <a14:backgroundMark x1="1752" y1="51111" x2="2070" y2="85556"/>
                        <a14:backgroundMark x1="2070" y1="85556" x2="3981" y2="95741"/>
                        <a14:backgroundMark x1="3981" y1="95741" x2="13057" y2="98889"/>
                        <a14:backgroundMark x1="13057" y1="98889" x2="31529" y2="97037"/>
                        <a14:backgroundMark x1="31529" y1="97037" x2="50478" y2="84074"/>
                        <a14:backgroundMark x1="87420" y1="47963" x2="87420" y2="47963"/>
                      </a14:backgroundRemoval>
                    </a14:imgEffect>
                  </a14:imgLayer>
                </a14:imgProps>
              </a:ext>
              <a:ext uri="{28A0092B-C50C-407E-A947-70E740481C1C}">
                <a14:useLocalDpi xmlns:a14="http://schemas.microsoft.com/office/drawing/2010/main" val="0"/>
              </a:ext>
            </a:extLst>
          </a:blip>
          <a:srcRect/>
          <a:stretch>
            <a:fillRect/>
          </a:stretch>
        </p:blipFill>
        <p:spPr bwMode="auto">
          <a:xfrm flipH="1">
            <a:off x="8839200" y="3429000"/>
            <a:ext cx="2880000" cy="24764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2385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码分多址</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371750" cy="1323439"/>
          </a:xfrm>
          <a:prstGeom prst="rect">
            <a:avLst/>
          </a:prstGeom>
          <a:noFill/>
        </p:spPr>
        <p:txBody>
          <a:bodyPr wrap="none" rtlCol="0">
            <a:spAutoFit/>
          </a:bodyPr>
          <a:lstStyle/>
          <a:p>
            <a:pPr algn="l"/>
            <a:r>
              <a:rPr lang="zh-CN" altLang="en-US" sz="2000" dirty="0">
                <a:solidFill>
                  <a:schemeClr val="tx1"/>
                </a:solidFill>
                <a:latin typeface="IBM Plex Sans Light" panose="020B0403050203000203" pitchFamily="34" charset="0"/>
                <a:ea typeface="微软雅黑 Light" panose="020B0502040204020203" pitchFamily="34" charset="-122"/>
              </a:rPr>
              <a:t>早期用于</a:t>
            </a:r>
            <a:r>
              <a:rPr lang="en-US" altLang="zh-CN" sz="2000" dirty="0">
                <a:solidFill>
                  <a:schemeClr val="tx1"/>
                </a:solidFill>
                <a:latin typeface="IBM Plex Sans Light" panose="020B0403050203000203" pitchFamily="34" charset="0"/>
                <a:ea typeface="微软雅黑 Light" panose="020B0502040204020203" pitchFamily="34" charset="-122"/>
              </a:rPr>
              <a:t>3G</a:t>
            </a:r>
            <a:r>
              <a:rPr lang="zh-CN" altLang="en-US" sz="2000" dirty="0">
                <a:solidFill>
                  <a:schemeClr val="tx1"/>
                </a:solidFill>
                <a:latin typeface="IBM Plex Sans Light" panose="020B0403050203000203" pitchFamily="34" charset="0"/>
                <a:ea typeface="微软雅黑 Light" panose="020B0502040204020203" pitchFamily="34" charset="-122"/>
              </a:rPr>
              <a:t>通信</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algn="l"/>
            <a:r>
              <a:rPr lang="zh-CN" altLang="en-US" sz="2000" dirty="0">
                <a:solidFill>
                  <a:schemeClr val="tx1"/>
                </a:solidFill>
                <a:latin typeface="IBM Plex Sans Light" panose="020B0403050203000203" pitchFamily="34" charset="0"/>
                <a:ea typeface="微软雅黑 Light" panose="020B0502040204020203" pitchFamily="34" charset="-122"/>
              </a:rPr>
              <a:t>主要用于多址接入，又称：</a:t>
            </a:r>
            <a:r>
              <a:rPr lang="zh-CN" altLang="en-US" sz="2000" dirty="0">
                <a:latin typeface="IBM Plex Sans Light" panose="020B0403050203000203" pitchFamily="34" charset="0"/>
                <a:ea typeface="微软雅黑 Light" panose="020B0502040204020203" pitchFamily="34" charset="-122"/>
              </a:rPr>
              <a:t>码分多址</a:t>
            </a:r>
            <a:r>
              <a:rPr lang="en-US" altLang="zh-CN" sz="2000" dirty="0">
                <a:latin typeface="IBM Plex Sans Light" panose="020B0403050203000203" pitchFamily="34" charset="0"/>
                <a:ea typeface="微软雅黑 Light" panose="020B0502040204020203" pitchFamily="34" charset="-122"/>
              </a:rPr>
              <a:t>CDMA- Code Division Multiple Access</a:t>
            </a:r>
          </a:p>
          <a:p>
            <a:r>
              <a:rPr lang="zh-CN" altLang="en-US" sz="2000" dirty="0">
                <a:solidFill>
                  <a:srgbClr val="FF0000"/>
                </a:solidFill>
                <a:latin typeface="IBM Plex Sans Light" panose="020B0403050203000203" pitchFamily="34" charset="0"/>
                <a:ea typeface="微软雅黑 Light" panose="020B0502040204020203" pitchFamily="34" charset="-122"/>
              </a:rPr>
              <a:t>不同的用户可以在相同的时间使用同一频率通信</a:t>
            </a:r>
            <a:endParaRPr lang="en-US" altLang="zh-CN" sz="2000" dirty="0">
              <a:solidFill>
                <a:srgbClr val="FF0000"/>
              </a:solidFill>
              <a:latin typeface="IBM Plex Sans Light" panose="020B0403050203000203" pitchFamily="34" charset="0"/>
              <a:ea typeface="微软雅黑 Light" panose="020B0502040204020203" pitchFamily="34" charset="-122"/>
            </a:endParaRPr>
          </a:p>
          <a:p>
            <a:r>
              <a:rPr lang="en-US" altLang="zh-CN" sz="2000" dirty="0">
                <a:latin typeface="IBM Plex Sans Light" panose="020B0403050203000203" pitchFamily="34" charset="0"/>
                <a:ea typeface="微软雅黑 Light" panose="020B0502040204020203" pitchFamily="34" charset="-122"/>
              </a:rPr>
              <a:t>CDMA</a:t>
            </a:r>
            <a:r>
              <a:rPr lang="zh-CN" altLang="en-US" sz="2000" dirty="0">
                <a:latin typeface="IBM Plex Sans Light" panose="020B0403050203000203" pitchFamily="34" charset="0"/>
                <a:ea typeface="微软雅黑 Light" panose="020B0502040204020203" pitchFamily="34" charset="-122"/>
              </a:rPr>
              <a:t>技术最早起源于第二次世界大战期间，由于其抗干扰性比较好，早期多用于军事通信</a:t>
            </a:r>
            <a:endParaRPr lang="en-US" altLang="zh-CN" sz="2000" dirty="0">
              <a:latin typeface="IBM Plex Sans Light" panose="020B0403050203000203" pitchFamily="34" charset="0"/>
              <a:ea typeface="微软雅黑 Light" panose="020B0502040204020203" pitchFamily="34" charset="-122"/>
            </a:endParaRPr>
          </a:p>
        </p:txBody>
      </p:sp>
      <p:sp>
        <p:nvSpPr>
          <p:cNvPr id="7" name="文本框 6">
            <a:extLst>
              <a:ext uri="{FF2B5EF4-FFF2-40B4-BE49-F238E27FC236}">
                <a16:creationId xmlns:a16="http://schemas.microsoft.com/office/drawing/2014/main" id="{FA0B584D-65AE-4DBB-A2A5-B7F2BE38BDA1}"/>
              </a:ext>
            </a:extLst>
          </p:cNvPr>
          <p:cNvSpPr txBox="1"/>
          <p:nvPr/>
        </p:nvSpPr>
        <p:spPr>
          <a:xfrm>
            <a:off x="344963" y="3286250"/>
            <a:ext cx="6973384" cy="2246769"/>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latin typeface="IBM Plex Sans Light" panose="020B0403050203000203" pitchFamily="34" charset="0"/>
                <a:ea typeface="微软雅黑 Light" panose="020B0502040204020203" pitchFamily="34" charset="-122"/>
              </a:rPr>
              <a:t>1989</a:t>
            </a:r>
            <a:r>
              <a:rPr lang="zh-CN" altLang="en-US" sz="2000" dirty="0">
                <a:latin typeface="IBM Plex Sans Light" panose="020B0403050203000203" pitchFamily="34" charset="0"/>
                <a:ea typeface="微软雅黑 Light" panose="020B0502040204020203" pitchFamily="34" charset="-122"/>
              </a:rPr>
              <a:t>年，高通公司将改技术用于商业手机网络</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IBM Plex Sans Light" panose="020B0403050203000203" pitchFamily="34" charset="0"/>
                <a:ea typeface="微软雅黑 Light" panose="020B0502040204020203" pitchFamily="34" charset="-122"/>
              </a:rPr>
              <a:t>1993</a:t>
            </a:r>
            <a:r>
              <a:rPr lang="zh-CN" altLang="en-US" sz="2000" dirty="0">
                <a:latin typeface="IBM Plex Sans Light" panose="020B0403050203000203" pitchFamily="34" charset="0"/>
                <a:ea typeface="微软雅黑 Light" panose="020B0502040204020203" pitchFamily="34" charset="-122"/>
              </a:rPr>
              <a:t>年，美国批准第一个</a:t>
            </a:r>
            <a:r>
              <a:rPr lang="en-US" altLang="zh-CN" sz="2000" dirty="0">
                <a:latin typeface="IBM Plex Sans Light" panose="020B0403050203000203" pitchFamily="34" charset="0"/>
                <a:ea typeface="微软雅黑 Light" panose="020B0502040204020203" pitchFamily="34" charset="-122"/>
              </a:rPr>
              <a:t>CDMA</a:t>
            </a:r>
            <a:r>
              <a:rPr lang="zh-CN" altLang="en-US" sz="2000" dirty="0">
                <a:latin typeface="IBM Plex Sans Light" panose="020B0403050203000203" pitchFamily="34" charset="0"/>
                <a:ea typeface="微软雅黑 Light" panose="020B0502040204020203" pitchFamily="34" charset="-122"/>
              </a:rPr>
              <a:t>标准</a:t>
            </a:r>
            <a:r>
              <a:rPr lang="en-US" altLang="zh-CN" sz="2000" dirty="0">
                <a:latin typeface="IBM Plex Sans Light" panose="020B0403050203000203" pitchFamily="34" charset="0"/>
                <a:ea typeface="微软雅黑 Light" panose="020B0502040204020203" pitchFamily="34" charset="-122"/>
              </a:rPr>
              <a:t>IS95</a:t>
            </a:r>
            <a:r>
              <a:rPr lang="zh-CN" altLang="en-US" sz="2000" dirty="0">
                <a:latin typeface="IBM Plex Sans Light" panose="020B0403050203000203" pitchFamily="34" charset="0"/>
                <a:ea typeface="微软雅黑 Light" panose="020B0502040204020203" pitchFamily="34" charset="-122"/>
              </a:rPr>
              <a:t>为</a:t>
            </a:r>
            <a:r>
              <a:rPr lang="en-US" altLang="zh-CN" sz="2000" dirty="0">
                <a:latin typeface="IBM Plex Sans Light" panose="020B0403050203000203" pitchFamily="34" charset="0"/>
                <a:ea typeface="微软雅黑 Light" panose="020B0502040204020203" pitchFamily="34" charset="-122"/>
              </a:rPr>
              <a:t>2G</a:t>
            </a:r>
            <a:r>
              <a:rPr lang="zh-CN" altLang="en-US" sz="2000" dirty="0">
                <a:latin typeface="IBM Plex Sans Light" panose="020B0403050203000203" pitchFamily="34" charset="0"/>
                <a:ea typeface="微软雅黑 Light" panose="020B0502040204020203" pitchFamily="34" charset="-122"/>
              </a:rPr>
              <a:t>标准</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IBM Plex Sans Light" panose="020B0403050203000203" pitchFamily="34" charset="0"/>
                <a:ea typeface="微软雅黑 Light" panose="020B0502040204020203" pitchFamily="34" charset="-122"/>
              </a:rPr>
              <a:t>1994</a:t>
            </a:r>
            <a:r>
              <a:rPr lang="zh-CN" altLang="en-US" sz="2000" dirty="0">
                <a:latin typeface="IBM Plex Sans Light" panose="020B0403050203000203" pitchFamily="34" charset="0"/>
                <a:ea typeface="微软雅黑 Light" panose="020B0502040204020203" pitchFamily="34" charset="-122"/>
              </a:rPr>
              <a:t>年，香港建成世界上第一个</a:t>
            </a:r>
            <a:r>
              <a:rPr lang="en-US" altLang="zh-CN" sz="2000" dirty="0">
                <a:latin typeface="IBM Plex Sans Light" panose="020B0403050203000203" pitchFamily="34" charset="0"/>
                <a:ea typeface="微软雅黑 Light" panose="020B0502040204020203" pitchFamily="34" charset="-122"/>
              </a:rPr>
              <a:t>CDMA</a:t>
            </a:r>
            <a:r>
              <a:rPr lang="zh-CN" altLang="en-US" sz="2000" dirty="0">
                <a:latin typeface="IBM Plex Sans Light" panose="020B0403050203000203" pitchFamily="34" charset="0"/>
                <a:ea typeface="微软雅黑 Light" panose="020B0502040204020203" pitchFamily="34" charset="-122"/>
              </a:rPr>
              <a:t>商用网络</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IBM Plex Sans Light" panose="020B0403050203000203" pitchFamily="34" charset="0"/>
                <a:ea typeface="微软雅黑 Light" panose="020B0502040204020203" pitchFamily="34" charset="-122"/>
              </a:rPr>
              <a:t>2000</a:t>
            </a:r>
            <a:r>
              <a:rPr lang="zh-CN" altLang="en-US" sz="2000" dirty="0">
                <a:latin typeface="IBM Plex Sans Light" panose="020B0403050203000203" pitchFamily="34" charset="0"/>
                <a:ea typeface="微软雅黑 Light" panose="020B0502040204020203" pitchFamily="34" charset="-122"/>
              </a:rPr>
              <a:t>年，中国联通与高通签署协议，</a:t>
            </a:r>
            <a:r>
              <a:rPr lang="en-US" altLang="zh-CN" sz="2000" dirty="0">
                <a:latin typeface="IBM Plex Sans Light" panose="020B0403050203000203" pitchFamily="34" charset="0"/>
                <a:ea typeface="微软雅黑 Light" panose="020B0502040204020203" pitchFamily="34" charset="-122"/>
              </a:rPr>
              <a:t>CDMA</a:t>
            </a:r>
            <a:r>
              <a:rPr lang="zh-CN" altLang="en-US" sz="2000" dirty="0">
                <a:latin typeface="IBM Plex Sans Light" panose="020B0403050203000203" pitchFamily="34" charset="0"/>
                <a:ea typeface="微软雅黑 Light" panose="020B0502040204020203" pitchFamily="34" charset="-122"/>
              </a:rPr>
              <a:t>进入中国大陆</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IBM Plex Sans Light" panose="020B0403050203000203" pitchFamily="34" charset="0"/>
                <a:ea typeface="微软雅黑 Light" panose="020B0502040204020203" pitchFamily="34" charset="-122"/>
              </a:rPr>
              <a:t>2001</a:t>
            </a:r>
            <a:r>
              <a:rPr lang="zh-CN" altLang="en-US" sz="2000" dirty="0">
                <a:latin typeface="IBM Plex Sans Light" panose="020B0403050203000203" pitchFamily="34" charset="0"/>
                <a:ea typeface="微软雅黑 Light" panose="020B0502040204020203" pitchFamily="34" charset="-122"/>
              </a:rPr>
              <a:t>年，</a:t>
            </a:r>
            <a:r>
              <a:rPr lang="en-US" altLang="zh-CN" sz="2000" dirty="0">
                <a:latin typeface="IBM Plex Sans Light" panose="020B0403050203000203" pitchFamily="34" charset="0"/>
                <a:ea typeface="微软雅黑 Light" panose="020B0502040204020203" pitchFamily="34" charset="-122"/>
              </a:rPr>
              <a:t>CDMA</a:t>
            </a:r>
            <a:r>
              <a:rPr lang="zh-CN" altLang="en-US" sz="2000" dirty="0">
                <a:latin typeface="IBM Plex Sans Light" panose="020B0403050203000203" pitchFamily="34" charset="0"/>
                <a:ea typeface="微软雅黑 Light" panose="020B0502040204020203" pitchFamily="34" charset="-122"/>
              </a:rPr>
              <a:t>手机开始大规模销售</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IBM Plex Sans Light" panose="020B0403050203000203" pitchFamily="34" charset="0"/>
                <a:ea typeface="微软雅黑 Light" panose="020B0502040204020203" pitchFamily="34" charset="-122"/>
              </a:rPr>
              <a:t>2007</a:t>
            </a:r>
            <a:r>
              <a:rPr lang="zh-CN" altLang="en-US" sz="2000" dirty="0">
                <a:latin typeface="IBM Plex Sans Light" panose="020B0403050203000203" pitchFamily="34" charset="0"/>
                <a:ea typeface="微软雅黑 Light" panose="020B0502040204020203" pitchFamily="34" charset="-122"/>
              </a:rPr>
              <a:t>年，澳大利亚第一个关闭了</a:t>
            </a:r>
            <a:r>
              <a:rPr lang="en-US" altLang="zh-CN" sz="2000" dirty="0">
                <a:latin typeface="IBM Plex Sans Light" panose="020B0403050203000203" pitchFamily="34" charset="0"/>
                <a:ea typeface="微软雅黑 Light" panose="020B0502040204020203" pitchFamily="34" charset="-122"/>
              </a:rPr>
              <a:t>CDMA</a:t>
            </a:r>
            <a:r>
              <a:rPr lang="zh-CN" altLang="en-US" sz="2000" dirty="0">
                <a:latin typeface="IBM Plex Sans Light" panose="020B0403050203000203" pitchFamily="34" charset="0"/>
                <a:ea typeface="微软雅黑 Light" panose="020B0502040204020203" pitchFamily="34" charset="-122"/>
              </a:rPr>
              <a:t>网络</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IBM Plex Sans Light" panose="020B0403050203000203" pitchFamily="34" charset="0"/>
                <a:ea typeface="微软雅黑 Light" panose="020B0502040204020203" pitchFamily="34" charset="-122"/>
              </a:rPr>
              <a:t>2018</a:t>
            </a:r>
            <a:r>
              <a:rPr lang="zh-CN" altLang="en-US" sz="2000" dirty="0">
                <a:latin typeface="IBM Plex Sans Light" panose="020B0403050203000203" pitchFamily="34" charset="0"/>
                <a:ea typeface="微软雅黑 Light" panose="020B0502040204020203" pitchFamily="34" charset="-122"/>
              </a:rPr>
              <a:t>年，中国电信宣布逐步关闭</a:t>
            </a:r>
            <a:r>
              <a:rPr lang="en-US" altLang="zh-CN" sz="2000" dirty="0">
                <a:latin typeface="IBM Plex Sans Light" panose="020B0403050203000203" pitchFamily="34" charset="0"/>
                <a:ea typeface="微软雅黑 Light" panose="020B0502040204020203" pitchFamily="34" charset="-122"/>
              </a:rPr>
              <a:t>CDMA</a:t>
            </a:r>
            <a:r>
              <a:rPr lang="zh-CN" altLang="en-US" sz="2000" dirty="0">
                <a:latin typeface="IBM Plex Sans Light" panose="020B0403050203000203" pitchFamily="34" charset="0"/>
                <a:ea typeface="微软雅黑 Light" panose="020B0502040204020203" pitchFamily="34" charset="-122"/>
              </a:rPr>
              <a:t>网络</a:t>
            </a:r>
            <a:endParaRPr lang="en-US" altLang="zh-CN" sz="2000" dirty="0">
              <a:latin typeface="IBM Plex Sans Light" panose="020B0403050203000203" pitchFamily="34" charset="0"/>
              <a:ea typeface="微软雅黑 Light" panose="020B0502040204020203" pitchFamily="34" charset="-122"/>
            </a:endParaRPr>
          </a:p>
        </p:txBody>
      </p:sp>
      <p:pic>
        <p:nvPicPr>
          <p:cNvPr id="8" name="图片 7">
            <a:extLst>
              <a:ext uri="{FF2B5EF4-FFF2-40B4-BE49-F238E27FC236}">
                <a16:creationId xmlns:a16="http://schemas.microsoft.com/office/drawing/2014/main" id="{7EBC676A-9C83-4D6F-81D8-CF8EC84DCE04}"/>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3448" b="96552" l="2833" r="95184">
                        <a14:foregroundMark x1="28895" y1="21456" x2="34561" y2="29885"/>
                        <a14:foregroundMark x1="56941" y1="9962" x2="64873" y2="5747"/>
                        <a14:foregroundMark x1="18130" y1="39464" x2="11331" y2="40613"/>
                        <a14:foregroundMark x1="2833" y1="50192" x2="2833" y2="50192"/>
                        <a14:foregroundMark x1="49575" y1="82375" x2="49575" y2="82375"/>
                        <a14:foregroundMark x1="61756" y1="94636" x2="61756" y2="94636"/>
                        <a14:foregroundMark x1="36261" y1="96552" x2="36261" y2="96552"/>
                        <a14:foregroundMark x1="77620" y1="54406" x2="77620" y2="54406"/>
                        <a14:foregroundMark x1="95467" y1="50192" x2="95467" y2="50192"/>
                        <a14:foregroundMark x1="37960" y1="3448" x2="37960" y2="3448"/>
                        <a14:foregroundMark x1="61190" y1="96552" x2="61190" y2="96552"/>
                        <a14:backgroundMark x1="16147" y1="13027" x2="15014" y2="22989"/>
                        <a14:backgroundMark x1="9348" y1="77395" x2="20397" y2="92337"/>
                        <a14:backgroundMark x1="84419" y1="89272" x2="92918" y2="79310"/>
                      </a14:backgroundRemoval>
                    </a14:imgEffect>
                  </a14:imgLayer>
                </a14:imgProps>
              </a:ext>
            </a:extLst>
          </a:blip>
          <a:stretch>
            <a:fillRect/>
          </a:stretch>
        </p:blipFill>
        <p:spPr>
          <a:xfrm>
            <a:off x="9882435" y="4867580"/>
            <a:ext cx="1800000" cy="133087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34051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码分多址</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451189" y="2718293"/>
            <a:ext cx="11289622" cy="707886"/>
          </a:xfrm>
          <a:prstGeom prst="rect">
            <a:avLst/>
          </a:prstGeom>
          <a:noFill/>
        </p:spPr>
        <p:txBody>
          <a:bodyPr wrap="square" rtlCol="0">
            <a:spAutoFit/>
          </a:bodyPr>
          <a:lstStyle/>
          <a:p>
            <a:pPr indent="457200" algn="just"/>
            <a:r>
              <a:rPr lang="zh-CN" altLang="en-US" sz="2000" dirty="0">
                <a:solidFill>
                  <a:schemeClr val="tx1"/>
                </a:solidFill>
                <a:latin typeface="IBM Plex Sans Light" panose="020B0403050203000203" pitchFamily="34" charset="0"/>
                <a:ea typeface="微软雅黑 Light" panose="020B0502040204020203" pitchFamily="34" charset="-122"/>
              </a:rPr>
              <a:t>基站的每一个</a:t>
            </a:r>
            <a:r>
              <a:rPr lang="en-US" altLang="zh-CN" sz="2000" dirty="0">
                <a:solidFill>
                  <a:schemeClr val="tx1"/>
                </a:solidFill>
                <a:latin typeface="IBM Plex Sans Light" panose="020B0403050203000203" pitchFamily="34" charset="0"/>
                <a:ea typeface="微软雅黑 Light" panose="020B0502040204020203" pitchFamily="34" charset="-122"/>
              </a:rPr>
              <a:t>bit</a:t>
            </a:r>
            <a:r>
              <a:rPr lang="zh-CN" altLang="en-US" sz="2000" dirty="0">
                <a:solidFill>
                  <a:schemeClr val="tx1"/>
                </a:solidFill>
                <a:latin typeface="IBM Plex Sans Light" panose="020B0403050203000203" pitchFamily="34" charset="0"/>
                <a:ea typeface="微软雅黑 Light" panose="020B0502040204020203" pitchFamily="34" charset="-122"/>
              </a:rPr>
              <a:t>都被转换成</a:t>
            </a:r>
            <a:r>
              <a:rPr lang="en-US" altLang="zh-CN" sz="2000" dirty="0">
                <a:solidFill>
                  <a:schemeClr val="tx1"/>
                </a:solidFill>
                <a:latin typeface="IBM Plex Sans Light" panose="020B0403050203000203" pitchFamily="34" charset="0"/>
                <a:ea typeface="微软雅黑 Light" panose="020B0502040204020203" pitchFamily="34" charset="-122"/>
              </a:rPr>
              <a:t>m</a:t>
            </a:r>
            <a:r>
              <a:rPr lang="zh-CN" altLang="en-US" sz="2000" dirty="0">
                <a:solidFill>
                  <a:schemeClr val="tx1"/>
                </a:solidFill>
                <a:latin typeface="IBM Plex Sans Light" panose="020B0403050203000203" pitchFamily="34" charset="0"/>
                <a:ea typeface="微软雅黑 Light" panose="020B0502040204020203" pitchFamily="34" charset="-122"/>
              </a:rPr>
              <a:t>个</a:t>
            </a:r>
            <a:r>
              <a:rPr lang="en-US" altLang="zh-CN" sz="2000" dirty="0">
                <a:solidFill>
                  <a:schemeClr val="tx1"/>
                </a:solidFill>
                <a:latin typeface="IBM Plex Sans Light" panose="020B0403050203000203" pitchFamily="34" charset="0"/>
                <a:ea typeface="微软雅黑 Light" panose="020B0502040204020203" pitchFamily="34" charset="-122"/>
              </a:rPr>
              <a:t>bit</a:t>
            </a:r>
            <a:r>
              <a:rPr lang="zh-CN" altLang="en-US" sz="2000" dirty="0">
                <a:solidFill>
                  <a:schemeClr val="tx1"/>
                </a:solidFill>
                <a:latin typeface="IBM Plex Sans Light" panose="020B0403050203000203" pitchFamily="34" charset="0"/>
                <a:ea typeface="微软雅黑 Light" panose="020B0502040204020203" pitchFamily="34" charset="-122"/>
              </a:rPr>
              <a:t>，所以基站发送数据的速率提高到原来的</a:t>
            </a:r>
            <a:r>
              <a:rPr lang="en-US" altLang="zh-CN" sz="2000" dirty="0">
                <a:solidFill>
                  <a:schemeClr val="tx1"/>
                </a:solidFill>
                <a:latin typeface="IBM Plex Sans Light" panose="020B0403050203000203" pitchFamily="34" charset="0"/>
                <a:ea typeface="微软雅黑 Light" panose="020B0502040204020203" pitchFamily="34" charset="-122"/>
              </a:rPr>
              <a:t>m</a:t>
            </a:r>
            <a:r>
              <a:rPr lang="zh-CN" altLang="en-US" sz="2000" dirty="0">
                <a:solidFill>
                  <a:schemeClr val="tx1"/>
                </a:solidFill>
                <a:latin typeface="IBM Plex Sans Light" panose="020B0403050203000203" pitchFamily="34" charset="0"/>
                <a:ea typeface="微软雅黑 Light" panose="020B0502040204020203" pitchFamily="34" charset="-122"/>
              </a:rPr>
              <a:t>倍，相应的，</a:t>
            </a:r>
            <a:r>
              <a:rPr lang="zh-CN" altLang="en-US" sz="2000" dirty="0">
                <a:latin typeface="IBM Plex Sans Light" panose="020B0403050203000203" pitchFamily="34" charset="0"/>
                <a:ea typeface="微软雅黑 Light" panose="020B0502040204020203" pitchFamily="34" charset="-122"/>
              </a:rPr>
              <a:t>所用带宽也提高到原来的</a:t>
            </a:r>
            <a:r>
              <a:rPr lang="en-US" altLang="zh-CN" sz="2000" dirty="0">
                <a:latin typeface="IBM Plex Sans Light" panose="020B0403050203000203" pitchFamily="34" charset="0"/>
                <a:ea typeface="微软雅黑 Light" panose="020B0502040204020203" pitchFamily="34" charset="-122"/>
              </a:rPr>
              <a:t>m</a:t>
            </a:r>
            <a:r>
              <a:rPr lang="zh-CN" altLang="en-US" sz="2000" dirty="0">
                <a:latin typeface="IBM Plex Sans Light" panose="020B0403050203000203" pitchFamily="34" charset="0"/>
                <a:ea typeface="微软雅黑 Light" panose="020B0502040204020203" pitchFamily="34" charset="-122"/>
              </a:rPr>
              <a:t>倍。因此，被称为</a:t>
            </a:r>
            <a:r>
              <a:rPr lang="zh-CN" altLang="en-US" sz="2000" b="1" dirty="0">
                <a:solidFill>
                  <a:srgbClr val="C00000"/>
                </a:solidFill>
                <a:latin typeface="IBM Plex Sans Light" panose="020B0403050203000203" pitchFamily="34" charset="0"/>
                <a:ea typeface="微软雅黑 Light" panose="020B0502040204020203" pitchFamily="34" charset="-122"/>
              </a:rPr>
              <a:t>扩频通信</a:t>
            </a:r>
            <a:endParaRPr lang="en-US" altLang="zh-CN" sz="2000" dirty="0">
              <a:solidFill>
                <a:schemeClr val="tx1"/>
              </a:solidFill>
              <a:latin typeface="IBM Plex Sans Light" panose="020B0403050203000203" pitchFamily="34" charset="0"/>
              <a:ea typeface="微软雅黑 Light" panose="020B0502040204020203" pitchFamily="34" charset="-122"/>
            </a:endParaRPr>
          </a:p>
        </p:txBody>
      </p:sp>
      <p:sp>
        <p:nvSpPr>
          <p:cNvPr id="6" name="文本框 5">
            <a:extLst>
              <a:ext uri="{FF2B5EF4-FFF2-40B4-BE49-F238E27FC236}">
                <a16:creationId xmlns:a16="http://schemas.microsoft.com/office/drawing/2014/main" id="{1EF1D0AD-3798-4D26-975D-6E1A6ABAC500}"/>
              </a:ext>
            </a:extLst>
          </p:cNvPr>
          <p:cNvSpPr txBox="1"/>
          <p:nvPr/>
        </p:nvSpPr>
        <p:spPr>
          <a:xfrm>
            <a:off x="4310896" y="1766047"/>
            <a:ext cx="3570208" cy="830997"/>
          </a:xfrm>
          <a:prstGeom prst="rect">
            <a:avLst/>
          </a:prstGeom>
          <a:noFill/>
        </p:spPr>
        <p:txBody>
          <a:bodyPr wrap="none" rtlCol="0">
            <a:spAutoFit/>
          </a:bodyPr>
          <a:lstStyle/>
          <a:p>
            <a:pPr algn="ctr">
              <a:spcBef>
                <a:spcPts val="600"/>
              </a:spcBef>
              <a:spcAft>
                <a:spcPts val="600"/>
              </a:spcAft>
            </a:pPr>
            <a:r>
              <a:rPr lang="zh-CN" altLang="en-US" dirty="0">
                <a:latin typeface="微软雅黑" panose="020B0503020204020204" pitchFamily="34" charset="-122"/>
                <a:ea typeface="微软雅黑" panose="020B0503020204020204" pitchFamily="34" charset="-122"/>
              </a:rPr>
              <a:t>关键词：</a:t>
            </a:r>
            <a:r>
              <a:rPr lang="zh-CN" altLang="en-US" sz="4800" dirty="0">
                <a:solidFill>
                  <a:schemeClr val="accent2"/>
                </a:solidFill>
                <a:effectLst>
                  <a:outerShdw blurRad="50800" dist="38100" dir="2700000" algn="tl" rotWithShape="0">
                    <a:prstClr val="black">
                      <a:alpha val="40000"/>
                    </a:prstClr>
                  </a:outerShdw>
                </a:effectLst>
                <a:latin typeface="禹卫书法行书简体&#10;" panose="02000603000000000000" pitchFamily="2" charset="-122"/>
                <a:ea typeface="禹卫书法行书简体&#10;" panose="02000603000000000000" pitchFamily="2" charset="-122"/>
                <a:cs typeface="+mj-cs"/>
              </a:rPr>
              <a:t>速度提升</a:t>
            </a:r>
          </a:p>
        </p:txBody>
      </p:sp>
      <p:sp>
        <p:nvSpPr>
          <p:cNvPr id="7" name="文本框 6">
            <a:extLst>
              <a:ext uri="{FF2B5EF4-FFF2-40B4-BE49-F238E27FC236}">
                <a16:creationId xmlns:a16="http://schemas.microsoft.com/office/drawing/2014/main" id="{01D19482-63BD-4C92-9D19-4E648390C563}"/>
              </a:ext>
            </a:extLst>
          </p:cNvPr>
          <p:cNvSpPr txBox="1"/>
          <p:nvPr/>
        </p:nvSpPr>
        <p:spPr>
          <a:xfrm>
            <a:off x="855556" y="5786204"/>
            <a:ext cx="3726020" cy="523220"/>
          </a:xfrm>
          <a:prstGeom prst="rect">
            <a:avLst/>
          </a:prstGeom>
          <a:noFill/>
        </p:spPr>
        <p:txBody>
          <a:bodyPr wrap="none" rtlCol="0">
            <a:spAutoFit/>
          </a:bodyPr>
          <a:lstStyle/>
          <a:p>
            <a:pPr algn="l"/>
            <a:r>
              <a:rPr lang="en-US" altLang="zh-CN" sz="1400" dirty="0">
                <a:latin typeface="微软雅黑 Light" panose="020B0502040204020203" pitchFamily="34" charset="-122"/>
                <a:ea typeface="微软雅黑 Light" panose="020B0502040204020203" pitchFamily="34" charset="-122"/>
              </a:rPr>
              <a:t>DSSS-Direct Sequence Spread Spectrum</a:t>
            </a:r>
          </a:p>
          <a:p>
            <a:pPr algn="l"/>
            <a:r>
              <a:rPr lang="en-US" altLang="zh-CN" sz="1400" dirty="0">
                <a:latin typeface="微软雅黑 Light" panose="020B0502040204020203" pitchFamily="34" charset="-122"/>
                <a:ea typeface="微软雅黑 Light" panose="020B0502040204020203" pitchFamily="34" charset="-122"/>
              </a:rPr>
              <a:t>FHSS-Frequency Hopping Spread Spectrum</a:t>
            </a:r>
          </a:p>
        </p:txBody>
      </p:sp>
      <p:pic>
        <p:nvPicPr>
          <p:cNvPr id="8" name="图形 7" descr="灯泡">
            <a:extLst>
              <a:ext uri="{FF2B5EF4-FFF2-40B4-BE49-F238E27FC236}">
                <a16:creationId xmlns:a16="http://schemas.microsoft.com/office/drawing/2014/main" id="{7628AB03-5146-4DFF-AE9E-8C23800153C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1803" y="5867814"/>
            <a:ext cx="360000" cy="360000"/>
          </a:xfrm>
          <a:prstGeom prst="rect">
            <a:avLst/>
          </a:prstGeom>
          <a:effectLst>
            <a:outerShdw blurRad="50800" dist="38100" dir="2700000" algn="tl" rotWithShape="0">
              <a:prstClr val="black">
                <a:alpha val="40000"/>
              </a:prstClr>
            </a:outerShdw>
          </a:effectLst>
        </p:spPr>
      </p:pic>
      <p:sp>
        <p:nvSpPr>
          <p:cNvPr id="9" name="矩形 8">
            <a:extLst>
              <a:ext uri="{FF2B5EF4-FFF2-40B4-BE49-F238E27FC236}">
                <a16:creationId xmlns:a16="http://schemas.microsoft.com/office/drawing/2014/main" id="{B1AE86C3-B331-4497-A4A5-9900B4167A95}"/>
              </a:ext>
            </a:extLst>
          </p:cNvPr>
          <p:cNvSpPr/>
          <p:nvPr/>
        </p:nvSpPr>
        <p:spPr>
          <a:xfrm>
            <a:off x="521110" y="3934364"/>
            <a:ext cx="216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0" name="矩形 9">
            <a:extLst>
              <a:ext uri="{FF2B5EF4-FFF2-40B4-BE49-F238E27FC236}">
                <a16:creationId xmlns:a16="http://schemas.microsoft.com/office/drawing/2014/main" id="{31312103-C38D-4880-80BF-083D6A532295}"/>
              </a:ext>
            </a:extLst>
          </p:cNvPr>
          <p:cNvSpPr/>
          <p:nvPr/>
        </p:nvSpPr>
        <p:spPr>
          <a:xfrm>
            <a:off x="2786035" y="3934364"/>
            <a:ext cx="216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11" name="矩形 10">
            <a:extLst>
              <a:ext uri="{FF2B5EF4-FFF2-40B4-BE49-F238E27FC236}">
                <a16:creationId xmlns:a16="http://schemas.microsoft.com/office/drawing/2014/main" id="{41B6D1C3-BEF2-4DD0-A5F1-5655DA07B575}"/>
              </a:ext>
            </a:extLst>
          </p:cNvPr>
          <p:cNvSpPr/>
          <p:nvPr/>
        </p:nvSpPr>
        <p:spPr>
          <a:xfrm>
            <a:off x="5050960" y="3934364"/>
            <a:ext cx="216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2" name="矩形 11">
            <a:extLst>
              <a:ext uri="{FF2B5EF4-FFF2-40B4-BE49-F238E27FC236}">
                <a16:creationId xmlns:a16="http://schemas.microsoft.com/office/drawing/2014/main" id="{349B46F7-2BE3-4ABC-A370-CA1943A342F0}"/>
              </a:ext>
            </a:extLst>
          </p:cNvPr>
          <p:cNvSpPr/>
          <p:nvPr/>
        </p:nvSpPr>
        <p:spPr>
          <a:xfrm>
            <a:off x="7315885" y="3934364"/>
            <a:ext cx="216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3" name="矩形 12">
            <a:extLst>
              <a:ext uri="{FF2B5EF4-FFF2-40B4-BE49-F238E27FC236}">
                <a16:creationId xmlns:a16="http://schemas.microsoft.com/office/drawing/2014/main" id="{C3D19140-DD1F-48A4-8562-E44CAD761711}"/>
              </a:ext>
            </a:extLst>
          </p:cNvPr>
          <p:cNvSpPr/>
          <p:nvPr/>
        </p:nvSpPr>
        <p:spPr>
          <a:xfrm>
            <a:off x="9580811" y="3934364"/>
            <a:ext cx="216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14" name="矩形 13">
            <a:extLst>
              <a:ext uri="{FF2B5EF4-FFF2-40B4-BE49-F238E27FC236}">
                <a16:creationId xmlns:a16="http://schemas.microsoft.com/office/drawing/2014/main" id="{D55B3254-87CA-4A7C-805A-A9FE41EF2B88}"/>
              </a:ext>
            </a:extLst>
          </p:cNvPr>
          <p:cNvSpPr/>
          <p:nvPr/>
        </p:nvSpPr>
        <p:spPr>
          <a:xfrm>
            <a:off x="521110"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9" name="矩形 18">
            <a:extLst>
              <a:ext uri="{FF2B5EF4-FFF2-40B4-BE49-F238E27FC236}">
                <a16:creationId xmlns:a16="http://schemas.microsoft.com/office/drawing/2014/main" id="{6933D00B-B846-4EE3-A24E-57596CB90A62}"/>
              </a:ext>
            </a:extLst>
          </p:cNvPr>
          <p:cNvSpPr/>
          <p:nvPr/>
        </p:nvSpPr>
        <p:spPr>
          <a:xfrm>
            <a:off x="803359"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0" name="矩形 19">
            <a:extLst>
              <a:ext uri="{FF2B5EF4-FFF2-40B4-BE49-F238E27FC236}">
                <a16:creationId xmlns:a16="http://schemas.microsoft.com/office/drawing/2014/main" id="{5A49D8BF-992C-46F0-A62D-EE48CC80A225}"/>
              </a:ext>
            </a:extLst>
          </p:cNvPr>
          <p:cNvSpPr/>
          <p:nvPr/>
        </p:nvSpPr>
        <p:spPr>
          <a:xfrm>
            <a:off x="1085608" y="4462509"/>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1" name="矩形 20">
            <a:extLst>
              <a:ext uri="{FF2B5EF4-FFF2-40B4-BE49-F238E27FC236}">
                <a16:creationId xmlns:a16="http://schemas.microsoft.com/office/drawing/2014/main" id="{97642F4D-57A2-42F1-8CCF-C735A37F35EF}"/>
              </a:ext>
            </a:extLst>
          </p:cNvPr>
          <p:cNvSpPr/>
          <p:nvPr/>
        </p:nvSpPr>
        <p:spPr>
          <a:xfrm>
            <a:off x="1367857"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2" name="矩形 21">
            <a:extLst>
              <a:ext uri="{FF2B5EF4-FFF2-40B4-BE49-F238E27FC236}">
                <a16:creationId xmlns:a16="http://schemas.microsoft.com/office/drawing/2014/main" id="{5BD5530E-CE47-4801-863A-8F3394EF1BA1}"/>
              </a:ext>
            </a:extLst>
          </p:cNvPr>
          <p:cNvSpPr/>
          <p:nvPr/>
        </p:nvSpPr>
        <p:spPr>
          <a:xfrm>
            <a:off x="1650106" y="4462509"/>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3" name="矩形 22">
            <a:extLst>
              <a:ext uri="{FF2B5EF4-FFF2-40B4-BE49-F238E27FC236}">
                <a16:creationId xmlns:a16="http://schemas.microsoft.com/office/drawing/2014/main" id="{0D081380-0121-4C9B-93F0-1C34992A73FC}"/>
              </a:ext>
            </a:extLst>
          </p:cNvPr>
          <p:cNvSpPr/>
          <p:nvPr/>
        </p:nvSpPr>
        <p:spPr>
          <a:xfrm>
            <a:off x="1932355" y="4462509"/>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4" name="矩形 23">
            <a:extLst>
              <a:ext uri="{FF2B5EF4-FFF2-40B4-BE49-F238E27FC236}">
                <a16:creationId xmlns:a16="http://schemas.microsoft.com/office/drawing/2014/main" id="{FFE8DCC5-82E9-4FFF-B3A7-D9A099E89733}"/>
              </a:ext>
            </a:extLst>
          </p:cNvPr>
          <p:cNvSpPr/>
          <p:nvPr/>
        </p:nvSpPr>
        <p:spPr>
          <a:xfrm>
            <a:off x="2214604"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5" name="矩形 24">
            <a:extLst>
              <a:ext uri="{FF2B5EF4-FFF2-40B4-BE49-F238E27FC236}">
                <a16:creationId xmlns:a16="http://schemas.microsoft.com/office/drawing/2014/main" id="{66EBDC1C-D3EE-47B7-8ED7-854980CACEDC}"/>
              </a:ext>
            </a:extLst>
          </p:cNvPr>
          <p:cNvSpPr/>
          <p:nvPr/>
        </p:nvSpPr>
        <p:spPr>
          <a:xfrm>
            <a:off x="2496855"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6" name="矩形 25">
            <a:extLst>
              <a:ext uri="{FF2B5EF4-FFF2-40B4-BE49-F238E27FC236}">
                <a16:creationId xmlns:a16="http://schemas.microsoft.com/office/drawing/2014/main" id="{830E89F5-A0B7-4C4A-B0A3-27B7FF113AFA}"/>
              </a:ext>
            </a:extLst>
          </p:cNvPr>
          <p:cNvSpPr/>
          <p:nvPr/>
        </p:nvSpPr>
        <p:spPr>
          <a:xfrm>
            <a:off x="2786035"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7" name="矩形 26">
            <a:extLst>
              <a:ext uri="{FF2B5EF4-FFF2-40B4-BE49-F238E27FC236}">
                <a16:creationId xmlns:a16="http://schemas.microsoft.com/office/drawing/2014/main" id="{B4234949-6E6E-4E9D-8283-8F92500EE7D9}"/>
              </a:ext>
            </a:extLst>
          </p:cNvPr>
          <p:cNvSpPr/>
          <p:nvPr/>
        </p:nvSpPr>
        <p:spPr>
          <a:xfrm>
            <a:off x="3068284"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8" name="矩形 27">
            <a:extLst>
              <a:ext uri="{FF2B5EF4-FFF2-40B4-BE49-F238E27FC236}">
                <a16:creationId xmlns:a16="http://schemas.microsoft.com/office/drawing/2014/main" id="{5B07AE26-C52D-4F00-AB61-328DA196329D}"/>
              </a:ext>
            </a:extLst>
          </p:cNvPr>
          <p:cNvSpPr/>
          <p:nvPr/>
        </p:nvSpPr>
        <p:spPr>
          <a:xfrm>
            <a:off x="3350533"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9" name="矩形 28">
            <a:extLst>
              <a:ext uri="{FF2B5EF4-FFF2-40B4-BE49-F238E27FC236}">
                <a16:creationId xmlns:a16="http://schemas.microsoft.com/office/drawing/2014/main" id="{A3C0E94E-F74F-48D9-82D5-39468E235B1F}"/>
              </a:ext>
            </a:extLst>
          </p:cNvPr>
          <p:cNvSpPr/>
          <p:nvPr/>
        </p:nvSpPr>
        <p:spPr>
          <a:xfrm>
            <a:off x="3632782"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0" name="矩形 29">
            <a:extLst>
              <a:ext uri="{FF2B5EF4-FFF2-40B4-BE49-F238E27FC236}">
                <a16:creationId xmlns:a16="http://schemas.microsoft.com/office/drawing/2014/main" id="{EBE2CDFA-9B97-49E7-AD88-5E1D9065570D}"/>
              </a:ext>
            </a:extLst>
          </p:cNvPr>
          <p:cNvSpPr/>
          <p:nvPr/>
        </p:nvSpPr>
        <p:spPr>
          <a:xfrm>
            <a:off x="3915031"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1" name="矩形 30">
            <a:extLst>
              <a:ext uri="{FF2B5EF4-FFF2-40B4-BE49-F238E27FC236}">
                <a16:creationId xmlns:a16="http://schemas.microsoft.com/office/drawing/2014/main" id="{2DC7AB65-D98F-4CE4-8BFB-5C0315F1C4BD}"/>
              </a:ext>
            </a:extLst>
          </p:cNvPr>
          <p:cNvSpPr/>
          <p:nvPr/>
        </p:nvSpPr>
        <p:spPr>
          <a:xfrm>
            <a:off x="4197280"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2" name="矩形 31">
            <a:extLst>
              <a:ext uri="{FF2B5EF4-FFF2-40B4-BE49-F238E27FC236}">
                <a16:creationId xmlns:a16="http://schemas.microsoft.com/office/drawing/2014/main" id="{2575F73C-265A-4436-B16C-B4E0B71EF500}"/>
              </a:ext>
            </a:extLst>
          </p:cNvPr>
          <p:cNvSpPr/>
          <p:nvPr/>
        </p:nvSpPr>
        <p:spPr>
          <a:xfrm>
            <a:off x="4479529"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3" name="矩形 32">
            <a:extLst>
              <a:ext uri="{FF2B5EF4-FFF2-40B4-BE49-F238E27FC236}">
                <a16:creationId xmlns:a16="http://schemas.microsoft.com/office/drawing/2014/main" id="{DB8F160E-2CF3-4731-85EA-262908D8B592}"/>
              </a:ext>
            </a:extLst>
          </p:cNvPr>
          <p:cNvSpPr/>
          <p:nvPr/>
        </p:nvSpPr>
        <p:spPr>
          <a:xfrm>
            <a:off x="4761780"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4" name="矩形 33">
            <a:extLst>
              <a:ext uri="{FF2B5EF4-FFF2-40B4-BE49-F238E27FC236}">
                <a16:creationId xmlns:a16="http://schemas.microsoft.com/office/drawing/2014/main" id="{9F7070C8-D04D-483F-8842-FD4ED34B859F}"/>
              </a:ext>
            </a:extLst>
          </p:cNvPr>
          <p:cNvSpPr/>
          <p:nvPr/>
        </p:nvSpPr>
        <p:spPr>
          <a:xfrm>
            <a:off x="5050960"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5" name="矩形 34">
            <a:extLst>
              <a:ext uri="{FF2B5EF4-FFF2-40B4-BE49-F238E27FC236}">
                <a16:creationId xmlns:a16="http://schemas.microsoft.com/office/drawing/2014/main" id="{A6DCE60A-C995-44F3-AD00-C11365480F43}"/>
              </a:ext>
            </a:extLst>
          </p:cNvPr>
          <p:cNvSpPr/>
          <p:nvPr/>
        </p:nvSpPr>
        <p:spPr>
          <a:xfrm>
            <a:off x="5333209"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6" name="矩形 35">
            <a:extLst>
              <a:ext uri="{FF2B5EF4-FFF2-40B4-BE49-F238E27FC236}">
                <a16:creationId xmlns:a16="http://schemas.microsoft.com/office/drawing/2014/main" id="{61F0B119-8053-4F24-9006-74B5ECF0564C}"/>
              </a:ext>
            </a:extLst>
          </p:cNvPr>
          <p:cNvSpPr/>
          <p:nvPr/>
        </p:nvSpPr>
        <p:spPr>
          <a:xfrm>
            <a:off x="5615458"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7" name="矩形 36">
            <a:extLst>
              <a:ext uri="{FF2B5EF4-FFF2-40B4-BE49-F238E27FC236}">
                <a16:creationId xmlns:a16="http://schemas.microsoft.com/office/drawing/2014/main" id="{95CCB58F-AC08-4EFC-BF68-A02DA7448E0D}"/>
              </a:ext>
            </a:extLst>
          </p:cNvPr>
          <p:cNvSpPr/>
          <p:nvPr/>
        </p:nvSpPr>
        <p:spPr>
          <a:xfrm>
            <a:off x="5897707"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8" name="矩形 37">
            <a:extLst>
              <a:ext uri="{FF2B5EF4-FFF2-40B4-BE49-F238E27FC236}">
                <a16:creationId xmlns:a16="http://schemas.microsoft.com/office/drawing/2014/main" id="{4A3C7716-1075-4E5D-B280-C9E701736C28}"/>
              </a:ext>
            </a:extLst>
          </p:cNvPr>
          <p:cNvSpPr/>
          <p:nvPr/>
        </p:nvSpPr>
        <p:spPr>
          <a:xfrm>
            <a:off x="6179956"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9" name="矩形 38">
            <a:extLst>
              <a:ext uri="{FF2B5EF4-FFF2-40B4-BE49-F238E27FC236}">
                <a16:creationId xmlns:a16="http://schemas.microsoft.com/office/drawing/2014/main" id="{147FAE0D-7476-4A4C-91BD-960ABD96E9AE}"/>
              </a:ext>
            </a:extLst>
          </p:cNvPr>
          <p:cNvSpPr/>
          <p:nvPr/>
        </p:nvSpPr>
        <p:spPr>
          <a:xfrm>
            <a:off x="6462205"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40" name="矩形 39">
            <a:extLst>
              <a:ext uri="{FF2B5EF4-FFF2-40B4-BE49-F238E27FC236}">
                <a16:creationId xmlns:a16="http://schemas.microsoft.com/office/drawing/2014/main" id="{0DF35252-85E7-4708-A686-3462A6DBD44B}"/>
              </a:ext>
            </a:extLst>
          </p:cNvPr>
          <p:cNvSpPr/>
          <p:nvPr/>
        </p:nvSpPr>
        <p:spPr>
          <a:xfrm>
            <a:off x="6744454"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1" name="矩形 40">
            <a:extLst>
              <a:ext uri="{FF2B5EF4-FFF2-40B4-BE49-F238E27FC236}">
                <a16:creationId xmlns:a16="http://schemas.microsoft.com/office/drawing/2014/main" id="{4D0ABFDB-F873-4BCB-AD89-B68165175118}"/>
              </a:ext>
            </a:extLst>
          </p:cNvPr>
          <p:cNvSpPr/>
          <p:nvPr/>
        </p:nvSpPr>
        <p:spPr>
          <a:xfrm>
            <a:off x="7026705"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2" name="矩形 41">
            <a:extLst>
              <a:ext uri="{FF2B5EF4-FFF2-40B4-BE49-F238E27FC236}">
                <a16:creationId xmlns:a16="http://schemas.microsoft.com/office/drawing/2014/main" id="{7B50CF7C-A337-4E1C-B49D-C24AC485C716}"/>
              </a:ext>
            </a:extLst>
          </p:cNvPr>
          <p:cNvSpPr/>
          <p:nvPr/>
        </p:nvSpPr>
        <p:spPr>
          <a:xfrm>
            <a:off x="7320140"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3" name="矩形 42">
            <a:extLst>
              <a:ext uri="{FF2B5EF4-FFF2-40B4-BE49-F238E27FC236}">
                <a16:creationId xmlns:a16="http://schemas.microsoft.com/office/drawing/2014/main" id="{8C4F6B21-492E-4AEF-9C2C-81ACB698FA08}"/>
              </a:ext>
            </a:extLst>
          </p:cNvPr>
          <p:cNvSpPr/>
          <p:nvPr/>
        </p:nvSpPr>
        <p:spPr>
          <a:xfrm>
            <a:off x="7602389"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4" name="矩形 43">
            <a:extLst>
              <a:ext uri="{FF2B5EF4-FFF2-40B4-BE49-F238E27FC236}">
                <a16:creationId xmlns:a16="http://schemas.microsoft.com/office/drawing/2014/main" id="{FC7F762E-4FE1-4A2F-A35F-2A5EB97B8CA1}"/>
              </a:ext>
            </a:extLst>
          </p:cNvPr>
          <p:cNvSpPr/>
          <p:nvPr/>
        </p:nvSpPr>
        <p:spPr>
          <a:xfrm>
            <a:off x="7884638"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45" name="矩形 44">
            <a:extLst>
              <a:ext uri="{FF2B5EF4-FFF2-40B4-BE49-F238E27FC236}">
                <a16:creationId xmlns:a16="http://schemas.microsoft.com/office/drawing/2014/main" id="{BF96A60E-0B6D-444B-AD79-4048711C3EB6}"/>
              </a:ext>
            </a:extLst>
          </p:cNvPr>
          <p:cNvSpPr/>
          <p:nvPr/>
        </p:nvSpPr>
        <p:spPr>
          <a:xfrm>
            <a:off x="8166887"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6" name="矩形 45">
            <a:extLst>
              <a:ext uri="{FF2B5EF4-FFF2-40B4-BE49-F238E27FC236}">
                <a16:creationId xmlns:a16="http://schemas.microsoft.com/office/drawing/2014/main" id="{7CD71284-6800-4346-8F67-95A07BC3E325}"/>
              </a:ext>
            </a:extLst>
          </p:cNvPr>
          <p:cNvSpPr/>
          <p:nvPr/>
        </p:nvSpPr>
        <p:spPr>
          <a:xfrm>
            <a:off x="8449136"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47" name="矩形 46">
            <a:extLst>
              <a:ext uri="{FF2B5EF4-FFF2-40B4-BE49-F238E27FC236}">
                <a16:creationId xmlns:a16="http://schemas.microsoft.com/office/drawing/2014/main" id="{2EC42B59-0B87-4530-B298-78EC02C0C144}"/>
              </a:ext>
            </a:extLst>
          </p:cNvPr>
          <p:cNvSpPr/>
          <p:nvPr/>
        </p:nvSpPr>
        <p:spPr>
          <a:xfrm>
            <a:off x="8731385"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48" name="矩形 47">
            <a:extLst>
              <a:ext uri="{FF2B5EF4-FFF2-40B4-BE49-F238E27FC236}">
                <a16:creationId xmlns:a16="http://schemas.microsoft.com/office/drawing/2014/main" id="{0D3170D0-E0BB-4601-BBC6-D107F4DDC682}"/>
              </a:ext>
            </a:extLst>
          </p:cNvPr>
          <p:cNvSpPr/>
          <p:nvPr/>
        </p:nvSpPr>
        <p:spPr>
          <a:xfrm>
            <a:off x="9013634"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9" name="矩形 48">
            <a:extLst>
              <a:ext uri="{FF2B5EF4-FFF2-40B4-BE49-F238E27FC236}">
                <a16:creationId xmlns:a16="http://schemas.microsoft.com/office/drawing/2014/main" id="{32B101B6-07EB-40C0-97FA-938CDE9DB13C}"/>
              </a:ext>
            </a:extLst>
          </p:cNvPr>
          <p:cNvSpPr/>
          <p:nvPr/>
        </p:nvSpPr>
        <p:spPr>
          <a:xfrm>
            <a:off x="9295885"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50" name="矩形 49">
            <a:extLst>
              <a:ext uri="{FF2B5EF4-FFF2-40B4-BE49-F238E27FC236}">
                <a16:creationId xmlns:a16="http://schemas.microsoft.com/office/drawing/2014/main" id="{040E17EC-3057-4ECD-AD21-031C215F7660}"/>
              </a:ext>
            </a:extLst>
          </p:cNvPr>
          <p:cNvSpPr/>
          <p:nvPr/>
        </p:nvSpPr>
        <p:spPr>
          <a:xfrm>
            <a:off x="9585066"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51" name="矩形 50">
            <a:extLst>
              <a:ext uri="{FF2B5EF4-FFF2-40B4-BE49-F238E27FC236}">
                <a16:creationId xmlns:a16="http://schemas.microsoft.com/office/drawing/2014/main" id="{518991AA-2C2D-43A1-83D1-D0B926CA7519}"/>
              </a:ext>
            </a:extLst>
          </p:cNvPr>
          <p:cNvSpPr/>
          <p:nvPr/>
        </p:nvSpPr>
        <p:spPr>
          <a:xfrm>
            <a:off x="9867315"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52" name="矩形 51">
            <a:extLst>
              <a:ext uri="{FF2B5EF4-FFF2-40B4-BE49-F238E27FC236}">
                <a16:creationId xmlns:a16="http://schemas.microsoft.com/office/drawing/2014/main" id="{4E2C9B31-E9CF-4D36-94AF-820EEA087E8C}"/>
              </a:ext>
            </a:extLst>
          </p:cNvPr>
          <p:cNvSpPr/>
          <p:nvPr/>
        </p:nvSpPr>
        <p:spPr>
          <a:xfrm>
            <a:off x="10149564"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53" name="矩形 52">
            <a:extLst>
              <a:ext uri="{FF2B5EF4-FFF2-40B4-BE49-F238E27FC236}">
                <a16:creationId xmlns:a16="http://schemas.microsoft.com/office/drawing/2014/main" id="{502CB037-207D-4120-85FD-28626D0E9F1C}"/>
              </a:ext>
            </a:extLst>
          </p:cNvPr>
          <p:cNvSpPr/>
          <p:nvPr/>
        </p:nvSpPr>
        <p:spPr>
          <a:xfrm>
            <a:off x="10431813"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54" name="矩形 53">
            <a:extLst>
              <a:ext uri="{FF2B5EF4-FFF2-40B4-BE49-F238E27FC236}">
                <a16:creationId xmlns:a16="http://schemas.microsoft.com/office/drawing/2014/main" id="{7EC50D7E-175D-458D-A08A-3CC319304657}"/>
              </a:ext>
            </a:extLst>
          </p:cNvPr>
          <p:cNvSpPr/>
          <p:nvPr/>
        </p:nvSpPr>
        <p:spPr>
          <a:xfrm>
            <a:off x="10714062"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55" name="矩形 54">
            <a:extLst>
              <a:ext uri="{FF2B5EF4-FFF2-40B4-BE49-F238E27FC236}">
                <a16:creationId xmlns:a16="http://schemas.microsoft.com/office/drawing/2014/main" id="{9F7B57EE-1916-4984-94E4-44F7FC826354}"/>
              </a:ext>
            </a:extLst>
          </p:cNvPr>
          <p:cNvSpPr/>
          <p:nvPr/>
        </p:nvSpPr>
        <p:spPr>
          <a:xfrm>
            <a:off x="10996311"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56" name="矩形 55">
            <a:extLst>
              <a:ext uri="{FF2B5EF4-FFF2-40B4-BE49-F238E27FC236}">
                <a16:creationId xmlns:a16="http://schemas.microsoft.com/office/drawing/2014/main" id="{37AB88E3-ABF3-4392-B40A-AB238E38E283}"/>
              </a:ext>
            </a:extLst>
          </p:cNvPr>
          <p:cNvSpPr/>
          <p:nvPr/>
        </p:nvSpPr>
        <p:spPr>
          <a:xfrm>
            <a:off x="11278560"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57" name="矩形 56">
            <a:extLst>
              <a:ext uri="{FF2B5EF4-FFF2-40B4-BE49-F238E27FC236}">
                <a16:creationId xmlns:a16="http://schemas.microsoft.com/office/drawing/2014/main" id="{B32682FD-709D-44E8-AC4F-197D08F7BE2E}"/>
              </a:ext>
            </a:extLst>
          </p:cNvPr>
          <p:cNvSpPr/>
          <p:nvPr/>
        </p:nvSpPr>
        <p:spPr>
          <a:xfrm>
            <a:off x="11560811"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Tree>
    <p:extLst>
      <p:ext uri="{BB962C8B-B14F-4D97-AF65-F5344CB8AC3E}">
        <p14:creationId xmlns:p14="http://schemas.microsoft.com/office/powerpoint/2010/main" val="27907026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码分多址</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6.3</a:t>
            </a:r>
            <a:endParaRPr lang="zh-CN" altLang="en-US" dirty="0"/>
          </a:p>
        </p:txBody>
      </p:sp>
      <p:sp>
        <p:nvSpPr>
          <p:cNvPr id="10" name="文本框 9">
            <a:extLst>
              <a:ext uri="{FF2B5EF4-FFF2-40B4-BE49-F238E27FC236}">
                <a16:creationId xmlns:a16="http://schemas.microsoft.com/office/drawing/2014/main" id="{5EAE2A54-A6E8-4A8A-89E2-4237F153E304}"/>
              </a:ext>
            </a:extLst>
          </p:cNvPr>
          <p:cNvSpPr txBox="1"/>
          <p:nvPr/>
        </p:nvSpPr>
        <p:spPr>
          <a:xfrm>
            <a:off x="4310896" y="1766047"/>
            <a:ext cx="3570208" cy="830997"/>
          </a:xfrm>
          <a:prstGeom prst="rect">
            <a:avLst/>
          </a:prstGeom>
          <a:noFill/>
        </p:spPr>
        <p:txBody>
          <a:bodyPr wrap="none" rtlCol="0">
            <a:spAutoFit/>
          </a:bodyPr>
          <a:lstStyle/>
          <a:p>
            <a:pPr algn="ctr">
              <a:spcBef>
                <a:spcPts val="600"/>
              </a:spcBef>
              <a:spcAft>
                <a:spcPts val="600"/>
              </a:spcAft>
            </a:pPr>
            <a:r>
              <a:rPr lang="zh-CN" altLang="en-US" dirty="0">
                <a:latin typeface="微软雅黑" panose="020B0503020204020204" pitchFamily="34" charset="-122"/>
                <a:ea typeface="微软雅黑" panose="020B0503020204020204" pitchFamily="34" charset="-122"/>
              </a:rPr>
              <a:t>关键词：</a:t>
            </a:r>
            <a:r>
              <a:rPr lang="zh-CN" altLang="en-US" sz="4800" dirty="0">
                <a:solidFill>
                  <a:schemeClr val="accent2"/>
                </a:solidFill>
                <a:effectLst>
                  <a:outerShdw blurRad="50800" dist="38100" dir="2700000" algn="tl" rotWithShape="0">
                    <a:prstClr val="black">
                      <a:alpha val="40000"/>
                    </a:prstClr>
                  </a:outerShdw>
                </a:effectLst>
                <a:latin typeface="禹卫书法行书简体&#10;" panose="02000603000000000000" pitchFamily="2" charset="-122"/>
                <a:ea typeface="禹卫书法行书简体&#10;" panose="02000603000000000000" pitchFamily="2" charset="-122"/>
                <a:cs typeface="+mj-cs"/>
              </a:rPr>
              <a:t>用户识别</a:t>
            </a:r>
          </a:p>
        </p:txBody>
      </p:sp>
      <p:sp>
        <p:nvSpPr>
          <p:cNvPr id="16" name="文本框 15">
            <a:extLst>
              <a:ext uri="{FF2B5EF4-FFF2-40B4-BE49-F238E27FC236}">
                <a16:creationId xmlns:a16="http://schemas.microsoft.com/office/drawing/2014/main" id="{DAD098D3-0FD9-410D-9EB0-FBEE0D9380F7}"/>
              </a:ext>
            </a:extLst>
          </p:cNvPr>
          <p:cNvSpPr txBox="1"/>
          <p:nvPr/>
        </p:nvSpPr>
        <p:spPr>
          <a:xfrm>
            <a:off x="451189" y="2718293"/>
            <a:ext cx="11289622" cy="707886"/>
          </a:xfrm>
          <a:prstGeom prst="rect">
            <a:avLst/>
          </a:prstGeom>
          <a:noFill/>
        </p:spPr>
        <p:txBody>
          <a:bodyPr wrap="square" rtlCol="0">
            <a:spAutoFit/>
          </a:bodyPr>
          <a:lstStyle/>
          <a:p>
            <a:pPr indent="457200"/>
            <a:r>
              <a:rPr lang="zh-CN" altLang="en-US" sz="2000" dirty="0">
                <a:solidFill>
                  <a:schemeClr val="tx1"/>
                </a:solidFill>
                <a:latin typeface="IBM Plex Sans Light" panose="020B0403050203000203" pitchFamily="34" charset="0"/>
                <a:ea typeface="微软雅黑 Light" panose="020B0502040204020203" pitchFamily="34" charset="-122"/>
              </a:rPr>
              <a:t>用户</a:t>
            </a:r>
            <a:r>
              <a:rPr lang="zh-CN" altLang="en-US" sz="2000" dirty="0">
                <a:latin typeface="IBM Plex Sans Light" panose="020B0403050203000203" pitchFamily="34" charset="0"/>
                <a:ea typeface="微软雅黑 Light" panose="020B0502040204020203" pitchFamily="34" charset="-122"/>
              </a:rPr>
              <a:t>分配一个唯一的</a:t>
            </a:r>
            <a:r>
              <a:rPr lang="en-US" altLang="zh-CN" sz="2000" dirty="0">
                <a:latin typeface="IBM Plex Sans Light" panose="020B0403050203000203" pitchFamily="34" charset="0"/>
                <a:ea typeface="微软雅黑 Light" panose="020B0502040204020203" pitchFamily="34" charset="-122"/>
              </a:rPr>
              <a:t>m bit</a:t>
            </a:r>
            <a:r>
              <a:rPr lang="zh-CN" altLang="en-US" sz="2000" dirty="0">
                <a:latin typeface="IBM Plex Sans Light" panose="020B0403050203000203" pitchFamily="34" charset="0"/>
                <a:ea typeface="微软雅黑 Light" panose="020B0502040204020203" pitchFamily="34" charset="-122"/>
              </a:rPr>
              <a:t>长度的</a:t>
            </a:r>
            <a:r>
              <a:rPr lang="zh-CN" altLang="en-US" sz="2000" dirty="0">
                <a:solidFill>
                  <a:schemeClr val="tx1"/>
                </a:solidFill>
                <a:latin typeface="IBM Plex Sans Light" panose="020B0403050203000203" pitchFamily="34" charset="0"/>
                <a:ea typeface="微软雅黑 Light" panose="020B0502040204020203" pitchFamily="34" charset="-122"/>
              </a:rPr>
              <a:t>彼此正交的码</a:t>
            </a:r>
            <a:r>
              <a:rPr lang="zh-CN" altLang="en-US" sz="2000" dirty="0">
                <a:latin typeface="IBM Plex Sans Light" panose="020B0403050203000203" pitchFamily="34" charset="0"/>
                <a:ea typeface="微软雅黑 Light" panose="020B0502040204020203" pitchFamily="34" charset="-122"/>
              </a:rPr>
              <a:t>片序列</a:t>
            </a:r>
            <a:r>
              <a:rPr lang="en-US" altLang="zh-CN" sz="2000" dirty="0">
                <a:latin typeface="IBM Plex Sans Light" panose="020B0403050203000203" pitchFamily="34" charset="0"/>
                <a:ea typeface="微软雅黑 Light" panose="020B0502040204020203" pitchFamily="34" charset="-122"/>
              </a:rPr>
              <a:t>-</a:t>
            </a:r>
            <a:r>
              <a:rPr lang="zh-CN" altLang="en-US" sz="2000" dirty="0">
                <a:latin typeface="IBM Plex Sans Light" panose="020B0403050203000203" pitchFamily="34" charset="0"/>
                <a:ea typeface="微软雅黑 Light" panose="020B0502040204020203" pitchFamily="34" charset="-122"/>
              </a:rPr>
              <a:t>伪随机码，</a:t>
            </a:r>
            <a:r>
              <a:rPr lang="zh-CN" altLang="en-US" sz="2000" dirty="0">
                <a:solidFill>
                  <a:schemeClr val="tx1"/>
                </a:solidFill>
                <a:latin typeface="IBM Plex Sans Light" panose="020B0403050203000203" pitchFamily="34" charset="0"/>
                <a:ea typeface="微软雅黑 Light" panose="020B0502040204020203" pitchFamily="34" charset="-122"/>
              </a:rPr>
              <a:t>实现了不同用户互不干扰的在同一时间上共享信道：发送</a:t>
            </a:r>
            <a:r>
              <a:rPr lang="en-US" altLang="zh-CN" sz="2000" dirty="0">
                <a:solidFill>
                  <a:schemeClr val="tx1"/>
                </a:solidFill>
                <a:latin typeface="IBM Plex Sans Light" panose="020B0403050203000203" pitchFamily="34" charset="0"/>
                <a:ea typeface="微软雅黑 Light" panose="020B0502040204020203" pitchFamily="34" charset="-122"/>
              </a:rPr>
              <a:t>1</a:t>
            </a:r>
            <a:r>
              <a:rPr lang="zh-CN" altLang="en-US" sz="2000" dirty="0">
                <a:solidFill>
                  <a:schemeClr val="tx1"/>
                </a:solidFill>
                <a:latin typeface="IBM Plex Sans Light" panose="020B0403050203000203" pitchFamily="34" charset="0"/>
                <a:ea typeface="微软雅黑 Light" panose="020B0502040204020203" pitchFamily="34" charset="-122"/>
              </a:rPr>
              <a:t>时，发送自己的码片；发送</a:t>
            </a:r>
            <a:r>
              <a:rPr lang="en-US" altLang="zh-CN" sz="2000" dirty="0">
                <a:solidFill>
                  <a:schemeClr val="tx1"/>
                </a:solidFill>
                <a:latin typeface="IBM Plex Sans Light" panose="020B0403050203000203" pitchFamily="34" charset="0"/>
                <a:ea typeface="微软雅黑 Light" panose="020B0502040204020203" pitchFamily="34" charset="-122"/>
              </a:rPr>
              <a:t>0</a:t>
            </a:r>
            <a:r>
              <a:rPr lang="zh-CN" altLang="en-US" sz="2000" dirty="0">
                <a:solidFill>
                  <a:schemeClr val="tx1"/>
                </a:solidFill>
                <a:latin typeface="IBM Plex Sans Light" panose="020B0403050203000203" pitchFamily="34" charset="0"/>
                <a:ea typeface="微软雅黑 Light" panose="020B0502040204020203" pitchFamily="34" charset="-122"/>
              </a:rPr>
              <a:t>时，发送自己码片的反码</a:t>
            </a:r>
          </a:p>
        </p:txBody>
      </p:sp>
      <p:sp>
        <p:nvSpPr>
          <p:cNvPr id="7" name="文本框 6">
            <a:extLst>
              <a:ext uri="{FF2B5EF4-FFF2-40B4-BE49-F238E27FC236}">
                <a16:creationId xmlns:a16="http://schemas.microsoft.com/office/drawing/2014/main" id="{DC089811-FFB4-4DFE-B7AF-332FBD672253}"/>
              </a:ext>
            </a:extLst>
          </p:cNvPr>
          <p:cNvSpPr txBox="1"/>
          <p:nvPr/>
        </p:nvSpPr>
        <p:spPr>
          <a:xfrm>
            <a:off x="855556" y="5893926"/>
            <a:ext cx="6433171" cy="307777"/>
          </a:xfrm>
          <a:prstGeom prst="rect">
            <a:avLst/>
          </a:prstGeom>
          <a:noFill/>
        </p:spPr>
        <p:txBody>
          <a:bodyPr wrap="none" rtlCol="0">
            <a:spAutoFit/>
          </a:bodyPr>
          <a:lstStyle/>
          <a:p>
            <a:pPr algn="l"/>
            <a:r>
              <a:rPr lang="zh-CN" altLang="en-US" sz="1400" dirty="0">
                <a:latin typeface="微软雅黑 Light" panose="020B0502040204020203" pitchFamily="34" charset="-122"/>
                <a:ea typeface="微软雅黑 Light" panose="020B0502040204020203" pitchFamily="34" charset="-122"/>
              </a:rPr>
              <a:t>记法：国际惯例，</a:t>
            </a:r>
            <a:r>
              <a:rPr lang="en-US" altLang="zh-CN" sz="1400" dirty="0">
                <a:latin typeface="微软雅黑 Light" panose="020B0502040204020203" pitchFamily="34" charset="-122"/>
                <a:ea typeface="微软雅黑 Light" panose="020B0502040204020203" pitchFamily="34" charset="-122"/>
              </a:rPr>
              <a:t>1</a:t>
            </a:r>
            <a:r>
              <a:rPr lang="zh-CN" altLang="en-US" sz="1400" dirty="0">
                <a:latin typeface="微软雅黑 Light" panose="020B0502040204020203" pitchFamily="34" charset="-122"/>
                <a:ea typeface="微软雅黑 Light" panose="020B0502040204020203" pitchFamily="34" charset="-122"/>
              </a:rPr>
              <a:t>为</a:t>
            </a:r>
            <a:r>
              <a:rPr lang="en-US" altLang="zh-CN" sz="1400" dirty="0">
                <a:latin typeface="微软雅黑 Light" panose="020B0502040204020203" pitchFamily="34" charset="-122"/>
                <a:ea typeface="微软雅黑 Light" panose="020B0502040204020203" pitchFamily="34" charset="-122"/>
              </a:rPr>
              <a:t>+1</a:t>
            </a:r>
            <a:r>
              <a:rPr lang="zh-CN" altLang="en-US" sz="1400" dirty="0">
                <a:latin typeface="微软雅黑 Light" panose="020B0502040204020203" pitchFamily="34" charset="-122"/>
                <a:ea typeface="微软雅黑 Light" panose="020B0502040204020203" pitchFamily="34" charset="-122"/>
              </a:rPr>
              <a:t>，</a:t>
            </a:r>
            <a:r>
              <a:rPr lang="en-US" altLang="zh-CN" sz="1400" dirty="0">
                <a:latin typeface="微软雅黑 Light" panose="020B0502040204020203" pitchFamily="34" charset="-122"/>
                <a:ea typeface="微软雅黑 Light" panose="020B0502040204020203" pitchFamily="34" charset="-122"/>
              </a:rPr>
              <a:t>0</a:t>
            </a:r>
            <a:r>
              <a:rPr lang="zh-CN" altLang="en-US" sz="1400" dirty="0">
                <a:latin typeface="微软雅黑 Light" panose="020B0502040204020203" pitchFamily="34" charset="-122"/>
                <a:ea typeface="微软雅黑 Light" panose="020B0502040204020203" pitchFamily="34" charset="-122"/>
              </a:rPr>
              <a:t>为</a:t>
            </a:r>
            <a:r>
              <a:rPr lang="en-US" altLang="zh-CN" sz="1400" dirty="0">
                <a:latin typeface="微软雅黑 Light" panose="020B0502040204020203" pitchFamily="34" charset="-122"/>
                <a:ea typeface="微软雅黑 Light" panose="020B0502040204020203" pitchFamily="34" charset="-122"/>
              </a:rPr>
              <a:t>-1</a:t>
            </a:r>
            <a:r>
              <a:rPr lang="zh-CN" altLang="en-US" sz="1400" dirty="0">
                <a:latin typeface="微软雅黑 Light" panose="020B0502040204020203" pitchFamily="34" charset="-122"/>
                <a:ea typeface="微软雅黑 Light" panose="020B0502040204020203" pitchFamily="34" charset="-122"/>
              </a:rPr>
              <a:t>，所以用户的码片为（</a:t>
            </a:r>
            <a:r>
              <a:rPr lang="en-US" altLang="zh-CN" sz="1400" dirty="0">
                <a:latin typeface="微软雅黑 Light" panose="020B0502040204020203" pitchFamily="34" charset="-122"/>
                <a:ea typeface="微软雅黑 Light" panose="020B0502040204020203" pitchFamily="34" charset="-122"/>
              </a:rPr>
              <a:t>-1 -1 -1 +1 +1 -1 +1 +1 </a:t>
            </a:r>
            <a:r>
              <a:rPr lang="zh-CN" altLang="en-US" sz="1400" dirty="0">
                <a:latin typeface="微软雅黑 Light" panose="020B0502040204020203" pitchFamily="34" charset="-122"/>
                <a:ea typeface="微软雅黑 Light" panose="020B0502040204020203" pitchFamily="34" charset="-122"/>
              </a:rPr>
              <a:t>）</a:t>
            </a:r>
          </a:p>
        </p:txBody>
      </p:sp>
      <p:pic>
        <p:nvPicPr>
          <p:cNvPr id="8" name="图形 7" descr="灯泡">
            <a:extLst>
              <a:ext uri="{FF2B5EF4-FFF2-40B4-BE49-F238E27FC236}">
                <a16:creationId xmlns:a16="http://schemas.microsoft.com/office/drawing/2014/main" id="{E4DD0ADD-A740-4E10-A68F-C7C9B75C1A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1803" y="5867814"/>
            <a:ext cx="360000" cy="360000"/>
          </a:xfrm>
          <a:prstGeom prst="rect">
            <a:avLst/>
          </a:prstGeom>
          <a:effectLst>
            <a:outerShdw blurRad="50800" dist="38100" dir="2700000" algn="tl" rotWithShape="0">
              <a:prstClr val="black">
                <a:alpha val="40000"/>
              </a:prstClr>
            </a:outerShdw>
          </a:effectLst>
        </p:spPr>
      </p:pic>
      <p:sp>
        <p:nvSpPr>
          <p:cNvPr id="9" name="矩形 8">
            <a:extLst>
              <a:ext uri="{FF2B5EF4-FFF2-40B4-BE49-F238E27FC236}">
                <a16:creationId xmlns:a16="http://schemas.microsoft.com/office/drawing/2014/main" id="{E1074A34-5145-4E7B-A270-BBAD52A752D5}"/>
              </a:ext>
            </a:extLst>
          </p:cNvPr>
          <p:cNvSpPr/>
          <p:nvPr/>
        </p:nvSpPr>
        <p:spPr>
          <a:xfrm>
            <a:off x="521110" y="3934364"/>
            <a:ext cx="216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1" name="矩形 10">
            <a:extLst>
              <a:ext uri="{FF2B5EF4-FFF2-40B4-BE49-F238E27FC236}">
                <a16:creationId xmlns:a16="http://schemas.microsoft.com/office/drawing/2014/main" id="{0A527C58-D6AC-407D-BACD-2B4A16A85211}"/>
              </a:ext>
            </a:extLst>
          </p:cNvPr>
          <p:cNvSpPr/>
          <p:nvPr/>
        </p:nvSpPr>
        <p:spPr>
          <a:xfrm>
            <a:off x="2786035" y="3934364"/>
            <a:ext cx="216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12" name="矩形 11">
            <a:extLst>
              <a:ext uri="{FF2B5EF4-FFF2-40B4-BE49-F238E27FC236}">
                <a16:creationId xmlns:a16="http://schemas.microsoft.com/office/drawing/2014/main" id="{10AF6B0C-B1D2-4990-82F2-BDD94E35EF80}"/>
              </a:ext>
            </a:extLst>
          </p:cNvPr>
          <p:cNvSpPr/>
          <p:nvPr/>
        </p:nvSpPr>
        <p:spPr>
          <a:xfrm>
            <a:off x="5050960" y="3934364"/>
            <a:ext cx="216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3" name="矩形 12">
            <a:extLst>
              <a:ext uri="{FF2B5EF4-FFF2-40B4-BE49-F238E27FC236}">
                <a16:creationId xmlns:a16="http://schemas.microsoft.com/office/drawing/2014/main" id="{03D8A1D5-AF53-4083-8639-7ECF8C05FF77}"/>
              </a:ext>
            </a:extLst>
          </p:cNvPr>
          <p:cNvSpPr/>
          <p:nvPr/>
        </p:nvSpPr>
        <p:spPr>
          <a:xfrm>
            <a:off x="7315885" y="3934364"/>
            <a:ext cx="216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4" name="矩形 13">
            <a:extLst>
              <a:ext uri="{FF2B5EF4-FFF2-40B4-BE49-F238E27FC236}">
                <a16:creationId xmlns:a16="http://schemas.microsoft.com/office/drawing/2014/main" id="{9EF4B3F6-70E8-4B38-8F38-AD54C60895C6}"/>
              </a:ext>
            </a:extLst>
          </p:cNvPr>
          <p:cNvSpPr/>
          <p:nvPr/>
        </p:nvSpPr>
        <p:spPr>
          <a:xfrm>
            <a:off x="9580811" y="3934364"/>
            <a:ext cx="216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15" name="矩形 14">
            <a:extLst>
              <a:ext uri="{FF2B5EF4-FFF2-40B4-BE49-F238E27FC236}">
                <a16:creationId xmlns:a16="http://schemas.microsoft.com/office/drawing/2014/main" id="{FCB04501-0E54-4D0F-A6D8-A6889E3EC485}"/>
              </a:ext>
            </a:extLst>
          </p:cNvPr>
          <p:cNvSpPr/>
          <p:nvPr/>
        </p:nvSpPr>
        <p:spPr>
          <a:xfrm>
            <a:off x="521110"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7" name="矩形 16">
            <a:extLst>
              <a:ext uri="{FF2B5EF4-FFF2-40B4-BE49-F238E27FC236}">
                <a16:creationId xmlns:a16="http://schemas.microsoft.com/office/drawing/2014/main" id="{91FB4699-D5BC-4731-961B-A15C9B3BEEAD}"/>
              </a:ext>
            </a:extLst>
          </p:cNvPr>
          <p:cNvSpPr/>
          <p:nvPr/>
        </p:nvSpPr>
        <p:spPr>
          <a:xfrm>
            <a:off x="803359"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18" name="矩形 17">
            <a:extLst>
              <a:ext uri="{FF2B5EF4-FFF2-40B4-BE49-F238E27FC236}">
                <a16:creationId xmlns:a16="http://schemas.microsoft.com/office/drawing/2014/main" id="{73B3F71F-0318-4150-9979-5A8B0EA621D2}"/>
              </a:ext>
            </a:extLst>
          </p:cNvPr>
          <p:cNvSpPr/>
          <p:nvPr/>
        </p:nvSpPr>
        <p:spPr>
          <a:xfrm>
            <a:off x="1085608" y="4462509"/>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19" name="矩形 18">
            <a:extLst>
              <a:ext uri="{FF2B5EF4-FFF2-40B4-BE49-F238E27FC236}">
                <a16:creationId xmlns:a16="http://schemas.microsoft.com/office/drawing/2014/main" id="{D936FBD3-DDB2-4A12-A3AE-81047A334393}"/>
              </a:ext>
            </a:extLst>
          </p:cNvPr>
          <p:cNvSpPr/>
          <p:nvPr/>
        </p:nvSpPr>
        <p:spPr>
          <a:xfrm>
            <a:off x="1367857"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0" name="矩形 19">
            <a:extLst>
              <a:ext uri="{FF2B5EF4-FFF2-40B4-BE49-F238E27FC236}">
                <a16:creationId xmlns:a16="http://schemas.microsoft.com/office/drawing/2014/main" id="{AD978B9E-1E24-4EA3-A4B0-B432CD516D1E}"/>
              </a:ext>
            </a:extLst>
          </p:cNvPr>
          <p:cNvSpPr/>
          <p:nvPr/>
        </p:nvSpPr>
        <p:spPr>
          <a:xfrm>
            <a:off x="1650106" y="4462509"/>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1" name="矩形 20">
            <a:extLst>
              <a:ext uri="{FF2B5EF4-FFF2-40B4-BE49-F238E27FC236}">
                <a16:creationId xmlns:a16="http://schemas.microsoft.com/office/drawing/2014/main" id="{954C0613-879E-4CA2-B45C-3C6FD36368B2}"/>
              </a:ext>
            </a:extLst>
          </p:cNvPr>
          <p:cNvSpPr/>
          <p:nvPr/>
        </p:nvSpPr>
        <p:spPr>
          <a:xfrm>
            <a:off x="1932355" y="4462509"/>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2" name="矩形 21">
            <a:extLst>
              <a:ext uri="{FF2B5EF4-FFF2-40B4-BE49-F238E27FC236}">
                <a16:creationId xmlns:a16="http://schemas.microsoft.com/office/drawing/2014/main" id="{C45C4E37-09D4-4F31-9261-1582AD40A335}"/>
              </a:ext>
            </a:extLst>
          </p:cNvPr>
          <p:cNvSpPr/>
          <p:nvPr/>
        </p:nvSpPr>
        <p:spPr>
          <a:xfrm>
            <a:off x="2214604"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3" name="矩形 22">
            <a:extLst>
              <a:ext uri="{FF2B5EF4-FFF2-40B4-BE49-F238E27FC236}">
                <a16:creationId xmlns:a16="http://schemas.microsoft.com/office/drawing/2014/main" id="{5A292D6F-6012-4C65-A5CB-A60E05BB1817}"/>
              </a:ext>
            </a:extLst>
          </p:cNvPr>
          <p:cNvSpPr/>
          <p:nvPr/>
        </p:nvSpPr>
        <p:spPr>
          <a:xfrm>
            <a:off x="2496855" y="4462509"/>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4" name="矩形 23">
            <a:extLst>
              <a:ext uri="{FF2B5EF4-FFF2-40B4-BE49-F238E27FC236}">
                <a16:creationId xmlns:a16="http://schemas.microsoft.com/office/drawing/2014/main" id="{FB717EB1-42BA-475E-8DEE-D580E7C6FD3C}"/>
              </a:ext>
            </a:extLst>
          </p:cNvPr>
          <p:cNvSpPr/>
          <p:nvPr/>
        </p:nvSpPr>
        <p:spPr>
          <a:xfrm>
            <a:off x="2786035"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5" name="矩形 24">
            <a:extLst>
              <a:ext uri="{FF2B5EF4-FFF2-40B4-BE49-F238E27FC236}">
                <a16:creationId xmlns:a16="http://schemas.microsoft.com/office/drawing/2014/main" id="{DCB21821-95B1-4190-9BA3-AD410B7B8671}"/>
              </a:ext>
            </a:extLst>
          </p:cNvPr>
          <p:cNvSpPr/>
          <p:nvPr/>
        </p:nvSpPr>
        <p:spPr>
          <a:xfrm>
            <a:off x="3068284"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6" name="矩形 25">
            <a:extLst>
              <a:ext uri="{FF2B5EF4-FFF2-40B4-BE49-F238E27FC236}">
                <a16:creationId xmlns:a16="http://schemas.microsoft.com/office/drawing/2014/main" id="{4DA4229E-63A9-4B85-88D1-5DA6993F09CD}"/>
              </a:ext>
            </a:extLst>
          </p:cNvPr>
          <p:cNvSpPr/>
          <p:nvPr/>
        </p:nvSpPr>
        <p:spPr>
          <a:xfrm>
            <a:off x="3350533"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7" name="矩形 26">
            <a:extLst>
              <a:ext uri="{FF2B5EF4-FFF2-40B4-BE49-F238E27FC236}">
                <a16:creationId xmlns:a16="http://schemas.microsoft.com/office/drawing/2014/main" id="{8001363F-97FA-4A70-99B6-8B6C9388A7E1}"/>
              </a:ext>
            </a:extLst>
          </p:cNvPr>
          <p:cNvSpPr/>
          <p:nvPr/>
        </p:nvSpPr>
        <p:spPr>
          <a:xfrm>
            <a:off x="3632782"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28" name="矩形 27">
            <a:extLst>
              <a:ext uri="{FF2B5EF4-FFF2-40B4-BE49-F238E27FC236}">
                <a16:creationId xmlns:a16="http://schemas.microsoft.com/office/drawing/2014/main" id="{BF1156ED-DC6D-4334-ACCD-EB4E5BAB9EBF}"/>
              </a:ext>
            </a:extLst>
          </p:cNvPr>
          <p:cNvSpPr/>
          <p:nvPr/>
        </p:nvSpPr>
        <p:spPr>
          <a:xfrm>
            <a:off x="3915031"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29" name="矩形 28">
            <a:extLst>
              <a:ext uri="{FF2B5EF4-FFF2-40B4-BE49-F238E27FC236}">
                <a16:creationId xmlns:a16="http://schemas.microsoft.com/office/drawing/2014/main" id="{635F0445-EAFE-42E9-B6DA-37F25F978CF5}"/>
              </a:ext>
            </a:extLst>
          </p:cNvPr>
          <p:cNvSpPr/>
          <p:nvPr/>
        </p:nvSpPr>
        <p:spPr>
          <a:xfrm>
            <a:off x="4197280"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0" name="矩形 29">
            <a:extLst>
              <a:ext uri="{FF2B5EF4-FFF2-40B4-BE49-F238E27FC236}">
                <a16:creationId xmlns:a16="http://schemas.microsoft.com/office/drawing/2014/main" id="{B7648C75-1516-445A-B237-EE01E9F80EE6}"/>
              </a:ext>
            </a:extLst>
          </p:cNvPr>
          <p:cNvSpPr/>
          <p:nvPr/>
        </p:nvSpPr>
        <p:spPr>
          <a:xfrm>
            <a:off x="4479529"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1" name="矩形 30">
            <a:extLst>
              <a:ext uri="{FF2B5EF4-FFF2-40B4-BE49-F238E27FC236}">
                <a16:creationId xmlns:a16="http://schemas.microsoft.com/office/drawing/2014/main" id="{5F782577-C3F1-4A2F-826A-C9620E938F4E}"/>
              </a:ext>
            </a:extLst>
          </p:cNvPr>
          <p:cNvSpPr/>
          <p:nvPr/>
        </p:nvSpPr>
        <p:spPr>
          <a:xfrm>
            <a:off x="4761780"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2" name="矩形 31">
            <a:extLst>
              <a:ext uri="{FF2B5EF4-FFF2-40B4-BE49-F238E27FC236}">
                <a16:creationId xmlns:a16="http://schemas.microsoft.com/office/drawing/2014/main" id="{2DBF4C7A-B42D-4885-A236-F0942577FA37}"/>
              </a:ext>
            </a:extLst>
          </p:cNvPr>
          <p:cNvSpPr/>
          <p:nvPr/>
        </p:nvSpPr>
        <p:spPr>
          <a:xfrm>
            <a:off x="5050960"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3" name="矩形 32">
            <a:extLst>
              <a:ext uri="{FF2B5EF4-FFF2-40B4-BE49-F238E27FC236}">
                <a16:creationId xmlns:a16="http://schemas.microsoft.com/office/drawing/2014/main" id="{930769CF-6A97-4C0F-AFDA-998BA2FDF4BF}"/>
              </a:ext>
            </a:extLst>
          </p:cNvPr>
          <p:cNvSpPr/>
          <p:nvPr/>
        </p:nvSpPr>
        <p:spPr>
          <a:xfrm>
            <a:off x="5333209"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4" name="矩形 33">
            <a:extLst>
              <a:ext uri="{FF2B5EF4-FFF2-40B4-BE49-F238E27FC236}">
                <a16:creationId xmlns:a16="http://schemas.microsoft.com/office/drawing/2014/main" id="{A5D1427E-A5FE-43BC-9C27-5E6341BFD873}"/>
              </a:ext>
            </a:extLst>
          </p:cNvPr>
          <p:cNvSpPr/>
          <p:nvPr/>
        </p:nvSpPr>
        <p:spPr>
          <a:xfrm>
            <a:off x="5615458"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5" name="矩形 34">
            <a:extLst>
              <a:ext uri="{FF2B5EF4-FFF2-40B4-BE49-F238E27FC236}">
                <a16:creationId xmlns:a16="http://schemas.microsoft.com/office/drawing/2014/main" id="{5DCABB50-83FC-442D-B8A9-2E0F453353BA}"/>
              </a:ext>
            </a:extLst>
          </p:cNvPr>
          <p:cNvSpPr/>
          <p:nvPr/>
        </p:nvSpPr>
        <p:spPr>
          <a:xfrm>
            <a:off x="5897707"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6" name="矩形 35">
            <a:extLst>
              <a:ext uri="{FF2B5EF4-FFF2-40B4-BE49-F238E27FC236}">
                <a16:creationId xmlns:a16="http://schemas.microsoft.com/office/drawing/2014/main" id="{2CB7D88F-AC8E-4C8D-B6E1-804BA3593FC6}"/>
              </a:ext>
            </a:extLst>
          </p:cNvPr>
          <p:cNvSpPr/>
          <p:nvPr/>
        </p:nvSpPr>
        <p:spPr>
          <a:xfrm>
            <a:off x="6179956"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7" name="矩形 36">
            <a:extLst>
              <a:ext uri="{FF2B5EF4-FFF2-40B4-BE49-F238E27FC236}">
                <a16:creationId xmlns:a16="http://schemas.microsoft.com/office/drawing/2014/main" id="{9A6B920D-3362-4A7A-83E0-A9C1BBB43FC5}"/>
              </a:ext>
            </a:extLst>
          </p:cNvPr>
          <p:cNvSpPr/>
          <p:nvPr/>
        </p:nvSpPr>
        <p:spPr>
          <a:xfrm>
            <a:off x="6462205"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38" name="矩形 37">
            <a:extLst>
              <a:ext uri="{FF2B5EF4-FFF2-40B4-BE49-F238E27FC236}">
                <a16:creationId xmlns:a16="http://schemas.microsoft.com/office/drawing/2014/main" id="{5F8D2E8B-005A-4EC5-B970-6713A00E4C2B}"/>
              </a:ext>
            </a:extLst>
          </p:cNvPr>
          <p:cNvSpPr/>
          <p:nvPr/>
        </p:nvSpPr>
        <p:spPr>
          <a:xfrm>
            <a:off x="6744454"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39" name="矩形 38">
            <a:extLst>
              <a:ext uri="{FF2B5EF4-FFF2-40B4-BE49-F238E27FC236}">
                <a16:creationId xmlns:a16="http://schemas.microsoft.com/office/drawing/2014/main" id="{B6C245F2-2B9F-4529-B53E-BC4FCCCD0CF0}"/>
              </a:ext>
            </a:extLst>
          </p:cNvPr>
          <p:cNvSpPr/>
          <p:nvPr/>
        </p:nvSpPr>
        <p:spPr>
          <a:xfrm>
            <a:off x="7026705"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0" name="矩形 39">
            <a:extLst>
              <a:ext uri="{FF2B5EF4-FFF2-40B4-BE49-F238E27FC236}">
                <a16:creationId xmlns:a16="http://schemas.microsoft.com/office/drawing/2014/main" id="{3CF6EA0F-1719-4167-B409-585B687FDE27}"/>
              </a:ext>
            </a:extLst>
          </p:cNvPr>
          <p:cNvSpPr/>
          <p:nvPr/>
        </p:nvSpPr>
        <p:spPr>
          <a:xfrm>
            <a:off x="7320140"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1" name="矩形 40">
            <a:extLst>
              <a:ext uri="{FF2B5EF4-FFF2-40B4-BE49-F238E27FC236}">
                <a16:creationId xmlns:a16="http://schemas.microsoft.com/office/drawing/2014/main" id="{1EEC4409-A4EE-4A44-BECB-00F6627B892F}"/>
              </a:ext>
            </a:extLst>
          </p:cNvPr>
          <p:cNvSpPr/>
          <p:nvPr/>
        </p:nvSpPr>
        <p:spPr>
          <a:xfrm>
            <a:off x="7602389"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2" name="矩形 41">
            <a:extLst>
              <a:ext uri="{FF2B5EF4-FFF2-40B4-BE49-F238E27FC236}">
                <a16:creationId xmlns:a16="http://schemas.microsoft.com/office/drawing/2014/main" id="{F42CB493-8B69-4A06-A553-32BC5F6679DC}"/>
              </a:ext>
            </a:extLst>
          </p:cNvPr>
          <p:cNvSpPr/>
          <p:nvPr/>
        </p:nvSpPr>
        <p:spPr>
          <a:xfrm>
            <a:off x="7884638"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43" name="矩形 42">
            <a:extLst>
              <a:ext uri="{FF2B5EF4-FFF2-40B4-BE49-F238E27FC236}">
                <a16:creationId xmlns:a16="http://schemas.microsoft.com/office/drawing/2014/main" id="{ECFE60A2-7D6E-4A0C-8C61-722315C18AD5}"/>
              </a:ext>
            </a:extLst>
          </p:cNvPr>
          <p:cNvSpPr/>
          <p:nvPr/>
        </p:nvSpPr>
        <p:spPr>
          <a:xfrm>
            <a:off x="8166887"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4" name="矩形 43">
            <a:extLst>
              <a:ext uri="{FF2B5EF4-FFF2-40B4-BE49-F238E27FC236}">
                <a16:creationId xmlns:a16="http://schemas.microsoft.com/office/drawing/2014/main" id="{68336EDB-4F28-4AA4-ADFB-DC165BE338DF}"/>
              </a:ext>
            </a:extLst>
          </p:cNvPr>
          <p:cNvSpPr/>
          <p:nvPr/>
        </p:nvSpPr>
        <p:spPr>
          <a:xfrm>
            <a:off x="8449136"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45" name="矩形 44">
            <a:extLst>
              <a:ext uri="{FF2B5EF4-FFF2-40B4-BE49-F238E27FC236}">
                <a16:creationId xmlns:a16="http://schemas.microsoft.com/office/drawing/2014/main" id="{6F1103ED-3443-4839-ADA3-0286FF0823EA}"/>
              </a:ext>
            </a:extLst>
          </p:cNvPr>
          <p:cNvSpPr/>
          <p:nvPr/>
        </p:nvSpPr>
        <p:spPr>
          <a:xfrm>
            <a:off x="8731385"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46" name="矩形 45">
            <a:extLst>
              <a:ext uri="{FF2B5EF4-FFF2-40B4-BE49-F238E27FC236}">
                <a16:creationId xmlns:a16="http://schemas.microsoft.com/office/drawing/2014/main" id="{D3950136-EC0B-420F-883E-D3F0CC81A053}"/>
              </a:ext>
            </a:extLst>
          </p:cNvPr>
          <p:cNvSpPr/>
          <p:nvPr/>
        </p:nvSpPr>
        <p:spPr>
          <a:xfrm>
            <a:off x="9013634"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7" name="矩形 46">
            <a:extLst>
              <a:ext uri="{FF2B5EF4-FFF2-40B4-BE49-F238E27FC236}">
                <a16:creationId xmlns:a16="http://schemas.microsoft.com/office/drawing/2014/main" id="{A4C365BA-BD76-4EEE-9DFF-29829209EA8D}"/>
              </a:ext>
            </a:extLst>
          </p:cNvPr>
          <p:cNvSpPr/>
          <p:nvPr/>
        </p:nvSpPr>
        <p:spPr>
          <a:xfrm>
            <a:off x="9295885"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48" name="矩形 47">
            <a:extLst>
              <a:ext uri="{FF2B5EF4-FFF2-40B4-BE49-F238E27FC236}">
                <a16:creationId xmlns:a16="http://schemas.microsoft.com/office/drawing/2014/main" id="{755FB3EC-519C-483E-94C9-5DBA4626D8A7}"/>
              </a:ext>
            </a:extLst>
          </p:cNvPr>
          <p:cNvSpPr/>
          <p:nvPr/>
        </p:nvSpPr>
        <p:spPr>
          <a:xfrm>
            <a:off x="9585066"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49" name="矩形 48">
            <a:extLst>
              <a:ext uri="{FF2B5EF4-FFF2-40B4-BE49-F238E27FC236}">
                <a16:creationId xmlns:a16="http://schemas.microsoft.com/office/drawing/2014/main" id="{E0D720B6-5C5D-4A3A-A53F-9BEA09BD3924}"/>
              </a:ext>
            </a:extLst>
          </p:cNvPr>
          <p:cNvSpPr/>
          <p:nvPr/>
        </p:nvSpPr>
        <p:spPr>
          <a:xfrm>
            <a:off x="9867315"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50" name="矩形 49">
            <a:extLst>
              <a:ext uri="{FF2B5EF4-FFF2-40B4-BE49-F238E27FC236}">
                <a16:creationId xmlns:a16="http://schemas.microsoft.com/office/drawing/2014/main" id="{6D43B80A-CC02-48CF-99C8-F118F91FB26C}"/>
              </a:ext>
            </a:extLst>
          </p:cNvPr>
          <p:cNvSpPr/>
          <p:nvPr/>
        </p:nvSpPr>
        <p:spPr>
          <a:xfrm>
            <a:off x="10149564"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51" name="矩形 50">
            <a:extLst>
              <a:ext uri="{FF2B5EF4-FFF2-40B4-BE49-F238E27FC236}">
                <a16:creationId xmlns:a16="http://schemas.microsoft.com/office/drawing/2014/main" id="{F517D05F-EAEB-4FE0-BDE4-B0F25F08AE81}"/>
              </a:ext>
            </a:extLst>
          </p:cNvPr>
          <p:cNvSpPr/>
          <p:nvPr/>
        </p:nvSpPr>
        <p:spPr>
          <a:xfrm>
            <a:off x="10431813"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52" name="矩形 51">
            <a:extLst>
              <a:ext uri="{FF2B5EF4-FFF2-40B4-BE49-F238E27FC236}">
                <a16:creationId xmlns:a16="http://schemas.microsoft.com/office/drawing/2014/main" id="{F1A7CD2E-64BE-469D-AB93-59F41F57108F}"/>
              </a:ext>
            </a:extLst>
          </p:cNvPr>
          <p:cNvSpPr/>
          <p:nvPr/>
        </p:nvSpPr>
        <p:spPr>
          <a:xfrm>
            <a:off x="10714062"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53" name="矩形 52">
            <a:extLst>
              <a:ext uri="{FF2B5EF4-FFF2-40B4-BE49-F238E27FC236}">
                <a16:creationId xmlns:a16="http://schemas.microsoft.com/office/drawing/2014/main" id="{39317BEC-F234-480E-B7FE-8C46552E2078}"/>
              </a:ext>
            </a:extLst>
          </p:cNvPr>
          <p:cNvSpPr/>
          <p:nvPr/>
        </p:nvSpPr>
        <p:spPr>
          <a:xfrm>
            <a:off x="10996311" y="4471385"/>
            <a:ext cx="180000" cy="368878"/>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1</a:t>
            </a:r>
            <a:endParaRPr lang="zh-CN" altLang="en-US" dirty="0">
              <a:latin typeface="Cuprum" panose="00000500000000000000" pitchFamily="2" charset="0"/>
            </a:endParaRPr>
          </a:p>
        </p:txBody>
      </p:sp>
      <p:sp>
        <p:nvSpPr>
          <p:cNvPr id="54" name="矩形 53">
            <a:extLst>
              <a:ext uri="{FF2B5EF4-FFF2-40B4-BE49-F238E27FC236}">
                <a16:creationId xmlns:a16="http://schemas.microsoft.com/office/drawing/2014/main" id="{4C30F52E-0FEF-41A2-8CA2-38262D8BF0D6}"/>
              </a:ext>
            </a:extLst>
          </p:cNvPr>
          <p:cNvSpPr/>
          <p:nvPr/>
        </p:nvSpPr>
        <p:spPr>
          <a:xfrm>
            <a:off x="11278560"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
        <p:nvSpPr>
          <p:cNvPr id="55" name="矩形 54">
            <a:extLst>
              <a:ext uri="{FF2B5EF4-FFF2-40B4-BE49-F238E27FC236}">
                <a16:creationId xmlns:a16="http://schemas.microsoft.com/office/drawing/2014/main" id="{04725F8D-D595-4EBB-B504-2F02EB863144}"/>
              </a:ext>
            </a:extLst>
          </p:cNvPr>
          <p:cNvSpPr/>
          <p:nvPr/>
        </p:nvSpPr>
        <p:spPr>
          <a:xfrm>
            <a:off x="11560811" y="4471385"/>
            <a:ext cx="180000" cy="368878"/>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Cuprum" panose="00000500000000000000" pitchFamily="2" charset="0"/>
              </a:rPr>
              <a:t>0</a:t>
            </a:r>
            <a:endParaRPr lang="zh-CN" altLang="en-US" dirty="0">
              <a:latin typeface="Cuprum" panose="00000500000000000000" pitchFamily="2" charset="0"/>
            </a:endParaRPr>
          </a:p>
        </p:txBody>
      </p:sp>
    </p:spTree>
    <p:extLst>
      <p:ext uri="{BB962C8B-B14F-4D97-AF65-F5344CB8AC3E}">
        <p14:creationId xmlns:p14="http://schemas.microsoft.com/office/powerpoint/2010/main" val="22049400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码分多址</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2906553"/>
            <a:ext cx="9374682" cy="400110"/>
          </a:xfrm>
          <a:prstGeom prst="rect">
            <a:avLst/>
          </a:prstGeom>
          <a:noFill/>
        </p:spPr>
        <p:txBody>
          <a:bodyPr wrap="none" rtlCol="0">
            <a:spAutoFit/>
          </a:bodyPr>
          <a:lstStyle/>
          <a:p>
            <a:r>
              <a:rPr lang="zh-CN" altLang="en-US" sz="2000" dirty="0">
                <a:latin typeface="IBM Plex Sans Light" panose="020B0403050203000203" pitchFamily="34" charset="0"/>
                <a:ea typeface="微软雅黑 Light" panose="020B0502040204020203" pitchFamily="34" charset="-122"/>
              </a:rPr>
              <a:t>如果向量</a:t>
            </a:r>
            <a:r>
              <a:rPr lang="en-US" altLang="zh-CN" sz="2000" dirty="0">
                <a:latin typeface="IBM Plex Sans Light" panose="020B0403050203000203" pitchFamily="34" charset="0"/>
                <a:ea typeface="微软雅黑 Light" panose="020B0502040204020203" pitchFamily="34" charset="-122"/>
              </a:rPr>
              <a:t>S</a:t>
            </a:r>
            <a:r>
              <a:rPr lang="zh-CN" altLang="en-US" sz="2000" dirty="0">
                <a:latin typeface="IBM Plex Sans Light" panose="020B0403050203000203" pitchFamily="34" charset="0"/>
                <a:ea typeface="微软雅黑 Light" panose="020B0502040204020203" pitchFamily="34" charset="-122"/>
              </a:rPr>
              <a:t>和向量</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的规格化内积</a:t>
            </a:r>
            <a:r>
              <a:rPr lang="en-US" altLang="zh-CN" sz="2000" dirty="0">
                <a:latin typeface="IBM Plex Sans Light" panose="020B0403050203000203" pitchFamily="34" charset="0"/>
                <a:ea typeface="微软雅黑 Light" panose="020B0502040204020203" pitchFamily="34" charset="-122"/>
              </a:rPr>
              <a:t>inner product</a:t>
            </a:r>
            <a:r>
              <a:rPr lang="zh-CN" altLang="en-US" sz="2000" dirty="0">
                <a:latin typeface="IBM Plex Sans Light" panose="020B0403050203000203" pitchFamily="34" charset="0"/>
                <a:ea typeface="微软雅黑 Light" panose="020B0502040204020203" pitchFamily="34" charset="-122"/>
              </a:rPr>
              <a:t>为</a:t>
            </a:r>
            <a:r>
              <a:rPr lang="en-US" altLang="zh-CN" sz="2000" dirty="0">
                <a:latin typeface="IBM Plex Sans Light" panose="020B0403050203000203" pitchFamily="34" charset="0"/>
                <a:ea typeface="微软雅黑 Light" panose="020B0502040204020203" pitchFamily="34" charset="-122"/>
              </a:rPr>
              <a:t>0</a:t>
            </a:r>
            <a:r>
              <a:rPr lang="zh-CN" altLang="en-US" sz="2000" dirty="0">
                <a:latin typeface="IBM Plex Sans Light" panose="020B0403050203000203" pitchFamily="34" charset="0"/>
                <a:ea typeface="微软雅黑 Light" panose="020B0502040204020203" pitchFamily="34" charset="-122"/>
              </a:rPr>
              <a:t>，则说明向量</a:t>
            </a:r>
            <a:r>
              <a:rPr lang="en-US" altLang="zh-CN" sz="2000" dirty="0">
                <a:latin typeface="IBM Plex Sans Light" panose="020B0403050203000203" pitchFamily="34" charset="0"/>
                <a:ea typeface="微软雅黑 Light" panose="020B0502040204020203" pitchFamily="34" charset="-122"/>
              </a:rPr>
              <a:t>S</a:t>
            </a:r>
            <a:r>
              <a:rPr lang="zh-CN" altLang="en-US" sz="2000" dirty="0">
                <a:latin typeface="IBM Plex Sans Light" panose="020B0403050203000203" pitchFamily="34" charset="0"/>
                <a:ea typeface="微软雅黑 Light" panose="020B0502040204020203" pitchFamily="34" charset="-122"/>
              </a:rPr>
              <a:t>和向量</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是正交的</a:t>
            </a:r>
            <a:endParaRPr lang="en-US" altLang="zh-CN" sz="2000" dirty="0">
              <a:latin typeface="IBM Plex Sans Light" panose="020B0403050203000203" pitchFamily="34" charset="0"/>
              <a:ea typeface="微软雅黑 Light" panose="020B0502040204020203"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59B7E9D-42B4-4682-B325-1F6425A00DE5}"/>
                  </a:ext>
                </a:extLst>
              </p:cNvPr>
              <p:cNvSpPr txBox="1"/>
              <p:nvPr/>
            </p:nvSpPr>
            <p:spPr>
              <a:xfrm>
                <a:off x="1238865" y="3616172"/>
                <a:ext cx="2593723" cy="84029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=0</m:t>
                          </m:r>
                        </m:e>
                      </m:nary>
                    </m:oMath>
                  </m:oMathPara>
                </a14:m>
                <a:endParaRPr lang="zh-CN" altLang="en-US" sz="2000" dirty="0">
                  <a:solidFill>
                    <a:schemeClr val="tx1"/>
                  </a:solidFill>
                  <a:latin typeface="IBM Plex Sans Light" panose="020B0403050203000203" pitchFamily="34" charset="0"/>
                  <a:ea typeface="微软雅黑 Light" panose="020B0502040204020203" pitchFamily="34" charset="-122"/>
                </a:endParaRPr>
              </a:p>
            </p:txBody>
          </p:sp>
        </mc:Choice>
        <mc:Fallback xmlns="">
          <p:sp>
            <p:nvSpPr>
              <p:cNvPr id="8" name="文本框 7">
                <a:extLst>
                  <a:ext uri="{FF2B5EF4-FFF2-40B4-BE49-F238E27FC236}">
                    <a16:creationId xmlns:a16="http://schemas.microsoft.com/office/drawing/2014/main" id="{859B7E9D-42B4-4682-B325-1F6425A00DE5}"/>
                  </a:ext>
                </a:extLst>
              </p:cNvPr>
              <p:cNvSpPr txBox="1">
                <a:spLocks noRot="1" noChangeAspect="1" noMove="1" noResize="1" noEditPoints="1" noAdjustHandles="1" noChangeArrowheads="1" noChangeShapeType="1" noTextEdit="1"/>
              </p:cNvSpPr>
              <p:nvPr/>
            </p:nvSpPr>
            <p:spPr>
              <a:xfrm>
                <a:off x="1238865" y="3616172"/>
                <a:ext cx="2593723" cy="840295"/>
              </a:xfrm>
              <a:prstGeom prst="rect">
                <a:avLst/>
              </a:prstGeom>
              <a:blipFill>
                <a:blip r:embed="rId2"/>
                <a:stretch>
                  <a:fillRect/>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2C4F22D9-9DAE-4EE8-859C-43A64AB6CF5A}"/>
              </a:ext>
            </a:extLst>
          </p:cNvPr>
          <p:cNvSpPr txBox="1"/>
          <p:nvPr/>
        </p:nvSpPr>
        <p:spPr>
          <a:xfrm>
            <a:off x="344962" y="4765976"/>
            <a:ext cx="5254965" cy="400110"/>
          </a:xfrm>
          <a:prstGeom prst="rect">
            <a:avLst/>
          </a:prstGeom>
          <a:noFill/>
        </p:spPr>
        <p:txBody>
          <a:bodyPr wrap="none" rtlCol="0">
            <a:spAutoFit/>
          </a:bodyPr>
          <a:lstStyle/>
          <a:p>
            <a:r>
              <a:rPr lang="zh-CN" altLang="en-US" sz="2000" dirty="0">
                <a:latin typeface="IBM Plex Sans Light" panose="020B0403050203000203" pitchFamily="34" charset="0"/>
                <a:ea typeface="微软雅黑 Light" panose="020B0502040204020203" pitchFamily="34" charset="-122"/>
              </a:rPr>
              <a:t>任何一个向量</a:t>
            </a:r>
            <a:r>
              <a:rPr lang="en-US" altLang="zh-CN" sz="2000" dirty="0">
                <a:latin typeface="IBM Plex Sans Light" panose="020B0403050203000203" pitchFamily="34" charset="0"/>
                <a:ea typeface="微软雅黑 Light" panose="020B0502040204020203" pitchFamily="34" charset="-122"/>
              </a:rPr>
              <a:t>S</a:t>
            </a:r>
            <a:r>
              <a:rPr lang="zh-CN" altLang="en-US" sz="2000" dirty="0">
                <a:latin typeface="IBM Plex Sans Light" panose="020B0403050203000203" pitchFamily="34" charset="0"/>
                <a:ea typeface="微软雅黑 Light" panose="020B0502040204020203" pitchFamily="34" charset="-122"/>
              </a:rPr>
              <a:t>和它自己的规格化内积都为</a:t>
            </a:r>
            <a:r>
              <a:rPr lang="en-US" altLang="zh-CN" sz="2000" dirty="0">
                <a:latin typeface="IBM Plex Sans Light" panose="020B0403050203000203" pitchFamily="34" charset="0"/>
                <a:ea typeface="微软雅黑 Light" panose="020B0502040204020203" pitchFamily="34" charset="-122"/>
              </a:rPr>
              <a:t>1</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6F27C7C0-8049-4E51-91FD-E940A6E5CE75}"/>
                  </a:ext>
                </a:extLst>
              </p:cNvPr>
              <p:cNvSpPr txBox="1"/>
              <p:nvPr/>
            </p:nvSpPr>
            <p:spPr>
              <a:xfrm>
                <a:off x="1238865" y="5475595"/>
                <a:ext cx="2562881" cy="84029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𝑆</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=1</m:t>
                          </m:r>
                        </m:e>
                      </m:nary>
                    </m:oMath>
                  </m:oMathPara>
                </a14:m>
                <a:endParaRPr lang="zh-CN" altLang="en-US" sz="2000" dirty="0">
                  <a:solidFill>
                    <a:schemeClr val="tx1"/>
                  </a:solidFill>
                  <a:latin typeface="IBM Plex Sans Light" panose="020B0403050203000203" pitchFamily="34" charset="0"/>
                  <a:ea typeface="微软雅黑 Light" panose="020B0502040204020203" pitchFamily="34" charset="-122"/>
                </a:endParaRPr>
              </a:p>
            </p:txBody>
          </p:sp>
        </mc:Choice>
        <mc:Fallback xmlns="">
          <p:sp>
            <p:nvSpPr>
              <p:cNvPr id="10" name="文本框 9">
                <a:extLst>
                  <a:ext uri="{FF2B5EF4-FFF2-40B4-BE49-F238E27FC236}">
                    <a16:creationId xmlns:a16="http://schemas.microsoft.com/office/drawing/2014/main" id="{6F27C7C0-8049-4E51-91FD-E940A6E5CE75}"/>
                  </a:ext>
                </a:extLst>
              </p:cNvPr>
              <p:cNvSpPr txBox="1">
                <a:spLocks noRot="1" noChangeAspect="1" noMove="1" noResize="1" noEditPoints="1" noAdjustHandles="1" noChangeArrowheads="1" noChangeShapeType="1" noTextEdit="1"/>
              </p:cNvSpPr>
              <p:nvPr/>
            </p:nvSpPr>
            <p:spPr>
              <a:xfrm>
                <a:off x="1238865" y="5475595"/>
                <a:ext cx="2562881" cy="840295"/>
              </a:xfrm>
              <a:prstGeom prst="rect">
                <a:avLst/>
              </a:prstGeom>
              <a:blipFill>
                <a:blip r:embed="rId3"/>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DB1411C8-3A09-4A43-9729-860FBF80DAB0}"/>
              </a:ext>
            </a:extLst>
          </p:cNvPr>
          <p:cNvSpPr txBox="1"/>
          <p:nvPr/>
        </p:nvSpPr>
        <p:spPr>
          <a:xfrm>
            <a:off x="4926449" y="1766047"/>
            <a:ext cx="2339102" cy="830997"/>
          </a:xfrm>
          <a:prstGeom prst="rect">
            <a:avLst/>
          </a:prstGeom>
          <a:noFill/>
        </p:spPr>
        <p:txBody>
          <a:bodyPr wrap="none" rtlCol="0">
            <a:spAutoFit/>
          </a:bodyPr>
          <a:lstStyle/>
          <a:p>
            <a:pPr algn="ctr">
              <a:spcBef>
                <a:spcPts val="600"/>
              </a:spcBef>
              <a:spcAft>
                <a:spcPts val="600"/>
              </a:spcAft>
            </a:pPr>
            <a:r>
              <a:rPr lang="zh-CN" altLang="en-US" dirty="0">
                <a:latin typeface="微软雅黑" panose="020B0503020204020204" pitchFamily="34" charset="-122"/>
                <a:ea typeface="微软雅黑" panose="020B0503020204020204" pitchFamily="34" charset="-122"/>
              </a:rPr>
              <a:t>关键词：</a:t>
            </a:r>
            <a:r>
              <a:rPr lang="zh-CN" altLang="en-US" sz="4800" dirty="0">
                <a:solidFill>
                  <a:schemeClr val="accent2"/>
                </a:solidFill>
                <a:effectLst>
                  <a:outerShdw blurRad="50800" dist="38100" dir="2700000" algn="tl" rotWithShape="0">
                    <a:prstClr val="black">
                      <a:alpha val="40000"/>
                    </a:prstClr>
                  </a:outerShdw>
                </a:effectLst>
                <a:latin typeface="禹卫书法行书简体&#10;" panose="02000603000000000000" pitchFamily="2" charset="-122"/>
                <a:ea typeface="禹卫书法行书简体&#10;" panose="02000603000000000000" pitchFamily="2" charset="-122"/>
                <a:cs typeface="+mj-cs"/>
              </a:rPr>
              <a:t>正交</a:t>
            </a:r>
          </a:p>
        </p:txBody>
      </p:sp>
      <p:sp>
        <p:nvSpPr>
          <p:cNvPr id="12" name="文本框 11">
            <a:extLst>
              <a:ext uri="{FF2B5EF4-FFF2-40B4-BE49-F238E27FC236}">
                <a16:creationId xmlns:a16="http://schemas.microsoft.com/office/drawing/2014/main" id="{14E98634-FD78-4D88-8EF4-D387CAAFE0DB}"/>
              </a:ext>
            </a:extLst>
          </p:cNvPr>
          <p:cNvSpPr txBox="1"/>
          <p:nvPr/>
        </p:nvSpPr>
        <p:spPr>
          <a:xfrm>
            <a:off x="6592075" y="4780658"/>
            <a:ext cx="5203669" cy="400110"/>
          </a:xfrm>
          <a:prstGeom prst="rect">
            <a:avLst/>
          </a:prstGeom>
          <a:noFill/>
        </p:spPr>
        <p:txBody>
          <a:bodyPr wrap="none" rtlCol="0">
            <a:spAutoFit/>
          </a:bodyPr>
          <a:lstStyle/>
          <a:p>
            <a:r>
              <a:rPr lang="zh-CN" altLang="en-US" sz="2000" dirty="0">
                <a:latin typeface="IBM Plex Sans Light" panose="020B0403050203000203" pitchFamily="34" charset="0"/>
                <a:ea typeface="微软雅黑 Light" panose="020B0502040204020203" pitchFamily="34" charset="-122"/>
              </a:rPr>
              <a:t>任何一个向量</a:t>
            </a:r>
            <a:r>
              <a:rPr lang="en-US" altLang="zh-CN" sz="2000" dirty="0">
                <a:latin typeface="IBM Plex Sans Light" panose="020B0403050203000203" pitchFamily="34" charset="0"/>
                <a:ea typeface="微软雅黑 Light" panose="020B0502040204020203" pitchFamily="34" charset="-122"/>
              </a:rPr>
              <a:t>S</a:t>
            </a:r>
            <a:r>
              <a:rPr lang="zh-CN" altLang="en-US" sz="2000" dirty="0">
                <a:latin typeface="IBM Plex Sans Light" panose="020B0403050203000203" pitchFamily="34" charset="0"/>
                <a:ea typeface="微软雅黑 Light" panose="020B0502040204020203" pitchFamily="34" charset="-122"/>
              </a:rPr>
              <a:t>和它反码的规格化内积都为</a:t>
            </a:r>
            <a:r>
              <a:rPr lang="en-US" altLang="zh-CN" sz="2000" dirty="0">
                <a:latin typeface="IBM Plex Sans Light" panose="020B0403050203000203" pitchFamily="34" charset="0"/>
                <a:ea typeface="微软雅黑 Light" panose="020B0502040204020203" pitchFamily="34" charset="-122"/>
              </a:rPr>
              <a:t>-1</a:t>
            </a:r>
          </a:p>
        </p:txBody>
      </p:sp>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32E96F2A-FC1B-4948-AB51-04E250715C18}"/>
                  </a:ext>
                </a:extLst>
              </p:cNvPr>
              <p:cNvSpPr txBox="1"/>
              <p:nvPr/>
            </p:nvSpPr>
            <p:spPr>
              <a:xfrm>
                <a:off x="7485978" y="5490277"/>
                <a:ext cx="2636619" cy="84029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acc>
                        <m:accPr>
                          <m:chr m:val="̅"/>
                          <m:ctrlPr>
                            <a:rPr lang="en-US" altLang="zh-CN" sz="2000" b="0" i="1" smtClean="0">
                              <a:solidFill>
                                <a:schemeClr val="tx1"/>
                              </a:solidFill>
                              <a:latin typeface="Cambria Math" panose="02040503050406030204" pitchFamily="18" charset="0"/>
                              <a:ea typeface="Cambria Math" panose="02040503050406030204" pitchFamily="18" charset="0"/>
                            </a:rPr>
                          </m:ctrlPr>
                        </m:accPr>
                        <m:e>
                          <m:r>
                            <a:rPr lang="en-US" altLang="zh-CN" sz="2000" b="0" i="1" smtClean="0">
                              <a:solidFill>
                                <a:schemeClr val="tx1"/>
                              </a:solidFill>
                              <a:latin typeface="Cambria Math" panose="02040503050406030204" pitchFamily="18" charset="0"/>
                              <a:ea typeface="Cambria Math" panose="02040503050406030204" pitchFamily="18" charset="0"/>
                            </a:rPr>
                            <m:t>𝑆</m:t>
                          </m:r>
                        </m:e>
                      </m:acc>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acc>
                            <m:accPr>
                              <m:chr m:val="̅"/>
                              <m:ctrlPr>
                                <a:rPr lang="en-US" altLang="zh-CN" sz="2000" b="0" i="1" smtClean="0">
                                  <a:solidFill>
                                    <a:schemeClr val="tx1"/>
                                  </a:solidFill>
                                  <a:latin typeface="Cambria Math" panose="02040503050406030204" pitchFamily="18" charset="0"/>
                                  <a:ea typeface="Cambria Math" panose="02040503050406030204" pitchFamily="18" charset="0"/>
                                </a:rPr>
                              </m:ctrlPr>
                            </m:accPr>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m:rPr>
                                      <m:sty m:val="p"/>
                                    </m:rPr>
                                    <a:rPr lang="en-US" altLang="zh-CN" sz="2000" i="1">
                                      <a:latin typeface="Cambria Math" panose="02040503050406030204" pitchFamily="18" charset="0"/>
                                      <a:ea typeface="Cambria Math" panose="02040503050406030204" pitchFamily="18" charset="0"/>
                                    </a:rPr>
                                    <m:t>i</m:t>
                                  </m:r>
                                </m:sub>
                              </m:sSub>
                            </m:e>
                          </m:acc>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i="1">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1</m:t>
                          </m:r>
                        </m:e>
                      </m:nary>
                    </m:oMath>
                  </m:oMathPara>
                </a14:m>
                <a:endParaRPr lang="zh-CN" altLang="en-US" sz="2000" dirty="0">
                  <a:solidFill>
                    <a:schemeClr val="tx1"/>
                  </a:solidFill>
                  <a:latin typeface="IBM Plex Sans Light" panose="020B0403050203000203" pitchFamily="34" charset="0"/>
                  <a:ea typeface="微软雅黑 Light" panose="020B0502040204020203" pitchFamily="34" charset="-122"/>
                </a:endParaRPr>
              </a:p>
            </p:txBody>
          </p:sp>
        </mc:Choice>
        <mc:Fallback xmlns="">
          <p:sp>
            <p:nvSpPr>
              <p:cNvPr id="13" name="文本框 12">
                <a:extLst>
                  <a:ext uri="{FF2B5EF4-FFF2-40B4-BE49-F238E27FC236}">
                    <a16:creationId xmlns:a16="http://schemas.microsoft.com/office/drawing/2014/main" id="{32E96F2A-FC1B-4948-AB51-04E250715C18}"/>
                  </a:ext>
                </a:extLst>
              </p:cNvPr>
              <p:cNvSpPr txBox="1">
                <a:spLocks noRot="1" noChangeAspect="1" noMove="1" noResize="1" noEditPoints="1" noAdjustHandles="1" noChangeArrowheads="1" noChangeShapeType="1" noTextEdit="1"/>
              </p:cNvSpPr>
              <p:nvPr/>
            </p:nvSpPr>
            <p:spPr>
              <a:xfrm>
                <a:off x="7485978" y="5490277"/>
                <a:ext cx="2636619" cy="840295"/>
              </a:xfrm>
              <a:prstGeom prst="rect">
                <a:avLst/>
              </a:prstGeom>
              <a:blipFill>
                <a:blip r:embed="rId4"/>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9042182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码分多址</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840147" cy="400110"/>
          </a:xfrm>
          <a:prstGeom prst="rect">
            <a:avLst/>
          </a:prstGeom>
          <a:noFill/>
        </p:spPr>
        <p:txBody>
          <a:bodyPr wrap="none" rtlCol="0">
            <a:spAutoFit/>
          </a:bodyPr>
          <a:lstStyle/>
          <a:p>
            <a:pPr defTabSz="893763">
              <a:tabLst>
                <a:tab pos="712788" algn="l"/>
              </a:tabLst>
            </a:pPr>
            <a:r>
              <a:rPr lang="zh-CN" altLang="en-US" sz="2000" dirty="0">
                <a:latin typeface="IBM Plex Sans Light" panose="020B0403050203000203" pitchFamily="34" charset="0"/>
                <a:ea typeface="微软雅黑 Light" panose="020B0502040204020203" pitchFamily="34" charset="-122"/>
              </a:rPr>
              <a:t>例：</a:t>
            </a:r>
            <a:r>
              <a:rPr lang="en-US" altLang="zh-CN" sz="2000" dirty="0">
                <a:latin typeface="IBM Plex Sans Light" panose="020B0403050203000203" pitchFamily="34" charset="0"/>
                <a:ea typeface="微软雅黑 Light" panose="020B0502040204020203" pitchFamily="34" charset="-122"/>
              </a:rPr>
              <a:t>	</a:t>
            </a:r>
            <a:r>
              <a:rPr lang="zh-CN" altLang="en-US" sz="2000" dirty="0">
                <a:latin typeface="IBM Plex Sans Light" panose="020B0403050203000203" pitchFamily="34" charset="0"/>
                <a:ea typeface="微软雅黑 Light" panose="020B0502040204020203" pitchFamily="34" charset="-122"/>
              </a:rPr>
              <a:t>向量</a:t>
            </a:r>
            <a:r>
              <a:rPr lang="en-US" altLang="zh-CN" sz="2000" dirty="0">
                <a:latin typeface="IBM Plex Sans Light" panose="020B0403050203000203" pitchFamily="34" charset="0"/>
                <a:ea typeface="微软雅黑 Light" panose="020B0502040204020203" pitchFamily="34" charset="-122"/>
              </a:rPr>
              <a:t>S</a:t>
            </a:r>
            <a:r>
              <a:rPr lang="zh-CN" altLang="en-US" sz="2000" dirty="0">
                <a:latin typeface="IBM Plex Sans Light" panose="020B0403050203000203" pitchFamily="34" charset="0"/>
                <a:ea typeface="微软雅黑 Light" panose="020B0502040204020203" pitchFamily="34" charset="-122"/>
              </a:rPr>
              <a:t>为（</a:t>
            </a:r>
            <a:r>
              <a:rPr lang="en-US" altLang="zh-CN" sz="2000" dirty="0">
                <a:latin typeface="IBM Plex Sans Light" panose="020B0403050203000203" pitchFamily="34" charset="0"/>
                <a:ea typeface="微软雅黑 Light" panose="020B0502040204020203" pitchFamily="34" charset="-122"/>
              </a:rPr>
              <a:t>-1-1-1+1+1-1+1+1</a:t>
            </a:r>
            <a:r>
              <a:rPr lang="zh-CN" altLang="en-US" sz="2000" dirty="0">
                <a:latin typeface="IBM Plex Sans Light" panose="020B0403050203000203" pitchFamily="34" charset="0"/>
                <a:ea typeface="微软雅黑 Light" panose="020B0502040204020203" pitchFamily="34" charset="-122"/>
              </a:rPr>
              <a:t>），向量</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为（</a:t>
            </a:r>
            <a:r>
              <a:rPr lang="en-US" altLang="zh-CN" sz="2000" dirty="0">
                <a:latin typeface="IBM Plex Sans Light" panose="020B0403050203000203" pitchFamily="34" charset="0"/>
                <a:ea typeface="微软雅黑 Light" panose="020B0502040204020203" pitchFamily="34" charset="-122"/>
              </a:rPr>
              <a:t>-1-1+1-1+1+1+1-1</a:t>
            </a:r>
            <a:r>
              <a:rPr lang="zh-CN" altLang="en-US" sz="2000" dirty="0">
                <a:latin typeface="IBM Plex Sans Light" panose="020B0403050203000203" pitchFamily="34" charset="0"/>
                <a:ea typeface="微软雅黑 Light" panose="020B0502040204020203" pitchFamily="34" charset="-122"/>
              </a:rPr>
              <a:t>），判断两者是否正交</a:t>
            </a:r>
            <a:endParaRPr lang="en-US" altLang="zh-CN" sz="2000" dirty="0">
              <a:latin typeface="IBM Plex Sans Light" panose="020B0403050203000203" pitchFamily="34" charset="0"/>
              <a:ea typeface="微软雅黑 Light" panose="020B0502040204020203"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5182CB4C-08BE-4F2F-BE55-358BFE238611}"/>
                  </a:ext>
                </a:extLst>
              </p:cNvPr>
              <p:cNvSpPr txBox="1"/>
              <p:nvPr/>
            </p:nvSpPr>
            <p:spPr>
              <a:xfrm>
                <a:off x="1136212" y="2988675"/>
                <a:ext cx="6668877" cy="84029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 </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i="1">
                                  <a:latin typeface="Cambria Math" panose="02040503050406030204" pitchFamily="18" charset="0"/>
                                  <a:ea typeface="Cambria Math" panose="02040503050406030204" pitchFamily="18" charset="0"/>
                                </a:rPr>
                                <m:t>1</m:t>
                              </m:r>
                            </m:num>
                            <m:den>
                              <m:r>
                                <a:rPr lang="en-US" altLang="zh-CN" sz="2000" i="1">
                                  <a:latin typeface="Cambria Math" panose="02040503050406030204" pitchFamily="18" charset="0"/>
                                  <a:ea typeface="Cambria Math" panose="02040503050406030204" pitchFamily="18" charset="0"/>
                                </a:rPr>
                                <m:t>8</m:t>
                              </m:r>
                            </m:den>
                          </m:f>
                        </m:e>
                      </m:nary>
                      <m:d>
                        <m:dPr>
                          <m:ctrlPr>
                            <a:rPr lang="en-US" altLang="zh-CN" sz="2000" b="0" i="1" smtClean="0">
                              <a:solidFill>
                                <a:schemeClr val="tx1"/>
                              </a:solidFill>
                              <a:latin typeface="Cambria Math" panose="02040503050406030204" pitchFamily="18" charset="0"/>
                              <a:ea typeface="Cambria Math" panose="02040503050406030204" pitchFamily="18" charset="0"/>
                            </a:rPr>
                          </m:ctrlPr>
                        </m:dPr>
                        <m:e>
                          <m:r>
                            <a:rPr lang="en-US" altLang="zh-CN" sz="2000" b="0" i="1" smtClean="0">
                              <a:solidFill>
                                <a:schemeClr val="tx1"/>
                              </a:solidFill>
                              <a:latin typeface="Cambria Math" panose="02040503050406030204" pitchFamily="18" charset="0"/>
                              <a:ea typeface="Cambria Math" panose="02040503050406030204" pitchFamily="18" charset="0"/>
                            </a:rPr>
                            <m:t>1+1−1−1+1−1+1−1</m:t>
                          </m:r>
                        </m:e>
                      </m:d>
                      <m:r>
                        <a:rPr lang="en-US" altLang="zh-CN" sz="2000" b="0" i="1" smtClean="0">
                          <a:solidFill>
                            <a:schemeClr val="tx1"/>
                          </a:solidFill>
                          <a:latin typeface="Cambria Math" panose="02040503050406030204" pitchFamily="18" charset="0"/>
                          <a:ea typeface="Cambria Math" panose="02040503050406030204" pitchFamily="18" charset="0"/>
                        </a:rPr>
                        <m:t>=0</m:t>
                      </m:r>
                    </m:oMath>
                  </m:oMathPara>
                </a14:m>
                <a:endParaRPr lang="zh-CN" altLang="en-US" sz="2000" dirty="0">
                  <a:solidFill>
                    <a:schemeClr val="tx1"/>
                  </a:solidFill>
                  <a:latin typeface="IBM Plex Sans Light" panose="020B0403050203000203" pitchFamily="34" charset="0"/>
                  <a:ea typeface="微软雅黑 Light" panose="020B0502040204020203" pitchFamily="34" charset="-122"/>
                </a:endParaRPr>
              </a:p>
            </p:txBody>
          </p:sp>
        </mc:Choice>
        <mc:Fallback xmlns="">
          <p:sp>
            <p:nvSpPr>
              <p:cNvPr id="8" name="文本框 7">
                <a:extLst>
                  <a:ext uri="{FF2B5EF4-FFF2-40B4-BE49-F238E27FC236}">
                    <a16:creationId xmlns:a16="http://schemas.microsoft.com/office/drawing/2014/main" id="{5182CB4C-08BE-4F2F-BE55-358BFE238611}"/>
                  </a:ext>
                </a:extLst>
              </p:cNvPr>
              <p:cNvSpPr txBox="1">
                <a:spLocks noRot="1" noChangeAspect="1" noMove="1" noResize="1" noEditPoints="1" noAdjustHandles="1" noChangeArrowheads="1" noChangeShapeType="1" noTextEdit="1"/>
              </p:cNvSpPr>
              <p:nvPr/>
            </p:nvSpPr>
            <p:spPr>
              <a:xfrm>
                <a:off x="1136212" y="2988675"/>
                <a:ext cx="6668877" cy="840295"/>
              </a:xfrm>
              <a:prstGeom prst="rect">
                <a:avLst/>
              </a:prstGeom>
              <a:blipFill>
                <a:blip r:embed="rId2"/>
                <a:stretch>
                  <a:fillRect/>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9F5D765D-2271-4B4A-8C20-D8B610747DEE}"/>
              </a:ext>
            </a:extLst>
          </p:cNvPr>
          <p:cNvSpPr txBox="1"/>
          <p:nvPr/>
        </p:nvSpPr>
        <p:spPr>
          <a:xfrm>
            <a:off x="855556" y="5853121"/>
            <a:ext cx="5780750" cy="307777"/>
          </a:xfrm>
          <a:prstGeom prst="rect">
            <a:avLst/>
          </a:prstGeom>
          <a:noFill/>
        </p:spPr>
        <p:txBody>
          <a:bodyPr wrap="none" rtlCol="0">
            <a:spAutoFit/>
          </a:bodyPr>
          <a:lstStyle/>
          <a:p>
            <a:pPr algn="l"/>
            <a:r>
              <a:rPr lang="zh-CN" altLang="en-US" sz="1400" dirty="0">
                <a:latin typeface="微软雅黑 Light" panose="020B0502040204020203" pitchFamily="34" charset="-122"/>
                <a:ea typeface="微软雅黑 Light" panose="020B0502040204020203" pitchFamily="34" charset="-122"/>
              </a:rPr>
              <a:t>请同学们自行验证两个向量和自身及自身反码的规格化内积分别是多少</a:t>
            </a:r>
          </a:p>
        </p:txBody>
      </p:sp>
      <p:pic>
        <p:nvPicPr>
          <p:cNvPr id="10" name="图形 9" descr="灯泡">
            <a:extLst>
              <a:ext uri="{FF2B5EF4-FFF2-40B4-BE49-F238E27FC236}">
                <a16:creationId xmlns:a16="http://schemas.microsoft.com/office/drawing/2014/main" id="{7A317CB8-CD1B-4489-AF16-604DBA2AB92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1803" y="5827009"/>
            <a:ext cx="360000" cy="360000"/>
          </a:xfrm>
          <a:prstGeom prst="rect">
            <a:avLst/>
          </a:prstGeom>
          <a:effectLst>
            <a:outerShdw blurRad="50800" dist="38100" dir="2700000" algn="tl" rotWithShape="0">
              <a:prstClr val="black">
                <a:alpha val="40000"/>
              </a:prstClr>
            </a:outerShdw>
          </a:effectLst>
        </p:spPr>
      </p:pic>
      <p:sp>
        <p:nvSpPr>
          <p:cNvPr id="11" name="文本框 10">
            <a:extLst>
              <a:ext uri="{FF2B5EF4-FFF2-40B4-BE49-F238E27FC236}">
                <a16:creationId xmlns:a16="http://schemas.microsoft.com/office/drawing/2014/main" id="{7C17DEAE-A01F-40FA-8D47-3FE604439776}"/>
              </a:ext>
            </a:extLst>
          </p:cNvPr>
          <p:cNvSpPr txBox="1"/>
          <p:nvPr/>
        </p:nvSpPr>
        <p:spPr>
          <a:xfrm>
            <a:off x="344962" y="3998761"/>
            <a:ext cx="6529352" cy="400110"/>
          </a:xfrm>
          <a:prstGeom prst="rect">
            <a:avLst/>
          </a:prstGeom>
          <a:noFill/>
        </p:spPr>
        <p:txBody>
          <a:bodyPr wrap="none" rtlCol="0">
            <a:spAutoFit/>
          </a:bodyPr>
          <a:lstStyle/>
          <a:p>
            <a:pPr>
              <a:tabLst>
                <a:tab pos="712788" algn="l"/>
              </a:tabLst>
            </a:pPr>
            <a:r>
              <a:rPr lang="zh-CN" altLang="en-US" sz="2000" dirty="0">
                <a:latin typeface="IBM Plex Sans Light" panose="020B0403050203000203" pitchFamily="34" charset="0"/>
                <a:ea typeface="微软雅黑 Light" panose="020B0502040204020203" pitchFamily="34" charset="-122"/>
              </a:rPr>
              <a:t>说明二者的规格化内积为</a:t>
            </a:r>
            <a:r>
              <a:rPr lang="en-US" altLang="zh-CN" sz="2000" dirty="0">
                <a:latin typeface="IBM Plex Sans Light" panose="020B0403050203000203" pitchFamily="34" charset="0"/>
                <a:ea typeface="微软雅黑 Light" panose="020B0502040204020203" pitchFamily="34" charset="-122"/>
              </a:rPr>
              <a:t>0</a:t>
            </a:r>
            <a:r>
              <a:rPr lang="zh-CN" altLang="en-US" sz="2000" dirty="0">
                <a:latin typeface="IBM Plex Sans Light" panose="020B0403050203000203" pitchFamily="34" charset="0"/>
                <a:ea typeface="微软雅黑 Light" panose="020B0502040204020203" pitchFamily="34" charset="-122"/>
              </a:rPr>
              <a:t>，所以向量</a:t>
            </a:r>
            <a:r>
              <a:rPr lang="en-US" altLang="zh-CN" sz="2000" dirty="0">
                <a:latin typeface="IBM Plex Sans Light" panose="020B0403050203000203" pitchFamily="34" charset="0"/>
                <a:ea typeface="微软雅黑 Light" panose="020B0502040204020203" pitchFamily="34" charset="-122"/>
              </a:rPr>
              <a:t>S</a:t>
            </a:r>
            <a:r>
              <a:rPr lang="zh-CN" altLang="en-US" sz="2000" dirty="0">
                <a:latin typeface="IBM Plex Sans Light" panose="020B0403050203000203" pitchFamily="34" charset="0"/>
                <a:ea typeface="微软雅黑 Light" panose="020B0502040204020203" pitchFamily="34" charset="-122"/>
              </a:rPr>
              <a:t>和向量</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是正交的</a:t>
            </a:r>
            <a:endParaRPr lang="en-US" altLang="zh-CN" sz="2000" dirty="0">
              <a:latin typeface="IBM Plex Sans Light" panose="020B0403050203000203" pitchFamily="34" charset="0"/>
              <a:ea typeface="微软雅黑 Light" panose="020B0502040204020203" pitchFamily="34" charset="-122"/>
            </a:endParaRPr>
          </a:p>
        </p:txBody>
      </p:sp>
      <p:sp>
        <p:nvSpPr>
          <p:cNvPr id="12" name="文本框 11">
            <a:extLst>
              <a:ext uri="{FF2B5EF4-FFF2-40B4-BE49-F238E27FC236}">
                <a16:creationId xmlns:a16="http://schemas.microsoft.com/office/drawing/2014/main" id="{EA5599D8-6491-474D-A19A-ABFB8CE817FA}"/>
              </a:ext>
            </a:extLst>
          </p:cNvPr>
          <p:cNvSpPr txBox="1"/>
          <p:nvPr/>
        </p:nvSpPr>
        <p:spPr>
          <a:xfrm>
            <a:off x="344962" y="2574374"/>
            <a:ext cx="954107" cy="400110"/>
          </a:xfrm>
          <a:prstGeom prst="rect">
            <a:avLst/>
          </a:prstGeom>
          <a:noFill/>
        </p:spPr>
        <p:txBody>
          <a:bodyPr wrap="none" rtlCol="0">
            <a:spAutoFit/>
          </a:bodyPr>
          <a:lstStyle/>
          <a:p>
            <a:pPr>
              <a:tabLst>
                <a:tab pos="712788" algn="l"/>
              </a:tabLst>
            </a:pPr>
            <a:r>
              <a:rPr lang="zh-CN" altLang="en-US" sz="2000" dirty="0">
                <a:latin typeface="IBM Plex Sans Light" panose="020B0403050203000203" pitchFamily="34" charset="0"/>
                <a:ea typeface="微软雅黑 Light" panose="020B0502040204020203" pitchFamily="34" charset="-122"/>
              </a:rPr>
              <a:t>因为：</a:t>
            </a:r>
            <a:endParaRPr lang="en-US" altLang="zh-CN" sz="2000" dirty="0">
              <a:latin typeface="IBM Plex Sans Light" panose="020B0403050203000203" pitchFamily="34" charset="0"/>
              <a:ea typeface="微软雅黑 Light" panose="020B0502040204020203" pitchFamily="34" charset="-122"/>
            </a:endParaRPr>
          </a:p>
        </p:txBody>
      </p:sp>
    </p:spTree>
    <p:extLst>
      <p:ext uri="{BB962C8B-B14F-4D97-AF65-F5344CB8AC3E}">
        <p14:creationId xmlns:p14="http://schemas.microsoft.com/office/powerpoint/2010/main" val="1102688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码分多址</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727617" cy="2246769"/>
          </a:xfrm>
          <a:prstGeom prst="rect">
            <a:avLst/>
          </a:prstGeom>
          <a:noFill/>
        </p:spPr>
        <p:txBody>
          <a:bodyPr wrap="none" rtlCol="0">
            <a:spAutoFit/>
          </a:bodyPr>
          <a:lstStyle/>
          <a:p>
            <a:pPr defTabSz="893763">
              <a:tabLst>
                <a:tab pos="712788" algn="l"/>
              </a:tabLst>
            </a:pPr>
            <a:r>
              <a:rPr lang="zh-CN" altLang="en-US" sz="2000" dirty="0">
                <a:latin typeface="IBM Plex Sans Light" panose="020B0403050203000203" pitchFamily="34" charset="0"/>
                <a:ea typeface="微软雅黑 Light" panose="020B0502040204020203" pitchFamily="34" charset="-122"/>
              </a:rPr>
              <a:t>前提：通信的每个基站都知道其他基站的码片序列</a:t>
            </a:r>
            <a:endParaRPr lang="en-US" altLang="zh-CN" sz="2000" dirty="0">
              <a:latin typeface="IBM Plex Sans Light" panose="020B0403050203000203" pitchFamily="34" charset="0"/>
              <a:ea typeface="微软雅黑 Light" panose="020B0502040204020203" pitchFamily="34" charset="-122"/>
            </a:endParaRPr>
          </a:p>
          <a:p>
            <a:pPr defTabSz="893763">
              <a:tabLst>
                <a:tab pos="712788" algn="l"/>
              </a:tabLst>
            </a:pPr>
            <a:endParaRPr lang="en-US" altLang="zh-CN" sz="2000" dirty="0">
              <a:latin typeface="IBM Plex Sans Light" panose="020B0403050203000203" pitchFamily="34" charset="0"/>
              <a:ea typeface="微软雅黑 Light" panose="020B0502040204020203" pitchFamily="34" charset="-122"/>
            </a:endParaRPr>
          </a:p>
          <a:p>
            <a:pPr defTabSz="893763">
              <a:tabLst>
                <a:tab pos="712788" algn="l"/>
              </a:tabLst>
            </a:pPr>
            <a:r>
              <a:rPr lang="zh-CN" altLang="en-US" sz="2000" dirty="0">
                <a:latin typeface="IBM Plex Sans Light" panose="020B0403050203000203" pitchFamily="34" charset="0"/>
                <a:ea typeface="微软雅黑 Light" panose="020B0502040204020203" pitchFamily="34" charset="-122"/>
              </a:rPr>
              <a:t>如果</a:t>
            </a:r>
            <a:r>
              <a:rPr lang="en-US" altLang="zh-CN" sz="2000" dirty="0">
                <a:latin typeface="IBM Plex Sans Light" panose="020B0403050203000203" pitchFamily="34" charset="0"/>
                <a:ea typeface="微软雅黑 Light" panose="020B0502040204020203" pitchFamily="34" charset="-122"/>
              </a:rPr>
              <a:t>S</a:t>
            </a:r>
            <a:r>
              <a:rPr lang="zh-CN" altLang="en-US" sz="2000" dirty="0">
                <a:latin typeface="IBM Plex Sans Light" panose="020B0403050203000203" pitchFamily="34" charset="0"/>
                <a:ea typeface="微软雅黑 Light" panose="020B0502040204020203" pitchFamily="34" charset="-122"/>
              </a:rPr>
              <a:t>站要接收</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站的数据，用</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站的码片序列分别和收到的信号进行规格化内积运算</a:t>
            </a:r>
            <a:endParaRPr lang="en-US" altLang="zh-CN" sz="2000" dirty="0">
              <a:latin typeface="IBM Plex Sans Light" panose="020B0403050203000203" pitchFamily="34" charset="0"/>
              <a:ea typeface="微软雅黑 Light" panose="020B0502040204020203" pitchFamily="34" charset="-122"/>
            </a:endParaRPr>
          </a:p>
          <a:p>
            <a:pPr defTabSz="893763">
              <a:tabLst>
                <a:tab pos="712788" algn="l"/>
              </a:tabLst>
            </a:pPr>
            <a:r>
              <a:rPr lang="zh-CN" altLang="en-US" sz="2000" dirty="0">
                <a:latin typeface="IBM Plex Sans Light" panose="020B0403050203000203" pitchFamily="34" charset="0"/>
                <a:ea typeface="微软雅黑 Light" panose="020B0502040204020203" pitchFamily="34" charset="-122"/>
              </a:rPr>
              <a:t>由于基站的码片序列分别正交，所以内积后，其他站的信号被过滤（为</a:t>
            </a:r>
            <a:r>
              <a:rPr lang="en-US" altLang="zh-CN" sz="2000" dirty="0">
                <a:latin typeface="IBM Plex Sans Light" panose="020B0403050203000203" pitchFamily="34" charset="0"/>
                <a:ea typeface="微软雅黑 Light" panose="020B0502040204020203" pitchFamily="34" charset="-122"/>
              </a:rPr>
              <a:t>0</a:t>
            </a:r>
            <a:r>
              <a:rPr lang="zh-CN" altLang="en-US" sz="2000" dirty="0">
                <a:latin typeface="IBM Plex Sans Light" panose="020B0403050203000203" pitchFamily="34" charset="0"/>
                <a:ea typeface="微软雅黑 Light" panose="020B0502040204020203" pitchFamily="34" charset="-122"/>
              </a:rPr>
              <a:t>），只留下</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站的信号</a:t>
            </a:r>
            <a:endParaRPr lang="en-US" altLang="zh-CN" sz="2000" dirty="0">
              <a:latin typeface="IBM Plex Sans Light" panose="020B0403050203000203" pitchFamily="34" charset="0"/>
              <a:ea typeface="微软雅黑 Light" panose="020B0502040204020203" pitchFamily="34" charset="-122"/>
            </a:endParaRPr>
          </a:p>
          <a:p>
            <a:pPr marL="342900" indent="-342900" defTabSz="893763">
              <a:buClr>
                <a:schemeClr val="accent2"/>
              </a:buClr>
              <a:buFont typeface="Arial" panose="020B0604020202020204" pitchFamily="34" charset="0"/>
              <a:buChar char="•"/>
              <a:tabLst>
                <a:tab pos="712788" algn="l"/>
              </a:tabLst>
            </a:pPr>
            <a:r>
              <a:rPr lang="zh-CN" altLang="en-US" sz="2000" dirty="0">
                <a:latin typeface="IBM Plex Sans Light" panose="020B0403050203000203" pitchFamily="34" charset="0"/>
                <a:ea typeface="微软雅黑 Light" panose="020B0502040204020203" pitchFamily="34" charset="-122"/>
              </a:rPr>
              <a:t>如果</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站发</a:t>
            </a:r>
            <a:r>
              <a:rPr lang="en-US" altLang="zh-CN" sz="2000" dirty="0">
                <a:latin typeface="IBM Plex Sans Light" panose="020B0403050203000203" pitchFamily="34" charset="0"/>
                <a:ea typeface="微软雅黑 Light" panose="020B0502040204020203" pitchFamily="34" charset="-122"/>
              </a:rPr>
              <a:t>1</a:t>
            </a:r>
            <a:r>
              <a:rPr lang="zh-CN" altLang="en-US" sz="2000" dirty="0">
                <a:latin typeface="IBM Plex Sans Light" panose="020B0403050203000203" pitchFamily="34" charset="0"/>
                <a:ea typeface="微软雅黑 Light" panose="020B0502040204020203" pitchFamily="34" charset="-122"/>
              </a:rPr>
              <a:t>，则规格化内积为</a:t>
            </a:r>
            <a:r>
              <a:rPr lang="en-US" altLang="zh-CN" sz="2000" dirty="0">
                <a:latin typeface="IBM Plex Sans Light" panose="020B0403050203000203" pitchFamily="34" charset="0"/>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IBM Plex Sans Light" panose="020B0403050203000203" pitchFamily="34" charset="0"/>
                <a:ea typeface="微软雅黑 Light" panose="020B0502040204020203" pitchFamily="34" charset="-122"/>
              </a:rPr>
              <a:t>如果</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站发</a:t>
            </a:r>
            <a:r>
              <a:rPr lang="en-US" altLang="zh-CN" sz="2000" dirty="0">
                <a:latin typeface="IBM Plex Sans Light" panose="020B0403050203000203" pitchFamily="34" charset="0"/>
                <a:ea typeface="微软雅黑 Light" panose="020B0502040204020203" pitchFamily="34" charset="-122"/>
              </a:rPr>
              <a:t>0</a:t>
            </a:r>
            <a:r>
              <a:rPr lang="zh-CN" altLang="en-US" sz="2000" dirty="0">
                <a:latin typeface="IBM Plex Sans Light" panose="020B0403050203000203" pitchFamily="34" charset="0"/>
                <a:ea typeface="微软雅黑 Light" panose="020B0502040204020203" pitchFamily="34" charset="-122"/>
              </a:rPr>
              <a:t>，则规格化内积为</a:t>
            </a:r>
            <a:r>
              <a:rPr lang="en-US" altLang="zh-CN" sz="2000" dirty="0">
                <a:latin typeface="IBM Plex Sans Light" panose="020B0403050203000203" pitchFamily="34" charset="0"/>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IBM Plex Sans Light" panose="020B0403050203000203" pitchFamily="34" charset="0"/>
                <a:ea typeface="微软雅黑 Light" panose="020B0502040204020203" pitchFamily="34" charset="-122"/>
              </a:rPr>
              <a:t>如果</a:t>
            </a:r>
            <a:r>
              <a:rPr lang="en-US" altLang="zh-CN" sz="2000" dirty="0">
                <a:latin typeface="IBM Plex Sans Light" panose="020B0403050203000203" pitchFamily="34" charset="0"/>
                <a:ea typeface="微软雅黑 Light" panose="020B0502040204020203" pitchFamily="34" charset="-122"/>
              </a:rPr>
              <a:t>T</a:t>
            </a:r>
            <a:r>
              <a:rPr lang="zh-CN" altLang="en-US" sz="2000" dirty="0">
                <a:latin typeface="IBM Plex Sans Light" panose="020B0403050203000203" pitchFamily="34" charset="0"/>
                <a:ea typeface="微软雅黑 Light" panose="020B0502040204020203" pitchFamily="34" charset="-122"/>
              </a:rPr>
              <a:t>站不发数据，则规格化内积为</a:t>
            </a:r>
            <a:r>
              <a:rPr lang="en-US" altLang="zh-CN" sz="2000" dirty="0">
                <a:latin typeface="IBM Plex Sans Light" panose="020B0403050203000203" pitchFamily="34" charset="0"/>
                <a:ea typeface="微软雅黑 Light" panose="020B0502040204020203" pitchFamily="34" charset="-122"/>
              </a:rPr>
              <a:t>0</a:t>
            </a:r>
          </a:p>
        </p:txBody>
      </p:sp>
    </p:spTree>
    <p:extLst>
      <p:ext uri="{BB962C8B-B14F-4D97-AF65-F5344CB8AC3E}">
        <p14:creationId xmlns:p14="http://schemas.microsoft.com/office/powerpoint/2010/main" val="3764165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a:t>
            </a:r>
            <a:r>
              <a:rPr lang="zh-CN" altLang="en-US" dirty="0"/>
              <a:t>码分多址</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905550" cy="1938992"/>
          </a:xfrm>
          <a:prstGeom prst="rect">
            <a:avLst/>
          </a:prstGeom>
          <a:noFill/>
        </p:spPr>
        <p:txBody>
          <a:bodyPr wrap="none" rtlCol="0">
            <a:spAutoFit/>
          </a:bodyPr>
          <a:lstStyle/>
          <a:p>
            <a:pPr defTabSz="893763">
              <a:tabLst>
                <a:tab pos="712788" algn="l"/>
              </a:tabLst>
            </a:pPr>
            <a:r>
              <a:rPr lang="zh-CN" altLang="en-US" sz="2000" dirty="0">
                <a:latin typeface="IBM Plex Sans Light" panose="020B0403050203000203" pitchFamily="34" charset="0"/>
                <a:ea typeface="微软雅黑 Light" panose="020B0502040204020203" pitchFamily="34" charset="-122"/>
              </a:rPr>
              <a:t>例：</a:t>
            </a:r>
            <a:r>
              <a:rPr lang="en-US" altLang="zh-CN" sz="2000" dirty="0">
                <a:latin typeface="IBM Plex Sans Light" panose="020B0403050203000203" pitchFamily="34" charset="0"/>
                <a:ea typeface="微软雅黑 Light" panose="020B0502040204020203" pitchFamily="34" charset="-122"/>
              </a:rPr>
              <a:t>4</a:t>
            </a:r>
            <a:r>
              <a:rPr lang="zh-CN" altLang="en-US" sz="2000" dirty="0">
                <a:latin typeface="IBM Plex Sans Light" panose="020B0403050203000203" pitchFamily="34" charset="0"/>
                <a:ea typeface="微软雅黑 Light" panose="020B0502040204020203" pitchFamily="34" charset="-122"/>
              </a:rPr>
              <a:t>个站进行</a:t>
            </a:r>
            <a:r>
              <a:rPr lang="en-US" altLang="zh-CN" sz="2000" dirty="0">
                <a:latin typeface="IBM Plex Sans Light" panose="020B0403050203000203" pitchFamily="34" charset="0"/>
                <a:ea typeface="微软雅黑 Light" panose="020B0502040204020203" pitchFamily="34" charset="-122"/>
              </a:rPr>
              <a:t>CDMA</a:t>
            </a:r>
            <a:r>
              <a:rPr lang="zh-CN" altLang="en-US" sz="2000" dirty="0">
                <a:latin typeface="IBM Plex Sans Light" panose="020B0403050203000203" pitchFamily="34" charset="0"/>
                <a:ea typeface="微软雅黑 Light" panose="020B0502040204020203" pitchFamily="34" charset="-122"/>
              </a:rPr>
              <a:t>通信，其码片序列分别是：</a:t>
            </a:r>
            <a:endParaRPr lang="en-US" altLang="zh-CN" sz="2000" dirty="0">
              <a:latin typeface="IBM Plex Sans Light" panose="020B0403050203000203" pitchFamily="34" charset="0"/>
              <a:ea typeface="微软雅黑 Light" panose="020B0502040204020203" pitchFamily="34" charset="-122"/>
            </a:endParaRPr>
          </a:p>
          <a:p>
            <a:pPr defTabSz="893763">
              <a:tabLst>
                <a:tab pos="712788" algn="l"/>
              </a:tabLst>
            </a:pPr>
            <a:r>
              <a:rPr lang="en-US" altLang="zh-CN" sz="2000" dirty="0">
                <a:latin typeface="IBM Plex Sans Light" panose="020B0403050203000203" pitchFamily="34" charset="0"/>
                <a:ea typeface="微软雅黑 Light" panose="020B0502040204020203" pitchFamily="34" charset="-122"/>
              </a:rPr>
              <a:t>A</a:t>
            </a:r>
            <a:r>
              <a:rPr lang="zh-CN" altLang="en-US" sz="2000" dirty="0">
                <a:latin typeface="IBM Plex Sans Light" panose="020B0403050203000203" pitchFamily="34" charset="0"/>
                <a:ea typeface="微软雅黑 Light" panose="020B0502040204020203" pitchFamily="34" charset="-122"/>
                <a:sym typeface="Wingdings" panose="05000000000000000000" pitchFamily="2" charset="2"/>
              </a:rPr>
              <a:t>：（</a:t>
            </a:r>
            <a:r>
              <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rPr>
              <a:t>-1-1-1+1+1-1+1+1</a:t>
            </a:r>
            <a:r>
              <a:rPr lang="zh-CN" altLang="en-US" sz="2000" dirty="0">
                <a:latin typeface="IBM Plex Sans Light" panose="020B0403050203000203" pitchFamily="34" charset="0"/>
                <a:ea typeface="微软雅黑 Light" panose="020B0502040204020203" pitchFamily="34" charset="-122"/>
                <a:sym typeface="Wingdings" panose="05000000000000000000" pitchFamily="2" charset="2"/>
              </a:rPr>
              <a:t>）</a:t>
            </a:r>
            <a:endPar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rPr>
              <a:t>B</a:t>
            </a:r>
            <a:r>
              <a:rPr lang="zh-CN" altLang="en-US" sz="2000" dirty="0">
                <a:latin typeface="IBM Plex Sans Light" panose="020B0403050203000203" pitchFamily="34" charset="0"/>
                <a:ea typeface="微软雅黑 Light" panose="020B0502040204020203" pitchFamily="34" charset="-122"/>
                <a:sym typeface="Wingdings" panose="05000000000000000000" pitchFamily="2" charset="2"/>
              </a:rPr>
              <a:t>：（</a:t>
            </a:r>
            <a:r>
              <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rPr>
              <a:t>-1-1+1-1+1+1+1-1</a:t>
            </a:r>
            <a:r>
              <a:rPr lang="zh-CN" altLang="en-US" sz="2000" dirty="0">
                <a:latin typeface="IBM Plex Sans Light" panose="020B0403050203000203" pitchFamily="34" charset="0"/>
                <a:ea typeface="微软雅黑 Light" panose="020B0502040204020203" pitchFamily="34" charset="-122"/>
                <a:sym typeface="Wingdings" panose="05000000000000000000" pitchFamily="2" charset="2"/>
              </a:rPr>
              <a:t>）</a:t>
            </a:r>
            <a:endPar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IBM Plex Sans Light" panose="020B0403050203000203" pitchFamily="34" charset="0"/>
                <a:ea typeface="微软雅黑 Light" panose="020B0502040204020203" pitchFamily="34" charset="-122"/>
              </a:rPr>
              <a:t>C</a:t>
            </a:r>
            <a:r>
              <a:rPr lang="zh-CN" altLang="en-US" sz="2000" dirty="0">
                <a:latin typeface="IBM Plex Sans Light" panose="020B0403050203000203" pitchFamily="34" charset="0"/>
                <a:ea typeface="微软雅黑 Light" panose="020B0502040204020203" pitchFamily="34" charset="-122"/>
                <a:sym typeface="Wingdings" panose="05000000000000000000" pitchFamily="2" charset="2"/>
              </a:rPr>
              <a:t>：（</a:t>
            </a:r>
            <a:r>
              <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rPr>
              <a:t>-1+1-1+1+1+1-1-1</a:t>
            </a:r>
            <a:r>
              <a:rPr lang="zh-CN" altLang="en-US" sz="2000" dirty="0">
                <a:latin typeface="IBM Plex Sans Light" panose="020B0403050203000203" pitchFamily="34" charset="0"/>
                <a:ea typeface="微软雅黑 Light" panose="020B0502040204020203" pitchFamily="34" charset="-122"/>
                <a:sym typeface="Wingdings" panose="05000000000000000000" pitchFamily="2" charset="2"/>
              </a:rPr>
              <a:t>）</a:t>
            </a:r>
            <a:endPar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rPr>
              <a:t>D</a:t>
            </a:r>
            <a:r>
              <a:rPr lang="zh-CN" altLang="en-US" sz="2000" dirty="0">
                <a:latin typeface="IBM Plex Sans Light" panose="020B0403050203000203" pitchFamily="34" charset="0"/>
                <a:ea typeface="微软雅黑 Light" panose="020B0502040204020203" pitchFamily="34" charset="-122"/>
                <a:sym typeface="Wingdings" panose="05000000000000000000" pitchFamily="2" charset="2"/>
              </a:rPr>
              <a:t>：（</a:t>
            </a:r>
            <a:r>
              <a:rPr lang="en-US" altLang="zh-CN" sz="2000" dirty="0">
                <a:latin typeface="IBM Plex Sans Light" panose="020B0403050203000203" pitchFamily="34" charset="0"/>
                <a:ea typeface="微软雅黑 Light" panose="020B0502040204020203" pitchFamily="34" charset="-122"/>
                <a:sym typeface="Wingdings" panose="05000000000000000000" pitchFamily="2" charset="2"/>
              </a:rPr>
              <a:t>-1+1-1-1-1-1+1-1</a:t>
            </a:r>
            <a:r>
              <a:rPr lang="zh-CN" altLang="en-US" sz="2000" dirty="0">
                <a:latin typeface="IBM Plex Sans Light" panose="020B0403050203000203" pitchFamily="34" charset="0"/>
                <a:ea typeface="微软雅黑 Light" panose="020B0502040204020203" pitchFamily="34" charset="-122"/>
                <a:sym typeface="Wingdings" panose="05000000000000000000" pitchFamily="2" charset="2"/>
              </a:rPr>
              <a:t>）</a:t>
            </a:r>
            <a:endParaRPr lang="en-US" altLang="zh-CN" sz="2000" dirty="0">
              <a:latin typeface="IBM Plex Sans Light" panose="020B0403050203000203" pitchFamily="34" charset="0"/>
              <a:ea typeface="微软雅黑 Light" panose="020B0502040204020203" pitchFamily="34" charset="-122"/>
            </a:endParaRPr>
          </a:p>
          <a:p>
            <a:pPr defTabSz="893763">
              <a:tabLst>
                <a:tab pos="712788" algn="l"/>
              </a:tabLst>
            </a:pPr>
            <a:r>
              <a:rPr lang="zh-CN" altLang="en-US" sz="2000" dirty="0">
                <a:latin typeface="IBM Plex Sans Light" panose="020B0403050203000203" pitchFamily="34" charset="0"/>
                <a:ea typeface="微软雅黑 Light" panose="020B0502040204020203" pitchFamily="34" charset="-122"/>
              </a:rPr>
              <a:t>如果收到的码片序列是（</a:t>
            </a:r>
            <a:r>
              <a:rPr lang="en-US" altLang="zh-CN" sz="2000" dirty="0">
                <a:latin typeface="IBM Plex Sans Light" panose="020B0403050203000203" pitchFamily="34" charset="0"/>
                <a:ea typeface="微软雅黑 Light" panose="020B0502040204020203" pitchFamily="34" charset="-122"/>
              </a:rPr>
              <a:t>-1+1-3+1-1-3+1+1</a:t>
            </a:r>
            <a:r>
              <a:rPr lang="zh-CN" altLang="en-US" sz="2000" dirty="0">
                <a:latin typeface="IBM Plex Sans Light" panose="020B0403050203000203" pitchFamily="34" charset="0"/>
                <a:ea typeface="微软雅黑 Light" panose="020B0502040204020203" pitchFamily="34" charset="-122"/>
              </a:rPr>
              <a:t>），问：哪个站发送数据了？发送的数据是什么？</a:t>
            </a:r>
            <a:endParaRPr lang="en-US" altLang="zh-CN" sz="2000" dirty="0">
              <a:latin typeface="IBM Plex Sans Light" panose="020B0403050203000203" pitchFamily="34" charset="0"/>
              <a:ea typeface="微软雅黑 Light" panose="020B0502040204020203" pitchFamily="34" charset="-122"/>
            </a:endParaRPr>
          </a:p>
        </p:txBody>
      </p:sp>
      <p:sp>
        <p:nvSpPr>
          <p:cNvPr id="7" name="文本框 6">
            <a:extLst>
              <a:ext uri="{FF2B5EF4-FFF2-40B4-BE49-F238E27FC236}">
                <a16:creationId xmlns:a16="http://schemas.microsoft.com/office/drawing/2014/main" id="{6234E226-EA16-487E-BD67-A48EEEED30A2}"/>
              </a:ext>
            </a:extLst>
          </p:cNvPr>
          <p:cNvSpPr txBox="1"/>
          <p:nvPr/>
        </p:nvSpPr>
        <p:spPr>
          <a:xfrm>
            <a:off x="855556" y="5853121"/>
            <a:ext cx="2805576" cy="307777"/>
          </a:xfrm>
          <a:prstGeom prst="rect">
            <a:avLst/>
          </a:prstGeom>
          <a:noFill/>
        </p:spPr>
        <p:txBody>
          <a:bodyPr wrap="none" rtlCol="0">
            <a:spAutoFit/>
          </a:bodyPr>
          <a:lstStyle/>
          <a:p>
            <a:pPr algn="l"/>
            <a:r>
              <a:rPr lang="en-US" altLang="zh-CN" sz="1400" dirty="0">
                <a:latin typeface="微软雅黑 Light" panose="020B0502040204020203" pitchFamily="34" charset="-122"/>
                <a:ea typeface="微软雅黑 Light" panose="020B0502040204020203" pitchFamily="34" charset="-122"/>
              </a:rPr>
              <a:t>AD</a:t>
            </a:r>
            <a:r>
              <a:rPr lang="zh-CN" altLang="en-US" sz="1400" dirty="0">
                <a:latin typeface="微软雅黑 Light" panose="020B0502040204020203" pitchFamily="34" charset="-122"/>
                <a:ea typeface="微软雅黑 Light" panose="020B0502040204020203" pitchFamily="34" charset="-122"/>
              </a:rPr>
              <a:t>发了</a:t>
            </a:r>
            <a:r>
              <a:rPr lang="en-US" altLang="zh-CN" sz="1400" dirty="0">
                <a:latin typeface="微软雅黑 Light" panose="020B0502040204020203" pitchFamily="34" charset="-122"/>
                <a:ea typeface="微软雅黑 Light" panose="020B0502040204020203" pitchFamily="34" charset="-122"/>
              </a:rPr>
              <a:t>1</a:t>
            </a:r>
            <a:r>
              <a:rPr lang="zh-CN" altLang="en-US" sz="1400" dirty="0">
                <a:latin typeface="微软雅黑 Light" panose="020B0502040204020203" pitchFamily="34" charset="-122"/>
                <a:ea typeface="微软雅黑 Light" panose="020B0502040204020203" pitchFamily="34" charset="-122"/>
              </a:rPr>
              <a:t>；</a:t>
            </a:r>
            <a:r>
              <a:rPr lang="en-US" altLang="zh-CN" sz="1400" dirty="0">
                <a:latin typeface="微软雅黑 Light" panose="020B0502040204020203" pitchFamily="34" charset="-122"/>
                <a:ea typeface="微软雅黑 Light" panose="020B0502040204020203" pitchFamily="34" charset="-122"/>
              </a:rPr>
              <a:t>B</a:t>
            </a:r>
            <a:r>
              <a:rPr lang="zh-CN" altLang="en-US" sz="1400" dirty="0">
                <a:latin typeface="微软雅黑 Light" panose="020B0502040204020203" pitchFamily="34" charset="-122"/>
                <a:ea typeface="微软雅黑 Light" panose="020B0502040204020203" pitchFamily="34" charset="-122"/>
              </a:rPr>
              <a:t>发了</a:t>
            </a:r>
            <a:r>
              <a:rPr lang="en-US" altLang="zh-CN" sz="1400" dirty="0">
                <a:latin typeface="微软雅黑 Light" panose="020B0502040204020203" pitchFamily="34" charset="-122"/>
                <a:ea typeface="微软雅黑 Light" panose="020B0502040204020203" pitchFamily="34" charset="-122"/>
              </a:rPr>
              <a:t>0</a:t>
            </a:r>
            <a:r>
              <a:rPr lang="zh-CN" altLang="en-US" sz="1400" dirty="0">
                <a:latin typeface="微软雅黑 Light" panose="020B0502040204020203" pitchFamily="34" charset="-122"/>
                <a:ea typeface="微软雅黑 Light" panose="020B0502040204020203" pitchFamily="34" charset="-122"/>
              </a:rPr>
              <a:t>；</a:t>
            </a:r>
            <a:r>
              <a:rPr lang="en-US" altLang="zh-CN" sz="1400" dirty="0">
                <a:latin typeface="微软雅黑 Light" panose="020B0502040204020203" pitchFamily="34" charset="-122"/>
                <a:ea typeface="微软雅黑 Light" panose="020B0502040204020203" pitchFamily="34" charset="-122"/>
              </a:rPr>
              <a:t>C</a:t>
            </a:r>
            <a:r>
              <a:rPr lang="zh-CN" altLang="en-US" sz="1400" dirty="0">
                <a:latin typeface="微软雅黑 Light" panose="020B0502040204020203" pitchFamily="34" charset="-122"/>
                <a:ea typeface="微软雅黑 Light" panose="020B0502040204020203" pitchFamily="34" charset="-122"/>
              </a:rPr>
              <a:t>没有发数据</a:t>
            </a:r>
          </a:p>
        </p:txBody>
      </p:sp>
      <p:pic>
        <p:nvPicPr>
          <p:cNvPr id="8" name="图形 7" descr="灯泡">
            <a:extLst>
              <a:ext uri="{FF2B5EF4-FFF2-40B4-BE49-F238E27FC236}">
                <a16:creationId xmlns:a16="http://schemas.microsoft.com/office/drawing/2014/main" id="{23A9539C-10FB-4D0A-9CFB-550C46BB2B3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1803" y="5827009"/>
            <a:ext cx="360000" cy="3600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13508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信道复用技术</a:t>
            </a:r>
            <a:r>
              <a:rPr lang="en-US" altLang="zh-CN" dirty="0"/>
              <a:t>-5G</a:t>
            </a:r>
            <a:endParaRPr lang="zh-CN" altLang="en-US" dirty="0"/>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6.4</a:t>
            </a:r>
            <a:endParaRPr lang="zh-CN" altLang="en-US" dirty="0"/>
          </a:p>
        </p:txBody>
      </p:sp>
      <p:sp>
        <p:nvSpPr>
          <p:cNvPr id="6" name="文本框 5">
            <a:extLst>
              <a:ext uri="{FF2B5EF4-FFF2-40B4-BE49-F238E27FC236}">
                <a16:creationId xmlns:a16="http://schemas.microsoft.com/office/drawing/2014/main" id="{CF648DA8-15E4-4AE5-9D35-255908ABCE4C}"/>
              </a:ext>
            </a:extLst>
          </p:cNvPr>
          <p:cNvSpPr txBox="1"/>
          <p:nvPr/>
        </p:nvSpPr>
        <p:spPr>
          <a:xfrm>
            <a:off x="3838010" y="3281245"/>
            <a:ext cx="4515980" cy="707886"/>
          </a:xfrm>
          <a:prstGeom prst="rect">
            <a:avLst/>
          </a:prstGeom>
          <a:noFill/>
        </p:spPr>
        <p:txBody>
          <a:bodyPr wrap="none" rtlCol="0">
            <a:spAutoFit/>
          </a:bodyPr>
          <a:lstStyle/>
          <a:p>
            <a:pPr algn="ctr">
              <a:spcBef>
                <a:spcPts val="600"/>
              </a:spcBef>
              <a:spcAft>
                <a:spcPts val="600"/>
              </a:spcAft>
            </a:pPr>
            <a:r>
              <a:rPr lang="zh-CN" altLang="en-US" sz="2000" kern="100" dirty="0">
                <a:latin typeface="Cuprum" panose="00000500000000000000" pitchFamily="2" charset="0"/>
                <a:ea typeface="微软雅黑 Light" panose="020B0502040204020203" pitchFamily="34" charset="-122"/>
                <a:cs typeface="Times New Roman" panose="02020603050405020304" pitchFamily="18" charset="0"/>
              </a:rPr>
              <a:t>一起期待</a:t>
            </a:r>
            <a:r>
              <a:rPr lang="en-US" altLang="zh-CN" sz="4000" kern="100" dirty="0">
                <a:solidFill>
                  <a:srgbClr val="FF0000"/>
                </a:solidFill>
                <a:latin typeface="Cuprum" panose="00000500000000000000" pitchFamily="2" charset="0"/>
                <a:ea typeface="微软雅黑 Light" panose="020B0502040204020203" pitchFamily="34" charset="-122"/>
                <a:cs typeface="Times New Roman" panose="02020603050405020304" pitchFamily="18" charset="0"/>
              </a:rPr>
              <a:t>5G</a:t>
            </a:r>
            <a:r>
              <a:rPr lang="zh-CN" altLang="en-US" sz="2000" kern="100" dirty="0">
                <a:latin typeface="Cuprum" panose="00000500000000000000" pitchFamily="2" charset="0"/>
                <a:ea typeface="微软雅黑 Light" panose="020B0502040204020203" pitchFamily="34" charset="-122"/>
                <a:cs typeface="Times New Roman" panose="02020603050405020304" pitchFamily="18" charset="0"/>
              </a:rPr>
              <a:t>即将带给我们的全新体验</a:t>
            </a:r>
          </a:p>
        </p:txBody>
      </p:sp>
      <p:pic>
        <p:nvPicPr>
          <p:cNvPr id="1026" name="Picture 2" descr="huawei logo">
            <a:hlinkClick r:id="rId2"/>
            <a:extLst>
              <a:ext uri="{FF2B5EF4-FFF2-40B4-BE49-F238E27FC236}">
                <a16:creationId xmlns:a16="http://schemas.microsoft.com/office/drawing/2014/main" id="{13AF6849-4C0B-4FD9-BF35-FA6E09E05F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775" y="2954202"/>
            <a:ext cx="2533650" cy="571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52574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物理层的设备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Device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7</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538736" cy="4401205"/>
          </a:xfrm>
          <a:prstGeom prst="rect">
            <a:avLst/>
          </a:prstGeom>
          <a:noFill/>
        </p:spPr>
        <p:txBody>
          <a:bodyPr wrap="none" rtlCol="0">
            <a:spAutoFit/>
          </a:bodyPr>
          <a:lstStyle/>
          <a:p>
            <a:r>
              <a:rPr lang="zh-CN" altLang="en-US" sz="2000" dirty="0">
                <a:solidFill>
                  <a:schemeClr val="tx1"/>
                </a:solidFill>
                <a:latin typeface="IBM Plex Sans Light" panose="020B0403050203000203" pitchFamily="34" charset="0"/>
                <a:ea typeface="微软雅黑 Light" panose="020B0502040204020203" pitchFamily="34" charset="-122"/>
              </a:rPr>
              <a:t>无源设备：</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IBM Plex Sans Light" panose="020B0403050203000203" pitchFamily="34" charset="0"/>
                <a:ea typeface="微软雅黑 Light" panose="020B0502040204020203" pitchFamily="34" charset="-122"/>
              </a:rPr>
              <a:t>接线板</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IBM Plex Sans Light" panose="020B0403050203000203" pitchFamily="34" charset="0"/>
                <a:ea typeface="微软雅黑 Light" panose="020B0502040204020203" pitchFamily="34" charset="-122"/>
              </a:rPr>
              <a:t>插座（</a:t>
            </a:r>
            <a:r>
              <a:rPr lang="en-US" altLang="zh-CN" sz="2000" dirty="0">
                <a:latin typeface="IBM Plex Sans Light" panose="020B0403050203000203" pitchFamily="34" charset="0"/>
                <a:ea typeface="微软雅黑 Light" panose="020B0502040204020203" pitchFamily="34" charset="-122"/>
              </a:rPr>
              <a:t>RJ-45</a:t>
            </a:r>
            <a:r>
              <a:rPr lang="zh-CN" altLang="en-US" sz="2000" dirty="0">
                <a:latin typeface="IBM Plex Sans Light" panose="020B0403050203000203" pitchFamily="34" charset="0"/>
                <a:ea typeface="微软雅黑 Light" panose="020B0502040204020203" pitchFamily="34" charset="-122"/>
              </a:rPr>
              <a:t>接头）</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IBM Plex Sans Light" panose="020B0403050203000203" pitchFamily="34" charset="0"/>
                <a:ea typeface="微软雅黑 Light" panose="020B0502040204020203" pitchFamily="34" charset="-122"/>
              </a:rPr>
              <a:t>插头</a:t>
            </a:r>
            <a:endParaRPr lang="en-US" altLang="zh-CN" sz="2000" dirty="0">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IBM Plex Sans Light" panose="020B0403050203000203" pitchFamily="34" charset="0"/>
                <a:ea typeface="微软雅黑 Light" panose="020B0502040204020203" pitchFamily="34" charset="-122"/>
              </a:rPr>
              <a:t>电缆</a:t>
            </a:r>
            <a:endParaRPr lang="en-US" altLang="zh-CN" sz="2000" dirty="0">
              <a:latin typeface="IBM Plex Sans Light" panose="020B0403050203000203" pitchFamily="34" charset="0"/>
              <a:ea typeface="微软雅黑 Light" panose="020B0502040204020203" pitchFamily="34" charset="-122"/>
            </a:endParaRPr>
          </a:p>
          <a:p>
            <a:pPr algn="l"/>
            <a:endParaRPr lang="en-US" altLang="zh-CN" sz="2000" dirty="0">
              <a:solidFill>
                <a:schemeClr val="tx1"/>
              </a:solidFill>
              <a:latin typeface="IBM Plex Sans Light" panose="020B0403050203000203" pitchFamily="34" charset="0"/>
              <a:ea typeface="微软雅黑 Light" panose="020B0502040204020203" pitchFamily="34" charset="-122"/>
            </a:endParaRPr>
          </a:p>
          <a:p>
            <a:pPr algn="l"/>
            <a:r>
              <a:rPr lang="zh-CN" altLang="en-US" sz="2000" dirty="0">
                <a:latin typeface="IBM Plex Sans Light" panose="020B0403050203000203" pitchFamily="34" charset="0"/>
                <a:ea typeface="微软雅黑 Light" panose="020B0502040204020203" pitchFamily="34" charset="-122"/>
              </a:rPr>
              <a:t>有源设备：</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收发器</a:t>
            </a:r>
            <a:r>
              <a:rPr lang="en-US" altLang="zh-CN" sz="2000" dirty="0">
                <a:solidFill>
                  <a:schemeClr val="tx1"/>
                </a:solidFill>
                <a:latin typeface="IBM Plex Sans Light" panose="020B0403050203000203" pitchFamily="34" charset="0"/>
                <a:ea typeface="微软雅黑 Light" panose="020B0502040204020203" pitchFamily="34" charset="-122"/>
              </a:rPr>
              <a:t>Transceiver</a:t>
            </a:r>
            <a:r>
              <a:rPr lang="zh-CN" altLang="en-US" sz="2000" dirty="0">
                <a:solidFill>
                  <a:schemeClr val="tx1"/>
                </a:solidFill>
                <a:latin typeface="IBM Plex Sans Light" panose="020B0403050203000203" pitchFamily="34" charset="0"/>
                <a:ea typeface="微软雅黑 Light" panose="020B0502040204020203" pitchFamily="34" charset="-122"/>
              </a:rPr>
              <a:t>：将一种形式的信号转换为另外一种形式的信号，是网卡</a:t>
            </a:r>
            <a:r>
              <a:rPr lang="en-US" altLang="zh-CN" sz="2000" dirty="0">
                <a:solidFill>
                  <a:schemeClr val="tx1"/>
                </a:solidFill>
                <a:latin typeface="IBM Plex Sans Light" panose="020B0403050203000203" pitchFamily="34" charset="0"/>
                <a:ea typeface="微软雅黑 Light" panose="020B0502040204020203" pitchFamily="34" charset="-122"/>
              </a:rPr>
              <a:t>NIC</a:t>
            </a:r>
            <a:r>
              <a:rPr lang="zh-CN" altLang="en-US" sz="2000" dirty="0">
                <a:solidFill>
                  <a:schemeClr val="tx1"/>
                </a:solidFill>
                <a:latin typeface="IBM Plex Sans Light" panose="020B0403050203000203" pitchFamily="34" charset="0"/>
                <a:ea typeface="微软雅黑 Light" panose="020B0502040204020203" pitchFamily="34" charset="-122"/>
              </a:rPr>
              <a:t>的一个部件</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中继器</a:t>
            </a:r>
            <a:r>
              <a:rPr lang="en-US" altLang="zh-CN" sz="2000" dirty="0">
                <a:latin typeface="IBM Plex Sans Light" panose="020B0403050203000203" pitchFamily="34" charset="0"/>
                <a:ea typeface="微软雅黑 Light" panose="020B0502040204020203" pitchFamily="34" charset="-122"/>
              </a:rPr>
              <a:t>Repeater</a:t>
            </a:r>
            <a:r>
              <a:rPr lang="zh-CN" altLang="en-US" sz="2000" dirty="0">
                <a:solidFill>
                  <a:schemeClr val="tx1"/>
                </a:solidFill>
                <a:latin typeface="IBM Plex Sans Light" panose="020B0403050203000203" pitchFamily="34" charset="0"/>
                <a:ea typeface="微软雅黑 Light" panose="020B0502040204020203" pitchFamily="34" charset="-122"/>
              </a:rPr>
              <a:t>：对衰减信号放大整形再生以扩大网络传输距离；连接相同物理协议的网络</a:t>
            </a:r>
          </a:p>
          <a:p>
            <a:pPr marL="342900" indent="-342900" algn="l">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集线器</a:t>
            </a:r>
            <a:r>
              <a:rPr lang="en-US" altLang="zh-CN" sz="2000" dirty="0">
                <a:latin typeface="IBM Plex Sans Light" panose="020B0403050203000203" pitchFamily="34" charset="0"/>
                <a:ea typeface="微软雅黑 Light" panose="020B0502040204020203" pitchFamily="34" charset="-122"/>
              </a:rPr>
              <a:t>Hub</a:t>
            </a:r>
            <a:r>
              <a:rPr lang="zh-CN" altLang="en-US" sz="2000" dirty="0">
                <a:solidFill>
                  <a:schemeClr val="tx1"/>
                </a:solidFill>
                <a:latin typeface="IBM Plex Sans Light" panose="020B0403050203000203" pitchFamily="34" charset="0"/>
                <a:ea typeface="微软雅黑 Light" panose="020B0502040204020203" pitchFamily="34" charset="-122"/>
              </a:rPr>
              <a:t>：对数据信号</a:t>
            </a:r>
            <a:r>
              <a:rPr lang="zh-CN" altLang="en-US" sz="2000" dirty="0">
                <a:latin typeface="IBM Plex Sans Light" panose="020B0403050203000203" pitchFamily="34" charset="0"/>
                <a:ea typeface="微软雅黑 Light" panose="020B0502040204020203" pitchFamily="34" charset="-122"/>
              </a:rPr>
              <a:t>进行</a:t>
            </a:r>
            <a:r>
              <a:rPr lang="zh-CN" altLang="en-US" sz="2000" dirty="0">
                <a:solidFill>
                  <a:schemeClr val="tx1"/>
                </a:solidFill>
                <a:latin typeface="IBM Plex Sans Light" panose="020B0403050203000203" pitchFamily="34" charset="0"/>
                <a:ea typeface="微软雅黑 Light" panose="020B0502040204020203" pitchFamily="34" charset="-122"/>
              </a:rPr>
              <a:t>再生整形放大，以扩大网络的传输距离；</a:t>
            </a:r>
            <a:r>
              <a:rPr lang="zh-CN" altLang="en-US" sz="2000" b="1" dirty="0">
                <a:solidFill>
                  <a:srgbClr val="C00000"/>
                </a:solidFill>
                <a:latin typeface="IBM Plex Sans Light" panose="020B0403050203000203" pitchFamily="34" charset="0"/>
                <a:ea typeface="微软雅黑 Light" panose="020B0502040204020203" pitchFamily="34" charset="-122"/>
              </a:rPr>
              <a:t>多接口</a:t>
            </a:r>
            <a:r>
              <a:rPr lang="zh-CN" altLang="en-US" sz="2000" dirty="0">
                <a:solidFill>
                  <a:schemeClr val="tx1"/>
                </a:solidFill>
                <a:latin typeface="IBM Plex Sans Light" panose="020B0403050203000203" pitchFamily="34" charset="0"/>
                <a:ea typeface="微软雅黑 Light" panose="020B0502040204020203" pitchFamily="34" charset="-122"/>
              </a:rPr>
              <a:t>转发；适合星型网络</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algn="l">
              <a:buClr>
                <a:schemeClr val="accent2"/>
              </a:buClr>
            </a:pP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algn="l">
              <a:buClr>
                <a:schemeClr val="accent2"/>
              </a:buClr>
            </a:pPr>
            <a:r>
              <a:rPr lang="zh-CN" altLang="en-US" sz="2000" dirty="0">
                <a:solidFill>
                  <a:schemeClr val="tx1"/>
                </a:solidFill>
                <a:latin typeface="IBM Plex Sans Light" panose="020B0403050203000203" pitchFamily="34" charset="0"/>
                <a:ea typeface="微软雅黑 Light" panose="020B0502040204020203" pitchFamily="34" charset="-122"/>
              </a:rPr>
              <a:t>注意：</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中继器和集线器虽然增加了网络的作用范围，但是也增加了冲突和碰撞域，降低了网络性能</a:t>
            </a:r>
            <a:endParaRPr lang="en-US" altLang="zh-CN" sz="2000" dirty="0">
              <a:solidFill>
                <a:schemeClr val="tx1"/>
              </a:solidFill>
              <a:latin typeface="IBM Plex Sans Light" panose="020B0403050203000203" pitchFamily="34" charset="0"/>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IBM Plex Sans Light" panose="020B0403050203000203" pitchFamily="34" charset="0"/>
                <a:ea typeface="微软雅黑 Light" panose="020B0502040204020203" pitchFamily="34" charset="-122"/>
              </a:rPr>
              <a:t>现在网络中很少使用中继器和集线器</a:t>
            </a:r>
          </a:p>
        </p:txBody>
      </p:sp>
    </p:spTree>
    <p:extLst>
      <p:ext uri="{BB962C8B-B14F-4D97-AF65-F5344CB8AC3E}">
        <p14:creationId xmlns:p14="http://schemas.microsoft.com/office/powerpoint/2010/main" val="7009711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13"/>
          </p:nvPr>
        </p:nvSpPr>
        <p:spPr/>
        <p:txBody>
          <a:bodyPr/>
          <a:lstStyle/>
          <a:p>
            <a:r>
              <a:rPr lang="zh-CN" altLang="en-US" dirty="0"/>
              <a:t>作业</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Homework</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15"/>
          </p:nvPr>
        </p:nvSpPr>
        <p:spPr/>
        <p:txBody>
          <a:bodyPr/>
          <a:lstStyle/>
          <a:p>
            <a:r>
              <a:rPr lang="en-US" altLang="zh-CN" dirty="0"/>
              <a:t>8</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2800767" cy="400110"/>
          </a:xfrm>
          <a:prstGeom prst="rect">
            <a:avLst/>
          </a:prstGeom>
          <a:noFill/>
        </p:spPr>
        <p:txBody>
          <a:bodyPr wrap="none" rtlCol="0">
            <a:spAutoFit/>
          </a:bodyPr>
          <a:lstStyle/>
          <a:p>
            <a:r>
              <a:rPr lang="en-US" altLang="zh-CN" sz="2000" dirty="0">
                <a:solidFill>
                  <a:schemeClr val="tx1"/>
                </a:solidFill>
                <a:latin typeface="IBM Plex Sans Light" panose="020B0403050203000203" pitchFamily="34" charset="0"/>
                <a:ea typeface="微软雅黑 Light" panose="020B0502040204020203" pitchFamily="34" charset="-122"/>
              </a:rPr>
              <a:t>2-16</a:t>
            </a:r>
            <a:r>
              <a:rPr lang="zh-CN" altLang="en-US" sz="2000" dirty="0">
                <a:solidFill>
                  <a:schemeClr val="tx1"/>
                </a:solidFill>
                <a:latin typeface="IBM Plex Sans Light" panose="020B0403050203000203" pitchFamily="34" charset="0"/>
                <a:ea typeface="微软雅黑 Light" panose="020B0502040204020203" pitchFamily="34" charset="-122"/>
              </a:rPr>
              <a:t>，请提交到学习通</a:t>
            </a:r>
          </a:p>
        </p:txBody>
      </p:sp>
    </p:spTree>
    <p:extLst>
      <p:ext uri="{BB962C8B-B14F-4D97-AF65-F5344CB8AC3E}">
        <p14:creationId xmlns:p14="http://schemas.microsoft.com/office/powerpoint/2010/main" val="8534445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2700">
          <a:solidFill>
            <a:schemeClr val="bg1">
              <a:lumMod val="50000"/>
            </a:schemeClr>
          </a:solidFill>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rtlCol="0">
        <a:spAutoFit/>
      </a:bodyPr>
      <a:lstStyle>
        <a:defPPr algn="l">
          <a:spcBef>
            <a:spcPts val="600"/>
          </a:spcBef>
          <a:spcAft>
            <a:spcPts val="600"/>
          </a:spcAft>
          <a:defRPr sz="2000" kern="100" dirty="0" smtClean="0">
            <a:latin typeface="微软雅黑 Light" panose="020B0502040204020203" pitchFamily="34" charset="-122"/>
            <a:ea typeface="微软雅黑 Light" panose="020B0502040204020203" pitchFamily="34" charset="-122"/>
            <a:cs typeface="Times New Roman" panose="02020603050405020304" pitchFamily="18"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12063</TotalTime>
  <Words>1738</Words>
  <Application>Microsoft Office PowerPoint</Application>
  <PresentationFormat>宽屏</PresentationFormat>
  <Paragraphs>417</Paragraphs>
  <Slides>36</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36</vt:i4>
      </vt:variant>
    </vt:vector>
  </HeadingPairs>
  <TitlesOfParts>
    <vt:vector size="50" baseType="lpstr">
      <vt:lpstr>Cuprum</vt:lpstr>
      <vt:lpstr>等线</vt:lpstr>
      <vt:lpstr>微软雅黑</vt:lpstr>
      <vt:lpstr>Microsoft YaHei Light</vt:lpstr>
      <vt:lpstr>Microsoft YaHei Light</vt:lpstr>
      <vt:lpstr>禹卫书法行书简体
</vt:lpstr>
      <vt:lpstr>Arial</vt:lpstr>
      <vt:lpstr>Arial Black</vt:lpstr>
      <vt:lpstr>Cambria Math</vt:lpstr>
      <vt:lpstr>Courier New</vt:lpstr>
      <vt:lpstr>IBM Plex Sans Light</vt:lpstr>
      <vt:lpstr>Montserrat</vt:lpstr>
      <vt:lpstr>Poppins Light</vt:lpstr>
      <vt:lpstr>Office 主题​​</vt:lpstr>
      <vt:lpstr>物理层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cnplaman</dc:creator>
  <cp:lastModifiedBy>cn plaman</cp:lastModifiedBy>
  <cp:revision>2878</cp:revision>
  <dcterms:created xsi:type="dcterms:W3CDTF">2020-11-07T11:40:45Z</dcterms:created>
  <dcterms:modified xsi:type="dcterms:W3CDTF">2025-11-03T13:56:31Z</dcterms:modified>
</cp:coreProperties>
</file>