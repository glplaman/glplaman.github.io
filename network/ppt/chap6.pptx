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78"/>
  </p:notesMasterIdLst>
  <p:sldIdLst>
    <p:sldId id="257" r:id="rId2"/>
    <p:sldId id="256" r:id="rId3"/>
    <p:sldId id="646" r:id="rId4"/>
    <p:sldId id="572" r:id="rId5"/>
    <p:sldId id="258" r:id="rId6"/>
    <p:sldId id="573" r:id="rId7"/>
    <p:sldId id="259" r:id="rId8"/>
    <p:sldId id="644" r:id="rId9"/>
    <p:sldId id="260" r:id="rId10"/>
    <p:sldId id="577" r:id="rId11"/>
    <p:sldId id="575" r:id="rId12"/>
    <p:sldId id="261" r:id="rId13"/>
    <p:sldId id="582" r:id="rId14"/>
    <p:sldId id="584" r:id="rId15"/>
    <p:sldId id="267" r:id="rId16"/>
    <p:sldId id="585" r:id="rId17"/>
    <p:sldId id="268" r:id="rId18"/>
    <p:sldId id="642"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284" r:id="rId36"/>
    <p:sldId id="285" r:id="rId37"/>
    <p:sldId id="286" r:id="rId38"/>
    <p:sldId id="645" r:id="rId39"/>
    <p:sldId id="287" r:id="rId40"/>
    <p:sldId id="288" r:id="rId41"/>
    <p:sldId id="290" r:id="rId42"/>
    <p:sldId id="592" r:id="rId43"/>
    <p:sldId id="293" r:id="rId44"/>
    <p:sldId id="294" r:id="rId45"/>
    <p:sldId id="295" r:id="rId46"/>
    <p:sldId id="296" r:id="rId47"/>
    <p:sldId id="297" r:id="rId48"/>
    <p:sldId id="298" r:id="rId49"/>
    <p:sldId id="299" r:id="rId50"/>
    <p:sldId id="300" r:id="rId51"/>
    <p:sldId id="548" r:id="rId52"/>
    <p:sldId id="302" r:id="rId53"/>
    <p:sldId id="303" r:id="rId54"/>
    <p:sldId id="304" r:id="rId55"/>
    <p:sldId id="549" r:id="rId56"/>
    <p:sldId id="306" r:id="rId57"/>
    <p:sldId id="307" r:id="rId58"/>
    <p:sldId id="311" r:id="rId59"/>
    <p:sldId id="593" r:id="rId60"/>
    <p:sldId id="317" r:id="rId61"/>
    <p:sldId id="643" r:id="rId62"/>
    <p:sldId id="322" r:id="rId63"/>
    <p:sldId id="599" r:id="rId64"/>
    <p:sldId id="598" r:id="rId65"/>
    <p:sldId id="326" r:id="rId66"/>
    <p:sldId id="327" r:id="rId67"/>
    <p:sldId id="328" r:id="rId68"/>
    <p:sldId id="329" r:id="rId69"/>
    <p:sldId id="600" r:id="rId70"/>
    <p:sldId id="601" r:id="rId71"/>
    <p:sldId id="603" r:id="rId72"/>
    <p:sldId id="602" r:id="rId73"/>
    <p:sldId id="331" r:id="rId74"/>
    <p:sldId id="332" r:id="rId75"/>
    <p:sldId id="333" r:id="rId76"/>
    <p:sldId id="334" r:id="rId77"/>
    <p:sldId id="335" r:id="rId78"/>
    <p:sldId id="605" r:id="rId79"/>
    <p:sldId id="607" r:id="rId80"/>
    <p:sldId id="338" r:id="rId81"/>
    <p:sldId id="339" r:id="rId82"/>
    <p:sldId id="340" r:id="rId83"/>
    <p:sldId id="341" r:id="rId84"/>
    <p:sldId id="608" r:id="rId85"/>
    <p:sldId id="609" r:id="rId86"/>
    <p:sldId id="610" r:id="rId87"/>
    <p:sldId id="611" r:id="rId88"/>
    <p:sldId id="345" r:id="rId89"/>
    <p:sldId id="346" r:id="rId90"/>
    <p:sldId id="347" r:id="rId91"/>
    <p:sldId id="613" r:id="rId92"/>
    <p:sldId id="612" r:id="rId93"/>
    <p:sldId id="615" r:id="rId94"/>
    <p:sldId id="616" r:id="rId95"/>
    <p:sldId id="617" r:id="rId96"/>
    <p:sldId id="618" r:id="rId97"/>
    <p:sldId id="619" r:id="rId98"/>
    <p:sldId id="620" r:id="rId99"/>
    <p:sldId id="621" r:id="rId100"/>
    <p:sldId id="622" r:id="rId101"/>
    <p:sldId id="624" r:id="rId102"/>
    <p:sldId id="359" r:id="rId103"/>
    <p:sldId id="360" r:id="rId104"/>
    <p:sldId id="361" r:id="rId105"/>
    <p:sldId id="362" r:id="rId106"/>
    <p:sldId id="363" r:id="rId107"/>
    <p:sldId id="364" r:id="rId108"/>
    <p:sldId id="365" r:id="rId109"/>
    <p:sldId id="366" r:id="rId110"/>
    <p:sldId id="367" r:id="rId111"/>
    <p:sldId id="368" r:id="rId112"/>
    <p:sldId id="369" r:id="rId113"/>
    <p:sldId id="370" r:id="rId114"/>
    <p:sldId id="375" r:id="rId115"/>
    <p:sldId id="625" r:id="rId116"/>
    <p:sldId id="626" r:id="rId117"/>
    <p:sldId id="377" r:id="rId118"/>
    <p:sldId id="627" r:id="rId119"/>
    <p:sldId id="378" r:id="rId120"/>
    <p:sldId id="628" r:id="rId121"/>
    <p:sldId id="379" r:id="rId122"/>
    <p:sldId id="383" r:id="rId123"/>
    <p:sldId id="386" r:id="rId124"/>
    <p:sldId id="387" r:id="rId125"/>
    <p:sldId id="389" r:id="rId126"/>
    <p:sldId id="395" r:id="rId127"/>
    <p:sldId id="396" r:id="rId128"/>
    <p:sldId id="397" r:id="rId129"/>
    <p:sldId id="398" r:id="rId130"/>
    <p:sldId id="399" r:id="rId131"/>
    <p:sldId id="400" r:id="rId132"/>
    <p:sldId id="401" r:id="rId133"/>
    <p:sldId id="402" r:id="rId134"/>
    <p:sldId id="403" r:id="rId135"/>
    <p:sldId id="404" r:id="rId136"/>
    <p:sldId id="405" r:id="rId137"/>
    <p:sldId id="406" r:id="rId138"/>
    <p:sldId id="631" r:id="rId139"/>
    <p:sldId id="408" r:id="rId140"/>
    <p:sldId id="409" r:id="rId141"/>
    <p:sldId id="410" r:id="rId142"/>
    <p:sldId id="411" r:id="rId143"/>
    <p:sldId id="412" r:id="rId144"/>
    <p:sldId id="414" r:id="rId145"/>
    <p:sldId id="415" r:id="rId146"/>
    <p:sldId id="417" r:id="rId147"/>
    <p:sldId id="418" r:id="rId148"/>
    <p:sldId id="419" r:id="rId149"/>
    <p:sldId id="422" r:id="rId150"/>
    <p:sldId id="420" r:id="rId151"/>
    <p:sldId id="424" r:id="rId152"/>
    <p:sldId id="427" r:id="rId153"/>
    <p:sldId id="428" r:id="rId154"/>
    <p:sldId id="656" r:id="rId155"/>
    <p:sldId id="657" r:id="rId156"/>
    <p:sldId id="429" r:id="rId157"/>
    <p:sldId id="659" r:id="rId158"/>
    <p:sldId id="430" r:id="rId159"/>
    <p:sldId id="431" r:id="rId160"/>
    <p:sldId id="660" r:id="rId161"/>
    <p:sldId id="432" r:id="rId162"/>
    <p:sldId id="633" r:id="rId163"/>
    <p:sldId id="661" r:id="rId164"/>
    <p:sldId id="434" r:id="rId165"/>
    <p:sldId id="435" r:id="rId166"/>
    <p:sldId id="658" r:id="rId167"/>
    <p:sldId id="662" r:id="rId168"/>
    <p:sldId id="437" r:id="rId169"/>
    <p:sldId id="438" r:id="rId170"/>
    <p:sldId id="563" r:id="rId171"/>
    <p:sldId id="439" r:id="rId172"/>
    <p:sldId id="440" r:id="rId173"/>
    <p:sldId id="441" r:id="rId174"/>
    <p:sldId id="442" r:id="rId175"/>
    <p:sldId id="443" r:id="rId176"/>
    <p:sldId id="444" r:id="rId177"/>
    <p:sldId id="445" r:id="rId178"/>
    <p:sldId id="446" r:id="rId179"/>
    <p:sldId id="447" r:id="rId180"/>
    <p:sldId id="448" r:id="rId181"/>
    <p:sldId id="449" r:id="rId182"/>
    <p:sldId id="450" r:id="rId183"/>
    <p:sldId id="451" r:id="rId184"/>
    <p:sldId id="452" r:id="rId185"/>
    <p:sldId id="453" r:id="rId186"/>
    <p:sldId id="454" r:id="rId187"/>
    <p:sldId id="455" r:id="rId188"/>
    <p:sldId id="456" r:id="rId189"/>
    <p:sldId id="457" r:id="rId190"/>
    <p:sldId id="458" r:id="rId191"/>
    <p:sldId id="459" r:id="rId192"/>
    <p:sldId id="460" r:id="rId193"/>
    <p:sldId id="461" r:id="rId194"/>
    <p:sldId id="462" r:id="rId195"/>
    <p:sldId id="463" r:id="rId196"/>
    <p:sldId id="464" r:id="rId197"/>
    <p:sldId id="466" r:id="rId198"/>
    <p:sldId id="467" r:id="rId199"/>
    <p:sldId id="468" r:id="rId200"/>
    <p:sldId id="469" r:id="rId201"/>
    <p:sldId id="470" r:id="rId202"/>
    <p:sldId id="471" r:id="rId203"/>
    <p:sldId id="472" r:id="rId204"/>
    <p:sldId id="473" r:id="rId205"/>
    <p:sldId id="474" r:id="rId206"/>
    <p:sldId id="475" r:id="rId207"/>
    <p:sldId id="476" r:id="rId208"/>
    <p:sldId id="477" r:id="rId209"/>
    <p:sldId id="478" r:id="rId210"/>
    <p:sldId id="479" r:id="rId211"/>
    <p:sldId id="480" r:id="rId212"/>
    <p:sldId id="481" r:id="rId213"/>
    <p:sldId id="482" r:id="rId214"/>
    <p:sldId id="483" r:id="rId215"/>
    <p:sldId id="484" r:id="rId216"/>
    <p:sldId id="485" r:id="rId217"/>
    <p:sldId id="486" r:id="rId218"/>
    <p:sldId id="487" r:id="rId219"/>
    <p:sldId id="488" r:id="rId220"/>
    <p:sldId id="489" r:id="rId221"/>
    <p:sldId id="490" r:id="rId222"/>
    <p:sldId id="491" r:id="rId223"/>
    <p:sldId id="492" r:id="rId224"/>
    <p:sldId id="493" r:id="rId225"/>
    <p:sldId id="494" r:id="rId226"/>
    <p:sldId id="495" r:id="rId227"/>
    <p:sldId id="496" r:id="rId228"/>
    <p:sldId id="497" r:id="rId229"/>
    <p:sldId id="498" r:id="rId230"/>
    <p:sldId id="499" r:id="rId231"/>
    <p:sldId id="500" r:id="rId232"/>
    <p:sldId id="501" r:id="rId233"/>
    <p:sldId id="502" r:id="rId234"/>
    <p:sldId id="503" r:id="rId235"/>
    <p:sldId id="504" r:id="rId236"/>
    <p:sldId id="506" r:id="rId237"/>
    <p:sldId id="507" r:id="rId238"/>
    <p:sldId id="508" r:id="rId239"/>
    <p:sldId id="509" r:id="rId240"/>
    <p:sldId id="510" r:id="rId241"/>
    <p:sldId id="511" r:id="rId242"/>
    <p:sldId id="512" r:id="rId243"/>
    <p:sldId id="513" r:id="rId244"/>
    <p:sldId id="515" r:id="rId245"/>
    <p:sldId id="634" r:id="rId246"/>
    <p:sldId id="635" r:id="rId247"/>
    <p:sldId id="636" r:id="rId248"/>
    <p:sldId id="519" r:id="rId249"/>
    <p:sldId id="641" r:id="rId250"/>
    <p:sldId id="637" r:id="rId251"/>
    <p:sldId id="638" r:id="rId252"/>
    <p:sldId id="523" r:id="rId253"/>
    <p:sldId id="648" r:id="rId254"/>
    <p:sldId id="649" r:id="rId255"/>
    <p:sldId id="526" r:id="rId256"/>
    <p:sldId id="527" r:id="rId257"/>
    <p:sldId id="650" r:id="rId258"/>
    <p:sldId id="532" r:id="rId259"/>
    <p:sldId id="651" r:id="rId260"/>
    <p:sldId id="533" r:id="rId261"/>
    <p:sldId id="639" r:id="rId262"/>
    <p:sldId id="534" r:id="rId263"/>
    <p:sldId id="535" r:id="rId264"/>
    <p:sldId id="538" r:id="rId265"/>
    <p:sldId id="571" r:id="rId266"/>
    <p:sldId id="654" r:id="rId267"/>
    <p:sldId id="540" r:id="rId268"/>
    <p:sldId id="541" r:id="rId269"/>
    <p:sldId id="653" r:id="rId270"/>
    <p:sldId id="652" r:id="rId271"/>
    <p:sldId id="655" r:id="rId272"/>
    <p:sldId id="542" r:id="rId273"/>
    <p:sldId id="543" r:id="rId274"/>
    <p:sldId id="544" r:id="rId275"/>
    <p:sldId id="640" r:id="rId276"/>
    <p:sldId id="546" r:id="rId277"/>
  </p:sldIdLst>
  <p:sldSz cx="9144000" cy="5143500" type="screen16x9"/>
  <p:notesSz cx="6858000" cy="9144000"/>
  <p:embeddedFontLst>
    <p:embeddedFont>
      <p:font typeface="Montserrat" panose="00000500000000000000" pitchFamily="2" charset="0"/>
      <p:regular r:id="rId279"/>
    </p:embeddedFont>
    <p:embeddedFont>
      <p:font typeface="微软雅黑" panose="020B0503020204020204" pitchFamily="34" charset="-122"/>
      <p:regular r:id="rId280"/>
      <p:bold r:id="rId281"/>
    </p:embeddedFont>
    <p:embeddedFont>
      <p:font typeface="微软雅黑 Light" panose="020B0502040204020203" pitchFamily="34" charset="-122"/>
      <p:regular r:id="rId282"/>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ACC6"/>
    <a:srgbClr val="D7E4BD"/>
    <a:srgbClr val="F79646"/>
    <a:srgbClr val="FF00FF"/>
    <a:srgbClr val="5780CA"/>
    <a:srgbClr val="DDA19F"/>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p:scale>
          <a:sx n="130" d="100"/>
          <a:sy n="130" d="100"/>
        </p:scale>
        <p:origin x="1122" y="438"/>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font" Target="fonts/font1.fntdata"/><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font" Target="fonts/font2.fntdata"/><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font" Target="fonts/font3.fntdata"/><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4.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presProps" Target="presProp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tableStyles" Target="tableStyle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notesMaster" Target="notesMasters/notesMaster1.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许多都基于客户服务器方式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许多都基于客户服务器方式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服务提供方</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2025/11/30</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41</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12893177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129</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130</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139</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143</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155</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159</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161</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198</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251</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256</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257</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261</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262</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268</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270</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275</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276</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5.bin"/></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5.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6.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1.wmf"/></Relationships>
</file>

<file path=ppt/slides/_rels/slide7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7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7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11.bin"/></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12.bin"/><Relationship Id="rId1" Type="http://schemas.openxmlformats.org/officeDocument/2006/relationships/slideLayout" Target="../slideLayouts/slideLayout3.xml"/><Relationship Id="rId5" Type="http://schemas.openxmlformats.org/officeDocument/2006/relationships/image" Target="../media/image17.emf"/><Relationship Id="rId4" Type="http://schemas.openxmlformats.org/officeDocument/2006/relationships/oleObject" Target="../embeddings/oleObject13.bin"/></Relationships>
</file>

<file path=ppt/slides/_rels/slide126.xml.rels><?xml version="1.0" encoding="UTF-8" standalone="yes"?>
<Relationships xmlns="http://schemas.openxmlformats.org/package/2006/relationships"><Relationship Id="rId8" Type="http://schemas.openxmlformats.org/officeDocument/2006/relationships/oleObject" Target="../embeddings/oleObject16.bin"/><Relationship Id="rId3" Type="http://schemas.openxmlformats.org/officeDocument/2006/relationships/oleObject" Target="../embeddings/oleObject14.bin"/><Relationship Id="rId7" Type="http://schemas.openxmlformats.org/officeDocument/2006/relationships/image" Target="../media/image16.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5.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7.emf"/></Relationships>
</file>

<file path=ppt/slides/_rels/slide127.xml.rels><?xml version="1.0" encoding="UTF-8" standalone="yes"?>
<Relationships xmlns="http://schemas.openxmlformats.org/package/2006/relationships"><Relationship Id="rId8" Type="http://schemas.openxmlformats.org/officeDocument/2006/relationships/oleObject" Target="../embeddings/oleObject19.bin"/><Relationship Id="rId3" Type="http://schemas.openxmlformats.org/officeDocument/2006/relationships/oleObject" Target="../embeddings/oleObject17.bin"/><Relationship Id="rId7" Type="http://schemas.openxmlformats.org/officeDocument/2006/relationships/image" Target="../media/image16.emf"/><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oleObject" Target="../embeddings/oleObject18.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7.emf"/></Relationships>
</file>

<file path=ppt/slides/_rels/slide128.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oleObject" Target="../embeddings/oleObject20.bin"/><Relationship Id="rId7" Type="http://schemas.openxmlformats.org/officeDocument/2006/relationships/oleObject" Target="../embeddings/oleObject22.bin"/><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6.emf"/><Relationship Id="rId5" Type="http://schemas.openxmlformats.org/officeDocument/2006/relationships/oleObject" Target="../embeddings/oleObject21.bin"/><Relationship Id="rId4" Type="http://schemas.openxmlformats.org/officeDocument/2006/relationships/image" Target="../media/image11.wmf"/></Relationships>
</file>

<file path=ppt/slides/_rels/slide129.xml.rels><?xml version="1.0" encoding="UTF-8" standalone="yes"?>
<Relationships xmlns="http://schemas.openxmlformats.org/package/2006/relationships"><Relationship Id="rId8" Type="http://schemas.openxmlformats.org/officeDocument/2006/relationships/oleObject" Target="../embeddings/oleObject26.bin"/><Relationship Id="rId3" Type="http://schemas.openxmlformats.org/officeDocument/2006/relationships/oleObject" Target="../embeddings/oleObject23.bin"/><Relationship Id="rId7" Type="http://schemas.openxmlformats.org/officeDocument/2006/relationships/image" Target="../media/image16.emf"/><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oleObject" Target="../embeddings/oleObject25.bin"/><Relationship Id="rId5" Type="http://schemas.openxmlformats.org/officeDocument/2006/relationships/oleObject" Target="../embeddings/oleObject24.bin"/><Relationship Id="rId4" Type="http://schemas.openxmlformats.org/officeDocument/2006/relationships/image" Target="../media/image11.wmf"/><Relationship Id="rId9" Type="http://schemas.openxmlformats.org/officeDocument/2006/relationships/image" Target="../media/image17.emf"/></Relationships>
</file>

<file path=ppt/slides/_rels/slide130.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oleObject" Target="../embeddings/oleObject27.bin"/><Relationship Id="rId7" Type="http://schemas.openxmlformats.org/officeDocument/2006/relationships/oleObject" Target="../embeddings/oleObject29.bin"/><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16.emf"/><Relationship Id="rId5" Type="http://schemas.openxmlformats.org/officeDocument/2006/relationships/oleObject" Target="../embeddings/oleObject28.bin"/><Relationship Id="rId4" Type="http://schemas.openxmlformats.org/officeDocument/2006/relationships/image" Target="../media/image11.wmf"/></Relationships>
</file>

<file path=ppt/slides/_rels/slide131.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7.emf"/><Relationship Id="rId2" Type="http://schemas.openxmlformats.org/officeDocument/2006/relationships/oleObject" Target="../embeddings/oleObject30.bin"/><Relationship Id="rId1" Type="http://schemas.openxmlformats.org/officeDocument/2006/relationships/slideLayout" Target="../slideLayouts/slideLayout3.xml"/><Relationship Id="rId6" Type="http://schemas.openxmlformats.org/officeDocument/2006/relationships/oleObject" Target="../embeddings/oleObject32.bin"/><Relationship Id="rId5" Type="http://schemas.openxmlformats.org/officeDocument/2006/relationships/image" Target="../media/image16.emf"/><Relationship Id="rId4" Type="http://schemas.openxmlformats.org/officeDocument/2006/relationships/oleObject" Target="../embeddings/oleObject31.bin"/></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12.bin"/><Relationship Id="rId1" Type="http://schemas.openxmlformats.org/officeDocument/2006/relationships/slideLayout" Target="../slideLayouts/slideLayout3.xml"/><Relationship Id="rId5" Type="http://schemas.openxmlformats.org/officeDocument/2006/relationships/image" Target="../media/image17.emf"/><Relationship Id="rId4" Type="http://schemas.openxmlformats.org/officeDocument/2006/relationships/oleObject" Target="../embeddings/oleObject13.bin"/></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13.bin"/><Relationship Id="rId4" Type="http://schemas.openxmlformats.org/officeDocument/2006/relationships/image" Target="../media/image16.emf"/></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12.bin"/><Relationship Id="rId1" Type="http://schemas.openxmlformats.org/officeDocument/2006/relationships/slideLayout" Target="../slideLayouts/slideLayout3.xml"/><Relationship Id="rId5" Type="http://schemas.openxmlformats.org/officeDocument/2006/relationships/image" Target="../media/image17.emf"/><Relationship Id="rId4" Type="http://schemas.openxmlformats.org/officeDocument/2006/relationships/oleObject" Target="../embeddings/oleObject13.bin"/></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3.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8" Type="http://schemas.openxmlformats.org/officeDocument/2006/relationships/oleObject" Target="../embeddings/oleObject37.bin"/><Relationship Id="rId3" Type="http://schemas.openxmlformats.org/officeDocument/2006/relationships/oleObject" Target="../embeddings/oleObject34.bin"/><Relationship Id="rId7" Type="http://schemas.openxmlformats.org/officeDocument/2006/relationships/oleObject" Target="../embeddings/oleObject36.bin"/><Relationship Id="rId2" Type="http://schemas.openxmlformats.org/officeDocument/2006/relationships/notesSlide" Target="../notesSlides/notesSlide34.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5.bin"/><Relationship Id="rId4" Type="http://schemas.openxmlformats.org/officeDocument/2006/relationships/image" Target="../media/image27.wmf"/></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4154559016"/>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2880000" y="144000"/>
            <a:ext cx="3384000" cy="338554"/>
          </a:xfrm>
        </p:spPr>
        <p:txBody>
          <a:bodyPr/>
          <a:lstStyle/>
          <a:p>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5"/>
          <p:cNvSpPr>
            <a:spLocks noChangeArrowheads="1"/>
          </p:cNvSpPr>
          <p:nvPr/>
        </p:nvSpPr>
        <p:spPr bwMode="auto">
          <a:xfrm>
            <a:off x="545143" y="614807"/>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3186846" y="572536"/>
            <a:ext cx="2770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6.1.1  </a:t>
            </a:r>
            <a:r>
              <a:rPr lang="zh-CN" altLang="en-US" sz="2400" b="1" dirty="0">
                <a:solidFill>
                  <a:schemeClr val="bg1"/>
                </a:solidFill>
                <a:latin typeface="微软雅黑 Light" panose="020B0502040204020203" pitchFamily="34" charset="-122"/>
                <a:ea typeface="微软雅黑 Light" panose="020B0502040204020203" pitchFamily="34" charset="-122"/>
              </a:rPr>
              <a:t>域名系统概述</a:t>
            </a:r>
          </a:p>
        </p:txBody>
      </p:sp>
      <p:sp>
        <p:nvSpPr>
          <p:cNvPr id="15" name="Rectangle 8"/>
          <p:cNvSpPr>
            <a:spLocks noChangeArrowheads="1"/>
          </p:cNvSpPr>
          <p:nvPr/>
        </p:nvSpPr>
        <p:spPr bwMode="auto">
          <a:xfrm>
            <a:off x="545143" y="1003858"/>
            <a:ext cx="8053711" cy="15286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8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域名系统 </a:t>
            </a:r>
            <a:r>
              <a:rPr lang="en-US" altLang="zh-CN" sz="2000" b="1" dirty="0">
                <a:solidFill>
                  <a:srgbClr val="C00000"/>
                </a:solidFill>
                <a:latin typeface="微软雅黑 Light" panose="020B0502040204020203" pitchFamily="34" charset="-122"/>
                <a:ea typeface="微软雅黑 Light" panose="020B0502040204020203" pitchFamily="34" charset="-122"/>
              </a:rPr>
              <a:t>DNS </a:t>
            </a:r>
            <a:r>
              <a:rPr lang="en-US" altLang="zh-CN" sz="2000" b="1" dirty="0">
                <a:latin typeface="微软雅黑 Light" panose="020B0502040204020203" pitchFamily="34" charset="-122"/>
                <a:ea typeface="微软雅黑 Light" panose="020B0502040204020203" pitchFamily="34" charset="-122"/>
              </a:rPr>
              <a:t>(Domain Name System)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互联网使用的命名系统。</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用来把人们使用的机器</a:t>
            </a:r>
            <a:r>
              <a:rPr lang="zh-CN" altLang="en-US" sz="2000" b="1" dirty="0">
                <a:solidFill>
                  <a:srgbClr val="0000FF"/>
                </a:solidFill>
                <a:latin typeface="微软雅黑 Light" panose="020B0502040204020203" pitchFamily="34" charset="-122"/>
                <a:ea typeface="微软雅黑 Light" panose="020B0502040204020203" pitchFamily="34" charset="-122"/>
              </a:rPr>
              <a:t>名字（域名）转换为 </a:t>
            </a:r>
            <a:r>
              <a:rPr lang="en-US" altLang="zh-CN" sz="2000" b="1" dirty="0">
                <a:solidFill>
                  <a:srgbClr val="0000FF"/>
                </a:solidFill>
                <a:latin typeface="微软雅黑 Light" panose="020B0502040204020203" pitchFamily="34" charset="-122"/>
                <a:ea typeface="微软雅黑 Light" panose="020B0502040204020203" pitchFamily="34" charset="-122"/>
              </a:rPr>
              <a:t>IP </a:t>
            </a:r>
            <a:r>
              <a:rPr lang="zh-CN" altLang="en-US" sz="2000" b="1" dirty="0">
                <a:solidFill>
                  <a:srgbClr val="0000FF"/>
                </a:solidFill>
                <a:latin typeface="微软雅黑 Light" panose="020B0502040204020203" pitchFamily="34" charset="-122"/>
                <a:ea typeface="微软雅黑 Light" panose="020B0502040204020203" pitchFamily="34" charset="-122"/>
              </a:rPr>
              <a:t>地址。</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为互联网的各种网络应用提供了核心服务。</a:t>
            </a:r>
            <a:endParaRPr lang="en-US" altLang="zh-CN" sz="2000" b="1" dirty="0">
              <a:latin typeface="微软雅黑 Light" panose="020B0502040204020203" pitchFamily="34" charset="-122"/>
              <a:ea typeface="微软雅黑 Light" panose="020B0502040204020203" pitchFamily="34" charset="-122"/>
            </a:endParaRPr>
          </a:p>
        </p:txBody>
      </p:sp>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5"/>
          <p:cNvSpPr>
            <a:spLocks noChangeArrowheads="1"/>
          </p:cNvSpPr>
          <p:nvPr/>
        </p:nvSpPr>
        <p:spPr bwMode="auto">
          <a:xfrm>
            <a:off x="545143" y="614807"/>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3186846" y="572536"/>
            <a:ext cx="2770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6.1.1  </a:t>
            </a:r>
            <a:r>
              <a:rPr lang="zh-CN" altLang="en-US" sz="2400" b="1" dirty="0">
                <a:solidFill>
                  <a:schemeClr val="bg1"/>
                </a:solidFill>
                <a:latin typeface="微软雅黑 Light" panose="020B0502040204020203" pitchFamily="34" charset="-122"/>
                <a:ea typeface="微软雅黑 Light" panose="020B0502040204020203" pitchFamily="34" charset="-122"/>
              </a:rPr>
              <a:t>域名系统概述</a:t>
            </a:r>
          </a:p>
        </p:txBody>
      </p:sp>
      <p:sp>
        <p:nvSpPr>
          <p:cNvPr id="15" name="Rectangle 8"/>
          <p:cNvSpPr>
            <a:spLocks noChangeArrowheads="1"/>
          </p:cNvSpPr>
          <p:nvPr/>
        </p:nvSpPr>
        <p:spPr bwMode="auto">
          <a:xfrm>
            <a:off x="545143" y="1003858"/>
            <a:ext cx="8053711" cy="441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域名</a:t>
            </a:r>
            <a:r>
              <a:rPr lang="zh-CN" altLang="en-US" sz="2000" b="1" dirty="0">
                <a:latin typeface="微软雅黑 Light" panose="020B0502040204020203" pitchFamily="34" charset="-122"/>
                <a:ea typeface="微软雅黑 Light" panose="020B0502040204020203" pitchFamily="34" charset="-122"/>
              </a:rPr>
              <a:t>采用层次</a:t>
            </a:r>
            <a:r>
              <a:rPr lang="zh-CN" altLang="en-US" sz="2000" b="1" dirty="0">
                <a:solidFill>
                  <a:srgbClr val="C00000"/>
                </a:solidFill>
                <a:latin typeface="微软雅黑 Light" panose="020B0502040204020203" pitchFamily="34" charset="-122"/>
                <a:ea typeface="微软雅黑 Light" panose="020B0502040204020203" pitchFamily="34" charset="-122"/>
              </a:rPr>
              <a:t>树状结构</a:t>
            </a:r>
            <a:r>
              <a:rPr lang="zh-CN" altLang="en-US" sz="2000" b="1" dirty="0">
                <a:latin typeface="微软雅黑 Light" panose="020B0502040204020203" pitchFamily="34" charset="-122"/>
                <a:ea typeface="微软雅黑 Light" panose="020B0502040204020203" pitchFamily="34" charset="-122"/>
              </a:rPr>
              <a:t>的命名方法：</a:t>
            </a:r>
            <a:r>
              <a:rPr lang="en-US" altLang="zh-CN" sz="2000" b="1" dirty="0">
                <a:latin typeface="微软雅黑 Light" panose="020B0502040204020203" pitchFamily="34" charset="-122"/>
                <a:ea typeface="微软雅黑 Light" panose="020B0502040204020203" pitchFamily="34" charset="-122"/>
              </a:rPr>
              <a:t>www.myschool.edu</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grpSp>
        <p:nvGrpSpPr>
          <p:cNvPr id="2" name="组合 1"/>
          <p:cNvGrpSpPr/>
          <p:nvPr/>
        </p:nvGrpSpPr>
        <p:grpSpPr>
          <a:xfrm>
            <a:off x="6641647" y="1375130"/>
            <a:ext cx="2193030" cy="1862993"/>
            <a:chOff x="4235802" y="1499417"/>
            <a:chExt cx="2193030" cy="1862993"/>
          </a:xfrm>
        </p:grpSpPr>
        <p:sp>
          <p:nvSpPr>
            <p:cNvPr id="5" name="Rectangle 122"/>
            <p:cNvSpPr>
              <a:spLocks noChangeArrowheads="1"/>
            </p:cNvSpPr>
            <p:nvPr/>
          </p:nvSpPr>
          <p:spPr bwMode="auto">
            <a:xfrm>
              <a:off x="4774221" y="1499417"/>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rgbClr val="0000FF"/>
                  </a:solidFill>
                  <a:latin typeface="微软雅黑 Light" panose="020B0502040204020203" pitchFamily="34" charset="-122"/>
                  <a:ea typeface="微软雅黑 Light" panose="020B0502040204020203" pitchFamily="34" charset="-122"/>
                </a:rPr>
                <a:t>根</a:t>
              </a:r>
            </a:p>
          </p:txBody>
        </p:sp>
        <p:sp>
          <p:nvSpPr>
            <p:cNvPr id="19" name="Text Box 105"/>
            <p:cNvSpPr txBox="1">
              <a:spLocks noChangeArrowheads="1"/>
            </p:cNvSpPr>
            <p:nvPr/>
          </p:nvSpPr>
          <p:spPr bwMode="auto">
            <a:xfrm>
              <a:off x="5796446" y="2634960"/>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25" name="Text Box 124"/>
            <p:cNvSpPr txBox="1">
              <a:spLocks noChangeArrowheads="1"/>
            </p:cNvSpPr>
            <p:nvPr/>
          </p:nvSpPr>
          <p:spPr bwMode="auto">
            <a:xfrm>
              <a:off x="4868740" y="2687209"/>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myschool</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28" name="Line 142"/>
            <p:cNvSpPr>
              <a:spLocks noChangeShapeType="1"/>
            </p:cNvSpPr>
            <p:nvPr/>
          </p:nvSpPr>
          <p:spPr bwMode="auto">
            <a:xfrm>
              <a:off x="5304275" y="2420677"/>
              <a:ext cx="81165" cy="3242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Line 143"/>
            <p:cNvSpPr>
              <a:spLocks noChangeShapeType="1"/>
            </p:cNvSpPr>
            <p:nvPr/>
          </p:nvSpPr>
          <p:spPr bwMode="auto">
            <a:xfrm>
              <a:off x="5304275" y="2433600"/>
              <a:ext cx="557632" cy="29112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Line 144"/>
            <p:cNvSpPr>
              <a:spLocks noChangeShapeType="1"/>
            </p:cNvSpPr>
            <p:nvPr/>
          </p:nvSpPr>
          <p:spPr bwMode="auto">
            <a:xfrm flipV="1">
              <a:off x="4893212" y="2445345"/>
              <a:ext cx="411062" cy="27938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5" name="Group 162"/>
            <p:cNvGrpSpPr>
              <a:grpSpLocks/>
            </p:cNvGrpSpPr>
            <p:nvPr/>
          </p:nvGrpSpPr>
          <p:grpSpPr bwMode="auto">
            <a:xfrm>
              <a:off x="4566141" y="2421987"/>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8" name="Group 177"/>
            <p:cNvGrpSpPr>
              <a:grpSpLocks/>
            </p:cNvGrpSpPr>
            <p:nvPr/>
          </p:nvGrpSpPr>
          <p:grpSpPr bwMode="auto">
            <a:xfrm>
              <a:off x="5642797" y="2421987"/>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73" name="Text Box 150"/>
            <p:cNvSpPr txBox="1">
              <a:spLocks noChangeArrowheads="1"/>
            </p:cNvSpPr>
            <p:nvPr/>
          </p:nvSpPr>
          <p:spPr bwMode="auto">
            <a:xfrm>
              <a:off x="5268039" y="3054633"/>
              <a:ext cx="579005"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www</a:t>
              </a:r>
            </a:p>
          </p:txBody>
        </p:sp>
        <p:sp>
          <p:nvSpPr>
            <p:cNvPr id="74" name="Text Box 152"/>
            <p:cNvSpPr txBox="1">
              <a:spLocks noChangeArrowheads="1"/>
            </p:cNvSpPr>
            <p:nvPr/>
          </p:nvSpPr>
          <p:spPr bwMode="auto">
            <a:xfrm>
              <a:off x="4632836" y="263460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76" name="Line 154"/>
            <p:cNvSpPr>
              <a:spLocks noChangeShapeType="1"/>
            </p:cNvSpPr>
            <p:nvPr/>
          </p:nvSpPr>
          <p:spPr bwMode="auto">
            <a:xfrm>
              <a:off x="5469063" y="2955536"/>
              <a:ext cx="130465" cy="18602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Text Box 107"/>
            <p:cNvSpPr txBox="1">
              <a:spLocks noChangeArrowheads="1"/>
            </p:cNvSpPr>
            <p:nvPr/>
          </p:nvSpPr>
          <p:spPr bwMode="auto">
            <a:xfrm>
              <a:off x="4521599" y="2165889"/>
              <a:ext cx="5389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02" name="Text Box 109"/>
            <p:cNvSpPr txBox="1">
              <a:spLocks noChangeArrowheads="1"/>
            </p:cNvSpPr>
            <p:nvPr/>
          </p:nvSpPr>
          <p:spPr bwMode="auto">
            <a:xfrm>
              <a:off x="5053565" y="2165889"/>
              <a:ext cx="4956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3" name="Text Box 110"/>
            <p:cNvSpPr txBox="1">
              <a:spLocks noChangeArrowheads="1"/>
            </p:cNvSpPr>
            <p:nvPr/>
          </p:nvSpPr>
          <p:spPr bwMode="auto">
            <a:xfrm>
              <a:off x="5599528" y="2165889"/>
              <a:ext cx="4908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10" name="Line 134"/>
            <p:cNvSpPr>
              <a:spLocks noChangeShapeType="1"/>
            </p:cNvSpPr>
            <p:nvPr/>
          </p:nvSpPr>
          <p:spPr bwMode="auto">
            <a:xfrm flipH="1">
              <a:off x="4427415" y="1791531"/>
              <a:ext cx="559882" cy="4361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135"/>
            <p:cNvSpPr>
              <a:spLocks noChangeShapeType="1"/>
            </p:cNvSpPr>
            <p:nvPr/>
          </p:nvSpPr>
          <p:spPr bwMode="auto">
            <a:xfrm flipH="1">
              <a:off x="4785027" y="1800409"/>
              <a:ext cx="187090" cy="42727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136"/>
            <p:cNvSpPr>
              <a:spLocks noChangeShapeType="1"/>
            </p:cNvSpPr>
            <p:nvPr/>
          </p:nvSpPr>
          <p:spPr bwMode="auto">
            <a:xfrm>
              <a:off x="4987388" y="1809942"/>
              <a:ext cx="316887" cy="42878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137"/>
            <p:cNvSpPr>
              <a:spLocks noChangeShapeType="1"/>
            </p:cNvSpPr>
            <p:nvPr/>
          </p:nvSpPr>
          <p:spPr bwMode="auto">
            <a:xfrm>
              <a:off x="4984843" y="1800544"/>
              <a:ext cx="866668" cy="4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38"/>
            <p:cNvSpPr>
              <a:spLocks noChangeShapeType="1"/>
            </p:cNvSpPr>
            <p:nvPr/>
          </p:nvSpPr>
          <p:spPr bwMode="auto">
            <a:xfrm>
              <a:off x="5001387" y="1792321"/>
              <a:ext cx="1259701" cy="43935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Text Box 141"/>
            <p:cNvSpPr txBox="1">
              <a:spLocks noChangeArrowheads="1"/>
            </p:cNvSpPr>
            <p:nvPr/>
          </p:nvSpPr>
          <p:spPr bwMode="auto">
            <a:xfrm>
              <a:off x="4235802" y="211889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18" name="Text Box 207"/>
            <p:cNvSpPr txBox="1">
              <a:spLocks noChangeArrowheads="1"/>
            </p:cNvSpPr>
            <p:nvPr/>
          </p:nvSpPr>
          <p:spPr bwMode="auto">
            <a:xfrm>
              <a:off x="6114322" y="211889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119" name="Rectangle 8"/>
          <p:cNvSpPr>
            <a:spLocks noChangeArrowheads="1"/>
          </p:cNvSpPr>
          <p:nvPr/>
        </p:nvSpPr>
        <p:spPr bwMode="auto">
          <a:xfrm>
            <a:off x="545143" y="1419520"/>
            <a:ext cx="578658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DNS </a:t>
            </a:r>
            <a:r>
              <a:rPr lang="zh-CN" altLang="en-US" sz="2000" b="1" dirty="0">
                <a:latin typeface="微软雅黑 Light" panose="020B0502040204020203" pitchFamily="34" charset="-122"/>
                <a:ea typeface="微软雅黑 Light" panose="020B0502040204020203" pitchFamily="34" charset="-122"/>
              </a:rPr>
              <a:t>是一个联机</a:t>
            </a:r>
            <a:r>
              <a:rPr lang="zh-CN" altLang="en-US" sz="2000" b="1" dirty="0">
                <a:solidFill>
                  <a:srgbClr val="C00000"/>
                </a:solidFill>
                <a:latin typeface="微软雅黑 Light" panose="020B0502040204020203" pitchFamily="34" charset="-122"/>
                <a:ea typeface="微软雅黑 Light" panose="020B0502040204020203" pitchFamily="34" charset="-122"/>
              </a:rPr>
              <a:t>分布式数据库系统，</a:t>
            </a:r>
            <a:r>
              <a:rPr lang="zh-CN" altLang="en-US" sz="2000" b="1" dirty="0">
                <a:latin typeface="微软雅黑 Light" panose="020B0502040204020203" pitchFamily="34" charset="-122"/>
                <a:ea typeface="微软雅黑 Light" panose="020B0502040204020203" pitchFamily="34" charset="-122"/>
              </a:rPr>
              <a:t>采用</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域名到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地址的解析是由若干个</a:t>
            </a:r>
            <a:r>
              <a:rPr lang="zh-CN" altLang="en-US" sz="2000" b="1" dirty="0">
                <a:solidFill>
                  <a:srgbClr val="C00000"/>
                </a:solidFill>
                <a:latin typeface="微软雅黑 Light" panose="020B0502040204020203" pitchFamily="34" charset="-122"/>
                <a:ea typeface="微软雅黑 Light" panose="020B0502040204020203" pitchFamily="34" charset="-122"/>
              </a:rPr>
              <a:t>域名服务器程序</a:t>
            </a:r>
            <a:r>
              <a:rPr lang="zh-CN" altLang="en-US" sz="2000" b="1" dirty="0">
                <a:latin typeface="微软雅黑 Light" panose="020B0502040204020203" pitchFamily="34" charset="-122"/>
                <a:ea typeface="微软雅黑 Light" panose="020B0502040204020203" pitchFamily="34" charset="-122"/>
              </a:rPr>
              <a:t>共同完成。</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域名服务器程序在专设的结点上运行，运行该程序的机器称为</a:t>
            </a:r>
            <a:r>
              <a:rPr lang="zh-CN" altLang="en-US" sz="2000" b="1" dirty="0">
                <a:solidFill>
                  <a:srgbClr val="C00000"/>
                </a:solidFill>
                <a:latin typeface="微软雅黑 Light" panose="020B0502040204020203" pitchFamily="34" charset="-122"/>
                <a:ea typeface="微软雅黑 Light" panose="020B0502040204020203" pitchFamily="34" charset="-122"/>
              </a:rPr>
              <a:t>域名服务器。</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9">
                                            <p:txEl>
                                              <p:pRg st="0" end="0"/>
                                            </p:txEl>
                                          </p:spTgt>
                                        </p:tgtEl>
                                        <p:attrNameLst>
                                          <p:attrName>style.visibility</p:attrName>
                                        </p:attrNameLst>
                                      </p:cBhvr>
                                      <p:to>
                                        <p:strVal val="visible"/>
                                      </p:to>
                                    </p:set>
                                    <p:animEffect transition="in" filter="wipe(up)">
                                      <p:cBhvr>
                                        <p:cTn id="12" dur="1000"/>
                                        <p:tgtEl>
                                          <p:spTgt spid="11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19">
                                            <p:txEl>
                                              <p:pRg st="1" end="1"/>
                                            </p:txEl>
                                          </p:spTgt>
                                        </p:tgtEl>
                                        <p:attrNameLst>
                                          <p:attrName>style.visibility</p:attrName>
                                        </p:attrNameLst>
                                      </p:cBhvr>
                                      <p:to>
                                        <p:strVal val="visible"/>
                                      </p:to>
                                    </p:set>
                                    <p:animEffect transition="in" filter="wipe(up)">
                                      <p:cBhvr>
                                        <p:cTn id="17" dur="1000"/>
                                        <p:tgtEl>
                                          <p:spTgt spid="11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19">
                                            <p:txEl>
                                              <p:pRg st="2" end="2"/>
                                            </p:txEl>
                                          </p:spTgt>
                                        </p:tgtEl>
                                        <p:attrNameLst>
                                          <p:attrName>style.visibility</p:attrName>
                                        </p:attrNameLst>
                                      </p:cBhvr>
                                      <p:to>
                                        <p:strVal val="visible"/>
                                      </p:to>
                                    </p:set>
                                    <p:animEffect transition="in" filter="wipe(up)">
                                      <p:cBhvr>
                                        <p:cTn id="22" dur="1000"/>
                                        <p:tgtEl>
                                          <p:spTgt spid="11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9"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3499235" y="475493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AutoShape 5"/>
          <p:cNvSpPr>
            <a:spLocks noChangeArrowheads="1"/>
          </p:cNvSpPr>
          <p:nvPr/>
        </p:nvSpPr>
        <p:spPr bwMode="auto">
          <a:xfrm>
            <a:off x="545143" y="615484"/>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09" name="Rectangle 6"/>
          <p:cNvSpPr>
            <a:spLocks noChangeArrowheads="1"/>
          </p:cNvSpPr>
          <p:nvPr/>
        </p:nvSpPr>
        <p:spPr bwMode="auto">
          <a:xfrm>
            <a:off x="2739609" y="573213"/>
            <a:ext cx="36647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6.1.2   </a:t>
            </a:r>
            <a:r>
              <a:rPr lang="zh-CN" altLang="en-US" sz="2400" b="1" dirty="0">
                <a:solidFill>
                  <a:schemeClr val="bg1"/>
                </a:solidFill>
                <a:latin typeface="微软雅黑 Light" panose="020B0502040204020203" pitchFamily="34" charset="-122"/>
                <a:ea typeface="微软雅黑 Light" panose="020B0502040204020203" pitchFamily="34" charset="-122"/>
              </a:rPr>
              <a:t>互联网的域名结构</a:t>
            </a:r>
          </a:p>
        </p:txBody>
      </p:sp>
      <p:sp>
        <p:nvSpPr>
          <p:cNvPr id="110" name="Rectangle 8"/>
          <p:cNvSpPr>
            <a:spLocks noChangeArrowheads="1"/>
          </p:cNvSpPr>
          <p:nvPr/>
        </p:nvSpPr>
        <p:spPr bwMode="auto">
          <a:xfrm>
            <a:off x="545143" y="1028509"/>
            <a:ext cx="8053711" cy="27853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命名方法：</a:t>
            </a:r>
            <a:r>
              <a:rPr lang="zh-CN" altLang="en-US" sz="2000" b="1" dirty="0">
                <a:latin typeface="微软雅黑 Light" panose="020B0502040204020203" pitchFamily="34" charset="-122"/>
                <a:ea typeface="微软雅黑 Light" panose="020B0502040204020203" pitchFamily="34" charset="-122"/>
              </a:rPr>
              <a:t>层次</a:t>
            </a:r>
            <a:r>
              <a:rPr lang="zh-CN" altLang="en-US" sz="2000" b="1" dirty="0">
                <a:solidFill>
                  <a:srgbClr val="0000FF"/>
                </a:solidFill>
                <a:latin typeface="微软雅黑 Light" panose="020B0502040204020203" pitchFamily="34" charset="-122"/>
                <a:ea typeface="微软雅黑 Light" panose="020B0502040204020203" pitchFamily="34" charset="-122"/>
              </a:rPr>
              <a:t>树状</a:t>
            </a:r>
            <a:r>
              <a:rPr lang="zh-CN" altLang="en-US" sz="2000" b="1" dirty="0">
                <a:latin typeface="微软雅黑 Light" panose="020B0502040204020203" pitchFamily="34" charset="-122"/>
                <a:ea typeface="微软雅黑 Light" panose="020B0502040204020203" pitchFamily="34" charset="-122"/>
              </a:rPr>
              <a:t>结构方法。</a:t>
            </a:r>
          </a:p>
          <a:p>
            <a:pPr marL="285750" indent="-28575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任何一个连接在互联网上的主机或路由器，都有一个</a:t>
            </a:r>
            <a:r>
              <a:rPr lang="zh-CN" altLang="en-US" sz="2000" b="1" dirty="0">
                <a:solidFill>
                  <a:srgbClr val="0000FF"/>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的层次结构的名字，即</a:t>
            </a:r>
            <a:r>
              <a:rPr lang="zh-CN" altLang="en-US" sz="2000" b="1" dirty="0">
                <a:solidFill>
                  <a:srgbClr val="0000FF"/>
                </a:solidFill>
                <a:latin typeface="微软雅黑 Light" panose="020B0502040204020203" pitchFamily="34" charset="-122"/>
                <a:ea typeface="微软雅黑 Light" panose="020B0502040204020203" pitchFamily="34" charset="-122"/>
              </a:rPr>
              <a:t>域名 </a:t>
            </a:r>
            <a:r>
              <a:rPr lang="en-US" altLang="zh-CN" sz="2000" b="1" dirty="0">
                <a:latin typeface="微软雅黑 Light" panose="020B0502040204020203" pitchFamily="34" charset="-122"/>
                <a:ea typeface="微软雅黑 Light" panose="020B0502040204020203" pitchFamily="34" charset="-122"/>
              </a:rPr>
              <a:t>(domain name)</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域 </a:t>
            </a:r>
            <a:r>
              <a:rPr lang="en-US" altLang="zh-CN" sz="2000" b="1" dirty="0">
                <a:solidFill>
                  <a:srgbClr val="C00000"/>
                </a:solidFill>
                <a:latin typeface="微软雅黑 Light" panose="020B0502040204020203" pitchFamily="34" charset="-122"/>
                <a:ea typeface="微软雅黑 Light" panose="020B0502040204020203" pitchFamily="34" charset="-122"/>
              </a:rPr>
              <a:t>(domain)</a:t>
            </a:r>
            <a:r>
              <a:rPr lang="zh-CN" altLang="en-US" sz="2000" b="1" dirty="0">
                <a:solidFill>
                  <a:srgbClr val="C00000"/>
                </a:solidFill>
                <a:latin typeface="微软雅黑 Light" panose="020B0502040204020203" pitchFamily="34" charset="-122"/>
                <a:ea typeface="微软雅黑 Light" panose="020B0502040204020203" pitchFamily="34" charset="-122"/>
              </a:rPr>
              <a:t>：</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名字空间中一个</a:t>
            </a:r>
            <a:r>
              <a:rPr lang="zh-CN" altLang="en-US" sz="2000" b="1" dirty="0">
                <a:solidFill>
                  <a:srgbClr val="0000FF"/>
                </a:solidFill>
                <a:latin typeface="微软雅黑 Light" panose="020B0502040204020203" pitchFamily="34" charset="-122"/>
                <a:ea typeface="微软雅黑 Light" panose="020B0502040204020203" pitchFamily="34" charset="-122"/>
              </a:rPr>
              <a:t>可被管理</a:t>
            </a:r>
            <a:r>
              <a:rPr lang="zh-CN" altLang="en-US" sz="2000" b="1" dirty="0">
                <a:latin typeface="微软雅黑 Light" panose="020B0502040204020203" pitchFamily="34" charset="-122"/>
                <a:ea typeface="微软雅黑 Light" panose="020B0502040204020203" pitchFamily="34" charset="-122"/>
              </a:rPr>
              <a:t>的划分。</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可以划分为</a:t>
            </a:r>
            <a:r>
              <a:rPr lang="zh-CN" altLang="en-US" sz="2000" b="1" dirty="0">
                <a:solidFill>
                  <a:srgbClr val="0000FF"/>
                </a:solidFill>
                <a:latin typeface="微软雅黑 Light" panose="020B0502040204020203" pitchFamily="34" charset="-122"/>
                <a:ea typeface="微软雅黑 Light" panose="020B0502040204020203" pitchFamily="34" charset="-122"/>
              </a:rPr>
              <a:t>子域，</a:t>
            </a:r>
            <a:r>
              <a:rPr lang="zh-CN" altLang="en-US" sz="2000" b="1" dirty="0">
                <a:latin typeface="微软雅黑 Light" panose="020B0502040204020203" pitchFamily="34" charset="-122"/>
                <a:ea typeface="微软雅黑 Light" panose="020B0502040204020203" pitchFamily="34" charset="-122"/>
              </a:rPr>
              <a:t>而子域还可继续划分为子域的子域，这样就形成了顶级域、二级域、三级域，等等。</a:t>
            </a:r>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AutoShape 5"/>
          <p:cNvSpPr>
            <a:spLocks noChangeArrowheads="1"/>
          </p:cNvSpPr>
          <p:nvPr/>
        </p:nvSpPr>
        <p:spPr bwMode="auto">
          <a:xfrm>
            <a:off x="545143" y="615484"/>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09" name="Rectangle 6"/>
          <p:cNvSpPr>
            <a:spLocks noChangeArrowheads="1"/>
          </p:cNvSpPr>
          <p:nvPr/>
        </p:nvSpPr>
        <p:spPr bwMode="auto">
          <a:xfrm>
            <a:off x="2739609" y="573213"/>
            <a:ext cx="36647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6.1.2   </a:t>
            </a:r>
            <a:r>
              <a:rPr lang="zh-CN" altLang="en-US" sz="2400" b="1" dirty="0">
                <a:solidFill>
                  <a:schemeClr val="bg1"/>
                </a:solidFill>
                <a:latin typeface="微软雅黑 Light" panose="020B0502040204020203" pitchFamily="34" charset="-122"/>
                <a:ea typeface="微软雅黑 Light" panose="020B0502040204020203" pitchFamily="34" charset="-122"/>
              </a:rPr>
              <a:t>互联网的域名结构</a:t>
            </a:r>
          </a:p>
        </p:txBody>
      </p:sp>
      <p:sp>
        <p:nvSpPr>
          <p:cNvPr id="110" name="Rectangle 8"/>
          <p:cNvSpPr>
            <a:spLocks noChangeArrowheads="1"/>
          </p:cNvSpPr>
          <p:nvPr/>
        </p:nvSpPr>
        <p:spPr bwMode="auto">
          <a:xfrm>
            <a:off x="545143" y="1028509"/>
            <a:ext cx="8053711" cy="893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域名结构：</a:t>
            </a:r>
            <a:r>
              <a:rPr lang="zh-CN" altLang="en-US" sz="2000" b="1" dirty="0">
                <a:solidFill>
                  <a:srgbClr val="0000FF"/>
                </a:solidFill>
                <a:latin typeface="微软雅黑 Light" panose="020B0502040204020203" pitchFamily="34" charset="-122"/>
                <a:ea typeface="微软雅黑 Light" panose="020B0502040204020203" pitchFamily="34" charset="-122"/>
              </a:rPr>
              <a:t>层次结构。</a:t>
            </a:r>
            <a:r>
              <a:rPr lang="zh-CN" altLang="en-US" sz="2000" b="1" dirty="0">
                <a:latin typeface="微软雅黑 Light" panose="020B0502040204020203" pitchFamily="34" charset="-122"/>
                <a:ea typeface="微软雅黑 Light" panose="020B0502040204020203" pitchFamily="34" charset="-122"/>
              </a:rPr>
              <a:t>由标号 </a:t>
            </a:r>
            <a:r>
              <a:rPr lang="en-US" altLang="zh-CN" sz="2000" b="1" dirty="0">
                <a:latin typeface="微软雅黑 Light" panose="020B0502040204020203" pitchFamily="34" charset="-122"/>
                <a:ea typeface="微软雅黑 Light" panose="020B0502040204020203" pitchFamily="34" charset="-122"/>
              </a:rPr>
              <a:t>(label) </a:t>
            </a:r>
            <a:r>
              <a:rPr lang="zh-CN" altLang="en-US" sz="2000" b="1" dirty="0">
                <a:latin typeface="微软雅黑 Light" panose="020B0502040204020203" pitchFamily="34" charset="-122"/>
                <a:ea typeface="微软雅黑 Light" panose="020B0502040204020203" pitchFamily="34" charset="-122"/>
              </a:rPr>
              <a:t>序列组成，各标号之间用点（</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）隔开，各标号分别代表不同级别的域名。</a:t>
            </a:r>
          </a:p>
        </p:txBody>
      </p:sp>
      <p:sp>
        <p:nvSpPr>
          <p:cNvPr id="17" name="矩形 16"/>
          <p:cNvSpPr/>
          <p:nvPr/>
        </p:nvSpPr>
        <p:spPr>
          <a:xfrm>
            <a:off x="2902003" y="2848210"/>
            <a:ext cx="2134148" cy="400110"/>
          </a:xfrm>
          <a:prstGeom prst="rect">
            <a:avLst/>
          </a:prstGeom>
          <a:noFill/>
          <a:ln w="3810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79465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000" b="1" dirty="0">
                <a:solidFill>
                  <a:srgbClr val="C00000"/>
                </a:solidFill>
                <a:latin typeface="微软雅黑 Light" panose="020B0502040204020203" pitchFamily="34" charset="-122"/>
                <a:ea typeface="微软雅黑 Light" panose="020B0502040204020203" pitchFamily="34" charset="-122"/>
              </a:rPr>
              <a:t>mail.cctv.com </a:t>
            </a:r>
          </a:p>
        </p:txBody>
      </p:sp>
      <p:grpSp>
        <p:nvGrpSpPr>
          <p:cNvPr id="14" name="组合 13"/>
          <p:cNvGrpSpPr/>
          <p:nvPr/>
        </p:nvGrpSpPr>
        <p:grpSpPr>
          <a:xfrm>
            <a:off x="2242227" y="3156184"/>
            <a:ext cx="3654627" cy="914180"/>
            <a:chOff x="2014957" y="2987504"/>
            <a:chExt cx="3654627" cy="914180"/>
          </a:xfrm>
        </p:grpSpPr>
        <p:sp>
          <p:nvSpPr>
            <p:cNvPr id="7" name="Text Box 8"/>
            <p:cNvSpPr txBox="1">
              <a:spLocks noChangeArrowheads="1"/>
            </p:cNvSpPr>
            <p:nvPr/>
          </p:nvSpPr>
          <p:spPr bwMode="auto">
            <a:xfrm>
              <a:off x="2123250" y="3274842"/>
              <a:ext cx="336181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a:latin typeface="微软雅黑 Light" panose="020B0502040204020203" pitchFamily="34" charset="-122"/>
                  <a:ea typeface="微软雅黑 Light" panose="020B0502040204020203" pitchFamily="34" charset="-122"/>
                </a:rPr>
                <a:t>三级域名 </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二级域名 </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3" name="矩形 2"/>
            <p:cNvSpPr/>
            <p:nvPr/>
          </p:nvSpPr>
          <p:spPr>
            <a:xfrm>
              <a:off x="2014957" y="3563130"/>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（级别最低）</a:t>
              </a:r>
            </a:p>
          </p:txBody>
        </p:sp>
        <p:sp>
          <p:nvSpPr>
            <p:cNvPr id="12" name="矩形 11"/>
            <p:cNvSpPr/>
            <p:nvPr/>
          </p:nvSpPr>
          <p:spPr>
            <a:xfrm>
              <a:off x="4253812" y="3563130"/>
              <a:ext cx="1415772" cy="338554"/>
            </a:xfrm>
            <a:prstGeom prst="rect">
              <a:avLst/>
            </a:prstGeom>
          </p:spPr>
          <p:txBody>
            <a:bodyPr wrap="none">
              <a:spAutoFit/>
            </a:bodyPr>
            <a:lstStyle/>
            <a:p>
              <a:r>
                <a:rPr lang="zh-CN" altLang="en-US" sz="1600" b="1" dirty="0">
                  <a:solidFill>
                    <a:srgbClr val="9900FF"/>
                  </a:solidFill>
                  <a:latin typeface="微软雅黑 Light" panose="020B0502040204020203" pitchFamily="34" charset="-122"/>
                  <a:ea typeface="微软雅黑 Light" panose="020B0502040204020203" pitchFamily="34" charset="-122"/>
                </a:rPr>
                <a:t>（级别最高）</a:t>
              </a:r>
            </a:p>
          </p:txBody>
        </p:sp>
      </p:grpSp>
      <p:grpSp>
        <p:nvGrpSpPr>
          <p:cNvPr id="18" name="组合 17"/>
          <p:cNvGrpSpPr/>
          <p:nvPr/>
        </p:nvGrpSpPr>
        <p:grpSpPr>
          <a:xfrm>
            <a:off x="1316609" y="2062198"/>
            <a:ext cx="2816797" cy="916986"/>
            <a:chOff x="3660125" y="2092751"/>
            <a:chExt cx="2816797" cy="1090208"/>
          </a:xfrm>
        </p:grpSpPr>
        <p:sp>
          <p:nvSpPr>
            <p:cNvPr id="4" name="矩形 3"/>
            <p:cNvSpPr/>
            <p:nvPr/>
          </p:nvSpPr>
          <p:spPr>
            <a:xfrm>
              <a:off x="3660125" y="2092751"/>
              <a:ext cx="2816797" cy="402508"/>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每一个标号不超过 </a:t>
              </a:r>
              <a:r>
                <a:rPr lang="en-US" altLang="zh-CN" sz="1600" b="1" dirty="0">
                  <a:latin typeface="微软雅黑 Light" panose="020B0502040204020203" pitchFamily="34" charset="-122"/>
                  <a:ea typeface="微软雅黑 Light" panose="020B0502040204020203" pitchFamily="34" charset="-122"/>
                </a:rPr>
                <a:t>63 </a:t>
              </a:r>
              <a:r>
                <a:rPr lang="zh-CN" altLang="en-US" sz="1600" b="1" dirty="0">
                  <a:latin typeface="微软雅黑 Light" panose="020B0502040204020203" pitchFamily="34" charset="-122"/>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grpSp>
      <p:grpSp>
        <p:nvGrpSpPr>
          <p:cNvPr id="19" name="组合 18"/>
          <p:cNvGrpSpPr/>
          <p:nvPr/>
        </p:nvGrpSpPr>
        <p:grpSpPr>
          <a:xfrm>
            <a:off x="1751022" y="2400264"/>
            <a:ext cx="1826141" cy="556780"/>
            <a:chOff x="4242919" y="2380321"/>
            <a:chExt cx="1826141" cy="661958"/>
          </a:xfrm>
        </p:grpSpPr>
        <p:sp>
          <p:nvSpPr>
            <p:cNvPr id="5" name="矩形 4"/>
            <p:cNvSpPr/>
            <p:nvPr/>
          </p:nvSpPr>
          <p:spPr>
            <a:xfrm>
              <a:off x="4242919" y="2380321"/>
              <a:ext cx="1826141" cy="402508"/>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grpSp>
      <p:grpSp>
        <p:nvGrpSpPr>
          <p:cNvPr id="22" name="组合 21"/>
          <p:cNvGrpSpPr/>
          <p:nvPr/>
        </p:nvGrpSpPr>
        <p:grpSpPr>
          <a:xfrm>
            <a:off x="4912310" y="2212153"/>
            <a:ext cx="3148621" cy="630485"/>
            <a:chOff x="4928337" y="2765085"/>
            <a:chExt cx="3148621" cy="630485"/>
          </a:xfrm>
        </p:grpSpPr>
        <p:sp>
          <p:nvSpPr>
            <p:cNvPr id="11" name="矩形 10"/>
            <p:cNvSpPr/>
            <p:nvPr/>
          </p:nvSpPr>
          <p:spPr>
            <a:xfrm>
              <a:off x="4928339" y="2765085"/>
              <a:ext cx="3148619"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完整域名总共不超过 </a:t>
              </a:r>
              <a:r>
                <a:rPr lang="en-US" altLang="zh-CN" sz="1600" b="1" dirty="0">
                  <a:latin typeface="微软雅黑 Light" panose="020B0502040204020203" pitchFamily="34" charset="-122"/>
                  <a:ea typeface="微软雅黑 Light" panose="020B0502040204020203" pitchFamily="34" charset="-122"/>
                </a:rPr>
                <a:t>255 </a:t>
              </a:r>
              <a:r>
                <a:rPr lang="zh-CN" altLang="en-US" sz="1600" b="1" dirty="0">
                  <a:latin typeface="微软雅黑 Light" panose="020B0502040204020203" pitchFamily="34" charset="-122"/>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Light" panose="020B0502040204020203" pitchFamily="34" charset="-122"/>
                <a:ea typeface="微软雅黑 Light" panose="020B0502040204020203" pitchFamily="34" charset="-122"/>
              </a:rPr>
              <a:t>注意：</a:t>
            </a:r>
            <a:r>
              <a:rPr lang="zh-CN" altLang="en-US" sz="1600" b="1" dirty="0">
                <a:latin typeface="微软雅黑 Light" panose="020B0502040204020203" pitchFamily="34" charset="-122"/>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对角圆角矩形 8"/>
          <p:cNvSpPr/>
          <p:nvPr/>
        </p:nvSpPr>
        <p:spPr>
          <a:xfrm>
            <a:off x="1708847" y="3501223"/>
            <a:ext cx="5295641" cy="99087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AutoShape 5"/>
          <p:cNvSpPr>
            <a:spLocks noChangeArrowheads="1"/>
          </p:cNvSpPr>
          <p:nvPr/>
        </p:nvSpPr>
        <p:spPr bwMode="auto">
          <a:xfrm>
            <a:off x="545143" y="616659"/>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314285" y="574388"/>
            <a:ext cx="251543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6.1.3  </a:t>
            </a:r>
            <a:r>
              <a:rPr lang="zh-CN" altLang="en-US" sz="2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8" name="Rectangle 8"/>
          <p:cNvSpPr>
            <a:spLocks noChangeArrowheads="1"/>
          </p:cNvSpPr>
          <p:nvPr/>
        </p:nvSpPr>
        <p:spPr bwMode="auto">
          <a:xfrm>
            <a:off x="545143" y="1014588"/>
            <a:ext cx="8053711" cy="2522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实现域名系统使用分布在各地的</a:t>
            </a:r>
            <a:r>
              <a:rPr lang="zh-CN" altLang="en-US" sz="2000" b="1" dirty="0">
                <a:solidFill>
                  <a:srgbClr val="C00000"/>
                </a:solidFill>
                <a:latin typeface="微软雅黑 Light" panose="020B0502040204020203" pitchFamily="34" charset="-122"/>
                <a:ea typeface="微软雅黑 Light" panose="020B0502040204020203" pitchFamily="34" charset="-122"/>
              </a:rPr>
              <a:t>域名服务器</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DNS </a:t>
            </a:r>
            <a:r>
              <a:rPr lang="zh-CN" altLang="en-US" sz="2000" b="1" dirty="0">
                <a:latin typeface="微软雅黑 Light" panose="020B0502040204020203" pitchFamily="34" charset="-122"/>
                <a:ea typeface="微软雅黑 Light" panose="020B0502040204020203" pitchFamily="34" charset="-122"/>
              </a:rPr>
              <a:t>服务器）。</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一个服务器所负责管辖的（或有权限的）范围叫做</a:t>
            </a:r>
            <a:r>
              <a:rPr lang="zh-CN" altLang="en-US" sz="2000" b="1" dirty="0">
                <a:solidFill>
                  <a:srgbClr val="C00000"/>
                </a:solidFill>
                <a:latin typeface="微软雅黑 Light" panose="020B0502040204020203" pitchFamily="34" charset="-122"/>
                <a:ea typeface="微软雅黑 Light" panose="020B0502040204020203" pitchFamily="34" charset="-122"/>
              </a:rPr>
              <a:t>区</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(zone)</a:t>
            </a:r>
            <a:r>
              <a:rPr lang="zh-CN" altLang="en-US" sz="2000" b="1" dirty="0">
                <a:latin typeface="微软雅黑 Light" panose="020B0502040204020203" pitchFamily="34" charset="-122"/>
                <a:ea typeface="微软雅黑 Light" panose="020B0502040204020203" pitchFamily="34" charset="-122"/>
              </a:rPr>
              <a:t>。</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各单位根据具体情况来划分自己管辖范围的区。但在一个区中的所有节点必须是能够</a:t>
            </a:r>
            <a:r>
              <a:rPr lang="zh-CN" altLang="en-US" sz="2000" b="1" dirty="0">
                <a:solidFill>
                  <a:srgbClr val="C00000"/>
                </a:solidFill>
                <a:latin typeface="微软雅黑 Light" panose="020B0502040204020203" pitchFamily="34" charset="-122"/>
                <a:ea typeface="微软雅黑 Light" panose="020B0502040204020203" pitchFamily="34" charset="-122"/>
              </a:rPr>
              <a:t>连通</a:t>
            </a:r>
            <a:r>
              <a:rPr lang="zh-CN" altLang="en-US" sz="2000" b="1" dirty="0">
                <a:latin typeface="微软雅黑 Light" panose="020B0502040204020203" pitchFamily="34" charset="-122"/>
                <a:ea typeface="微软雅黑 Light" panose="020B0502040204020203" pitchFamily="34" charset="-122"/>
              </a:rPr>
              <a:t>的。</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每一个区设置相应的</a:t>
            </a:r>
            <a:r>
              <a:rPr lang="zh-CN" altLang="en-US" sz="2000" b="1" dirty="0">
                <a:solidFill>
                  <a:srgbClr val="C00000"/>
                </a:solidFill>
                <a:latin typeface="微软雅黑 Light" panose="020B0502040204020203" pitchFamily="34" charset="-122"/>
                <a:ea typeface="微软雅黑 Light" panose="020B0502040204020203" pitchFamily="34" charset="-122"/>
              </a:rPr>
              <a:t>权限域名服务器，</a:t>
            </a:r>
            <a:r>
              <a:rPr lang="zh-CN" altLang="en-US" sz="2000" b="1" dirty="0">
                <a:latin typeface="微软雅黑 Light" panose="020B0502040204020203" pitchFamily="34" charset="-122"/>
                <a:ea typeface="微软雅黑 Light" panose="020B0502040204020203" pitchFamily="34" charset="-122"/>
              </a:rPr>
              <a:t>用来</a:t>
            </a:r>
            <a:r>
              <a:rPr lang="zh-CN" altLang="en-US" sz="2000" b="1" dirty="0">
                <a:solidFill>
                  <a:srgbClr val="C00000"/>
                </a:solidFill>
                <a:latin typeface="微软雅黑 Light" panose="020B0502040204020203" pitchFamily="34" charset="-122"/>
                <a:ea typeface="微软雅黑 Light" panose="020B0502040204020203" pitchFamily="34" charset="-122"/>
              </a:rPr>
              <a:t>保存</a:t>
            </a:r>
            <a:r>
              <a:rPr lang="zh-CN" altLang="en-US" sz="2000" b="1" dirty="0">
                <a:latin typeface="微软雅黑 Light" panose="020B0502040204020203" pitchFamily="34" charset="-122"/>
                <a:ea typeface="微软雅黑 Light" panose="020B0502040204020203" pitchFamily="34" charset="-122"/>
              </a:rPr>
              <a:t>该区中的所有主机的域名到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地址的映射。</a:t>
            </a:r>
          </a:p>
        </p:txBody>
      </p:sp>
      <p:sp>
        <p:nvSpPr>
          <p:cNvPr id="2" name="矩形 1"/>
          <p:cNvSpPr/>
          <p:nvPr/>
        </p:nvSpPr>
        <p:spPr>
          <a:xfrm>
            <a:off x="1890947" y="3607839"/>
            <a:ext cx="5078029" cy="730777"/>
          </a:xfrm>
          <a:prstGeom prst="rect">
            <a:avLst/>
          </a:prstGeom>
        </p:spPr>
        <p:txBody>
          <a:bodyPr wrap="square">
            <a:spAutoFit/>
          </a:bodyPr>
          <a:lstStyle/>
          <a:p>
            <a:pPr>
              <a:lnSpc>
                <a:spcPts val="2600"/>
              </a:lnSpc>
              <a:buClr>
                <a:srgbClr val="0070C0"/>
              </a:buClr>
            </a:pPr>
            <a:r>
              <a:rPr lang="en-US" altLang="zh-CN" b="1" dirty="0">
                <a:solidFill>
                  <a:schemeClr val="bg1"/>
                </a:solidFill>
                <a:latin typeface="微软雅黑 Light" panose="020B0502040204020203" pitchFamily="34" charset="-122"/>
                <a:ea typeface="微软雅黑 Light" panose="020B0502040204020203" pitchFamily="34" charset="-122"/>
              </a:rPr>
              <a:t>DNS </a:t>
            </a:r>
            <a:r>
              <a:rPr lang="zh-CN" altLang="en-US" b="1" dirty="0">
                <a:solidFill>
                  <a:schemeClr val="bg1"/>
                </a:solidFill>
                <a:latin typeface="微软雅黑 Light" panose="020B0502040204020203" pitchFamily="34" charset="-122"/>
                <a:ea typeface="微软雅黑 Light" panose="020B0502040204020203" pitchFamily="34" charset="-122"/>
              </a:rPr>
              <a:t>服务器的管辖范围不是以“域”为单位，而是</a:t>
            </a:r>
            <a:r>
              <a:rPr lang="zh-CN" altLang="en-US" b="1" dirty="0">
                <a:solidFill>
                  <a:srgbClr val="FFFF00"/>
                </a:solidFill>
                <a:latin typeface="微软雅黑 Light" panose="020B0502040204020203" pitchFamily="34" charset="-122"/>
                <a:ea typeface="微软雅黑 Light" panose="020B0502040204020203" pitchFamily="34" charset="-122"/>
              </a:rPr>
              <a:t>以“区”为单位。 </a:t>
            </a:r>
            <a:endParaRPr lang="en-US" altLang="zh-CN" b="1" dirty="0">
              <a:solidFill>
                <a:srgbClr val="FFFF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zh-CN" altLang="en-US"/>
              <a:t>域名服务器类型</a:t>
            </a:r>
            <a:endParaRPr lang="zh-CN" altLang="en-US" dirty="0"/>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a:t>1. </a:t>
            </a:r>
            <a:r>
              <a:rPr lang="zh-CN" altLang="en-US"/>
              <a:t>根域名服务器</a:t>
            </a:r>
            <a:endParaRPr lang="zh-CN" altLang="en-US" dirty="0"/>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3822235356"/>
              </p:ext>
            </p:extLst>
          </p:nvPr>
        </p:nvGraphicFramePr>
        <p:xfrm>
          <a:off x="1112828" y="1085475"/>
          <a:ext cx="6636200" cy="3686748"/>
        </p:xfrm>
        <a:graphic>
          <a:graphicData uri="http://schemas.openxmlformats.org/drawingml/2006/table">
            <a:tbl>
              <a:tblPr firstRow="1">
                <a:tableStyleId>{B301B821-A1FF-4177-AEE7-76D212191A09}</a:tableStyleId>
              </a:tblPr>
              <a:tblGrid>
                <a:gridCol w="2216191">
                  <a:extLst>
                    <a:ext uri="{9D8B030D-6E8A-4147-A177-3AD203B41FA5}">
                      <a16:colId xmlns:a16="http://schemas.microsoft.com/office/drawing/2014/main" val="408908172"/>
                    </a:ext>
                  </a:extLst>
                </a:gridCol>
                <a:gridCol w="2216191">
                  <a:extLst>
                    <a:ext uri="{9D8B030D-6E8A-4147-A177-3AD203B41FA5}">
                      <a16:colId xmlns:a16="http://schemas.microsoft.com/office/drawing/2014/main" val="3439813314"/>
                    </a:ext>
                  </a:extLst>
                </a:gridCol>
                <a:gridCol w="2203818">
                  <a:extLst>
                    <a:ext uri="{9D8B030D-6E8A-4147-A177-3AD203B41FA5}">
                      <a16:colId xmlns:a16="http://schemas.microsoft.com/office/drawing/2014/main" val="1803728834"/>
                    </a:ext>
                  </a:extLst>
                </a:gridCol>
              </a:tblGrid>
              <a:tr h="155768">
                <a:tc>
                  <a:txBody>
                    <a:bodyPr/>
                    <a:lstStyle/>
                    <a:p>
                      <a:pPr algn="ctr" fontAlgn="b">
                        <a:lnSpc>
                          <a:spcPct val="80000"/>
                        </a:lnSpc>
                      </a:pPr>
                      <a:r>
                        <a:rPr lang="zh-CN" altLang="en-US" sz="1200" b="1" i="0" cap="all" dirty="0">
                          <a:solidFill>
                            <a:schemeClr val="lt1"/>
                          </a:solidFill>
                          <a:effectLst/>
                          <a:latin typeface="Montserrat" panose="00000500000000000000" pitchFamily="2" charset="0"/>
                          <a:ea typeface="微软雅黑 Light" panose="020B0502040204020203" pitchFamily="34" charset="-122"/>
                        </a:rPr>
                        <a:t>域名</a:t>
                      </a:r>
                      <a:endParaRPr lang="en-US" sz="1200" b="1" i="0" cap="all" dirty="0">
                        <a:solidFill>
                          <a:schemeClr val="tx1"/>
                        </a:solidFill>
                        <a:effectLst/>
                        <a:latin typeface="Montserrat" panose="00000500000000000000" pitchFamily="2" charset="0"/>
                      </a:endParaRPr>
                    </a:p>
                  </a:txBody>
                  <a:tcPr marL="24941" marR="24941" marT="12471" marB="12471" anchor="b"/>
                </a:tc>
                <a:tc>
                  <a:txBody>
                    <a:bodyPr/>
                    <a:lstStyle/>
                    <a:p>
                      <a:pPr algn="ctr" fontAlgn="b">
                        <a:lnSpc>
                          <a:spcPct val="80000"/>
                        </a:lnSpc>
                      </a:pPr>
                      <a:r>
                        <a:rPr lang="en-US" sz="1200" cap="all" dirty="0">
                          <a:effectLst/>
                          <a:latin typeface="Montserrat" panose="00000500000000000000" pitchFamily="2" charset="0"/>
                        </a:rPr>
                        <a:t>IP </a:t>
                      </a:r>
                      <a:r>
                        <a:rPr lang="zh-CN" altLang="en-US" sz="1200" cap="all" dirty="0">
                          <a:effectLst/>
                          <a:ea typeface="微软雅黑 Light" panose="020B0502040204020203" pitchFamily="34" charset="-122"/>
                        </a:rPr>
                        <a:t>地址</a:t>
                      </a:r>
                      <a:endParaRPr lang="en-US" sz="1200" b="1" i="0" cap="all" dirty="0">
                        <a:solidFill>
                          <a:schemeClr val="tx1"/>
                        </a:solidFill>
                        <a:effectLst/>
                        <a:latin typeface="Montserrat" panose="00000500000000000000" pitchFamily="2" charset="0"/>
                      </a:endParaRPr>
                    </a:p>
                  </a:txBody>
                  <a:tcPr marL="12471" marR="24941" marT="12471" marB="12471" anchor="b"/>
                </a:tc>
                <a:tc>
                  <a:txBody>
                    <a:bodyPr/>
                    <a:lstStyle/>
                    <a:p>
                      <a:pPr algn="ctr" fontAlgn="b">
                        <a:lnSpc>
                          <a:spcPct val="80000"/>
                        </a:lnSpc>
                      </a:pPr>
                      <a:r>
                        <a:rPr lang="zh-CN" altLang="en-US" sz="1200" cap="all" dirty="0">
                          <a:effectLst/>
                          <a:latin typeface="Montserrat" panose="00000500000000000000" pitchFamily="2" charset="0"/>
                          <a:ea typeface="微软雅黑 Light" panose="020B0502040204020203" pitchFamily="34" charset="-122"/>
                        </a:rPr>
                        <a:t>运营商</a:t>
                      </a:r>
                      <a:endParaRPr lang="en-US" sz="1200" b="1" i="0" cap="all" dirty="0">
                        <a:solidFill>
                          <a:schemeClr val="tx1"/>
                        </a:solidFill>
                        <a:effectLst/>
                        <a:latin typeface="Montserrat" panose="00000500000000000000" pitchFamily="2" charset="0"/>
                      </a:endParaRPr>
                    </a:p>
                  </a:txBody>
                  <a:tcPr marL="12471" marR="24941" marT="12471" marB="12471" anchor="b"/>
                </a:tc>
                <a:extLst>
                  <a:ext uri="{0D108BD9-81ED-4DB2-BD59-A6C34878D82A}">
                    <a16:rowId xmlns:a16="http://schemas.microsoft.com/office/drawing/2014/main" val="1140239074"/>
                  </a:ext>
                </a:extLst>
              </a:tr>
              <a:tr h="155768">
                <a:tc>
                  <a:txBody>
                    <a:bodyPr/>
                    <a:lstStyle/>
                    <a:p>
                      <a:pPr fontAlgn="t">
                        <a:lnSpc>
                          <a:spcPct val="80000"/>
                        </a:lnSpc>
                      </a:pPr>
                      <a:r>
                        <a:rPr lang="en-US" sz="1200" dirty="0">
                          <a:effectLst/>
                          <a:latin typeface="Montserrat" panose="00000500000000000000" pitchFamily="2" charset="0"/>
                        </a:rPr>
                        <a:t>a.root-servers.net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198.41.0.4, 2001:503:ba3e::2:30</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Verisign, Inc.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799934463"/>
                  </a:ext>
                </a:extLst>
              </a:tr>
              <a:tr h="288848">
                <a:tc>
                  <a:txBody>
                    <a:bodyPr/>
                    <a:lstStyle/>
                    <a:p>
                      <a:pPr fontAlgn="t">
                        <a:lnSpc>
                          <a:spcPct val="80000"/>
                        </a:lnSpc>
                      </a:pPr>
                      <a:r>
                        <a:rPr lang="en-US" sz="1200" dirty="0">
                          <a:effectLst/>
                          <a:latin typeface="Montserrat" panose="00000500000000000000" pitchFamily="2" charset="0"/>
                        </a:rPr>
                        <a:t>b.root-servers.net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199.9.14.201, 2001:500:200::b</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University of Southern California,</a:t>
                      </a:r>
                      <a:br>
                        <a:rPr lang="en-US" sz="1200" dirty="0">
                          <a:effectLst/>
                          <a:latin typeface="Montserrat" panose="00000500000000000000" pitchFamily="2" charset="0"/>
                        </a:rPr>
                      </a:br>
                      <a:r>
                        <a:rPr lang="en-US" sz="1200" dirty="0">
                          <a:effectLst/>
                          <a:latin typeface="Montserrat" panose="00000500000000000000" pitchFamily="2" charset="0"/>
                        </a:rPr>
                        <a:t>Information Sciences Institute</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810033780"/>
                  </a:ext>
                </a:extLst>
              </a:tr>
              <a:tr h="155768">
                <a:tc>
                  <a:txBody>
                    <a:bodyPr/>
                    <a:lstStyle/>
                    <a:p>
                      <a:pPr fontAlgn="t">
                        <a:lnSpc>
                          <a:spcPct val="80000"/>
                        </a:lnSpc>
                      </a:pPr>
                      <a:r>
                        <a:rPr lang="en-US" sz="1200" dirty="0">
                          <a:effectLst/>
                          <a:latin typeface="Montserrat" panose="00000500000000000000" pitchFamily="2" charset="0"/>
                        </a:rPr>
                        <a:t>c.root-servers.net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192.33.4.12, 2001:500:2::c</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Cogent Communications</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1551130435"/>
                  </a:ext>
                </a:extLst>
              </a:tr>
              <a:tr h="155768">
                <a:tc>
                  <a:txBody>
                    <a:bodyPr/>
                    <a:lstStyle/>
                    <a:p>
                      <a:pPr fontAlgn="t">
                        <a:lnSpc>
                          <a:spcPct val="80000"/>
                        </a:lnSpc>
                      </a:pPr>
                      <a:r>
                        <a:rPr lang="en-US" sz="1200" dirty="0">
                          <a:effectLst/>
                          <a:latin typeface="Montserrat" panose="00000500000000000000" pitchFamily="2" charset="0"/>
                        </a:rPr>
                        <a:t>d.root-servers.net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199.7.91.13, 2001:500:2d::d</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University of Maryland</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602981751"/>
                  </a:ext>
                </a:extLst>
              </a:tr>
              <a:tr h="155768">
                <a:tc>
                  <a:txBody>
                    <a:bodyPr/>
                    <a:lstStyle/>
                    <a:p>
                      <a:pPr fontAlgn="t">
                        <a:lnSpc>
                          <a:spcPct val="80000"/>
                        </a:lnSpc>
                      </a:pPr>
                      <a:r>
                        <a:rPr lang="en-US" sz="1200" dirty="0">
                          <a:effectLst/>
                          <a:latin typeface="Montserrat" panose="00000500000000000000" pitchFamily="2" charset="0"/>
                        </a:rPr>
                        <a:t>e.root-servers.net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192.203.230.10, 2001:500:a8::e</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NASA (Ames Research Center)</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222640583"/>
                  </a:ext>
                </a:extLst>
              </a:tr>
              <a:tr h="155768">
                <a:tc>
                  <a:txBody>
                    <a:bodyPr/>
                    <a:lstStyle/>
                    <a:p>
                      <a:pPr fontAlgn="t">
                        <a:lnSpc>
                          <a:spcPct val="80000"/>
                        </a:lnSpc>
                      </a:pPr>
                      <a:r>
                        <a:rPr lang="en-US" sz="1200" dirty="0">
                          <a:effectLst/>
                          <a:latin typeface="Montserrat" panose="00000500000000000000" pitchFamily="2" charset="0"/>
                        </a:rPr>
                        <a:t>f.root-servers.net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192.5.5.241, 2001:500:2f::f</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Internet Systems Consortium, Inc.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728933610"/>
                  </a:ext>
                </a:extLst>
              </a:tr>
              <a:tr h="155768">
                <a:tc>
                  <a:txBody>
                    <a:bodyPr/>
                    <a:lstStyle/>
                    <a:p>
                      <a:pPr fontAlgn="t">
                        <a:lnSpc>
                          <a:spcPct val="80000"/>
                        </a:lnSpc>
                      </a:pPr>
                      <a:r>
                        <a:rPr lang="en-US" sz="1200" dirty="0">
                          <a:effectLst/>
                          <a:latin typeface="Montserrat" panose="00000500000000000000" pitchFamily="2" charset="0"/>
                        </a:rPr>
                        <a:t>g.root-servers.net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192.112.36.4, 2001:500:12::d0d</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US Department of Defense (NIC)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200553252"/>
                  </a:ext>
                </a:extLst>
              </a:tr>
              <a:tr h="155768">
                <a:tc>
                  <a:txBody>
                    <a:bodyPr/>
                    <a:lstStyle/>
                    <a:p>
                      <a:pPr fontAlgn="t">
                        <a:lnSpc>
                          <a:spcPct val="80000"/>
                        </a:lnSpc>
                      </a:pPr>
                      <a:r>
                        <a:rPr lang="en-US" sz="1200" dirty="0">
                          <a:effectLst/>
                          <a:latin typeface="Montserrat" panose="00000500000000000000" pitchFamily="2" charset="0"/>
                        </a:rPr>
                        <a:t>h.root-servers.net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altLang="zh-CN" sz="1200" dirty="0">
                          <a:effectLst/>
                          <a:latin typeface="Montserrat" panose="00000500000000000000" pitchFamily="2" charset="0"/>
                          <a:ea typeface="微软雅黑 Light" panose="020B0502040204020203" pitchFamily="34" charset="-122"/>
                        </a:rPr>
                        <a:t>198.97.190.53, 2001:500:1::53</a:t>
                      </a:r>
                      <a:endParaRPr lang="en-US" altLang="zh-CN"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US Army (Research Lab)</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1979510661"/>
                  </a:ext>
                </a:extLst>
              </a:tr>
              <a:tr h="155768">
                <a:tc>
                  <a:txBody>
                    <a:bodyPr/>
                    <a:lstStyle/>
                    <a:p>
                      <a:pPr fontAlgn="t">
                        <a:lnSpc>
                          <a:spcPct val="80000"/>
                        </a:lnSpc>
                      </a:pPr>
                      <a:r>
                        <a:rPr lang="en-US" sz="1200" dirty="0">
                          <a:effectLst/>
                          <a:latin typeface="Montserrat" panose="00000500000000000000" pitchFamily="2" charset="0"/>
                        </a:rPr>
                        <a:t>i.root-servers.net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192.36.148.17, 2001:7fe::53</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err="1">
                          <a:effectLst/>
                          <a:latin typeface="Montserrat" panose="00000500000000000000" pitchFamily="2" charset="0"/>
                        </a:rPr>
                        <a:t>Netnod</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406046716"/>
                  </a:ext>
                </a:extLst>
              </a:tr>
              <a:tr h="155768">
                <a:tc>
                  <a:txBody>
                    <a:bodyPr/>
                    <a:lstStyle/>
                    <a:p>
                      <a:pPr fontAlgn="t">
                        <a:lnSpc>
                          <a:spcPct val="80000"/>
                        </a:lnSpc>
                      </a:pPr>
                      <a:r>
                        <a:rPr lang="en-US" sz="1200" dirty="0" err="1">
                          <a:effectLst/>
                          <a:latin typeface="Montserrat" panose="00000500000000000000" pitchFamily="2" charset="0"/>
                        </a:rPr>
                        <a:t>j.root-servers.net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192.58.128.30, 2001:503:c27::2:30</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Verisign, Inc.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077151531"/>
                  </a:ext>
                </a:extLst>
              </a:tr>
              <a:tr h="155768">
                <a:tc>
                  <a:txBody>
                    <a:bodyPr/>
                    <a:lstStyle/>
                    <a:p>
                      <a:pPr fontAlgn="t">
                        <a:lnSpc>
                          <a:spcPct val="80000"/>
                        </a:lnSpc>
                      </a:pPr>
                      <a:r>
                        <a:rPr lang="en-US" sz="1200" dirty="0">
                          <a:effectLst/>
                          <a:latin typeface="Montserrat" panose="00000500000000000000" pitchFamily="2" charset="0"/>
                        </a:rPr>
                        <a:t>k.root-servers.net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193.0.14.129, 2001:7fd::1</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RIPE NCC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109581213"/>
                  </a:ext>
                </a:extLst>
              </a:tr>
              <a:tr h="155768">
                <a:tc>
                  <a:txBody>
                    <a:bodyPr/>
                    <a:lstStyle/>
                    <a:p>
                      <a:pPr fontAlgn="t">
                        <a:lnSpc>
                          <a:spcPct val="80000"/>
                        </a:lnSpc>
                      </a:pPr>
                      <a:r>
                        <a:rPr lang="en-US" sz="1200" dirty="0">
                          <a:effectLst/>
                          <a:latin typeface="Montserrat" panose="00000500000000000000" pitchFamily="2" charset="0"/>
                        </a:rPr>
                        <a:t>l.root-servers.net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199.7.83.42, 2001:500:9f::42</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ICANN</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1659636611"/>
                  </a:ext>
                </a:extLst>
              </a:tr>
              <a:tr h="155768">
                <a:tc>
                  <a:txBody>
                    <a:bodyPr/>
                    <a:lstStyle/>
                    <a:p>
                      <a:pPr fontAlgn="t">
                        <a:lnSpc>
                          <a:spcPct val="80000"/>
                        </a:lnSpc>
                      </a:pPr>
                      <a:r>
                        <a:rPr lang="en-US" sz="1200" dirty="0">
                          <a:effectLst/>
                          <a:latin typeface="Montserrat" panose="00000500000000000000" pitchFamily="2" charset="0"/>
                        </a:rPr>
                        <a:t>m.root-servers.net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202.12.27.33, 2001:dc3::35</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WIDE Project</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430741343"/>
                  </a:ext>
                </a:extLst>
              </a:tr>
            </a:tbl>
          </a:graphicData>
        </a:graphic>
      </p:graphicFrame>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zh-CN" altLang="en-US"/>
              <a:t>根域名服务器共有 </a:t>
            </a:r>
            <a:r>
              <a:rPr lang="en-US" altLang="zh-CN"/>
              <a:t>13 </a:t>
            </a:r>
            <a:r>
              <a:rPr lang="zh-CN" altLang="en-US"/>
              <a:t>套装置</a:t>
            </a:r>
            <a:endParaRPr lang="zh-CN" altLang="en-US" dirty="0"/>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a:t>根域名服务器共有 </a:t>
            </a:r>
            <a:r>
              <a:rPr lang="en-US" altLang="zh-CN"/>
              <a:t>13 </a:t>
            </a:r>
            <a:r>
              <a:rPr lang="zh-CN" altLang="en-US"/>
              <a:t>套装置，构成 </a:t>
            </a:r>
            <a:r>
              <a:rPr lang="en-US" altLang="zh-CN"/>
              <a:t>13 </a:t>
            </a:r>
            <a:r>
              <a:rPr lang="zh-CN" altLang="en-US"/>
              <a:t>组根域名服务器。</a:t>
            </a:r>
            <a:endParaRPr lang="en-US" altLang="zh-CN"/>
          </a:p>
          <a:p>
            <a:r>
              <a:rPr lang="zh-CN" altLang="en-US"/>
              <a:t>根域名服务器总共只有 </a:t>
            </a:r>
            <a:r>
              <a:rPr lang="en-US" altLang="zh-CN"/>
              <a:t>13 </a:t>
            </a:r>
            <a:r>
              <a:rPr lang="zh-CN" altLang="en-US"/>
              <a:t>个不同 </a:t>
            </a:r>
            <a:r>
              <a:rPr lang="en-US" altLang="zh-CN"/>
              <a:t>IP </a:t>
            </a:r>
            <a:r>
              <a:rPr lang="zh-CN" altLang="en-US"/>
              <a:t>地址的域名，但并非仅由</a:t>
            </a:r>
            <a:r>
              <a:rPr lang="en-US" altLang="zh-CN"/>
              <a:t>13</a:t>
            </a:r>
            <a:r>
              <a:rPr lang="zh-CN" altLang="en-US"/>
              <a:t>台机器所组成。</a:t>
            </a:r>
            <a:endParaRPr lang="en-US" altLang="zh-CN"/>
          </a:p>
          <a:p>
            <a:endParaRPr lang="zh-CN" altLang="en-US" dirty="0"/>
          </a:p>
        </p:txBody>
      </p:sp>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zh-CN" altLang="en-US"/>
              <a:t>根域名服务器共有 </a:t>
            </a:r>
            <a:r>
              <a:rPr lang="en-US" altLang="zh-CN"/>
              <a:t>13 </a:t>
            </a:r>
            <a:r>
              <a:rPr lang="zh-CN" altLang="en-US"/>
              <a:t>套装置</a:t>
            </a:r>
            <a:endParaRPr lang="zh-CN" altLang="en-US" dirty="0"/>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a:t>2. </a:t>
            </a:r>
            <a:r>
              <a:rPr lang="zh-CN" altLang="en-US"/>
              <a:t>顶级域名服务器</a:t>
            </a:r>
            <a:endParaRPr lang="zh-CN" altLang="en-US" dirty="0"/>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a:t>3. </a:t>
            </a:r>
            <a:r>
              <a:rPr lang="zh-CN" altLang="en-US"/>
              <a:t>权限域名服务器</a:t>
            </a:r>
            <a:endParaRPr lang="zh-CN" altLang="en-US" dirty="0"/>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a:t>4. </a:t>
            </a:r>
            <a:r>
              <a:rPr lang="zh-CN" altLang="en-US"/>
              <a:t>本地域名服务器</a:t>
            </a:r>
            <a:endParaRPr lang="zh-CN" altLang="en-US" dirty="0"/>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zh-CN" altLang="en-US"/>
              <a:t>提高域名服务器的可靠性</a:t>
            </a:r>
            <a:endParaRPr lang="zh-CN" altLang="en-US" dirty="0"/>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zh-CN" altLang="en-US" dirty="0"/>
              <a:t>文件共享协议</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r>
              <a:rPr lang="zh-CN" altLang="en-US" dirty="0"/>
              <a:t>， </a:t>
            </a:r>
            <a:r>
              <a:rPr lang="en-US" altLang="zh-CN" dirty="0"/>
              <a:t>TFTP </a:t>
            </a:r>
            <a:r>
              <a:rPr lang="zh-CN" altLang="en-US" dirty="0"/>
              <a:t>等</a:t>
            </a:r>
            <a:endParaRPr lang="en-US" altLang="zh-CN" dirty="0"/>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a:t>6.2.2  FTP </a:t>
            </a:r>
            <a:r>
              <a:rPr lang="zh-CN" altLang="en-US"/>
              <a:t>的基本工作原理</a:t>
            </a:r>
            <a:endParaRPr lang="zh-CN" altLang="en-US" dirty="0"/>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TFTP </a:t>
            </a:r>
            <a:r>
              <a:rPr lang="zh-CN" altLang="en-US" dirty="0"/>
              <a:t>的主要特点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68"/>
          <p:cNvSpPr>
            <a:spLocks noChangeArrowheads="1"/>
          </p:cNvSpPr>
          <p:nvPr/>
        </p:nvSpPr>
        <p:spPr bwMode="auto">
          <a:xfrm>
            <a:off x="545144" y="1003068"/>
            <a:ext cx="8053712"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是一个简单的远程终端协议，是互联网的正式标准。</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允许用户在其所在地通过 </a:t>
            </a:r>
            <a:r>
              <a:rPr lang="en-US" altLang="zh-CN" sz="2000" b="1" dirty="0">
                <a:solidFill>
                  <a:srgbClr val="C00000"/>
                </a:solidFill>
                <a:latin typeface="微软雅黑 Light" panose="020B0502040204020203" pitchFamily="34" charset="-122"/>
                <a:ea typeface="微软雅黑 Light" panose="020B0502040204020203" pitchFamily="34" charset="-122"/>
              </a:rPr>
              <a:t>TCP</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连接注册（即登录）到</a:t>
            </a:r>
            <a:r>
              <a:rPr lang="zh-CN" altLang="en-US" sz="2000" b="1" dirty="0">
                <a:solidFill>
                  <a:srgbClr val="C00000"/>
                </a:solidFill>
                <a:latin typeface="微软雅黑 Light" panose="020B0502040204020203" pitchFamily="34" charset="-122"/>
                <a:ea typeface="微软雅黑 Light" panose="020B0502040204020203" pitchFamily="34" charset="-122"/>
              </a:rPr>
              <a:t>远地</a:t>
            </a:r>
            <a:r>
              <a:rPr lang="zh-CN" altLang="en-US" sz="2000" b="1" dirty="0">
                <a:latin typeface="微软雅黑 Light" panose="020B0502040204020203" pitchFamily="34" charset="-122"/>
                <a:ea typeface="微软雅黑 Light" panose="020B0502040204020203" pitchFamily="34" charset="-122"/>
              </a:rPr>
              <a:t>的另一个主机上（使用主机名或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能将用户的击键传到远地主机，同时也能将远地主机的输出通过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连接返回到用户屏幕。</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服务是</a:t>
            </a:r>
            <a:r>
              <a:rPr lang="zh-CN" altLang="en-US" sz="2000" b="1" dirty="0">
                <a:solidFill>
                  <a:srgbClr val="C00000"/>
                </a:solidFill>
                <a:latin typeface="微软雅黑 Light" panose="020B0502040204020203" pitchFamily="34" charset="-122"/>
                <a:ea typeface="微软雅黑 Light" panose="020B0502040204020203" pitchFamily="34" charset="-122"/>
              </a:rPr>
              <a:t>透明</a:t>
            </a:r>
            <a:r>
              <a:rPr lang="zh-CN" altLang="en-US" sz="2000" b="1" dirty="0">
                <a:latin typeface="微软雅黑 Light" panose="020B0502040204020203" pitchFamily="34" charset="-122"/>
                <a:ea typeface="微软雅黑 Light" panose="020B0502040204020203" pitchFamily="34" charset="-122"/>
              </a:rPr>
              <a:t>的。</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又称为</a:t>
            </a:r>
            <a:r>
              <a:rPr lang="zh-CN" altLang="en-US" sz="2000" b="1" dirty="0">
                <a:solidFill>
                  <a:srgbClr val="C00000"/>
                </a:solidFill>
                <a:latin typeface="微软雅黑 Light" panose="020B0502040204020203" pitchFamily="34" charset="-122"/>
                <a:ea typeface="微软雅黑 Light" panose="020B0502040204020203" pitchFamily="34" charset="-122"/>
              </a:rPr>
              <a:t>终端仿真协议。 </a:t>
            </a:r>
          </a:p>
        </p:txBody>
      </p:sp>
      <p:sp>
        <p:nvSpPr>
          <p:cNvPr id="5" name="AutoShape 5"/>
          <p:cNvSpPr>
            <a:spLocks noChangeArrowheads="1"/>
          </p:cNvSpPr>
          <p:nvPr/>
        </p:nvSpPr>
        <p:spPr bwMode="auto">
          <a:xfrm>
            <a:off x="545144" y="616103"/>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dirty="0">
              <a:latin typeface="微软雅黑 Light" panose="020B0502040204020203" pitchFamily="34" charset="-122"/>
              <a:ea typeface="微软雅黑 Light" panose="020B0502040204020203" pitchFamily="34" charset="-122"/>
            </a:endParaRPr>
          </a:p>
        </p:txBody>
      </p:sp>
      <p:sp>
        <p:nvSpPr>
          <p:cNvPr id="6" name="Rectangle 6"/>
          <p:cNvSpPr>
            <a:spLocks noChangeArrowheads="1"/>
          </p:cNvSpPr>
          <p:nvPr/>
        </p:nvSpPr>
        <p:spPr bwMode="auto">
          <a:xfrm>
            <a:off x="2680298" y="573832"/>
            <a:ext cx="37834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Light" panose="020B0502040204020203" pitchFamily="34" charset="-122"/>
                <a:ea typeface="微软雅黑 Light" panose="020B0502040204020203" pitchFamily="34" charset="-122"/>
              </a:rPr>
              <a:t>6.3  </a:t>
            </a:r>
            <a:r>
              <a:rPr lang="zh-CN" altLang="en-US" sz="2400" b="1" dirty="0">
                <a:solidFill>
                  <a:schemeClr val="bg1"/>
                </a:solidFill>
                <a:latin typeface="微软雅黑 Light" panose="020B0502040204020203" pitchFamily="34" charset="-122"/>
                <a:ea typeface="微软雅黑 Light" panose="020B0502040204020203" pitchFamily="34" charset="-122"/>
              </a:rPr>
              <a:t>远程终端协议 </a:t>
            </a:r>
            <a:r>
              <a:rPr lang="en-US" altLang="zh-CN" sz="2400" b="1" dirty="0">
                <a:solidFill>
                  <a:schemeClr val="bg1"/>
                </a:solidFill>
                <a:latin typeface="微软雅黑 Light" panose="020B0502040204020203" pitchFamily="34" charset="-122"/>
                <a:ea typeface="微软雅黑 Light" panose="020B0502040204020203" pitchFamily="34" charset="-122"/>
              </a:rPr>
              <a:t>TELNET</a:t>
            </a:r>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AutoShape 5"/>
          <p:cNvSpPr>
            <a:spLocks noChangeArrowheads="1"/>
          </p:cNvSpPr>
          <p:nvPr/>
        </p:nvSpPr>
        <p:spPr bwMode="auto">
          <a:xfrm>
            <a:off x="556963" y="61071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8" name="Rectangle 6"/>
          <p:cNvSpPr>
            <a:spLocks noChangeArrowheads="1"/>
          </p:cNvSpPr>
          <p:nvPr/>
        </p:nvSpPr>
        <p:spPr bwMode="auto">
          <a:xfrm>
            <a:off x="2676634" y="577503"/>
            <a:ext cx="3809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TELNET </a:t>
            </a:r>
            <a:r>
              <a:rPr lang="zh-CN" altLang="en-US" sz="2000" b="1" dirty="0">
                <a:solidFill>
                  <a:schemeClr val="bg1"/>
                </a:solidFill>
                <a:latin typeface="微软雅黑 Light" panose="020B0502040204020203" pitchFamily="34" charset="-122"/>
                <a:ea typeface="微软雅黑 Light" panose="020B0502040204020203" pitchFamily="34" charset="-122"/>
              </a:rPr>
              <a:t>使用客户 </a:t>
            </a:r>
            <a:r>
              <a:rPr lang="en-US" altLang="zh-CN" sz="2000" b="1" dirty="0">
                <a:solidFill>
                  <a:schemeClr val="bg1"/>
                </a:solidFill>
                <a:latin typeface="微软雅黑 Light" panose="020B0502040204020203" pitchFamily="34" charset="-122"/>
                <a:ea typeface="微软雅黑 Light" panose="020B0502040204020203" pitchFamily="34" charset="-122"/>
              </a:rPr>
              <a:t>- </a:t>
            </a:r>
            <a:r>
              <a:rPr lang="zh-CN" altLang="en-US" sz="2000" b="1" dirty="0">
                <a:solidFill>
                  <a:schemeClr val="bg1"/>
                </a:solidFill>
                <a:latin typeface="微软雅黑 Light" panose="020B0502040204020203" pitchFamily="34" charset="-122"/>
                <a:ea typeface="微软雅黑 Light" panose="020B0502040204020203" pitchFamily="34" charset="-122"/>
              </a:rPr>
              <a:t>服务器方式</a:t>
            </a:r>
          </a:p>
        </p:txBody>
      </p:sp>
      <p:sp>
        <p:nvSpPr>
          <p:cNvPr id="79" name="Rectangle 68"/>
          <p:cNvSpPr>
            <a:spLocks noChangeArrowheads="1"/>
          </p:cNvSpPr>
          <p:nvPr/>
        </p:nvSpPr>
        <p:spPr bwMode="auto">
          <a:xfrm>
            <a:off x="483810" y="976207"/>
            <a:ext cx="8193262"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在本地系统运行 </a:t>
            </a:r>
            <a:r>
              <a:rPr lang="en-US" altLang="zh-CN" sz="2000" b="1" dirty="0">
                <a:latin typeface="微软雅黑 Light" panose="020B0502040204020203" pitchFamily="34" charset="-122"/>
                <a:ea typeface="微软雅黑 Light" panose="020B0502040204020203" pitchFamily="34" charset="-122"/>
              </a:rPr>
              <a:t>TELNET </a:t>
            </a:r>
            <a:r>
              <a:rPr lang="zh-CN" altLang="en-US" sz="2000" b="1" dirty="0">
                <a:solidFill>
                  <a:srgbClr val="C00000"/>
                </a:solidFill>
                <a:latin typeface="微软雅黑 Light" panose="020B0502040204020203" pitchFamily="34" charset="-122"/>
                <a:ea typeface="微软雅黑 Light" panose="020B0502040204020203" pitchFamily="34" charset="-122"/>
              </a:rPr>
              <a:t>客户进程，</a:t>
            </a:r>
            <a:r>
              <a:rPr lang="zh-CN" altLang="en-US" sz="2000" b="1" dirty="0">
                <a:latin typeface="微软雅黑 Light" panose="020B0502040204020203" pitchFamily="34" charset="-122"/>
                <a:ea typeface="微软雅黑 Light" panose="020B0502040204020203" pitchFamily="34" charset="-122"/>
              </a:rPr>
              <a:t>而在远地主机则运行 </a:t>
            </a:r>
            <a:r>
              <a:rPr lang="en-US" altLang="zh-CN" sz="2000" b="1" dirty="0">
                <a:latin typeface="微软雅黑 Light" panose="020B0502040204020203" pitchFamily="34" charset="-122"/>
                <a:ea typeface="微软雅黑 Light" panose="020B0502040204020203" pitchFamily="34" charset="-122"/>
              </a:rPr>
              <a:t>TELNET </a:t>
            </a:r>
            <a:r>
              <a:rPr lang="zh-CN" altLang="en-US" sz="2000" b="1" dirty="0">
                <a:solidFill>
                  <a:srgbClr val="C00000"/>
                </a:solidFill>
                <a:latin typeface="微软雅黑 Light" panose="020B0502040204020203" pitchFamily="34" charset="-122"/>
                <a:ea typeface="微软雅黑 Light" panose="020B0502040204020203" pitchFamily="34" charset="-122"/>
              </a:rPr>
              <a:t>服务器进程。</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服务器中的</a:t>
            </a:r>
            <a:r>
              <a:rPr lang="zh-CN" altLang="en-US" sz="2000" b="1" dirty="0">
                <a:solidFill>
                  <a:srgbClr val="C00000"/>
                </a:solidFill>
                <a:latin typeface="微软雅黑 Light" panose="020B0502040204020203" pitchFamily="34" charset="-122"/>
                <a:ea typeface="微软雅黑 Light" panose="020B0502040204020203" pitchFamily="34" charset="-122"/>
              </a:rPr>
              <a:t>主进程</a:t>
            </a:r>
            <a:r>
              <a:rPr lang="zh-CN" altLang="en-US" sz="2000" b="1" dirty="0">
                <a:latin typeface="微软雅黑 Light" panose="020B0502040204020203" pitchFamily="34" charset="-122"/>
                <a:ea typeface="微软雅黑 Light" panose="020B0502040204020203" pitchFamily="34" charset="-122"/>
              </a:rPr>
              <a:t>等待新的请求，产生</a:t>
            </a:r>
            <a:r>
              <a:rPr lang="zh-CN" altLang="en-US" sz="2000" b="1" dirty="0">
                <a:solidFill>
                  <a:srgbClr val="C00000"/>
                </a:solidFill>
                <a:latin typeface="微软雅黑 Light" panose="020B0502040204020203" pitchFamily="34" charset="-122"/>
                <a:ea typeface="微软雅黑 Light" panose="020B0502040204020203" pitchFamily="34" charset="-122"/>
              </a:rPr>
              <a:t>从属进程</a:t>
            </a:r>
            <a:r>
              <a:rPr lang="zh-CN" altLang="en-US" sz="2000" b="1" dirty="0">
                <a:latin typeface="微软雅黑 Light" panose="020B0502040204020203" pitchFamily="34" charset="-122"/>
                <a:ea typeface="微软雅黑 Light" panose="020B0502040204020203" pitchFamily="34" charset="-122"/>
              </a:rPr>
              <a:t>来处理每一个连接。 </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 name="Group 190"/>
          <p:cNvGrpSpPr>
            <a:grpSpLocks noChangeAspect="1"/>
          </p:cNvGrpSpPr>
          <p:nvPr/>
        </p:nvGrpSpPr>
        <p:grpSpPr bwMode="auto">
          <a:xfrm>
            <a:off x="1638459" y="1489622"/>
            <a:ext cx="1465666" cy="1328224"/>
            <a:chOff x="667" y="1712"/>
            <a:chExt cx="1269" cy="1150"/>
          </a:xfrm>
        </p:grpSpPr>
        <p:sp>
          <p:nvSpPr>
            <p:cNvPr id="46" name="AutoShape 189"/>
            <p:cNvSpPr>
              <a:spLocks noChangeAspect="1" noChangeArrowheads="1" noTextEdit="1"/>
            </p:cNvSpPr>
            <p:nvPr/>
          </p:nvSpPr>
          <p:spPr bwMode="auto">
            <a:xfrm>
              <a:off x="667" y="1712"/>
              <a:ext cx="1269" cy="1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nvGrpSpPr>
            <p:cNvPr id="59" name="Group 199"/>
            <p:cNvGrpSpPr>
              <a:grpSpLocks/>
            </p:cNvGrpSpPr>
            <p:nvPr/>
          </p:nvGrpSpPr>
          <p:grpSpPr bwMode="auto">
            <a:xfrm>
              <a:off x="880" y="1752"/>
              <a:ext cx="854" cy="749"/>
              <a:chOff x="880" y="1752"/>
              <a:chExt cx="854" cy="749"/>
            </a:xfrm>
          </p:grpSpPr>
          <p:sp>
            <p:nvSpPr>
              <p:cNvPr id="60" name="Freeform 195"/>
              <p:cNvSpPr>
                <a:spLocks/>
              </p:cNvSpPr>
              <p:nvPr/>
            </p:nvSpPr>
            <p:spPr bwMode="auto">
              <a:xfrm>
                <a:off x="880" y="1752"/>
                <a:ext cx="854" cy="107"/>
              </a:xfrm>
              <a:custGeom>
                <a:avLst/>
                <a:gdLst>
                  <a:gd name="T0" fmla="*/ 0 w 854"/>
                  <a:gd name="T1" fmla="*/ 107 h 107"/>
                  <a:gd name="T2" fmla="*/ 95 w 854"/>
                  <a:gd name="T3" fmla="*/ 0 h 107"/>
                  <a:gd name="T4" fmla="*/ 760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60" y="0"/>
                    </a:lnTo>
                    <a:lnTo>
                      <a:pt x="854" y="107"/>
                    </a:lnTo>
                    <a:lnTo>
                      <a:pt x="0" y="10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61" name="Freeform 196"/>
              <p:cNvSpPr>
                <a:spLocks/>
              </p:cNvSpPr>
              <p:nvPr/>
            </p:nvSpPr>
            <p:spPr bwMode="auto">
              <a:xfrm>
                <a:off x="880" y="1752"/>
                <a:ext cx="854" cy="107"/>
              </a:xfrm>
              <a:custGeom>
                <a:avLst/>
                <a:gdLst>
                  <a:gd name="T0" fmla="*/ 0 w 854"/>
                  <a:gd name="T1" fmla="*/ 107 h 107"/>
                  <a:gd name="T2" fmla="*/ 95 w 854"/>
                  <a:gd name="T3" fmla="*/ 0 h 107"/>
                  <a:gd name="T4" fmla="*/ 760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60" y="0"/>
                    </a:lnTo>
                    <a:lnTo>
                      <a:pt x="854" y="107"/>
                    </a:lnTo>
                    <a:lnTo>
                      <a:pt x="0" y="10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63" name="AutoShape 198"/>
              <p:cNvSpPr>
                <a:spLocks noChangeArrowheads="1"/>
              </p:cNvSpPr>
              <p:nvPr/>
            </p:nvSpPr>
            <p:spPr bwMode="auto">
              <a:xfrm>
                <a:off x="916" y="1939"/>
                <a:ext cx="771" cy="562"/>
              </a:xfrm>
              <a:prstGeom prst="roundRect">
                <a:avLst>
                  <a:gd name="adj" fmla="val 16667"/>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grpSp>
          <p:nvGrpSpPr>
            <p:cNvPr id="48" name="Group 210"/>
            <p:cNvGrpSpPr>
              <a:grpSpLocks/>
            </p:cNvGrpSpPr>
            <p:nvPr/>
          </p:nvGrpSpPr>
          <p:grpSpPr bwMode="auto">
            <a:xfrm>
              <a:off x="667" y="1712"/>
              <a:ext cx="1245" cy="1110"/>
              <a:chOff x="667" y="1712"/>
              <a:chExt cx="1245" cy="1110"/>
            </a:xfrm>
          </p:grpSpPr>
          <p:grpSp>
            <p:nvGrpSpPr>
              <p:cNvPr id="49" name="Group 204"/>
              <p:cNvGrpSpPr>
                <a:grpSpLocks/>
              </p:cNvGrpSpPr>
              <p:nvPr/>
            </p:nvGrpSpPr>
            <p:grpSpPr bwMode="auto">
              <a:xfrm>
                <a:off x="667" y="2621"/>
                <a:ext cx="1245" cy="201"/>
                <a:chOff x="667" y="2621"/>
                <a:chExt cx="1245" cy="201"/>
              </a:xfrm>
            </p:grpSpPr>
            <p:sp>
              <p:nvSpPr>
                <p:cNvPr id="55" name="Freeform 201"/>
                <p:cNvSpPr>
                  <a:spLocks/>
                </p:cNvSpPr>
                <p:nvPr/>
              </p:nvSpPr>
              <p:spPr bwMode="auto">
                <a:xfrm>
                  <a:off x="667" y="2621"/>
                  <a:ext cx="1245" cy="147"/>
                </a:xfrm>
                <a:custGeom>
                  <a:avLst/>
                  <a:gdLst>
                    <a:gd name="T0" fmla="*/ 0 w 1245"/>
                    <a:gd name="T1" fmla="*/ 147 h 147"/>
                    <a:gd name="T2" fmla="*/ 142 w 1245"/>
                    <a:gd name="T3" fmla="*/ 0 h 147"/>
                    <a:gd name="T4" fmla="*/ 1091 w 1245"/>
                    <a:gd name="T5" fmla="*/ 0 h 147"/>
                    <a:gd name="T6" fmla="*/ 1245 w 1245"/>
                    <a:gd name="T7" fmla="*/ 147 h 147"/>
                    <a:gd name="T8" fmla="*/ 0 w 1245"/>
                    <a:gd name="T9" fmla="*/ 147 h 147"/>
                  </a:gdLst>
                  <a:ahLst/>
                  <a:cxnLst>
                    <a:cxn ang="0">
                      <a:pos x="T0" y="T1"/>
                    </a:cxn>
                    <a:cxn ang="0">
                      <a:pos x="T2" y="T3"/>
                    </a:cxn>
                    <a:cxn ang="0">
                      <a:pos x="T4" y="T5"/>
                    </a:cxn>
                    <a:cxn ang="0">
                      <a:pos x="T6" y="T7"/>
                    </a:cxn>
                    <a:cxn ang="0">
                      <a:pos x="T8" y="T9"/>
                    </a:cxn>
                  </a:cxnLst>
                  <a:rect l="0" t="0" r="r" b="b"/>
                  <a:pathLst>
                    <a:path w="1245" h="147">
                      <a:moveTo>
                        <a:pt x="0" y="147"/>
                      </a:moveTo>
                      <a:lnTo>
                        <a:pt x="142" y="0"/>
                      </a:lnTo>
                      <a:lnTo>
                        <a:pt x="1091" y="0"/>
                      </a:lnTo>
                      <a:lnTo>
                        <a:pt x="1245" y="147"/>
                      </a:lnTo>
                      <a:lnTo>
                        <a:pt x="0" y="147"/>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6" name="Freeform 202"/>
                <p:cNvSpPr>
                  <a:spLocks/>
                </p:cNvSpPr>
                <p:nvPr/>
              </p:nvSpPr>
              <p:spPr bwMode="auto">
                <a:xfrm>
                  <a:off x="667" y="2621"/>
                  <a:ext cx="1245" cy="147"/>
                </a:xfrm>
                <a:custGeom>
                  <a:avLst/>
                  <a:gdLst>
                    <a:gd name="T0" fmla="*/ 0 w 1245"/>
                    <a:gd name="T1" fmla="*/ 147 h 147"/>
                    <a:gd name="T2" fmla="*/ 142 w 1245"/>
                    <a:gd name="T3" fmla="*/ 0 h 147"/>
                    <a:gd name="T4" fmla="*/ 1091 w 1245"/>
                    <a:gd name="T5" fmla="*/ 0 h 147"/>
                    <a:gd name="T6" fmla="*/ 1245 w 1245"/>
                    <a:gd name="T7" fmla="*/ 147 h 147"/>
                    <a:gd name="T8" fmla="*/ 0 w 1245"/>
                    <a:gd name="T9" fmla="*/ 147 h 147"/>
                  </a:gdLst>
                  <a:ahLst/>
                  <a:cxnLst>
                    <a:cxn ang="0">
                      <a:pos x="T0" y="T1"/>
                    </a:cxn>
                    <a:cxn ang="0">
                      <a:pos x="T2" y="T3"/>
                    </a:cxn>
                    <a:cxn ang="0">
                      <a:pos x="T4" y="T5"/>
                    </a:cxn>
                    <a:cxn ang="0">
                      <a:pos x="T6" y="T7"/>
                    </a:cxn>
                    <a:cxn ang="0">
                      <a:pos x="T8" y="T9"/>
                    </a:cxn>
                  </a:cxnLst>
                  <a:rect l="0" t="0" r="r" b="b"/>
                  <a:pathLst>
                    <a:path w="1245" h="147">
                      <a:moveTo>
                        <a:pt x="0" y="147"/>
                      </a:moveTo>
                      <a:lnTo>
                        <a:pt x="142" y="0"/>
                      </a:lnTo>
                      <a:lnTo>
                        <a:pt x="1091" y="0"/>
                      </a:lnTo>
                      <a:lnTo>
                        <a:pt x="1245" y="147"/>
                      </a:lnTo>
                      <a:lnTo>
                        <a:pt x="0" y="147"/>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7" name="Rectangle 203"/>
                <p:cNvSpPr>
                  <a:spLocks noChangeArrowheads="1"/>
                </p:cNvSpPr>
                <p:nvPr/>
              </p:nvSpPr>
              <p:spPr bwMode="auto">
                <a:xfrm>
                  <a:off x="679" y="2755"/>
                  <a:ext cx="1221" cy="67"/>
                </a:xfrm>
                <a:prstGeom prst="rect">
                  <a:avLst/>
                </a:prstGeom>
                <a:solidFill>
                  <a:schemeClr val="tx2">
                    <a:lumMod val="40000"/>
                    <a:lumOff val="60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grpSp>
            <p:nvGrpSpPr>
              <p:cNvPr id="50" name="Group 209"/>
              <p:cNvGrpSpPr>
                <a:grpSpLocks/>
              </p:cNvGrpSpPr>
              <p:nvPr/>
            </p:nvGrpSpPr>
            <p:grpSpPr bwMode="auto">
              <a:xfrm>
                <a:off x="809" y="1712"/>
                <a:ext cx="949" cy="856"/>
                <a:chOff x="809" y="1712"/>
                <a:chExt cx="949" cy="856"/>
              </a:xfrm>
            </p:grpSpPr>
            <p:sp>
              <p:nvSpPr>
                <p:cNvPr id="51" name="Freeform 205"/>
                <p:cNvSpPr>
                  <a:spLocks/>
                </p:cNvSpPr>
                <p:nvPr/>
              </p:nvSpPr>
              <p:spPr bwMode="auto">
                <a:xfrm>
                  <a:off x="857" y="1712"/>
                  <a:ext cx="854" cy="107"/>
                </a:xfrm>
                <a:custGeom>
                  <a:avLst/>
                  <a:gdLst>
                    <a:gd name="T0" fmla="*/ 0 w 854"/>
                    <a:gd name="T1" fmla="*/ 107 h 107"/>
                    <a:gd name="T2" fmla="*/ 95 w 854"/>
                    <a:gd name="T3" fmla="*/ 0 h 107"/>
                    <a:gd name="T4" fmla="*/ 759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59" y="0"/>
                      </a:lnTo>
                      <a:lnTo>
                        <a:pt x="854" y="107"/>
                      </a:lnTo>
                      <a:lnTo>
                        <a:pt x="0" y="107"/>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2" name="Freeform 206"/>
                <p:cNvSpPr>
                  <a:spLocks/>
                </p:cNvSpPr>
                <p:nvPr/>
              </p:nvSpPr>
              <p:spPr bwMode="auto">
                <a:xfrm>
                  <a:off x="857" y="1712"/>
                  <a:ext cx="854" cy="107"/>
                </a:xfrm>
                <a:custGeom>
                  <a:avLst/>
                  <a:gdLst>
                    <a:gd name="T0" fmla="*/ 0 w 854"/>
                    <a:gd name="T1" fmla="*/ 107 h 107"/>
                    <a:gd name="T2" fmla="*/ 95 w 854"/>
                    <a:gd name="T3" fmla="*/ 0 h 107"/>
                    <a:gd name="T4" fmla="*/ 759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59" y="0"/>
                      </a:lnTo>
                      <a:lnTo>
                        <a:pt x="854" y="107"/>
                      </a:lnTo>
                      <a:lnTo>
                        <a:pt x="0" y="107"/>
                      </a:lnTo>
                      <a:close/>
                    </a:path>
                  </a:pathLst>
                </a:custGeom>
                <a:solidFill>
                  <a:srgbClr val="0066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3" name="AutoShape 207"/>
                <p:cNvSpPr>
                  <a:spLocks noChangeArrowheads="1"/>
                </p:cNvSpPr>
                <p:nvPr/>
              </p:nvSpPr>
              <p:spPr bwMode="auto">
                <a:xfrm>
                  <a:off x="809" y="1806"/>
                  <a:ext cx="949" cy="762"/>
                </a:xfrm>
                <a:prstGeom prst="roundRect">
                  <a:avLst>
                    <a:gd name="adj" fmla="val 16667"/>
                  </a:avLst>
                </a:prstGeom>
                <a:solidFill>
                  <a:schemeClr val="tx2">
                    <a:lumMod val="40000"/>
                    <a:lumOff val="60000"/>
                  </a:schemeClr>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4" name="AutoShape 208"/>
                <p:cNvSpPr>
                  <a:spLocks noChangeArrowheads="1"/>
                </p:cNvSpPr>
                <p:nvPr/>
              </p:nvSpPr>
              <p:spPr bwMode="auto">
                <a:xfrm>
                  <a:off x="892" y="1899"/>
                  <a:ext cx="771" cy="562"/>
                </a:xfrm>
                <a:prstGeom prst="roundRect">
                  <a:avLst>
                    <a:gd name="adj" fmla="val 16667"/>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grpSp>
      </p:grpSp>
      <p:grpSp>
        <p:nvGrpSpPr>
          <p:cNvPr id="3" name="Group 166"/>
          <p:cNvGrpSpPr>
            <a:grpSpLocks noChangeAspect="1"/>
          </p:cNvGrpSpPr>
          <p:nvPr/>
        </p:nvGrpSpPr>
        <p:grpSpPr bwMode="auto">
          <a:xfrm>
            <a:off x="6123095" y="1429056"/>
            <a:ext cx="1585335" cy="1628850"/>
            <a:chOff x="4710" y="1652"/>
            <a:chExt cx="1348" cy="1385"/>
          </a:xfrm>
        </p:grpSpPr>
        <p:sp>
          <p:nvSpPr>
            <p:cNvPr id="4" name="AutoShape 165"/>
            <p:cNvSpPr>
              <a:spLocks noChangeAspect="1" noChangeArrowheads="1" noTextEdit="1"/>
            </p:cNvSpPr>
            <p:nvPr/>
          </p:nvSpPr>
          <p:spPr bwMode="auto">
            <a:xfrm>
              <a:off x="4710" y="1652"/>
              <a:ext cx="1348" cy="1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 name="Rectangle 167"/>
            <p:cNvSpPr>
              <a:spLocks noChangeArrowheads="1"/>
            </p:cNvSpPr>
            <p:nvPr/>
          </p:nvSpPr>
          <p:spPr bwMode="auto">
            <a:xfrm>
              <a:off x="4717" y="2573"/>
              <a:ext cx="1200" cy="25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6" name="Rectangle 168"/>
            <p:cNvSpPr>
              <a:spLocks noChangeArrowheads="1"/>
            </p:cNvSpPr>
            <p:nvPr/>
          </p:nvSpPr>
          <p:spPr bwMode="auto">
            <a:xfrm>
              <a:off x="4717" y="2573"/>
              <a:ext cx="1200" cy="251"/>
            </a:xfrm>
            <a:prstGeom prst="rect">
              <a:avLst/>
            </a:prstGeom>
            <a:solidFill>
              <a:schemeClr val="tx2">
                <a:lumMod val="20000"/>
                <a:lumOff val="80000"/>
              </a:schemeClr>
            </a:solid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 name="Freeform 169"/>
            <p:cNvSpPr>
              <a:spLocks/>
            </p:cNvSpPr>
            <p:nvPr/>
          </p:nvSpPr>
          <p:spPr bwMode="auto">
            <a:xfrm>
              <a:off x="4717" y="2436"/>
              <a:ext cx="1328" cy="137"/>
            </a:xfrm>
            <a:custGeom>
              <a:avLst/>
              <a:gdLst>
                <a:gd name="T0" fmla="*/ 0 w 1328"/>
                <a:gd name="T1" fmla="*/ 137 h 137"/>
                <a:gd name="T2" fmla="*/ 127 w 1328"/>
                <a:gd name="T3" fmla="*/ 0 h 137"/>
                <a:gd name="T4" fmla="*/ 1328 w 1328"/>
                <a:gd name="T5" fmla="*/ 0 h 137"/>
                <a:gd name="T6" fmla="*/ 1200 w 1328"/>
                <a:gd name="T7" fmla="*/ 137 h 137"/>
                <a:gd name="T8" fmla="*/ 0 w 1328"/>
                <a:gd name="T9" fmla="*/ 137 h 137"/>
              </a:gdLst>
              <a:ahLst/>
              <a:cxnLst>
                <a:cxn ang="0">
                  <a:pos x="T0" y="T1"/>
                </a:cxn>
                <a:cxn ang="0">
                  <a:pos x="T2" y="T3"/>
                </a:cxn>
                <a:cxn ang="0">
                  <a:pos x="T4" y="T5"/>
                </a:cxn>
                <a:cxn ang="0">
                  <a:pos x="T6" y="T7"/>
                </a:cxn>
                <a:cxn ang="0">
                  <a:pos x="T8" y="T9"/>
                </a:cxn>
              </a:cxnLst>
              <a:rect l="0" t="0" r="r" b="b"/>
              <a:pathLst>
                <a:path w="1328" h="137">
                  <a:moveTo>
                    <a:pt x="0" y="137"/>
                  </a:moveTo>
                  <a:lnTo>
                    <a:pt x="127" y="0"/>
                  </a:lnTo>
                  <a:lnTo>
                    <a:pt x="1328" y="0"/>
                  </a:lnTo>
                  <a:lnTo>
                    <a:pt x="1200" y="137"/>
                  </a:lnTo>
                  <a:lnTo>
                    <a:pt x="0" y="137"/>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 name="Freeform 170"/>
            <p:cNvSpPr>
              <a:spLocks/>
            </p:cNvSpPr>
            <p:nvPr/>
          </p:nvSpPr>
          <p:spPr bwMode="auto">
            <a:xfrm>
              <a:off x="4717" y="2436"/>
              <a:ext cx="1328" cy="137"/>
            </a:xfrm>
            <a:custGeom>
              <a:avLst/>
              <a:gdLst>
                <a:gd name="T0" fmla="*/ 0 w 1328"/>
                <a:gd name="T1" fmla="*/ 137 h 137"/>
                <a:gd name="T2" fmla="*/ 127 w 1328"/>
                <a:gd name="T3" fmla="*/ 0 h 137"/>
                <a:gd name="T4" fmla="*/ 1328 w 1328"/>
                <a:gd name="T5" fmla="*/ 0 h 137"/>
                <a:gd name="T6" fmla="*/ 1200 w 1328"/>
                <a:gd name="T7" fmla="*/ 137 h 137"/>
                <a:gd name="T8" fmla="*/ 0 w 1328"/>
                <a:gd name="T9" fmla="*/ 137 h 137"/>
              </a:gdLst>
              <a:ahLst/>
              <a:cxnLst>
                <a:cxn ang="0">
                  <a:pos x="T0" y="T1"/>
                </a:cxn>
                <a:cxn ang="0">
                  <a:pos x="T2" y="T3"/>
                </a:cxn>
                <a:cxn ang="0">
                  <a:pos x="T4" y="T5"/>
                </a:cxn>
                <a:cxn ang="0">
                  <a:pos x="T6" y="T7"/>
                </a:cxn>
                <a:cxn ang="0">
                  <a:pos x="T8" y="T9"/>
                </a:cxn>
              </a:cxnLst>
              <a:rect l="0" t="0" r="r" b="b"/>
              <a:pathLst>
                <a:path w="1328" h="137">
                  <a:moveTo>
                    <a:pt x="0" y="137"/>
                  </a:moveTo>
                  <a:lnTo>
                    <a:pt x="127" y="0"/>
                  </a:lnTo>
                  <a:lnTo>
                    <a:pt x="1328" y="0"/>
                  </a:lnTo>
                  <a:lnTo>
                    <a:pt x="1200" y="137"/>
                  </a:lnTo>
                  <a:lnTo>
                    <a:pt x="0" y="137"/>
                  </a:lnTo>
                  <a:close/>
                </a:path>
              </a:pathLst>
            </a:custGeom>
            <a:solidFill>
              <a:schemeClr val="tx2">
                <a:lumMod val="40000"/>
                <a:lumOff val="60000"/>
              </a:schemeClr>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 name="Line 171"/>
            <p:cNvSpPr>
              <a:spLocks noChangeShapeType="1"/>
            </p:cNvSpPr>
            <p:nvPr/>
          </p:nvSpPr>
          <p:spPr bwMode="auto">
            <a:xfrm flipH="1">
              <a:off x="5562" y="2687"/>
              <a:ext cx="288" cy="1"/>
            </a:xfrm>
            <a:prstGeom prst="line">
              <a:avLst/>
            </a:prstGeom>
            <a:noFill/>
            <a:ln w="2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172"/>
            <p:cNvSpPr>
              <a:spLocks/>
            </p:cNvSpPr>
            <p:nvPr/>
          </p:nvSpPr>
          <p:spPr bwMode="auto">
            <a:xfrm>
              <a:off x="5917" y="2436"/>
              <a:ext cx="128" cy="388"/>
            </a:xfrm>
            <a:custGeom>
              <a:avLst/>
              <a:gdLst>
                <a:gd name="T0" fmla="*/ 0 w 128"/>
                <a:gd name="T1" fmla="*/ 388 h 388"/>
                <a:gd name="T2" fmla="*/ 128 w 128"/>
                <a:gd name="T3" fmla="*/ 243 h 388"/>
                <a:gd name="T4" fmla="*/ 128 w 128"/>
                <a:gd name="T5" fmla="*/ 0 h 388"/>
                <a:gd name="T6" fmla="*/ 0 w 128"/>
                <a:gd name="T7" fmla="*/ 137 h 388"/>
                <a:gd name="T8" fmla="*/ 0 w 128"/>
                <a:gd name="T9" fmla="*/ 388 h 388"/>
              </a:gdLst>
              <a:ahLst/>
              <a:cxnLst>
                <a:cxn ang="0">
                  <a:pos x="T0" y="T1"/>
                </a:cxn>
                <a:cxn ang="0">
                  <a:pos x="T2" y="T3"/>
                </a:cxn>
                <a:cxn ang="0">
                  <a:pos x="T4" y="T5"/>
                </a:cxn>
                <a:cxn ang="0">
                  <a:pos x="T6" y="T7"/>
                </a:cxn>
                <a:cxn ang="0">
                  <a:pos x="T8" y="T9"/>
                </a:cxn>
              </a:cxnLst>
              <a:rect l="0" t="0" r="r" b="b"/>
              <a:pathLst>
                <a:path w="128" h="388">
                  <a:moveTo>
                    <a:pt x="0" y="388"/>
                  </a:moveTo>
                  <a:lnTo>
                    <a:pt x="128" y="243"/>
                  </a:lnTo>
                  <a:lnTo>
                    <a:pt x="128" y="0"/>
                  </a:lnTo>
                  <a:lnTo>
                    <a:pt x="0" y="137"/>
                  </a:lnTo>
                  <a:lnTo>
                    <a:pt x="0" y="388"/>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1" name="Freeform 173"/>
            <p:cNvSpPr>
              <a:spLocks/>
            </p:cNvSpPr>
            <p:nvPr/>
          </p:nvSpPr>
          <p:spPr bwMode="auto">
            <a:xfrm>
              <a:off x="5917" y="2436"/>
              <a:ext cx="128" cy="388"/>
            </a:xfrm>
            <a:custGeom>
              <a:avLst/>
              <a:gdLst>
                <a:gd name="T0" fmla="*/ 0 w 128"/>
                <a:gd name="T1" fmla="*/ 388 h 388"/>
                <a:gd name="T2" fmla="*/ 128 w 128"/>
                <a:gd name="T3" fmla="*/ 243 h 388"/>
                <a:gd name="T4" fmla="*/ 128 w 128"/>
                <a:gd name="T5" fmla="*/ 0 h 388"/>
                <a:gd name="T6" fmla="*/ 0 w 128"/>
                <a:gd name="T7" fmla="*/ 137 h 388"/>
                <a:gd name="T8" fmla="*/ 0 w 128"/>
                <a:gd name="T9" fmla="*/ 388 h 388"/>
              </a:gdLst>
              <a:ahLst/>
              <a:cxnLst>
                <a:cxn ang="0">
                  <a:pos x="T0" y="T1"/>
                </a:cxn>
                <a:cxn ang="0">
                  <a:pos x="T2" y="T3"/>
                </a:cxn>
                <a:cxn ang="0">
                  <a:pos x="T4" y="T5"/>
                </a:cxn>
                <a:cxn ang="0">
                  <a:pos x="T6" y="T7"/>
                </a:cxn>
                <a:cxn ang="0">
                  <a:pos x="T8" y="T9"/>
                </a:cxn>
              </a:cxnLst>
              <a:rect l="0" t="0" r="r" b="b"/>
              <a:pathLst>
                <a:path w="128" h="388">
                  <a:moveTo>
                    <a:pt x="0" y="388"/>
                  </a:moveTo>
                  <a:lnTo>
                    <a:pt x="128" y="243"/>
                  </a:lnTo>
                  <a:lnTo>
                    <a:pt x="128" y="0"/>
                  </a:lnTo>
                  <a:lnTo>
                    <a:pt x="0" y="137"/>
                  </a:lnTo>
                  <a:lnTo>
                    <a:pt x="0" y="388"/>
                  </a:lnTo>
                  <a:close/>
                </a:path>
              </a:pathLst>
            </a:custGeom>
            <a:solidFill>
              <a:srgbClr val="0066FF"/>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2" name="Freeform 174"/>
            <p:cNvSpPr>
              <a:spLocks/>
            </p:cNvSpPr>
            <p:nvPr/>
          </p:nvSpPr>
          <p:spPr bwMode="auto">
            <a:xfrm>
              <a:off x="4723" y="2793"/>
              <a:ext cx="1060" cy="191"/>
            </a:xfrm>
            <a:custGeom>
              <a:avLst/>
              <a:gdLst>
                <a:gd name="T0" fmla="*/ 0 w 1060"/>
                <a:gd name="T1" fmla="*/ 191 h 191"/>
                <a:gd name="T2" fmla="*/ 135 w 1060"/>
                <a:gd name="T3" fmla="*/ 0 h 191"/>
                <a:gd name="T4" fmla="*/ 1060 w 1060"/>
                <a:gd name="T5" fmla="*/ 0 h 191"/>
                <a:gd name="T6" fmla="*/ 926 w 1060"/>
                <a:gd name="T7" fmla="*/ 191 h 191"/>
                <a:gd name="T8" fmla="*/ 0 w 1060"/>
                <a:gd name="T9" fmla="*/ 191 h 191"/>
              </a:gdLst>
              <a:ahLst/>
              <a:cxnLst>
                <a:cxn ang="0">
                  <a:pos x="T0" y="T1"/>
                </a:cxn>
                <a:cxn ang="0">
                  <a:pos x="T2" y="T3"/>
                </a:cxn>
                <a:cxn ang="0">
                  <a:pos x="T4" y="T5"/>
                </a:cxn>
                <a:cxn ang="0">
                  <a:pos x="T6" y="T7"/>
                </a:cxn>
                <a:cxn ang="0">
                  <a:pos x="T8" y="T9"/>
                </a:cxn>
              </a:cxnLst>
              <a:rect l="0" t="0" r="r" b="b"/>
              <a:pathLst>
                <a:path w="1060" h="191">
                  <a:moveTo>
                    <a:pt x="0" y="191"/>
                  </a:moveTo>
                  <a:lnTo>
                    <a:pt x="135" y="0"/>
                  </a:lnTo>
                  <a:lnTo>
                    <a:pt x="1060" y="0"/>
                  </a:lnTo>
                  <a:lnTo>
                    <a:pt x="926" y="191"/>
                  </a:lnTo>
                  <a:lnTo>
                    <a:pt x="0" y="191"/>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175"/>
            <p:cNvSpPr>
              <a:spLocks/>
            </p:cNvSpPr>
            <p:nvPr/>
          </p:nvSpPr>
          <p:spPr bwMode="auto">
            <a:xfrm>
              <a:off x="4723" y="2793"/>
              <a:ext cx="1060" cy="191"/>
            </a:xfrm>
            <a:custGeom>
              <a:avLst/>
              <a:gdLst>
                <a:gd name="T0" fmla="*/ 0 w 1060"/>
                <a:gd name="T1" fmla="*/ 191 h 191"/>
                <a:gd name="T2" fmla="*/ 135 w 1060"/>
                <a:gd name="T3" fmla="*/ 0 h 191"/>
                <a:gd name="T4" fmla="*/ 1060 w 1060"/>
                <a:gd name="T5" fmla="*/ 0 h 191"/>
                <a:gd name="T6" fmla="*/ 926 w 1060"/>
                <a:gd name="T7" fmla="*/ 191 h 191"/>
                <a:gd name="T8" fmla="*/ 0 w 1060"/>
                <a:gd name="T9" fmla="*/ 191 h 191"/>
              </a:gdLst>
              <a:ahLst/>
              <a:cxnLst>
                <a:cxn ang="0">
                  <a:pos x="T0" y="T1"/>
                </a:cxn>
                <a:cxn ang="0">
                  <a:pos x="T2" y="T3"/>
                </a:cxn>
                <a:cxn ang="0">
                  <a:pos x="T4" y="T5"/>
                </a:cxn>
                <a:cxn ang="0">
                  <a:pos x="T6" y="T7"/>
                </a:cxn>
                <a:cxn ang="0">
                  <a:pos x="T8" y="T9"/>
                </a:cxn>
              </a:cxnLst>
              <a:rect l="0" t="0" r="r" b="b"/>
              <a:pathLst>
                <a:path w="1060" h="191">
                  <a:moveTo>
                    <a:pt x="0" y="191"/>
                  </a:moveTo>
                  <a:lnTo>
                    <a:pt x="135" y="0"/>
                  </a:lnTo>
                  <a:lnTo>
                    <a:pt x="1060" y="0"/>
                  </a:lnTo>
                  <a:lnTo>
                    <a:pt x="926" y="191"/>
                  </a:lnTo>
                  <a:lnTo>
                    <a:pt x="0" y="191"/>
                  </a:lnTo>
                  <a:close/>
                </a:path>
              </a:pathLst>
            </a:custGeom>
            <a:solidFill>
              <a:schemeClr val="tx2">
                <a:lumMod val="40000"/>
                <a:lumOff val="60000"/>
              </a:schemeClr>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4" name="Freeform 176"/>
            <p:cNvSpPr>
              <a:spLocks/>
            </p:cNvSpPr>
            <p:nvPr/>
          </p:nvSpPr>
          <p:spPr bwMode="auto">
            <a:xfrm>
              <a:off x="5649" y="2793"/>
              <a:ext cx="134" cy="229"/>
            </a:xfrm>
            <a:custGeom>
              <a:avLst/>
              <a:gdLst>
                <a:gd name="T0" fmla="*/ 0 w 134"/>
                <a:gd name="T1" fmla="*/ 229 h 229"/>
                <a:gd name="T2" fmla="*/ 134 w 134"/>
                <a:gd name="T3" fmla="*/ 69 h 229"/>
                <a:gd name="T4" fmla="*/ 134 w 134"/>
                <a:gd name="T5" fmla="*/ 0 h 229"/>
                <a:gd name="T6" fmla="*/ 0 w 134"/>
                <a:gd name="T7" fmla="*/ 191 h 229"/>
                <a:gd name="T8" fmla="*/ 0 w 134"/>
                <a:gd name="T9" fmla="*/ 229 h 229"/>
              </a:gdLst>
              <a:ahLst/>
              <a:cxnLst>
                <a:cxn ang="0">
                  <a:pos x="T0" y="T1"/>
                </a:cxn>
                <a:cxn ang="0">
                  <a:pos x="T2" y="T3"/>
                </a:cxn>
                <a:cxn ang="0">
                  <a:pos x="T4" y="T5"/>
                </a:cxn>
                <a:cxn ang="0">
                  <a:pos x="T6" y="T7"/>
                </a:cxn>
                <a:cxn ang="0">
                  <a:pos x="T8" y="T9"/>
                </a:cxn>
              </a:cxnLst>
              <a:rect l="0" t="0" r="r" b="b"/>
              <a:pathLst>
                <a:path w="134" h="229">
                  <a:moveTo>
                    <a:pt x="0" y="229"/>
                  </a:moveTo>
                  <a:lnTo>
                    <a:pt x="134" y="69"/>
                  </a:lnTo>
                  <a:lnTo>
                    <a:pt x="134" y="0"/>
                  </a:lnTo>
                  <a:lnTo>
                    <a:pt x="0" y="191"/>
                  </a:lnTo>
                  <a:lnTo>
                    <a:pt x="0" y="2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5" name="Freeform 177"/>
            <p:cNvSpPr>
              <a:spLocks/>
            </p:cNvSpPr>
            <p:nvPr/>
          </p:nvSpPr>
          <p:spPr bwMode="auto">
            <a:xfrm>
              <a:off x="5649" y="2793"/>
              <a:ext cx="134" cy="229"/>
            </a:xfrm>
            <a:custGeom>
              <a:avLst/>
              <a:gdLst>
                <a:gd name="T0" fmla="*/ 0 w 134"/>
                <a:gd name="T1" fmla="*/ 229 h 229"/>
                <a:gd name="T2" fmla="*/ 134 w 134"/>
                <a:gd name="T3" fmla="*/ 69 h 229"/>
                <a:gd name="T4" fmla="*/ 134 w 134"/>
                <a:gd name="T5" fmla="*/ 0 h 229"/>
                <a:gd name="T6" fmla="*/ 0 w 134"/>
                <a:gd name="T7" fmla="*/ 191 h 229"/>
                <a:gd name="T8" fmla="*/ 0 w 134"/>
                <a:gd name="T9" fmla="*/ 229 h 229"/>
              </a:gdLst>
              <a:ahLst/>
              <a:cxnLst>
                <a:cxn ang="0">
                  <a:pos x="T0" y="T1"/>
                </a:cxn>
                <a:cxn ang="0">
                  <a:pos x="T2" y="T3"/>
                </a:cxn>
                <a:cxn ang="0">
                  <a:pos x="T4" y="T5"/>
                </a:cxn>
                <a:cxn ang="0">
                  <a:pos x="T6" y="T7"/>
                </a:cxn>
                <a:cxn ang="0">
                  <a:pos x="T8" y="T9"/>
                </a:cxn>
              </a:cxnLst>
              <a:rect l="0" t="0" r="r" b="b"/>
              <a:pathLst>
                <a:path w="134" h="229">
                  <a:moveTo>
                    <a:pt x="0" y="229"/>
                  </a:moveTo>
                  <a:lnTo>
                    <a:pt x="134" y="69"/>
                  </a:lnTo>
                  <a:lnTo>
                    <a:pt x="134" y="0"/>
                  </a:lnTo>
                  <a:lnTo>
                    <a:pt x="0" y="191"/>
                  </a:lnTo>
                  <a:lnTo>
                    <a:pt x="0" y="229"/>
                  </a:lnTo>
                  <a:close/>
                </a:path>
              </a:pathLst>
            </a:custGeom>
            <a:solidFill>
              <a:srgbClr val="0066FF"/>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6" name="Rectangle 178"/>
            <p:cNvSpPr>
              <a:spLocks noChangeArrowheads="1"/>
            </p:cNvSpPr>
            <p:nvPr/>
          </p:nvSpPr>
          <p:spPr bwMode="auto">
            <a:xfrm>
              <a:off x="4723" y="2984"/>
              <a:ext cx="926" cy="3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7" name="Rectangle 179"/>
            <p:cNvSpPr>
              <a:spLocks noChangeArrowheads="1"/>
            </p:cNvSpPr>
            <p:nvPr/>
          </p:nvSpPr>
          <p:spPr bwMode="auto">
            <a:xfrm>
              <a:off x="4723" y="2984"/>
              <a:ext cx="926" cy="38"/>
            </a:xfrm>
            <a:prstGeom prst="rect">
              <a:avLst/>
            </a:prstGeom>
            <a:solidFill>
              <a:schemeClr val="tx2">
                <a:lumMod val="20000"/>
                <a:lumOff val="80000"/>
              </a:schemeClr>
            </a:solid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8" name="Freeform 180"/>
            <p:cNvSpPr>
              <a:spLocks/>
            </p:cNvSpPr>
            <p:nvPr/>
          </p:nvSpPr>
          <p:spPr bwMode="auto">
            <a:xfrm>
              <a:off x="4898" y="2436"/>
              <a:ext cx="952" cy="106"/>
            </a:xfrm>
            <a:custGeom>
              <a:avLst/>
              <a:gdLst>
                <a:gd name="T0" fmla="*/ 0 w 952"/>
                <a:gd name="T1" fmla="*/ 106 h 106"/>
                <a:gd name="T2" fmla="*/ 100 w 952"/>
                <a:gd name="T3" fmla="*/ 0 h 106"/>
                <a:gd name="T4" fmla="*/ 952 w 952"/>
                <a:gd name="T5" fmla="*/ 0 h 106"/>
                <a:gd name="T6" fmla="*/ 858 w 952"/>
                <a:gd name="T7" fmla="*/ 106 h 106"/>
                <a:gd name="T8" fmla="*/ 0 w 952"/>
                <a:gd name="T9" fmla="*/ 106 h 106"/>
              </a:gdLst>
              <a:ahLst/>
              <a:cxnLst>
                <a:cxn ang="0">
                  <a:pos x="T0" y="T1"/>
                </a:cxn>
                <a:cxn ang="0">
                  <a:pos x="T2" y="T3"/>
                </a:cxn>
                <a:cxn ang="0">
                  <a:pos x="T4" y="T5"/>
                </a:cxn>
                <a:cxn ang="0">
                  <a:pos x="T6" y="T7"/>
                </a:cxn>
                <a:cxn ang="0">
                  <a:pos x="T8" y="T9"/>
                </a:cxn>
              </a:cxnLst>
              <a:rect l="0" t="0" r="r" b="b"/>
              <a:pathLst>
                <a:path w="952" h="106">
                  <a:moveTo>
                    <a:pt x="0" y="106"/>
                  </a:moveTo>
                  <a:lnTo>
                    <a:pt x="100" y="0"/>
                  </a:lnTo>
                  <a:lnTo>
                    <a:pt x="952" y="0"/>
                  </a:lnTo>
                  <a:lnTo>
                    <a:pt x="858" y="106"/>
                  </a:lnTo>
                  <a:lnTo>
                    <a:pt x="0" y="10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181"/>
            <p:cNvSpPr>
              <a:spLocks/>
            </p:cNvSpPr>
            <p:nvPr/>
          </p:nvSpPr>
          <p:spPr bwMode="auto">
            <a:xfrm>
              <a:off x="4898" y="2436"/>
              <a:ext cx="952" cy="106"/>
            </a:xfrm>
            <a:custGeom>
              <a:avLst/>
              <a:gdLst>
                <a:gd name="T0" fmla="*/ 0 w 952"/>
                <a:gd name="T1" fmla="*/ 106 h 106"/>
                <a:gd name="T2" fmla="*/ 100 w 952"/>
                <a:gd name="T3" fmla="*/ 0 h 106"/>
                <a:gd name="T4" fmla="*/ 952 w 952"/>
                <a:gd name="T5" fmla="*/ 0 h 106"/>
                <a:gd name="T6" fmla="*/ 858 w 952"/>
                <a:gd name="T7" fmla="*/ 106 h 106"/>
                <a:gd name="T8" fmla="*/ 0 w 952"/>
                <a:gd name="T9" fmla="*/ 106 h 106"/>
              </a:gdLst>
              <a:ahLst/>
              <a:cxnLst>
                <a:cxn ang="0">
                  <a:pos x="T0" y="T1"/>
                </a:cxn>
                <a:cxn ang="0">
                  <a:pos x="T2" y="T3"/>
                </a:cxn>
                <a:cxn ang="0">
                  <a:pos x="T4" y="T5"/>
                </a:cxn>
                <a:cxn ang="0">
                  <a:pos x="T6" y="T7"/>
                </a:cxn>
                <a:cxn ang="0">
                  <a:pos x="T8" y="T9"/>
                </a:cxn>
              </a:cxnLst>
              <a:rect l="0" t="0" r="r" b="b"/>
              <a:pathLst>
                <a:path w="952" h="106">
                  <a:moveTo>
                    <a:pt x="0" y="106"/>
                  </a:moveTo>
                  <a:lnTo>
                    <a:pt x="100" y="0"/>
                  </a:lnTo>
                  <a:lnTo>
                    <a:pt x="952" y="0"/>
                  </a:lnTo>
                  <a:lnTo>
                    <a:pt x="858" y="106"/>
                  </a:lnTo>
                  <a:lnTo>
                    <a:pt x="0" y="106"/>
                  </a:lnTo>
                  <a:close/>
                </a:path>
              </a:pathLst>
            </a:custGeom>
            <a:solidFill>
              <a:srgbClr val="000000"/>
            </a:solidFill>
            <a:ln w="7">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0" name="Freeform 182"/>
            <p:cNvSpPr>
              <a:spLocks/>
            </p:cNvSpPr>
            <p:nvPr/>
          </p:nvSpPr>
          <p:spPr bwMode="auto">
            <a:xfrm>
              <a:off x="4891" y="1660"/>
              <a:ext cx="946" cy="99"/>
            </a:xfrm>
            <a:custGeom>
              <a:avLst/>
              <a:gdLst>
                <a:gd name="T0" fmla="*/ 0 w 946"/>
                <a:gd name="T1" fmla="*/ 99 h 99"/>
                <a:gd name="T2" fmla="*/ 94 w 946"/>
                <a:gd name="T3" fmla="*/ 0 h 99"/>
                <a:gd name="T4" fmla="*/ 946 w 946"/>
                <a:gd name="T5" fmla="*/ 0 h 99"/>
                <a:gd name="T6" fmla="*/ 852 w 946"/>
                <a:gd name="T7" fmla="*/ 99 h 99"/>
                <a:gd name="T8" fmla="*/ 0 w 946"/>
                <a:gd name="T9" fmla="*/ 99 h 99"/>
              </a:gdLst>
              <a:ahLst/>
              <a:cxnLst>
                <a:cxn ang="0">
                  <a:pos x="T0" y="T1"/>
                </a:cxn>
                <a:cxn ang="0">
                  <a:pos x="T2" y="T3"/>
                </a:cxn>
                <a:cxn ang="0">
                  <a:pos x="T4" y="T5"/>
                </a:cxn>
                <a:cxn ang="0">
                  <a:pos x="T6" y="T7"/>
                </a:cxn>
                <a:cxn ang="0">
                  <a:pos x="T8" y="T9"/>
                </a:cxn>
              </a:cxnLst>
              <a:rect l="0" t="0" r="r" b="b"/>
              <a:pathLst>
                <a:path w="946" h="99">
                  <a:moveTo>
                    <a:pt x="0" y="99"/>
                  </a:moveTo>
                  <a:lnTo>
                    <a:pt x="94" y="0"/>
                  </a:lnTo>
                  <a:lnTo>
                    <a:pt x="946" y="0"/>
                  </a:lnTo>
                  <a:lnTo>
                    <a:pt x="852" y="99"/>
                  </a:lnTo>
                  <a:lnTo>
                    <a:pt x="0" y="9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1" name="Freeform 183"/>
            <p:cNvSpPr>
              <a:spLocks/>
            </p:cNvSpPr>
            <p:nvPr/>
          </p:nvSpPr>
          <p:spPr bwMode="auto">
            <a:xfrm>
              <a:off x="4891" y="1660"/>
              <a:ext cx="946" cy="99"/>
            </a:xfrm>
            <a:custGeom>
              <a:avLst/>
              <a:gdLst>
                <a:gd name="T0" fmla="*/ 0 w 946"/>
                <a:gd name="T1" fmla="*/ 99 h 99"/>
                <a:gd name="T2" fmla="*/ 94 w 946"/>
                <a:gd name="T3" fmla="*/ 0 h 99"/>
                <a:gd name="T4" fmla="*/ 946 w 946"/>
                <a:gd name="T5" fmla="*/ 0 h 99"/>
                <a:gd name="T6" fmla="*/ 852 w 946"/>
                <a:gd name="T7" fmla="*/ 99 h 99"/>
                <a:gd name="T8" fmla="*/ 0 w 946"/>
                <a:gd name="T9" fmla="*/ 99 h 99"/>
              </a:gdLst>
              <a:ahLst/>
              <a:cxnLst>
                <a:cxn ang="0">
                  <a:pos x="T0" y="T1"/>
                </a:cxn>
                <a:cxn ang="0">
                  <a:pos x="T2" y="T3"/>
                </a:cxn>
                <a:cxn ang="0">
                  <a:pos x="T4" y="T5"/>
                </a:cxn>
                <a:cxn ang="0">
                  <a:pos x="T6" y="T7"/>
                </a:cxn>
                <a:cxn ang="0">
                  <a:pos x="T8" y="T9"/>
                </a:cxn>
              </a:cxnLst>
              <a:rect l="0" t="0" r="r" b="b"/>
              <a:pathLst>
                <a:path w="946" h="99">
                  <a:moveTo>
                    <a:pt x="0" y="99"/>
                  </a:moveTo>
                  <a:lnTo>
                    <a:pt x="94" y="0"/>
                  </a:lnTo>
                  <a:lnTo>
                    <a:pt x="946" y="0"/>
                  </a:lnTo>
                  <a:lnTo>
                    <a:pt x="852" y="99"/>
                  </a:lnTo>
                  <a:lnTo>
                    <a:pt x="0" y="99"/>
                  </a:lnTo>
                  <a:close/>
                </a:path>
              </a:pathLst>
            </a:custGeom>
            <a:solidFill>
              <a:schemeClr val="tx2">
                <a:lumMod val="40000"/>
                <a:lumOff val="60000"/>
              </a:schemeClr>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2" name="Rectangle 184"/>
            <p:cNvSpPr>
              <a:spLocks noChangeArrowheads="1"/>
            </p:cNvSpPr>
            <p:nvPr/>
          </p:nvSpPr>
          <p:spPr bwMode="auto">
            <a:xfrm>
              <a:off x="4891" y="1759"/>
              <a:ext cx="859" cy="768"/>
            </a:xfrm>
            <a:prstGeom prst="rect">
              <a:avLst/>
            </a:prstGeom>
            <a:solidFill>
              <a:schemeClr val="tx2">
                <a:lumMod val="20000"/>
                <a:lumOff val="80000"/>
              </a:schemeClr>
            </a:solid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3" name="Rectangle 185"/>
            <p:cNvSpPr>
              <a:spLocks noChangeArrowheads="1"/>
            </p:cNvSpPr>
            <p:nvPr/>
          </p:nvSpPr>
          <p:spPr bwMode="auto">
            <a:xfrm>
              <a:off x="4965" y="1857"/>
              <a:ext cx="711" cy="594"/>
            </a:xfrm>
            <a:prstGeom prst="rect">
              <a:avLst/>
            </a:prstGeom>
            <a:solidFill>
              <a:srgbClr val="FFFFFF"/>
            </a:solidFill>
            <a:ln w="7">
              <a:solidFill>
                <a:srgbClr val="494936"/>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4" name="Freeform 186"/>
            <p:cNvSpPr>
              <a:spLocks/>
            </p:cNvSpPr>
            <p:nvPr/>
          </p:nvSpPr>
          <p:spPr bwMode="auto">
            <a:xfrm>
              <a:off x="5743" y="1660"/>
              <a:ext cx="94" cy="860"/>
            </a:xfrm>
            <a:custGeom>
              <a:avLst/>
              <a:gdLst>
                <a:gd name="T0" fmla="*/ 0 w 94"/>
                <a:gd name="T1" fmla="*/ 860 h 860"/>
                <a:gd name="T2" fmla="*/ 94 w 94"/>
                <a:gd name="T3" fmla="*/ 753 h 860"/>
                <a:gd name="T4" fmla="*/ 94 w 94"/>
                <a:gd name="T5" fmla="*/ 0 h 860"/>
                <a:gd name="T6" fmla="*/ 0 w 94"/>
                <a:gd name="T7" fmla="*/ 99 h 860"/>
                <a:gd name="T8" fmla="*/ 0 w 94"/>
                <a:gd name="T9" fmla="*/ 860 h 860"/>
              </a:gdLst>
              <a:ahLst/>
              <a:cxnLst>
                <a:cxn ang="0">
                  <a:pos x="T0" y="T1"/>
                </a:cxn>
                <a:cxn ang="0">
                  <a:pos x="T2" y="T3"/>
                </a:cxn>
                <a:cxn ang="0">
                  <a:pos x="T4" y="T5"/>
                </a:cxn>
                <a:cxn ang="0">
                  <a:pos x="T6" y="T7"/>
                </a:cxn>
                <a:cxn ang="0">
                  <a:pos x="T8" y="T9"/>
                </a:cxn>
              </a:cxnLst>
              <a:rect l="0" t="0" r="r" b="b"/>
              <a:pathLst>
                <a:path w="94" h="860">
                  <a:moveTo>
                    <a:pt x="0" y="860"/>
                  </a:moveTo>
                  <a:lnTo>
                    <a:pt x="94" y="753"/>
                  </a:lnTo>
                  <a:lnTo>
                    <a:pt x="94" y="0"/>
                  </a:lnTo>
                  <a:lnTo>
                    <a:pt x="0" y="99"/>
                  </a:lnTo>
                  <a:lnTo>
                    <a:pt x="0" y="860"/>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6" name="Freeform 187"/>
            <p:cNvSpPr>
              <a:spLocks/>
            </p:cNvSpPr>
            <p:nvPr/>
          </p:nvSpPr>
          <p:spPr bwMode="auto">
            <a:xfrm>
              <a:off x="5743" y="1660"/>
              <a:ext cx="94" cy="860"/>
            </a:xfrm>
            <a:custGeom>
              <a:avLst/>
              <a:gdLst>
                <a:gd name="T0" fmla="*/ 0 w 94"/>
                <a:gd name="T1" fmla="*/ 860 h 860"/>
                <a:gd name="T2" fmla="*/ 94 w 94"/>
                <a:gd name="T3" fmla="*/ 753 h 860"/>
                <a:gd name="T4" fmla="*/ 94 w 94"/>
                <a:gd name="T5" fmla="*/ 0 h 860"/>
                <a:gd name="T6" fmla="*/ 0 w 94"/>
                <a:gd name="T7" fmla="*/ 99 h 860"/>
                <a:gd name="T8" fmla="*/ 0 w 94"/>
                <a:gd name="T9" fmla="*/ 860 h 860"/>
              </a:gdLst>
              <a:ahLst/>
              <a:cxnLst>
                <a:cxn ang="0">
                  <a:pos x="T0" y="T1"/>
                </a:cxn>
                <a:cxn ang="0">
                  <a:pos x="T2" y="T3"/>
                </a:cxn>
                <a:cxn ang="0">
                  <a:pos x="T4" y="T5"/>
                </a:cxn>
                <a:cxn ang="0">
                  <a:pos x="T6" y="T7"/>
                </a:cxn>
                <a:cxn ang="0">
                  <a:pos x="T8" y="T9"/>
                </a:cxn>
              </a:cxnLst>
              <a:rect l="0" t="0" r="r" b="b"/>
              <a:pathLst>
                <a:path w="94" h="860">
                  <a:moveTo>
                    <a:pt x="0" y="860"/>
                  </a:moveTo>
                  <a:lnTo>
                    <a:pt x="94" y="753"/>
                  </a:lnTo>
                  <a:lnTo>
                    <a:pt x="94" y="0"/>
                  </a:lnTo>
                  <a:lnTo>
                    <a:pt x="0" y="99"/>
                  </a:lnTo>
                  <a:lnTo>
                    <a:pt x="0" y="860"/>
                  </a:lnTo>
                  <a:close/>
                </a:path>
              </a:pathLst>
            </a:custGeom>
            <a:solidFill>
              <a:srgbClr val="0066FF"/>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sp>
        <p:nvSpPr>
          <p:cNvPr id="27"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2282807" y="582898"/>
            <a:ext cx="45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TELNET </a:t>
            </a:r>
            <a:r>
              <a:rPr lang="zh-CN" altLang="en-US" sz="2000" b="1" dirty="0">
                <a:solidFill>
                  <a:schemeClr val="bg1"/>
                </a:solidFill>
                <a:latin typeface="微软雅黑 Light" panose="020B0502040204020203" pitchFamily="34" charset="-122"/>
                <a:ea typeface="微软雅黑 Light" panose="020B0502040204020203" pitchFamily="34" charset="-122"/>
              </a:rPr>
              <a:t>使用网络虚拟终端 </a:t>
            </a:r>
            <a:r>
              <a:rPr lang="en-US" altLang="zh-CN" sz="2000" b="1" dirty="0">
                <a:solidFill>
                  <a:schemeClr val="bg1"/>
                </a:solidFill>
                <a:latin typeface="微软雅黑 Light" panose="020B0502040204020203" pitchFamily="34" charset="-122"/>
                <a:ea typeface="微软雅黑 Light" panose="020B0502040204020203" pitchFamily="34" charset="-122"/>
              </a:rPr>
              <a:t>NVT </a:t>
            </a:r>
            <a:r>
              <a:rPr lang="zh-CN" altLang="en-US" sz="2000" b="1" dirty="0">
                <a:solidFill>
                  <a:schemeClr val="bg1"/>
                </a:solidFill>
                <a:latin typeface="微软雅黑 Light" panose="020B0502040204020203" pitchFamily="34" charset="-122"/>
                <a:ea typeface="微软雅黑 Light" panose="020B0502040204020203" pitchFamily="34" charset="-122"/>
              </a:rPr>
              <a:t>格式 </a:t>
            </a:r>
          </a:p>
        </p:txBody>
      </p:sp>
      <p:grpSp>
        <p:nvGrpSpPr>
          <p:cNvPr id="2" name="组合 1"/>
          <p:cNvGrpSpPr/>
          <p:nvPr/>
        </p:nvGrpSpPr>
        <p:grpSpPr>
          <a:xfrm>
            <a:off x="1982751" y="1086994"/>
            <a:ext cx="5591078" cy="2253511"/>
            <a:chOff x="1486342" y="2116880"/>
            <a:chExt cx="7963375" cy="3209672"/>
          </a:xfrm>
        </p:grpSpPr>
        <p:graphicFrame>
          <p:nvGraphicFramePr>
            <p:cNvPr id="29" name="Object 5"/>
            <p:cNvGraphicFramePr>
              <a:graphicFrameLocks noChangeAspect="1"/>
            </p:cNvGraphicFramePr>
            <p:nvPr>
              <p:extLst>
                <p:ext uri="{D42A27DB-BD31-4B8C-83A1-F6EECF244321}">
                  <p14:modId xmlns:p14="http://schemas.microsoft.com/office/powerpoint/2010/main" val="4091474331"/>
                </p:ext>
              </p:extLst>
            </p:nvPr>
          </p:nvGraphicFramePr>
          <p:xfrm>
            <a:off x="3308432" y="2518048"/>
            <a:ext cx="3625321" cy="229711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8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08432" y="2518048"/>
                          <a:ext cx="3625321" cy="229711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0" name="Text Box 6"/>
            <p:cNvSpPr txBox="1">
              <a:spLocks noChangeArrowheads="1"/>
            </p:cNvSpPr>
            <p:nvPr/>
          </p:nvSpPr>
          <p:spPr bwMode="auto">
            <a:xfrm>
              <a:off x="4708819" y="2217876"/>
              <a:ext cx="920570" cy="394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互联网</a:t>
              </a:r>
            </a:p>
          </p:txBody>
        </p:sp>
        <p:sp>
          <p:nvSpPr>
            <p:cNvPr id="33" name="Text Box 9"/>
            <p:cNvSpPr txBox="1">
              <a:spLocks noChangeArrowheads="1"/>
            </p:cNvSpPr>
            <p:nvPr/>
          </p:nvSpPr>
          <p:spPr bwMode="auto">
            <a:xfrm>
              <a:off x="4447128" y="3085220"/>
              <a:ext cx="1339849" cy="438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连接</a:t>
              </a:r>
            </a:p>
          </p:txBody>
        </p:sp>
        <p:sp>
          <p:nvSpPr>
            <p:cNvPr id="34" name="Text Box 10"/>
            <p:cNvSpPr txBox="1">
              <a:spLocks noChangeArrowheads="1"/>
            </p:cNvSpPr>
            <p:nvPr/>
          </p:nvSpPr>
          <p:spPr bwMode="auto">
            <a:xfrm>
              <a:off x="1486342" y="2242834"/>
              <a:ext cx="986781" cy="394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 </a:t>
              </a:r>
              <a:r>
                <a:rPr kumimoji="1" lang="zh-CN" altLang="en-US" sz="1200" b="1" dirty="0">
                  <a:latin typeface="微软雅黑 Light" panose="020B0502040204020203" pitchFamily="34" charset="-122"/>
                  <a:ea typeface="微软雅黑 Light" panose="020B0502040204020203" pitchFamily="34" charset="-122"/>
                </a:rPr>
                <a:t>客户端</a:t>
              </a:r>
            </a:p>
          </p:txBody>
        </p:sp>
        <p:sp>
          <p:nvSpPr>
            <p:cNvPr id="35" name="Text Box 11"/>
            <p:cNvSpPr txBox="1">
              <a:spLocks noChangeArrowheads="1"/>
            </p:cNvSpPr>
            <p:nvPr/>
          </p:nvSpPr>
          <p:spPr bwMode="auto">
            <a:xfrm>
              <a:off x="7836881" y="2116880"/>
              <a:ext cx="1205965" cy="394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 </a:t>
              </a:r>
              <a:r>
                <a:rPr kumimoji="1" lang="zh-CN" altLang="en-US" sz="1200" b="1" dirty="0">
                  <a:latin typeface="微软雅黑 Light" panose="020B0502040204020203" pitchFamily="34" charset="-122"/>
                  <a:ea typeface="微软雅黑 Light" panose="020B0502040204020203" pitchFamily="34" charset="-122"/>
                </a:rPr>
                <a:t>服务器端</a:t>
              </a:r>
            </a:p>
          </p:txBody>
        </p:sp>
        <p:sp>
          <p:nvSpPr>
            <p:cNvPr id="36" name="Text Box 13"/>
            <p:cNvSpPr txBox="1">
              <a:spLocks noChangeArrowheads="1"/>
            </p:cNvSpPr>
            <p:nvPr/>
          </p:nvSpPr>
          <p:spPr bwMode="auto">
            <a:xfrm>
              <a:off x="6809930" y="4888185"/>
              <a:ext cx="2639787" cy="438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使用服务器端的格式</a:t>
              </a:r>
            </a:p>
          </p:txBody>
        </p:sp>
        <p:sp>
          <p:nvSpPr>
            <p:cNvPr id="37" name="Text Box 14"/>
            <p:cNvSpPr txBox="1">
              <a:spLocks noChangeArrowheads="1"/>
            </p:cNvSpPr>
            <p:nvPr/>
          </p:nvSpPr>
          <p:spPr bwMode="auto">
            <a:xfrm>
              <a:off x="4077198" y="4888185"/>
              <a:ext cx="2076670" cy="438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使用 </a:t>
              </a:r>
              <a:r>
                <a:rPr kumimoji="1" lang="en-US" altLang="zh-CN" sz="1400" b="1" dirty="0">
                  <a:solidFill>
                    <a:srgbClr val="000099"/>
                  </a:solidFill>
                  <a:latin typeface="微软雅黑 Light" panose="020B0502040204020203" pitchFamily="34" charset="-122"/>
                  <a:ea typeface="微软雅黑 Light" panose="020B0502040204020203" pitchFamily="34" charset="-122"/>
                </a:rPr>
                <a:t>NVT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格式</a:t>
              </a:r>
            </a:p>
          </p:txBody>
        </p:sp>
        <p:sp>
          <p:nvSpPr>
            <p:cNvPr id="38" name="Line 15"/>
            <p:cNvSpPr>
              <a:spLocks noChangeShapeType="1"/>
            </p:cNvSpPr>
            <p:nvPr/>
          </p:nvSpPr>
          <p:spPr bwMode="auto">
            <a:xfrm flipV="1">
              <a:off x="1643674" y="3867422"/>
              <a:ext cx="357717" cy="1081088"/>
            </a:xfrm>
            <a:prstGeom prst="line">
              <a:avLst/>
            </a:prstGeom>
            <a:noFill/>
            <a:ln w="19050">
              <a:solidFill>
                <a:srgbClr val="0066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16"/>
            <p:cNvSpPr>
              <a:spLocks noChangeShapeType="1"/>
            </p:cNvSpPr>
            <p:nvPr/>
          </p:nvSpPr>
          <p:spPr bwMode="auto">
            <a:xfrm flipH="1" flipV="1">
              <a:off x="5086697" y="3622947"/>
              <a:ext cx="6879" cy="1277938"/>
            </a:xfrm>
            <a:prstGeom prst="line">
              <a:avLst/>
            </a:prstGeom>
            <a:noFill/>
            <a:ln w="19050">
              <a:solidFill>
                <a:srgbClr val="0066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17"/>
            <p:cNvSpPr>
              <a:spLocks noChangeShapeType="1"/>
            </p:cNvSpPr>
            <p:nvPr/>
          </p:nvSpPr>
          <p:spPr bwMode="auto">
            <a:xfrm flipV="1">
              <a:off x="8129824" y="3813445"/>
              <a:ext cx="272632" cy="1135063"/>
            </a:xfrm>
            <a:prstGeom prst="line">
              <a:avLst/>
            </a:prstGeom>
            <a:noFill/>
            <a:ln w="19050">
              <a:solidFill>
                <a:srgbClr val="0066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1" name="Oval 18"/>
            <p:cNvSpPr>
              <a:spLocks noChangeArrowheads="1"/>
            </p:cNvSpPr>
            <p:nvPr/>
          </p:nvSpPr>
          <p:spPr bwMode="auto">
            <a:xfrm>
              <a:off x="1526728" y="3051447"/>
              <a:ext cx="1006078" cy="833438"/>
            </a:xfrm>
            <a:prstGeom prst="ellipse">
              <a:avLst/>
            </a:prstGeom>
            <a:solidFill>
              <a:srgbClr val="0000FF"/>
            </a:solidFill>
            <a:ln w="12700">
              <a:solidFill>
                <a:schemeClr val="tx1"/>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客户</a:t>
              </a:r>
            </a:p>
          </p:txBody>
        </p:sp>
        <p:sp>
          <p:nvSpPr>
            <p:cNvPr id="42" name="Oval 19"/>
            <p:cNvSpPr>
              <a:spLocks noChangeArrowheads="1"/>
            </p:cNvSpPr>
            <p:nvPr/>
          </p:nvSpPr>
          <p:spPr bwMode="auto">
            <a:xfrm>
              <a:off x="7855562" y="3051447"/>
              <a:ext cx="1131623" cy="833438"/>
            </a:xfrm>
            <a:prstGeom prst="ellipse">
              <a:avLst/>
            </a:prstGeom>
            <a:solidFill>
              <a:srgbClr val="CC00CC"/>
            </a:solidFill>
            <a:ln w="12700">
              <a:solidFill>
                <a:schemeClr val="tx1"/>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AutoShape 20"/>
            <p:cNvSpPr>
              <a:spLocks noChangeArrowheads="1"/>
            </p:cNvSpPr>
            <p:nvPr/>
          </p:nvSpPr>
          <p:spPr bwMode="auto">
            <a:xfrm>
              <a:off x="2596439" y="3458572"/>
              <a:ext cx="5279761" cy="194468"/>
            </a:xfrm>
            <a:prstGeom prst="leftRightArrow">
              <a:avLst>
                <a:gd name="adj1" fmla="val 61111"/>
                <a:gd name="adj2" fmla="val 202172"/>
              </a:avLst>
            </a:prstGeom>
            <a:solidFill>
              <a:srgbClr val="00B0F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44" name="Text Box 12"/>
          <p:cNvSpPr txBox="1">
            <a:spLocks noChangeArrowheads="1"/>
          </p:cNvSpPr>
          <p:nvPr/>
        </p:nvSpPr>
        <p:spPr bwMode="auto">
          <a:xfrm>
            <a:off x="1245960" y="3041642"/>
            <a:ext cx="167385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使用客户端的格式</a:t>
            </a:r>
          </a:p>
        </p:txBody>
      </p:sp>
      <p:sp>
        <p:nvSpPr>
          <p:cNvPr id="31" name="矩形 30"/>
          <p:cNvSpPr/>
          <p:nvPr/>
        </p:nvSpPr>
        <p:spPr>
          <a:xfrm>
            <a:off x="1402672" y="3488071"/>
            <a:ext cx="6587231" cy="759182"/>
          </a:xfrm>
          <a:prstGeom prst="rect">
            <a:avLst/>
          </a:prstGeom>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TELNET </a:t>
            </a:r>
            <a:r>
              <a:rPr lang="zh-CN" altLang="en-US" b="1" dirty="0">
                <a:latin typeface="微软雅黑 Light" panose="020B0502040204020203" pitchFamily="34" charset="-122"/>
                <a:ea typeface="微软雅黑 Light" panose="020B0502040204020203" pitchFamily="34" charset="-122"/>
              </a:rPr>
              <a:t>的</a:t>
            </a:r>
            <a:r>
              <a:rPr lang="zh-CN" altLang="en-US" b="1" dirty="0">
                <a:solidFill>
                  <a:srgbClr val="C00000"/>
                </a:solidFill>
                <a:latin typeface="微软雅黑 Light" panose="020B0502040204020203" pitchFamily="34" charset="-122"/>
                <a:ea typeface="微软雅黑 Light" panose="020B0502040204020203" pitchFamily="34" charset="-122"/>
              </a:rPr>
              <a:t>选项协商 </a:t>
            </a:r>
            <a:r>
              <a:rPr lang="en-US" altLang="zh-CN" b="1" dirty="0">
                <a:latin typeface="微软雅黑 Light" panose="020B0502040204020203" pitchFamily="34" charset="-122"/>
                <a:ea typeface="微软雅黑 Light" panose="020B0502040204020203" pitchFamily="34" charset="-122"/>
              </a:rPr>
              <a:t>(Option Negotiation) </a:t>
            </a:r>
            <a:r>
              <a:rPr lang="zh-CN" altLang="en-US" b="1" dirty="0">
                <a:latin typeface="微软雅黑 Light" panose="020B0502040204020203" pitchFamily="34" charset="-122"/>
                <a:ea typeface="微软雅黑 Light" panose="020B0502040204020203" pitchFamily="34" charset="-122"/>
              </a:rPr>
              <a:t>使客户和服务器可商定使用更多的终端功能，协商的双方是平等的。</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8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88011" y="581772"/>
            <a:ext cx="478669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NVT </a:t>
            </a:r>
            <a:r>
              <a:rPr lang="zh-CN" altLang="en-US" sz="2000" b="1" dirty="0">
                <a:solidFill>
                  <a:schemeClr val="bg1"/>
                </a:solidFill>
                <a:latin typeface="微软雅黑 Light" panose="020B0502040204020203" pitchFamily="34" charset="-122"/>
                <a:ea typeface="微软雅黑 Light" panose="020B0502040204020203" pitchFamily="34" charset="-122"/>
              </a:rPr>
              <a:t>（</a:t>
            </a:r>
            <a:r>
              <a:rPr lang="en-US" altLang="zh-CN" sz="2000" b="1" dirty="0">
                <a:solidFill>
                  <a:schemeClr val="bg1"/>
                </a:solidFill>
                <a:latin typeface="微软雅黑 Light" panose="020B0502040204020203" pitchFamily="34" charset="-122"/>
                <a:ea typeface="微软雅黑 Light" panose="020B0502040204020203" pitchFamily="34" charset="-122"/>
              </a:rPr>
              <a:t>Network Virtual Terminal </a:t>
            </a:r>
            <a:r>
              <a:rPr lang="zh-CN" altLang="en-US" sz="2000" b="1" dirty="0">
                <a:solidFill>
                  <a:schemeClr val="bg1"/>
                </a:solidFill>
                <a:latin typeface="微软雅黑 Light" panose="020B0502040204020203" pitchFamily="34" charset="-122"/>
                <a:ea typeface="微软雅黑 Light" panose="020B0502040204020203" pitchFamily="34" charset="-122"/>
              </a:rPr>
              <a:t>）格式 </a:t>
            </a:r>
          </a:p>
        </p:txBody>
      </p:sp>
      <p:sp>
        <p:nvSpPr>
          <p:cNvPr id="5" name="Text Box 10"/>
          <p:cNvSpPr txBox="1">
            <a:spLocks noChangeArrowheads="1"/>
          </p:cNvSpPr>
          <p:nvPr/>
        </p:nvSpPr>
        <p:spPr bwMode="auto">
          <a:xfrm>
            <a:off x="468186" y="1091690"/>
            <a:ext cx="287610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rPr>
              <a:t> </a:t>
            </a:r>
            <a:r>
              <a:rPr kumimoji="1" lang="zh-CN" altLang="en-US" sz="1800" b="1" dirty="0">
                <a:solidFill>
                  <a:srgbClr val="C00000"/>
                </a:solidFill>
                <a:latin typeface="微软雅黑 Light" panose="020B0502040204020203" pitchFamily="34" charset="-122"/>
                <a:ea typeface="微软雅黑 Light" panose="020B0502040204020203" pitchFamily="34" charset="-122"/>
              </a:rPr>
              <a:t>两个字符集：</a:t>
            </a:r>
            <a:r>
              <a:rPr kumimoji="1" lang="zh-CN" altLang="en-US" sz="1800" b="1" dirty="0">
                <a:latin typeface="微软雅黑 Light" panose="020B0502040204020203" pitchFamily="34" charset="-122"/>
                <a:ea typeface="微软雅黑 Light" panose="020B0502040204020203" pitchFamily="34" charset="-122"/>
              </a:rPr>
              <a:t>数据，控制</a:t>
            </a:r>
          </a:p>
        </p:txBody>
      </p:sp>
      <p:grpSp>
        <p:nvGrpSpPr>
          <p:cNvPr id="29" name="组合 28"/>
          <p:cNvGrpSpPr/>
          <p:nvPr/>
        </p:nvGrpSpPr>
        <p:grpSpPr>
          <a:xfrm>
            <a:off x="468186" y="2948796"/>
            <a:ext cx="3810851" cy="443884"/>
            <a:chOff x="563382" y="2675753"/>
            <a:chExt cx="3775329" cy="443884"/>
          </a:xfrm>
        </p:grpSpPr>
        <p:sp>
          <p:nvSpPr>
            <p:cNvPr id="7" name="Text Box 10"/>
            <p:cNvSpPr txBox="1">
              <a:spLocks noChangeArrowheads="1"/>
            </p:cNvSpPr>
            <p:nvPr/>
          </p:nvSpPr>
          <p:spPr bwMode="auto">
            <a:xfrm>
              <a:off x="563382" y="2675753"/>
              <a:ext cx="140775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rPr>
                <a:t> </a:t>
              </a:r>
              <a:r>
                <a:rPr kumimoji="1" lang="zh-CN" altLang="en-US" sz="1800" b="1" dirty="0">
                  <a:latin typeface="微软雅黑 Light" panose="020B0502040204020203" pitchFamily="34" charset="-122"/>
                  <a:ea typeface="微软雅黑 Light" panose="020B0502040204020203" pitchFamily="34" charset="-122"/>
                </a:rPr>
                <a:t>控制字符：</a:t>
              </a:r>
            </a:p>
          </p:txBody>
        </p:sp>
        <p:grpSp>
          <p:nvGrpSpPr>
            <p:cNvPr id="17" name="组合 16"/>
            <p:cNvGrpSpPr/>
            <p:nvPr/>
          </p:nvGrpSpPr>
          <p:grpSpPr>
            <a:xfrm>
              <a:off x="1995017" y="2675753"/>
              <a:ext cx="2343694" cy="443884"/>
              <a:chOff x="1526959" y="2041864"/>
              <a:chExt cx="2343694" cy="443884"/>
            </a:xfrm>
          </p:grpSpPr>
          <p:sp>
            <p:nvSpPr>
              <p:cNvPr id="18" name="矩形 17"/>
              <p:cNvSpPr/>
              <p:nvPr/>
            </p:nvSpPr>
            <p:spPr>
              <a:xfrm>
                <a:off x="1526959" y="2041864"/>
                <a:ext cx="292963" cy="443884"/>
              </a:xfrm>
              <a:prstGeom prst="rect">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Light" panose="020B0502040204020203" pitchFamily="34" charset="-122"/>
                    <a:ea typeface="微软雅黑 Light" panose="020B0502040204020203" pitchFamily="34" charset="-122"/>
                  </a:rPr>
                  <a:t>1</a:t>
                </a: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grpSp>
      </p:grpSp>
      <p:grpSp>
        <p:nvGrpSpPr>
          <p:cNvPr id="28" name="组合 27"/>
          <p:cNvGrpSpPr/>
          <p:nvPr/>
        </p:nvGrpSpPr>
        <p:grpSpPr>
          <a:xfrm>
            <a:off x="468186" y="1570830"/>
            <a:ext cx="3810853" cy="969848"/>
            <a:chOff x="563382" y="1448707"/>
            <a:chExt cx="3775331" cy="969848"/>
          </a:xfrm>
        </p:grpSpPr>
        <p:sp>
          <p:nvSpPr>
            <p:cNvPr id="6" name="Text Box 10"/>
            <p:cNvSpPr txBox="1">
              <a:spLocks noChangeArrowheads="1"/>
            </p:cNvSpPr>
            <p:nvPr/>
          </p:nvSpPr>
          <p:spPr bwMode="auto">
            <a:xfrm>
              <a:off x="563382" y="2004991"/>
              <a:ext cx="140775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rPr>
                <a:t> </a:t>
              </a:r>
              <a:r>
                <a:rPr kumimoji="1" lang="zh-CN" altLang="en-US" sz="1800" b="1" dirty="0">
                  <a:latin typeface="微软雅黑 Light" panose="020B0502040204020203" pitchFamily="34" charset="-122"/>
                  <a:ea typeface="微软雅黑 Light" panose="020B0502040204020203" pitchFamily="34" charset="-122"/>
                </a:rPr>
                <a:t>数据字符：</a:t>
              </a:r>
            </a:p>
          </p:txBody>
        </p:sp>
        <p:grpSp>
          <p:nvGrpSpPr>
            <p:cNvPr id="16" name="组合 15"/>
            <p:cNvGrpSpPr/>
            <p:nvPr/>
          </p:nvGrpSpPr>
          <p:grpSpPr>
            <a:xfrm>
              <a:off x="1995017" y="1974671"/>
              <a:ext cx="2343694" cy="443884"/>
              <a:chOff x="1526959" y="2041864"/>
              <a:chExt cx="2343694" cy="443884"/>
            </a:xfrm>
          </p:grpSpPr>
          <p:sp>
            <p:nvSpPr>
              <p:cNvPr id="8" name="矩形 7"/>
              <p:cNvSpPr/>
              <p:nvPr/>
            </p:nvSpPr>
            <p:spPr>
              <a:xfrm>
                <a:off x="1526959" y="2041864"/>
                <a:ext cx="292963" cy="443884"/>
              </a:xfrm>
              <a:prstGeom prst="rect">
                <a:avLst/>
              </a:prstGeom>
              <a:solidFill>
                <a:srgbClr val="FFC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Light" panose="020B0502040204020203" pitchFamily="34" charset="-122"/>
                    <a:ea typeface="微软雅黑 Light" panose="020B0502040204020203" pitchFamily="34" charset="-122"/>
                  </a:rPr>
                  <a:t>0</a:t>
                </a: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9" name="矩形 8"/>
              <p:cNvSpPr/>
              <p:nvPr/>
            </p:nvSpPr>
            <p:spPr>
              <a:xfrm>
                <a:off x="181992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2884"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2405846"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2" name="矩形 11"/>
              <p:cNvSpPr/>
              <p:nvPr/>
            </p:nvSpPr>
            <p:spPr>
              <a:xfrm>
                <a:off x="2698809"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3" name="矩形 12"/>
              <p:cNvSpPr/>
              <p:nvPr/>
            </p:nvSpPr>
            <p:spPr>
              <a:xfrm>
                <a:off x="2991768"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4" name="矩形 13"/>
              <p:cNvSpPr/>
              <p:nvPr/>
            </p:nvSpPr>
            <p:spPr>
              <a:xfrm>
                <a:off x="328473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grpSp>
        <p:sp>
          <p:nvSpPr>
            <p:cNvPr id="26" name="右大括号 25"/>
            <p:cNvSpPr/>
            <p:nvPr/>
          </p:nvSpPr>
          <p:spPr>
            <a:xfrm rot="16200000">
              <a:off x="3213418" y="801163"/>
              <a:ext cx="199855" cy="2050734"/>
            </a:xfrm>
            <a:prstGeom prst="rightBrace">
              <a:avLst>
                <a:gd name="adj1" fmla="val 38636"/>
                <a:gd name="adj2" fmla="val 50000"/>
              </a:avLst>
            </a:prstGeom>
            <a:ln w="1905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2466849" y="1448707"/>
              <a:ext cx="160267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latin typeface="微软雅黑 Light" panose="020B0502040204020203" pitchFamily="34" charset="-122"/>
                  <a:ea typeface="微软雅黑 Light" panose="020B0502040204020203" pitchFamily="34" charset="-122"/>
                </a:rPr>
                <a:t>标准 </a:t>
              </a:r>
              <a:r>
                <a:rPr kumimoji="1" lang="en-US" altLang="zh-CN" sz="1600" b="1" dirty="0">
                  <a:latin typeface="微软雅黑 Light" panose="020B0502040204020203" pitchFamily="34" charset="-122"/>
                  <a:ea typeface="微软雅黑 Light" panose="020B0502040204020203" pitchFamily="34" charset="-122"/>
                </a:rPr>
                <a:t>ASCII </a:t>
              </a:r>
              <a:r>
                <a:rPr kumimoji="1" lang="zh-CN" altLang="en-US" sz="1600" b="1" dirty="0">
                  <a:latin typeface="微软雅黑 Light" panose="020B0502040204020203" pitchFamily="34" charset="-122"/>
                  <a:ea typeface="微软雅黑 Light" panose="020B0502040204020203" pitchFamily="34" charset="-122"/>
                </a:rPr>
                <a:t>字符</a:t>
              </a:r>
            </a:p>
          </p:txBody>
        </p:sp>
      </p:grpSp>
      <p:sp>
        <p:nvSpPr>
          <p:cNvPr id="30" name="矩形 29"/>
          <p:cNvSpPr/>
          <p:nvPr/>
        </p:nvSpPr>
        <p:spPr>
          <a:xfrm>
            <a:off x="4528083" y="966612"/>
            <a:ext cx="3866334" cy="3554819"/>
          </a:xfrm>
          <a:prstGeom prst="rect">
            <a:avLst/>
          </a:prstGeom>
        </p:spPr>
        <p:txBody>
          <a:bodyPr wrap="square">
            <a:spAutoFit/>
          </a:bodyPr>
          <a:lstStyle/>
          <a:p>
            <a:pPr marL="285750" indent="-285750" eaLnBrk="0" hangingPunct="0">
              <a:lnSpc>
                <a:spcPts val="30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客户端把用户的击键和命令转换成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格式，并送交服务器。</a:t>
            </a:r>
          </a:p>
          <a:p>
            <a:pPr marL="285750" indent="-285750" eaLnBrk="0" hangingPunct="0">
              <a:lnSpc>
                <a:spcPts val="30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服务器端把收到的数据和命令，从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格式转换成远地系统所需的格式。</a:t>
            </a:r>
          </a:p>
          <a:p>
            <a:pPr marL="285750" indent="-285750" eaLnBrk="0" hangingPunct="0">
              <a:lnSpc>
                <a:spcPts val="30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向客户返回数据时，服务器把远地系统的格式转换为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格式，本地客户再从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格式转换到本地系统所需的格式。 </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万维网概述</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2993746" y="3219360"/>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6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1477174" y="1767136"/>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6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3969477" y="1681845"/>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6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77632" y="3167048"/>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6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6640416" y="1797841"/>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6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1508902" y="3049333"/>
            <a:ext cx="6270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6707703" y="3083910"/>
            <a:ext cx="6270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425042" y="4429516"/>
            <a:ext cx="61908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2995743" y="4483670"/>
            <a:ext cx="6431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3976257" y="2927809"/>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074067" y="2014561"/>
            <a:ext cx="2003597" cy="178828"/>
          </a:xfrm>
          <a:prstGeom prst="line">
            <a:avLst/>
          </a:prstGeom>
          <a:noFill/>
          <a:ln w="3810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2772434" y="1857363"/>
            <a:ext cx="646791" cy="2774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链接到</a:t>
            </a:r>
          </a:p>
        </p:txBody>
      </p:sp>
      <p:sp>
        <p:nvSpPr>
          <p:cNvPr id="187" name="Line 22"/>
          <p:cNvSpPr>
            <a:spLocks noChangeShapeType="1"/>
          </p:cNvSpPr>
          <p:nvPr/>
        </p:nvSpPr>
        <p:spPr bwMode="auto">
          <a:xfrm flipH="1">
            <a:off x="3427523" y="2271307"/>
            <a:ext cx="678062" cy="1144962"/>
          </a:xfrm>
          <a:prstGeom prst="line">
            <a:avLst/>
          </a:prstGeom>
          <a:noFill/>
          <a:ln w="3810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464618" y="2464200"/>
            <a:ext cx="645939" cy="2771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链接到</a:t>
            </a:r>
          </a:p>
        </p:txBody>
      </p:sp>
      <p:sp>
        <p:nvSpPr>
          <p:cNvPr id="190" name="Line 20"/>
          <p:cNvSpPr>
            <a:spLocks noChangeShapeType="1"/>
          </p:cNvSpPr>
          <p:nvPr/>
        </p:nvSpPr>
        <p:spPr bwMode="auto">
          <a:xfrm>
            <a:off x="2074067" y="2384111"/>
            <a:ext cx="3432469" cy="1390764"/>
          </a:xfrm>
          <a:prstGeom prst="line">
            <a:avLst/>
          </a:prstGeom>
          <a:noFill/>
          <a:ln w="3810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715763" y="2554464"/>
            <a:ext cx="646791" cy="277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链接到</a:t>
            </a:r>
          </a:p>
        </p:txBody>
      </p:sp>
      <p:sp>
        <p:nvSpPr>
          <p:cNvPr id="193" name="Line 21"/>
          <p:cNvSpPr>
            <a:spLocks noChangeShapeType="1"/>
          </p:cNvSpPr>
          <p:nvPr/>
        </p:nvSpPr>
        <p:spPr bwMode="auto">
          <a:xfrm flipV="1">
            <a:off x="3568923" y="2398254"/>
            <a:ext cx="3200709" cy="1439072"/>
          </a:xfrm>
          <a:prstGeom prst="line">
            <a:avLst/>
          </a:prstGeom>
          <a:noFill/>
          <a:ln w="3810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5376846" y="2629520"/>
            <a:ext cx="646791" cy="277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链接到</a:t>
            </a:r>
          </a:p>
        </p:txBody>
      </p:sp>
      <p:sp>
        <p:nvSpPr>
          <p:cNvPr id="199" name="Line 23"/>
          <p:cNvSpPr>
            <a:spLocks noChangeShapeType="1"/>
          </p:cNvSpPr>
          <p:nvPr/>
        </p:nvSpPr>
        <p:spPr bwMode="auto">
          <a:xfrm>
            <a:off x="4556410" y="2384111"/>
            <a:ext cx="950127" cy="1082191"/>
          </a:xfrm>
          <a:prstGeom prst="line">
            <a:avLst/>
          </a:prstGeom>
          <a:noFill/>
          <a:ln w="3810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703777" y="2607750"/>
            <a:ext cx="646791" cy="277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链接到</a:t>
            </a: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65687" y="4016153"/>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40591" y="2490342"/>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69632" y="2620042"/>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82964" y="3964273"/>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0831" y="255299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042167" y="2552995"/>
            <a:ext cx="1099584" cy="1094929"/>
          </a:xfrm>
          <a:prstGeom prst="line">
            <a:avLst/>
          </a:prstGeom>
          <a:noFill/>
          <a:ln w="3810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343703" y="2955900"/>
            <a:ext cx="646791" cy="277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链接到</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zh-CN" altLang="en-US" dirty="0"/>
              <a:t>工作方式</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zh-CN" altLang="en-US" dirty="0"/>
              <a:t>万维网必须解决的问题</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1. URL </a:t>
            </a:r>
            <a:r>
              <a:rPr lang="zh-CN" altLang="en-US" dirty="0"/>
              <a:t>格式</a:t>
            </a:r>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1025794" y="1422221"/>
            <a:ext cx="3895149" cy="369332"/>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800" dirty="0">
                <a:latin typeface="Montserrat" panose="00000500000000000000" pitchFamily="2" charset="0"/>
                <a:ea typeface="微软雅黑 Light" panose="020B0502040204020203" pitchFamily="34" charset="-122"/>
              </a:rPr>
              <a:t>&lt;</a:t>
            </a:r>
            <a:r>
              <a:rPr lang="zh-CN" altLang="en-US" sz="1800" dirty="0">
                <a:latin typeface="Montserrat" panose="00000500000000000000" pitchFamily="2" charset="0"/>
                <a:ea typeface="微软雅黑 Light" panose="020B0502040204020203" pitchFamily="34" charset="-122"/>
              </a:rPr>
              <a:t>协议</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主机</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端口</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路径</a:t>
            </a:r>
            <a:r>
              <a:rPr lang="en-US" altLang="zh-CN" sz="18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01802" y="1802990"/>
            <a:ext cx="431776"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686234"/>
            <a:ext cx="87638" cy="612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2007322" y="3622902"/>
            <a:ext cx="2807179" cy="73866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ftp —— </a:t>
            </a:r>
            <a:r>
              <a:rPr lang="zh-CN" altLang="en-US" sz="1400" dirty="0">
                <a:latin typeface="Montserrat" panose="00000500000000000000" pitchFamily="2" charset="0"/>
                <a:ea typeface="微软雅黑 Light" panose="020B0502040204020203" pitchFamily="34" charset="-122"/>
              </a:rPr>
              <a:t>文件传送协议 </a:t>
            </a:r>
            <a:r>
              <a:rPr lang="en-US" altLang="zh-CN" sz="1400" dirty="0">
                <a:latin typeface="Montserrat" panose="00000500000000000000" pitchFamily="2" charset="0"/>
                <a:ea typeface="微软雅黑 Light" panose="020B0502040204020203" pitchFamily="34" charset="-122"/>
              </a:rPr>
              <a:t>FTP</a:t>
            </a:r>
          </a:p>
          <a:p>
            <a:pPr eaLnBrk="1" hangingPunct="1"/>
            <a:r>
              <a:rPr lang="en-US" altLang="zh-CN" sz="1400" dirty="0">
                <a:latin typeface="Montserrat" panose="00000500000000000000" pitchFamily="2" charset="0"/>
                <a:ea typeface="微软雅黑 Light" panose="020B0502040204020203" pitchFamily="34" charset="-122"/>
              </a:rPr>
              <a:t>http —— </a:t>
            </a:r>
            <a:r>
              <a:rPr lang="zh-CN" altLang="en-US" sz="1400" dirty="0">
                <a:latin typeface="Montserrat" panose="00000500000000000000" pitchFamily="2" charset="0"/>
                <a:ea typeface="微软雅黑 Light" panose="020B0502040204020203" pitchFamily="34" charset="-122"/>
              </a:rPr>
              <a:t>超文本传送协议 </a:t>
            </a:r>
            <a:r>
              <a:rPr lang="en-US" altLang="zh-CN" sz="1400" dirty="0">
                <a:latin typeface="Montserrat" panose="00000500000000000000" pitchFamily="2" charset="0"/>
                <a:ea typeface="微软雅黑 Light" panose="020B0502040204020203" pitchFamily="34" charset="-122"/>
              </a:rPr>
              <a:t>HTTP</a:t>
            </a:r>
          </a:p>
          <a:p>
            <a:pPr eaLnBrk="1" hangingPunct="1"/>
            <a:r>
              <a:rPr lang="en-US" altLang="zh-CN" sz="1400" dirty="0">
                <a:latin typeface="Montserrat" panose="00000500000000000000" pitchFamily="2" charset="0"/>
                <a:ea typeface="微软雅黑 Light" panose="020B0502040204020203" pitchFamily="34" charset="-122"/>
              </a:rPr>
              <a:t>News —— USENET </a:t>
            </a:r>
            <a:r>
              <a:rPr lang="zh-CN" altLang="en-US" sz="1400" dirty="0">
                <a:latin typeface="Montserrat" panose="00000500000000000000" pitchFamily="2" charset="0"/>
                <a:ea typeface="微软雅黑 Light" panose="020B0502040204020203" pitchFamily="34" charset="-122"/>
              </a:rPr>
              <a:t>新闻</a:t>
            </a:r>
          </a:p>
        </p:txBody>
      </p:sp>
      <p:sp>
        <p:nvSpPr>
          <p:cNvPr id="19" name="Line 26"/>
          <p:cNvSpPr>
            <a:spLocks noChangeShapeType="1"/>
          </p:cNvSpPr>
          <p:nvPr/>
        </p:nvSpPr>
        <p:spPr bwMode="auto">
          <a:xfrm>
            <a:off x="1994085" y="1802972"/>
            <a:ext cx="360169"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77910"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72279" y="3300545"/>
            <a:ext cx="1082644" cy="3077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431556" y="1804338"/>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648512"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3021506" y="2783129"/>
            <a:ext cx="3814369" cy="5228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存放资源的主机在互联网中的域名</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也可以是用点分十进制的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3174422" y="1804339"/>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421303"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860596" y="2261804"/>
            <a:ext cx="1980394" cy="522867"/>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端口号</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4008921" y="1804339"/>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423015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858578" y="1769157"/>
            <a:ext cx="3036914" cy="73891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资源所在目录位置。区分大小写</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省略时使用所定义的默认路径</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后面可能还有一些选项</a:t>
            </a: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2880000" y="144000"/>
            <a:ext cx="3384000" cy="338554"/>
          </a:xfrm>
        </p:spPr>
        <p:txBody>
          <a:bodyPr/>
          <a:lstStyle/>
          <a:p>
            <a:r>
              <a:rPr lang="en-US" altLang="zh-CN" dirty="0"/>
              <a:t>2. </a:t>
            </a:r>
            <a:r>
              <a:rPr lang="zh-CN" altLang="en-US" dirty="0"/>
              <a:t>使用 </a:t>
            </a:r>
            <a:r>
              <a:rPr lang="en-US" altLang="zh-CN" dirty="0"/>
              <a:t>HTTPS </a:t>
            </a:r>
            <a:r>
              <a:rPr lang="zh-CN" altLang="en-US" dirty="0"/>
              <a:t>的 </a:t>
            </a:r>
            <a:r>
              <a:rPr lang="en-US" altLang="zh-CN" dirty="0"/>
              <a:t>URL</a:t>
            </a:r>
            <a:endParaRPr lang="zh-CN" altLang="en-US" dirty="0"/>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633560" y="2057837"/>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67456"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6742049"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16149"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1425683830"/>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9"/>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5374535"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2436996"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4205471"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5499333"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3592402"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3785483"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2877471"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4626444"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3803474"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2852104"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2138861"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2186229"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2353708"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5752623"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2629236"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5989516"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2579668"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2685536"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6268111"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2782982"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3087223"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6544941"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6233509"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2349926"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3087223"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3099929"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500" fill="hold"/>
                                        <p:tgtEl>
                                          <p:spTgt spid="41"/>
                                        </p:tgtEl>
                                        <p:attrNameLst>
                                          <p:attrName>style.visibility</p:attrName>
                                        </p:attrNameLst>
                                      </p:cBhvr>
                                      <p:tavLst>
                                        <p:tav tm="0">
                                          <p:val>
                                            <p:strVal val="hidden"/>
                                          </p:val>
                                        </p:tav>
                                        <p:tav tm="50000">
                                          <p:val>
                                            <p:strVal val="visible"/>
                                          </p:val>
                                        </p:tav>
                                      </p:tavLst>
                                    </p:anim>
                                  </p:childTnLst>
                                </p:cTn>
                              </p:par>
                            </p:childTnLst>
                          </p:cTn>
                        </p:par>
                        <p:par>
                          <p:cTn id="7" fill="hold">
                            <p:stCondLst>
                              <p:cond delay="2000"/>
                            </p:stCondLst>
                            <p:childTnLst>
                              <p:par>
                                <p:cTn id="8" presetID="22" presetClass="entr" presetSubtype="8" fill="hold" nodeType="afterEffect">
                                  <p:stCondLst>
                                    <p:cond delay="500"/>
                                  </p:stCondLst>
                                  <p:childTnLst>
                                    <p:set>
                                      <p:cBhvr>
                                        <p:cTn id="9" dur="1" fill="hold">
                                          <p:stCondLst>
                                            <p:cond delay="0"/>
                                          </p:stCondLst>
                                        </p:cTn>
                                        <p:tgtEl>
                                          <p:spTgt spid="46"/>
                                        </p:tgtEl>
                                        <p:attrNameLst>
                                          <p:attrName>style.visibility</p:attrName>
                                        </p:attrNameLst>
                                      </p:cBhvr>
                                      <p:to>
                                        <p:strVal val="visible"/>
                                      </p:to>
                                    </p:set>
                                    <p:animEffect transition="in" filter="wipe(left)">
                                      <p:cBhvr>
                                        <p:cTn id="10" dur="2000"/>
                                        <p:tgtEl>
                                          <p:spTgt spid="46"/>
                                        </p:tgtEl>
                                      </p:cBhvr>
                                    </p:animEffect>
                                  </p:childTnLst>
                                </p:cTn>
                              </p:par>
                            </p:childTnLst>
                          </p:cTn>
                        </p:par>
                        <p:par>
                          <p:cTn id="11" fill="hold">
                            <p:stCondLst>
                              <p:cond delay="4500"/>
                            </p:stCondLst>
                            <p:childTnLst>
                              <p:par>
                                <p:cTn id="12" presetID="22" presetClass="entr" presetSubtype="2" fill="hold" nodeType="afterEffect">
                                  <p:stCondLst>
                                    <p:cond delay="0"/>
                                  </p:stCondLst>
                                  <p:childTnLst>
                                    <p:set>
                                      <p:cBhvr>
                                        <p:cTn id="13" dur="1" fill="hold">
                                          <p:stCondLst>
                                            <p:cond delay="0"/>
                                          </p:stCondLst>
                                        </p:cTn>
                                        <p:tgtEl>
                                          <p:spTgt spid="55"/>
                                        </p:tgtEl>
                                        <p:attrNameLst>
                                          <p:attrName>style.visibility</p:attrName>
                                        </p:attrNameLst>
                                      </p:cBhvr>
                                      <p:to>
                                        <p:strVal val="visible"/>
                                      </p:to>
                                    </p:set>
                                    <p:animEffect transition="in" filter="wipe(right)">
                                      <p:cBhvr>
                                        <p:cTn id="14" dur="2000"/>
                                        <p:tgtEl>
                                          <p:spTgt spid="55"/>
                                        </p:tgtEl>
                                      </p:cBhvr>
                                    </p:animEffect>
                                  </p:childTnLst>
                                </p:cTn>
                              </p:par>
                            </p:childTnLst>
                          </p:cTn>
                        </p:par>
                        <p:par>
                          <p:cTn id="15" fill="hold">
                            <p:stCondLst>
                              <p:cond delay="6500"/>
                            </p:stCondLst>
                            <p:childTnLst>
                              <p:par>
                                <p:cTn id="16" presetID="1" presetClass="entr" presetSubtype="0" fill="hold" nodeType="afterEffect">
                                  <p:stCondLst>
                                    <p:cond delay="500"/>
                                  </p:stCondLst>
                                  <p:childTnLst>
                                    <p:set>
                                      <p:cBhvr>
                                        <p:cTn id="17" dur="1" fill="hold">
                                          <p:stCondLst>
                                            <p:cond delay="0"/>
                                          </p:stCondLst>
                                        </p:cTn>
                                        <p:tgtEl>
                                          <p:spTgt spid="52"/>
                                        </p:tgtEl>
                                        <p:attrNameLst>
                                          <p:attrName>style.visibility</p:attrName>
                                        </p:attrNameLst>
                                      </p:cBhvr>
                                      <p:to>
                                        <p:strVal val="visible"/>
                                      </p:to>
                                    </p:set>
                                  </p:childTnLst>
                                </p:cTn>
                              </p:par>
                            </p:childTnLst>
                          </p:cTn>
                        </p:par>
                        <p:par>
                          <p:cTn id="18" fill="hold">
                            <p:stCondLst>
                              <p:cond delay="7000"/>
                            </p:stCondLst>
                            <p:childTnLst>
                              <p:par>
                                <p:cTn id="19" presetID="35" presetClass="emph" presetSubtype="0" repeatCount="3000" fill="hold" nodeType="afterEffect">
                                  <p:stCondLst>
                                    <p:cond delay="0"/>
                                  </p:stCondLst>
                                  <p:childTnLst>
                                    <p:anim calcmode="discrete" valueType="str">
                                      <p:cBhvr>
                                        <p:cTn id="20" dur="500" fill="hold"/>
                                        <p:tgtEl>
                                          <p:spTgt spid="5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zh-CN" altLang="en-US" dirty="0"/>
              <a:t>用户浏览页面的两种方法</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在浏览器的地址窗口中键入所要找的页面的 </a:t>
            </a:r>
            <a:r>
              <a:rPr lang="en-US" altLang="zh-CN" dirty="0"/>
              <a:t>URL</a:t>
            </a:r>
            <a:endParaRPr lang="zh-CN" altLang="en-US" dirty="0"/>
          </a:p>
          <a:p>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HTTP </a:t>
            </a:r>
            <a:r>
              <a:rPr lang="zh-CN" altLang="en-US" dirty="0"/>
              <a:t>的主要特点</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r>
              <a:rPr lang="en-US" altLang="zh-CN" dirty="0"/>
              <a:t>HTTP </a:t>
            </a:r>
            <a:r>
              <a:rPr lang="zh-CN" altLang="en-US" dirty="0"/>
              <a:t>协议本身也是无连接的</a:t>
            </a:r>
          </a:p>
          <a:p>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Line 20"/>
          <p:cNvSpPr>
            <a:spLocks noChangeShapeType="1"/>
          </p:cNvSpPr>
          <p:nvPr/>
        </p:nvSpPr>
        <p:spPr bwMode="auto">
          <a:xfrm flipH="1">
            <a:off x="2620467" y="2668649"/>
            <a:ext cx="3270" cy="615774"/>
          </a:xfrm>
          <a:prstGeom prst="line">
            <a:avLst/>
          </a:prstGeom>
          <a:noFill/>
          <a:ln w="127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Rectangle 25"/>
          <p:cNvSpPr>
            <a:spLocks noChangeArrowheads="1"/>
          </p:cNvSpPr>
          <p:nvPr/>
        </p:nvSpPr>
        <p:spPr bwMode="auto">
          <a:xfrm>
            <a:off x="2437344" y="2892018"/>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26"/>
          <p:cNvSpPr txBox="1">
            <a:spLocks noChangeArrowheads="1"/>
          </p:cNvSpPr>
          <p:nvPr/>
        </p:nvSpPr>
        <p:spPr bwMode="auto">
          <a:xfrm>
            <a:off x="2393323" y="2850538"/>
            <a:ext cx="452367" cy="276999"/>
          </a:xfrm>
          <a:prstGeom prst="rect">
            <a:avLst/>
          </a:prstGeom>
          <a:solidFill>
            <a:srgbClr val="C3E3F9"/>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RTT</a:t>
            </a:r>
          </a:p>
        </p:txBody>
      </p:sp>
      <p:sp>
        <p:nvSpPr>
          <p:cNvPr id="59" name="Line 19"/>
          <p:cNvSpPr>
            <a:spLocks noChangeShapeType="1"/>
          </p:cNvSpPr>
          <p:nvPr/>
        </p:nvSpPr>
        <p:spPr bwMode="auto">
          <a:xfrm flipH="1">
            <a:off x="2623736" y="2049857"/>
            <a:ext cx="4360" cy="614768"/>
          </a:xfrm>
          <a:prstGeom prst="line">
            <a:avLst/>
          </a:prstGeom>
          <a:noFill/>
          <a:ln w="127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Rectangle 22"/>
          <p:cNvSpPr>
            <a:spLocks noChangeArrowheads="1"/>
          </p:cNvSpPr>
          <p:nvPr/>
        </p:nvSpPr>
        <p:spPr bwMode="auto">
          <a:xfrm>
            <a:off x="2437344" y="2289324"/>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1" name="Text Box 23"/>
          <p:cNvSpPr txBox="1">
            <a:spLocks noChangeArrowheads="1"/>
          </p:cNvSpPr>
          <p:nvPr/>
        </p:nvSpPr>
        <p:spPr bwMode="auto">
          <a:xfrm>
            <a:off x="2396703" y="2246727"/>
            <a:ext cx="452367" cy="276999"/>
          </a:xfrm>
          <a:prstGeom prst="rect">
            <a:avLst/>
          </a:prstGeom>
          <a:solidFill>
            <a:srgbClr val="C3E3F9"/>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RTT</a:t>
            </a:r>
          </a:p>
        </p:txBody>
      </p:sp>
      <p:sp>
        <p:nvSpPr>
          <p:cNvPr id="62" name="Freeform 4"/>
          <p:cNvSpPr>
            <a:spLocks/>
          </p:cNvSpPr>
          <p:nvPr/>
        </p:nvSpPr>
        <p:spPr bwMode="auto">
          <a:xfrm>
            <a:off x="2804679" y="2985591"/>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rgbClr val="00990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4" name="Rectangle 6"/>
          <p:cNvSpPr>
            <a:spLocks noChangeArrowheads="1"/>
          </p:cNvSpPr>
          <p:nvPr/>
        </p:nvSpPr>
        <p:spPr bwMode="auto">
          <a:xfrm>
            <a:off x="4388354" y="1110772"/>
            <a:ext cx="1106073" cy="237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65" name="Rectangle 7"/>
          <p:cNvSpPr>
            <a:spLocks noChangeArrowheads="1"/>
          </p:cNvSpPr>
          <p:nvPr/>
        </p:nvSpPr>
        <p:spPr bwMode="auto">
          <a:xfrm>
            <a:off x="2354504" y="115906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67" name="Line 9"/>
          <p:cNvSpPr>
            <a:spLocks noChangeShapeType="1"/>
          </p:cNvSpPr>
          <p:nvPr/>
        </p:nvSpPr>
        <p:spPr bwMode="auto">
          <a:xfrm>
            <a:off x="2805768" y="2000555"/>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Text Box 10"/>
          <p:cNvSpPr txBox="1">
            <a:spLocks noChangeArrowheads="1"/>
          </p:cNvSpPr>
          <p:nvPr/>
        </p:nvSpPr>
        <p:spPr bwMode="auto">
          <a:xfrm>
            <a:off x="1078774" y="1921067"/>
            <a:ext cx="1352677"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发起 </a:t>
            </a:r>
            <a:r>
              <a:rPr kumimoji="1" lang="en-US" altLang="zh-CN" sz="1400" b="1" dirty="0">
                <a:solidFill>
                  <a:schemeClr val="bg1"/>
                </a:solidFill>
                <a:latin typeface="微软雅黑 Light" panose="020B0502040204020203" pitchFamily="34" charset="-122"/>
                <a:ea typeface="微软雅黑 Light" panose="020B0502040204020203" pitchFamily="34" charset="-122"/>
              </a:rPr>
              <a:t>TCP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连接</a:t>
            </a:r>
          </a:p>
        </p:txBody>
      </p:sp>
      <p:sp>
        <p:nvSpPr>
          <p:cNvPr id="69" name="Text Box 11"/>
          <p:cNvSpPr txBox="1">
            <a:spLocks noChangeArrowheads="1"/>
          </p:cNvSpPr>
          <p:nvPr/>
        </p:nvSpPr>
        <p:spPr bwMode="auto">
          <a:xfrm>
            <a:off x="981440" y="2517725"/>
            <a:ext cx="1450011"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sp>
        <p:nvSpPr>
          <p:cNvPr id="70" name="Line 12"/>
          <p:cNvSpPr>
            <a:spLocks noChangeShapeType="1"/>
          </p:cNvSpPr>
          <p:nvPr/>
        </p:nvSpPr>
        <p:spPr bwMode="auto">
          <a:xfrm>
            <a:off x="2805768" y="2049856"/>
            <a:ext cx="2196375" cy="2877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1" name="Line 13"/>
          <p:cNvSpPr>
            <a:spLocks noChangeShapeType="1"/>
          </p:cNvSpPr>
          <p:nvPr/>
        </p:nvSpPr>
        <p:spPr bwMode="auto">
          <a:xfrm flipH="1">
            <a:off x="2798139" y="2364787"/>
            <a:ext cx="2196376" cy="28877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14"/>
          <p:cNvSpPr>
            <a:spLocks noChangeShapeType="1"/>
          </p:cNvSpPr>
          <p:nvPr/>
        </p:nvSpPr>
        <p:spPr bwMode="auto">
          <a:xfrm>
            <a:off x="2805768" y="2680724"/>
            <a:ext cx="2196375" cy="2877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3" name="Line 15"/>
          <p:cNvSpPr>
            <a:spLocks noChangeShapeType="1"/>
          </p:cNvSpPr>
          <p:nvPr/>
        </p:nvSpPr>
        <p:spPr bwMode="auto">
          <a:xfrm>
            <a:off x="2510375" y="2049856"/>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16"/>
          <p:cNvSpPr>
            <a:spLocks noChangeShapeType="1"/>
          </p:cNvSpPr>
          <p:nvPr/>
        </p:nvSpPr>
        <p:spPr bwMode="auto">
          <a:xfrm>
            <a:off x="2514735" y="2664624"/>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7"/>
          <p:cNvSpPr>
            <a:spLocks noChangeShapeType="1"/>
          </p:cNvSpPr>
          <p:nvPr/>
        </p:nvSpPr>
        <p:spPr bwMode="auto">
          <a:xfrm>
            <a:off x="2502745" y="3506785"/>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Line 18"/>
          <p:cNvSpPr>
            <a:spLocks noChangeShapeType="1"/>
          </p:cNvSpPr>
          <p:nvPr/>
        </p:nvSpPr>
        <p:spPr bwMode="auto">
          <a:xfrm>
            <a:off x="2502745" y="3276374"/>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Text Box 27"/>
          <p:cNvSpPr txBox="1">
            <a:spLocks noChangeArrowheads="1"/>
          </p:cNvSpPr>
          <p:nvPr/>
        </p:nvSpPr>
        <p:spPr bwMode="auto">
          <a:xfrm>
            <a:off x="5249291" y="2932603"/>
            <a:ext cx="1441419"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传输文档的时间</a:t>
            </a:r>
          </a:p>
        </p:txBody>
      </p:sp>
      <p:sp>
        <p:nvSpPr>
          <p:cNvPr id="78" name="Text Box 28"/>
          <p:cNvSpPr txBox="1">
            <a:spLocks noChangeArrowheads="1"/>
          </p:cNvSpPr>
          <p:nvPr/>
        </p:nvSpPr>
        <p:spPr bwMode="auto">
          <a:xfrm>
            <a:off x="1169568" y="3381016"/>
            <a:ext cx="1261883"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整个文档收到</a:t>
            </a:r>
          </a:p>
        </p:txBody>
      </p:sp>
      <p:sp>
        <p:nvSpPr>
          <p:cNvPr id="79" name="AutoShape 29"/>
          <p:cNvSpPr>
            <a:spLocks noChangeArrowheads="1"/>
          </p:cNvSpPr>
          <p:nvPr/>
        </p:nvSpPr>
        <p:spPr bwMode="auto">
          <a:xfrm rot="21154273">
            <a:off x="3620008" y="3155634"/>
            <a:ext cx="652918" cy="173061"/>
          </a:xfrm>
          <a:prstGeom prst="leftArrow">
            <a:avLst>
              <a:gd name="adj1" fmla="val 50000"/>
              <a:gd name="adj2" fmla="val 87064"/>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0" name="Line 30"/>
          <p:cNvSpPr>
            <a:spLocks noChangeShapeType="1"/>
          </p:cNvSpPr>
          <p:nvPr/>
        </p:nvSpPr>
        <p:spPr bwMode="auto">
          <a:xfrm>
            <a:off x="4995603" y="1997535"/>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Text Box 31"/>
          <p:cNvSpPr txBox="1">
            <a:spLocks noChangeArrowheads="1"/>
          </p:cNvSpPr>
          <p:nvPr/>
        </p:nvSpPr>
        <p:spPr bwMode="auto">
          <a:xfrm>
            <a:off x="2594306" y="3856601"/>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时间</a:t>
            </a:r>
          </a:p>
        </p:txBody>
      </p:sp>
      <p:sp>
        <p:nvSpPr>
          <p:cNvPr id="82" name="Text Box 32"/>
          <p:cNvSpPr txBox="1">
            <a:spLocks noChangeArrowheads="1"/>
          </p:cNvSpPr>
          <p:nvPr/>
        </p:nvSpPr>
        <p:spPr bwMode="auto">
          <a:xfrm>
            <a:off x="4778692" y="3856601"/>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时间</a:t>
            </a:r>
          </a:p>
        </p:txBody>
      </p:sp>
      <p:sp>
        <p:nvSpPr>
          <p:cNvPr id="83" name="Text Box 33"/>
          <p:cNvSpPr txBox="1">
            <a:spLocks noChangeArrowheads="1"/>
          </p:cNvSpPr>
          <p:nvPr/>
        </p:nvSpPr>
        <p:spPr bwMode="auto">
          <a:xfrm rot="21159151">
            <a:off x="3227947" y="3335620"/>
            <a:ext cx="14500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FF"/>
                </a:solidFill>
                <a:latin typeface="微软雅黑 Light" panose="020B0502040204020203" pitchFamily="34" charset="-122"/>
                <a:ea typeface="微软雅黑 Light" panose="020B0502040204020203" pitchFamily="34" charset="-122"/>
              </a:rPr>
              <a:t>HTTP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响应报文</a:t>
            </a:r>
          </a:p>
        </p:txBody>
      </p:sp>
      <p:sp>
        <p:nvSpPr>
          <p:cNvPr id="84" name="AutoShape 34"/>
          <p:cNvSpPr>
            <a:spLocks/>
          </p:cNvSpPr>
          <p:nvPr/>
        </p:nvSpPr>
        <p:spPr bwMode="auto">
          <a:xfrm>
            <a:off x="5027214" y="2972512"/>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5" name="Line 35"/>
          <p:cNvSpPr>
            <a:spLocks noChangeShapeType="1"/>
          </p:cNvSpPr>
          <p:nvPr/>
        </p:nvSpPr>
        <p:spPr bwMode="auto">
          <a:xfrm>
            <a:off x="5087164" y="3088220"/>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37706" y="1333637"/>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110" y="1397534"/>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332431" y="1461642"/>
            <a:ext cx="3107597" cy="1374735"/>
          </a:xfrm>
          <a:prstGeom prst="rect">
            <a:avLst/>
          </a:prstGeom>
          <a:solidFill>
            <a:schemeClr val="bg1"/>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RTT</a:t>
            </a:r>
            <a:r>
              <a:rPr lang="zh-CN" altLang="en-US" sz="1400" b="1" dirty="0">
                <a:latin typeface="微软雅黑 Light" panose="020B0502040204020203" pitchFamily="34" charset="-122"/>
                <a:ea typeface="微软雅黑 Light" panose="020B0502040204020203" pitchFamily="34" charset="-122"/>
              </a:rPr>
              <a:t>（三报文握手建立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a:t>
            </a:r>
            <a:r>
              <a:rPr lang="en-US" altLang="zh-CN" sz="1400" b="1" dirty="0">
                <a:latin typeface="微软雅黑 Light" panose="020B0502040204020203" pitchFamily="34" charset="-122"/>
                <a:ea typeface="微软雅黑 Light" panose="020B0502040204020203" pitchFamily="34" charset="-122"/>
              </a:rPr>
              <a:t> </a:t>
            </a:r>
          </a:p>
          <a:p>
            <a:pPr>
              <a:lnSpc>
                <a:spcPts val="2000"/>
              </a:lnSpc>
            </a:pPr>
            <a:r>
              <a:rPr lang="en-US" altLang="zh-CN" sz="1400" b="1" dirty="0">
                <a:latin typeface="微软雅黑 Light" panose="020B0502040204020203" pitchFamily="34" charset="-122"/>
                <a:ea typeface="微软雅黑 Light" panose="020B0502040204020203" pitchFamily="34" charset="-122"/>
              </a:rPr>
              <a:t>+ RTT</a:t>
            </a:r>
            <a:r>
              <a:rPr lang="zh-CN" altLang="en-US" sz="1400" b="1" dirty="0">
                <a:latin typeface="微软雅黑 Light" panose="020B0502040204020203" pitchFamily="34" charset="-122"/>
                <a:ea typeface="微软雅黑 Light" panose="020B0502040204020203" pitchFamily="34" charset="-122"/>
              </a:rPr>
              <a:t>（请求和接收文档）</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r>
              <a:rPr lang="zh-CN" altLang="en-US" sz="1400" b="1" dirty="0">
                <a:latin typeface="微软雅黑 Light" panose="020B0502040204020203" pitchFamily="34" charset="-122"/>
                <a:ea typeface="微软雅黑 Light" panose="020B0502040204020203" pitchFamily="34" charset="-122"/>
              </a:rPr>
              <a:t>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2880000" y="144000"/>
            <a:ext cx="3384000" cy="338554"/>
          </a:xfrm>
        </p:spPr>
        <p:txBody>
          <a:bodyPr/>
          <a:lstStyle/>
          <a:p>
            <a:r>
              <a:rPr lang="zh-CN" altLang="en-US" dirty="0"/>
              <a:t>请求一个万维网文档所需的时间</a:t>
            </a: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2.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p>
          <a:p>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2.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3520177249"/>
              </p:ext>
            </p:extLst>
          </p:nvPr>
        </p:nvGraphicFramePr>
        <p:xfrm>
          <a:off x="6185200" y="2209150"/>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209150"/>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2673908"/>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095434"/>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2864856"/>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301622"/>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1790027"/>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2667905"/>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2506981"/>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1864485"/>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1546706"/>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1564493"/>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346056"/>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728140" y="2400097"/>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2506981"/>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156310"/>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2597050"/>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229566"/>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2813216"/>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396014"/>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282407"/>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251182"/>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grpSp>
        <p:nvGrpSpPr>
          <p:cNvPr id="301" name="Group 327"/>
          <p:cNvGrpSpPr>
            <a:grpSpLocks/>
          </p:cNvGrpSpPr>
          <p:nvPr/>
        </p:nvGrpSpPr>
        <p:grpSpPr bwMode="auto">
          <a:xfrm>
            <a:off x="4607080" y="1243238"/>
            <a:ext cx="1386867" cy="816364"/>
            <a:chOff x="2981" y="1888"/>
            <a:chExt cx="1066" cy="452"/>
          </a:xfrm>
          <a:noFill/>
        </p:grpSpPr>
        <p:sp>
          <p:nvSpPr>
            <p:cNvPr id="302" name="AutoShape 318"/>
            <p:cNvSpPr>
              <a:spLocks noChangeArrowheads="1"/>
            </p:cNvSpPr>
            <p:nvPr/>
          </p:nvSpPr>
          <p:spPr bwMode="auto">
            <a:xfrm>
              <a:off x="2981" y="1888"/>
              <a:ext cx="1066" cy="452"/>
            </a:xfrm>
            <a:prstGeom prst="wedgeRoundRectCallout">
              <a:avLst>
                <a:gd name="adj1" fmla="val -71127"/>
                <a:gd name="adj2" fmla="val 121631"/>
                <a:gd name="adj3" fmla="val 16667"/>
              </a:avLst>
            </a:prstGeom>
            <a:grpFill/>
            <a:ln w="9525">
              <a:solidFill>
                <a:schemeClr val="tx1"/>
              </a:solidFill>
              <a:miter lim="800000"/>
              <a:headEnd/>
              <a:tailEnd/>
            </a:ln>
            <a:effectLst/>
          </p:spPr>
          <p:txBody>
            <a:bodyPr/>
            <a:lstStyle/>
            <a:p>
              <a:pPr algn="ctr" eaLnBrk="1" hangingPunct="1"/>
              <a:endParaRPr kumimoji="1" lang="zh-CN" altLang="zh-CN" sz="1400" b="1" dirty="0">
                <a:solidFill>
                  <a:srgbClr val="000099"/>
                </a:solidFill>
                <a:latin typeface="Montserrat" panose="00000500000000000000" pitchFamily="2" charset="0"/>
                <a:ea typeface="微软雅黑 Light" panose="020B0502040204020203" pitchFamily="34" charset="-122"/>
              </a:endParaRPr>
            </a:p>
          </p:txBody>
        </p:sp>
        <p:sp>
          <p:nvSpPr>
            <p:cNvPr id="303" name="Rectangle 319"/>
            <p:cNvSpPr>
              <a:spLocks noChangeArrowheads="1"/>
            </p:cNvSpPr>
            <p:nvPr/>
          </p:nvSpPr>
          <p:spPr bwMode="auto">
            <a:xfrm>
              <a:off x="3086" y="1936"/>
              <a:ext cx="867" cy="307"/>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这条链路通信量很大，导致时延增加</a:t>
              </a:r>
            </a:p>
          </p:txBody>
        </p:sp>
      </p:gr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298671"/>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1961158"/>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681238"/>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257302"/>
            <a:ext cx="441076" cy="617506"/>
          </a:xfrm>
          <a:prstGeom prst="rect">
            <a:avLst/>
          </a:prstGeom>
        </p:spPr>
      </p:pic>
      <p:sp>
        <p:nvSpPr>
          <p:cNvPr id="300" name="Freeform 316"/>
          <p:cNvSpPr>
            <a:spLocks/>
          </p:cNvSpPr>
          <p:nvPr/>
        </p:nvSpPr>
        <p:spPr bwMode="auto">
          <a:xfrm>
            <a:off x="3832987" y="1866886"/>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1746794"/>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332845"/>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2741160"/>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2794001"/>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308" name="Group 330"/>
          <p:cNvGrpSpPr>
            <a:grpSpLocks/>
          </p:cNvGrpSpPr>
          <p:nvPr/>
        </p:nvGrpSpPr>
        <p:grpSpPr bwMode="auto">
          <a:xfrm>
            <a:off x="4359892" y="2677478"/>
            <a:ext cx="1415492" cy="946332"/>
            <a:chOff x="2791" y="2750"/>
            <a:chExt cx="1088" cy="788"/>
          </a:xfrm>
        </p:grpSpPr>
        <p:sp>
          <p:nvSpPr>
            <p:cNvPr id="309" name="Text Box 328"/>
            <p:cNvSpPr txBox="1">
              <a:spLocks noChangeArrowheads="1"/>
            </p:cNvSpPr>
            <p:nvPr/>
          </p:nvSpPr>
          <p:spPr bwMode="auto">
            <a:xfrm>
              <a:off x="2791" y="3154"/>
              <a:ext cx="1088" cy="3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所有万维网通信量</a:t>
              </a:r>
            </a:p>
            <a:p>
              <a:pPr algn="ctr" eaLnBrk="1" hangingPunct="1"/>
              <a:r>
                <a:rPr lang="zh-CN" altLang="en-US" sz="1200" dirty="0">
                  <a:latin typeface="Montserrat" panose="00000500000000000000" pitchFamily="2" charset="0"/>
                  <a:ea typeface="微软雅黑 Light" panose="020B0502040204020203" pitchFamily="34" charset="-122"/>
                </a:rPr>
                <a:t>都经过这条链路</a:t>
              </a:r>
            </a:p>
          </p:txBody>
        </p:sp>
        <p:sp>
          <p:nvSpPr>
            <p:cNvPr id="310" name="Line 329"/>
            <p:cNvSpPr>
              <a:spLocks noChangeShapeType="1"/>
            </p:cNvSpPr>
            <p:nvPr/>
          </p:nvSpPr>
          <p:spPr bwMode="auto">
            <a:xfrm flipV="1">
              <a:off x="3334" y="2750"/>
              <a:ext cx="0" cy="402"/>
            </a:xfrm>
            <a:prstGeom prst="line">
              <a:avLst/>
            </a:prstGeom>
            <a:noFill/>
            <a:ln w="5715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9" name="云形 8">
            <a:extLst>
              <a:ext uri="{FF2B5EF4-FFF2-40B4-BE49-F238E27FC236}">
                <a16:creationId xmlns:a16="http://schemas.microsoft.com/office/drawing/2014/main" id="{F8D36561-CDB0-57F9-60A8-C452AF00D60A}"/>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500"/>
                                  </p:stCondLst>
                                  <p:childTnLst>
                                    <p:set>
                                      <p:cBhvr>
                                        <p:cTn id="9" dur="1" fill="hold">
                                          <p:stCondLst>
                                            <p:cond delay="0"/>
                                          </p:stCondLst>
                                        </p:cTn>
                                        <p:tgtEl>
                                          <p:spTgt spid="301"/>
                                        </p:tgtEl>
                                        <p:attrNameLst>
                                          <p:attrName>style.visibility</p:attrName>
                                        </p:attrNameLst>
                                      </p:cBhvr>
                                      <p:to>
                                        <p:strVal val="visible"/>
                                      </p:to>
                                    </p:set>
                                  </p:childTnLst>
                                </p:cTn>
                              </p:par>
                            </p:childTnLst>
                          </p:cTn>
                        </p:par>
                        <p:par>
                          <p:cTn id="10" fill="hold">
                            <p:stCondLst>
                              <p:cond delay="500"/>
                            </p:stCondLst>
                            <p:childTnLst>
                              <p:par>
                                <p:cTn id="11" presetID="35" presetClass="emph" presetSubtype="0" repeatCount="4000" fill="hold" nodeType="afterEffect">
                                  <p:stCondLst>
                                    <p:cond delay="0"/>
                                  </p:stCondLst>
                                  <p:childTnLst>
                                    <p:anim calcmode="discrete" valueType="str">
                                      <p:cBhvr>
                                        <p:cTn id="12" dur="500" fill="hold"/>
                                        <p:tgtEl>
                                          <p:spTgt spid="3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dirty="0"/>
              <a:t>2. </a:t>
            </a:r>
            <a:r>
              <a:rPr lang="zh-CN" altLang="en-US" dirty="0"/>
              <a:t>代理服务器</a:t>
            </a:r>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3776933" y="1058794"/>
            <a:ext cx="3215816"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20" name="Group 1505"/>
            <p:cNvGrpSpPr>
              <a:grpSpLocks/>
            </p:cNvGrpSpPr>
            <p:nvPr/>
          </p:nvGrpSpPr>
          <p:grpSpPr bwMode="auto">
            <a:xfrm>
              <a:off x="109" y="1226"/>
              <a:ext cx="2516" cy="1675"/>
              <a:chOff x="109" y="1226"/>
              <a:chExt cx="2516" cy="1675"/>
            </a:xfrm>
            <a:grpFill/>
          </p:grpSpPr>
          <p:grpSp>
            <p:nvGrpSpPr>
              <p:cNvPr id="122" name="Group 1506"/>
              <p:cNvGrpSpPr>
                <a:grpSpLocks/>
              </p:cNvGrpSpPr>
              <p:nvPr/>
            </p:nvGrpSpPr>
            <p:grpSpPr bwMode="auto">
              <a:xfrm>
                <a:off x="109" y="1226"/>
                <a:ext cx="2516" cy="1675"/>
                <a:chOff x="109" y="1226"/>
                <a:chExt cx="2516" cy="1675"/>
              </a:xfrm>
              <a:grpFill/>
            </p:grpSpPr>
            <p:sp>
              <p:nvSpPr>
                <p:cNvPr id="124"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5"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6"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7"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8"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9"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0"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3"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1"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5"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91" name="矩形 190"/>
          <p:cNvSpPr/>
          <p:nvPr/>
        </p:nvSpPr>
        <p:spPr>
          <a:xfrm>
            <a:off x="313770" y="825407"/>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4" name="Rectangle 281"/>
          <p:cNvSpPr>
            <a:spLocks noChangeArrowheads="1"/>
          </p:cNvSpPr>
          <p:nvPr/>
        </p:nvSpPr>
        <p:spPr bwMode="auto">
          <a:xfrm>
            <a:off x="4374843" y="2614741"/>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2" name="Rectangle 309"/>
          <p:cNvSpPr>
            <a:spLocks noChangeArrowheads="1"/>
          </p:cNvSpPr>
          <p:nvPr/>
        </p:nvSpPr>
        <p:spPr bwMode="auto">
          <a:xfrm>
            <a:off x="6538749" y="2811694"/>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7" name="Rectangle 314"/>
          <p:cNvSpPr>
            <a:spLocks noChangeArrowheads="1"/>
          </p:cNvSpPr>
          <p:nvPr/>
        </p:nvSpPr>
        <p:spPr bwMode="auto">
          <a:xfrm>
            <a:off x="3631167" y="2464626"/>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268" name="Rectangle 315"/>
          <p:cNvSpPr>
            <a:spLocks noChangeArrowheads="1"/>
          </p:cNvSpPr>
          <p:nvPr/>
        </p:nvSpPr>
        <p:spPr bwMode="auto">
          <a:xfrm>
            <a:off x="5779123" y="2465826"/>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83" name="Text Box 328"/>
          <p:cNvSpPr txBox="1">
            <a:spLocks noChangeArrowheads="1"/>
          </p:cNvSpPr>
          <p:nvPr/>
        </p:nvSpPr>
        <p:spPr bwMode="auto">
          <a:xfrm>
            <a:off x="3761576" y="3548617"/>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6" name="矩形 145"/>
          <p:cNvSpPr/>
          <p:nvPr/>
        </p:nvSpPr>
        <p:spPr>
          <a:xfrm>
            <a:off x="3322933" y="1058794"/>
            <a:ext cx="3215816" cy="76607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(2) </a:t>
            </a:r>
            <a:r>
              <a:rPr kumimoji="1" lang="zh-CN" altLang="en-US" sz="1400" b="1" dirty="0">
                <a:latin typeface="微软雅黑 Light" panose="020B0502040204020203" pitchFamily="34" charset="-122"/>
                <a:ea typeface="微软雅黑 Light" panose="020B0502040204020203" pitchFamily="34" charset="-122"/>
              </a:rPr>
              <a:t>若高速缓存已经存放了所请求的对象，则将此对象放入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响应报文中返回给浏览器。</a:t>
            </a:r>
          </a:p>
        </p:txBody>
      </p:sp>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125" name="矩形 124"/>
          <p:cNvSpPr/>
          <p:nvPr/>
        </p:nvSpPr>
        <p:spPr>
          <a:xfrm>
            <a:off x="197771" y="807398"/>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sp>
        <p:nvSpPr>
          <p:cNvPr id="171" name="矩形 170"/>
          <p:cNvSpPr/>
          <p:nvPr/>
        </p:nvSpPr>
        <p:spPr>
          <a:xfrm>
            <a:off x="3322933" y="1058794"/>
            <a:ext cx="3469578" cy="73866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(3) </a:t>
            </a:r>
            <a:r>
              <a:rPr kumimoji="1" lang="zh-CN" altLang="en-US" sz="1400" b="1" dirty="0">
                <a:latin typeface="微软雅黑 Light" panose="020B0502040204020203" pitchFamily="34" charset="-122"/>
                <a:ea typeface="微软雅黑 Light" panose="020B0502040204020203" pitchFamily="34" charset="-122"/>
              </a:rPr>
              <a:t>若未存放，高速缓存就代表浏览器与互联网上的源点服务器建立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连接，并发送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请求报文。</a:t>
            </a: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5" name="矩形 124"/>
          <p:cNvSpPr/>
          <p:nvPr/>
        </p:nvSpPr>
        <p:spPr>
          <a:xfrm>
            <a:off x="284529" y="801879"/>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sp>
        <p:nvSpPr>
          <p:cNvPr id="171" name="矩形 170"/>
          <p:cNvSpPr/>
          <p:nvPr/>
        </p:nvSpPr>
        <p:spPr>
          <a:xfrm>
            <a:off x="3322933" y="1058794"/>
            <a:ext cx="3215816" cy="73866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(4) </a:t>
            </a:r>
            <a:r>
              <a:rPr kumimoji="1" lang="zh-CN" altLang="en-US" sz="1400" b="1" dirty="0">
                <a:latin typeface="微软雅黑 Light" panose="020B0502040204020203" pitchFamily="34" charset="-122"/>
                <a:ea typeface="微软雅黑 Light" panose="020B0502040204020203" pitchFamily="34" charset="-122"/>
              </a:rPr>
              <a:t>源点服务器将所请求的对象放在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响应报文中返回给校园网的高速缓存。</a:t>
            </a:r>
          </a:p>
        </p:txBody>
      </p: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5" name="矩形 124"/>
          <p:cNvSpPr/>
          <p:nvPr/>
        </p:nvSpPr>
        <p:spPr>
          <a:xfrm>
            <a:off x="481925" y="861104"/>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sp>
        <p:nvSpPr>
          <p:cNvPr id="171" name="矩形 170"/>
          <p:cNvSpPr/>
          <p:nvPr/>
        </p:nvSpPr>
        <p:spPr>
          <a:xfrm>
            <a:off x="3322932" y="1058794"/>
            <a:ext cx="3563345" cy="954107"/>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(5) </a:t>
            </a:r>
            <a:r>
              <a:rPr kumimoji="1" lang="zh-CN" altLang="en-US" sz="1400" b="1" dirty="0">
                <a:latin typeface="微软雅黑 Light" panose="020B0502040204020203" pitchFamily="34" charset="-122"/>
                <a:ea typeface="微软雅黑 Light" panose="020B0502040204020203" pitchFamily="34" charset="-122"/>
              </a:rPr>
              <a:t>高速缓存收到对象后，先复制到本地存储器中（留待以后用），然后将该对象放在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响应报文中，通过已建立的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连接，返回给请求该对象的浏览器。</a:t>
            </a:r>
          </a:p>
        </p:txBody>
      </p: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3.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1.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1.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9" name="Group 9"/>
          <p:cNvGrpSpPr>
            <a:grpSpLocks/>
          </p:cNvGrpSpPr>
          <p:nvPr/>
        </p:nvGrpSpPr>
        <p:grpSpPr bwMode="auto">
          <a:xfrm>
            <a:off x="3360317" y="1033391"/>
            <a:ext cx="4097733" cy="369368"/>
            <a:chOff x="1426" y="630"/>
            <a:chExt cx="4598" cy="449"/>
          </a:xfrm>
        </p:grpSpPr>
        <p:sp>
          <p:nvSpPr>
            <p:cNvPr id="20" name="Text Box 5"/>
            <p:cNvSpPr txBox="1">
              <a:spLocks noChangeArrowheads="1"/>
            </p:cNvSpPr>
            <p:nvPr/>
          </p:nvSpPr>
          <p:spPr bwMode="auto">
            <a:xfrm>
              <a:off x="4009" y="630"/>
              <a:ext cx="2015"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800" b="1" dirty="0">
                  <a:solidFill>
                    <a:sysClr val="windowText" lastClr="000000"/>
                  </a:solidFill>
                  <a:latin typeface="微软雅黑 Light" panose="020B0502040204020203" pitchFamily="34" charset="-122"/>
                  <a:ea typeface="微软雅黑 Light" panose="020B0502040204020203" pitchFamily="34" charset="-122"/>
                </a:rPr>
                <a:t>HTML </a:t>
              </a:r>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文档开始</a:t>
              </a:r>
            </a:p>
          </p:txBody>
        </p:sp>
        <p:sp>
          <p:nvSpPr>
            <p:cNvPr id="21"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grpSp>
        <p:nvGrpSpPr>
          <p:cNvPr id="22" name="Group 9"/>
          <p:cNvGrpSpPr>
            <a:grpSpLocks/>
          </p:cNvGrpSpPr>
          <p:nvPr/>
        </p:nvGrpSpPr>
        <p:grpSpPr bwMode="auto">
          <a:xfrm>
            <a:off x="3360317" y="3466604"/>
            <a:ext cx="4097733" cy="369368"/>
            <a:chOff x="1426" y="630"/>
            <a:chExt cx="4598" cy="449"/>
          </a:xfrm>
        </p:grpSpPr>
        <p:sp>
          <p:nvSpPr>
            <p:cNvPr id="23" name="Text Box 5"/>
            <p:cNvSpPr txBox="1">
              <a:spLocks noChangeArrowheads="1"/>
            </p:cNvSpPr>
            <p:nvPr/>
          </p:nvSpPr>
          <p:spPr bwMode="auto">
            <a:xfrm>
              <a:off x="4009" y="630"/>
              <a:ext cx="2015"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800" b="1" dirty="0">
                  <a:solidFill>
                    <a:sysClr val="windowText" lastClr="000000"/>
                  </a:solidFill>
                  <a:latin typeface="微软雅黑 Light" panose="020B0502040204020203" pitchFamily="34" charset="-122"/>
                  <a:ea typeface="微软雅黑 Light" panose="020B0502040204020203" pitchFamily="34" charset="-122"/>
                </a:rPr>
                <a:t>HTML </a:t>
              </a:r>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文档结束</a:t>
              </a:r>
            </a:p>
          </p:txBody>
        </p:sp>
        <p:sp>
          <p:nvSpPr>
            <p:cNvPr id="24"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0686676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5" name="Group 9"/>
          <p:cNvGrpSpPr>
            <a:grpSpLocks/>
          </p:cNvGrpSpPr>
          <p:nvPr/>
        </p:nvGrpSpPr>
        <p:grpSpPr bwMode="auto">
          <a:xfrm>
            <a:off x="3271543" y="1311151"/>
            <a:ext cx="3409728" cy="369368"/>
            <a:chOff x="1426" y="630"/>
            <a:chExt cx="3826" cy="449"/>
          </a:xfrm>
        </p:grpSpPr>
        <p:sp>
          <p:nvSpPr>
            <p:cNvPr id="26"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首部开始</a:t>
              </a:r>
            </a:p>
          </p:txBody>
        </p:sp>
        <p:sp>
          <p:nvSpPr>
            <p:cNvPr id="27"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grpSp>
        <p:nvGrpSpPr>
          <p:cNvPr id="31" name="Group 9"/>
          <p:cNvGrpSpPr>
            <a:grpSpLocks/>
          </p:cNvGrpSpPr>
          <p:nvPr/>
        </p:nvGrpSpPr>
        <p:grpSpPr bwMode="auto">
          <a:xfrm>
            <a:off x="3279507" y="1852127"/>
            <a:ext cx="3409728" cy="369368"/>
            <a:chOff x="1426" y="630"/>
            <a:chExt cx="3826" cy="449"/>
          </a:xfrm>
        </p:grpSpPr>
        <p:sp>
          <p:nvSpPr>
            <p:cNvPr id="32"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首部结束</a:t>
              </a:r>
            </a:p>
          </p:txBody>
        </p:sp>
        <p:sp>
          <p:nvSpPr>
            <p:cNvPr id="33"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18380375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1" name="组合 20"/>
          <p:cNvGrpSpPr/>
          <p:nvPr/>
        </p:nvGrpSpPr>
        <p:grpSpPr>
          <a:xfrm>
            <a:off x="3463312" y="1580951"/>
            <a:ext cx="4007387" cy="777521"/>
            <a:chOff x="2610222" y="1700563"/>
            <a:chExt cx="4007387" cy="777521"/>
          </a:xfrm>
        </p:grpSpPr>
        <p:grpSp>
          <p:nvGrpSpPr>
            <p:cNvPr id="22" name="Group 9"/>
            <p:cNvGrpSpPr>
              <a:grpSpLocks/>
            </p:cNvGrpSpPr>
            <p:nvPr/>
          </p:nvGrpSpPr>
          <p:grpSpPr bwMode="auto">
            <a:xfrm>
              <a:off x="4398525" y="2029742"/>
              <a:ext cx="2219084" cy="448342"/>
              <a:chOff x="3021" y="534"/>
              <a:chExt cx="2490" cy="545"/>
            </a:xfrm>
          </p:grpSpPr>
          <p:sp>
            <p:nvSpPr>
              <p:cNvPr id="24" name="Text Box 5"/>
              <p:cNvSpPr txBox="1">
                <a:spLocks noChangeArrowheads="1"/>
              </p:cNvSpPr>
              <p:nvPr/>
            </p:nvSpPr>
            <p:spPr bwMode="auto">
              <a:xfrm>
                <a:off x="4009" y="630"/>
                <a:ext cx="1502"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文档的标题</a:t>
                </a:r>
              </a:p>
            </p:txBody>
          </p:sp>
          <p:sp>
            <p:nvSpPr>
              <p:cNvPr id="28" name="Line 6"/>
              <p:cNvSpPr>
                <a:spLocks noChangeShapeType="1"/>
              </p:cNvSpPr>
              <p:nvPr/>
            </p:nvSpPr>
            <p:spPr bwMode="auto">
              <a:xfrm flipH="1" flipV="1">
                <a:off x="3021" y="534"/>
                <a:ext cx="988" cy="31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3" name="Rectangle 8"/>
            <p:cNvSpPr>
              <a:spLocks noChangeArrowheads="1"/>
            </p:cNvSpPr>
            <p:nvPr/>
          </p:nvSpPr>
          <p:spPr bwMode="auto">
            <a:xfrm>
              <a:off x="2610222" y="1700563"/>
              <a:ext cx="1788042"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0752813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0" name="Group 9"/>
          <p:cNvGrpSpPr>
            <a:grpSpLocks/>
          </p:cNvGrpSpPr>
          <p:nvPr/>
        </p:nvGrpSpPr>
        <p:grpSpPr bwMode="auto">
          <a:xfrm>
            <a:off x="3279507" y="2125847"/>
            <a:ext cx="3409728" cy="369368"/>
            <a:chOff x="1426" y="630"/>
            <a:chExt cx="3826" cy="449"/>
          </a:xfrm>
        </p:grpSpPr>
        <p:sp>
          <p:nvSpPr>
            <p:cNvPr id="25"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主体开始</a:t>
              </a:r>
            </a:p>
          </p:txBody>
        </p:sp>
        <p:sp>
          <p:nvSpPr>
            <p:cNvPr id="26"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grpSp>
        <p:nvGrpSpPr>
          <p:cNvPr id="27" name="Group 9"/>
          <p:cNvGrpSpPr>
            <a:grpSpLocks/>
          </p:cNvGrpSpPr>
          <p:nvPr/>
        </p:nvGrpSpPr>
        <p:grpSpPr bwMode="auto">
          <a:xfrm>
            <a:off x="3279507" y="3191982"/>
            <a:ext cx="3409728" cy="369368"/>
            <a:chOff x="1426" y="630"/>
            <a:chExt cx="3826" cy="449"/>
          </a:xfrm>
        </p:grpSpPr>
        <p:sp>
          <p:nvSpPr>
            <p:cNvPr id="29"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主体结束</a:t>
              </a:r>
            </a:p>
          </p:txBody>
        </p:sp>
        <p:sp>
          <p:nvSpPr>
            <p:cNvPr id="30"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16299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1" name="组合 20"/>
          <p:cNvGrpSpPr/>
          <p:nvPr/>
        </p:nvGrpSpPr>
        <p:grpSpPr>
          <a:xfrm>
            <a:off x="3186458" y="1881194"/>
            <a:ext cx="4232691" cy="836219"/>
            <a:chOff x="2335902" y="1998481"/>
            <a:chExt cx="4232691" cy="836219"/>
          </a:xfrm>
        </p:grpSpPr>
        <p:grpSp>
          <p:nvGrpSpPr>
            <p:cNvPr id="22" name="Group 9"/>
            <p:cNvGrpSpPr>
              <a:grpSpLocks/>
            </p:cNvGrpSpPr>
            <p:nvPr/>
          </p:nvGrpSpPr>
          <p:grpSpPr bwMode="auto">
            <a:xfrm>
              <a:off x="4124038" y="1998481"/>
              <a:ext cx="2444555" cy="506750"/>
              <a:chOff x="2713" y="496"/>
              <a:chExt cx="2743" cy="616"/>
            </a:xfrm>
          </p:grpSpPr>
          <p:sp>
            <p:nvSpPr>
              <p:cNvPr id="24" name="Text Box 5"/>
              <p:cNvSpPr txBox="1">
                <a:spLocks noChangeArrowheads="1"/>
              </p:cNvSpPr>
              <p:nvPr/>
            </p:nvSpPr>
            <p:spPr bwMode="auto">
              <a:xfrm>
                <a:off x="3380" y="496"/>
                <a:ext cx="2076"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主体的 </a:t>
                </a:r>
                <a:r>
                  <a:rPr lang="en-US" altLang="zh-CN" sz="1800" b="1" dirty="0">
                    <a:solidFill>
                      <a:sysClr val="windowText" lastClr="000000"/>
                    </a:solidFill>
                    <a:latin typeface="微软雅黑 Light" panose="020B0502040204020203" pitchFamily="34" charset="-122"/>
                    <a:ea typeface="微软雅黑 Light" panose="020B0502040204020203" pitchFamily="34" charset="-122"/>
                  </a:rPr>
                  <a:t>1 </a:t>
                </a:r>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级题头</a:t>
                </a:r>
              </a:p>
            </p:txBody>
          </p:sp>
          <p:sp>
            <p:nvSpPr>
              <p:cNvPr id="28" name="Line 6"/>
              <p:cNvSpPr>
                <a:spLocks noChangeShapeType="1"/>
              </p:cNvSpPr>
              <p:nvPr/>
            </p:nvSpPr>
            <p:spPr bwMode="auto">
              <a:xfrm flipH="1">
                <a:off x="2713" y="711"/>
                <a:ext cx="667" cy="40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3" name="Rectangle 8"/>
            <p:cNvSpPr>
              <a:spLocks noChangeArrowheads="1"/>
            </p:cNvSpPr>
            <p:nvPr/>
          </p:nvSpPr>
          <p:spPr bwMode="auto">
            <a:xfrm>
              <a:off x="2335902" y="2505295"/>
              <a:ext cx="1788042"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0115049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0" name="组合 19"/>
          <p:cNvGrpSpPr/>
          <p:nvPr/>
        </p:nvGrpSpPr>
        <p:grpSpPr>
          <a:xfrm>
            <a:off x="3059611" y="2193246"/>
            <a:ext cx="4599122" cy="799418"/>
            <a:chOff x="2189598" y="2849098"/>
            <a:chExt cx="4599122" cy="799418"/>
          </a:xfrm>
        </p:grpSpPr>
        <p:grpSp>
          <p:nvGrpSpPr>
            <p:cNvPr id="25" name="Group 9"/>
            <p:cNvGrpSpPr>
              <a:grpSpLocks/>
            </p:cNvGrpSpPr>
            <p:nvPr/>
          </p:nvGrpSpPr>
          <p:grpSpPr bwMode="auto">
            <a:xfrm>
              <a:off x="3837964" y="2849098"/>
              <a:ext cx="2950756" cy="580788"/>
              <a:chOff x="2392" y="1530"/>
              <a:chExt cx="3311" cy="706"/>
            </a:xfrm>
          </p:grpSpPr>
          <p:sp>
            <p:nvSpPr>
              <p:cNvPr id="27" name="Text Box 5"/>
              <p:cNvSpPr txBox="1">
                <a:spLocks noChangeArrowheads="1"/>
              </p:cNvSpPr>
              <p:nvPr/>
            </p:nvSpPr>
            <p:spPr bwMode="auto">
              <a:xfrm>
                <a:off x="3424" y="1530"/>
                <a:ext cx="2279"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主体的第一个段落</a:t>
                </a:r>
              </a:p>
            </p:txBody>
          </p:sp>
          <p:sp>
            <p:nvSpPr>
              <p:cNvPr id="29" name="Line 6"/>
              <p:cNvSpPr>
                <a:spLocks noChangeShapeType="1"/>
              </p:cNvSpPr>
              <p:nvPr/>
            </p:nvSpPr>
            <p:spPr bwMode="auto">
              <a:xfrm flipH="1">
                <a:off x="2392" y="1745"/>
                <a:ext cx="1032" cy="49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6" name="Rectangle 8"/>
            <p:cNvSpPr>
              <a:spLocks noChangeArrowheads="1"/>
            </p:cNvSpPr>
            <p:nvPr/>
          </p:nvSpPr>
          <p:spPr bwMode="auto">
            <a:xfrm>
              <a:off x="2189598" y="3319111"/>
              <a:ext cx="1645554"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613952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1" name="组合 20"/>
          <p:cNvGrpSpPr/>
          <p:nvPr/>
        </p:nvGrpSpPr>
        <p:grpSpPr>
          <a:xfrm>
            <a:off x="3059611" y="2455852"/>
            <a:ext cx="4600905" cy="799418"/>
            <a:chOff x="2189598" y="2849098"/>
            <a:chExt cx="4600905" cy="799418"/>
          </a:xfrm>
        </p:grpSpPr>
        <p:grpSp>
          <p:nvGrpSpPr>
            <p:cNvPr id="22" name="Group 9"/>
            <p:cNvGrpSpPr>
              <a:grpSpLocks/>
            </p:cNvGrpSpPr>
            <p:nvPr/>
          </p:nvGrpSpPr>
          <p:grpSpPr bwMode="auto">
            <a:xfrm>
              <a:off x="3837964" y="2849098"/>
              <a:ext cx="2952539" cy="580788"/>
              <a:chOff x="2392" y="1530"/>
              <a:chExt cx="3313" cy="706"/>
            </a:xfrm>
          </p:grpSpPr>
          <p:sp>
            <p:nvSpPr>
              <p:cNvPr id="24" name="Text Box 5"/>
              <p:cNvSpPr txBox="1">
                <a:spLocks noChangeArrowheads="1"/>
              </p:cNvSpPr>
              <p:nvPr/>
            </p:nvSpPr>
            <p:spPr bwMode="auto">
              <a:xfrm>
                <a:off x="3424" y="1530"/>
                <a:ext cx="2281"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主体的第二个段落</a:t>
                </a:r>
              </a:p>
            </p:txBody>
          </p:sp>
          <p:sp>
            <p:nvSpPr>
              <p:cNvPr id="28" name="Line 6"/>
              <p:cNvSpPr>
                <a:spLocks noChangeShapeType="1"/>
              </p:cNvSpPr>
              <p:nvPr/>
            </p:nvSpPr>
            <p:spPr bwMode="auto">
              <a:xfrm flipH="1">
                <a:off x="2392" y="1745"/>
                <a:ext cx="1032" cy="49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3" name="Rectangle 8"/>
            <p:cNvSpPr>
              <a:spLocks noChangeArrowheads="1"/>
            </p:cNvSpPr>
            <p:nvPr/>
          </p:nvSpPr>
          <p:spPr bwMode="auto">
            <a:xfrm>
              <a:off x="2189598" y="3319111"/>
              <a:ext cx="1645554"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2796093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4" y="929311"/>
            <a:ext cx="8048776" cy="20544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&lt;</a:t>
            </a:r>
            <a:r>
              <a:rPr lang="en-US" altLang="zh-CN" sz="2000" b="1" dirty="0" err="1">
                <a:solidFill>
                  <a:srgbClr val="C00000"/>
                </a:solidFill>
                <a:latin typeface="微软雅黑 Light" panose="020B0502040204020203" pitchFamily="34" charset="-122"/>
                <a:ea typeface="微软雅黑 Light" panose="020B0502040204020203" pitchFamily="34" charset="-122"/>
              </a:rPr>
              <a:t>img</a:t>
            </a:r>
            <a:r>
              <a:rPr lang="en-US" altLang="zh-CN" sz="2000" b="1" dirty="0">
                <a:solidFill>
                  <a:srgbClr val="C00000"/>
                </a:solidFill>
                <a:latin typeface="微软雅黑 Light" panose="020B0502040204020203" pitchFamily="34" charset="-122"/>
                <a:ea typeface="微软雅黑 Light" panose="020B0502040204020203" pitchFamily="34" charset="-122"/>
              </a:rPr>
              <a:t>&gt;</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图像标签。</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允许在万维网页面中插入图像。</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一个页面本身带有的图像称为</a:t>
            </a:r>
            <a:r>
              <a:rPr lang="zh-CN" altLang="en-US" sz="2000" b="1" dirty="0">
                <a:solidFill>
                  <a:srgbClr val="C00000"/>
                </a:solidFill>
                <a:latin typeface="微软雅黑 Light" panose="020B0502040204020203" pitchFamily="34" charset="-122"/>
                <a:ea typeface="微软雅黑 Light" panose="020B0502040204020203" pitchFamily="34" charset="-122"/>
              </a:rPr>
              <a:t>内含图像</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(inline image)</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标准没有规定该图像的格式。</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大多数浏览器都支持 </a:t>
            </a:r>
            <a:r>
              <a:rPr lang="en-US" altLang="zh-CN" sz="2000" b="1" dirty="0">
                <a:latin typeface="微软雅黑 Light" panose="020B0502040204020203" pitchFamily="34" charset="-122"/>
                <a:ea typeface="微软雅黑 Light" panose="020B0502040204020203" pitchFamily="34" charset="-122"/>
              </a:rPr>
              <a:t>GIF </a:t>
            </a:r>
            <a:r>
              <a:rPr lang="zh-CN" altLang="en-US" sz="2000" b="1" dirty="0">
                <a:latin typeface="微软雅黑 Light" panose="020B0502040204020203" pitchFamily="34" charset="-122"/>
                <a:ea typeface="微软雅黑 Light" panose="020B0502040204020203" pitchFamily="34" charset="-122"/>
              </a:rPr>
              <a:t>和 </a:t>
            </a:r>
            <a:r>
              <a:rPr lang="en-US" altLang="zh-CN" sz="2000" b="1" dirty="0">
                <a:latin typeface="微软雅黑 Light" panose="020B0502040204020203" pitchFamily="34" charset="-122"/>
                <a:ea typeface="微软雅黑 Light" panose="020B0502040204020203" pitchFamily="34" charset="-122"/>
              </a:rPr>
              <a:t>JPEG </a:t>
            </a:r>
            <a:r>
              <a:rPr lang="zh-CN" altLang="en-US" sz="2000" b="1" dirty="0">
                <a:latin typeface="微软雅黑 Light" panose="020B0502040204020203" pitchFamily="34" charset="-122"/>
                <a:ea typeface="微软雅黑 Light" panose="020B0502040204020203" pitchFamily="34" charset="-122"/>
              </a:rPr>
              <a:t>文件。</a:t>
            </a:r>
            <a:endParaRPr lang="en-US" altLang="zh-CN" sz="2000" b="1" dirty="0">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4" y="929311"/>
            <a:ext cx="8048776"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8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&lt;a&gt;</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链接标签。</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每个链接都有一个起点和终点。</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solidFill>
                  <a:srgbClr val="0000FF"/>
                </a:solidFill>
                <a:latin typeface="微软雅黑 Light" panose="020B0502040204020203" pitchFamily="34" charset="-122"/>
                <a:ea typeface="微软雅黑 Light" panose="020B0502040204020203" pitchFamily="34" charset="-122"/>
              </a:rPr>
              <a:t>起点：</a:t>
            </a:r>
            <a:r>
              <a:rPr lang="zh-CN" altLang="en-US" sz="2000" b="1" dirty="0">
                <a:latin typeface="微软雅黑 Light" panose="020B0502040204020203" pitchFamily="34" charset="-122"/>
                <a:ea typeface="微软雅黑 Light" panose="020B0502040204020203" pitchFamily="34" charset="-122"/>
              </a:rPr>
              <a:t>说明在万维网页面中的什么地方可</a:t>
            </a:r>
            <a:r>
              <a:rPr lang="zh-CN" altLang="en-US" sz="2000" b="1" dirty="0">
                <a:solidFill>
                  <a:srgbClr val="C00000"/>
                </a:solidFill>
                <a:latin typeface="微软雅黑 Light" panose="020B0502040204020203" pitchFamily="34" charset="-122"/>
                <a:ea typeface="微软雅黑 Light" panose="020B0502040204020203" pitchFamily="34" charset="-122"/>
              </a:rPr>
              <a:t>引出</a:t>
            </a:r>
            <a:r>
              <a:rPr lang="zh-CN" altLang="en-US" sz="2000" b="1" dirty="0">
                <a:latin typeface="微软雅黑 Light" panose="020B0502040204020203" pitchFamily="34" charset="-122"/>
                <a:ea typeface="微软雅黑 Light" panose="020B0502040204020203" pitchFamily="34" charset="-122"/>
              </a:rPr>
              <a:t>一个链接。可以是一个字或几个字，或是一幅图，或是一段文字。例如：</a:t>
            </a:r>
            <a:r>
              <a:rPr lang="en-US" altLang="zh-CN" sz="2000" b="1" dirty="0">
                <a:latin typeface="微软雅黑 Light" panose="020B0502040204020203" pitchFamily="34" charset="-122"/>
                <a:ea typeface="微软雅黑 Light" panose="020B0502040204020203" pitchFamily="34" charset="-122"/>
              </a:rPr>
              <a:t> </a:t>
            </a:r>
          </a:p>
          <a:p>
            <a:pPr marL="288925" lvl="1">
              <a:lnSpc>
                <a:spcPts val="2800"/>
              </a:lnSpc>
              <a:buClr>
                <a:srgbClr val="9900CC"/>
              </a:buClr>
              <a:buSzPct val="85000"/>
            </a:pPr>
            <a:r>
              <a:rPr lang="en-US" altLang="zh-CN" b="1" dirty="0">
                <a:latin typeface="Montserrat" panose="00000500000000000000" pitchFamily="2" charset="0"/>
                <a:ea typeface="微软雅黑 Light" panose="020B0502040204020203" pitchFamily="34" charset="-122"/>
              </a:rPr>
              <a:t>	</a:t>
            </a:r>
            <a:r>
              <a:rPr lang="en-US" altLang="zh-CN" sz="2000" b="1" dirty="0">
                <a:latin typeface="Montserrat" panose="00000500000000000000" pitchFamily="2" charset="0"/>
                <a:ea typeface="微软雅黑 Light" panose="020B0502040204020203" pitchFamily="34" charset="-122"/>
              </a:rPr>
              <a:t>&lt;a </a:t>
            </a:r>
            <a:r>
              <a:rPr lang="en-US" altLang="zh-CN" sz="2000" b="1" dirty="0" err="1">
                <a:latin typeface="Montserrat" panose="00000500000000000000" pitchFamily="2" charset="0"/>
                <a:ea typeface="微软雅黑 Light" panose="020B0502040204020203" pitchFamily="34" charset="-122"/>
              </a:rPr>
              <a:t>href</a:t>
            </a:r>
            <a:r>
              <a:rPr lang="en-US" altLang="zh-CN" sz="2000" b="1" dirty="0">
                <a:latin typeface="Montserrat" panose="00000500000000000000" pitchFamily="2" charset="0"/>
                <a:ea typeface="微软雅黑 Light" panose="020B0502040204020203" pitchFamily="34" charset="-122"/>
              </a:rPr>
              <a:t>=“</a:t>
            </a:r>
            <a:r>
              <a:rPr lang="en-US" altLang="zh-CN" sz="2000" b="1" u="sng" dirty="0">
                <a:solidFill>
                  <a:srgbClr val="0033CC"/>
                </a:solidFill>
                <a:latin typeface="Montserrat" panose="00000500000000000000" pitchFamily="2" charset="0"/>
                <a:ea typeface="微软雅黑 Light" panose="020B0502040204020203" pitchFamily="34" charset="-122"/>
              </a:rPr>
              <a:t>http://www.tsinghua.edu.cn</a:t>
            </a:r>
            <a:r>
              <a:rPr lang="en-US" altLang="zh-CN" sz="2000" b="1" dirty="0">
                <a:latin typeface="Montserrat" panose="00000500000000000000" pitchFamily="2" charset="0"/>
                <a:ea typeface="微软雅黑 Light" panose="020B0502040204020203" pitchFamily="34" charset="-122"/>
              </a:rPr>
              <a:t>”&gt;</a:t>
            </a:r>
            <a:r>
              <a:rPr lang="zh-CN" altLang="en-US" sz="2000" b="1" dirty="0">
                <a:latin typeface="微软雅黑 Light" panose="020B0502040204020203" pitchFamily="34" charset="-122"/>
                <a:ea typeface="微软雅黑 Light" panose="020B0502040204020203" pitchFamily="34" charset="-122"/>
              </a:rPr>
              <a:t>清华大学主页</a:t>
            </a:r>
            <a:r>
              <a:rPr lang="en-US" altLang="zh-CN" sz="2000" b="1" dirty="0">
                <a:latin typeface="Montserrat" panose="00000500000000000000" pitchFamily="2" charset="0"/>
                <a:ea typeface="微软雅黑 Light" panose="020B0502040204020203" pitchFamily="34" charset="-122"/>
              </a:rPr>
              <a:t>&lt;/a&gt;</a:t>
            </a:r>
          </a:p>
          <a:p>
            <a:pPr marL="631825" lvl="1" indent="-342900">
              <a:lnSpc>
                <a:spcPts val="2800"/>
              </a:lnSpc>
              <a:buClr>
                <a:srgbClr val="9900CC"/>
              </a:buClr>
              <a:buSzPct val="85000"/>
              <a:buFont typeface="Wingdings" panose="05000000000000000000" pitchFamily="2" charset="2"/>
              <a:buChar char="u"/>
            </a:pPr>
            <a:r>
              <a:rPr lang="zh-CN" altLang="en-US" sz="2000" b="1" dirty="0">
                <a:solidFill>
                  <a:srgbClr val="0000FF"/>
                </a:solidFill>
                <a:latin typeface="微软雅黑 Light" panose="020B0502040204020203" pitchFamily="34" charset="-122"/>
                <a:ea typeface="微软雅黑 Light" panose="020B0502040204020203" pitchFamily="34" charset="-122"/>
              </a:rPr>
              <a:t>终点：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985838" lvl="2" indent="-239713">
              <a:lnSpc>
                <a:spcPts val="2800"/>
              </a:lnSpc>
              <a:buClr>
                <a:srgbClr val="993300"/>
              </a:buClr>
              <a:buSzPct val="85000"/>
              <a:buFont typeface="Wingdings" panose="05000000000000000000" pitchFamily="2" charset="2"/>
              <a:buChar char="p"/>
            </a:pPr>
            <a:r>
              <a:rPr lang="zh-CN" altLang="en-US" b="1" dirty="0">
                <a:latin typeface="微软雅黑 Light" panose="020B0502040204020203" pitchFamily="34" charset="-122"/>
                <a:ea typeface="微软雅黑 Light" panose="020B0502040204020203" pitchFamily="34" charset="-122"/>
              </a:rPr>
              <a:t>可以是其他网站上的页面。这种链接方式叫做</a:t>
            </a:r>
            <a:r>
              <a:rPr lang="zh-CN" altLang="en-US" b="1" dirty="0">
                <a:solidFill>
                  <a:srgbClr val="C00000"/>
                </a:solidFill>
                <a:latin typeface="微软雅黑 Light" panose="020B0502040204020203" pitchFamily="34" charset="-122"/>
                <a:ea typeface="微软雅黑 Light" panose="020B0502040204020203" pitchFamily="34" charset="-122"/>
              </a:rPr>
              <a:t>远程链接。</a:t>
            </a:r>
            <a:r>
              <a:rPr lang="zh-CN" altLang="en-US" b="1" dirty="0">
                <a:latin typeface="微软雅黑 Light" panose="020B0502040204020203" pitchFamily="34" charset="-122"/>
                <a:ea typeface="微软雅黑 Light" panose="020B0502040204020203" pitchFamily="34" charset="-122"/>
              </a:rPr>
              <a:t>这时必须指明链接到的</a:t>
            </a:r>
            <a:r>
              <a:rPr lang="zh-CN" altLang="en-US" b="1" dirty="0">
                <a:solidFill>
                  <a:srgbClr val="C00000"/>
                </a:solidFill>
                <a:latin typeface="微软雅黑 Light" panose="020B0502040204020203" pitchFamily="34" charset="-122"/>
                <a:ea typeface="微软雅黑 Light" panose="020B0502040204020203" pitchFamily="34" charset="-122"/>
              </a:rPr>
              <a:t>网站的 </a:t>
            </a:r>
            <a:r>
              <a:rPr lang="en-US" altLang="zh-CN" b="1" dirty="0">
                <a:solidFill>
                  <a:srgbClr val="C00000"/>
                </a:solidFill>
                <a:latin typeface="微软雅黑 Light" panose="020B0502040204020203" pitchFamily="34" charset="-122"/>
                <a:ea typeface="微软雅黑 Light" panose="020B0502040204020203" pitchFamily="34" charset="-122"/>
              </a:rPr>
              <a:t>URL</a:t>
            </a:r>
            <a:r>
              <a:rPr lang="zh-CN" altLang="en-US" b="1" dirty="0">
                <a:solidFill>
                  <a:srgbClr val="C00000"/>
                </a:solidFill>
                <a:latin typeface="微软雅黑 Light" panose="020B0502040204020203" pitchFamily="34" charset="-122"/>
                <a:ea typeface="微软雅黑 Light" panose="020B0502040204020203" pitchFamily="34" charset="-122"/>
              </a:rPr>
              <a:t>。</a:t>
            </a:r>
            <a:endParaRPr lang="en-US" altLang="zh-CN" b="1" dirty="0">
              <a:solidFill>
                <a:srgbClr val="C00000"/>
              </a:solidFill>
              <a:latin typeface="微软雅黑 Light" panose="020B0502040204020203" pitchFamily="34" charset="-122"/>
              <a:ea typeface="微软雅黑 Light" panose="020B0502040204020203" pitchFamily="34" charset="-122"/>
            </a:endParaRPr>
          </a:p>
          <a:p>
            <a:pPr marL="985838" lvl="2" indent="-239713">
              <a:lnSpc>
                <a:spcPts val="2800"/>
              </a:lnSpc>
              <a:buClr>
                <a:srgbClr val="993300"/>
              </a:buClr>
              <a:buSzPct val="85000"/>
              <a:buFont typeface="Wingdings" panose="05000000000000000000" pitchFamily="2" charset="2"/>
              <a:buChar char="p"/>
            </a:pPr>
            <a:r>
              <a:rPr lang="zh-CN" altLang="en-US" b="1" dirty="0">
                <a:latin typeface="微软雅黑 Light" panose="020B0502040204020203" pitchFamily="34" charset="-122"/>
                <a:ea typeface="微软雅黑 Light" panose="020B0502040204020203" pitchFamily="34" charset="-122"/>
              </a:rPr>
              <a:t>可以指向本计算机中的某一个文件或本文件中的某处，这种链接方式叫做</a:t>
            </a:r>
            <a:r>
              <a:rPr lang="zh-CN" altLang="en-US" b="1" dirty="0">
                <a:solidFill>
                  <a:srgbClr val="C00000"/>
                </a:solidFill>
                <a:latin typeface="微软雅黑 Light" panose="020B0502040204020203" pitchFamily="34" charset="-122"/>
                <a:ea typeface="微软雅黑 Light" panose="020B0502040204020203" pitchFamily="34" charset="-122"/>
              </a:rPr>
              <a:t>本地链接。</a:t>
            </a:r>
            <a:r>
              <a:rPr lang="zh-CN" altLang="en-US" b="1" dirty="0">
                <a:latin typeface="微软雅黑 Light" panose="020B0502040204020203" pitchFamily="34" charset="-122"/>
                <a:ea typeface="微软雅黑 Light" panose="020B0502040204020203" pitchFamily="34" charset="-122"/>
              </a:rPr>
              <a:t>这时必须指明链接的</a:t>
            </a:r>
            <a:r>
              <a:rPr lang="zh-CN" altLang="en-US" b="1" dirty="0">
                <a:solidFill>
                  <a:srgbClr val="C00000"/>
                </a:solidFill>
                <a:latin typeface="微软雅黑 Light" panose="020B0502040204020203" pitchFamily="34" charset="-122"/>
                <a:ea typeface="微软雅黑 Light" panose="020B0502040204020203" pitchFamily="34" charset="-122"/>
              </a:rPr>
              <a:t>路径。</a:t>
            </a:r>
            <a:endParaRPr lang="en-US" altLang="zh-CN" b="1" dirty="0">
              <a:solidFill>
                <a:srgbClr val="C00000"/>
              </a:solidFill>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Tree>
    <p:extLst>
      <p:ext uri="{BB962C8B-B14F-4D97-AF65-F5344CB8AC3E}">
        <p14:creationId xmlns:p14="http://schemas.microsoft.com/office/powerpoint/2010/main" val="4044828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29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1876" y="57608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动态万维网文档</a:t>
            </a:r>
          </a:p>
        </p:txBody>
      </p:sp>
      <p:sp>
        <p:nvSpPr>
          <p:cNvPr id="4" name="Rectangle 68"/>
          <p:cNvSpPr>
            <a:spLocks noChangeArrowheads="1"/>
          </p:cNvSpPr>
          <p:nvPr/>
        </p:nvSpPr>
        <p:spPr bwMode="auto">
          <a:xfrm>
            <a:off x="556963" y="970389"/>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静态文档：</a:t>
            </a:r>
            <a:r>
              <a:rPr lang="zh-CN" altLang="en-US" sz="2000" b="1" dirty="0">
                <a:latin typeface="微软雅黑 Light" panose="020B0502040204020203" pitchFamily="34" charset="-122"/>
                <a:ea typeface="微软雅黑 Light" panose="020B0502040204020203" pitchFamily="34" charset="-122"/>
              </a:rPr>
              <a:t>该文档创作完毕后就存放在万维网服务器中，在被用户浏览的过程中，内容不会改变</a:t>
            </a:r>
          </a:p>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动态文档：</a:t>
            </a:r>
            <a:r>
              <a:rPr lang="zh-CN" altLang="en-US" sz="2000" b="1" dirty="0">
                <a:latin typeface="微软雅黑 Light" panose="020B0502040204020203" pitchFamily="34" charset="-122"/>
                <a:ea typeface="微软雅黑 Light" panose="020B0502040204020203" pitchFamily="34" charset="-122"/>
              </a:rPr>
              <a:t>文档的内容是在浏览器访问万维网服务器时才由应用程序动态创建</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动态文档和静态文档之间的</a:t>
            </a:r>
            <a:r>
              <a:rPr lang="zh-CN" altLang="en-US" sz="2000" b="1" dirty="0">
                <a:solidFill>
                  <a:srgbClr val="C00000"/>
                </a:solidFill>
                <a:latin typeface="微软雅黑 Light" panose="020B0502040204020203" pitchFamily="34" charset="-122"/>
                <a:ea typeface="微软雅黑 Light" panose="020B0502040204020203" pitchFamily="34" charset="-122"/>
              </a:rPr>
              <a:t>主要差别</a:t>
            </a:r>
            <a:r>
              <a:rPr lang="zh-CN" altLang="en-US" sz="2000" b="1" dirty="0">
                <a:latin typeface="微软雅黑 Light" panose="020B0502040204020203" pitchFamily="34" charset="-122"/>
                <a:ea typeface="微软雅黑 Light" panose="020B0502040204020203" pitchFamily="34" charset="-122"/>
              </a:rPr>
              <a:t>体现在</a:t>
            </a:r>
            <a:r>
              <a:rPr lang="zh-CN" altLang="en-US" sz="2000" b="1" dirty="0">
                <a:solidFill>
                  <a:srgbClr val="0000FF"/>
                </a:solidFill>
                <a:latin typeface="微软雅黑 Light" panose="020B0502040204020203" pitchFamily="34" charset="-122"/>
                <a:ea typeface="微软雅黑 Light" panose="020B0502040204020203" pitchFamily="34" charset="-122"/>
              </a:rPr>
              <a:t>服务器端：</a:t>
            </a:r>
            <a:r>
              <a:rPr lang="zh-CN" altLang="en-US" sz="2000" b="1" dirty="0">
                <a:latin typeface="微软雅黑 Light" panose="020B0502040204020203" pitchFamily="34" charset="-122"/>
                <a:ea typeface="微软雅黑 Light" panose="020B0502040204020203" pitchFamily="34" charset="-122"/>
              </a:rPr>
              <a:t>文档内容的生成方法不同。从浏览器的角度看，这两种文档并没有区别</a:t>
            </a:r>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2" y="954011"/>
            <a:ext cx="812069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(1) </a:t>
            </a:r>
            <a:r>
              <a:rPr lang="zh-CN" altLang="en-US" sz="2000" b="1" dirty="0">
                <a:latin typeface="微软雅黑 Light" panose="020B0502040204020203" pitchFamily="34" charset="-122"/>
                <a:ea typeface="微软雅黑 Light" panose="020B0502040204020203" pitchFamily="34" charset="-122"/>
              </a:rPr>
              <a:t>增加一个</a:t>
            </a:r>
            <a:r>
              <a:rPr lang="zh-CN" altLang="en-US" sz="2000" b="1" dirty="0">
                <a:solidFill>
                  <a:srgbClr val="C00000"/>
                </a:solidFill>
                <a:latin typeface="微软雅黑 Light" panose="020B0502040204020203" pitchFamily="34" charset="-122"/>
                <a:ea typeface="微软雅黑 Light" panose="020B0502040204020203" pitchFamily="34" charset="-122"/>
              </a:rPr>
              <a:t>应用程序：</a:t>
            </a:r>
            <a:r>
              <a:rPr lang="zh-CN" altLang="en-US" sz="2000" b="1" dirty="0">
                <a:latin typeface="微软雅黑 Light" panose="020B0502040204020203" pitchFamily="34" charset="-122"/>
                <a:ea typeface="微软雅黑 Light" panose="020B0502040204020203" pitchFamily="34" charset="-122"/>
              </a:rPr>
              <a:t>处理浏览器发来的数据，并创建动态文档。</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(2) </a:t>
            </a:r>
            <a:r>
              <a:rPr lang="zh-CN" altLang="en-US" sz="2000" b="1" dirty="0">
                <a:latin typeface="微软雅黑 Light" panose="020B0502040204020203" pitchFamily="34" charset="-122"/>
                <a:ea typeface="微软雅黑 Light" panose="020B0502040204020203" pitchFamily="34" charset="-122"/>
              </a:rPr>
              <a:t>增加一个</a:t>
            </a:r>
            <a:r>
              <a:rPr lang="zh-CN" altLang="en-US" sz="2000" b="1" dirty="0">
                <a:solidFill>
                  <a:srgbClr val="C00000"/>
                </a:solidFill>
                <a:latin typeface="微软雅黑 Light" panose="020B0502040204020203" pitchFamily="34" charset="-122"/>
                <a:ea typeface="微软雅黑 Light" panose="020B0502040204020203" pitchFamily="34" charset="-122"/>
              </a:rPr>
              <a:t>机制：</a:t>
            </a:r>
            <a:r>
              <a:rPr lang="zh-CN" altLang="en-US" sz="2000" b="1" dirty="0">
                <a:latin typeface="微软雅黑 Light" panose="020B0502040204020203" pitchFamily="34" charset="-122"/>
                <a:ea typeface="微软雅黑 Light" panose="020B0502040204020203" pitchFamily="34" charset="-122"/>
              </a:rPr>
              <a:t>使万维网服务器把浏览器发来的数据</a:t>
            </a:r>
            <a:r>
              <a:rPr lang="zh-CN" altLang="en-US" sz="2000" b="1" dirty="0">
                <a:solidFill>
                  <a:srgbClr val="0000FF"/>
                </a:solidFill>
                <a:latin typeface="微软雅黑 Light" panose="020B0502040204020203" pitchFamily="34" charset="-122"/>
                <a:ea typeface="微软雅黑 Light" panose="020B0502040204020203" pitchFamily="34" charset="-122"/>
              </a:rPr>
              <a:t>传送</a:t>
            </a:r>
            <a:r>
              <a:rPr lang="zh-CN" altLang="en-US" sz="2000" b="1" dirty="0">
                <a:latin typeface="微软雅黑 Light" panose="020B0502040204020203" pitchFamily="34" charset="-122"/>
                <a:ea typeface="微软雅黑 Light" panose="020B0502040204020203" pitchFamily="34" charset="-122"/>
              </a:rPr>
              <a:t>给这个应用程序，然后万维网服务器能够</a:t>
            </a:r>
            <a:r>
              <a:rPr lang="zh-CN" altLang="en-US" sz="2000" b="1" dirty="0">
                <a:solidFill>
                  <a:srgbClr val="0000FF"/>
                </a:solidFill>
                <a:latin typeface="微软雅黑 Light" panose="020B0502040204020203" pitchFamily="34" charset="-122"/>
                <a:ea typeface="微软雅黑 Light" panose="020B0502040204020203" pitchFamily="34" charset="-122"/>
              </a:rPr>
              <a:t>解释</a:t>
            </a:r>
            <a:r>
              <a:rPr lang="zh-CN" altLang="en-US" sz="2000" b="1" dirty="0">
                <a:latin typeface="微软雅黑 Light" panose="020B0502040204020203" pitchFamily="34" charset="-122"/>
                <a:ea typeface="微软雅黑 Light" panose="020B0502040204020203" pitchFamily="34" charset="-122"/>
              </a:rPr>
              <a:t>这个应用程序的输出，并向浏览器</a:t>
            </a:r>
            <a:r>
              <a:rPr lang="zh-CN" altLang="en-US" sz="2000" b="1" dirty="0">
                <a:solidFill>
                  <a:srgbClr val="0000FF"/>
                </a:solidFill>
                <a:latin typeface="微软雅黑 Light" panose="020B0502040204020203" pitchFamily="34" charset="-122"/>
                <a:ea typeface="微软雅黑 Light" panose="020B0502040204020203" pitchFamily="34" charset="-122"/>
              </a:rPr>
              <a:t>返回</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a:t>
            </a:r>
          </a:p>
        </p:txBody>
      </p:sp>
      <p:sp>
        <p:nvSpPr>
          <p:cNvPr id="3" name="AutoShape 5"/>
          <p:cNvSpPr>
            <a:spLocks noChangeArrowheads="1"/>
          </p:cNvSpPr>
          <p:nvPr/>
        </p:nvSpPr>
        <p:spPr bwMode="auto">
          <a:xfrm>
            <a:off x="556963" y="612859"/>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1475"/>
            <a:ext cx="300595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万维网服务器功能的扩充</a:t>
            </a:r>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6" name="AutoShape 5"/>
          <p:cNvSpPr>
            <a:spLocks noChangeArrowheads="1"/>
          </p:cNvSpPr>
          <p:nvPr/>
        </p:nvSpPr>
        <p:spPr bwMode="auto">
          <a:xfrm>
            <a:off x="556963" y="615059"/>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645268" y="563675"/>
            <a:ext cx="3262432"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扩充了功能的万维网服务器</a:t>
            </a:r>
          </a:p>
        </p:txBody>
      </p:sp>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2" y="929685"/>
            <a:ext cx="8048777"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通用网关接口 </a:t>
            </a:r>
            <a:r>
              <a:rPr lang="en-US" altLang="zh-CN" sz="2000" b="1" dirty="0">
                <a:solidFill>
                  <a:srgbClr val="C00000"/>
                </a:solidFill>
                <a:latin typeface="微软雅黑 Light" panose="020B0502040204020203" pitchFamily="34" charset="-122"/>
                <a:ea typeface="微软雅黑 Light" panose="020B0502040204020203" pitchFamily="34" charset="-122"/>
              </a:rPr>
              <a:t>CGI </a:t>
            </a:r>
            <a:r>
              <a:rPr lang="en-US" altLang="zh-CN" sz="2000" b="1" dirty="0">
                <a:latin typeface="微软雅黑 Light" panose="020B0502040204020203" pitchFamily="34" charset="-122"/>
                <a:ea typeface="微软雅黑 Light" panose="020B0502040204020203" pitchFamily="34" charset="-122"/>
              </a:rPr>
              <a:t>(Common Gateway Interface) </a:t>
            </a:r>
            <a:r>
              <a:rPr lang="zh-CN" altLang="en-US" sz="2000" b="1" dirty="0">
                <a:latin typeface="微软雅黑 Light" panose="020B0502040204020203" pitchFamily="34" charset="-122"/>
                <a:ea typeface="微软雅黑 Light" panose="020B0502040204020203" pitchFamily="34" charset="-122"/>
              </a:rPr>
              <a:t>：定义动态文档应如何创建，输入数据应如何提供给应用程序，以及输出结果应如何使用的一种标准。</a:t>
            </a: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通用</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标准所定义的规则对其他任何语言都是通用的。</a:t>
            </a: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网关</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程序的作用像网关。</a:t>
            </a: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接口</a:t>
            </a:r>
            <a:r>
              <a:rPr lang="zh-CN" altLang="en-US" sz="2000" b="1" dirty="0">
                <a:latin typeface="微软雅黑 Light" panose="020B0502040204020203" pitchFamily="34" charset="-122"/>
                <a:ea typeface="微软雅黑 Light" panose="020B0502040204020203" pitchFamily="34" charset="-122"/>
              </a:rPr>
              <a:t>：有一些已定义好的变量和调用等可供其他 </a:t>
            </a:r>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程序使用。 </a:t>
            </a:r>
          </a:p>
        </p:txBody>
      </p:sp>
      <p:sp>
        <p:nvSpPr>
          <p:cNvPr id="3" name="AutoShape 5"/>
          <p:cNvSpPr>
            <a:spLocks noChangeArrowheads="1"/>
          </p:cNvSpPr>
          <p:nvPr/>
        </p:nvSpPr>
        <p:spPr bwMode="auto">
          <a:xfrm>
            <a:off x="556963" y="615167"/>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72927"/>
            <a:ext cx="59163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CGI</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36344"/>
            <a:ext cx="8048776" cy="29649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正式名字：</a:t>
            </a:r>
            <a:r>
              <a:rPr lang="en-US" altLang="zh-CN" sz="2000" b="1" dirty="0">
                <a:solidFill>
                  <a:srgbClr val="C00000"/>
                </a:solidFill>
                <a:latin typeface="微软雅黑 Light" panose="020B0502040204020203" pitchFamily="34" charset="-122"/>
                <a:ea typeface="微软雅黑 Light" panose="020B0502040204020203" pitchFamily="34" charset="-122"/>
              </a:rPr>
              <a:t>CGI </a:t>
            </a:r>
            <a:r>
              <a:rPr lang="zh-CN" altLang="en-US" sz="2000" b="1" dirty="0">
                <a:solidFill>
                  <a:srgbClr val="C00000"/>
                </a:solidFill>
                <a:latin typeface="微软雅黑 Light" panose="020B0502040204020203" pitchFamily="34" charset="-122"/>
                <a:ea typeface="微软雅黑 Light" panose="020B0502040204020203" pitchFamily="34" charset="-122"/>
              </a:rPr>
              <a:t>脚本 </a:t>
            </a:r>
            <a:r>
              <a:rPr lang="en-US" altLang="zh-CN" sz="2000" b="1" dirty="0">
                <a:latin typeface="微软雅黑 Light" panose="020B0502040204020203" pitchFamily="34" charset="-122"/>
                <a:ea typeface="微软雅黑 Light" panose="020B0502040204020203" pitchFamily="34" charset="-122"/>
              </a:rPr>
              <a:t>(script)</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28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脚本</a:t>
            </a:r>
            <a:r>
              <a:rPr lang="zh-CN" altLang="en-US" sz="2000" b="1" dirty="0">
                <a:latin typeface="微软雅黑 Light" panose="020B0502040204020203" pitchFamily="34" charset="-122"/>
                <a:ea typeface="微软雅黑 Light" panose="020B0502040204020203" pitchFamily="34" charset="-122"/>
              </a:rPr>
              <a:t>：指的是一个程序，它被另一个程序（解释程序）而不是计算机的处理机来解释或执行。</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28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脚本语言 </a:t>
            </a:r>
            <a:r>
              <a:rPr lang="en-US" altLang="zh-CN" sz="2000" b="1" dirty="0">
                <a:latin typeface="微软雅黑 Light" panose="020B0502040204020203" pitchFamily="34" charset="-122"/>
                <a:ea typeface="微软雅黑 Light" panose="020B0502040204020203" pitchFamily="34" charset="-122"/>
              </a:rPr>
              <a:t>(script language)</a:t>
            </a:r>
            <a:r>
              <a:rPr lang="zh-CN" altLang="en-US" sz="2000" b="1" dirty="0">
                <a:latin typeface="微软雅黑 Light" panose="020B0502040204020203" pitchFamily="34" charset="-122"/>
                <a:ea typeface="微软雅黑 Light" panose="020B0502040204020203" pitchFamily="34" charset="-122"/>
              </a:rPr>
              <a:t>：如 </a:t>
            </a:r>
            <a:r>
              <a:rPr lang="en-US" altLang="zh-CN" sz="2000" b="1" dirty="0">
                <a:latin typeface="微软雅黑 Light" panose="020B0502040204020203" pitchFamily="34" charset="-122"/>
                <a:ea typeface="微软雅黑 Light" panose="020B0502040204020203" pitchFamily="34" charset="-122"/>
              </a:rPr>
              <a:t>Perl, JavaScript</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err="1">
                <a:latin typeface="微软雅黑 Light" panose="020B0502040204020203" pitchFamily="34" charset="-122"/>
                <a:ea typeface="微软雅黑 Light" panose="020B0502040204020203" pitchFamily="34" charset="-122"/>
              </a:rPr>
              <a:t>Tcl</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err="1">
                <a:latin typeface="微软雅黑 Light" panose="020B0502040204020203" pitchFamily="34" charset="-122"/>
                <a:ea typeface="微软雅黑 Light" panose="020B0502040204020203" pitchFamily="34" charset="-122"/>
              </a:rPr>
              <a:t>Tk</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等。也可用一些常用的编程语言写出，如 </a:t>
            </a:r>
            <a:r>
              <a:rPr lang="en-US" altLang="zh-CN" sz="2000" b="1" dirty="0">
                <a:latin typeface="微软雅黑 Light" panose="020B0502040204020203" pitchFamily="34" charset="-122"/>
                <a:ea typeface="微软雅黑 Light" panose="020B0502040204020203" pitchFamily="34" charset="-122"/>
              </a:rPr>
              <a:t>C</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C++</a:t>
            </a:r>
            <a:r>
              <a:rPr lang="zh-CN" altLang="en-US" sz="2000" b="1" dirty="0">
                <a:latin typeface="微软雅黑 Light" panose="020B0502040204020203" pitchFamily="34" charset="-122"/>
                <a:ea typeface="微软雅黑 Light" panose="020B0502040204020203" pitchFamily="34" charset="-122"/>
              </a:rPr>
              <a:t>等。</a:t>
            </a:r>
          </a:p>
          <a:p>
            <a:pPr marL="285750" indent="-28575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脚本运行起来要比一般的编译程序要慢。</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脚本不一定是一个独立的程序，可以是一个动态装入的库，甚至是服务器的一个子程序。</a:t>
            </a:r>
          </a:p>
        </p:txBody>
      </p:sp>
      <p:sp>
        <p:nvSpPr>
          <p:cNvPr id="3" name="AutoShape 5"/>
          <p:cNvSpPr>
            <a:spLocks noChangeArrowheads="1"/>
          </p:cNvSpPr>
          <p:nvPr/>
        </p:nvSpPr>
        <p:spPr bwMode="auto">
          <a:xfrm>
            <a:off x="556963" y="6129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70708"/>
            <a:ext cx="1734642"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网关程序</a:t>
            </a:r>
          </a:p>
        </p:txBody>
      </p:sp>
      <p:grpSp>
        <p:nvGrpSpPr>
          <p:cNvPr id="7" name="组合 6"/>
          <p:cNvGrpSpPr/>
          <p:nvPr/>
        </p:nvGrpSpPr>
        <p:grpSpPr>
          <a:xfrm>
            <a:off x="1154100" y="3809875"/>
            <a:ext cx="6684885" cy="824269"/>
            <a:chOff x="1154100" y="3809875"/>
            <a:chExt cx="6684885" cy="824269"/>
          </a:xfrm>
        </p:grpSpPr>
        <p:sp>
          <p:nvSpPr>
            <p:cNvPr id="5" name="对角圆角矩形 4"/>
            <p:cNvSpPr/>
            <p:nvPr/>
          </p:nvSpPr>
          <p:spPr>
            <a:xfrm>
              <a:off x="1154100" y="3809875"/>
              <a:ext cx="6684885" cy="82426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1287267" y="3880810"/>
              <a:ext cx="6445188" cy="707886"/>
            </a:xfrm>
            <a:prstGeom prst="rect">
              <a:avLst/>
            </a:prstGeom>
          </p:spPr>
          <p:txBody>
            <a:bodyPr wrap="square">
              <a:spAutoFit/>
            </a:bodyPr>
            <a:lstStyle/>
            <a:p>
              <a:pPr eaLnBrk="0" hangingPunct="0">
                <a:lnSpc>
                  <a:spcPts val="2400"/>
                </a:lnSpc>
                <a:buClr>
                  <a:srgbClr val="0070C0"/>
                </a:buClr>
              </a:pPr>
              <a:r>
                <a:rPr lang="en-US" altLang="zh-CN" b="1" dirty="0">
                  <a:solidFill>
                    <a:schemeClr val="bg1"/>
                  </a:solidFill>
                  <a:latin typeface="微软雅黑 Light" panose="020B0502040204020203" pitchFamily="34" charset="-122"/>
                  <a:ea typeface="微软雅黑 Light" panose="020B0502040204020203" pitchFamily="34" charset="-122"/>
                </a:rPr>
                <a:t>CGI </a:t>
              </a:r>
              <a:r>
                <a:rPr lang="zh-CN" altLang="en-US" b="1" dirty="0">
                  <a:solidFill>
                    <a:schemeClr val="bg1"/>
                  </a:solidFill>
                  <a:latin typeface="微软雅黑 Light" panose="020B0502040204020203" pitchFamily="34" charset="-122"/>
                  <a:ea typeface="微软雅黑 Light" panose="020B0502040204020203" pitchFamily="34" charset="-122"/>
                </a:rPr>
                <a:t>程序又称为 </a:t>
              </a:r>
              <a:r>
                <a:rPr lang="en-US" altLang="zh-CN" b="1" dirty="0" err="1">
                  <a:solidFill>
                    <a:schemeClr val="bg1"/>
                  </a:solidFill>
                  <a:latin typeface="微软雅黑 Light" panose="020B0502040204020203" pitchFamily="34" charset="-122"/>
                  <a:ea typeface="微软雅黑 Light" panose="020B0502040204020203" pitchFamily="34" charset="-122"/>
                </a:rPr>
                <a:t>cgi</a:t>
              </a:r>
              <a:r>
                <a:rPr lang="en-US" altLang="zh-CN" b="1" dirty="0">
                  <a:solidFill>
                    <a:schemeClr val="bg1"/>
                  </a:solidFill>
                  <a:latin typeface="微软雅黑 Light" panose="020B0502040204020203" pitchFamily="34" charset="-122"/>
                  <a:ea typeface="微软雅黑 Light" panose="020B0502040204020203" pitchFamily="34" charset="-122"/>
                </a:rPr>
                <a:t>-bin </a:t>
              </a:r>
              <a:r>
                <a:rPr lang="zh-CN" altLang="en-US" b="1" dirty="0">
                  <a:solidFill>
                    <a:schemeClr val="bg1"/>
                  </a:solidFill>
                  <a:latin typeface="微软雅黑 Light" panose="020B0502040204020203" pitchFamily="34" charset="-122"/>
                  <a:ea typeface="微软雅黑 Light" panose="020B0502040204020203" pitchFamily="34" charset="-122"/>
                </a:rPr>
                <a:t>脚本，因为在许多万维网服务器上，将 </a:t>
              </a:r>
              <a:r>
                <a:rPr lang="en-US" altLang="zh-CN" b="1" dirty="0">
                  <a:solidFill>
                    <a:schemeClr val="bg1"/>
                  </a:solidFill>
                  <a:latin typeface="微软雅黑 Light" panose="020B0502040204020203" pitchFamily="34" charset="-122"/>
                  <a:ea typeface="微软雅黑 Light" panose="020B0502040204020203" pitchFamily="34" charset="-122"/>
                </a:rPr>
                <a:t>CGI </a:t>
              </a:r>
              <a:r>
                <a:rPr lang="zh-CN" altLang="en-US" b="1" dirty="0">
                  <a:solidFill>
                    <a:schemeClr val="bg1"/>
                  </a:solidFill>
                  <a:latin typeface="微软雅黑 Light" panose="020B0502040204020203" pitchFamily="34" charset="-122"/>
                  <a:ea typeface="微软雅黑 Light" panose="020B0502040204020203" pitchFamily="34" charset="-122"/>
                </a:rPr>
                <a:t>程序放在 </a:t>
              </a:r>
              <a:r>
                <a:rPr lang="en-US" altLang="zh-CN" b="1" dirty="0">
                  <a:solidFill>
                    <a:srgbClr val="FFFF00"/>
                  </a:solidFill>
                  <a:latin typeface="微软雅黑 Light" panose="020B0502040204020203" pitchFamily="34" charset="-122"/>
                  <a:ea typeface="微软雅黑 Light" panose="020B0502040204020203" pitchFamily="34" charset="-122"/>
                </a:rPr>
                <a:t>/</a:t>
              </a:r>
              <a:r>
                <a:rPr lang="en-US" altLang="zh-CN" b="1" dirty="0" err="1">
                  <a:solidFill>
                    <a:srgbClr val="FFFF00"/>
                  </a:solidFill>
                  <a:latin typeface="微软雅黑 Light" panose="020B0502040204020203" pitchFamily="34" charset="-122"/>
                  <a:ea typeface="微软雅黑 Light" panose="020B0502040204020203" pitchFamily="34" charset="-122"/>
                </a:rPr>
                <a:t>cgi</a:t>
              </a:r>
              <a:r>
                <a:rPr lang="en-US" altLang="zh-CN" b="1" dirty="0">
                  <a:solidFill>
                    <a:srgbClr val="FFFF00"/>
                  </a:solidFill>
                  <a:latin typeface="微软雅黑 Light" panose="020B0502040204020203" pitchFamily="34" charset="-122"/>
                  <a:ea typeface="微软雅黑 Light" panose="020B0502040204020203" pitchFamily="34" charset="-122"/>
                </a:rPr>
                <a:t>-bin </a:t>
              </a:r>
              <a:r>
                <a:rPr lang="zh-CN" altLang="en-US" b="1" dirty="0">
                  <a:solidFill>
                    <a:schemeClr val="bg1"/>
                  </a:solidFill>
                  <a:latin typeface="微软雅黑 Light" panose="020B0502040204020203" pitchFamily="34" charset="-122"/>
                  <a:ea typeface="微软雅黑 Light" panose="020B0502040204020203" pitchFamily="34" charset="-122"/>
                </a:rPr>
                <a:t>的目录下。</a:t>
              </a:r>
              <a:endParaRPr lang="zh-CN" altLang="en-US" b="1" dirty="0">
                <a:solidFill>
                  <a:srgbClr val="FFC000"/>
                </a:solidFill>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1876" y="582480"/>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活动万维网文档</a:t>
            </a:r>
          </a:p>
        </p:txBody>
      </p:sp>
      <p:sp>
        <p:nvSpPr>
          <p:cNvPr id="4" name="Rectangle 68"/>
          <p:cNvSpPr>
            <a:spLocks noChangeArrowheads="1"/>
          </p:cNvSpPr>
          <p:nvPr/>
        </p:nvSpPr>
        <p:spPr bwMode="auto">
          <a:xfrm>
            <a:off x="483810" y="967903"/>
            <a:ext cx="8285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活动文档 </a:t>
            </a:r>
            <a:r>
              <a:rPr lang="en-US" altLang="zh-CN" sz="2000" b="1" dirty="0">
                <a:solidFill>
                  <a:srgbClr val="C00000"/>
                </a:solidFill>
                <a:latin typeface="微软雅黑 Light" panose="020B0502040204020203" pitchFamily="34" charset="-122"/>
                <a:ea typeface="微软雅黑 Light" panose="020B0502040204020203" pitchFamily="34" charset="-122"/>
              </a:rPr>
              <a:t>(active document) </a:t>
            </a:r>
            <a:r>
              <a:rPr lang="zh-CN" altLang="en-US" sz="2000" b="1" dirty="0">
                <a:solidFill>
                  <a:srgbClr val="C00000"/>
                </a:solidFill>
                <a:latin typeface="微软雅黑 Light" panose="020B0502040204020203" pitchFamily="34" charset="-122"/>
                <a:ea typeface="微软雅黑 Light" panose="020B0502040204020203" pitchFamily="34" charset="-122"/>
              </a:rPr>
              <a:t>技术：</a:t>
            </a:r>
            <a:r>
              <a:rPr lang="zh-CN" altLang="en-US" sz="2000" b="1" dirty="0">
                <a:latin typeface="微软雅黑 Light" panose="020B0502040204020203" pitchFamily="34" charset="-122"/>
                <a:ea typeface="微软雅黑 Light" panose="020B0502040204020203" pitchFamily="34" charset="-122"/>
              </a:rPr>
              <a:t>把屏幕连续更新的工作转移给</a:t>
            </a:r>
            <a:r>
              <a:rPr lang="zh-CN" altLang="en-US" sz="2000" b="1" dirty="0">
                <a:solidFill>
                  <a:srgbClr val="0000FF"/>
                </a:solidFill>
                <a:latin typeface="微软雅黑 Light" panose="020B0502040204020203" pitchFamily="34" charset="-122"/>
                <a:ea typeface="微软雅黑 Light" panose="020B0502040204020203" pitchFamily="34" charset="-122"/>
              </a:rPr>
              <a:t>浏览器端。</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每当浏览器请求一个活动文档时，服务器就返回一段</a:t>
            </a:r>
            <a:r>
              <a:rPr lang="zh-CN" altLang="en-US" sz="2000" b="1" dirty="0">
                <a:solidFill>
                  <a:srgbClr val="C00000"/>
                </a:solidFill>
                <a:latin typeface="微软雅黑 Light" panose="020B0502040204020203" pitchFamily="34" charset="-122"/>
                <a:ea typeface="微软雅黑 Light" panose="020B0502040204020203" pitchFamily="34" charset="-122"/>
              </a:rPr>
              <a:t>程序副本</a:t>
            </a:r>
            <a:r>
              <a:rPr lang="zh-CN" altLang="en-US" sz="2000" b="1" dirty="0">
                <a:latin typeface="微软雅黑 Light" panose="020B0502040204020203" pitchFamily="34" charset="-122"/>
                <a:ea typeface="微软雅黑 Light" panose="020B0502040204020203" pitchFamily="34" charset="-122"/>
              </a:rPr>
              <a:t>在浏览器端运行。</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活动文档程序可与用户</a:t>
            </a:r>
            <a:r>
              <a:rPr lang="zh-CN" altLang="en-US" sz="2000" b="1" dirty="0">
                <a:solidFill>
                  <a:srgbClr val="C00000"/>
                </a:solidFill>
                <a:latin typeface="微软雅黑 Light" panose="020B0502040204020203" pitchFamily="34" charset="-122"/>
                <a:ea typeface="微软雅黑 Light" panose="020B0502040204020203" pitchFamily="34" charset="-122"/>
              </a:rPr>
              <a:t>直接交互，</a:t>
            </a:r>
            <a:r>
              <a:rPr lang="zh-CN" altLang="en-US" sz="2000" b="1" dirty="0">
                <a:latin typeface="微软雅黑 Light" panose="020B0502040204020203" pitchFamily="34" charset="-122"/>
                <a:ea typeface="微软雅黑 Light" panose="020B0502040204020203" pitchFamily="34" charset="-122"/>
              </a:rPr>
              <a:t>并可连续地改变屏幕的显示。</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由于活动文档技术</a:t>
            </a:r>
            <a:r>
              <a:rPr lang="zh-CN" altLang="en-US" sz="2000" b="1" dirty="0">
                <a:solidFill>
                  <a:srgbClr val="C00000"/>
                </a:solidFill>
                <a:latin typeface="微软雅黑 Light" panose="020B0502040204020203" pitchFamily="34" charset="-122"/>
                <a:ea typeface="微软雅黑 Light" panose="020B0502040204020203" pitchFamily="34" charset="-122"/>
              </a:rPr>
              <a:t>不需要</a:t>
            </a:r>
            <a:r>
              <a:rPr lang="zh-CN" altLang="en-US" sz="2000" b="1" dirty="0">
                <a:latin typeface="微软雅黑 Light" panose="020B0502040204020203" pitchFamily="34" charset="-122"/>
                <a:ea typeface="微软雅黑 Light" panose="020B0502040204020203" pitchFamily="34" charset="-122"/>
              </a:rPr>
              <a:t>服务器的连续更新传送，对网络带宽的要求也不会太高。 </a:t>
            </a:r>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3674"/>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活动文档在客户端创建</a:t>
            </a:r>
          </a:p>
        </p:txBody>
      </p:sp>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2405"/>
            <a:ext cx="8230421"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Java</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语言是一项用于创建和运行活动文档的技术。</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 </a:t>
            </a:r>
            <a:r>
              <a:rPr lang="en-US" altLang="zh-CN" sz="2000" b="1" dirty="0">
                <a:latin typeface="微软雅黑 Light" panose="020B0502040204020203" pitchFamily="34" charset="-122"/>
                <a:ea typeface="微软雅黑 Light" panose="020B0502040204020203" pitchFamily="34" charset="-122"/>
              </a:rPr>
              <a:t>Java </a:t>
            </a:r>
            <a:r>
              <a:rPr lang="zh-CN" altLang="en-US" sz="2000" b="1" dirty="0">
                <a:latin typeface="微软雅黑 Light" panose="020B0502040204020203" pitchFamily="34" charset="-122"/>
                <a:ea typeface="微软雅黑 Light" panose="020B0502040204020203" pitchFamily="34" charset="-122"/>
              </a:rPr>
              <a:t>技术中使用</a:t>
            </a:r>
            <a:r>
              <a:rPr lang="zh-CN" altLang="en-US" sz="2000" b="1" dirty="0">
                <a:solidFill>
                  <a:srgbClr val="C00000"/>
                </a:solidFill>
                <a:latin typeface="微软雅黑 Light" panose="020B0502040204020203" pitchFamily="34" charset="-122"/>
                <a:ea typeface="微软雅黑 Light" panose="020B0502040204020203" pitchFamily="34" charset="-122"/>
              </a:rPr>
              <a:t>小应用程序</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(applet) </a:t>
            </a:r>
            <a:r>
              <a:rPr lang="zh-CN" altLang="en-US" sz="2000" b="1" dirty="0">
                <a:latin typeface="微软雅黑 Light" panose="020B0502040204020203" pitchFamily="34" charset="-122"/>
                <a:ea typeface="微软雅黑 Light" panose="020B0502040204020203" pitchFamily="34" charset="-122"/>
              </a:rPr>
              <a:t>来描述活动文档程序。</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用户从万维网服务器下载嵌入了 </a:t>
            </a:r>
            <a:r>
              <a:rPr lang="en-US" altLang="zh-CN" sz="2000" b="1" dirty="0">
                <a:latin typeface="微软雅黑 Light" panose="020B0502040204020203" pitchFamily="34" charset="-122"/>
                <a:ea typeface="微软雅黑 Light" panose="020B0502040204020203" pitchFamily="34" charset="-122"/>
              </a:rPr>
              <a:t>applet </a:t>
            </a:r>
            <a:r>
              <a:rPr lang="zh-CN" altLang="en-US" sz="2000" b="1" dirty="0">
                <a:latin typeface="微软雅黑 Light" panose="020B0502040204020203" pitchFamily="34" charset="-122"/>
                <a:ea typeface="微软雅黑 Light" panose="020B0502040204020203" pitchFamily="34" charset="-122"/>
              </a:rPr>
              <a:t>的 </a:t>
            </a:r>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文档后，可在浏览器的屏幕上点击某个图像，就可看到动画效果，或在下拉式菜单中点击某个项目，就可看到计算结果。</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Java </a:t>
            </a:r>
            <a:r>
              <a:rPr lang="zh-CN" altLang="en-US" sz="2000" b="1" dirty="0">
                <a:latin typeface="微软雅黑 Light" panose="020B0502040204020203" pitchFamily="34" charset="-122"/>
                <a:ea typeface="微软雅黑 Light" panose="020B0502040204020203" pitchFamily="34" charset="-122"/>
              </a:rPr>
              <a:t>技术是活动文档技术的一部分。 </a:t>
            </a:r>
          </a:p>
        </p:txBody>
      </p:sp>
      <p:sp>
        <p:nvSpPr>
          <p:cNvPr id="3" name="AutoShape 5"/>
          <p:cNvSpPr>
            <a:spLocks noChangeArrowheads="1"/>
          </p:cNvSpPr>
          <p:nvPr/>
        </p:nvSpPr>
        <p:spPr bwMode="auto">
          <a:xfrm>
            <a:off x="556963" y="616765"/>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5381"/>
            <a:ext cx="320228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用 </a:t>
            </a:r>
            <a:r>
              <a:rPr lang="en-US" altLang="zh-CN" sz="2000" b="1" dirty="0">
                <a:latin typeface="微软雅黑 Light" panose="020B0502040204020203" pitchFamily="34" charset="-122"/>
                <a:ea typeface="微软雅黑 Light" panose="020B0502040204020203" pitchFamily="34" charset="-122"/>
              </a:rPr>
              <a:t>Java </a:t>
            </a:r>
            <a:r>
              <a:rPr lang="zh-CN" altLang="en-US" sz="2000" b="1" dirty="0">
                <a:latin typeface="微软雅黑 Light" panose="020B0502040204020203" pitchFamily="34" charset="-122"/>
                <a:ea typeface="微软雅黑 Light" panose="020B0502040204020203" pitchFamily="34" charset="-122"/>
              </a:rPr>
              <a:t>语言创建活动文档</a:t>
            </a:r>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486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477520" y="572590"/>
            <a:ext cx="418896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6.4.5  </a:t>
            </a:r>
            <a:r>
              <a:rPr lang="zh-CN" altLang="en-US" sz="2400" b="1" dirty="0">
                <a:solidFill>
                  <a:schemeClr val="bg1"/>
                </a:solidFill>
                <a:latin typeface="微软雅黑 Light" panose="020B0502040204020203" pitchFamily="34" charset="-122"/>
                <a:ea typeface="微软雅黑 Light" panose="020B0502040204020203" pitchFamily="34" charset="-122"/>
              </a:rPr>
              <a:t>万维网的信息检索系统</a:t>
            </a:r>
          </a:p>
        </p:txBody>
      </p:sp>
      <p:sp>
        <p:nvSpPr>
          <p:cNvPr id="9" name="Rectangle 68"/>
          <p:cNvSpPr>
            <a:spLocks noChangeArrowheads="1"/>
          </p:cNvSpPr>
          <p:nvPr/>
        </p:nvSpPr>
        <p:spPr bwMode="auto">
          <a:xfrm>
            <a:off x="556963" y="1010341"/>
            <a:ext cx="8048776" cy="849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1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使用户能够很方便地找到所需的信息。</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1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在万维网中用来进行搜索的程序叫做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搜索引擎 </a:t>
            </a:r>
            <a:r>
              <a:rPr lang="en-US" altLang="zh-CN" sz="2000" b="1" dirty="0">
                <a:latin typeface="微软雅黑 Light" panose="020B0502040204020203" pitchFamily="34" charset="-122"/>
                <a:ea typeface="微软雅黑 Light" panose="020B0502040204020203" pitchFamily="34" charset="-122"/>
              </a:rPr>
              <a:t>(search engine)</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2880000" y="144000"/>
            <a:ext cx="3384000" cy="338554"/>
          </a:xfrm>
        </p:spPr>
        <p:txBody>
          <a:bodyPr/>
          <a:lstStyle/>
          <a:p>
            <a:r>
              <a:rPr lang="en-US" altLang="zh-CN" dirty="0"/>
              <a:t>1.  </a:t>
            </a:r>
            <a:r>
              <a:rPr lang="zh-CN" altLang="en-US" dirty="0"/>
              <a:t>全文检索搜索和分类目录搜索</a:t>
            </a:r>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zh-CN" altLang="en-US" dirty="0"/>
              <a:t>一些著名的搜索引擎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3027"/>
            <a:ext cx="7941769" cy="2439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垂直搜索引擎 </a:t>
            </a:r>
            <a:r>
              <a:rPr lang="en-US" altLang="zh-CN" sz="2000" b="1" dirty="0">
                <a:latin typeface="微软雅黑 Light" panose="020B0502040204020203" pitchFamily="34" charset="-122"/>
                <a:ea typeface="微软雅黑 Light" panose="020B0502040204020203" pitchFamily="34" charset="-122"/>
              </a:rPr>
              <a:t>(Vertical Search Engine)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针对某一特定领域、特定人群或某一特定需求提供搜索服务。</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也是提供关键字来进行搜索，但被放到一个行业知识的上下文中，返回的结果更倾向于信息、消息、条目等。</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目前热门的垂直搜索行业有：购物、旅游、汽车、求职、房产、交友等。</a:t>
            </a:r>
          </a:p>
        </p:txBody>
      </p:sp>
      <p:sp>
        <p:nvSpPr>
          <p:cNvPr id="3" name="AutoShape 5"/>
          <p:cNvSpPr>
            <a:spLocks noChangeArrowheads="1"/>
          </p:cNvSpPr>
          <p:nvPr/>
        </p:nvSpPr>
        <p:spPr bwMode="auto">
          <a:xfrm>
            <a:off x="556963" y="608509"/>
            <a:ext cx="7941769"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57125"/>
            <a:ext cx="1723549"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垂直搜索引擎</a:t>
            </a:r>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3027"/>
            <a:ext cx="7941769" cy="2823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元搜索引擎 </a:t>
            </a:r>
            <a:r>
              <a:rPr lang="en-US" altLang="zh-CN" sz="2000" b="1" dirty="0">
                <a:latin typeface="微软雅黑 Light" panose="020B0502040204020203" pitchFamily="34" charset="-122"/>
                <a:ea typeface="微软雅黑 Light" panose="020B0502040204020203" pitchFamily="34" charset="-122"/>
              </a:rPr>
              <a:t>(Meta Search Engine)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把用户提交的检索请求发送到多个独立的搜索引擎上去搜索，并把检索结果集中统一处理，以统一的格式提供给用户，因此是</a:t>
            </a:r>
            <a:r>
              <a:rPr lang="zh-CN" altLang="en-US" sz="2000" b="1" dirty="0">
                <a:solidFill>
                  <a:srgbClr val="C00000"/>
                </a:solidFill>
                <a:latin typeface="微软雅黑 Light" panose="020B0502040204020203" pitchFamily="34" charset="-122"/>
                <a:ea typeface="微软雅黑 Light" panose="020B0502040204020203" pitchFamily="34" charset="-122"/>
              </a:rPr>
              <a:t>搜索引擎之上的搜索引擎。</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主要精力放在提高搜索速度、智能化处理搜索结果、个性化搜索功能的设置和用户检索界面的友好性上。</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其查全率和查准率都比较高。</a:t>
            </a:r>
          </a:p>
        </p:txBody>
      </p:sp>
      <p:sp>
        <p:nvSpPr>
          <p:cNvPr id="3" name="AutoShape 5"/>
          <p:cNvSpPr>
            <a:spLocks noChangeArrowheads="1"/>
          </p:cNvSpPr>
          <p:nvPr/>
        </p:nvSpPr>
        <p:spPr bwMode="auto">
          <a:xfrm>
            <a:off x="556963" y="608509"/>
            <a:ext cx="7941769"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57125"/>
            <a:ext cx="146706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元搜索引擎</a:t>
            </a:r>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17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6439" y="576959"/>
            <a:ext cx="33698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Google </a:t>
            </a:r>
            <a:r>
              <a:rPr lang="zh-CN" altLang="en-US" sz="2000" b="1" dirty="0">
                <a:solidFill>
                  <a:schemeClr val="bg1"/>
                </a:solidFill>
                <a:latin typeface="微软雅黑 Light" panose="020B0502040204020203" pitchFamily="34" charset="-122"/>
                <a:ea typeface="微软雅黑 Light" panose="020B0502040204020203" pitchFamily="34" charset="-122"/>
              </a:rPr>
              <a:t>搜索技术的特点</a:t>
            </a:r>
          </a:p>
        </p:txBody>
      </p:sp>
      <p:sp>
        <p:nvSpPr>
          <p:cNvPr id="6" name="Rectangle 68"/>
          <p:cNvSpPr>
            <a:spLocks noChangeArrowheads="1"/>
          </p:cNvSpPr>
          <p:nvPr/>
        </p:nvSpPr>
        <p:spPr bwMode="auto">
          <a:xfrm>
            <a:off x="556963" y="967417"/>
            <a:ext cx="8048776" cy="2439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核心技术：</a:t>
            </a:r>
            <a:r>
              <a:rPr lang="zh-CN" altLang="en-US" sz="2000" b="1" dirty="0">
                <a:latin typeface="微软雅黑 Light" panose="020B0502040204020203" pitchFamily="34" charset="-122"/>
                <a:ea typeface="微软雅黑 Light" panose="020B0502040204020203" pitchFamily="34" charset="-122"/>
              </a:rPr>
              <a:t>网页排名（</a:t>
            </a:r>
            <a:r>
              <a:rPr lang="en-US" altLang="zh-CN" sz="2000" b="1" dirty="0">
                <a:latin typeface="微软雅黑 Light" panose="020B0502040204020203" pitchFamily="34" charset="-122"/>
                <a:ea typeface="微软雅黑 Light" panose="020B0502040204020203" pitchFamily="34" charset="-122"/>
              </a:rPr>
              <a:t>PageRank</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solidFill>
                  <a:srgbClr val="0000FF"/>
                </a:solidFill>
                <a:latin typeface="微软雅黑 Light" panose="020B0502040204020203" pitchFamily="34" charset="-122"/>
                <a:ea typeface="微软雅黑 Light" panose="020B0502040204020203" pitchFamily="34" charset="-122"/>
              </a:rPr>
              <a:t>对搜索结果</a:t>
            </a:r>
            <a:r>
              <a:rPr lang="zh-CN" altLang="en-US" sz="2000" b="1" dirty="0">
                <a:solidFill>
                  <a:srgbClr val="C00000"/>
                </a:solidFill>
                <a:latin typeface="微软雅黑 Light" panose="020B0502040204020203" pitchFamily="34" charset="-122"/>
                <a:ea typeface="微软雅黑 Light" panose="020B0502040204020203" pitchFamily="34" charset="-122"/>
              </a:rPr>
              <a:t>按重要性</a:t>
            </a:r>
            <a:r>
              <a:rPr lang="zh-CN" altLang="en-US" sz="2000" b="1" dirty="0">
                <a:solidFill>
                  <a:srgbClr val="0000FF"/>
                </a:solidFill>
                <a:latin typeface="微软雅黑 Light" panose="020B0502040204020203" pitchFamily="34" charset="-122"/>
                <a:ea typeface="微软雅黑 Light" panose="020B0502040204020203" pitchFamily="34" charset="-122"/>
              </a:rPr>
              <a:t>排序。</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对链接的数目进行加权统计。来自重要网站的链接，其权重较大。</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进行超文本匹配分析，确定哪些网页与正在执行的特定搜索相关。</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在综合考虑整体重要性以及与特定查询的相关性之后，</a:t>
            </a:r>
            <a:r>
              <a:rPr lang="en-US" altLang="zh-CN" sz="2000" b="1" dirty="0">
                <a:latin typeface="微软雅黑 Light" panose="020B0502040204020203" pitchFamily="34" charset="-122"/>
                <a:ea typeface="微软雅黑 Light" panose="020B0502040204020203" pitchFamily="34" charset="-122"/>
              </a:rPr>
              <a:t>Google  </a:t>
            </a:r>
            <a:r>
              <a:rPr lang="zh-CN" altLang="en-US" sz="2000" b="1" dirty="0">
                <a:latin typeface="微软雅黑 Light" panose="020B0502040204020203" pitchFamily="34" charset="-122"/>
                <a:ea typeface="微软雅黑 Light" panose="020B0502040204020203" pitchFamily="34" charset="-122"/>
              </a:rPr>
              <a:t>就把最相关、最可靠的搜索结果放在首位。</a:t>
            </a:r>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47D808A8-EC1C-2617-A1E4-528DBDE227BF}"/>
              </a:ext>
            </a:extLst>
          </p:cNvPr>
          <p:cNvSpPr>
            <a:spLocks noGrp="1"/>
          </p:cNvSpPr>
          <p:nvPr>
            <p:ph type="title"/>
          </p:nvPr>
        </p:nvSpPr>
        <p:spPr>
          <a:xfrm>
            <a:off x="2880000" y="144000"/>
            <a:ext cx="3384000" cy="338554"/>
          </a:xfrm>
        </p:spPr>
        <p:txBody>
          <a:bodyPr/>
          <a:lstStyle/>
          <a:p>
            <a:r>
              <a:rPr lang="en-US" altLang="zh-CN" dirty="0"/>
              <a:t>6.4.6  </a:t>
            </a:r>
            <a:r>
              <a:rPr lang="zh-CN" altLang="en-US" dirty="0"/>
              <a:t>博客和微博</a:t>
            </a:r>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(Social Networking Site) </a:t>
            </a:r>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516315"/>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237429"/>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237429"/>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850488"/>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237429"/>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850488"/>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237429"/>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516315"/>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4129374"/>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dirty="0">
                <a:solidFill>
                  <a:srgbClr val="CC00CC"/>
                </a:solidFill>
                <a:latin typeface="Montserrat" panose="00000500000000000000" pitchFamily="2" charset="0"/>
                <a:ea typeface="微软雅黑 Light" panose="020B0502040204020203" pitchFamily="34" charset="-122"/>
              </a:rPr>
              <a:t>TCP </a:t>
            </a:r>
            <a:r>
              <a:rPr kumimoji="1" lang="zh-CN" altLang="en-US" sz="1100" dirty="0">
                <a:solidFill>
                  <a:srgbClr val="CC00CC"/>
                </a:solidFill>
                <a:latin typeface="Montserrat" panose="00000500000000000000" pitchFamily="2" charset="0"/>
                <a:ea typeface="微软雅黑 Light" panose="020B0502040204020203" pitchFamily="34" charset="-122"/>
              </a:rPr>
              <a:t>端口 </a:t>
            </a:r>
            <a:r>
              <a:rPr kumimoji="1" lang="en-US" altLang="zh-CN" sz="1100" dirty="0">
                <a:solidFill>
                  <a:srgbClr val="CC00CC"/>
                </a:solidFill>
                <a:latin typeface="Montserrat" panose="00000500000000000000" pitchFamily="2" charset="0"/>
                <a:ea typeface="微软雅黑 Light" panose="020B0502040204020203" pitchFamily="34" charset="-122"/>
              </a:rPr>
              <a:t>25</a:t>
            </a:r>
            <a:endParaRPr kumimoji="1" lang="zh-CN" altLang="en-US" sz="1100" dirty="0">
              <a:solidFill>
                <a:srgbClr val="CC00CC"/>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9" name="内容占位符 8">
            <a:extLst>
              <a:ext uri="{FF2B5EF4-FFF2-40B4-BE49-F238E27FC236}">
                <a16:creationId xmlns:a16="http://schemas.microsoft.com/office/drawing/2014/main" id="{19EC3329-33B9-D551-08CA-001198598018}"/>
              </a:ext>
            </a:extLst>
          </p:cNvPr>
          <p:cNvSpPr>
            <a:spLocks noGrp="1"/>
          </p:cNvSpPr>
          <p:nvPr>
            <p:ph sz="quarter" idx="11"/>
          </p:nvPr>
        </p:nvSpPr>
        <p:spPr>
          <a:xfrm>
            <a:off x="486000" y="687518"/>
            <a:ext cx="8172000" cy="4079035"/>
          </a:xfrm>
        </p:spPr>
        <p:txBody>
          <a:bodyPr/>
          <a:lstStyle/>
          <a:p>
            <a:r>
              <a:rPr lang="zh-CN" altLang="en-US" dirty="0"/>
              <a:t>一个电子邮件分为信封和内容两大部分</a:t>
            </a:r>
            <a:endParaRPr lang="en-US" altLang="zh-CN" dirty="0"/>
          </a:p>
        </p:txBody>
      </p:sp>
      <p:sp>
        <p:nvSpPr>
          <p:cNvPr id="86" name="矩形 85"/>
          <p:cNvSpPr/>
          <p:nvPr/>
        </p:nvSpPr>
        <p:spPr>
          <a:xfrm>
            <a:off x="1590683" y="3691068"/>
            <a:ext cx="5891237" cy="10224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590683" y="2266123"/>
            <a:ext cx="5891237" cy="119738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590683" y="1457268"/>
            <a:ext cx="5891237"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1133894"/>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1133894"/>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391093"/>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391093"/>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457268"/>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659836"/>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869163"/>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Tiger@xyz.com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2071731"/>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279053"/>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481621"/>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683268"/>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880858"/>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Tiger@xyz.com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3077041"/>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2018-08-18</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283509"/>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490048"/>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691068"/>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Tiger,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897536"/>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307478"/>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508574"/>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6559677" y="1705395"/>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708255"/>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algn="ct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4035496"/>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algn="ct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436052"/>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377464"/>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en-US" altLang="zh-CN" dirty="0"/>
              <a:t>TCP </a:t>
            </a:r>
            <a:r>
              <a:rPr lang="zh-CN" altLang="en-US" dirty="0"/>
              <a:t>端口 </a:t>
            </a:r>
            <a:r>
              <a:rPr lang="en-US" altLang="zh-CN" dirty="0"/>
              <a:t>25</a:t>
            </a:r>
            <a:endParaRPr lang="zh-CN" altLang="en-US" dirty="0"/>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a:off x="7541943" y="2294916"/>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7481920" y="3326828"/>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6" name="内容占位符 5">
            <a:extLst>
              <a:ext uri="{FF2B5EF4-FFF2-40B4-BE49-F238E27FC236}">
                <a16:creationId xmlns:a16="http://schemas.microsoft.com/office/drawing/2014/main" id="{40C81F44-3D47-A3C9-3729-716EDB75817B}"/>
              </a:ext>
            </a:extLst>
          </p:cNvPr>
          <p:cNvSpPr>
            <a:spLocks noGrp="1"/>
          </p:cNvSpPr>
          <p:nvPr>
            <p:ph sz="quarter" idx="11"/>
          </p:nvPr>
        </p:nvSpPr>
        <p:spPr/>
        <p:txBody>
          <a:bodyPr/>
          <a:lstStyle/>
          <a:p>
            <a:endParaRPr lang="zh-CN" altLang="en-US" dirty="0"/>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dirty="0">
                <a:solidFill>
                  <a:srgbClr val="CC00CC"/>
                </a:solidFill>
                <a:latin typeface="Montserrat" panose="00000500000000000000" pitchFamily="2" charset="0"/>
                <a:ea typeface="微软雅黑 Light" panose="020B0502040204020203" pitchFamily="34" charset="-122"/>
              </a:rPr>
              <a:t>TCP </a:t>
            </a:r>
            <a:r>
              <a:rPr kumimoji="1" lang="zh-CN" altLang="en-US" sz="1100" dirty="0">
                <a:solidFill>
                  <a:srgbClr val="CC00CC"/>
                </a:solidFill>
                <a:latin typeface="Montserrat" panose="00000500000000000000" pitchFamily="2" charset="0"/>
                <a:ea typeface="微软雅黑 Light" panose="020B0502040204020203" pitchFamily="34" charset="-122"/>
              </a:rPr>
              <a:t>端口 </a:t>
            </a:r>
            <a:r>
              <a:rPr kumimoji="1" lang="en-US" altLang="zh-CN" sz="1100" dirty="0">
                <a:solidFill>
                  <a:srgbClr val="CC00CC"/>
                </a:solidFill>
                <a:latin typeface="Montserrat" panose="00000500000000000000" pitchFamily="2" charset="0"/>
                <a:ea typeface="微软雅黑 Light" panose="020B0502040204020203" pitchFamily="34" charset="-122"/>
              </a:rPr>
              <a:t>25</a:t>
            </a:r>
            <a:endParaRPr kumimoji="1" lang="zh-CN" altLang="en-US" sz="1100" dirty="0">
              <a:solidFill>
                <a:srgbClr val="CC00CC"/>
              </a:solidFill>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0000FF"/>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0" name="Line 1036"/>
          <p:cNvSpPr>
            <a:spLocks noChangeShapeType="1"/>
          </p:cNvSpPr>
          <p:nvPr/>
        </p:nvSpPr>
        <p:spPr bwMode="auto">
          <a:xfrm flipH="1">
            <a:off x="6288345" y="3552078"/>
            <a:ext cx="0" cy="46904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矩形 17"/>
          <p:cNvSpPr/>
          <p:nvPr/>
        </p:nvSpPr>
        <p:spPr>
          <a:xfrm>
            <a:off x="4704345" y="3182899"/>
            <a:ext cx="3168000" cy="360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020202"/>
                </a:solidFill>
                <a:latin typeface="Montserrat" panose="00000500000000000000" pitchFamily="2" charset="0"/>
                <a:ea typeface="微软雅黑 Light" panose="020B0502040204020203" pitchFamily="34" charset="-122"/>
              </a:rPr>
              <a:t>11001111 10110101 11001101 10110011</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5553208" y="4007419"/>
            <a:ext cx="1470274" cy="288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C00000"/>
                </a:solidFill>
                <a:latin typeface="Montserrat" panose="00000500000000000000" pitchFamily="2" charset="0"/>
                <a:ea typeface="微软雅黑 Light" panose="020B0502040204020203" pitchFamily="34" charset="-122"/>
              </a:rPr>
              <a:t>=CF=B5=CD=B3</a:t>
            </a:r>
            <a:endParaRPr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1" name="矩形 20"/>
          <p:cNvSpPr/>
          <p:nvPr/>
        </p:nvSpPr>
        <p:spPr>
          <a:xfrm>
            <a:off x="7936953" y="3224399"/>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32</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2" name="矩形 21"/>
          <p:cNvSpPr/>
          <p:nvPr/>
        </p:nvSpPr>
        <p:spPr>
          <a:xfrm>
            <a:off x="7069739" y="4018420"/>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96</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343504133"/>
              </p:ext>
            </p:extLst>
          </p:nvPr>
        </p:nvGraphicFramePr>
        <p:xfrm>
          <a:off x="485775" y="3182899"/>
          <a:ext cx="3643946" cy="1112520"/>
        </p:xfrm>
        <a:graphic>
          <a:graphicData uri="http://schemas.openxmlformats.org/drawingml/2006/table">
            <a:tbl>
              <a:tblPr firstRow="1" bandRow="1">
                <a:tableStyleId>{93296810-A885-4BE3-A3E7-6D5BEEA58F35}</a:tableStyleId>
              </a:tblPr>
              <a:tblGrid>
                <a:gridCol w="892455">
                  <a:extLst>
                    <a:ext uri="{9D8B030D-6E8A-4147-A177-3AD203B41FA5}">
                      <a16:colId xmlns:a16="http://schemas.microsoft.com/office/drawing/2014/main" val="1233134625"/>
                    </a:ext>
                  </a:extLst>
                </a:gridCol>
                <a:gridCol w="2751491">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 9 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ASCII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00111101</a:t>
                      </a:r>
                      <a:r>
                        <a:rPr lang="zh-CN" altLang="en-US" sz="1200" b="0" dirty="0">
                          <a:solidFill>
                            <a:srgbClr val="C00000"/>
                          </a:solidFill>
                          <a:latin typeface="Montserrat" panose="00000500000000000000" pitchFamily="2" charset="0"/>
                          <a:ea typeface="微软雅黑" panose="020B0503020204020204" pitchFamily="34" charset="-122"/>
                        </a:rPr>
                        <a:t> </a:t>
                      </a:r>
                      <a:r>
                        <a:rPr lang="en-US" altLang="zh-CN" sz="1200" b="0" dirty="0">
                          <a:solidFill>
                            <a:srgbClr val="C00000"/>
                          </a:solidFill>
                          <a:latin typeface="Montserrat" panose="00000500000000000000" pitchFamily="2" charset="0"/>
                          <a:ea typeface="微软雅黑 Light" panose="020B0502040204020203" pitchFamily="34" charset="-122"/>
                        </a:rPr>
                        <a:t>00111001 01000100</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268191" y="2154350"/>
            <a:ext cx="1300356"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 </a:t>
            </a:r>
            <a:r>
              <a:rPr lang="en-US" altLang="zh-CN" sz="1200" dirty="0">
                <a:solidFill>
                  <a:srgbClr val="020202"/>
                </a:solidFill>
                <a:latin typeface="Montserrat" panose="00000500000000000000" pitchFamily="2" charset="0"/>
                <a:ea typeface="微软雅黑 Light" panose="020B0502040204020203" pitchFamily="34" charset="-122"/>
              </a:rPr>
              <a:t>– 24</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61916" y="2606414"/>
            <a:ext cx="8066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5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8" y="568687"/>
            <a:ext cx="38811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6.7.1  </a:t>
            </a:r>
            <a:r>
              <a:rPr lang="zh-CN" altLang="en-US" sz="2400" b="1" dirty="0">
                <a:solidFill>
                  <a:schemeClr val="bg1"/>
                </a:solidFill>
                <a:latin typeface="微软雅黑 Light" panose="020B0502040204020203" pitchFamily="34" charset="-122"/>
                <a:ea typeface="微软雅黑 Light" panose="020B0502040204020203" pitchFamily="34" charset="-122"/>
              </a:rPr>
              <a:t>网络管理的基本概念</a:t>
            </a:r>
          </a:p>
        </p:txBody>
      </p:sp>
      <p:sp>
        <p:nvSpPr>
          <p:cNvPr id="4" name="Rectangle 68"/>
          <p:cNvSpPr>
            <a:spLocks noChangeArrowheads="1"/>
          </p:cNvSpPr>
          <p:nvPr/>
        </p:nvSpPr>
        <p:spPr bwMode="auto">
          <a:xfrm>
            <a:off x="556963" y="1005176"/>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a:t>
            </a:r>
            <a:r>
              <a:rPr lang="zh-CN" altLang="en-US" sz="2000" b="1" dirty="0">
                <a:latin typeface="微软雅黑 Light" panose="020B0502040204020203" pitchFamily="34" charset="-122"/>
                <a:ea typeface="微软雅黑 Light" panose="020B0502040204020203" pitchFamily="34" charset="-122"/>
              </a:rPr>
              <a:t>包括对硬件、软件和人力的使用、综合与协调，以便对网络资源进行监视、测试、配置、分析、评价和控制，这样就能以合理的价格满足网络的一些需求，如实时运行性能，服务质量等。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网络管理常简称为</a:t>
            </a:r>
            <a:r>
              <a:rPr lang="zh-CN" altLang="en-US" sz="2000" b="1" dirty="0">
                <a:solidFill>
                  <a:srgbClr val="C00000"/>
                </a:solidFill>
                <a:latin typeface="微软雅黑 Light" panose="020B0502040204020203" pitchFamily="34" charset="-122"/>
                <a:ea typeface="微软雅黑 Light" panose="020B0502040204020203" pitchFamily="34" charset="-122"/>
              </a:rPr>
              <a:t>网管。</a:t>
            </a:r>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1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6382"/>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网络管理的五大功能</a:t>
            </a:r>
          </a:p>
        </p:txBody>
      </p:sp>
      <p:sp>
        <p:nvSpPr>
          <p:cNvPr id="4" name="Rectangle 68"/>
          <p:cNvSpPr>
            <a:spLocks noChangeArrowheads="1"/>
          </p:cNvSpPr>
          <p:nvPr/>
        </p:nvSpPr>
        <p:spPr bwMode="auto">
          <a:xfrm>
            <a:off x="556962" y="971805"/>
            <a:ext cx="816978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故障管理</a:t>
            </a:r>
            <a:r>
              <a:rPr lang="zh-CN" altLang="en-US" sz="2000" b="1" dirty="0">
                <a:latin typeface="微软雅黑 Light" panose="020B0502040204020203" pitchFamily="34" charset="-122"/>
                <a:ea typeface="微软雅黑 Light" panose="020B0502040204020203" pitchFamily="34" charset="-122"/>
              </a:rPr>
              <a:t>：故障检测、隔离和纠正。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配置管理</a:t>
            </a:r>
            <a:r>
              <a:rPr lang="zh-CN" altLang="en-US" sz="2000" b="1" dirty="0">
                <a:latin typeface="微软雅黑 Light" panose="020B0502040204020203" pitchFamily="34" charset="-122"/>
                <a:ea typeface="微软雅黑 Light" panose="020B0502040204020203" pitchFamily="34" charset="-122"/>
              </a:rPr>
              <a:t>：初始化网络、并配置网络。</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计费管理</a:t>
            </a:r>
            <a:r>
              <a:rPr lang="zh-CN" altLang="en-US" sz="2000" b="1" dirty="0">
                <a:latin typeface="微软雅黑 Light" panose="020B0502040204020203" pitchFamily="34" charset="-122"/>
                <a:ea typeface="微软雅黑 Light" panose="020B0502040204020203" pitchFamily="34" charset="-122"/>
              </a:rPr>
              <a:t>：记录网络资源的使用。</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性能管理</a:t>
            </a:r>
            <a:r>
              <a:rPr lang="zh-CN" altLang="en-US" sz="2000" b="1" dirty="0">
                <a:latin typeface="微软雅黑 Light" panose="020B0502040204020203" pitchFamily="34" charset="-122"/>
                <a:ea typeface="微软雅黑 Light" panose="020B0502040204020203" pitchFamily="34" charset="-122"/>
              </a:rPr>
              <a:t>：估价系统资源的运行状况及通信效率等。</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网络安全管理</a:t>
            </a:r>
            <a:r>
              <a:rPr lang="zh-CN" altLang="en-US" sz="2000" b="1" dirty="0">
                <a:latin typeface="微软雅黑 Light" panose="020B0502040204020203" pitchFamily="34" charset="-122"/>
                <a:ea typeface="微软雅黑 Light" panose="020B0502040204020203" pitchFamily="34" charset="-122"/>
              </a:rPr>
              <a:t>：对授权机制、访问控制、加密和加密关键字的管理。</a:t>
            </a:r>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296385" y="582898"/>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网络管理的一般模型</a:t>
            </a:r>
          </a:p>
        </p:txBody>
      </p:sp>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05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911667" y="578844"/>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网络管理模型中的主要构件</a:t>
            </a:r>
          </a:p>
        </p:txBody>
      </p:sp>
      <p:sp>
        <p:nvSpPr>
          <p:cNvPr id="4" name="Rectangle 68"/>
          <p:cNvSpPr>
            <a:spLocks noChangeArrowheads="1"/>
          </p:cNvSpPr>
          <p:nvPr/>
        </p:nvSpPr>
        <p:spPr bwMode="auto">
          <a:xfrm>
            <a:off x="556962" y="973145"/>
            <a:ext cx="8048777"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r>
              <a:rPr lang="zh-CN" altLang="en-US" sz="2000" b="1" dirty="0">
                <a:latin typeface="微软雅黑 Light" panose="020B0502040204020203" pitchFamily="34" charset="-122"/>
                <a:ea typeface="微软雅黑 Light" panose="020B0502040204020203" pitchFamily="34" charset="-122"/>
              </a:rPr>
              <a:t>也常称为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网络运行中心 </a:t>
            </a:r>
            <a:r>
              <a:rPr lang="en-US" altLang="zh-CN" sz="2000" b="1" dirty="0">
                <a:latin typeface="微软雅黑 Light" panose="020B0502040204020203" pitchFamily="34" charset="-122"/>
                <a:ea typeface="微软雅黑 Light" panose="020B0502040204020203" pitchFamily="34" charset="-122"/>
              </a:rPr>
              <a:t>NOC (Network Operations Center)</a:t>
            </a:r>
            <a:r>
              <a:rPr lang="zh-CN" altLang="en-US" sz="2000" b="1" dirty="0">
                <a:latin typeface="微软雅黑 Light" panose="020B0502040204020203" pitchFamily="34" charset="-122"/>
                <a:ea typeface="微软雅黑 Light" panose="020B0502040204020203" pitchFamily="34" charset="-122"/>
              </a:rPr>
              <a:t>，是网络管理系统的核心。</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是管理站中的关键构件，在运行时就成为</a:t>
            </a:r>
            <a:r>
              <a:rPr lang="zh-CN" altLang="en-US" sz="2000" b="1" dirty="0">
                <a:solidFill>
                  <a:srgbClr val="0000FF"/>
                </a:solidFill>
                <a:latin typeface="微软雅黑 Light" panose="020B0502040204020203" pitchFamily="34" charset="-122"/>
                <a:ea typeface="微软雅黑 Light" panose="020B0502040204020203" pitchFamily="34" charset="-122"/>
              </a:rPr>
              <a:t>管理进程</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管理站（硬件）或管理程序（软件）都可称为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管理者</a:t>
            </a:r>
            <a:r>
              <a:rPr lang="en-US" altLang="zh-CN" sz="2000" b="1" dirty="0">
                <a:latin typeface="微软雅黑 Light" panose="020B0502040204020203" pitchFamily="34" charset="-122"/>
                <a:ea typeface="微软雅黑 Light" panose="020B0502040204020203" pitchFamily="34" charset="-122"/>
              </a:rPr>
              <a:t>(manager)</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Manager</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不是指人，而是指机器或软件。</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网络管理员</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(administrator) </a:t>
            </a:r>
            <a:r>
              <a:rPr lang="zh-CN" altLang="en-US" sz="2000" b="1" dirty="0">
                <a:latin typeface="微软雅黑 Light" panose="020B0502040204020203" pitchFamily="34" charset="-122"/>
                <a:ea typeface="微软雅黑 Light" panose="020B0502040204020203" pitchFamily="34" charset="-122"/>
              </a:rPr>
              <a:t>指的是负责网络管理的人员。</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大型网络往往实行</a:t>
            </a:r>
            <a:r>
              <a:rPr lang="zh-CN" altLang="en-US" sz="2000" b="1" dirty="0">
                <a:solidFill>
                  <a:srgbClr val="C00000"/>
                </a:solidFill>
                <a:latin typeface="微软雅黑 Light" panose="020B0502040204020203" pitchFamily="34" charset="-122"/>
                <a:ea typeface="微软雅黑 Light" panose="020B0502040204020203" pitchFamily="34" charset="-122"/>
              </a:rPr>
              <a:t>多级管理，</a:t>
            </a:r>
            <a:r>
              <a:rPr lang="zh-CN" altLang="en-US" sz="2000" b="1" dirty="0">
                <a:latin typeface="微软雅黑 Light" panose="020B0502040204020203" pitchFamily="34" charset="-122"/>
                <a:ea typeface="微软雅黑 Light" panose="020B0502040204020203" pitchFamily="34" charset="-122"/>
              </a:rPr>
              <a:t>因而有多个管理者，而一个管理者一般只管理本地网络的设备。</a:t>
            </a:r>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86020" y="576681"/>
            <a:ext cx="33906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被管对象 </a:t>
            </a:r>
            <a:r>
              <a:rPr lang="en-US" altLang="zh-CN" sz="2000" b="1" dirty="0">
                <a:solidFill>
                  <a:schemeClr val="bg1"/>
                </a:solidFill>
                <a:latin typeface="微软雅黑 Light" panose="020B0502040204020203" pitchFamily="34" charset="-122"/>
                <a:ea typeface="微软雅黑 Light" panose="020B0502040204020203" pitchFamily="34" charset="-122"/>
              </a:rPr>
              <a:t>(Managed Object)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80924"/>
            <a:ext cx="787682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网络的每一个被管设备（包括设备中的软件）中可能有多个</a:t>
            </a:r>
            <a:r>
              <a:rPr lang="zh-CN" altLang="en-US" sz="2000" b="1" dirty="0">
                <a:solidFill>
                  <a:srgbClr val="C00000"/>
                </a:solidFill>
                <a:latin typeface="微软雅黑 Light" panose="020B0502040204020203" pitchFamily="34" charset="-122"/>
                <a:ea typeface="微软雅黑 Light" panose="020B0502040204020203" pitchFamily="34" charset="-122"/>
              </a:rPr>
              <a:t>被管对象。</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被管设备有时可称为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网络元素</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0000FF"/>
                </a:solidFill>
                <a:latin typeface="微软雅黑 Light" panose="020B0502040204020203" pitchFamily="34" charset="-122"/>
                <a:ea typeface="微软雅黑 Light" panose="020B0502040204020203" pitchFamily="34" charset="-122"/>
              </a:rPr>
              <a:t>网元</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在被管设备中也会有一些不能被管的对象。 </a:t>
            </a:r>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5304" y="577480"/>
            <a:ext cx="15921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代理 </a:t>
            </a:r>
            <a:r>
              <a:rPr lang="en-US" altLang="zh-CN" sz="2000" b="1" dirty="0">
                <a:solidFill>
                  <a:schemeClr val="bg1"/>
                </a:solidFill>
                <a:latin typeface="微软雅黑 Light" panose="020B0502040204020203" pitchFamily="34" charset="-122"/>
                <a:ea typeface="微软雅黑 Light" panose="020B0502040204020203" pitchFamily="34" charset="-122"/>
              </a:rPr>
              <a:t>(agent)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80925"/>
            <a:ext cx="816090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在每一个被管设备中都要运行一个程序，以便和管理站中的管理程序进行通信。</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这些运行着的程序叫做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网络管理代理程序，</a:t>
            </a:r>
            <a:r>
              <a:rPr lang="zh-CN" altLang="en-US" sz="2000" b="1" dirty="0">
                <a:latin typeface="微软雅黑 Light" panose="020B0502040204020203" pitchFamily="34" charset="-122"/>
                <a:ea typeface="微软雅黑 Light" panose="020B0502040204020203" pitchFamily="34" charset="-122"/>
              </a:rPr>
              <a:t>或简称为</a:t>
            </a:r>
            <a:r>
              <a:rPr lang="zh-CN" altLang="en-US" sz="2000" b="1" dirty="0">
                <a:solidFill>
                  <a:srgbClr val="C00000"/>
                </a:solidFill>
                <a:latin typeface="微软雅黑 Light" panose="020B0502040204020203" pitchFamily="34" charset="-122"/>
                <a:ea typeface="微软雅黑 Light" panose="020B0502040204020203" pitchFamily="34" charset="-122"/>
              </a:rPr>
              <a:t>代理。</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代理程序在管理程序的命令和控制下在被管设备上采取本地的行动。</a:t>
            </a:r>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68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网络管理协议</a:t>
            </a:r>
          </a:p>
        </p:txBody>
      </p:sp>
      <p:sp>
        <p:nvSpPr>
          <p:cNvPr id="4" name="Rectangle 68"/>
          <p:cNvSpPr>
            <a:spLocks noChangeArrowheads="1"/>
          </p:cNvSpPr>
          <p:nvPr/>
        </p:nvSpPr>
        <p:spPr bwMode="auto">
          <a:xfrm>
            <a:off x="556962" y="971108"/>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网络管理协议</a:t>
            </a:r>
            <a:r>
              <a:rPr lang="zh-CN" altLang="en-US" sz="2000" b="1" dirty="0">
                <a:latin typeface="微软雅黑 Light" panose="020B0502040204020203" pitchFamily="34" charset="-122"/>
                <a:ea typeface="微软雅黑 Light" panose="020B0502040204020203" pitchFamily="34" charset="-122"/>
              </a:rPr>
              <a:t>简称为</a:t>
            </a:r>
            <a:r>
              <a:rPr lang="zh-CN" altLang="en-US" sz="2000" b="1" dirty="0">
                <a:solidFill>
                  <a:srgbClr val="0000FF"/>
                </a:solidFill>
                <a:latin typeface="微软雅黑 Light" panose="020B0502040204020203" pitchFamily="34" charset="-122"/>
                <a:ea typeface="微软雅黑 Light" panose="020B0502040204020203" pitchFamily="34" charset="-122"/>
              </a:rPr>
              <a:t>网管协议。</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网络管理协议是管理程序和代理程序之间进行通信的规则。</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网络管理员利用网络管理协议，通过管理站对网络中的被管设备进行管理。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注意：网管协议本身不管理网络。</a:t>
            </a:r>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67160" y="577451"/>
            <a:ext cx="3028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752"/>
            <a:ext cx="790345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简单网络管理协议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en-US" altLang="zh-CN" sz="2000" b="1" dirty="0">
                <a:latin typeface="微软雅黑 Light" panose="020B0502040204020203" pitchFamily="34" charset="-122"/>
                <a:ea typeface="微软雅黑 Light" panose="020B0502040204020203" pitchFamily="34" charset="-122"/>
              </a:rPr>
              <a:t>(Simple Network Management Protocol) </a:t>
            </a:r>
            <a:r>
              <a:rPr lang="zh-CN" altLang="en-US" sz="2000" b="1" dirty="0">
                <a:latin typeface="微软雅黑 Light" panose="020B0502040204020203" pitchFamily="34" charset="-122"/>
                <a:ea typeface="微软雅黑 Light" panose="020B0502040204020203" pitchFamily="34" charset="-122"/>
              </a:rPr>
              <a:t>中的管理程序和代理程序按</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方式工作。</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客户程序，</a:t>
            </a:r>
            <a:r>
              <a:rPr lang="zh-CN" altLang="en-US" sz="2000" b="1" dirty="0">
                <a:latin typeface="微软雅黑 Light" panose="020B0502040204020203" pitchFamily="34" charset="-122"/>
                <a:ea typeface="微软雅黑 Light" panose="020B0502040204020203" pitchFamily="34" charset="-122"/>
              </a:rPr>
              <a:t>向某个代理程序发出请求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或命令</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服务器程序，</a:t>
            </a:r>
            <a:r>
              <a:rPr lang="zh-CN" altLang="en-US" sz="2000" b="1" dirty="0">
                <a:latin typeface="微软雅黑 Light" panose="020B0502040204020203" pitchFamily="34" charset="-122"/>
                <a:ea typeface="微软雅黑 Light" panose="020B0502040204020203" pitchFamily="34" charset="-122"/>
              </a:rPr>
              <a:t>返回响应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或执行某个动作</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在网管系统中，往往是一个（或少数几个）客户程序与很多的服务器程序进行交互。</a:t>
            </a:r>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62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040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网络管理的基本原理</a:t>
            </a:r>
          </a:p>
        </p:txBody>
      </p:sp>
      <p:grpSp>
        <p:nvGrpSpPr>
          <p:cNvPr id="5" name="组合 4"/>
          <p:cNvGrpSpPr/>
          <p:nvPr/>
        </p:nvGrpSpPr>
        <p:grpSpPr>
          <a:xfrm>
            <a:off x="976547" y="1395148"/>
            <a:ext cx="7270808" cy="1206008"/>
            <a:chOff x="1154100" y="3809877"/>
            <a:chExt cx="7270808" cy="795008"/>
          </a:xfrm>
        </p:grpSpPr>
        <p:sp>
          <p:nvSpPr>
            <p:cNvPr id="6" name="对角圆角矩形 5"/>
            <p:cNvSpPr/>
            <p:nvPr/>
          </p:nvSpPr>
          <p:spPr>
            <a:xfrm>
              <a:off x="1154100" y="3809877"/>
              <a:ext cx="7270808" cy="79500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1482570" y="3948251"/>
              <a:ext cx="6587231" cy="534272"/>
            </a:xfrm>
            <a:prstGeom prst="rect">
              <a:avLst/>
            </a:prstGeom>
          </p:spPr>
          <p:txBody>
            <a:bodyPr wrap="square">
              <a:spAutoFit/>
            </a:bodyPr>
            <a:lstStyle/>
            <a:p>
              <a:pPr eaLnBrk="0" hangingPunct="0">
                <a:lnSpc>
                  <a:spcPts val="2800"/>
                </a:lnSpc>
                <a:buClr>
                  <a:srgbClr val="0070C0"/>
                </a:buClr>
              </a:pPr>
              <a:r>
                <a:rPr lang="zh-CN" altLang="en-US" sz="2000" b="1" dirty="0">
                  <a:solidFill>
                    <a:schemeClr val="bg1"/>
                  </a:solidFill>
                  <a:latin typeface="微软雅黑 Light" panose="020B0502040204020203" pitchFamily="34" charset="-122"/>
                  <a:ea typeface="微软雅黑 Light" panose="020B0502040204020203" pitchFamily="34" charset="-122"/>
                </a:rPr>
                <a:t>若要管理某个对象，就必然会给该对象添加一些软件或硬件，但这种“添加”必须对原有对象的影响尽量小些。</a:t>
              </a:r>
            </a:p>
          </p:txBody>
        </p:sp>
      </p:gr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2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7" y="577713"/>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的基本功能</a:t>
            </a:r>
          </a:p>
        </p:txBody>
      </p:sp>
      <p:sp>
        <p:nvSpPr>
          <p:cNvPr id="4" name="Rectangle 68"/>
          <p:cNvSpPr>
            <a:spLocks noChangeArrowheads="1"/>
          </p:cNvSpPr>
          <p:nvPr/>
        </p:nvSpPr>
        <p:spPr bwMode="auto">
          <a:xfrm>
            <a:off x="556963" y="972014"/>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最重要的指导思想：</a:t>
            </a:r>
            <a:r>
              <a:rPr lang="zh-CN" altLang="en-US" sz="2000" b="1" dirty="0">
                <a:solidFill>
                  <a:srgbClr val="C00000"/>
                </a:solidFill>
                <a:latin typeface="微软雅黑 Light" panose="020B0502040204020203" pitchFamily="34" charset="-122"/>
                <a:ea typeface="微软雅黑 Light" panose="020B0502040204020203" pitchFamily="34" charset="-122"/>
              </a:rPr>
              <a:t>尽可能简单。</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基本功能：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监视网络性能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检测分析网络差错</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配置网络设备等。</a:t>
            </a:r>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4035" y="577781"/>
            <a:ext cx="33746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的管理站和委托代理</a:t>
            </a:r>
          </a:p>
        </p:txBody>
      </p:sp>
      <p:sp>
        <p:nvSpPr>
          <p:cNvPr id="4" name="Rectangle 68"/>
          <p:cNvSpPr>
            <a:spLocks noChangeArrowheads="1"/>
          </p:cNvSpPr>
          <p:nvPr/>
        </p:nvSpPr>
        <p:spPr bwMode="auto">
          <a:xfrm>
            <a:off x="556963" y="972082"/>
            <a:ext cx="8258564"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整个系统必须有一个</a:t>
            </a: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若网络元素使用的不是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而是另一种网络管理协议，</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协议就无法控制该网络元素。这时可使用</a:t>
            </a:r>
            <a:r>
              <a:rPr lang="zh-CN" altLang="en-US" sz="2000" b="1" dirty="0">
                <a:solidFill>
                  <a:srgbClr val="C00000"/>
                </a:solidFill>
                <a:latin typeface="微软雅黑 Light" panose="020B0502040204020203" pitchFamily="34" charset="-122"/>
                <a:ea typeface="微软雅黑 Light" panose="020B0502040204020203" pitchFamily="34" charset="-122"/>
              </a:rPr>
              <a:t>委托代理 </a:t>
            </a:r>
            <a:r>
              <a:rPr lang="en-US" altLang="zh-CN" sz="2000" b="1" dirty="0">
                <a:latin typeface="微软雅黑 Light" panose="020B0502040204020203" pitchFamily="34" charset="-122"/>
                <a:ea typeface="微软雅黑 Light" panose="020B0502040204020203" pitchFamily="34" charset="-122"/>
              </a:rPr>
              <a:t>(proxy agent)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委托代理能提供协议转换和过滤操作等功能，对被管对象进行管理。</a:t>
            </a:r>
          </a:p>
        </p:txBody>
      </p:sp>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37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23640" y="579167"/>
            <a:ext cx="2515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网络管理组成</a:t>
            </a:r>
          </a:p>
        </p:txBody>
      </p:sp>
      <p:sp>
        <p:nvSpPr>
          <p:cNvPr id="4" name="Rectangle 68"/>
          <p:cNvSpPr>
            <a:spLocks noChangeArrowheads="1"/>
          </p:cNvSpPr>
          <p:nvPr/>
        </p:nvSpPr>
        <p:spPr bwMode="auto">
          <a:xfrm>
            <a:off x="483810" y="973468"/>
            <a:ext cx="8229537"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的网络管理由三个部分组成：</a:t>
            </a:r>
          </a:p>
          <a:p>
            <a:pPr marL="720725" indent="-360363" eaLnBrk="0" hangingPunct="0">
              <a:lnSpc>
                <a:spcPts val="3300"/>
              </a:lnSpc>
              <a:buClr>
                <a:srgbClr val="9900CC"/>
              </a:buClr>
              <a:buFont typeface="+mj-lt"/>
              <a:buAutoNum type="arabicPeriod"/>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本身</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管理信息结构 </a:t>
            </a:r>
            <a:r>
              <a:rPr lang="en-US" altLang="zh-CN" sz="2000" b="1" dirty="0">
                <a:latin typeface="微软雅黑 Light" panose="020B0502040204020203" pitchFamily="34" charset="-122"/>
                <a:ea typeface="微软雅黑 Light" panose="020B0502040204020203" pitchFamily="34" charset="-122"/>
              </a:rPr>
              <a:t>SMI (Structure of Management Information)</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35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2276" y="576148"/>
            <a:ext cx="3118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0449"/>
            <a:ext cx="812192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定义了管理站和代理之间所交换的</a:t>
            </a:r>
            <a:r>
              <a:rPr lang="zh-CN" altLang="en-US" sz="2000" b="1" dirty="0">
                <a:solidFill>
                  <a:srgbClr val="C00000"/>
                </a:solidFill>
                <a:latin typeface="微软雅黑 Light" panose="020B0502040204020203" pitchFamily="34" charset="-122"/>
                <a:ea typeface="微软雅黑 Light" panose="020B0502040204020203" pitchFamily="34" charset="-122"/>
              </a:rPr>
              <a:t>分组格式。</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所交换的分组包含各代理中的对象（</a:t>
            </a:r>
            <a:r>
              <a:rPr lang="zh-CN" altLang="en-US" sz="2000" b="1" dirty="0">
                <a:solidFill>
                  <a:srgbClr val="C00000"/>
                </a:solidFill>
                <a:latin typeface="微软雅黑 Light" panose="020B0502040204020203" pitchFamily="34" charset="-122"/>
                <a:ea typeface="微软雅黑 Light" panose="020B0502040204020203" pitchFamily="34" charset="-122"/>
              </a:rPr>
              <a:t>变量</a:t>
            </a:r>
            <a:r>
              <a:rPr lang="zh-CN" altLang="en-US" sz="2000" b="1" dirty="0">
                <a:latin typeface="微软雅黑 Light" panose="020B0502040204020203" pitchFamily="34" charset="-122"/>
                <a:ea typeface="微软雅黑 Light" panose="020B0502040204020203" pitchFamily="34" charset="-122"/>
              </a:rPr>
              <a:t>）名及其状态（</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负责读取和改变这些数值。 </a:t>
            </a:r>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53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28637" y="580321"/>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462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定义了命名对象和定义对象类型（包括范围和长度）的</a:t>
            </a:r>
            <a:r>
              <a:rPr lang="zh-CN" altLang="en-US" sz="2000" b="1" dirty="0">
                <a:solidFill>
                  <a:srgbClr val="C00000"/>
                </a:solidFill>
                <a:latin typeface="微软雅黑 Light" panose="020B0502040204020203" pitchFamily="34" charset="-122"/>
                <a:ea typeface="微软雅黑 Light" panose="020B0502040204020203" pitchFamily="34" charset="-122"/>
              </a:rPr>
              <a:t>通用规则，</a:t>
            </a:r>
            <a:r>
              <a:rPr lang="zh-CN" altLang="en-US" sz="2000" b="1" dirty="0">
                <a:latin typeface="微软雅黑 Light" panose="020B0502040204020203" pitchFamily="34" charset="-122"/>
                <a:ea typeface="微软雅黑 Light" panose="020B0502040204020203" pitchFamily="34" charset="-122"/>
              </a:rPr>
              <a:t>以及把对象和对象的值进行</a:t>
            </a:r>
            <a:r>
              <a:rPr lang="zh-CN" altLang="en-US" sz="2000" b="1" dirty="0">
                <a:solidFill>
                  <a:srgbClr val="C00000"/>
                </a:solidFill>
                <a:latin typeface="微软雅黑 Light" panose="020B0502040204020203" pitchFamily="34" charset="-122"/>
                <a:ea typeface="微软雅黑 Light" panose="020B0502040204020203" pitchFamily="34" charset="-122"/>
              </a:rPr>
              <a:t>编码的规则，</a:t>
            </a:r>
            <a:r>
              <a:rPr lang="zh-CN" altLang="en-US" sz="2000" b="1" dirty="0">
                <a:latin typeface="微软雅黑 Light" panose="020B0502040204020203" pitchFamily="34" charset="-122"/>
                <a:ea typeface="微软雅黑 Light" panose="020B0502040204020203" pitchFamily="34" charset="-122"/>
              </a:rPr>
              <a:t>以确保网络管理数据的语法和语义的</a:t>
            </a:r>
            <a:r>
              <a:rPr lang="zh-CN" altLang="en-US" sz="2000" b="1" dirty="0">
                <a:solidFill>
                  <a:srgbClr val="C00000"/>
                </a:solidFill>
                <a:latin typeface="微软雅黑 Light" panose="020B0502040204020203" pitchFamily="34" charset="-122"/>
                <a:ea typeface="微软雅黑 Light" panose="020B0502040204020203" pitchFamily="34" charset="-122"/>
              </a:rPr>
              <a:t>无二义性。</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但从 </a:t>
            </a: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的名称并不能看出它的功能。</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并不定义一个实体应管理的对象数目，也不定义被管对象名以及对象名及其值之间的关联。 </a:t>
            </a:r>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46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257"/>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77090"/>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在被管理的实体中创建了命名对象，并规定了其类型。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中的信息，对网络进行管理。</a:t>
            </a:r>
          </a:p>
        </p:txBody>
      </p:sp>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 </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9444</TotalTime>
  <Words>21055</Words>
  <Application>Microsoft Office PowerPoint</Application>
  <PresentationFormat>全屏显示(16:9)</PresentationFormat>
  <Paragraphs>4868</Paragraphs>
  <Slides>276</Slides>
  <Notes>39</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276</vt:i4>
      </vt:variant>
    </vt:vector>
  </HeadingPairs>
  <TitlesOfParts>
    <vt:vector size="286" baseType="lpstr">
      <vt:lpstr>Times New Roman</vt:lpstr>
      <vt:lpstr>Montserrat</vt:lpstr>
      <vt:lpstr>微软雅黑</vt:lpstr>
      <vt:lpstr>Wingdings</vt:lpstr>
      <vt:lpstr>微软雅黑 Light</vt:lpstr>
      <vt:lpstr>Arial</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应用层协议</vt:lpstr>
      <vt:lpstr>PowerPoint 演示文稿</vt:lpstr>
      <vt:lpstr>PowerPoint 演示文稿</vt:lpstr>
      <vt:lpstr>PowerPoint 演示文稿</vt:lpstr>
      <vt:lpstr>PowerPoint 演示文稿</vt:lpstr>
      <vt:lpstr>域名解析过程要点</vt:lpstr>
      <vt:lpstr>PowerPoint 演示文稿</vt:lpstr>
      <vt:lpstr>PowerPoint 演示文稿</vt:lpstr>
      <vt:lpstr>PowerPoint 演示文稿</vt:lpstr>
      <vt:lpstr>PowerPoint 演示文稿</vt:lpstr>
      <vt:lpstr>互联网的域名空间结构</vt:lpstr>
      <vt:lpstr>PowerPoint 演示文稿</vt:lpstr>
      <vt:lpstr>PowerPoint 演示文稿</vt:lpstr>
      <vt:lpstr>PowerPoint 演示文稿</vt:lpstr>
      <vt:lpstr>PowerPoint 演示文稿</vt:lpstr>
      <vt:lpstr>域名服务器类型</vt:lpstr>
      <vt:lpstr>1. 根域名服务器</vt:lpstr>
      <vt:lpstr>根域名服务器共有 13 套装置</vt:lpstr>
      <vt:lpstr>根域名服务器共有 13 套装置</vt:lpstr>
      <vt:lpstr>2. 顶级域名服务器</vt:lpstr>
      <vt:lpstr>3. 权限域名服务器</vt:lpstr>
      <vt:lpstr>4. 本地域名服务器</vt:lpstr>
      <vt:lpstr>提高域名服务器的可靠性</vt:lpstr>
      <vt:lpstr>域名解析过程</vt:lpstr>
      <vt:lpstr>递归查询</vt:lpstr>
      <vt:lpstr>迭代查询</vt:lpstr>
      <vt:lpstr>8个报文</vt:lpstr>
      <vt:lpstr>高速缓存</vt:lpstr>
      <vt:lpstr>PowerPoint 演示文稿</vt:lpstr>
      <vt:lpstr>6.2.1  FTP 概述</vt:lpstr>
      <vt:lpstr>文件共享协议</vt:lpstr>
      <vt:lpstr>6.2.2  FTP 的基本工作原理</vt:lpstr>
      <vt:lpstr>PowerPoint 演示文稿</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TFTP 的主要特点</vt:lpstr>
      <vt:lpstr>TFTP 的工作很像停止等待协议</vt:lpstr>
      <vt:lpstr>TFTP 的工作过程</vt:lpstr>
      <vt:lpstr>PowerPoint 演示文稿</vt:lpstr>
      <vt:lpstr>PowerPoint 演示文稿</vt:lpstr>
      <vt:lpstr>PowerPoint 演示文稿</vt:lpstr>
      <vt:lpstr>PowerPoint 演示文稿</vt:lpstr>
      <vt:lpstr>PowerPoint 演示文稿</vt:lpstr>
      <vt:lpstr>6.4.1  万维网概述</vt:lpstr>
      <vt:lpstr>6.4.1  万维网</vt:lpstr>
      <vt:lpstr>6.4.1  万维网</vt:lpstr>
      <vt:lpstr>工作方式</vt:lpstr>
      <vt:lpstr>万维网必须解决的问题</vt:lpstr>
      <vt:lpstr>6.4.2  统一资源定位符 URL</vt:lpstr>
      <vt:lpstr>1. URL 格式</vt:lpstr>
      <vt:lpstr>2. 使用 HTTPS 的 URL</vt:lpstr>
      <vt:lpstr>PowerPoint 演示文稿</vt:lpstr>
      <vt:lpstr>6.4.3  超文本传送协议 HTTP</vt:lpstr>
      <vt:lpstr>1.  HTTP 的操作过程</vt:lpstr>
      <vt:lpstr>1.  HTTP 的操作过程</vt:lpstr>
      <vt:lpstr>用户浏览页面的两种方法</vt:lpstr>
      <vt:lpstr>HTTP 的主要特点</vt:lpstr>
      <vt:lpstr>请求一个万维网文档所需的时间</vt:lpstr>
      <vt:lpstr>协议 HTTP/1.0</vt:lpstr>
      <vt:lpstr>协议 HTTP/1.1</vt:lpstr>
      <vt:lpstr>协议 HTTP/1.1</vt:lpstr>
      <vt:lpstr>协议 HTTP/1.1</vt:lpstr>
      <vt:lpstr>协议 HTTP/2</vt:lpstr>
      <vt:lpstr>2. 代理服务器</vt:lpstr>
      <vt:lpstr>2. 代理服务器</vt:lpstr>
      <vt:lpstr>2. 代理服务器</vt:lpstr>
      <vt:lpstr>2. 代理服务器</vt:lpstr>
      <vt:lpstr>2. 代理服务器</vt:lpstr>
      <vt:lpstr>2. 代理服务器</vt:lpstr>
      <vt:lpstr>2. 代理服务器</vt:lpstr>
      <vt:lpstr>3.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1. 超文本标记语言 HTML</vt:lpstr>
      <vt:lpstr>1. 超文本标记语言 HTML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XML</vt:lpstr>
      <vt:lpstr>XHTML</vt:lpstr>
      <vt:lpstr>CSS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  全文检索搜索和分类目录搜索</vt:lpstr>
      <vt:lpstr>PowerPoint 演示文稿</vt:lpstr>
      <vt:lpstr>一些著名的搜索引擎</vt:lpstr>
      <vt:lpstr>PowerPoint 演示文稿</vt:lpstr>
      <vt:lpstr>PowerPoint 演示文稿</vt:lpstr>
      <vt:lpstr>PowerPoint 演示文稿</vt:lpstr>
      <vt:lpstr>6.4.6  博客和微博</vt:lpstr>
      <vt:lpstr>6.4.7  社交网站</vt:lpstr>
      <vt:lpstr>PowerPoint 演示文稿</vt:lpstr>
      <vt:lpstr>6.5.1  电子邮件 - 概述</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887</cp:revision>
  <dcterms:created xsi:type="dcterms:W3CDTF">2018-07-18T08:51:30Z</dcterms:created>
  <dcterms:modified xsi:type="dcterms:W3CDTF">2025-11-30T14:34:31Z</dcterms:modified>
</cp:coreProperties>
</file>